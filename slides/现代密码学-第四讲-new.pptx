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6"/>
  </p:notesMasterIdLst>
  <p:handoutMasterIdLst>
    <p:handoutMasterId r:id="rId87"/>
  </p:handoutMasterIdLst>
  <p:sldIdLst>
    <p:sldId id="335" r:id="rId2"/>
    <p:sldId id="597" r:id="rId3"/>
    <p:sldId id="657" r:id="rId4"/>
    <p:sldId id="658" r:id="rId5"/>
    <p:sldId id="659" r:id="rId6"/>
    <p:sldId id="660" r:id="rId7"/>
    <p:sldId id="661" r:id="rId8"/>
    <p:sldId id="662" r:id="rId9"/>
    <p:sldId id="663" r:id="rId10"/>
    <p:sldId id="666" r:id="rId11"/>
    <p:sldId id="664" r:id="rId12"/>
    <p:sldId id="665" r:id="rId13"/>
    <p:sldId id="667" r:id="rId14"/>
    <p:sldId id="668" r:id="rId15"/>
    <p:sldId id="669" r:id="rId16"/>
    <p:sldId id="670" r:id="rId17"/>
    <p:sldId id="671" r:id="rId18"/>
    <p:sldId id="672" r:id="rId19"/>
    <p:sldId id="673" r:id="rId20"/>
    <p:sldId id="674" r:id="rId21"/>
    <p:sldId id="678" r:id="rId22"/>
    <p:sldId id="679" r:id="rId23"/>
    <p:sldId id="680" r:id="rId24"/>
    <p:sldId id="676" r:id="rId25"/>
    <p:sldId id="675" r:id="rId26"/>
    <p:sldId id="468" r:id="rId27"/>
    <p:sldId id="484" r:id="rId28"/>
    <p:sldId id="515" r:id="rId29"/>
    <p:sldId id="502" r:id="rId30"/>
    <p:sldId id="601" r:id="rId31"/>
    <p:sldId id="488" r:id="rId32"/>
    <p:sldId id="491" r:id="rId33"/>
    <p:sldId id="553" r:id="rId34"/>
    <p:sldId id="492" r:id="rId35"/>
    <p:sldId id="493" r:id="rId36"/>
    <p:sldId id="494" r:id="rId37"/>
    <p:sldId id="681" r:id="rId38"/>
    <p:sldId id="598" r:id="rId39"/>
    <p:sldId id="497" r:id="rId40"/>
    <p:sldId id="603" r:id="rId41"/>
    <p:sldId id="605" r:id="rId42"/>
    <p:sldId id="607" r:id="rId43"/>
    <p:sldId id="609" r:id="rId44"/>
    <p:sldId id="564" r:id="rId45"/>
    <p:sldId id="625" r:id="rId46"/>
    <p:sldId id="626" r:id="rId47"/>
    <p:sldId id="629" r:id="rId48"/>
    <p:sldId id="630" r:id="rId49"/>
    <p:sldId id="611" r:id="rId50"/>
    <p:sldId id="565" r:id="rId51"/>
    <p:sldId id="499" r:id="rId52"/>
    <p:sldId id="498" r:id="rId53"/>
    <p:sldId id="501" r:id="rId54"/>
    <p:sldId id="559" r:id="rId55"/>
    <p:sldId id="614" r:id="rId56"/>
    <p:sldId id="613" r:id="rId57"/>
    <p:sldId id="615" r:id="rId58"/>
    <p:sldId id="617" r:id="rId59"/>
    <p:sldId id="618" r:id="rId60"/>
    <p:sldId id="570" r:id="rId61"/>
    <p:sldId id="640" r:id="rId62"/>
    <p:sldId id="623" r:id="rId63"/>
    <p:sldId id="569" r:id="rId64"/>
    <p:sldId id="642" r:id="rId65"/>
    <p:sldId id="643" r:id="rId66"/>
    <p:sldId id="621" r:id="rId67"/>
    <p:sldId id="622" r:id="rId68"/>
    <p:sldId id="600" r:id="rId69"/>
    <p:sldId id="506" r:id="rId70"/>
    <p:sldId id="644" r:id="rId71"/>
    <p:sldId id="645" r:id="rId72"/>
    <p:sldId id="646" r:id="rId73"/>
    <p:sldId id="647" r:id="rId74"/>
    <p:sldId id="649" r:id="rId75"/>
    <p:sldId id="650" r:id="rId76"/>
    <p:sldId id="651" r:id="rId77"/>
    <p:sldId id="653" r:id="rId78"/>
    <p:sldId id="652" r:id="rId79"/>
    <p:sldId id="654" r:id="rId80"/>
    <p:sldId id="648" r:id="rId81"/>
    <p:sldId id="655" r:id="rId82"/>
    <p:sldId id="656" r:id="rId83"/>
    <p:sldId id="558" r:id="rId84"/>
    <p:sldId id="595" r:id="rId85"/>
  </p:sldIdLst>
  <p:sldSz cx="9144000" cy="6858000" type="screen4x3"/>
  <p:notesSz cx="6858000" cy="9144000"/>
  <p:custDataLst>
    <p:tags r:id="rId8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 Joel" initials="XJ" lastIdx="1" clrIdx="0"/>
  <p:cmAuthor id="2" name="HP" initials="H"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AEFF7"/>
    <a:srgbClr val="D2DEEF"/>
    <a:srgbClr val="DEEBF7"/>
    <a:srgbClr val="C81F1F"/>
    <a:srgbClr val="FFFFFF"/>
    <a:srgbClr val="E7E7E7"/>
    <a:srgbClr val="5B9BD5"/>
    <a:srgbClr val="4472C4"/>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2" autoAdjust="0"/>
    <p:restoredTop sz="83946" autoAdjust="0"/>
  </p:normalViewPr>
  <p:slideViewPr>
    <p:cSldViewPr snapToGrid="0">
      <p:cViewPr varScale="1">
        <p:scale>
          <a:sx n="106" d="100"/>
          <a:sy n="106" d="100"/>
        </p:scale>
        <p:origin x="2192" y="184"/>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59" d="100"/>
          <a:sy n="59" d="100"/>
        </p:scale>
        <p:origin x="1672" y="6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8A947F-1230-402A-BD20-A8ECEB529897}" type="datetimeFigureOut">
              <a:rPr lang="zh-CN" altLang="en-US" smtClean="0"/>
              <a:t>2024/10/13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F7B2AA-B1DE-4E20-835E-E7A3945960D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D4CCB-601C-4846-9ECC-39924CF29FE2}" type="datetimeFigureOut">
              <a:rPr lang="zh-CN" altLang="en-US" smtClean="0"/>
              <a:t>2024/10/13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D3990-B510-4435-90A5-6D9F2619C2A6}" type="slidenum">
              <a:rPr lang="zh-CN" altLang="en-US" smtClean="0"/>
              <a:t>‹#›</a:t>
            </a:fld>
            <a:endParaRPr lang="zh-CN" altLang="en-US"/>
          </a:p>
        </p:txBody>
      </p:sp>
    </p:spTree>
    <p:extLst>
      <p:ext uri="{BB962C8B-B14F-4D97-AF65-F5344CB8AC3E}">
        <p14:creationId xmlns:p14="http://schemas.microsoft.com/office/powerpoint/2010/main" val="1690099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a:t>
            </a:fld>
            <a:endParaRPr lang="zh-CN" altLang="en-US"/>
          </a:p>
        </p:txBody>
      </p:sp>
    </p:spTree>
    <p:extLst>
      <p:ext uri="{BB962C8B-B14F-4D97-AF65-F5344CB8AC3E}">
        <p14:creationId xmlns:p14="http://schemas.microsoft.com/office/powerpoint/2010/main" val="36399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a:t>
            </a:fld>
            <a:endParaRPr lang="zh-CN" altLang="en-US"/>
          </a:p>
        </p:txBody>
      </p:sp>
    </p:spTree>
    <p:extLst>
      <p:ext uri="{BB962C8B-B14F-4D97-AF65-F5344CB8AC3E}">
        <p14:creationId xmlns:p14="http://schemas.microsoft.com/office/powerpoint/2010/main" val="1835336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称函数值</a:t>
                </a:r>
                <a:r>
                  <a:rPr lang="en-US" altLang="zh-CN" sz="1200" b="0" i="0">
                    <a:latin typeface="Cambria Math" panose="02040503050406030204" pitchFamily="18" charset="0"/>
                    <a:cs typeface="Times New Roman" panose="02020603050405020304" pitchFamily="18" charset="0"/>
                  </a:rPr>
                  <a:t> 𝐻(𝑀)  </a:t>
                </a:r>
                <a:r>
                  <a:rPr lang="zh-CN" altLang="en-US" sz="1200" dirty="0">
                    <a:latin typeface="Times New Roman" panose="02020603050405020304" pitchFamily="18" charset="0"/>
                    <a:cs typeface="Times New Roman" panose="02020603050405020304" pitchFamily="18" charset="0"/>
                  </a:rPr>
                  <a:t>为</a:t>
                </a:r>
                <a:r>
                  <a:rPr lang="en-US" altLang="zh-CN" sz="1200" i="0" dirty="0">
                    <a:latin typeface="Cambria Math" panose="02040503050406030204" pitchFamily="18" charset="0"/>
                    <a:cs typeface="Times New Roman" panose="02020603050405020304" pitchFamily="18" charset="0"/>
                  </a:rPr>
                  <a:t> </a:t>
                </a:r>
                <a:r>
                  <a:rPr lang="en-US" altLang="zh-CN" sz="1200" b="0" i="0" dirty="0">
                    <a:latin typeface="Cambria Math" panose="02040503050406030204" pitchFamily="18" charset="0"/>
                    <a:cs typeface="Times New Roman" panose="02020603050405020304" pitchFamily="18" charset="0"/>
                  </a:rPr>
                  <a:t>𝑀 </a:t>
                </a:r>
                <a:r>
                  <a:rPr lang="zh-CN" altLang="en-US" sz="1200" dirty="0">
                    <a:latin typeface="Times New Roman" panose="02020603050405020304" pitchFamily="18" charset="0"/>
                    <a:cs typeface="Times New Roman" panose="02020603050405020304" pitchFamily="18" charset="0"/>
                  </a:rPr>
                  <a:t>的杂凑值、杂凑码或哈希值。</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26</a:t>
            </a:fld>
            <a:endParaRPr lang="zh-CN" altLang="en-US"/>
          </a:p>
        </p:txBody>
      </p:sp>
    </p:spTree>
    <p:extLst>
      <p:ext uri="{BB962C8B-B14F-4D97-AF65-F5344CB8AC3E}">
        <p14:creationId xmlns:p14="http://schemas.microsoft.com/office/powerpoint/2010/main" val="1164306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在密码学和数据安全技术中，它是实现有效、安全可靠数字签字和认证的重要工具，是安全认证协议中的重要模块。</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27</a:t>
            </a:fld>
            <a:endParaRPr lang="zh-CN" altLang="en-US"/>
          </a:p>
        </p:txBody>
      </p:sp>
    </p:spTree>
    <p:extLst>
      <p:ext uri="{BB962C8B-B14F-4D97-AF65-F5344CB8AC3E}">
        <p14:creationId xmlns:p14="http://schemas.microsoft.com/office/powerpoint/2010/main" val="290236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安全的数字签名方案通常依赖哈希函数来确保签名的安全性。例如，</a:t>
            </a:r>
            <a:r>
              <a:rPr lang="en-US" altLang="zh-CN" dirty="0"/>
              <a:t>DSA</a:t>
            </a:r>
            <a:r>
              <a:rPr lang="zh-CN" altLang="en-US" dirty="0"/>
              <a:t>和</a:t>
            </a:r>
            <a:r>
              <a:rPr lang="en-US" altLang="zh-CN" dirty="0"/>
              <a:t>ECDSA</a:t>
            </a:r>
            <a:r>
              <a:rPr lang="zh-CN" altLang="en-US" dirty="0"/>
              <a:t>签名方案中都使用了哈希函数。</a:t>
            </a:r>
            <a:endParaRPr lang="en-US" altLang="zh-CN" dirty="0"/>
          </a:p>
          <a:p>
            <a:r>
              <a:rPr lang="zh-CN" altLang="en-US" b="0" i="0" dirty="0">
                <a:solidFill>
                  <a:srgbClr val="374151"/>
                </a:solidFill>
                <a:effectLst/>
                <a:latin typeface="Söhne"/>
              </a:rPr>
              <a:t>为了防止某些攻击，加密方案在加密前通常需要对明文进行填充。例如，</a:t>
            </a:r>
            <a:r>
              <a:rPr lang="en-US" altLang="zh-CN" b="0" i="0" dirty="0">
                <a:solidFill>
                  <a:srgbClr val="374151"/>
                </a:solidFill>
                <a:effectLst/>
                <a:latin typeface="Söhne"/>
              </a:rPr>
              <a:t>RSA</a:t>
            </a:r>
            <a:r>
              <a:rPr lang="zh-CN" altLang="en-US" b="0" i="0" dirty="0">
                <a:solidFill>
                  <a:srgbClr val="374151"/>
                </a:solidFill>
                <a:effectLst/>
                <a:latin typeface="Söhne"/>
              </a:rPr>
              <a:t>加密在</a:t>
            </a:r>
            <a:r>
              <a:rPr lang="en-US" altLang="zh-CN" b="0" i="0" dirty="0">
                <a:solidFill>
                  <a:srgbClr val="374151"/>
                </a:solidFill>
                <a:effectLst/>
                <a:latin typeface="Söhne"/>
              </a:rPr>
              <a:t>OAEP (Optimal Asymmetric Encryption Padding) </a:t>
            </a:r>
            <a:r>
              <a:rPr lang="zh-CN" altLang="en-US" b="0" i="0" dirty="0">
                <a:solidFill>
                  <a:srgbClr val="374151"/>
                </a:solidFill>
                <a:effectLst/>
                <a:latin typeface="Söhne"/>
              </a:rPr>
              <a:t>模式下使用了哈希函数来增加其安全性。</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28</a:t>
            </a:fld>
            <a:endParaRPr lang="zh-CN" altLang="en-US"/>
          </a:p>
        </p:txBody>
      </p:sp>
    </p:spTree>
    <p:extLst>
      <p:ext uri="{BB962C8B-B14F-4D97-AF65-F5344CB8AC3E}">
        <p14:creationId xmlns:p14="http://schemas.microsoft.com/office/powerpoint/2010/main" val="1750613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包含消息原始长度的信息可以帮助确保即使两个不同的消息具有相同的前缀，它们也会产生不同的哈希值。这是因为即便在内容相同的情况下，不同长度的消息会导致不同的填充，从而导致最终的哈希值不同。</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29</a:t>
            </a:fld>
            <a:endParaRPr lang="zh-CN" altLang="en-US"/>
          </a:p>
        </p:txBody>
      </p:sp>
    </p:spTree>
    <p:extLst>
      <p:ext uri="{BB962C8B-B14F-4D97-AF65-F5344CB8AC3E}">
        <p14:creationId xmlns:p14="http://schemas.microsoft.com/office/powerpoint/2010/main" val="55620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在块中处理信息（包括长度</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30</a:t>
            </a:fld>
            <a:endParaRPr lang="zh-CN" altLang="en-US"/>
          </a:p>
        </p:txBody>
      </p:sp>
    </p:spTree>
    <p:extLst>
      <p:ext uri="{BB962C8B-B14F-4D97-AF65-F5344CB8AC3E}">
        <p14:creationId xmlns:p14="http://schemas.microsoft.com/office/powerpoint/2010/main" val="1911588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生日攻击不涉及杂凑算法的结构，可用于攻击任何 杂凑算法。强杂凑函数正是基于生日悖论一类的攻击法定义的。 穷举和生日攻击都属选择明文攻击。</a:t>
                </a:r>
                <a:endParaRPr lang="en-US" altLang="zh-CN" sz="1200" dirty="0">
                  <a:latin typeface="Times New Roman" panose="02020603050405020304" pitchFamily="18" charset="0"/>
                  <a:cs typeface="Times New Roman" panose="02020603050405020304" pitchFamily="18" charset="0"/>
                </a:endParaRPr>
              </a:p>
              <a:p>
                <a:r>
                  <a:rPr lang="zh-CN" altLang="en-US" sz="1200" dirty="0">
                    <a:solidFill>
                      <a:srgbClr val="0000FF"/>
                    </a:solidFill>
                    <a:latin typeface="Times New Roman" panose="02020603050405020304" pitchFamily="18" charset="0"/>
                    <a:cs typeface="Times New Roman" panose="02020603050405020304" pitchFamily="18" charset="0"/>
                  </a:rPr>
                  <a:t>中途相遇攻击</a:t>
                </a:r>
                <a:r>
                  <a:rPr lang="zh-CN" altLang="en-US" b="0" i="0" dirty="0">
                    <a:solidFill>
                      <a:srgbClr val="374151"/>
                    </a:solidFill>
                    <a:effectLst/>
                    <a:latin typeface="Söhne"/>
                  </a:rPr>
                  <a:t>可将攻击所需的工作量从 </a:t>
                </a:r>
                <a:r>
                  <a:rPr lang="en-US" altLang="zh-CN" b="0" i="1" dirty="0">
                    <a:solidFill>
                      <a:srgbClr val="374151"/>
                    </a:solidFill>
                    <a:effectLst/>
                    <a:latin typeface="KaTeX_Math"/>
                  </a:rPr>
                  <a:t>O</a:t>
                </a:r>
                <a:r>
                  <a:rPr lang="en-US" altLang="zh-CN" b="0" i="0" dirty="0">
                    <a:solidFill>
                      <a:srgbClr val="374151"/>
                    </a:solidFill>
                    <a:effectLst/>
                    <a:latin typeface="KaTeX_Main"/>
                  </a:rPr>
                  <a:t>(2^</a:t>
                </a:r>
                <a:r>
                  <a:rPr lang="en-US" altLang="zh-CN" b="0" i="1" dirty="0">
                    <a:solidFill>
                      <a:srgbClr val="374151"/>
                    </a:solidFill>
                    <a:effectLst/>
                    <a:latin typeface="KaTeX_Math"/>
                  </a:rPr>
                  <a:t>n</a:t>
                </a:r>
                <a:r>
                  <a:rPr lang="en-US" altLang="zh-CN" b="0" i="0" dirty="0">
                    <a:solidFill>
                      <a:srgbClr val="374151"/>
                    </a:solidFill>
                    <a:effectLst/>
                    <a:latin typeface="KaTeX_Main"/>
                  </a:rPr>
                  <a:t>)</a:t>
                </a:r>
                <a:r>
                  <a:rPr lang="en-US" altLang="zh-CN" b="0" i="0" dirty="0">
                    <a:solidFill>
                      <a:srgbClr val="374151"/>
                    </a:solidFill>
                    <a:effectLst/>
                    <a:latin typeface="Söhne"/>
                  </a:rPr>
                  <a:t> </a:t>
                </a:r>
                <a:r>
                  <a:rPr lang="zh-CN" altLang="en-US" b="0" i="0" dirty="0">
                    <a:solidFill>
                      <a:srgbClr val="374151"/>
                    </a:solidFill>
                    <a:effectLst/>
                    <a:latin typeface="Söhne"/>
                  </a:rPr>
                  <a:t>减少到 </a:t>
                </a:r>
                <a:r>
                  <a:rPr lang="en-US" altLang="zh-CN" b="0" i="1" dirty="0">
                    <a:solidFill>
                      <a:srgbClr val="374151"/>
                    </a:solidFill>
                    <a:effectLst/>
                    <a:latin typeface="KaTeX_Math"/>
                  </a:rPr>
                  <a:t>O</a:t>
                </a:r>
                <a:r>
                  <a:rPr lang="en-US" altLang="zh-CN" b="0" i="0" dirty="0">
                    <a:solidFill>
                      <a:srgbClr val="374151"/>
                    </a:solidFill>
                    <a:effectLst/>
                    <a:latin typeface="KaTeX_Main"/>
                  </a:rPr>
                  <a:t>(2^</a:t>
                </a:r>
                <a:r>
                  <a:rPr lang="en-US" altLang="zh-CN" b="0" i="1" dirty="0">
                    <a:solidFill>
                      <a:srgbClr val="374151"/>
                    </a:solidFill>
                    <a:effectLst/>
                    <a:latin typeface="KaTeX_Math"/>
                  </a:rPr>
                  <a:t>n</a:t>
                </a:r>
                <a:r>
                  <a:rPr lang="en-US" altLang="zh-CN" b="0" i="0" dirty="0">
                    <a:solidFill>
                      <a:srgbClr val="374151"/>
                    </a:solidFill>
                    <a:effectLst/>
                    <a:latin typeface="KaTeX_Main"/>
                  </a:rPr>
                  <a:t>/2)</a:t>
                </a:r>
                <a:r>
                  <a:rPr lang="zh-CN" altLang="en-US" b="0" i="0" dirty="0">
                    <a:solidFill>
                      <a:srgbClr val="374151"/>
                    </a:solidFill>
                    <a:effectLst/>
                    <a:latin typeface="Söhne"/>
                  </a:rPr>
                  <a:t>。</a:t>
                </a: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Times New Roman" panose="02020603050405020304" pitchFamily="18" charset="0"/>
                    <a:cs typeface="Times New Roman" panose="02020603050405020304" pitchFamily="18" charset="0"/>
                  </a:rPr>
                  <a:t>生日攻击</a:t>
                </a:r>
                <a:r>
                  <a:rPr lang="zh-CN" altLang="en-US" sz="1200" dirty="0">
                    <a:latin typeface="Times New Roman" panose="02020603050405020304" pitchFamily="18" charset="0"/>
                    <a:cs typeface="Times New Roman" panose="02020603050405020304" pitchFamily="18" charset="0"/>
                  </a:rPr>
                  <a:t>：给定初始值</a:t>
                </a:r>
                <a:r>
                  <a:rPr lang="zh-CN" altLang="en-US" sz="1200" i="0" dirty="0">
                    <a:latin typeface="Cambria Math" panose="02040503050406030204" pitchFamily="18" charset="0"/>
                    <a:cs typeface="Times New Roman" panose="02020603050405020304" pitchFamily="18" charset="0"/>
                  </a:rPr>
                  <a:t>𝐻</a:t>
                </a:r>
                <a:r>
                  <a:rPr lang="en-US" altLang="zh-CN" sz="1200" b="0" i="0" dirty="0">
                    <a:latin typeface="Cambria Math" panose="02040503050406030204" pitchFamily="18" charset="0"/>
                    <a:cs typeface="Times New Roman" panose="02020603050405020304" pitchFamily="18" charset="0"/>
                  </a:rPr>
                  <a:t>_</a:t>
                </a:r>
                <a:r>
                  <a:rPr lang="en-US" altLang="zh-CN" sz="1200" i="0" dirty="0">
                    <a:latin typeface="Cambria Math" panose="02040503050406030204" pitchFamily="18" charset="0"/>
                    <a:cs typeface="Times New Roman" panose="02020603050405020304" pitchFamily="18" charset="0"/>
                  </a:rPr>
                  <a:t>0</a:t>
                </a:r>
                <a:r>
                  <a:rPr lang="en-US" altLang="zh-CN" sz="1200" b="0" i="0" dirty="0">
                    <a:latin typeface="Cambria Math" panose="02040503050406030204" pitchFamily="18" charset="0"/>
                    <a:cs typeface="Times New Roman" panose="02020603050405020304" pitchFamily="18" charset="0"/>
                  </a:rPr>
                  <a:t>=𝐻(𝑚)</a:t>
                </a:r>
                <a:r>
                  <a:rPr lang="zh-CN" altLang="en-US" sz="1200" dirty="0">
                    <a:latin typeface="Times New Roman" panose="02020603050405020304" pitchFamily="18" charset="0"/>
                    <a:cs typeface="Times New Roman" panose="02020603050405020304" pitchFamily="18" charset="0"/>
                  </a:rPr>
                  <a:t>，寻找</a:t>
                </a:r>
                <a:r>
                  <a:rPr lang="en-US" altLang="zh-CN" sz="1200" b="0" i="0">
                    <a:latin typeface="Cambria Math" panose="02040503050406030204" pitchFamily="18" charset="0"/>
                    <a:cs typeface="Times New Roman" panose="02020603050405020304" pitchFamily="18" charset="0"/>
                  </a:rPr>
                  <a:t>𝑚^′=𝑚</a:t>
                </a:r>
                <a:r>
                  <a:rPr lang="zh-CN" altLang="en-US" sz="1200" dirty="0">
                    <a:latin typeface="Times New Roman" panose="02020603050405020304" pitchFamily="18" charset="0"/>
                    <a:cs typeface="Times New Roman" panose="02020603050405020304" pitchFamily="18" charset="0"/>
                  </a:rPr>
                  <a:t>，使得</a:t>
                </a:r>
                <a:r>
                  <a:rPr lang="en-US" altLang="zh-CN" sz="1200" b="0" i="0">
                    <a:latin typeface="Cambria Math" panose="02040503050406030204" pitchFamily="18" charset="0"/>
                    <a:cs typeface="Times New Roman" panose="02020603050405020304" pitchFamily="18" charset="0"/>
                  </a:rPr>
                  <a:t>𝐻(𝑚^′ )=𝐻_0</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FF000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Times New Roman" panose="02020603050405020304" pitchFamily="18" charset="0"/>
                    <a:cs typeface="Times New Roman" panose="02020603050405020304" pitchFamily="18" charset="0"/>
                  </a:rPr>
                  <a:t>中途相遇攻击：</a:t>
                </a:r>
                <a:r>
                  <a:rPr lang="zh-CN" altLang="en-US" sz="1200" dirty="0">
                    <a:latin typeface="Times New Roman" panose="02020603050405020304" pitchFamily="18" charset="0"/>
                    <a:cs typeface="Times New Roman" panose="02020603050405020304" pitchFamily="18" charset="0"/>
                  </a:rPr>
                  <a:t>这是一种选择明文</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密文的攻击。用于迭代和级连分组密码体制，其概率计算同生日攻击。由于哈希算法也可用迭代和级连结构，因而设计算法时必须能抗击这类攻击。</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31</a:t>
            </a:fld>
            <a:endParaRPr lang="zh-CN" altLang="en-US"/>
          </a:p>
        </p:txBody>
      </p:sp>
    </p:spTree>
    <p:extLst>
      <p:ext uri="{BB962C8B-B14F-4D97-AF65-F5344CB8AC3E}">
        <p14:creationId xmlns:p14="http://schemas.microsoft.com/office/powerpoint/2010/main" val="3313886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 假设已经知道</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的生日，问至少有多少个人在一起时，至少以</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1/2</m:t>
                    </m:r>
                  </m:oMath>
                </a14:m>
                <a:r>
                  <a:rPr lang="zh-CN" altLang="en-US" sz="1200" dirty="0">
                    <a:latin typeface="Times New Roman" panose="02020603050405020304" pitchFamily="18" charset="0"/>
                    <a:cs typeface="Times New Roman" panose="02020603050405020304" pitchFamily="18" charset="0"/>
                  </a:rPr>
                  <a:t>的概率使有一个人和</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的生日相同？</a:t>
                </a:r>
                <a:endParaRPr lang="zh-CN" altLang="en-US" dirty="0"/>
              </a:p>
            </p:txBody>
          </p:sp>
        </mc:Choice>
        <mc:Fallback xmlns="">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 假设已经知道</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的生日，问至少有多少个人在一起时，至少以</a:t>
                </a:r>
                <a:r>
                  <a:rPr lang="en-US" altLang="zh-CN" sz="1200" i="0" dirty="0">
                    <a:latin typeface="Cambria Math" panose="02040503050406030204" pitchFamily="18" charset="0"/>
                    <a:cs typeface="Times New Roman" panose="02020603050405020304" pitchFamily="18" charset="0"/>
                  </a:rPr>
                  <a:t>1/2</a:t>
                </a:r>
                <a:r>
                  <a:rPr lang="zh-CN" altLang="en-US" sz="1200" dirty="0">
                    <a:latin typeface="Times New Roman" panose="02020603050405020304" pitchFamily="18" charset="0"/>
                    <a:cs typeface="Times New Roman" panose="02020603050405020304" pitchFamily="18" charset="0"/>
                  </a:rPr>
                  <a:t>的概率使有一个人和</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的生日相同？</a:t>
                </a:r>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33</a:t>
            </a:fld>
            <a:endParaRPr lang="zh-CN" altLang="en-US"/>
          </a:p>
        </p:txBody>
      </p:sp>
    </p:spTree>
    <p:extLst>
      <p:ext uri="{BB962C8B-B14F-4D97-AF65-F5344CB8AC3E}">
        <p14:creationId xmlns:p14="http://schemas.microsoft.com/office/powerpoint/2010/main" val="2997432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𝑦</m:t>
                    </m:r>
                  </m:oMath>
                </a14:m>
                <a:r>
                  <a:rPr lang="zh-CN" altLang="en-US" sz="1200" dirty="0">
                    <a:latin typeface="Times New Roman" panose="02020603050405020304" pitchFamily="18" charset="0"/>
                    <a:cs typeface="Times New Roman" panose="02020603050405020304" pitchFamily="18" charset="0"/>
                  </a:rPr>
                  <a:t>取</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𝑘</m:t>
                    </m:r>
                  </m:oMath>
                </a14:m>
                <a:r>
                  <a:rPr lang="zh-CN" altLang="en-US" sz="1200" dirty="0">
                    <a:latin typeface="Times New Roman" panose="02020603050405020304" pitchFamily="18" charset="0"/>
                    <a:cs typeface="Times New Roman" panose="02020603050405020304" pitchFamily="18" charset="0"/>
                  </a:rPr>
                  <a:t>个随机值且对应输出中都不等于</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𝐻</m:t>
                    </m:r>
                    <m:r>
                      <a:rPr lang="en-US" altLang="zh-CN" sz="1200" i="1" dirty="0" smtClean="0">
                        <a:latin typeface="Cambria Math" panose="02040503050406030204" pitchFamily="18" charset="0"/>
                        <a:cs typeface="Times New Roman" panose="02020603050405020304" pitchFamily="18" charset="0"/>
                      </a:rPr>
                      <m:t>(</m:t>
                    </m:r>
                    <m:r>
                      <a:rPr lang="en-US" altLang="zh-CN" sz="1200" i="1" dirty="0" smtClean="0">
                        <a:latin typeface="Cambria Math" panose="02040503050406030204" pitchFamily="18" charset="0"/>
                        <a:cs typeface="Times New Roman" panose="02020603050405020304" pitchFamily="18" charset="0"/>
                      </a:rPr>
                      <m:t>𝑥</m:t>
                    </m:r>
                    <m:r>
                      <a:rPr lang="en-US" altLang="zh-CN" sz="1200" i="1" dirty="0" smtClean="0">
                        <a:latin typeface="Cambria Math" panose="02040503050406030204" pitchFamily="18" charset="0"/>
                        <a:cs typeface="Times New Roman" panose="02020603050405020304" pitchFamily="18" charset="0"/>
                      </a:rPr>
                      <m:t>)</m:t>
                    </m:r>
                  </m:oMath>
                </a14:m>
                <a:r>
                  <a:rPr lang="zh-CN" altLang="en-US" sz="1200" dirty="0">
                    <a:latin typeface="Times New Roman" panose="02020603050405020304" pitchFamily="18" charset="0"/>
                    <a:cs typeface="Times New Roman" panose="02020603050405020304" pitchFamily="18" charset="0"/>
                  </a:rPr>
                  <a:t>的概率为</a:t>
                </a:r>
                <a14:m>
                  <m:oMath xmlns:m="http://schemas.openxmlformats.org/officeDocument/2006/math">
                    <m:sSup>
                      <m:sSupPr>
                        <m:ctrlPr>
                          <a:rPr lang="en-US" altLang="zh-CN" sz="1200" b="0" i="1" dirty="0" smtClean="0">
                            <a:latin typeface="Cambria Math" panose="02040503050406030204" pitchFamily="18" charset="0"/>
                            <a:cs typeface="Times New Roman" panose="02020603050405020304" pitchFamily="18" charset="0"/>
                          </a:rPr>
                        </m:ctrlPr>
                      </m:sSupPr>
                      <m:e>
                        <m:d>
                          <m:dPr>
                            <m:begChr m:val="["/>
                            <m:endChr m:val="]"/>
                            <m:ctrlPr>
                              <a:rPr lang="en-US" altLang="zh-CN" sz="1200" i="1" dirty="0" smtClean="0">
                                <a:latin typeface="Cambria Math" panose="02040503050406030204" pitchFamily="18" charset="0"/>
                                <a:cs typeface="Times New Roman" panose="02020603050405020304" pitchFamily="18" charset="0"/>
                              </a:rPr>
                            </m:ctrlPr>
                          </m:dPr>
                          <m:e>
                            <m:r>
                              <a:rPr lang="en-US" altLang="zh-CN" sz="1200" i="1" dirty="0" smtClean="0">
                                <a:latin typeface="Cambria Math" panose="02040503050406030204" pitchFamily="18" charset="0"/>
                                <a:cs typeface="Times New Roman" panose="02020603050405020304" pitchFamily="18" charset="0"/>
                              </a:rPr>
                              <m:t>1−</m:t>
                            </m:r>
                            <m:r>
                              <a:rPr lang="en-US" altLang="zh-CN" sz="1200" b="0" i="1" dirty="0" smtClean="0">
                                <a:latin typeface="Cambria Math" panose="02040503050406030204" pitchFamily="18" charset="0"/>
                                <a:cs typeface="Times New Roman" panose="02020603050405020304" pitchFamily="18" charset="0"/>
                              </a:rPr>
                              <m:t>1/</m:t>
                            </m:r>
                            <m:r>
                              <a:rPr lang="en-US" altLang="zh-CN" sz="1200" b="0" i="1" dirty="0" smtClean="0">
                                <a:latin typeface="Cambria Math" panose="02040503050406030204" pitchFamily="18" charset="0"/>
                                <a:cs typeface="Times New Roman" panose="02020603050405020304" pitchFamily="18" charset="0"/>
                              </a:rPr>
                              <m:t>𝑛</m:t>
                            </m:r>
                          </m:e>
                        </m:d>
                      </m:e>
                      <m:sup>
                        <m:r>
                          <a:rPr lang="en-US" altLang="zh-CN" sz="1200" i="1" dirty="0" smtClean="0">
                            <a:latin typeface="Cambria Math" panose="02040503050406030204" pitchFamily="18" charset="0"/>
                            <a:cs typeface="Times New Roman" panose="02020603050405020304" pitchFamily="18" charset="0"/>
                          </a:rPr>
                          <m:t>𝑘</m:t>
                        </m:r>
                      </m:sup>
                    </m:sSup>
                  </m:oMath>
                </a14:m>
                <a:r>
                  <a:rPr lang="zh-CN" altLang="en-US" sz="1200" dirty="0">
                    <a:latin typeface="Times New Roman" panose="02020603050405020304" pitchFamily="18" charset="0"/>
                    <a:cs typeface="Times New Roman" panose="02020603050405020304" pitchFamily="18" charset="0"/>
                  </a:rPr>
                  <a:t>，所以</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𝑘</m:t>
                    </m:r>
                  </m:oMath>
                </a14:m>
                <a:r>
                  <a:rPr lang="zh-CN" altLang="en-US" sz="1200" dirty="0">
                    <a:latin typeface="Times New Roman" panose="02020603050405020304" pitchFamily="18" charset="0"/>
                    <a:cs typeface="Times New Roman" panose="02020603050405020304" pitchFamily="18" charset="0"/>
                  </a:rPr>
                  <a:t>个输出中至少有一个等于</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𝐻</m:t>
                    </m:r>
                    <m:r>
                      <a:rPr lang="en-US" altLang="zh-CN" sz="1200" i="1" dirty="0" smtClean="0">
                        <a:latin typeface="Cambria Math" panose="02040503050406030204" pitchFamily="18" charset="0"/>
                        <a:cs typeface="Times New Roman" panose="02020603050405020304" pitchFamily="18" charset="0"/>
                      </a:rPr>
                      <m:t>(</m:t>
                    </m:r>
                    <m:r>
                      <a:rPr lang="en-US" altLang="zh-CN" sz="1200" i="1" dirty="0" smtClean="0">
                        <a:latin typeface="Cambria Math" panose="02040503050406030204" pitchFamily="18" charset="0"/>
                        <a:cs typeface="Times New Roman" panose="02020603050405020304" pitchFamily="18" charset="0"/>
                      </a:rPr>
                      <m:t>𝑥</m:t>
                    </m:r>
                    <m:r>
                      <a:rPr lang="en-US" altLang="zh-CN" sz="1200" i="1" dirty="0" smtClean="0">
                        <a:latin typeface="Cambria Math" panose="02040503050406030204" pitchFamily="18" charset="0"/>
                        <a:cs typeface="Times New Roman" panose="02020603050405020304" pitchFamily="18" charset="0"/>
                      </a:rPr>
                      <m:t>)</m:t>
                    </m:r>
                  </m:oMath>
                </a14:m>
                <a:r>
                  <a:rPr lang="zh-CN" altLang="en-US" sz="1200" dirty="0">
                    <a:latin typeface="Times New Roman" panose="02020603050405020304" pitchFamily="18" charset="0"/>
                    <a:cs typeface="Times New Roman" panose="02020603050405020304" pitchFamily="18" charset="0"/>
                  </a:rPr>
                  <a:t>的概率为</a:t>
                </a:r>
                <a14:m>
                  <m:oMath xmlns:m="http://schemas.openxmlformats.org/officeDocument/2006/math">
                    <m:sSup>
                      <m:sSupPr>
                        <m:ctrlPr>
                          <a:rPr lang="en-US" altLang="zh-CN" sz="1200" i="1" dirty="0">
                            <a:latin typeface="Cambria Math" panose="02040503050406030204" pitchFamily="18" charset="0"/>
                            <a:cs typeface="Times New Roman" panose="02020603050405020304" pitchFamily="18" charset="0"/>
                          </a:rPr>
                        </m:ctrlPr>
                      </m:sSupPr>
                      <m:e>
                        <m:r>
                          <a:rPr lang="en-US" altLang="zh-CN" sz="1200" b="0" i="1" dirty="0" smtClean="0">
                            <a:latin typeface="Cambria Math" panose="02040503050406030204" pitchFamily="18" charset="0"/>
                            <a:cs typeface="Times New Roman" panose="02020603050405020304" pitchFamily="18" charset="0"/>
                          </a:rPr>
                          <m:t>1−</m:t>
                        </m:r>
                        <m:d>
                          <m:dPr>
                            <m:begChr m:val="["/>
                            <m:endChr m:val="]"/>
                            <m:ctrlPr>
                              <a:rPr lang="en-US" altLang="zh-CN" sz="1200" i="1" dirty="0">
                                <a:latin typeface="Cambria Math" panose="02040503050406030204" pitchFamily="18" charset="0"/>
                                <a:cs typeface="Times New Roman" panose="02020603050405020304" pitchFamily="18" charset="0"/>
                              </a:rPr>
                            </m:ctrlPr>
                          </m:dPr>
                          <m:e>
                            <m:r>
                              <a:rPr lang="en-US" altLang="zh-CN" sz="1200" i="1" dirty="0">
                                <a:latin typeface="Cambria Math" panose="02040503050406030204" pitchFamily="18" charset="0"/>
                                <a:cs typeface="Times New Roman" panose="02020603050405020304" pitchFamily="18" charset="0"/>
                              </a:rPr>
                              <m:t>1−1/</m:t>
                            </m:r>
                            <m:r>
                              <a:rPr lang="en-US" altLang="zh-CN" sz="1200" i="1" dirty="0">
                                <a:latin typeface="Cambria Math" panose="02040503050406030204" pitchFamily="18" charset="0"/>
                                <a:cs typeface="Times New Roman" panose="02020603050405020304" pitchFamily="18" charset="0"/>
                              </a:rPr>
                              <m:t>𝑛</m:t>
                            </m:r>
                          </m:e>
                        </m:d>
                      </m:e>
                      <m:sup>
                        <m:r>
                          <a:rPr lang="en-US" altLang="zh-CN" sz="1200" i="1" dirty="0">
                            <a:latin typeface="Cambria Math" panose="02040503050406030204" pitchFamily="18" charset="0"/>
                            <a:cs typeface="Times New Roman" panose="02020603050405020304" pitchFamily="18" charset="0"/>
                          </a:rPr>
                          <m:t>𝑘</m:t>
                        </m:r>
                      </m:sup>
                    </m:sSup>
                    <m:r>
                      <a:rPr lang="en-US" altLang="zh-CN" sz="1200" i="1" dirty="0">
                        <a:latin typeface="Cambria Math" panose="02040503050406030204" pitchFamily="18" charset="0"/>
                        <a:cs typeface="Times New Roman" panose="02020603050405020304" pitchFamily="18" charset="0"/>
                      </a:rPr>
                      <m:t> </m:t>
                    </m:r>
                  </m:oMath>
                </a14:m>
                <a:r>
                  <a:rPr lang="zh-CN" altLang="en-US" sz="1200" dirty="0">
                    <a:latin typeface="Times New Roman" panose="02020603050405020304" pitchFamily="18" charset="0"/>
                    <a:cs typeface="Times New Roman" panose="02020603050405020304" pitchFamily="18" charset="0"/>
                  </a:rPr>
                  <a:t>，所以</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𝑘</m:t>
                    </m:r>
                  </m:oMath>
                </a14:m>
                <a:r>
                  <a:rPr lang="zh-CN" altLang="en-US" sz="1200" dirty="0">
                    <a:latin typeface="Times New Roman" panose="02020603050405020304" pitchFamily="18" charset="0"/>
                    <a:cs typeface="Times New Roman" panose="02020603050405020304" pitchFamily="18" charset="0"/>
                  </a:rPr>
                  <a:t>个输出中至少有一个等于</a:t>
                </a:r>
                <a14:m>
                  <m:oMath xmlns:m="http://schemas.openxmlformats.org/officeDocument/2006/math">
                    <m:r>
                      <a:rPr lang="en-US" altLang="zh-CN" sz="1200" i="1" dirty="0" smtClean="0">
                        <a:latin typeface="Cambria Math" panose="02040503050406030204" pitchFamily="18" charset="0"/>
                        <a:cs typeface="Times New Roman" panose="02020603050405020304" pitchFamily="18" charset="0"/>
                      </a:rPr>
                      <m:t>𝐻</m:t>
                    </m:r>
                    <m:r>
                      <a:rPr lang="en-US" altLang="zh-CN" sz="1200" i="1" dirty="0" smtClean="0">
                        <a:latin typeface="Cambria Math" panose="02040503050406030204" pitchFamily="18" charset="0"/>
                        <a:cs typeface="Times New Roman" panose="02020603050405020304" pitchFamily="18" charset="0"/>
                      </a:rPr>
                      <m:t>(</m:t>
                    </m:r>
                    <m:r>
                      <a:rPr lang="en-US" altLang="zh-CN" sz="1200" i="1" dirty="0" smtClean="0">
                        <a:latin typeface="Cambria Math" panose="02040503050406030204" pitchFamily="18" charset="0"/>
                        <a:cs typeface="Times New Roman" panose="02020603050405020304" pitchFamily="18" charset="0"/>
                      </a:rPr>
                      <m:t>𝑥</m:t>
                    </m:r>
                    <m:r>
                      <a:rPr lang="en-US" altLang="zh-CN" sz="1200" i="1" dirty="0" smtClean="0">
                        <a:latin typeface="Cambria Math" panose="02040503050406030204" pitchFamily="18" charset="0"/>
                        <a:cs typeface="Times New Roman" panose="02020603050405020304" pitchFamily="18" charset="0"/>
                      </a:rPr>
                      <m:t>)</m:t>
                    </m:r>
                  </m:oMath>
                </a14:m>
                <a:r>
                  <a:rPr lang="zh-CN" altLang="en-US" sz="1200" dirty="0">
                    <a:latin typeface="Times New Roman" panose="02020603050405020304" pitchFamily="18" charset="0"/>
                    <a:cs typeface="Times New Roman" panose="02020603050405020304" pitchFamily="18" charset="0"/>
                  </a:rPr>
                  <a:t>的概率为</a:t>
                </a:r>
                <a14:m>
                  <m:oMath xmlns:m="http://schemas.openxmlformats.org/officeDocument/2006/math">
                    <m:sSup>
                      <m:sSupPr>
                        <m:ctrlPr>
                          <a:rPr lang="en-US" altLang="zh-CN" sz="1200" i="1" dirty="0">
                            <a:latin typeface="Cambria Math" panose="02040503050406030204" pitchFamily="18" charset="0"/>
                            <a:cs typeface="Times New Roman" panose="02020603050405020304" pitchFamily="18" charset="0"/>
                          </a:rPr>
                        </m:ctrlPr>
                      </m:sSupPr>
                      <m:e>
                        <m:r>
                          <a:rPr lang="en-US" altLang="zh-CN" sz="1200" b="0" i="1" dirty="0" smtClean="0">
                            <a:latin typeface="Cambria Math" panose="02040503050406030204" pitchFamily="18" charset="0"/>
                            <a:cs typeface="Times New Roman" panose="02020603050405020304" pitchFamily="18" charset="0"/>
                          </a:rPr>
                          <m:t>1−</m:t>
                        </m:r>
                        <m:d>
                          <m:dPr>
                            <m:begChr m:val="["/>
                            <m:endChr m:val="]"/>
                            <m:ctrlPr>
                              <a:rPr lang="en-US" altLang="zh-CN" sz="1200" i="1" dirty="0">
                                <a:latin typeface="Cambria Math" panose="02040503050406030204" pitchFamily="18" charset="0"/>
                                <a:cs typeface="Times New Roman" panose="02020603050405020304" pitchFamily="18" charset="0"/>
                              </a:rPr>
                            </m:ctrlPr>
                          </m:dPr>
                          <m:e>
                            <m:r>
                              <a:rPr lang="en-US" altLang="zh-CN" sz="1200" i="1" dirty="0">
                                <a:latin typeface="Cambria Math" panose="02040503050406030204" pitchFamily="18" charset="0"/>
                                <a:cs typeface="Times New Roman" panose="02020603050405020304" pitchFamily="18" charset="0"/>
                              </a:rPr>
                              <m:t>1−1/</m:t>
                            </m:r>
                            <m:r>
                              <a:rPr lang="en-US" altLang="zh-CN" sz="1200" i="1" dirty="0">
                                <a:latin typeface="Cambria Math" panose="02040503050406030204" pitchFamily="18" charset="0"/>
                                <a:cs typeface="Times New Roman" panose="02020603050405020304" pitchFamily="18" charset="0"/>
                              </a:rPr>
                              <m:t>𝑛</m:t>
                            </m:r>
                          </m:e>
                        </m:d>
                      </m:e>
                      <m:sup>
                        <m:r>
                          <a:rPr lang="en-US" altLang="zh-CN" sz="1200" i="1" dirty="0">
                            <a:latin typeface="Cambria Math" panose="02040503050406030204" pitchFamily="18" charset="0"/>
                            <a:cs typeface="Times New Roman" panose="02020603050405020304" pitchFamily="18" charset="0"/>
                          </a:rPr>
                          <m:t>𝑘</m:t>
                        </m:r>
                      </m:sup>
                    </m:sSup>
                    <m:r>
                      <a:rPr lang="en-US" altLang="zh-CN" sz="1200" i="1" dirty="0">
                        <a:latin typeface="Cambria Math" panose="02040503050406030204" pitchFamily="18" charset="0"/>
                        <a:cs typeface="Times New Roman" panose="02020603050405020304" pitchFamily="18" charset="0"/>
                      </a:rPr>
                      <m:t> </m:t>
                    </m:r>
                  </m:oMath>
                </a14:m>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因为</a:t>
                </a:r>
                <a:r>
                  <a:rPr lang="en-US" altLang="zh-CN" sz="1200" i="0" dirty="0">
                    <a:latin typeface="Cambria Math" panose="02040503050406030204" pitchFamily="18" charset="0"/>
                    <a:cs typeface="Times New Roman" panose="02020603050405020304" pitchFamily="18" charset="0"/>
                  </a:rPr>
                  <a:t> 𝐻 </a:t>
                </a:r>
                <a:r>
                  <a:rPr lang="zh-CN" altLang="en-US" sz="1200" dirty="0">
                    <a:latin typeface="Times New Roman" panose="02020603050405020304" pitchFamily="18" charset="0"/>
                    <a:cs typeface="Times New Roman" panose="02020603050405020304" pitchFamily="18" charset="0"/>
                  </a:rPr>
                  <a:t>有</a:t>
                </a:r>
                <a:r>
                  <a:rPr lang="en-US" altLang="zh-CN" sz="1200" i="0" dirty="0">
                    <a:latin typeface="Cambria Math" panose="02040503050406030204" pitchFamily="18" charset="0"/>
                    <a:cs typeface="Times New Roman" panose="02020603050405020304" pitchFamily="18" charset="0"/>
                  </a:rPr>
                  <a:t> 𝑛 </a:t>
                </a:r>
                <a:r>
                  <a:rPr lang="zh-CN" altLang="en-US" sz="1200" dirty="0">
                    <a:latin typeface="Times New Roman" panose="02020603050405020304" pitchFamily="18" charset="0"/>
                    <a:cs typeface="Times New Roman" panose="02020603050405020304" pitchFamily="18" charset="0"/>
                  </a:rPr>
                  <a:t>个可能的输出，所以</a:t>
                </a:r>
                <a:r>
                  <a:rPr lang="en-US" altLang="zh-CN" sz="1200" i="0" dirty="0">
                    <a:latin typeface="Cambria Math" panose="02040503050406030204" pitchFamily="18" charset="0"/>
                    <a:cs typeface="Times New Roman" panose="02020603050405020304" pitchFamily="18" charset="0"/>
                  </a:rPr>
                  <a:t>𝐻(𝑦)</a:t>
                </a:r>
                <a:r>
                  <a:rPr lang="zh-CN" altLang="en-US" sz="1200" dirty="0">
                    <a:latin typeface="Times New Roman" panose="02020603050405020304" pitchFamily="18" charset="0"/>
                    <a:cs typeface="Times New Roman" panose="02020603050405020304" pitchFamily="18" charset="0"/>
                  </a:rPr>
                  <a:t>等于特定输出</a:t>
                </a:r>
                <a:r>
                  <a:rPr lang="en-US" altLang="zh-CN" sz="1200" i="0" dirty="0">
                    <a:latin typeface="Cambria Math" panose="02040503050406030204" pitchFamily="18" charset="0"/>
                    <a:cs typeface="Times New Roman" panose="02020603050405020304" pitchFamily="18" charset="0"/>
                  </a:rPr>
                  <a:t>𝐻(𝑥)</a:t>
                </a:r>
                <a:r>
                  <a:rPr lang="zh-CN" altLang="en-US" sz="1200" dirty="0">
                    <a:latin typeface="Times New Roman" panose="02020603050405020304" pitchFamily="18" charset="0"/>
                    <a:cs typeface="Times New Roman" panose="02020603050405020304" pitchFamily="18" charset="0"/>
                  </a:rPr>
                  <a:t>的概率是</a:t>
                </a:r>
                <a:r>
                  <a:rPr lang="en-US" altLang="zh-CN" sz="1200" i="0" dirty="0">
                    <a:latin typeface="Cambria Math" panose="02040503050406030204" pitchFamily="18" charset="0"/>
                    <a:cs typeface="Times New Roman" panose="02020603050405020304" pitchFamily="18" charset="0"/>
                  </a:rPr>
                  <a:t>1/𝑛</a:t>
                </a:r>
                <a:r>
                  <a:rPr lang="zh-CN" altLang="en-US" sz="1200" dirty="0">
                    <a:latin typeface="Times New Roman" panose="02020603050405020304" pitchFamily="18" charset="0"/>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dirty="0">
                    <a:latin typeface="Cambria Math" panose="02040503050406030204" pitchFamily="18" charset="0"/>
                    <a:cs typeface="Times New Roman" panose="02020603050405020304" pitchFamily="18" charset="0"/>
                  </a:rPr>
                  <a:t>𝑦</a:t>
                </a:r>
                <a:r>
                  <a:rPr lang="zh-CN" altLang="en-US" sz="1200" dirty="0">
                    <a:latin typeface="Times New Roman" panose="02020603050405020304" pitchFamily="18" charset="0"/>
                    <a:cs typeface="Times New Roman" panose="02020603050405020304" pitchFamily="18" charset="0"/>
                  </a:rPr>
                  <a:t>取</a:t>
                </a:r>
                <a:r>
                  <a:rPr lang="en-US" altLang="zh-CN" sz="1200" i="0" dirty="0">
                    <a:latin typeface="Cambria Math" panose="02040503050406030204" pitchFamily="18" charset="0"/>
                    <a:cs typeface="Times New Roman" panose="02020603050405020304" pitchFamily="18" charset="0"/>
                  </a:rPr>
                  <a:t>𝑘</a:t>
                </a:r>
                <a:r>
                  <a:rPr lang="zh-CN" altLang="en-US" sz="1200" dirty="0">
                    <a:latin typeface="Times New Roman" panose="02020603050405020304" pitchFamily="18" charset="0"/>
                    <a:cs typeface="Times New Roman" panose="02020603050405020304" pitchFamily="18" charset="0"/>
                  </a:rPr>
                  <a:t>个随机值且对应输出中都不等于</a:t>
                </a:r>
                <a:r>
                  <a:rPr lang="en-US" altLang="zh-CN" sz="1200" i="0" dirty="0">
                    <a:latin typeface="Cambria Math" panose="02040503050406030204" pitchFamily="18" charset="0"/>
                    <a:cs typeface="Times New Roman" panose="02020603050405020304" pitchFamily="18" charset="0"/>
                  </a:rPr>
                  <a:t>𝐻(𝑥)</a:t>
                </a:r>
                <a:r>
                  <a:rPr lang="zh-CN" altLang="en-US" sz="1200" dirty="0">
                    <a:latin typeface="Times New Roman" panose="02020603050405020304" pitchFamily="18" charset="0"/>
                    <a:cs typeface="Times New Roman" panose="02020603050405020304" pitchFamily="18" charset="0"/>
                  </a:rPr>
                  <a:t>的概率为</a:t>
                </a:r>
                <a:r>
                  <a:rPr lang="en-US" altLang="zh-CN" sz="1200" i="0" dirty="0">
                    <a:latin typeface="Cambria Math" panose="02040503050406030204" pitchFamily="18" charset="0"/>
                    <a:cs typeface="Times New Roman" panose="02020603050405020304" pitchFamily="18" charset="0"/>
                  </a:rPr>
                  <a:t>[1−</a:t>
                </a:r>
                <a:r>
                  <a:rPr lang="en-US" altLang="zh-CN" sz="1200" b="0" i="0" dirty="0">
                    <a:latin typeface="Cambria Math" panose="02040503050406030204" pitchFamily="18" charset="0"/>
                    <a:cs typeface="Times New Roman" panose="02020603050405020304" pitchFamily="18" charset="0"/>
                  </a:rPr>
                  <a:t>1/𝑛]^</a:t>
                </a:r>
                <a:r>
                  <a:rPr lang="en-US" altLang="zh-CN" sz="1200" i="0" dirty="0">
                    <a:latin typeface="Cambria Math" panose="02040503050406030204" pitchFamily="18" charset="0"/>
                    <a:cs typeface="Times New Roman" panose="02020603050405020304" pitchFamily="18" charset="0"/>
                  </a:rPr>
                  <a:t>𝑘</a:t>
                </a:r>
                <a:r>
                  <a:rPr lang="zh-CN" altLang="en-US" sz="1200" dirty="0">
                    <a:latin typeface="Times New Roman" panose="02020603050405020304" pitchFamily="18" charset="0"/>
                    <a:cs typeface="Times New Roman" panose="02020603050405020304" pitchFamily="18" charset="0"/>
                  </a:rPr>
                  <a:t>，      所以</a:t>
                </a:r>
                <a:r>
                  <a:rPr lang="en-US" altLang="zh-CN" sz="1200" i="0" dirty="0">
                    <a:latin typeface="Cambria Math" panose="02040503050406030204" pitchFamily="18" charset="0"/>
                    <a:cs typeface="Times New Roman" panose="02020603050405020304" pitchFamily="18" charset="0"/>
                  </a:rPr>
                  <a:t>𝑘</a:t>
                </a:r>
                <a:r>
                  <a:rPr lang="zh-CN" altLang="en-US" sz="1200" dirty="0">
                    <a:latin typeface="Times New Roman" panose="02020603050405020304" pitchFamily="18" charset="0"/>
                    <a:cs typeface="Times New Roman" panose="02020603050405020304" pitchFamily="18" charset="0"/>
                  </a:rPr>
                  <a:t>个输出中至少有一个等于</a:t>
                </a:r>
                <a:r>
                  <a:rPr lang="en-US" altLang="zh-CN" sz="1200" i="0" dirty="0">
                    <a:latin typeface="Cambria Math" panose="02040503050406030204" pitchFamily="18" charset="0"/>
                    <a:cs typeface="Times New Roman" panose="02020603050405020304" pitchFamily="18" charset="0"/>
                  </a:rPr>
                  <a:t>𝐻(𝑥)</a:t>
                </a:r>
                <a:r>
                  <a:rPr lang="zh-CN" altLang="en-US" sz="1200" dirty="0">
                    <a:latin typeface="Times New Roman" panose="02020603050405020304" pitchFamily="18" charset="0"/>
                    <a:cs typeface="Times New Roman" panose="02020603050405020304" pitchFamily="18" charset="0"/>
                  </a:rPr>
                  <a:t>的概率为</a:t>
                </a:r>
                <a:r>
                  <a:rPr lang="en-US" altLang="zh-CN" sz="1200" i="0" dirty="0">
                    <a:latin typeface="Cambria Math" panose="02040503050406030204" pitchFamily="18" charset="0"/>
                    <a:cs typeface="Times New Roman" panose="02020603050405020304" pitchFamily="18" charset="0"/>
                  </a:rPr>
                  <a:t>〖</a:t>
                </a:r>
                <a:r>
                  <a:rPr lang="en-US" altLang="zh-CN" sz="1200" b="0" i="0" dirty="0">
                    <a:latin typeface="Cambria Math" panose="02040503050406030204" pitchFamily="18" charset="0"/>
                    <a:cs typeface="Times New Roman" panose="02020603050405020304" pitchFamily="18" charset="0"/>
                  </a:rPr>
                  <a:t>1−[</a:t>
                </a:r>
                <a:r>
                  <a:rPr lang="en-US" altLang="zh-CN" sz="1200" i="0" dirty="0">
                    <a:latin typeface="Cambria Math" panose="02040503050406030204" pitchFamily="18" charset="0"/>
                    <a:cs typeface="Times New Roman" panose="02020603050405020304" pitchFamily="18" charset="0"/>
                  </a:rPr>
                  <a:t>1−1/𝑛]〗^𝑘  </a:t>
                </a:r>
                <a:r>
                  <a:rPr lang="zh-CN" altLang="en-US" sz="1200" dirty="0">
                    <a:latin typeface="Times New Roman" panose="02020603050405020304" pitchFamily="18" charset="0"/>
                    <a:cs typeface="Times New Roman" panose="02020603050405020304" pitchFamily="18" charset="0"/>
                  </a:rPr>
                  <a:t>，所以</a:t>
                </a:r>
                <a:r>
                  <a:rPr lang="en-US" altLang="zh-CN" sz="1200" i="0" dirty="0">
                    <a:latin typeface="Cambria Math" panose="02040503050406030204" pitchFamily="18" charset="0"/>
                    <a:cs typeface="Times New Roman" panose="02020603050405020304" pitchFamily="18" charset="0"/>
                  </a:rPr>
                  <a:t>𝑘</a:t>
                </a:r>
                <a:r>
                  <a:rPr lang="zh-CN" altLang="en-US" sz="1200" dirty="0">
                    <a:latin typeface="Times New Roman" panose="02020603050405020304" pitchFamily="18" charset="0"/>
                    <a:cs typeface="Times New Roman" panose="02020603050405020304" pitchFamily="18" charset="0"/>
                  </a:rPr>
                  <a:t>个输出中至少有一个等于</a:t>
                </a:r>
                <a:r>
                  <a:rPr lang="en-US" altLang="zh-CN" sz="1200" i="0" dirty="0">
                    <a:latin typeface="Cambria Math" panose="02040503050406030204" pitchFamily="18" charset="0"/>
                    <a:cs typeface="Times New Roman" panose="02020603050405020304" pitchFamily="18" charset="0"/>
                  </a:rPr>
                  <a:t>𝐻(𝑥)</a:t>
                </a:r>
                <a:r>
                  <a:rPr lang="zh-CN" altLang="en-US" sz="1200" dirty="0">
                    <a:latin typeface="Times New Roman" panose="02020603050405020304" pitchFamily="18" charset="0"/>
                    <a:cs typeface="Times New Roman" panose="02020603050405020304" pitchFamily="18" charset="0"/>
                  </a:rPr>
                  <a:t>的概率为</a:t>
                </a:r>
                <a:r>
                  <a:rPr lang="en-US" altLang="zh-CN" sz="1200" i="0" dirty="0">
                    <a:latin typeface="Cambria Math" panose="02040503050406030204" pitchFamily="18" charset="0"/>
                    <a:cs typeface="Times New Roman" panose="02020603050405020304" pitchFamily="18" charset="0"/>
                  </a:rPr>
                  <a:t>〖</a:t>
                </a:r>
                <a:r>
                  <a:rPr lang="en-US" altLang="zh-CN" sz="1200" b="0" i="0" dirty="0">
                    <a:latin typeface="Cambria Math" panose="02040503050406030204" pitchFamily="18" charset="0"/>
                    <a:cs typeface="Times New Roman" panose="02020603050405020304" pitchFamily="18" charset="0"/>
                  </a:rPr>
                  <a:t>1−[</a:t>
                </a:r>
                <a:r>
                  <a:rPr lang="en-US" altLang="zh-CN" sz="1200" i="0" dirty="0">
                    <a:latin typeface="Cambria Math" panose="02040503050406030204" pitchFamily="18" charset="0"/>
                    <a:cs typeface="Times New Roman" panose="02020603050405020304" pitchFamily="18" charset="0"/>
                  </a:rPr>
                  <a:t>1−1/𝑛]〗^𝑘  </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34</a:t>
            </a:fld>
            <a:endParaRPr lang="zh-CN" altLang="en-US"/>
          </a:p>
        </p:txBody>
      </p:sp>
    </p:spTree>
    <p:extLst>
      <p:ext uri="{BB962C8B-B14F-4D97-AF65-F5344CB8AC3E}">
        <p14:creationId xmlns:p14="http://schemas.microsoft.com/office/powerpoint/2010/main" val="1298353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至少有多少个人在一起时，能保证至少以</a:t>
                </a:r>
                <a:r>
                  <a:rPr lang="en-US" altLang="zh-CN" sz="1200" i="0" dirty="0">
                    <a:latin typeface="Cambria Math" panose="02040503050406030204" pitchFamily="18" charset="0"/>
                    <a:cs typeface="Times New Roman" panose="02020603050405020304" pitchFamily="18" charset="0"/>
                  </a:rPr>
                  <a:t>1/2</a:t>
                </a:r>
                <a:r>
                  <a:rPr lang="zh-CN" altLang="en-US" sz="1200" dirty="0">
                    <a:latin typeface="Times New Roman" panose="02020603050405020304" pitchFamily="18" charset="0"/>
                    <a:cs typeface="Times New Roman" panose="02020603050405020304" pitchFamily="18" charset="0"/>
                  </a:rPr>
                  <a:t>的概率存在</a:t>
                </a:r>
                <a:r>
                  <a:rPr lang="en-US" altLang="zh-CN" sz="1200" dirty="0">
                    <a:latin typeface="Times New Roman" panose="02020603050405020304" pitchFamily="18" charset="0"/>
                    <a:cs typeface="Times New Roman" panose="02020603050405020304" pitchFamily="18" charset="0"/>
                  </a:rPr>
                  <a:t>2</a:t>
                </a:r>
                <a:r>
                  <a:rPr lang="zh-CN" altLang="en-US" sz="1200" dirty="0">
                    <a:latin typeface="Times New Roman" panose="02020603050405020304" pitchFamily="18" charset="0"/>
                    <a:cs typeface="Times New Roman" panose="02020603050405020304" pitchFamily="18" charset="0"/>
                  </a:rPr>
                  <a:t>个人有相同的生日？</a:t>
                </a:r>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35</a:t>
            </a:fld>
            <a:endParaRPr lang="zh-CN" altLang="en-US"/>
          </a:p>
        </p:txBody>
      </p:sp>
    </p:spTree>
    <p:extLst>
      <p:ext uri="{BB962C8B-B14F-4D97-AF65-F5344CB8AC3E}">
        <p14:creationId xmlns:p14="http://schemas.microsoft.com/office/powerpoint/2010/main" val="308586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哈希值仅为</a:t>
            </a:r>
            <a:r>
              <a:rPr lang="en-US" altLang="zh-CN" sz="1200" dirty="0">
                <a:latin typeface="Times New Roman" panose="02020603050405020304" pitchFamily="18" charset="0"/>
                <a:cs typeface="Times New Roman" panose="02020603050405020304" pitchFamily="18" charset="0"/>
              </a:rPr>
              <a:t>32 bit</a:t>
            </a:r>
            <a:r>
              <a:rPr lang="zh-CN" altLang="en-US" sz="1200" dirty="0">
                <a:latin typeface="Times New Roman" panose="02020603050405020304" pitchFamily="18" charset="0"/>
                <a:cs typeface="Times New Roman" panose="02020603050405020304" pitchFamily="18" charset="0"/>
              </a:rPr>
              <a:t>的杂凑函数不是强哈希函数。事实上，能抗击生日攻击的哈希函数值至少为</a:t>
            </a:r>
            <a:r>
              <a:rPr lang="en-US" altLang="zh-CN" sz="1200" dirty="0">
                <a:latin typeface="Times New Roman" panose="02020603050405020304" pitchFamily="18" charset="0"/>
                <a:cs typeface="Times New Roman" panose="02020603050405020304" pitchFamily="18" charset="0"/>
              </a:rPr>
              <a:t>128 bit</a:t>
            </a:r>
            <a:r>
              <a:rPr lang="zh-CN" altLang="en-US" sz="1200" dirty="0">
                <a:latin typeface="Times New Roman" panose="02020603050405020304" pitchFamily="18" charset="0"/>
                <a:cs typeface="Times New Roman" panose="02020603050405020304" pitchFamily="18" charset="0"/>
              </a:rPr>
              <a:t>。</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36</a:t>
            </a:fld>
            <a:endParaRPr lang="zh-CN" altLang="en-US"/>
          </a:p>
        </p:txBody>
      </p:sp>
    </p:spTree>
    <p:extLst>
      <p:ext uri="{BB962C8B-B14F-4D97-AF65-F5344CB8AC3E}">
        <p14:creationId xmlns:p14="http://schemas.microsoft.com/office/powerpoint/2010/main" val="3647831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D1185-C64A-1F3C-BFDD-80AF45B710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F64A89-F117-EE8F-B555-C92BBA29F5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5A5757-4DEC-DA2B-FB24-5219BF7B520B}"/>
              </a:ext>
            </a:extLst>
          </p:cNvPr>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哈希值仅为</a:t>
            </a:r>
            <a:r>
              <a:rPr lang="en-US" altLang="zh-CN" sz="1200" dirty="0">
                <a:latin typeface="Times New Roman" panose="02020603050405020304" pitchFamily="18" charset="0"/>
                <a:cs typeface="Times New Roman" panose="02020603050405020304" pitchFamily="18" charset="0"/>
              </a:rPr>
              <a:t>32 bit</a:t>
            </a:r>
            <a:r>
              <a:rPr lang="zh-CN" altLang="en-US" sz="1200" dirty="0">
                <a:latin typeface="Times New Roman" panose="02020603050405020304" pitchFamily="18" charset="0"/>
                <a:cs typeface="Times New Roman" panose="02020603050405020304" pitchFamily="18" charset="0"/>
              </a:rPr>
              <a:t>的杂凑函数不是强哈希函数。事实上，能抗击生日攻击的哈希函数值至少为</a:t>
            </a:r>
            <a:r>
              <a:rPr lang="en-US" altLang="zh-CN" sz="1200" dirty="0">
                <a:latin typeface="Times New Roman" panose="02020603050405020304" pitchFamily="18" charset="0"/>
                <a:cs typeface="Times New Roman" panose="02020603050405020304" pitchFamily="18" charset="0"/>
              </a:rPr>
              <a:t>128 bit</a:t>
            </a:r>
            <a:r>
              <a:rPr lang="zh-CN" altLang="en-US" sz="1200" dirty="0">
                <a:latin typeface="Times New Roman" panose="02020603050405020304" pitchFamily="18" charset="0"/>
                <a:cs typeface="Times New Roman" panose="02020603050405020304" pitchFamily="18" charset="0"/>
              </a:rPr>
              <a:t>。</a:t>
            </a:r>
            <a:endParaRPr lang="zh-CN" altLang="en-US" dirty="0"/>
          </a:p>
        </p:txBody>
      </p:sp>
      <p:sp>
        <p:nvSpPr>
          <p:cNvPr id="4" name="灯片编号占位符 3">
            <a:extLst>
              <a:ext uri="{FF2B5EF4-FFF2-40B4-BE49-F238E27FC236}">
                <a16:creationId xmlns:a16="http://schemas.microsoft.com/office/drawing/2014/main" id="{E93D72F8-523F-2EF7-A4DB-694541D8E734}"/>
              </a:ext>
            </a:extLst>
          </p:cNvPr>
          <p:cNvSpPr>
            <a:spLocks noGrp="1"/>
          </p:cNvSpPr>
          <p:nvPr>
            <p:ph type="sldNum" sz="quarter" idx="5"/>
          </p:nvPr>
        </p:nvSpPr>
        <p:spPr/>
        <p:txBody>
          <a:bodyPr/>
          <a:lstStyle/>
          <a:p>
            <a:fld id="{184D3990-B510-4435-90A5-6D9F2619C2A6}" type="slidenum">
              <a:rPr lang="zh-CN" altLang="en-US" smtClean="0"/>
              <a:t>37</a:t>
            </a:fld>
            <a:endParaRPr lang="zh-CN" altLang="en-US"/>
          </a:p>
        </p:txBody>
      </p:sp>
    </p:spTree>
    <p:extLst>
      <p:ext uri="{BB962C8B-B14F-4D97-AF65-F5344CB8AC3E}">
        <p14:creationId xmlns:p14="http://schemas.microsoft.com/office/powerpoint/2010/main" val="4027875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38</a:t>
            </a:fld>
            <a:endParaRPr lang="zh-CN" altLang="en-US"/>
          </a:p>
        </p:txBody>
      </p:sp>
    </p:spTree>
    <p:extLst>
      <p:ext uri="{BB962C8B-B14F-4D97-AF65-F5344CB8AC3E}">
        <p14:creationId xmlns:p14="http://schemas.microsoft.com/office/powerpoint/2010/main" val="1253703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39</a:t>
            </a:fld>
            <a:endParaRPr lang="zh-CN" altLang="en-US"/>
          </a:p>
        </p:txBody>
      </p:sp>
    </p:spTree>
    <p:extLst>
      <p:ext uri="{BB962C8B-B14F-4D97-AF65-F5344CB8AC3E}">
        <p14:creationId xmlns:p14="http://schemas.microsoft.com/office/powerpoint/2010/main" val="346377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即使原始消息已经是</a:t>
            </a:r>
            <a:r>
              <a:rPr lang="en-US" altLang="zh-CN" b="0" i="0" dirty="0">
                <a:solidFill>
                  <a:srgbClr val="374151"/>
                </a:solidFill>
                <a:effectLst/>
                <a:latin typeface="Söhne"/>
              </a:rPr>
              <a:t>512</a:t>
            </a:r>
            <a:r>
              <a:rPr lang="zh-CN" altLang="en-US" b="0" i="0" dirty="0">
                <a:solidFill>
                  <a:srgbClr val="374151"/>
                </a:solidFill>
                <a:effectLst/>
                <a:latin typeface="Söhne"/>
              </a:rPr>
              <a:t>位的倍数，算法仍然要求添加至少一块（</a:t>
            </a:r>
            <a:r>
              <a:rPr lang="en-US" altLang="zh-CN" b="0" i="0" dirty="0">
                <a:solidFill>
                  <a:srgbClr val="374151"/>
                </a:solidFill>
                <a:effectLst/>
                <a:latin typeface="Söhne"/>
              </a:rPr>
              <a:t>512</a:t>
            </a:r>
            <a:r>
              <a:rPr lang="zh-CN" altLang="en-US" b="0" i="0" dirty="0">
                <a:solidFill>
                  <a:srgbClr val="374151"/>
                </a:solidFill>
                <a:effectLst/>
                <a:latin typeface="Söhne"/>
              </a:rPr>
              <a:t>位）的填充。</a:t>
            </a:r>
            <a:endParaRPr lang="en-US" altLang="zh-CN" b="0" i="0" dirty="0">
              <a:solidFill>
                <a:srgbClr val="374151"/>
              </a:solidFill>
              <a:effectLst/>
              <a:latin typeface="Söhne"/>
            </a:endParaRPr>
          </a:p>
          <a:p>
            <a:r>
              <a:rPr lang="zh-CN" altLang="en-US" b="0" i="0" dirty="0">
                <a:solidFill>
                  <a:srgbClr val="374151"/>
                </a:solidFill>
                <a:effectLst/>
                <a:latin typeface="Söhne"/>
              </a:rPr>
              <a:t>确保即使两个不同的消息在没有长度信息的情况下可能产生相同的哈希值，加入长度信息后可以产生不同的哈希值</a:t>
            </a:r>
            <a:endParaRPr lang="en-US" altLang="zh-CN" b="0" i="0" dirty="0">
              <a:solidFill>
                <a:srgbClr val="374151"/>
              </a:solidFill>
              <a:effectLst/>
              <a:latin typeface="Söhne"/>
            </a:endParaRPr>
          </a:p>
          <a:p>
            <a:r>
              <a:rPr lang="zh-CN" altLang="en-US" sz="1200" dirty="0">
                <a:latin typeface="Times New Roman" panose="02020603050405020304" pitchFamily="18" charset="0"/>
                <a:cs typeface="Times New Roman" panose="02020603050405020304" pitchFamily="18" charset="0"/>
              </a:rPr>
              <a:t>即至少填充 </a:t>
            </a:r>
            <a:r>
              <a:rPr lang="en-US" altLang="zh-CN" sz="1200" dirty="0">
                <a:latin typeface="Times New Roman" panose="02020603050405020304" pitchFamily="18" charset="0"/>
                <a:cs typeface="Times New Roman" panose="02020603050405020304" pitchFamily="18" charset="0"/>
              </a:rPr>
              <a:t>1 </a:t>
            </a:r>
            <a:r>
              <a:rPr lang="zh-CN" altLang="en-US" sz="1200" dirty="0">
                <a:latin typeface="Times New Roman" panose="02020603050405020304" pitchFamily="18" charset="0"/>
                <a:cs typeface="Times New Roman" panose="02020603050405020304" pitchFamily="18" charset="0"/>
              </a:rPr>
              <a:t>个比特，最多填充 </a:t>
            </a:r>
            <a:r>
              <a:rPr lang="en-US" altLang="zh-CN" sz="1200" dirty="0">
                <a:latin typeface="Times New Roman" panose="02020603050405020304" pitchFamily="18" charset="0"/>
                <a:cs typeface="Times New Roman" panose="02020603050405020304" pitchFamily="18" charset="0"/>
              </a:rPr>
              <a:t>512 </a:t>
            </a:r>
            <a:r>
              <a:rPr lang="zh-CN" altLang="en-US" sz="1200" dirty="0">
                <a:latin typeface="Times New Roman" panose="02020603050405020304" pitchFamily="18" charset="0"/>
                <a:cs typeface="Times New Roman" panose="02020603050405020304" pitchFamily="18" charset="0"/>
              </a:rPr>
              <a:t>个比特。</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40</a:t>
            </a:fld>
            <a:endParaRPr lang="zh-CN" altLang="en-US"/>
          </a:p>
        </p:txBody>
      </p:sp>
    </p:spTree>
    <p:extLst>
      <p:ext uri="{BB962C8B-B14F-4D97-AF65-F5344CB8AC3E}">
        <p14:creationId xmlns:p14="http://schemas.microsoft.com/office/powerpoint/2010/main" val="27577804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3008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42</a:t>
            </a:fld>
            <a:endParaRPr lang="zh-CN" altLang="en-US"/>
          </a:p>
        </p:txBody>
      </p:sp>
    </p:spTree>
    <p:extLst>
      <p:ext uri="{BB962C8B-B14F-4D97-AF65-F5344CB8AC3E}">
        <p14:creationId xmlns:p14="http://schemas.microsoft.com/office/powerpoint/2010/main" val="685919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43</a:t>
            </a:fld>
            <a:endParaRPr lang="zh-CN" altLang="en-US"/>
          </a:p>
        </p:txBody>
      </p:sp>
    </p:spTree>
    <p:extLst>
      <p:ext uri="{BB962C8B-B14F-4D97-AF65-F5344CB8AC3E}">
        <p14:creationId xmlns:p14="http://schemas.microsoft.com/office/powerpoint/2010/main" val="2727330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14:m>
                  <m:oMath xmlns:m="http://schemas.openxmlformats.org/officeDocument/2006/math">
                    <m:sSub>
                      <m:sSubPr>
                        <m:ctrlPr>
                          <a:rPr lang="en-US" altLang="zh-CN" sz="1200" i="1" dirty="0" smtClean="0">
                            <a:solidFill>
                              <a:schemeClr val="tx1"/>
                            </a:solidFill>
                            <a:effectLst/>
                            <a:latin typeface="Cambria Math" panose="02040503050406030204" pitchFamily="18" charset="0"/>
                          </a:rPr>
                        </m:ctrlPr>
                      </m:sSubPr>
                      <m:e>
                        <m:r>
                          <a:rPr lang="en-US" altLang="zh-CN" sz="12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64</a:t>
                </a:r>
                <a:endParaRPr lang="zh-CN" altLang="en-US" sz="1200" dirty="0">
                  <a:cs typeface="Times New Roman" panose="02020603050405020304" pitchFamily="18" charset="0"/>
                </a:endParaRPr>
              </a:p>
              <a:p>
                <a:r>
                  <a:rPr lang="en-US" altLang="zh-CN" dirty="0"/>
                  <a:t>s</a:t>
                </a:r>
                <a:r>
                  <a:rPr lang="zh-CN" altLang="en-US" b="0" i="0" dirty="0">
                    <a:solidFill>
                      <a:srgbClr val="374151"/>
                    </a:solidFill>
                    <a:effectLst/>
                    <a:latin typeface="Söhne"/>
                  </a:rPr>
                  <a:t> 是每步的左循环位移的量，在算法中是预先定义</a:t>
                </a:r>
                <a:endParaRPr lang="zh-CN" altLang="en-US" dirty="0"/>
              </a:p>
            </p:txBody>
          </p:sp>
        </mc:Choice>
        <mc:Fallback xmlns="">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r>
                  <a:rPr lang="en-US" altLang="zh-CN" sz="1200" b="0" i="0" dirty="0">
                    <a:solidFill>
                      <a:schemeClr val="tx1"/>
                    </a:solidFill>
                    <a:effectLst/>
                    <a:latin typeface="Cambria Math" panose="02040503050406030204" pitchFamily="18" charset="0"/>
                  </a:rPr>
                  <a:t>𝑡_</a:t>
                </a:r>
                <a:r>
                  <a:rPr lang="en-US" altLang="zh-CN" b="0" i="0" dirty="0">
                    <a:solidFill>
                      <a:schemeClr val="tx1"/>
                    </a:solidFill>
                    <a:latin typeface="Cambria Math" panose="02040503050406030204" pitchFamily="18" charset="0"/>
                  </a:rPr>
                  <a:t>𝑖=</a:t>
                </a:r>
                <a:r>
                  <a:rPr lang="zh-CN" altLang="en-US" i="0">
                    <a:latin typeface="Cambria Math" panose="02040503050406030204" pitchFamily="18" charset="0"/>
                    <a:cs typeface="Times New Roman" panose="02020603050405020304" pitchFamily="18" charset="0"/>
                  </a:rPr>
                  <a:t>⌊</a:t>
                </a:r>
                <a:r>
                  <a:rPr lang="en-US" altLang="zh-CN" i="0">
                    <a:latin typeface="Cambria Math" panose="02040503050406030204" pitchFamily="18" charset="0"/>
                    <a:cs typeface="Times New Roman" panose="02020603050405020304" pitchFamily="18" charset="0"/>
                  </a:rPr>
                  <a:t>2^32</a:t>
                </a:r>
                <a:r>
                  <a:rPr lang="en-US" altLang="zh-CN" i="0">
                    <a:latin typeface="Cambria Math" panose="02040503050406030204" pitchFamily="18" charset="0"/>
                    <a:ea typeface="Cambria Math" panose="02040503050406030204" pitchFamily="18" charset="0"/>
                    <a:cs typeface="Times New Roman" panose="02020603050405020304" pitchFamily="18" charset="0"/>
                  </a:rPr>
                  <a:t>∙|sin⁡𝑖 |⌋</a:t>
                </a:r>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63</a:t>
                </a:r>
                <a:endParaRPr lang="zh-CN" altLang="en-US" sz="1200" dirty="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44</a:t>
            </a:fld>
            <a:endParaRPr lang="zh-CN" altLang="en-US"/>
          </a:p>
        </p:txBody>
      </p:sp>
    </p:spTree>
    <p:extLst>
      <p:ext uri="{BB962C8B-B14F-4D97-AF65-F5344CB8AC3E}">
        <p14:creationId xmlns:p14="http://schemas.microsoft.com/office/powerpoint/2010/main" val="3192817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14:m>
                  <m:oMath xmlns:m="http://schemas.openxmlformats.org/officeDocument/2006/math">
                    <m:sSub>
                      <m:sSubPr>
                        <m:ctrlPr>
                          <a:rPr lang="en-US" altLang="zh-CN" sz="1200" i="1" dirty="0" smtClean="0">
                            <a:solidFill>
                              <a:schemeClr val="tx1"/>
                            </a:solidFill>
                            <a:effectLst/>
                            <a:latin typeface="Cambria Math" panose="02040503050406030204" pitchFamily="18" charset="0"/>
                          </a:rPr>
                        </m:ctrlPr>
                      </m:sSubPr>
                      <m:e>
                        <m:r>
                          <a:rPr lang="en-US" altLang="zh-CN" sz="12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64</a:t>
                </a:r>
                <a:endParaRPr lang="zh-CN" altLang="en-US" sz="1200" dirty="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r>
                  <a:rPr lang="en-US" altLang="zh-CN" sz="1200" b="0" i="0" dirty="0">
                    <a:solidFill>
                      <a:schemeClr val="tx1"/>
                    </a:solidFill>
                    <a:effectLst/>
                    <a:latin typeface="Cambria Math" panose="02040503050406030204" pitchFamily="18" charset="0"/>
                  </a:rPr>
                  <a:t>𝑡_</a:t>
                </a:r>
                <a:r>
                  <a:rPr lang="en-US" altLang="zh-CN" b="0" i="0" dirty="0">
                    <a:solidFill>
                      <a:schemeClr val="tx1"/>
                    </a:solidFill>
                    <a:latin typeface="Cambria Math" panose="02040503050406030204" pitchFamily="18" charset="0"/>
                  </a:rPr>
                  <a:t>𝑖=</a:t>
                </a:r>
                <a:r>
                  <a:rPr lang="zh-CN" altLang="en-US" i="0">
                    <a:latin typeface="Cambria Math" panose="02040503050406030204" pitchFamily="18" charset="0"/>
                    <a:cs typeface="Times New Roman" panose="02020603050405020304" pitchFamily="18" charset="0"/>
                  </a:rPr>
                  <a:t>⌊</a:t>
                </a:r>
                <a:r>
                  <a:rPr lang="en-US" altLang="zh-CN" i="0">
                    <a:latin typeface="Cambria Math" panose="02040503050406030204" pitchFamily="18" charset="0"/>
                    <a:cs typeface="Times New Roman" panose="02020603050405020304" pitchFamily="18" charset="0"/>
                  </a:rPr>
                  <a:t>2^32</a:t>
                </a:r>
                <a:r>
                  <a:rPr lang="en-US" altLang="zh-CN" i="0">
                    <a:latin typeface="Cambria Math" panose="02040503050406030204" pitchFamily="18" charset="0"/>
                    <a:ea typeface="Cambria Math" panose="02040503050406030204" pitchFamily="18" charset="0"/>
                    <a:cs typeface="Times New Roman" panose="02020603050405020304" pitchFamily="18" charset="0"/>
                  </a:rPr>
                  <a:t>∙|sin⁡𝑖 |⌋</a:t>
                </a:r>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63</a:t>
                </a:r>
                <a:endParaRPr lang="zh-CN" altLang="en-US" sz="1200" dirty="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45</a:t>
            </a:fld>
            <a:endParaRPr lang="zh-CN" altLang="en-US"/>
          </a:p>
        </p:txBody>
      </p:sp>
    </p:spTree>
    <p:extLst>
      <p:ext uri="{BB962C8B-B14F-4D97-AF65-F5344CB8AC3E}">
        <p14:creationId xmlns:p14="http://schemas.microsoft.com/office/powerpoint/2010/main" val="762431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14:m>
                  <m:oMath xmlns:m="http://schemas.openxmlformats.org/officeDocument/2006/math">
                    <m:sSub>
                      <m:sSubPr>
                        <m:ctrlPr>
                          <a:rPr lang="en-US" altLang="zh-CN" sz="1200" i="1" dirty="0" smtClean="0">
                            <a:solidFill>
                              <a:schemeClr val="tx1"/>
                            </a:solidFill>
                            <a:effectLst/>
                            <a:latin typeface="Cambria Math" panose="02040503050406030204" pitchFamily="18" charset="0"/>
                          </a:rPr>
                        </m:ctrlPr>
                      </m:sSubPr>
                      <m:e>
                        <m:r>
                          <a:rPr lang="en-US" altLang="zh-CN" sz="12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64</a:t>
                </a:r>
                <a:endParaRPr lang="zh-CN" altLang="en-US" sz="1200" dirty="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r>
                  <a:rPr lang="en-US" altLang="zh-CN" sz="1200" b="0" i="0" dirty="0">
                    <a:solidFill>
                      <a:schemeClr val="tx1"/>
                    </a:solidFill>
                    <a:effectLst/>
                    <a:latin typeface="Cambria Math" panose="02040503050406030204" pitchFamily="18" charset="0"/>
                  </a:rPr>
                  <a:t>𝑡_</a:t>
                </a:r>
                <a:r>
                  <a:rPr lang="en-US" altLang="zh-CN" b="0" i="0" dirty="0">
                    <a:solidFill>
                      <a:schemeClr val="tx1"/>
                    </a:solidFill>
                    <a:latin typeface="Cambria Math" panose="02040503050406030204" pitchFamily="18" charset="0"/>
                  </a:rPr>
                  <a:t>𝑖=</a:t>
                </a:r>
                <a:r>
                  <a:rPr lang="zh-CN" altLang="en-US" i="0">
                    <a:latin typeface="Cambria Math" panose="02040503050406030204" pitchFamily="18" charset="0"/>
                    <a:cs typeface="Times New Roman" panose="02020603050405020304" pitchFamily="18" charset="0"/>
                  </a:rPr>
                  <a:t>⌊</a:t>
                </a:r>
                <a:r>
                  <a:rPr lang="en-US" altLang="zh-CN" i="0">
                    <a:latin typeface="Cambria Math" panose="02040503050406030204" pitchFamily="18" charset="0"/>
                    <a:cs typeface="Times New Roman" panose="02020603050405020304" pitchFamily="18" charset="0"/>
                  </a:rPr>
                  <a:t>2^32</a:t>
                </a:r>
                <a:r>
                  <a:rPr lang="en-US" altLang="zh-CN" i="0">
                    <a:latin typeface="Cambria Math" panose="02040503050406030204" pitchFamily="18" charset="0"/>
                    <a:ea typeface="Cambria Math" panose="02040503050406030204" pitchFamily="18" charset="0"/>
                    <a:cs typeface="Times New Roman" panose="02020603050405020304" pitchFamily="18" charset="0"/>
                  </a:rPr>
                  <a:t>∙|sin⁡𝑖 |⌋</a:t>
                </a:r>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63</a:t>
                </a:r>
                <a:endParaRPr lang="zh-CN" altLang="en-US" sz="1200" dirty="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46</a:t>
            </a:fld>
            <a:endParaRPr lang="zh-CN" altLang="en-US"/>
          </a:p>
        </p:txBody>
      </p:sp>
    </p:spTree>
    <p:extLst>
      <p:ext uri="{BB962C8B-B14F-4D97-AF65-F5344CB8AC3E}">
        <p14:creationId xmlns:p14="http://schemas.microsoft.com/office/powerpoint/2010/main" val="1590429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14:m>
                  <m:oMath xmlns:m="http://schemas.openxmlformats.org/officeDocument/2006/math">
                    <m:sSub>
                      <m:sSubPr>
                        <m:ctrlPr>
                          <a:rPr lang="en-US" altLang="zh-CN" sz="1200" i="1" dirty="0" smtClean="0">
                            <a:solidFill>
                              <a:schemeClr val="tx1"/>
                            </a:solidFill>
                            <a:effectLst/>
                            <a:latin typeface="Cambria Math" panose="02040503050406030204" pitchFamily="18" charset="0"/>
                          </a:rPr>
                        </m:ctrlPr>
                      </m:sSubPr>
                      <m:e>
                        <m:r>
                          <a:rPr lang="en-US" altLang="zh-CN" sz="12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64</a:t>
                </a:r>
                <a:endParaRPr lang="zh-CN" altLang="en-US" sz="1200" dirty="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r>
                  <a:rPr lang="en-US" altLang="zh-CN" sz="1200" b="0" i="0" dirty="0">
                    <a:solidFill>
                      <a:schemeClr val="tx1"/>
                    </a:solidFill>
                    <a:effectLst/>
                    <a:latin typeface="Cambria Math" panose="02040503050406030204" pitchFamily="18" charset="0"/>
                  </a:rPr>
                  <a:t>𝑡_</a:t>
                </a:r>
                <a:r>
                  <a:rPr lang="en-US" altLang="zh-CN" b="0" i="0" dirty="0">
                    <a:solidFill>
                      <a:schemeClr val="tx1"/>
                    </a:solidFill>
                    <a:latin typeface="Cambria Math" panose="02040503050406030204" pitchFamily="18" charset="0"/>
                  </a:rPr>
                  <a:t>𝑖=</a:t>
                </a:r>
                <a:r>
                  <a:rPr lang="zh-CN" altLang="en-US" i="0">
                    <a:latin typeface="Cambria Math" panose="02040503050406030204" pitchFamily="18" charset="0"/>
                    <a:cs typeface="Times New Roman" panose="02020603050405020304" pitchFamily="18" charset="0"/>
                  </a:rPr>
                  <a:t>⌊</a:t>
                </a:r>
                <a:r>
                  <a:rPr lang="en-US" altLang="zh-CN" i="0">
                    <a:latin typeface="Cambria Math" panose="02040503050406030204" pitchFamily="18" charset="0"/>
                    <a:cs typeface="Times New Roman" panose="02020603050405020304" pitchFamily="18" charset="0"/>
                  </a:rPr>
                  <a:t>2^32</a:t>
                </a:r>
                <a:r>
                  <a:rPr lang="en-US" altLang="zh-CN" i="0">
                    <a:latin typeface="Cambria Math" panose="02040503050406030204" pitchFamily="18" charset="0"/>
                    <a:ea typeface="Cambria Math" panose="02040503050406030204" pitchFamily="18" charset="0"/>
                    <a:cs typeface="Times New Roman" panose="02020603050405020304" pitchFamily="18" charset="0"/>
                  </a:rPr>
                  <a:t>∙|sin⁡𝑖 |⌋</a:t>
                </a:r>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63</a:t>
                </a:r>
                <a:endParaRPr lang="zh-CN" altLang="en-US" sz="1200" dirty="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47</a:t>
            </a:fld>
            <a:endParaRPr lang="zh-CN" altLang="en-US"/>
          </a:p>
        </p:txBody>
      </p:sp>
    </p:spTree>
    <p:extLst>
      <p:ext uri="{BB962C8B-B14F-4D97-AF65-F5344CB8AC3E}">
        <p14:creationId xmlns:p14="http://schemas.microsoft.com/office/powerpoint/2010/main" val="1858540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14:m>
                  <m:oMath xmlns:m="http://schemas.openxmlformats.org/officeDocument/2006/math">
                    <m:sSub>
                      <m:sSubPr>
                        <m:ctrlPr>
                          <a:rPr lang="en-US" altLang="zh-CN" sz="1200" i="1" dirty="0" smtClean="0">
                            <a:solidFill>
                              <a:schemeClr val="tx1"/>
                            </a:solidFill>
                            <a:effectLst/>
                            <a:latin typeface="Cambria Math" panose="02040503050406030204" pitchFamily="18" charset="0"/>
                          </a:rPr>
                        </m:ctrlPr>
                      </m:sSubPr>
                      <m:e>
                        <m:r>
                          <a:rPr lang="en-US" altLang="zh-CN" sz="12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r>
                      <a:rPr lang="en-US" altLang="zh-CN" b="0" i="1" dirty="0" smtClean="0">
                        <a:solidFill>
                          <a:schemeClr val="tx1"/>
                        </a:solidFill>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64</a:t>
                </a:r>
                <a:endParaRPr lang="zh-CN" altLang="en-US" sz="1200" dirty="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lnSpc>
                    <a:spcPct val="120000"/>
                  </a:lnSpc>
                  <a:spcBef>
                    <a:spcPts val="600"/>
                  </a:spcBef>
                </a:pPr>
                <a:r>
                  <a:rPr lang="en-US" altLang="zh-CN" sz="1200" dirty="0" err="1">
                    <a:cs typeface="Times New Roman" panose="02020603050405020304" pitchFamily="18" charset="0"/>
                  </a:rPr>
                  <a:t>i</a:t>
                </a:r>
                <a:r>
                  <a:rPr lang="zh-CN" altLang="en-US" sz="1200" dirty="0">
                    <a:cs typeface="Times New Roman" panose="02020603050405020304" pitchFamily="18" charset="0"/>
                  </a:rPr>
                  <a:t>是整数，单位是弧度</a:t>
                </a:r>
                <a:endParaRPr lang="en-US" altLang="zh-CN" sz="1200" dirty="0">
                  <a:cs typeface="Times New Roman" panose="02020603050405020304" pitchFamily="18" charset="0"/>
                </a:endParaRPr>
              </a:p>
              <a:p>
                <a:pPr>
                  <a:lnSpc>
                    <a:spcPct val="120000"/>
                  </a:lnSpc>
                  <a:spcBef>
                    <a:spcPts val="600"/>
                  </a:spcBef>
                </a:pPr>
                <a:r>
                  <a:rPr lang="en-US" altLang="zh-CN" sz="1200" b="0" i="0" dirty="0">
                    <a:solidFill>
                      <a:schemeClr val="tx1"/>
                    </a:solidFill>
                    <a:effectLst/>
                    <a:latin typeface="Cambria Math" panose="02040503050406030204" pitchFamily="18" charset="0"/>
                  </a:rPr>
                  <a:t>𝑡_</a:t>
                </a:r>
                <a:r>
                  <a:rPr lang="en-US" altLang="zh-CN" b="0" i="0" dirty="0">
                    <a:solidFill>
                      <a:schemeClr val="tx1"/>
                    </a:solidFill>
                    <a:latin typeface="Cambria Math" panose="02040503050406030204" pitchFamily="18" charset="0"/>
                  </a:rPr>
                  <a:t>𝑖=</a:t>
                </a:r>
                <a:r>
                  <a:rPr lang="zh-CN" altLang="en-US" i="0">
                    <a:latin typeface="Cambria Math" panose="02040503050406030204" pitchFamily="18" charset="0"/>
                    <a:cs typeface="Times New Roman" panose="02020603050405020304" pitchFamily="18" charset="0"/>
                  </a:rPr>
                  <a:t>⌊</a:t>
                </a:r>
                <a:r>
                  <a:rPr lang="en-US" altLang="zh-CN" i="0">
                    <a:latin typeface="Cambria Math" panose="02040503050406030204" pitchFamily="18" charset="0"/>
                    <a:cs typeface="Times New Roman" panose="02020603050405020304" pitchFamily="18" charset="0"/>
                  </a:rPr>
                  <a:t>2^32</a:t>
                </a:r>
                <a:r>
                  <a:rPr lang="en-US" altLang="zh-CN" i="0">
                    <a:latin typeface="Cambria Math" panose="02040503050406030204" pitchFamily="18" charset="0"/>
                    <a:ea typeface="Cambria Math" panose="02040503050406030204" pitchFamily="18" charset="0"/>
                    <a:cs typeface="Times New Roman" panose="02020603050405020304" pitchFamily="18" charset="0"/>
                  </a:rPr>
                  <a:t>∙|sin⁡𝑖 |⌋</a:t>
                </a:r>
                <a:r>
                  <a:rPr lang="en-US" altLang="zh-CN" sz="1200" dirty="0">
                    <a:cs typeface="Times New Roman" panose="02020603050405020304" pitchFamily="18" charset="0"/>
                  </a:rPr>
                  <a:t>,</a:t>
                </a:r>
                <a:r>
                  <a:rPr lang="en-US" altLang="zh-CN" sz="1200" dirty="0" err="1">
                    <a:cs typeface="Times New Roman" panose="02020603050405020304" pitchFamily="18" charset="0"/>
                  </a:rPr>
                  <a:t>i</a:t>
                </a:r>
                <a:r>
                  <a:rPr lang="zh-CN" altLang="en-US" sz="1200" dirty="0">
                    <a:cs typeface="Times New Roman" panose="02020603050405020304" pitchFamily="18" charset="0"/>
                  </a:rPr>
                  <a:t>的</a:t>
                </a:r>
                <a:r>
                  <a:rPr lang="zh-CN" altLang="en-US" sz="1200" b="0" i="0" kern="1200" dirty="0">
                    <a:solidFill>
                      <a:schemeClr val="tx1"/>
                    </a:solidFill>
                    <a:effectLst/>
                    <a:latin typeface="+mn-lt"/>
                    <a:ea typeface="+mn-ea"/>
                    <a:cs typeface="+mn-cs"/>
                  </a:rPr>
                  <a:t>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到</a:t>
                </a:r>
                <a:r>
                  <a:rPr lang="en-US" altLang="zh-CN" sz="1200" b="0" i="0" kern="1200" dirty="0">
                    <a:solidFill>
                      <a:schemeClr val="tx1"/>
                    </a:solidFill>
                    <a:effectLst/>
                    <a:latin typeface="+mn-lt"/>
                    <a:ea typeface="+mn-ea"/>
                    <a:cs typeface="+mn-cs"/>
                  </a:rPr>
                  <a:t>63</a:t>
                </a:r>
                <a:endParaRPr lang="zh-CN" altLang="en-US" sz="1200" dirty="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48</a:t>
            </a:fld>
            <a:endParaRPr lang="zh-CN" altLang="en-US"/>
          </a:p>
        </p:txBody>
      </p:sp>
    </p:spTree>
    <p:extLst>
      <p:ext uri="{BB962C8B-B14F-4D97-AF65-F5344CB8AC3E}">
        <p14:creationId xmlns:p14="http://schemas.microsoft.com/office/powerpoint/2010/main" val="7190207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8657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50</a:t>
            </a:fld>
            <a:endParaRPr lang="zh-CN" altLang="en-US"/>
          </a:p>
        </p:txBody>
      </p:sp>
    </p:spTree>
    <p:extLst>
      <p:ext uri="{BB962C8B-B14F-4D97-AF65-F5344CB8AC3E}">
        <p14:creationId xmlns:p14="http://schemas.microsoft.com/office/powerpoint/2010/main" val="386288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spcBef>
                <a:spcPts val="600"/>
              </a:spcBef>
              <a:buFont typeface="Arial" panose="020B0604020202020204" pitchFamily="34" charset="0"/>
              <a:buNone/>
            </a:pPr>
            <a:r>
              <a:rPr lang="en-US" altLang="zh-CN" sz="2000" dirty="0">
                <a:latin typeface="Times New Roman" panose="02020603050405020304" pitchFamily="18" charset="0"/>
                <a:cs typeface="Times New Roman" panose="02020603050405020304" pitchFamily="18" charset="0"/>
              </a:rPr>
              <a:t>MD5</a:t>
            </a:r>
            <a:r>
              <a:rPr lang="zh-CN" altLang="en-US" sz="2000" dirty="0">
                <a:latin typeface="Times New Roman" panose="02020603050405020304" pitchFamily="18" charset="0"/>
                <a:cs typeface="Times New Roman" panose="02020603050405020304" pitchFamily="18" charset="0"/>
              </a:rPr>
              <a:t>的实现</a:t>
            </a:r>
            <a:endParaRPr lang="en-US" altLang="zh-CN" sz="2000" dirty="0">
              <a:latin typeface="Times New Roman" panose="02020603050405020304" pitchFamily="18" charset="0"/>
              <a:cs typeface="Times New Roman" panose="02020603050405020304" pitchFamily="18" charset="0"/>
            </a:endParaRPr>
          </a:p>
          <a:p>
            <a:pPr marL="457200" lvl="0" indent="-457200">
              <a:lnSpc>
                <a:spcPct val="120000"/>
              </a:lnSpc>
              <a:spcBef>
                <a:spcPts val="600"/>
              </a:spcBef>
              <a:buFont typeface="+mj-lt"/>
              <a:buAutoNum type="arabicPeriod"/>
            </a:pPr>
            <a:r>
              <a:rPr lang="zh-CN" altLang="en-US" sz="2000" dirty="0">
                <a:solidFill>
                  <a:srgbClr val="0000FF"/>
                </a:solidFill>
                <a:latin typeface="Times New Roman" panose="02020603050405020304" pitchFamily="18" charset="0"/>
                <a:cs typeface="Times New Roman" panose="02020603050405020304" pitchFamily="18" charset="0"/>
              </a:rPr>
              <a:t>速度：</a:t>
            </a:r>
            <a:r>
              <a:rPr lang="zh-CN" altLang="en-US" sz="2000" dirty="0">
                <a:latin typeface="Times New Roman" panose="02020603050405020304" pitchFamily="18" charset="0"/>
                <a:cs typeface="Times New Roman" panose="02020603050405020304" pitchFamily="18" charset="0"/>
              </a:rPr>
              <a:t>用</a:t>
            </a:r>
            <a:r>
              <a:rPr lang="en-US" altLang="zh-CN" sz="2000" dirty="0">
                <a:latin typeface="Times New Roman" panose="02020603050405020304" pitchFamily="18" charset="0"/>
                <a:cs typeface="Times New Roman" panose="02020603050405020304" pitchFamily="18" charset="0"/>
              </a:rPr>
              <a:t>32 bits </a:t>
            </a:r>
            <a:r>
              <a:rPr lang="zh-CN" altLang="en-US" sz="2000" dirty="0">
                <a:latin typeface="Times New Roman" panose="02020603050405020304" pitchFamily="18" charset="0"/>
                <a:cs typeface="Times New Roman" panose="02020603050405020304" pitchFamily="18" charset="0"/>
              </a:rPr>
              <a:t>软件易于高速实现</a:t>
            </a:r>
            <a:endParaRPr lang="en-US" altLang="zh-CN" sz="2000" dirty="0">
              <a:latin typeface="Times New Roman" panose="02020603050405020304" pitchFamily="18" charset="0"/>
              <a:cs typeface="Times New Roman" panose="02020603050405020304" pitchFamily="18" charset="0"/>
            </a:endParaRPr>
          </a:p>
          <a:p>
            <a:pPr marL="457200" lvl="0" indent="-457200">
              <a:lnSpc>
                <a:spcPct val="120000"/>
              </a:lnSpc>
              <a:spcBef>
                <a:spcPts val="600"/>
              </a:spcBef>
              <a:buFont typeface="+mj-lt"/>
              <a:buAutoNum type="arabicPeriod"/>
            </a:pPr>
            <a:r>
              <a:rPr lang="zh-CN" altLang="en-US" sz="2000" dirty="0">
                <a:solidFill>
                  <a:srgbClr val="0000FF"/>
                </a:solidFill>
                <a:latin typeface="Times New Roman" panose="02020603050405020304" pitchFamily="18" charset="0"/>
                <a:cs typeface="Times New Roman" panose="02020603050405020304" pitchFamily="18" charset="0"/>
              </a:rPr>
              <a:t>简洁与紧致性：</a:t>
            </a:r>
            <a:r>
              <a:rPr lang="zh-CN" altLang="en-US" sz="2000" dirty="0">
                <a:latin typeface="Times New Roman" panose="02020603050405020304" pitchFamily="18" charset="0"/>
                <a:cs typeface="Times New Roman" panose="02020603050405020304" pitchFamily="18" charset="0"/>
              </a:rPr>
              <a:t>描述简单，短程序可实现，易于对安全性进行评估</a:t>
            </a:r>
            <a:endParaRPr lang="en-US" altLang="zh-CN" sz="20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51</a:t>
            </a:fld>
            <a:endParaRPr lang="zh-CN" altLang="en-US"/>
          </a:p>
        </p:txBody>
      </p:sp>
    </p:spTree>
    <p:extLst>
      <p:ext uri="{BB962C8B-B14F-4D97-AF65-F5344CB8AC3E}">
        <p14:creationId xmlns:p14="http://schemas.microsoft.com/office/powerpoint/2010/main" val="1424064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MD5</a:t>
            </a:r>
            <a:r>
              <a:rPr lang="zh-CN" altLang="en-US" sz="1200" dirty="0">
                <a:latin typeface="Times New Roman" panose="02020603050405020304" pitchFamily="18" charset="0"/>
                <a:cs typeface="Times New Roman" panose="02020603050405020304" pitchFamily="18" charset="0"/>
              </a:rPr>
              <a:t>的输出为</a:t>
            </a:r>
            <a:r>
              <a:rPr lang="en-US" altLang="zh-CN" sz="1200" dirty="0">
                <a:latin typeface="Times New Roman" panose="02020603050405020304" pitchFamily="18" charset="0"/>
                <a:cs typeface="Times New Roman" panose="02020603050405020304" pitchFamily="18" charset="0"/>
              </a:rPr>
              <a:t>128 bits</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52</a:t>
            </a:fld>
            <a:endParaRPr lang="zh-CN" altLang="en-US"/>
          </a:p>
        </p:txBody>
      </p:sp>
    </p:spTree>
    <p:extLst>
      <p:ext uri="{BB962C8B-B14F-4D97-AF65-F5344CB8AC3E}">
        <p14:creationId xmlns:p14="http://schemas.microsoft.com/office/powerpoint/2010/main" val="1031304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是</a:t>
            </a:r>
            <a:r>
              <a:rPr lang="zh-CN" altLang="en-US" sz="1200" dirty="0">
                <a:solidFill>
                  <a:srgbClr val="0000FF"/>
                </a:solidFill>
                <a:latin typeface="Times New Roman" panose="02020603050405020304" pitchFamily="18" charset="0"/>
                <a:cs typeface="Times New Roman" panose="02020603050405020304" pitchFamily="18" charset="0"/>
              </a:rPr>
              <a:t>数字签字标准算法</a:t>
            </a:r>
            <a:r>
              <a:rPr lang="en-US" altLang="zh-CN" sz="1200" dirty="0">
                <a:solidFill>
                  <a:srgbClr val="0000FF"/>
                </a:solidFill>
                <a:latin typeface="Times New Roman" panose="02020603050405020304" pitchFamily="18" charset="0"/>
                <a:cs typeface="Times New Roman" panose="02020603050405020304" pitchFamily="18" charset="0"/>
              </a:rPr>
              <a:t>DSS </a:t>
            </a:r>
            <a:r>
              <a:rPr lang="en-US" altLang="zh-CN" sz="1200" dirty="0">
                <a:latin typeface="Times New Roman" panose="02020603050405020304" pitchFamily="18" charset="0"/>
                <a:cs typeface="Times New Roman" panose="02020603050405020304" pitchFamily="18" charset="0"/>
              </a:rPr>
              <a:t>(Digital Signature Standard)</a:t>
            </a:r>
            <a:r>
              <a:rPr lang="zh-CN" altLang="en-US" sz="1200" dirty="0">
                <a:latin typeface="Times New Roman" panose="02020603050405020304" pitchFamily="18" charset="0"/>
                <a:cs typeface="Times New Roman" panose="02020603050405020304" pitchFamily="18" charset="0"/>
              </a:rPr>
              <a:t>中使用的哈希算法。</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SHA-0</a:t>
            </a:r>
            <a:r>
              <a:rPr lang="zh-CN" altLang="en-US" b="0" i="0" dirty="0">
                <a:solidFill>
                  <a:srgbClr val="333333"/>
                </a:solidFill>
                <a:effectLst/>
                <a:latin typeface="Helvetica Neue"/>
              </a:rPr>
              <a:t>小于生日攻击法所需的</a:t>
            </a:r>
            <a:r>
              <a:rPr lang="en-US" altLang="zh-CN" b="0" i="0" dirty="0">
                <a:solidFill>
                  <a:srgbClr val="333333"/>
                </a:solidFill>
                <a:effectLst/>
                <a:latin typeface="Helvetica Neue"/>
              </a:rPr>
              <a:t>2</a:t>
            </a:r>
            <a:r>
              <a:rPr lang="zh-CN" altLang="en-US" b="0" i="0" dirty="0">
                <a:solidFill>
                  <a:srgbClr val="333333"/>
                </a:solidFill>
                <a:effectLst/>
                <a:latin typeface="Helvetica Neue"/>
              </a:rPr>
              <a:t>的</a:t>
            </a:r>
            <a:r>
              <a:rPr lang="en-US" altLang="zh-CN" b="0" i="0" dirty="0">
                <a:solidFill>
                  <a:srgbClr val="333333"/>
                </a:solidFill>
                <a:effectLst/>
                <a:latin typeface="Helvetica Neue"/>
              </a:rPr>
              <a:t>80</a:t>
            </a:r>
            <a:r>
              <a:rPr lang="zh-CN" altLang="en-US" b="0" i="0" dirty="0">
                <a:solidFill>
                  <a:srgbClr val="333333"/>
                </a:solidFill>
                <a:effectLst/>
                <a:latin typeface="Helvetica Neue"/>
              </a:rPr>
              <a:t>次方，即其安全性不到一个理想的杂凑函数抵抗攻击所应具备的计算复杂度</a:t>
            </a:r>
            <a:r>
              <a:rPr lang="en-US" altLang="zh-CN" b="0" i="0" dirty="0">
                <a:solidFill>
                  <a:srgbClr val="333333"/>
                </a:solidFill>
                <a:effectLst/>
                <a:latin typeface="Helvetica Neue"/>
              </a:rPr>
              <a:t>,</a:t>
            </a:r>
            <a:r>
              <a:rPr lang="zh-CN" altLang="en-US" b="0" i="0" dirty="0">
                <a:solidFill>
                  <a:srgbClr val="333333"/>
                </a:solidFill>
                <a:effectLst/>
                <a:latin typeface="Helvetica Neue"/>
              </a:rPr>
              <a:t> </a:t>
            </a:r>
            <a:r>
              <a:rPr lang="en-US" altLang="zh-CN" b="0" i="0" dirty="0">
                <a:solidFill>
                  <a:srgbClr val="333333"/>
                </a:solidFill>
                <a:effectLst/>
                <a:latin typeface="Helvetica Neue"/>
              </a:rPr>
              <a:t>2005</a:t>
            </a:r>
            <a:r>
              <a:rPr lang="zh-CN" altLang="en-US" b="0" i="0" dirty="0">
                <a:solidFill>
                  <a:srgbClr val="333333"/>
                </a:solidFill>
                <a:effectLst/>
                <a:latin typeface="Helvetica Neue"/>
              </a:rPr>
              <a:t>年二月，王小云再度发表了对</a:t>
            </a:r>
            <a:r>
              <a:rPr lang="en-US" altLang="zh-CN" b="0" i="0" dirty="0">
                <a:solidFill>
                  <a:srgbClr val="333333"/>
                </a:solidFill>
                <a:effectLst/>
                <a:latin typeface="Helvetica Neue"/>
              </a:rPr>
              <a:t>SHA-0</a:t>
            </a:r>
            <a:r>
              <a:rPr lang="zh-CN" altLang="en-US" b="0" i="0" dirty="0">
                <a:solidFill>
                  <a:srgbClr val="333333"/>
                </a:solidFill>
                <a:effectLst/>
                <a:latin typeface="Helvetica Neue"/>
              </a:rPr>
              <a:t>破密的算法，可在</a:t>
            </a:r>
            <a:r>
              <a:rPr lang="en-US" altLang="zh-CN" b="0" i="0" dirty="0">
                <a:solidFill>
                  <a:srgbClr val="333333"/>
                </a:solidFill>
                <a:effectLst/>
                <a:latin typeface="Helvetica Neue"/>
              </a:rPr>
              <a:t>2</a:t>
            </a:r>
            <a:r>
              <a:rPr lang="zh-CN" altLang="en-US" b="0" i="0" dirty="0">
                <a:solidFill>
                  <a:srgbClr val="333333"/>
                </a:solidFill>
                <a:effectLst/>
                <a:latin typeface="Helvetica Neue"/>
              </a:rPr>
              <a:t>的</a:t>
            </a:r>
            <a:r>
              <a:rPr lang="en-US" altLang="zh-CN" b="0" i="0" dirty="0">
                <a:solidFill>
                  <a:srgbClr val="333333"/>
                </a:solidFill>
                <a:effectLst/>
                <a:latin typeface="Helvetica Neue"/>
              </a:rPr>
              <a:t>39</a:t>
            </a:r>
            <a:r>
              <a:rPr lang="zh-CN" altLang="en-US" b="0" i="0" dirty="0">
                <a:solidFill>
                  <a:srgbClr val="333333"/>
                </a:solidFill>
                <a:effectLst/>
                <a:latin typeface="Helvetica Neue"/>
              </a:rPr>
              <a:t>次方的计算复杂度内就找到碰撞。</a:t>
            </a:r>
            <a:endParaRPr lang="en-US" altLang="zh-CN" b="0" i="0" dirty="0">
              <a:solidFill>
                <a:srgbClr val="333333"/>
              </a:solidFill>
              <a:effectLst/>
              <a:latin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53</a:t>
            </a:fld>
            <a:endParaRPr lang="zh-CN" altLang="en-US"/>
          </a:p>
        </p:txBody>
      </p:sp>
    </p:spTree>
    <p:extLst>
      <p:ext uri="{BB962C8B-B14F-4D97-AF65-F5344CB8AC3E}">
        <p14:creationId xmlns:p14="http://schemas.microsoft.com/office/powerpoint/2010/main" val="20952103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美国国家标准技术研究院</a:t>
            </a:r>
            <a:r>
              <a:rPr lang="en-US" altLang="zh-CN" sz="1200" dirty="0">
                <a:latin typeface="Times New Roman" panose="02020603050405020304" pitchFamily="18" charset="0"/>
                <a:cs typeface="Times New Roman" panose="02020603050405020304" pitchFamily="18" charset="0"/>
              </a:rPr>
              <a:t>(</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54</a:t>
            </a:fld>
            <a:endParaRPr lang="zh-CN" altLang="en-US"/>
          </a:p>
        </p:txBody>
      </p:sp>
    </p:spTree>
    <p:extLst>
      <p:ext uri="{BB962C8B-B14F-4D97-AF65-F5344CB8AC3E}">
        <p14:creationId xmlns:p14="http://schemas.microsoft.com/office/powerpoint/2010/main" val="20268916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55</a:t>
            </a:fld>
            <a:endParaRPr lang="zh-CN" altLang="en-US"/>
          </a:p>
        </p:txBody>
      </p:sp>
    </p:spTree>
    <p:extLst>
      <p:ext uri="{BB962C8B-B14F-4D97-AF65-F5344CB8AC3E}">
        <p14:creationId xmlns:p14="http://schemas.microsoft.com/office/powerpoint/2010/main" val="3917817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即使原始消息已经是</a:t>
            </a:r>
            <a:r>
              <a:rPr lang="en-US" altLang="zh-CN" b="0" i="0" dirty="0">
                <a:solidFill>
                  <a:srgbClr val="374151"/>
                </a:solidFill>
                <a:effectLst/>
                <a:latin typeface="Söhne"/>
              </a:rPr>
              <a:t>512</a:t>
            </a:r>
            <a:r>
              <a:rPr lang="zh-CN" altLang="en-US" b="0" i="0" dirty="0">
                <a:solidFill>
                  <a:srgbClr val="374151"/>
                </a:solidFill>
                <a:effectLst/>
                <a:latin typeface="Söhne"/>
              </a:rPr>
              <a:t>位的倍数，算法仍然要求添加至少一块（</a:t>
            </a:r>
            <a:r>
              <a:rPr lang="en-US" altLang="zh-CN" b="0" i="0" dirty="0">
                <a:solidFill>
                  <a:srgbClr val="374151"/>
                </a:solidFill>
                <a:effectLst/>
                <a:latin typeface="Söhne"/>
              </a:rPr>
              <a:t>512</a:t>
            </a:r>
            <a:r>
              <a:rPr lang="zh-CN" altLang="en-US" b="0" i="0" dirty="0">
                <a:solidFill>
                  <a:srgbClr val="374151"/>
                </a:solidFill>
                <a:effectLst/>
                <a:latin typeface="Söhne"/>
              </a:rPr>
              <a:t>位）的填充。</a:t>
            </a:r>
            <a:endParaRPr lang="en-US" altLang="zh-CN" b="0" i="0" dirty="0">
              <a:solidFill>
                <a:srgbClr val="374151"/>
              </a:solidFill>
              <a:effectLst/>
              <a:latin typeface="Söhne"/>
            </a:endParaRPr>
          </a:p>
          <a:p>
            <a:r>
              <a:rPr lang="zh-CN" altLang="en-US" b="0" i="0" dirty="0">
                <a:solidFill>
                  <a:srgbClr val="374151"/>
                </a:solidFill>
                <a:effectLst/>
                <a:latin typeface="Söhne"/>
              </a:rPr>
              <a:t>确保即使两个不同的消息在没有长度信息的情况下可能产生相同的哈希值，加入长度信息后可以产生不同的哈希值</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56</a:t>
            </a:fld>
            <a:endParaRPr lang="zh-CN" altLang="en-US"/>
          </a:p>
        </p:txBody>
      </p:sp>
    </p:spTree>
    <p:extLst>
      <p:ext uri="{BB962C8B-B14F-4D97-AF65-F5344CB8AC3E}">
        <p14:creationId xmlns:p14="http://schemas.microsoft.com/office/powerpoint/2010/main" val="291067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07960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58</a:t>
            </a:fld>
            <a:endParaRPr lang="zh-CN" altLang="en-US"/>
          </a:p>
        </p:txBody>
      </p:sp>
    </p:spTree>
    <p:extLst>
      <p:ext uri="{BB962C8B-B14F-4D97-AF65-F5344CB8AC3E}">
        <p14:creationId xmlns:p14="http://schemas.microsoft.com/office/powerpoint/2010/main" val="6292120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59</a:t>
            </a:fld>
            <a:endParaRPr lang="zh-CN" altLang="en-US"/>
          </a:p>
        </p:txBody>
      </p:sp>
    </p:spTree>
    <p:extLst>
      <p:ext uri="{BB962C8B-B14F-4D97-AF65-F5344CB8AC3E}">
        <p14:creationId xmlns:p14="http://schemas.microsoft.com/office/powerpoint/2010/main" val="36395488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60</a:t>
            </a:fld>
            <a:endParaRPr lang="zh-CN" altLang="en-US"/>
          </a:p>
        </p:txBody>
      </p:sp>
    </p:spTree>
    <p:extLst>
      <p:ext uri="{BB962C8B-B14F-4D97-AF65-F5344CB8AC3E}">
        <p14:creationId xmlns:p14="http://schemas.microsoft.com/office/powerpoint/2010/main" val="5193886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61</a:t>
            </a:fld>
            <a:endParaRPr lang="zh-CN" altLang="en-US"/>
          </a:p>
        </p:txBody>
      </p:sp>
    </p:spTree>
    <p:extLst>
      <p:ext uri="{BB962C8B-B14F-4D97-AF65-F5344CB8AC3E}">
        <p14:creationId xmlns:p14="http://schemas.microsoft.com/office/powerpoint/2010/main" val="7815502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62</a:t>
            </a:fld>
            <a:endParaRPr lang="zh-CN" altLang="en-US"/>
          </a:p>
        </p:txBody>
      </p:sp>
    </p:spTree>
    <p:extLst>
      <p:ext uri="{BB962C8B-B14F-4D97-AF65-F5344CB8AC3E}">
        <p14:creationId xmlns:p14="http://schemas.microsoft.com/office/powerpoint/2010/main" val="12175600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63</a:t>
            </a:fld>
            <a:endParaRPr lang="zh-CN" altLang="en-US"/>
          </a:p>
        </p:txBody>
      </p:sp>
    </p:spTree>
    <p:extLst>
      <p:ext uri="{BB962C8B-B14F-4D97-AF65-F5344CB8AC3E}">
        <p14:creationId xmlns:p14="http://schemas.microsoft.com/office/powerpoint/2010/main" val="29504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64</a:t>
            </a:fld>
            <a:endParaRPr lang="zh-CN" altLang="en-US"/>
          </a:p>
        </p:txBody>
      </p:sp>
    </p:spTree>
    <p:extLst>
      <p:ext uri="{BB962C8B-B14F-4D97-AF65-F5344CB8AC3E}">
        <p14:creationId xmlns:p14="http://schemas.microsoft.com/office/powerpoint/2010/main" val="16977394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65</a:t>
            </a:fld>
            <a:endParaRPr lang="zh-CN" altLang="en-US"/>
          </a:p>
        </p:txBody>
      </p:sp>
    </p:spTree>
    <p:extLst>
      <p:ext uri="{BB962C8B-B14F-4D97-AF65-F5344CB8AC3E}">
        <p14:creationId xmlns:p14="http://schemas.microsoft.com/office/powerpoint/2010/main" val="37903705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63039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67</a:t>
            </a:fld>
            <a:endParaRPr lang="zh-CN" altLang="en-US"/>
          </a:p>
        </p:txBody>
      </p:sp>
    </p:spTree>
    <p:extLst>
      <p:ext uri="{BB962C8B-B14F-4D97-AF65-F5344CB8AC3E}">
        <p14:creationId xmlns:p14="http://schemas.microsoft.com/office/powerpoint/2010/main" val="10015012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MD5</a:t>
            </a:r>
            <a:r>
              <a:rPr lang="zh-CN" altLang="en-US" sz="1200" dirty="0">
                <a:latin typeface="Times New Roman" panose="02020603050405020304" pitchFamily="18" charset="0"/>
                <a:cs typeface="Times New Roman" panose="02020603050405020304" pitchFamily="18" charset="0"/>
              </a:rPr>
              <a:t>的输出为</a:t>
            </a:r>
            <a:r>
              <a:rPr lang="en-US" altLang="zh-CN" sz="1200" dirty="0">
                <a:latin typeface="Times New Roman" panose="02020603050405020304" pitchFamily="18" charset="0"/>
                <a:cs typeface="Times New Roman" panose="02020603050405020304" pitchFamily="18" charset="0"/>
              </a:rPr>
              <a:t>128 bits</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68</a:t>
            </a:fld>
            <a:endParaRPr lang="zh-CN" altLang="en-US"/>
          </a:p>
        </p:txBody>
      </p:sp>
    </p:spTree>
    <p:extLst>
      <p:ext uri="{BB962C8B-B14F-4D97-AF65-F5344CB8AC3E}">
        <p14:creationId xmlns:p14="http://schemas.microsoft.com/office/powerpoint/2010/main" val="18274202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RIPE-MAC</a:t>
            </a:r>
            <a:r>
              <a:rPr lang="zh-CN" altLang="en-US" sz="1200" dirty="0">
                <a:latin typeface="Times New Roman" panose="02020603050405020304" pitchFamily="18" charset="0"/>
                <a:cs typeface="Times New Roman" panose="02020603050405020304" pitchFamily="18" charset="0"/>
              </a:rPr>
              <a:t>算法分为 用一个</a:t>
            </a:r>
            <a:r>
              <a:rPr lang="en-US" altLang="zh-CN" sz="1200" dirty="0">
                <a:latin typeface="Times New Roman" panose="02020603050405020304" pitchFamily="18" charset="0"/>
                <a:cs typeface="Times New Roman" panose="02020603050405020304" pitchFamily="18" charset="0"/>
              </a:rPr>
              <a:t>DES</a:t>
            </a:r>
            <a:r>
              <a:rPr lang="zh-CN" altLang="en-US" sz="1200" dirty="0">
                <a:latin typeface="Times New Roman" panose="02020603050405020304" pitchFamily="18" charset="0"/>
                <a:cs typeface="Times New Roman" panose="02020603050405020304" pitchFamily="18" charset="0"/>
              </a:rPr>
              <a:t>的</a:t>
            </a:r>
            <a:r>
              <a:rPr lang="en-US" altLang="zh-CN" sz="1200" dirty="0">
                <a:latin typeface="Times New Roman" panose="02020603050405020304" pitchFamily="18" charset="0"/>
                <a:cs typeface="Times New Roman" panose="02020603050405020304" pitchFamily="18" charset="0"/>
              </a:rPr>
              <a:t>RIPE-MAC1 </a:t>
            </a:r>
            <a:r>
              <a:rPr lang="zh-CN" altLang="en-US" sz="1200" dirty="0">
                <a:latin typeface="Times New Roman" panose="02020603050405020304" pitchFamily="18" charset="0"/>
                <a:cs typeface="Times New Roman" panose="02020603050405020304" pitchFamily="18" charset="0"/>
              </a:rPr>
              <a:t>和 用三个</a:t>
            </a:r>
            <a:r>
              <a:rPr lang="en-US" altLang="zh-CN" sz="1200" dirty="0">
                <a:latin typeface="Times New Roman" panose="02020603050405020304" pitchFamily="18" charset="0"/>
                <a:cs typeface="Times New Roman" panose="02020603050405020304" pitchFamily="18" charset="0"/>
              </a:rPr>
              <a:t>DES </a:t>
            </a:r>
            <a:r>
              <a:rPr lang="zh-CN" altLang="en-US" sz="1200" dirty="0">
                <a:latin typeface="Times New Roman" panose="02020603050405020304" pitchFamily="18" charset="0"/>
                <a:cs typeface="Times New Roman" panose="02020603050405020304" pitchFamily="18" charset="0"/>
              </a:rPr>
              <a:t>的</a:t>
            </a:r>
            <a:r>
              <a:rPr lang="en-US" altLang="zh-CN" sz="1200" dirty="0">
                <a:latin typeface="Times New Roman" panose="02020603050405020304" pitchFamily="18" charset="0"/>
                <a:cs typeface="Times New Roman" panose="02020603050405020304" pitchFamily="18" charset="0"/>
              </a:rPr>
              <a:t>RIPE-MAC3</a:t>
            </a:r>
            <a:r>
              <a:rPr lang="zh-CN" altLang="en-US" sz="1200" dirty="0">
                <a:latin typeface="Times New Roman" panose="02020603050405020304" pitchFamily="18" charset="0"/>
                <a:cs typeface="Times New Roman" panose="02020603050405020304" pitchFamily="18" charset="0"/>
              </a:rPr>
              <a:t>。</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69</a:t>
            </a:fld>
            <a:endParaRPr lang="zh-CN" altLang="en-US"/>
          </a:p>
        </p:txBody>
      </p:sp>
    </p:spTree>
    <p:extLst>
      <p:ext uri="{BB962C8B-B14F-4D97-AF65-F5344CB8AC3E}">
        <p14:creationId xmlns:p14="http://schemas.microsoft.com/office/powerpoint/2010/main" val="25913582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是</a:t>
            </a:r>
            <a:r>
              <a:rPr lang="zh-CN" altLang="en-US" sz="1200" dirty="0">
                <a:solidFill>
                  <a:srgbClr val="0000FF"/>
                </a:solidFill>
                <a:latin typeface="Times New Roman" panose="02020603050405020304" pitchFamily="18" charset="0"/>
                <a:cs typeface="Times New Roman" panose="02020603050405020304" pitchFamily="18" charset="0"/>
              </a:rPr>
              <a:t>数字签字标准算法</a:t>
            </a:r>
            <a:r>
              <a:rPr lang="en-US" altLang="zh-CN" sz="1200" dirty="0">
                <a:solidFill>
                  <a:srgbClr val="0000FF"/>
                </a:solidFill>
                <a:latin typeface="Times New Roman" panose="02020603050405020304" pitchFamily="18" charset="0"/>
                <a:cs typeface="Times New Roman" panose="02020603050405020304" pitchFamily="18" charset="0"/>
              </a:rPr>
              <a:t>DSS </a:t>
            </a:r>
            <a:r>
              <a:rPr lang="en-US" altLang="zh-CN" sz="1200" dirty="0">
                <a:latin typeface="Times New Roman" panose="02020603050405020304" pitchFamily="18" charset="0"/>
                <a:cs typeface="Times New Roman" panose="02020603050405020304" pitchFamily="18" charset="0"/>
              </a:rPr>
              <a:t>(Digital Signature Standard)</a:t>
            </a:r>
            <a:r>
              <a:rPr lang="zh-CN" altLang="en-US" sz="1200" dirty="0">
                <a:latin typeface="Times New Roman" panose="02020603050405020304" pitchFamily="18" charset="0"/>
                <a:cs typeface="Times New Roman" panose="02020603050405020304" pitchFamily="18" charset="0"/>
              </a:rPr>
              <a:t>中使用的哈希算法。</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SHA-0</a:t>
            </a:r>
            <a:r>
              <a:rPr lang="zh-CN" altLang="en-US" b="0" i="0" dirty="0">
                <a:solidFill>
                  <a:srgbClr val="333333"/>
                </a:solidFill>
                <a:effectLst/>
                <a:latin typeface="Helvetica Neue"/>
              </a:rPr>
              <a:t>小于生日攻击法所需的</a:t>
            </a:r>
            <a:r>
              <a:rPr lang="en-US" altLang="zh-CN" b="0" i="0" dirty="0">
                <a:solidFill>
                  <a:srgbClr val="333333"/>
                </a:solidFill>
                <a:effectLst/>
                <a:latin typeface="Helvetica Neue"/>
              </a:rPr>
              <a:t>2</a:t>
            </a:r>
            <a:r>
              <a:rPr lang="zh-CN" altLang="en-US" b="0" i="0" dirty="0">
                <a:solidFill>
                  <a:srgbClr val="333333"/>
                </a:solidFill>
                <a:effectLst/>
                <a:latin typeface="Helvetica Neue"/>
              </a:rPr>
              <a:t>的</a:t>
            </a:r>
            <a:r>
              <a:rPr lang="en-US" altLang="zh-CN" b="0" i="0" dirty="0">
                <a:solidFill>
                  <a:srgbClr val="333333"/>
                </a:solidFill>
                <a:effectLst/>
                <a:latin typeface="Helvetica Neue"/>
              </a:rPr>
              <a:t>80</a:t>
            </a:r>
            <a:r>
              <a:rPr lang="zh-CN" altLang="en-US" b="0" i="0" dirty="0">
                <a:solidFill>
                  <a:srgbClr val="333333"/>
                </a:solidFill>
                <a:effectLst/>
                <a:latin typeface="Helvetica Neue"/>
              </a:rPr>
              <a:t>次方，即其安全性不到一个理想的杂凑函数抵抗攻击所应具备的计算复杂度</a:t>
            </a:r>
            <a:r>
              <a:rPr lang="en-US" altLang="zh-CN" b="0" i="0" dirty="0">
                <a:solidFill>
                  <a:srgbClr val="333333"/>
                </a:solidFill>
                <a:effectLst/>
                <a:latin typeface="Helvetica Neue"/>
              </a:rPr>
              <a:t>,</a:t>
            </a:r>
            <a:r>
              <a:rPr lang="zh-CN" altLang="en-US" b="0" i="0" dirty="0">
                <a:solidFill>
                  <a:srgbClr val="333333"/>
                </a:solidFill>
                <a:effectLst/>
                <a:latin typeface="Helvetica Neue"/>
              </a:rPr>
              <a:t> </a:t>
            </a:r>
            <a:r>
              <a:rPr lang="en-US" altLang="zh-CN" b="0" i="0" dirty="0">
                <a:solidFill>
                  <a:srgbClr val="333333"/>
                </a:solidFill>
                <a:effectLst/>
                <a:latin typeface="Helvetica Neue"/>
              </a:rPr>
              <a:t>2005</a:t>
            </a:r>
            <a:r>
              <a:rPr lang="zh-CN" altLang="en-US" b="0" i="0" dirty="0">
                <a:solidFill>
                  <a:srgbClr val="333333"/>
                </a:solidFill>
                <a:effectLst/>
                <a:latin typeface="Helvetica Neue"/>
              </a:rPr>
              <a:t>年二月，王小云再度发表了对</a:t>
            </a:r>
            <a:r>
              <a:rPr lang="en-US" altLang="zh-CN" b="0" i="0" dirty="0">
                <a:solidFill>
                  <a:srgbClr val="333333"/>
                </a:solidFill>
                <a:effectLst/>
                <a:latin typeface="Helvetica Neue"/>
              </a:rPr>
              <a:t>SHA-0</a:t>
            </a:r>
            <a:r>
              <a:rPr lang="zh-CN" altLang="en-US" b="0" i="0" dirty="0">
                <a:solidFill>
                  <a:srgbClr val="333333"/>
                </a:solidFill>
                <a:effectLst/>
                <a:latin typeface="Helvetica Neue"/>
              </a:rPr>
              <a:t>破密的算法，可在</a:t>
            </a:r>
            <a:r>
              <a:rPr lang="en-US" altLang="zh-CN" b="0" i="0" dirty="0">
                <a:solidFill>
                  <a:srgbClr val="333333"/>
                </a:solidFill>
                <a:effectLst/>
                <a:latin typeface="Helvetica Neue"/>
              </a:rPr>
              <a:t>2</a:t>
            </a:r>
            <a:r>
              <a:rPr lang="zh-CN" altLang="en-US" b="0" i="0" dirty="0">
                <a:solidFill>
                  <a:srgbClr val="333333"/>
                </a:solidFill>
                <a:effectLst/>
                <a:latin typeface="Helvetica Neue"/>
              </a:rPr>
              <a:t>的</a:t>
            </a:r>
            <a:r>
              <a:rPr lang="en-US" altLang="zh-CN" b="0" i="0" dirty="0">
                <a:solidFill>
                  <a:srgbClr val="333333"/>
                </a:solidFill>
                <a:effectLst/>
                <a:latin typeface="Helvetica Neue"/>
              </a:rPr>
              <a:t>39</a:t>
            </a:r>
            <a:r>
              <a:rPr lang="zh-CN" altLang="en-US" b="0" i="0" dirty="0">
                <a:solidFill>
                  <a:srgbClr val="333333"/>
                </a:solidFill>
                <a:effectLst/>
                <a:latin typeface="Helvetica Neue"/>
              </a:rPr>
              <a:t>次方的计算复杂度内就找到碰撞。</a:t>
            </a:r>
            <a:endParaRPr lang="en-US" altLang="zh-CN" b="0" i="0" dirty="0">
              <a:solidFill>
                <a:srgbClr val="333333"/>
              </a:solidFill>
              <a:effectLst/>
              <a:latin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016193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637700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47929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302512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701372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300838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5919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569614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576118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461489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648741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692930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4D3990-B510-4435-90A5-6D9F2619C2A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843102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83</a:t>
            </a:fld>
            <a:endParaRPr lang="zh-CN" altLang="en-US"/>
          </a:p>
        </p:txBody>
      </p:sp>
    </p:spTree>
    <p:extLst>
      <p:ext uri="{BB962C8B-B14F-4D97-AF65-F5344CB8AC3E}">
        <p14:creationId xmlns:p14="http://schemas.microsoft.com/office/powerpoint/2010/main" val="17693395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84</a:t>
            </a:fld>
            <a:endParaRPr lang="zh-CN" altLang="en-US"/>
          </a:p>
        </p:txBody>
      </p:sp>
    </p:spTree>
    <p:extLst>
      <p:ext uri="{BB962C8B-B14F-4D97-AF65-F5344CB8AC3E}">
        <p14:creationId xmlns:p14="http://schemas.microsoft.com/office/powerpoint/2010/main" val="2205879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8558C9-EC71-4A62-B3A9-EF0DD3876314}" type="datetime1">
              <a:rPr lang="zh-CN" altLang="en-US" smtClean="0"/>
              <a:t>2024/10/13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7" name="图片 6">
            <a:extLst>
              <a:ext uri="{FF2B5EF4-FFF2-40B4-BE49-F238E27FC236}">
                <a16:creationId xmlns:a16="http://schemas.microsoft.com/office/drawing/2014/main" id="{C0D110C8-EAF5-47F1-9248-A9C9C6656A2D}"/>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9" name="矩形 8">
            <a:extLst>
              <a:ext uri="{FF2B5EF4-FFF2-40B4-BE49-F238E27FC236}">
                <a16:creationId xmlns:a16="http://schemas.microsoft.com/office/drawing/2014/main" id="{C8B527D9-4F11-7BEC-14E4-975B877658EF}"/>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2" name="灯片编号占位符 11"/>
          <p:cNvSpPr>
            <a:spLocks noGrp="1"/>
          </p:cNvSpPr>
          <p:nvPr>
            <p:ph type="sldNum" sz="quarter" idx="12"/>
          </p:nvPr>
        </p:nvSpPr>
        <p:spPr>
          <a:xfrm>
            <a:off x="6735062" y="6330951"/>
            <a:ext cx="2057400" cy="365125"/>
          </a:xfrm>
        </p:spPr>
        <p:txBody>
          <a:bodyPr/>
          <a:lstStyle>
            <a:lvl1pPr algn="r">
              <a:defRPr/>
            </a:lvl1pPr>
          </a:lstStyle>
          <a:p>
            <a:fld id="{4DBDE2CB-4801-494F-A0A4-D49D70804842}" type="slidenum">
              <a:rPr lang="zh-CN" altLang="en-US" smtClean="0"/>
              <a:t>‹#›</a:t>
            </a:fld>
            <a:endParaRPr lang="zh-CN" altLang="en-US"/>
          </a:p>
        </p:txBody>
      </p:sp>
      <p:pic>
        <p:nvPicPr>
          <p:cNvPr id="3" name="图片 2">
            <a:extLst>
              <a:ext uri="{FF2B5EF4-FFF2-40B4-BE49-F238E27FC236}">
                <a16:creationId xmlns:a16="http://schemas.microsoft.com/office/drawing/2014/main" id="{1D5D4F7A-35F7-60ED-8EB7-BA542D1E6652}"/>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4" name="矩形 3">
            <a:extLst>
              <a:ext uri="{FF2B5EF4-FFF2-40B4-BE49-F238E27FC236}">
                <a16:creationId xmlns:a16="http://schemas.microsoft.com/office/drawing/2014/main" id="{7BD3D7E2-417C-C947-10F1-1813F74BA87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A4030-5B40-40D4-BB6C-441BB5A09A80}" type="datetime1">
              <a:rPr lang="zh-CN" altLang="en-US" smtClean="0"/>
              <a:t>2024/10/13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5" name="图片 4">
            <a:extLst>
              <a:ext uri="{FF2B5EF4-FFF2-40B4-BE49-F238E27FC236}">
                <a16:creationId xmlns:a16="http://schemas.microsoft.com/office/drawing/2014/main" id="{C90902D7-D10F-21A2-CB3D-B61DF038D1F9}"/>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6" name="矩形 5">
            <a:extLst>
              <a:ext uri="{FF2B5EF4-FFF2-40B4-BE49-F238E27FC236}">
                <a16:creationId xmlns:a16="http://schemas.microsoft.com/office/drawing/2014/main" id="{8ED5C463-2AB6-0036-6BA1-8AF26FA8335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0" name="日期占位符 9"/>
          <p:cNvSpPr>
            <a:spLocks noGrp="1"/>
          </p:cNvSpPr>
          <p:nvPr>
            <p:ph type="dt" sz="half" idx="10"/>
          </p:nvPr>
        </p:nvSpPr>
        <p:spPr/>
        <p:txBody>
          <a:bodyPr/>
          <a:lstStyle/>
          <a:p>
            <a:fld id="{E91735B9-8A64-41B6-8700-CE98B3E20E6D}" type="datetime1">
              <a:rPr lang="zh-CN" altLang="en-US" smtClean="0"/>
              <a:t>2024/10/13</a:t>
            </a:fld>
            <a:endParaRPr lang="zh-CN" altLang="en-US"/>
          </a:p>
        </p:txBody>
      </p:sp>
      <p:sp>
        <p:nvSpPr>
          <p:cNvPr id="12" name="灯片编号占位符 11"/>
          <p:cNvSpPr>
            <a:spLocks noGrp="1"/>
          </p:cNvSpPr>
          <p:nvPr>
            <p:ph type="sldNum" sz="quarter" idx="12"/>
          </p:nvPr>
        </p:nvSpPr>
        <p:spPr>
          <a:xfrm>
            <a:off x="3543300" y="6330951"/>
            <a:ext cx="2057400" cy="365125"/>
          </a:xfrm>
        </p:spPr>
        <p:txBody>
          <a:bodyPr/>
          <a:lstStyle>
            <a:lvl1pPr algn="ctr">
              <a:defRPr/>
            </a:lvl1pPr>
          </a:lstStyle>
          <a:p>
            <a:fld id="{4DBDE2CB-4801-494F-A0A4-D49D7080484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6541E-DE8D-4B0C-80C1-8295F826FE0C}" type="datetime1">
              <a:rPr lang="zh-CN" altLang="en-US" smtClean="0"/>
              <a:t>2024/10/13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E2CB-4801-494F-A0A4-D49D708048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web.xidian.edu.cn/jfwang"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7.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611.png"/></Relationships>
</file>

<file path=ppt/slides/_rels/slide31.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0.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2.png"/><Relationship Id="rId9"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60.png"/><Relationship Id="rId3" Type="http://schemas.openxmlformats.org/officeDocument/2006/relationships/image" Target="../media/image470.png"/><Relationship Id="rId7" Type="http://schemas.openxmlformats.org/officeDocument/2006/relationships/image" Target="../media/image46.png"/><Relationship Id="rId12"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7.png"/></Relationships>
</file>

<file path=ppt/slides/_rels/slide46.xml.rels><?xml version="1.0" encoding="UTF-8" standalone="yes"?>
<Relationships xmlns="http://schemas.openxmlformats.org/package/2006/relationships"><Relationship Id="rId8" Type="http://schemas.openxmlformats.org/officeDocument/2006/relationships/image" Target="../media/image471.png"/><Relationship Id="rId13" Type="http://schemas.openxmlformats.org/officeDocument/2006/relationships/image" Target="../media/image59.png"/><Relationship Id="rId3" Type="http://schemas.openxmlformats.org/officeDocument/2006/relationships/image" Target="../media/image47.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61.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 Id="rId14" Type="http://schemas.openxmlformats.org/officeDocument/2006/relationships/image" Target="../media/image60.png"/></Relationships>
</file>

<file path=ppt/slides/_rels/slide47.xml.rels><?xml version="1.0" encoding="UTF-8" standalone="yes"?>
<Relationships xmlns="http://schemas.openxmlformats.org/package/2006/relationships"><Relationship Id="rId8" Type="http://schemas.openxmlformats.org/officeDocument/2006/relationships/image" Target="../media/image471.png"/><Relationship Id="rId13" Type="http://schemas.openxmlformats.org/officeDocument/2006/relationships/image" Target="../media/image63.png"/><Relationship Id="rId3" Type="http://schemas.openxmlformats.org/officeDocument/2006/relationships/image" Target="../media/image51.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61.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 Id="rId14" Type="http://schemas.openxmlformats.org/officeDocument/2006/relationships/image" Target="../media/image60.png"/></Relationships>
</file>

<file path=ppt/slides/_rels/slide48.xml.rels><?xml version="1.0" encoding="UTF-8" standalone="yes"?>
<Relationships xmlns="http://schemas.openxmlformats.org/package/2006/relationships"><Relationship Id="rId8" Type="http://schemas.openxmlformats.org/officeDocument/2006/relationships/image" Target="../media/image471.png"/><Relationship Id="rId13" Type="http://schemas.openxmlformats.org/officeDocument/2006/relationships/image" Target="../media/image65.png"/><Relationship Id="rId3" Type="http://schemas.openxmlformats.org/officeDocument/2006/relationships/image" Target="../media/image58.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61.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 Id="rId14" Type="http://schemas.openxmlformats.org/officeDocument/2006/relationships/image" Target="../media/image60.png"/></Relationships>
</file>

<file path=ppt/slides/_rels/slide49.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66.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notesSlide" Target="../notesSlides/notesSlide25.xml"/><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6.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s>
</file>

<file path=ppt/slides/_rels/slide50.xml.rels><?xml version="1.0" encoding="UTF-8" standalone="yes"?>
<Relationships xmlns="http://schemas.openxmlformats.org/package/2006/relationships"><Relationship Id="rId8" Type="http://schemas.openxmlformats.org/officeDocument/2006/relationships/image" Target="../media/image900.png"/><Relationship Id="rId18" Type="http://schemas.openxmlformats.org/officeDocument/2006/relationships/image" Target="../media/image100.png"/><Relationship Id="rId3" Type="http://schemas.openxmlformats.org/officeDocument/2006/relationships/image" Target="../media/image90.png"/><Relationship Id="rId21" Type="http://schemas.openxmlformats.org/officeDocument/2006/relationships/image" Target="../media/image103.png"/><Relationship Id="rId7" Type="http://schemas.openxmlformats.org/officeDocument/2006/relationships/image" Target="../media/image890.png"/><Relationship Id="rId17" Type="http://schemas.openxmlformats.org/officeDocument/2006/relationships/image" Target="../media/image99.png"/><Relationship Id="rId25" Type="http://schemas.openxmlformats.org/officeDocument/2006/relationships/image" Target="../media/image107.png"/><Relationship Id="rId2" Type="http://schemas.openxmlformats.org/officeDocument/2006/relationships/notesSlide" Target="../notesSlides/notesSlide26.xml"/><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880.png"/><Relationship Id="rId11" Type="http://schemas.openxmlformats.org/officeDocument/2006/relationships/image" Target="../media/image93.png"/><Relationship Id="rId24" Type="http://schemas.openxmlformats.org/officeDocument/2006/relationships/image" Target="../media/image106.png"/><Relationship Id="rId5" Type="http://schemas.openxmlformats.org/officeDocument/2006/relationships/image" Target="../media/image870.png"/><Relationship Id="rId15" Type="http://schemas.openxmlformats.org/officeDocument/2006/relationships/image" Target="../media/image97.png"/><Relationship Id="rId23" Type="http://schemas.openxmlformats.org/officeDocument/2006/relationships/image" Target="../media/image105.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511.png"/><Relationship Id="rId9" Type="http://schemas.openxmlformats.org/officeDocument/2006/relationships/image" Target="../media/image91.png"/><Relationship Id="rId22" Type="http://schemas.openxmlformats.org/officeDocument/2006/relationships/image" Target="../media/image104.png"/></Relationships>
</file>

<file path=ppt/slides/_rels/slide5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0.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0.png"/><Relationship Id="rId9"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109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6.png"/><Relationship Id="rId18" Type="http://schemas.openxmlformats.org/officeDocument/2006/relationships/image" Target="../media/image161.png"/><Relationship Id="rId26" Type="http://schemas.openxmlformats.org/officeDocument/2006/relationships/image" Target="../media/image169.png"/><Relationship Id="rId3" Type="http://schemas.openxmlformats.org/officeDocument/2006/relationships/image" Target="../media/image114.png"/><Relationship Id="rId21" Type="http://schemas.openxmlformats.org/officeDocument/2006/relationships/image" Target="../media/image153.png"/><Relationship Id="rId7" Type="http://schemas.openxmlformats.org/officeDocument/2006/relationships/image" Target="../media/image149.png"/><Relationship Id="rId12" Type="http://schemas.openxmlformats.org/officeDocument/2006/relationships/image" Target="../media/image155.png"/><Relationship Id="rId17" Type="http://schemas.openxmlformats.org/officeDocument/2006/relationships/image" Target="../media/image160.png"/><Relationship Id="rId25" Type="http://schemas.openxmlformats.org/officeDocument/2006/relationships/image" Target="../media/image168.png"/><Relationship Id="rId2" Type="http://schemas.openxmlformats.org/officeDocument/2006/relationships/notesSlide" Target="../notesSlides/notesSlide36.xml"/><Relationship Id="rId16" Type="http://schemas.openxmlformats.org/officeDocument/2006/relationships/image" Target="../media/image113.png"/><Relationship Id="rId20" Type="http://schemas.openxmlformats.org/officeDocument/2006/relationships/image" Target="../media/image163.png"/><Relationship Id="rId1" Type="http://schemas.openxmlformats.org/officeDocument/2006/relationships/slideLayout" Target="../slideLayouts/slideLayout2.xml"/><Relationship Id="rId6" Type="http://schemas.openxmlformats.org/officeDocument/2006/relationships/image" Target="../media/image148.png"/><Relationship Id="rId11" Type="http://schemas.openxmlformats.org/officeDocument/2006/relationships/image" Target="../media/image154.png"/><Relationship Id="rId24" Type="http://schemas.openxmlformats.org/officeDocument/2006/relationships/image" Target="../media/image167.png"/><Relationship Id="rId5" Type="http://schemas.openxmlformats.org/officeDocument/2006/relationships/image" Target="../media/image530.png"/><Relationship Id="rId15" Type="http://schemas.openxmlformats.org/officeDocument/2006/relationships/image" Target="../media/image152.png"/><Relationship Id="rId23" Type="http://schemas.openxmlformats.org/officeDocument/2006/relationships/image" Target="../media/image166.png"/><Relationship Id="rId10" Type="http://schemas.openxmlformats.org/officeDocument/2006/relationships/image" Target="../media/image112.png"/><Relationship Id="rId19" Type="http://schemas.openxmlformats.org/officeDocument/2006/relationships/image" Target="../media/image162.png"/><Relationship Id="rId4" Type="http://schemas.openxmlformats.org/officeDocument/2006/relationships/image" Target="../media/image147.png"/><Relationship Id="rId9" Type="http://schemas.openxmlformats.org/officeDocument/2006/relationships/image" Target="../media/image151.png"/><Relationship Id="rId14" Type="http://schemas.openxmlformats.org/officeDocument/2006/relationships/image" Target="../media/image157.png"/><Relationship Id="rId22" Type="http://schemas.openxmlformats.org/officeDocument/2006/relationships/image" Target="../media/image115.png"/><Relationship Id="rId27" Type="http://schemas.openxmlformats.org/officeDocument/2006/relationships/image" Target="../media/image116.png"/></Relationships>
</file>

<file path=ppt/slides/_rels/slide6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6.png"/><Relationship Id="rId3" Type="http://schemas.openxmlformats.org/officeDocument/2006/relationships/image" Target="../media/image1170.png"/><Relationship Id="rId7" Type="http://schemas.openxmlformats.org/officeDocument/2006/relationships/image" Target="../media/image121.png"/><Relationship Id="rId12" Type="http://schemas.openxmlformats.org/officeDocument/2006/relationships/image" Target="../media/image125.png"/><Relationship Id="rId17" Type="http://schemas.openxmlformats.org/officeDocument/2006/relationships/image" Target="../media/image130.png"/><Relationship Id="rId2" Type="http://schemas.openxmlformats.org/officeDocument/2006/relationships/notesSlide" Target="../notesSlides/notesSlide38.xml"/><Relationship Id="rId16"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130.png"/><Relationship Id="rId5" Type="http://schemas.openxmlformats.org/officeDocument/2006/relationships/image" Target="../media/image119.png"/><Relationship Id="rId15" Type="http://schemas.openxmlformats.org/officeDocument/2006/relationships/image" Target="../media/image128.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7.png"/></Relationships>
</file>

<file path=ppt/slides/_rels/slide63.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32.png"/><Relationship Id="rId18" Type="http://schemas.openxmlformats.org/officeDocument/2006/relationships/image" Target="../media/image135.png"/><Relationship Id="rId3" Type="http://schemas.openxmlformats.org/officeDocument/2006/relationships/image" Target="../media/image96.png"/><Relationship Id="rId7" Type="http://schemas.openxmlformats.org/officeDocument/2006/relationships/image" Target="../media/image120.png"/><Relationship Id="rId12" Type="http://schemas.openxmlformats.org/officeDocument/2006/relationships/image" Target="../media/image131.png"/><Relationship Id="rId17" Type="http://schemas.openxmlformats.org/officeDocument/2006/relationships/image" Target="../media/image134.png"/><Relationship Id="rId2" Type="http://schemas.openxmlformats.org/officeDocument/2006/relationships/notesSlide" Target="../notesSlides/notesSlide39.xml"/><Relationship Id="rId16"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7.png"/><Relationship Id="rId10" Type="http://schemas.openxmlformats.org/officeDocument/2006/relationships/image" Target="../media/image123.png"/><Relationship Id="rId4" Type="http://schemas.openxmlformats.org/officeDocument/2006/relationships/image" Target="../media/image1170.png"/><Relationship Id="rId9" Type="http://schemas.openxmlformats.org/officeDocument/2006/relationships/image" Target="../media/image122.png"/><Relationship Id="rId14" Type="http://schemas.openxmlformats.org/officeDocument/2006/relationships/image" Target="../media/image133.png"/></Relationships>
</file>

<file path=ppt/slides/_rels/slide64.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32.png"/><Relationship Id="rId18" Type="http://schemas.openxmlformats.org/officeDocument/2006/relationships/image" Target="../media/image135.png"/><Relationship Id="rId3" Type="http://schemas.openxmlformats.org/officeDocument/2006/relationships/image" Target="../media/image111.png"/><Relationship Id="rId7" Type="http://schemas.openxmlformats.org/officeDocument/2006/relationships/image" Target="../media/image120.png"/><Relationship Id="rId12" Type="http://schemas.openxmlformats.org/officeDocument/2006/relationships/image" Target="../media/image137.png"/><Relationship Id="rId17" Type="http://schemas.openxmlformats.org/officeDocument/2006/relationships/image" Target="../media/image134.png"/><Relationship Id="rId2" Type="http://schemas.openxmlformats.org/officeDocument/2006/relationships/notesSlide" Target="../notesSlides/notesSlide40.xml"/><Relationship Id="rId16"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7.png"/><Relationship Id="rId10" Type="http://schemas.openxmlformats.org/officeDocument/2006/relationships/image" Target="../media/image123.png"/><Relationship Id="rId4" Type="http://schemas.openxmlformats.org/officeDocument/2006/relationships/image" Target="../media/image1170.png"/><Relationship Id="rId9" Type="http://schemas.openxmlformats.org/officeDocument/2006/relationships/image" Target="../media/image122.png"/><Relationship Id="rId14" Type="http://schemas.openxmlformats.org/officeDocument/2006/relationships/image" Target="../media/image133.png"/></Relationships>
</file>

<file path=ppt/slides/_rels/slide65.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32.png"/><Relationship Id="rId18" Type="http://schemas.openxmlformats.org/officeDocument/2006/relationships/image" Target="../media/image135.png"/><Relationship Id="rId3" Type="http://schemas.openxmlformats.org/officeDocument/2006/relationships/image" Target="../media/image138.png"/><Relationship Id="rId7" Type="http://schemas.openxmlformats.org/officeDocument/2006/relationships/image" Target="../media/image120.png"/><Relationship Id="rId12" Type="http://schemas.openxmlformats.org/officeDocument/2006/relationships/image" Target="../media/image139.png"/><Relationship Id="rId17" Type="http://schemas.openxmlformats.org/officeDocument/2006/relationships/image" Target="../media/image134.png"/><Relationship Id="rId2" Type="http://schemas.openxmlformats.org/officeDocument/2006/relationships/notesSlide" Target="../notesSlides/notesSlide41.xml"/><Relationship Id="rId16"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7.png"/><Relationship Id="rId10" Type="http://schemas.openxmlformats.org/officeDocument/2006/relationships/image" Target="../media/image123.png"/><Relationship Id="rId4" Type="http://schemas.openxmlformats.org/officeDocument/2006/relationships/image" Target="../media/image1170.png"/><Relationship Id="rId9" Type="http://schemas.openxmlformats.org/officeDocument/2006/relationships/image" Target="../media/image122.png"/><Relationship Id="rId14" Type="http://schemas.openxmlformats.org/officeDocument/2006/relationships/image" Target="../media/image133.png"/></Relationships>
</file>

<file path=ppt/slides/_rels/slide66.xml.rels><?xml version="1.0" encoding="UTF-8" standalone="yes"?>
<Relationships xmlns="http://schemas.openxmlformats.org/package/2006/relationships"><Relationship Id="rId13" Type="http://schemas.openxmlformats.org/officeDocument/2006/relationships/image" Target="../media/image171.png"/><Relationship Id="rId18" Type="http://schemas.openxmlformats.org/officeDocument/2006/relationships/image" Target="../media/image176.png"/><Relationship Id="rId26" Type="http://schemas.openxmlformats.org/officeDocument/2006/relationships/image" Target="../media/image184.png"/><Relationship Id="rId3" Type="http://schemas.openxmlformats.org/officeDocument/2006/relationships/image" Target="../media/image140.png"/><Relationship Id="rId21" Type="http://schemas.openxmlformats.org/officeDocument/2006/relationships/image" Target="../media/image179.png"/><Relationship Id="rId7" Type="http://schemas.openxmlformats.org/officeDocument/2006/relationships/image" Target="../media/image144.png"/><Relationship Id="rId12" Type="http://schemas.openxmlformats.org/officeDocument/2006/relationships/image" Target="../media/image170.png"/><Relationship Id="rId17" Type="http://schemas.openxmlformats.org/officeDocument/2006/relationships/image" Target="../media/image175.png"/><Relationship Id="rId25" Type="http://schemas.openxmlformats.org/officeDocument/2006/relationships/image" Target="../media/image183.png"/><Relationship Id="rId33" Type="http://schemas.openxmlformats.org/officeDocument/2006/relationships/image" Target="../media/image191.png"/><Relationship Id="rId2" Type="http://schemas.openxmlformats.org/officeDocument/2006/relationships/notesSlide" Target="../notesSlides/notesSlide42.xml"/><Relationship Id="rId16" Type="http://schemas.openxmlformats.org/officeDocument/2006/relationships/image" Target="../media/image174.png"/><Relationship Id="rId20" Type="http://schemas.openxmlformats.org/officeDocument/2006/relationships/image" Target="../media/image178.png"/><Relationship Id="rId29" Type="http://schemas.openxmlformats.org/officeDocument/2006/relationships/image" Target="../media/image187.png"/><Relationship Id="rId1" Type="http://schemas.openxmlformats.org/officeDocument/2006/relationships/slideLayout" Target="../slideLayouts/slideLayout2.xml"/><Relationship Id="rId6" Type="http://schemas.openxmlformats.org/officeDocument/2006/relationships/image" Target="../media/image143.png"/><Relationship Id="rId11" Type="http://schemas.openxmlformats.org/officeDocument/2006/relationships/image" Target="../media/image164.png"/><Relationship Id="rId24" Type="http://schemas.openxmlformats.org/officeDocument/2006/relationships/image" Target="../media/image182.png"/><Relationship Id="rId32" Type="http://schemas.openxmlformats.org/officeDocument/2006/relationships/image" Target="../media/image190.png"/><Relationship Id="rId5" Type="http://schemas.openxmlformats.org/officeDocument/2006/relationships/image" Target="../media/image142.png"/><Relationship Id="rId15" Type="http://schemas.openxmlformats.org/officeDocument/2006/relationships/image" Target="../media/image173.png"/><Relationship Id="rId23" Type="http://schemas.openxmlformats.org/officeDocument/2006/relationships/image" Target="../media/image181.png"/><Relationship Id="rId28" Type="http://schemas.openxmlformats.org/officeDocument/2006/relationships/image" Target="../media/image186.png"/><Relationship Id="rId10" Type="http://schemas.openxmlformats.org/officeDocument/2006/relationships/image" Target="../media/image158.png"/><Relationship Id="rId19" Type="http://schemas.openxmlformats.org/officeDocument/2006/relationships/image" Target="../media/image177.png"/><Relationship Id="rId31" Type="http://schemas.openxmlformats.org/officeDocument/2006/relationships/image" Target="../media/image189.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72.png"/><Relationship Id="rId22" Type="http://schemas.openxmlformats.org/officeDocument/2006/relationships/image" Target="../media/image180.png"/><Relationship Id="rId27" Type="http://schemas.openxmlformats.org/officeDocument/2006/relationships/image" Target="../media/image185.png"/><Relationship Id="rId30" Type="http://schemas.openxmlformats.org/officeDocument/2006/relationships/image" Target="../media/image188.png"/><Relationship Id="rId8" Type="http://schemas.openxmlformats.org/officeDocument/2006/relationships/image" Target="../media/image145.png"/></Relationships>
</file>

<file path=ppt/slides/_rels/slide67.xml.rels><?xml version="1.0" encoding="UTF-8" standalone="yes"?>
<Relationships xmlns="http://schemas.openxmlformats.org/package/2006/relationships"><Relationship Id="rId8" Type="http://schemas.openxmlformats.org/officeDocument/2006/relationships/image" Target="../media/image900.png"/><Relationship Id="rId18" Type="http://schemas.openxmlformats.org/officeDocument/2006/relationships/image" Target="../media/image100.png"/><Relationship Id="rId3" Type="http://schemas.openxmlformats.org/officeDocument/2006/relationships/image" Target="../media/image1830.png"/><Relationship Id="rId21" Type="http://schemas.openxmlformats.org/officeDocument/2006/relationships/image" Target="../media/image192.png"/><Relationship Id="rId7" Type="http://schemas.openxmlformats.org/officeDocument/2006/relationships/image" Target="../media/image890.png"/><Relationship Id="rId17" Type="http://schemas.openxmlformats.org/officeDocument/2006/relationships/image" Target="../media/image1850.png"/><Relationship Id="rId25" Type="http://schemas.openxmlformats.org/officeDocument/2006/relationships/image" Target="../media/image107.png"/><Relationship Id="rId2" Type="http://schemas.openxmlformats.org/officeDocument/2006/relationships/notesSlide" Target="../notesSlides/notesSlide43.xml"/><Relationship Id="rId16" Type="http://schemas.openxmlformats.org/officeDocument/2006/relationships/image" Target="../media/image1840.png"/><Relationship Id="rId20" Type="http://schemas.openxmlformats.org/officeDocument/2006/relationships/image" Target="../media/image1860.png"/><Relationship Id="rId1" Type="http://schemas.openxmlformats.org/officeDocument/2006/relationships/slideLayout" Target="../slideLayouts/slideLayout2.xml"/><Relationship Id="rId6" Type="http://schemas.openxmlformats.org/officeDocument/2006/relationships/image" Target="../media/image880.png"/><Relationship Id="rId11" Type="http://schemas.openxmlformats.org/officeDocument/2006/relationships/image" Target="../media/image93.png"/><Relationship Id="rId24" Type="http://schemas.openxmlformats.org/officeDocument/2006/relationships/image" Target="../media/image1880.png"/><Relationship Id="rId5" Type="http://schemas.openxmlformats.org/officeDocument/2006/relationships/image" Target="../media/image870.png"/><Relationship Id="rId15" Type="http://schemas.openxmlformats.org/officeDocument/2006/relationships/image" Target="../media/image97.png"/><Relationship Id="rId23" Type="http://schemas.openxmlformats.org/officeDocument/2006/relationships/image" Target="../media/image105.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0.png"/><Relationship Id="rId9" Type="http://schemas.openxmlformats.org/officeDocument/2006/relationships/image" Target="../media/image91.png"/><Relationship Id="rId22" Type="http://schemas.openxmlformats.org/officeDocument/2006/relationships/image" Target="../media/image104.png"/></Relationships>
</file>

<file path=ppt/slides/_rels/slide6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38.emf"/><Relationship Id="rId4" Type="http://schemas.openxmlformats.org/officeDocument/2006/relationships/image" Target="../media/image137.emf"/></Relationships>
</file>

<file path=ppt/slides/_rels/slide74.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440.png"/><Relationship Id="rId3" Type="http://schemas.openxmlformats.org/officeDocument/2006/relationships/image" Target="../media/image3400.png"/><Relationship Id="rId7" Type="http://schemas.openxmlformats.org/officeDocument/2006/relationships/image" Target="../media/image380.png"/><Relationship Id="rId12" Type="http://schemas.openxmlformats.org/officeDocument/2006/relationships/image" Target="../media/image20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0" Type="http://schemas.openxmlformats.org/officeDocument/2006/relationships/image" Target="../media/image410.png"/><Relationship Id="rId4" Type="http://schemas.openxmlformats.org/officeDocument/2006/relationships/image" Target="../media/image320.png"/><Relationship Id="rId9" Type="http://schemas.openxmlformats.org/officeDocument/2006/relationships/image" Target="../media/image200.png"/></Relationships>
</file>

<file path=ppt/slides/_rels/slide7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97.e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F98E0B-E958-5B7D-336A-6BB668778A6B}"/>
              </a:ext>
            </a:extLst>
          </p:cNvPr>
          <p:cNvPicPr>
            <a:picLocks noChangeAspect="1"/>
          </p:cNvPicPr>
          <p:nvPr/>
        </p:nvPicPr>
        <p:blipFill rotWithShape="1">
          <a:blip r:embed="rId3">
            <a:extLst>
              <a:ext uri="{28A0092B-C50C-407E-A947-70E740481C1C}">
                <a14:useLocalDpi xmlns:a14="http://schemas.microsoft.com/office/drawing/2010/main" val="0"/>
              </a:ext>
            </a:extLst>
          </a:blip>
          <a:srcRect l="9888" r="9888" b="12474"/>
          <a:stretch/>
        </p:blipFill>
        <p:spPr>
          <a:xfrm>
            <a:off x="0" y="818440"/>
            <a:ext cx="9144000" cy="6019800"/>
          </a:xfrm>
          <a:prstGeom prst="rect">
            <a:avLst/>
          </a:prstGeom>
        </p:spPr>
      </p:pic>
      <p:sp>
        <p:nvSpPr>
          <p:cNvPr id="3" name="矩形 2">
            <a:extLst>
              <a:ext uri="{FF2B5EF4-FFF2-40B4-BE49-F238E27FC236}">
                <a16:creationId xmlns:a16="http://schemas.microsoft.com/office/drawing/2014/main" id="{2BC83181-D003-1818-8D56-53A785AC9F54}"/>
              </a:ext>
            </a:extLst>
          </p:cNvPr>
          <p:cNvSpPr/>
          <p:nvPr/>
        </p:nvSpPr>
        <p:spPr>
          <a:xfrm>
            <a:off x="-1" y="-19760"/>
            <a:ext cx="9144000" cy="6877760"/>
          </a:xfrm>
          <a:prstGeom prst="rect">
            <a:avLst/>
          </a:prstGeom>
          <a:gradFill>
            <a:gsLst>
              <a:gs pos="42000">
                <a:schemeClr val="bg1">
                  <a:alpha val="75000"/>
                </a:schemeClr>
              </a:gs>
              <a:gs pos="23000">
                <a:schemeClr val="bg1"/>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9E6D7042-E30C-4386-2860-93454B1A376D}"/>
              </a:ext>
            </a:extLst>
          </p:cNvPr>
          <p:cNvGrpSpPr/>
          <p:nvPr/>
        </p:nvGrpSpPr>
        <p:grpSpPr>
          <a:xfrm>
            <a:off x="-15240" y="4800781"/>
            <a:ext cx="9174480" cy="2075436"/>
            <a:chOff x="-15240" y="4117778"/>
            <a:chExt cx="9174480" cy="2758440"/>
          </a:xfrm>
        </p:grpSpPr>
        <p:grpSp>
          <p:nvGrpSpPr>
            <p:cNvPr id="12" name="组合 11">
              <a:extLst>
                <a:ext uri="{FF2B5EF4-FFF2-40B4-BE49-F238E27FC236}">
                  <a16:creationId xmlns:a16="http://schemas.microsoft.com/office/drawing/2014/main" id="{73EE70C5-030B-55D7-A486-40BF8FC20F46}"/>
                </a:ext>
              </a:extLst>
            </p:cNvPr>
            <p:cNvGrpSpPr/>
            <p:nvPr/>
          </p:nvGrpSpPr>
          <p:grpSpPr>
            <a:xfrm>
              <a:off x="-15240" y="4117778"/>
              <a:ext cx="9128760" cy="2758440"/>
              <a:chOff x="-15240" y="4117778"/>
              <a:chExt cx="9128760" cy="2758440"/>
            </a:xfrm>
          </p:grpSpPr>
          <p:sp>
            <p:nvSpPr>
              <p:cNvPr id="5" name="任意多边形: 形状 4">
                <a:extLst>
                  <a:ext uri="{FF2B5EF4-FFF2-40B4-BE49-F238E27FC236}">
                    <a16:creationId xmlns:a16="http://schemas.microsoft.com/office/drawing/2014/main" id="{97702B2D-B81F-C3D4-7E8E-BAF80A54C5A8}"/>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a:extLst>
                  <a:ext uri="{FF2B5EF4-FFF2-40B4-BE49-F238E27FC236}">
                    <a16:creationId xmlns:a16="http://schemas.microsoft.com/office/drawing/2014/main" id="{BA11CE37-E3A4-48B4-20A0-B23DF54A466F}"/>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a:extLst>
                  <a:ext uri="{FF2B5EF4-FFF2-40B4-BE49-F238E27FC236}">
                    <a16:creationId xmlns:a16="http://schemas.microsoft.com/office/drawing/2014/main" id="{B75603F0-CEA4-7762-D0F2-CB314DA2E7C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任意多边形: 形状 10">
                <a:extLst>
                  <a:ext uri="{FF2B5EF4-FFF2-40B4-BE49-F238E27FC236}">
                    <a16:creationId xmlns:a16="http://schemas.microsoft.com/office/drawing/2014/main" id="{5DED9DDC-C8FE-3569-86D4-62A4EE771BF1}"/>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3B169210-B449-DA49-54D7-DC1EB9686339}"/>
                </a:ext>
              </a:extLst>
            </p:cNvPr>
            <p:cNvGrpSpPr/>
            <p:nvPr/>
          </p:nvGrpSpPr>
          <p:grpSpPr>
            <a:xfrm flipH="1">
              <a:off x="30480" y="4117778"/>
              <a:ext cx="9128760" cy="2758440"/>
              <a:chOff x="-15240" y="4117778"/>
              <a:chExt cx="9128760" cy="2758440"/>
            </a:xfrm>
          </p:grpSpPr>
          <p:sp>
            <p:nvSpPr>
              <p:cNvPr id="14" name="任意多边形: 形状 13">
                <a:extLst>
                  <a:ext uri="{FF2B5EF4-FFF2-40B4-BE49-F238E27FC236}">
                    <a16:creationId xmlns:a16="http://schemas.microsoft.com/office/drawing/2014/main" id="{90553BD1-EBCE-3A87-F317-1813179B70D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形状 15">
                <a:extLst>
                  <a:ext uri="{FF2B5EF4-FFF2-40B4-BE49-F238E27FC236}">
                    <a16:creationId xmlns:a16="http://schemas.microsoft.com/office/drawing/2014/main" id="{2289105A-A9B7-ADE0-9DC8-449CBCB5BAD1}"/>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形状 17">
                <a:extLst>
                  <a:ext uri="{FF2B5EF4-FFF2-40B4-BE49-F238E27FC236}">
                    <a16:creationId xmlns:a16="http://schemas.microsoft.com/office/drawing/2014/main" id="{A3E32E6E-204B-8ECE-3313-68A79CE3ACA1}"/>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形状 18">
                <a:extLst>
                  <a:ext uri="{FF2B5EF4-FFF2-40B4-BE49-F238E27FC236}">
                    <a16:creationId xmlns:a16="http://schemas.microsoft.com/office/drawing/2014/main" id="{DD03A2EE-BA76-089F-BEBB-E7F6C0B84FDE}"/>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1" name="组合 20">
            <a:extLst>
              <a:ext uri="{FF2B5EF4-FFF2-40B4-BE49-F238E27FC236}">
                <a16:creationId xmlns:a16="http://schemas.microsoft.com/office/drawing/2014/main" id="{73139F2C-E6FB-B977-9EE3-BF7D308ED29F}"/>
              </a:ext>
            </a:extLst>
          </p:cNvPr>
          <p:cNvGrpSpPr/>
          <p:nvPr/>
        </p:nvGrpSpPr>
        <p:grpSpPr>
          <a:xfrm>
            <a:off x="2221762" y="1846432"/>
            <a:ext cx="4762842" cy="1289057"/>
            <a:chOff x="3714581" y="2503544"/>
            <a:chExt cx="4762842" cy="1289057"/>
          </a:xfrm>
        </p:grpSpPr>
        <p:sp>
          <p:nvSpPr>
            <p:cNvPr id="22" name="文本框 21">
              <a:extLst>
                <a:ext uri="{FF2B5EF4-FFF2-40B4-BE49-F238E27FC236}">
                  <a16:creationId xmlns:a16="http://schemas.microsoft.com/office/drawing/2014/main" id="{EA097197-2075-5E90-50B8-58B8F35FD43D}"/>
                </a:ext>
              </a:extLst>
            </p:cNvPr>
            <p:cNvSpPr txBox="1"/>
            <p:nvPr/>
          </p:nvSpPr>
          <p:spPr>
            <a:xfrm>
              <a:off x="3714581" y="2503544"/>
              <a:ext cx="4762842" cy="923330"/>
            </a:xfrm>
            <a:prstGeom prst="rect">
              <a:avLst/>
            </a:prstGeom>
            <a:noFill/>
          </p:spPr>
          <p:txBody>
            <a:bodyPr wrap="non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现 代 密 码 学</a:t>
              </a:r>
            </a:p>
          </p:txBody>
        </p:sp>
        <p:sp>
          <p:nvSpPr>
            <p:cNvPr id="24" name="文本框 23">
              <a:extLst>
                <a:ext uri="{FF2B5EF4-FFF2-40B4-BE49-F238E27FC236}">
                  <a16:creationId xmlns:a16="http://schemas.microsoft.com/office/drawing/2014/main" id="{D75E16C6-D1B3-D31B-9966-0CC5EC04CF2C}"/>
                </a:ext>
              </a:extLst>
            </p:cNvPr>
            <p:cNvSpPr txBox="1"/>
            <p:nvPr/>
          </p:nvSpPr>
          <p:spPr>
            <a:xfrm>
              <a:off x="3725138" y="3377103"/>
              <a:ext cx="4679359" cy="415498"/>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MODERN CRYPTOGRAPHY</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1" name="图片 30">
            <a:extLst>
              <a:ext uri="{FF2B5EF4-FFF2-40B4-BE49-F238E27FC236}">
                <a16:creationId xmlns:a16="http://schemas.microsoft.com/office/drawing/2014/main" id="{6CF5CED3-77D8-8B88-7815-C6C121BE3778}"/>
              </a:ext>
            </a:extLst>
          </p:cNvPr>
          <p:cNvPicPr>
            <a:picLocks noChangeAspect="1"/>
          </p:cNvPicPr>
          <p:nvPr/>
        </p:nvPicPr>
        <p:blipFill>
          <a:blip r:embed="rId4"/>
          <a:stretch>
            <a:fillRect/>
          </a:stretch>
        </p:blipFill>
        <p:spPr>
          <a:xfrm>
            <a:off x="335655" y="331579"/>
            <a:ext cx="2430253" cy="571825"/>
          </a:xfrm>
          <a:prstGeom prst="rect">
            <a:avLst/>
          </a:prstGeom>
        </p:spPr>
      </p:pic>
      <p:sp>
        <p:nvSpPr>
          <p:cNvPr id="6" name="副标题 5">
            <a:extLst>
              <a:ext uri="{FF2B5EF4-FFF2-40B4-BE49-F238E27FC236}">
                <a16:creationId xmlns:a16="http://schemas.microsoft.com/office/drawing/2014/main" id="{F330E5D6-B442-9ABE-9452-928BED6F261D}"/>
              </a:ext>
            </a:extLst>
          </p:cNvPr>
          <p:cNvSpPr txBox="1">
            <a:spLocks/>
          </p:cNvSpPr>
          <p:nvPr/>
        </p:nvSpPr>
        <p:spPr>
          <a:xfrm>
            <a:off x="2229172" y="5216616"/>
            <a:ext cx="5040630" cy="15137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b="1" dirty="0">
                <a:latin typeface="+mn-ea"/>
              </a:rPr>
              <a:t>王剑锋</a:t>
            </a:r>
            <a:endParaRPr lang="en-US" altLang="zh-CN" sz="2400" b="1" dirty="0">
              <a:latin typeface="+mn-ea"/>
            </a:endParaRPr>
          </a:p>
          <a:p>
            <a:pPr marL="0" indent="0" algn="ctr">
              <a:buFont typeface="Arial" panose="020B0604020202020204" pitchFamily="34" charset="0"/>
              <a:buNone/>
            </a:pPr>
            <a:r>
              <a:rPr lang="zh-CN" altLang="en-US" sz="2000" b="1" dirty="0">
                <a:latin typeface="+mn-ea"/>
              </a:rPr>
              <a:t>网络与信息安全学院</a:t>
            </a:r>
            <a:endParaRPr lang="en-US" altLang="zh-CN" sz="2000" b="1" dirty="0">
              <a:latin typeface="+mn-ea"/>
            </a:endParaRPr>
          </a:p>
          <a:p>
            <a:pPr marL="0" indent="0" algn="ctr">
              <a:buFont typeface="Arial" panose="020B0604020202020204" pitchFamily="34" charset="0"/>
              <a:buNone/>
            </a:pPr>
            <a:r>
              <a:rPr lang="en-US" altLang="zh-CN" sz="2000" b="1" dirty="0">
                <a:solidFill>
                  <a:srgbClr val="0000FF"/>
                </a:solidFill>
                <a:latin typeface="Times New Roman" panose="02020603050405020304" pitchFamily="18" charset="0"/>
                <a:cs typeface="Times New Roman" panose="02020603050405020304" pitchFamily="18" charset="0"/>
                <a:hlinkClick r:id="rId5"/>
              </a:rPr>
              <a:t>http://web.xidian.edu.cn/jfwang</a:t>
            </a:r>
            <a:endParaRPr lang="en-US" altLang="zh-CN" sz="2000" b="1" dirty="0">
              <a:latin typeface="+mn-ea"/>
            </a:endParaRPr>
          </a:p>
          <a:p>
            <a:pPr marL="0" indent="0" algn="ctr">
              <a:buFont typeface="Arial" panose="020B0604020202020204" pitchFamily="34" charset="0"/>
              <a:buNone/>
            </a:pP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533AA9C-484E-A373-5137-15DFFB5BA10B}"/>
              </a:ext>
            </a:extLst>
          </p:cNvPr>
          <p:cNvSpPr>
            <a:spLocks noGrp="1"/>
          </p:cNvSpPr>
          <p:nvPr>
            <p:ph type="title"/>
          </p:nvPr>
        </p:nvSpPr>
        <p:spPr/>
        <p:txBody>
          <a:bodyPr/>
          <a:lstStyle/>
          <a:p>
            <a:r>
              <a:rPr lang="zh-CN" altLang="en-US" dirty="0"/>
              <a:t>目录</a:t>
            </a:r>
          </a:p>
        </p:txBody>
      </p:sp>
      <p:sp>
        <p:nvSpPr>
          <p:cNvPr id="4" name="灯片编号占位符 3"/>
          <p:cNvSpPr>
            <a:spLocks noGrp="1"/>
          </p:cNvSpPr>
          <p:nvPr>
            <p:ph type="sldNum" sz="quarter" idx="12"/>
          </p:nvPr>
        </p:nvSpPr>
        <p:spPr/>
        <p:txBody>
          <a:bodyPr/>
          <a:lstStyle/>
          <a:p>
            <a:fld id="{4DBDE2CB-4801-494F-A0A4-D49D70804842}" type="slidenum">
              <a:rPr lang="zh-CN" altLang="en-US" smtClean="0"/>
              <a:t>2</a:t>
            </a:fld>
            <a:endParaRPr lang="zh-CN" altLang="en-US"/>
          </a:p>
        </p:txBody>
      </p:sp>
      <p:grpSp>
        <p:nvGrpSpPr>
          <p:cNvPr id="2" name="组合 1">
            <a:extLst>
              <a:ext uri="{FF2B5EF4-FFF2-40B4-BE49-F238E27FC236}">
                <a16:creationId xmlns:a16="http://schemas.microsoft.com/office/drawing/2014/main" id="{4875FB35-0798-B09A-990C-C787C768861D}"/>
              </a:ext>
            </a:extLst>
          </p:cNvPr>
          <p:cNvGrpSpPr/>
          <p:nvPr/>
        </p:nvGrpSpPr>
        <p:grpSpPr>
          <a:xfrm>
            <a:off x="882711" y="2022529"/>
            <a:ext cx="2821712" cy="3133617"/>
            <a:chOff x="882711" y="2022529"/>
            <a:chExt cx="2821712" cy="3133617"/>
          </a:xfrm>
        </p:grpSpPr>
        <p:grpSp>
          <p:nvGrpSpPr>
            <p:cNvPr id="21" name="组合 20"/>
            <p:cNvGrpSpPr/>
            <p:nvPr/>
          </p:nvGrpSpPr>
          <p:grpSpPr>
            <a:xfrm>
              <a:off x="882712" y="2022529"/>
              <a:ext cx="2821711" cy="3133617"/>
              <a:chOff x="2924436" y="1591950"/>
              <a:chExt cx="3295128" cy="3674100"/>
            </a:xfrm>
          </p:grpSpPr>
          <p:sp>
            <p:nvSpPr>
              <p:cNvPr id="23" name="任意多边形 7"/>
              <p:cNvSpPr/>
              <p:nvPr/>
            </p:nvSpPr>
            <p:spPr>
              <a:xfrm>
                <a:off x="2924436" y="1591950"/>
                <a:ext cx="3295128" cy="367410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solidFill>
                <a:srgbClr val="EEEEEE"/>
              </a:solidFill>
              <a:ln w="222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0" cap="none" spc="30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5" name="文本框 24"/>
              <p:cNvSpPr txBox="1"/>
              <p:nvPr/>
            </p:nvSpPr>
            <p:spPr>
              <a:xfrm>
                <a:off x="3126369" y="3755606"/>
                <a:ext cx="29101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sp>
          <p:nvSpPr>
            <p:cNvPr id="5" name="文本框 4">
              <a:extLst>
                <a:ext uri="{FF2B5EF4-FFF2-40B4-BE49-F238E27FC236}">
                  <a16:creationId xmlns:a16="http://schemas.microsoft.com/office/drawing/2014/main" id="{54298EAD-4B97-97A0-5561-5EC63275D193}"/>
                </a:ext>
              </a:extLst>
            </p:cNvPr>
            <p:cNvSpPr txBox="1"/>
            <p:nvPr/>
          </p:nvSpPr>
          <p:spPr>
            <a:xfrm>
              <a:off x="882711" y="2873756"/>
              <a:ext cx="2821711" cy="1431161"/>
            </a:xfrm>
            <a:prstGeom prst="rect">
              <a:avLst/>
            </a:prstGeom>
            <a:noFill/>
          </p:spPr>
          <p:txBody>
            <a:bodyPr wrap="square">
              <a:spAutoFit/>
            </a:bodyPr>
            <a:lstStyle/>
            <a:p>
              <a:pPr algn="ctr">
                <a:spcBef>
                  <a:spcPts val="1800"/>
                </a:spcBef>
                <a:buClr>
                  <a:srgbClr val="C00000"/>
                </a:buClr>
              </a:pPr>
              <a:r>
                <a:rPr lang="zh-CN" altLang="en-US" sz="3600" b="1" dirty="0">
                  <a:solidFill>
                    <a:srgbClr val="C00000"/>
                  </a:solidFill>
                  <a:latin typeface="微软雅黑" panose="020B0503020204020204" pitchFamily="34" charset="-122"/>
                  <a:ea typeface="微软雅黑" panose="020B0503020204020204" pitchFamily="34" charset="-122"/>
                </a:rPr>
                <a:t>第四讲 </a:t>
              </a:r>
              <a:endParaRPr lang="en-US" altLang="zh-CN" sz="3600" b="1" dirty="0">
                <a:solidFill>
                  <a:srgbClr val="C00000"/>
                </a:solidFill>
                <a:latin typeface="微软雅黑" panose="020B0503020204020204" pitchFamily="34" charset="-122"/>
                <a:ea typeface="微软雅黑" panose="020B0503020204020204" pitchFamily="34" charset="-122"/>
              </a:endParaRPr>
            </a:p>
            <a:p>
              <a:pPr algn="ctr">
                <a:spcBef>
                  <a:spcPts val="1800"/>
                </a:spcBef>
                <a:buClr>
                  <a:srgbClr val="C00000"/>
                </a:buClr>
              </a:pPr>
              <a:r>
                <a:rPr lang="zh-CN" altLang="en-US" sz="3600" b="1" dirty="0">
                  <a:latin typeface="微软雅黑" panose="020B0503020204020204" pitchFamily="34" charset="-122"/>
                  <a:ea typeface="微软雅黑" panose="020B0503020204020204" pitchFamily="34" charset="-122"/>
                </a:rPr>
                <a:t>哈希函数</a:t>
              </a:r>
            </a:p>
          </p:txBody>
        </p:sp>
      </p:grpSp>
      <p:sp>
        <p:nvSpPr>
          <p:cNvPr id="3" name="文本框 2">
            <a:extLst>
              <a:ext uri="{FF2B5EF4-FFF2-40B4-BE49-F238E27FC236}">
                <a16:creationId xmlns:a16="http://schemas.microsoft.com/office/drawing/2014/main" id="{86ECA4F1-4DAF-03E3-C601-2235B35BAB55}"/>
              </a:ext>
            </a:extLst>
          </p:cNvPr>
          <p:cNvSpPr txBox="1"/>
          <p:nvPr/>
        </p:nvSpPr>
        <p:spPr>
          <a:xfrm>
            <a:off x="4572000" y="1680621"/>
            <a:ext cx="3835816" cy="4521771"/>
          </a:xfrm>
          <a:prstGeom prst="rect">
            <a:avLst/>
          </a:prstGeom>
          <a:noFill/>
        </p:spPr>
        <p:txBody>
          <a:bodyPr wrap="square" rtlCol="0" anchor="ctr" anchorCtr="0">
            <a:noAutofit/>
          </a:bodyPr>
          <a:lstStyle/>
          <a:p>
            <a:pPr algn="l">
              <a:lnSpc>
                <a:spcPct val="20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哈希函数概述</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20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2.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哈希函数安全性</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l">
              <a:lnSpc>
                <a:spcPct val="20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3.  MD5</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 算法</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l">
              <a:lnSpc>
                <a:spcPct val="20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4.  SHA-1</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 算法</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nSpc>
                <a:spcPct val="20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5.  SM3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算法</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extLst>
      <p:ext uri="{BB962C8B-B14F-4D97-AF65-F5344CB8AC3E}">
        <p14:creationId xmlns:p14="http://schemas.microsoft.com/office/powerpoint/2010/main" val="1319098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692378F-8B11-CE72-5C26-40FA7E6A6B1B}"/>
              </a:ext>
            </a:extLst>
          </p:cNvPr>
          <p:cNvSpPr>
            <a:spLocks noGrp="1"/>
          </p:cNvSpPr>
          <p:nvPr>
            <p:ph type="sldNum" sz="quarter" idx="12"/>
          </p:nvPr>
        </p:nvSpPr>
        <p:spPr/>
        <p:txBody>
          <a:bodyPr/>
          <a:lstStyle/>
          <a:p>
            <a:fld id="{4DBDE2CB-4801-494F-A0A4-D49D70804842}" type="slidenum">
              <a:rPr lang="zh-CN" altLang="en-US" smtClean="0"/>
              <a:t>3</a:t>
            </a:fld>
            <a:endParaRPr lang="zh-CN" altLang="en-US"/>
          </a:p>
        </p:txBody>
      </p:sp>
      <p:sp>
        <p:nvSpPr>
          <p:cNvPr id="4" name="Rectangle 3">
            <a:extLst>
              <a:ext uri="{FF2B5EF4-FFF2-40B4-BE49-F238E27FC236}">
                <a16:creationId xmlns:a16="http://schemas.microsoft.com/office/drawing/2014/main" id="{0EF84D84-DFF4-FD67-542C-EFDE20B54520}"/>
              </a:ext>
            </a:extLst>
          </p:cNvPr>
          <p:cNvSpPr txBox="1">
            <a:spLocks noChangeArrowheads="1"/>
          </p:cNvSpPr>
          <p:nvPr/>
        </p:nvSpPr>
        <p:spPr>
          <a:xfrm>
            <a:off x="314004" y="1916113"/>
            <a:ext cx="8506468" cy="44656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000">
                <a:solidFill>
                  <a:srgbClr val="000000"/>
                </a:solidFill>
                <a:latin typeface="+mn-ea"/>
              </a:rPr>
              <a:t>在公钥密码的内容中，已经介绍了“单向函数”的概念。而杂凑函数是一类特殊的单向函数。</a:t>
            </a:r>
          </a:p>
          <a:p>
            <a:pPr>
              <a:buFont typeface="Wingdings" panose="05000000000000000000" pitchFamily="2" charset="2"/>
              <a:buNone/>
            </a:pPr>
            <a:r>
              <a:rPr lang="zh-CN" altLang="en-US" sz="2000">
                <a:latin typeface="+mn-ea"/>
              </a:rPr>
              <a:t>设数据文件是任意长度的比特串</a:t>
            </a:r>
            <a:r>
              <a:rPr lang="en-US" altLang="zh-CN" sz="2000" i="1">
                <a:latin typeface="+mn-ea"/>
              </a:rPr>
              <a:t>x</a:t>
            </a:r>
            <a:r>
              <a:rPr lang="en-US" altLang="zh-CN" sz="2000">
                <a:latin typeface="+mn-ea"/>
              </a:rPr>
              <a:t> </a:t>
            </a:r>
            <a:r>
              <a:rPr lang="zh-CN" altLang="en-US" sz="2000">
                <a:latin typeface="+mn-ea"/>
              </a:rPr>
              <a:t>。在密码应用中，希望有这样的函数 </a:t>
            </a:r>
            <a:r>
              <a:rPr lang="en-US" altLang="zh-CN" sz="2000" i="1">
                <a:latin typeface="+mn-ea"/>
              </a:rPr>
              <a:t>y</a:t>
            </a:r>
            <a:r>
              <a:rPr lang="en-US" altLang="zh-CN" sz="2000">
                <a:latin typeface="+mn-ea"/>
              </a:rPr>
              <a:t>=</a:t>
            </a:r>
            <a:r>
              <a:rPr lang="en-US" altLang="zh-CN" sz="2000" i="1">
                <a:latin typeface="+mn-ea"/>
              </a:rPr>
              <a:t>H</a:t>
            </a:r>
            <a:r>
              <a:rPr lang="en-US" altLang="zh-CN" sz="2000">
                <a:latin typeface="+mn-ea"/>
              </a:rPr>
              <a:t>(</a:t>
            </a:r>
            <a:r>
              <a:rPr lang="en-US" altLang="zh-CN" sz="2000" i="1">
                <a:latin typeface="+mn-ea"/>
              </a:rPr>
              <a:t>x</a:t>
            </a:r>
            <a:r>
              <a:rPr lang="en-US" altLang="zh-CN" sz="2000">
                <a:latin typeface="+mn-ea"/>
              </a:rPr>
              <a:t>)</a:t>
            </a:r>
            <a:r>
              <a:rPr lang="zh-CN" altLang="en-US" sz="2000">
                <a:latin typeface="+mn-ea"/>
              </a:rPr>
              <a:t>，满足</a:t>
            </a:r>
          </a:p>
          <a:p>
            <a:pPr>
              <a:buFont typeface="Wingdings" panose="05000000000000000000" pitchFamily="2" charset="2"/>
              <a:buNone/>
            </a:pPr>
            <a:r>
              <a:rPr lang="zh-CN" altLang="en-US" sz="2000">
                <a:latin typeface="+mn-ea"/>
              </a:rPr>
              <a:t>（</a:t>
            </a:r>
            <a:r>
              <a:rPr lang="en-US" altLang="zh-CN" sz="2000">
                <a:latin typeface="+mn-ea"/>
              </a:rPr>
              <a:t>1</a:t>
            </a:r>
            <a:r>
              <a:rPr lang="zh-CN" altLang="en-US" sz="2000">
                <a:latin typeface="+mn-ea"/>
              </a:rPr>
              <a:t>）将</a:t>
            </a:r>
            <a:r>
              <a:rPr lang="en-US" altLang="zh-CN" sz="2000" i="1">
                <a:latin typeface="+mn-ea"/>
              </a:rPr>
              <a:t>x</a:t>
            </a:r>
            <a:r>
              <a:rPr lang="zh-CN" altLang="en-US" sz="2000">
                <a:latin typeface="+mn-ea"/>
              </a:rPr>
              <a:t>压缩成为固定长度的比特串</a:t>
            </a:r>
            <a:r>
              <a:rPr lang="en-US" altLang="zh-CN" sz="2000" i="1">
                <a:latin typeface="+mn-ea"/>
              </a:rPr>
              <a:t>y</a:t>
            </a:r>
            <a:r>
              <a:rPr lang="zh-CN" altLang="en-US" sz="2000">
                <a:latin typeface="+mn-ea"/>
              </a:rPr>
              <a:t>。</a:t>
            </a:r>
          </a:p>
          <a:p>
            <a:pPr>
              <a:buFont typeface="Wingdings" panose="05000000000000000000" pitchFamily="2" charset="2"/>
              <a:buNone/>
            </a:pPr>
            <a:r>
              <a:rPr lang="zh-CN" altLang="en-US" sz="2000">
                <a:latin typeface="+mn-ea"/>
              </a:rPr>
              <a:t>（</a:t>
            </a:r>
            <a:r>
              <a:rPr lang="en-US" altLang="zh-CN" sz="2000">
                <a:latin typeface="+mn-ea"/>
              </a:rPr>
              <a:t>2</a:t>
            </a:r>
            <a:r>
              <a:rPr lang="zh-CN" altLang="en-US" sz="2000">
                <a:latin typeface="+mn-ea"/>
              </a:rPr>
              <a:t>）不同的</a:t>
            </a:r>
            <a:r>
              <a:rPr lang="en-US" altLang="zh-CN" sz="2000" i="1">
                <a:latin typeface="+mn-ea"/>
              </a:rPr>
              <a:t>x</a:t>
            </a:r>
            <a:r>
              <a:rPr lang="zh-CN" altLang="en-US" sz="2000">
                <a:latin typeface="+mn-ea"/>
              </a:rPr>
              <a:t>一定要生成不同的</a:t>
            </a:r>
            <a:r>
              <a:rPr lang="en-US" altLang="zh-CN" sz="2000" i="1">
                <a:latin typeface="+mn-ea"/>
              </a:rPr>
              <a:t>y</a:t>
            </a:r>
            <a:r>
              <a:rPr lang="zh-CN" altLang="en-US" sz="2000">
                <a:latin typeface="+mn-ea"/>
              </a:rPr>
              <a:t>。</a:t>
            </a:r>
          </a:p>
          <a:p>
            <a:pPr>
              <a:buFont typeface="Wingdings" panose="05000000000000000000" pitchFamily="2" charset="2"/>
              <a:buNone/>
            </a:pPr>
            <a:r>
              <a:rPr lang="zh-CN" altLang="en-US" sz="2000">
                <a:latin typeface="+mn-ea"/>
              </a:rPr>
              <a:t>（</a:t>
            </a:r>
            <a:r>
              <a:rPr lang="en-US" altLang="zh-CN" sz="2000">
                <a:latin typeface="+mn-ea"/>
              </a:rPr>
              <a:t>3</a:t>
            </a:r>
            <a:r>
              <a:rPr lang="zh-CN" altLang="en-US" sz="2000">
                <a:latin typeface="+mn-ea"/>
              </a:rPr>
              <a:t>）由</a:t>
            </a:r>
            <a:r>
              <a:rPr lang="en-US" altLang="zh-CN" sz="2000" i="1">
                <a:latin typeface="+mn-ea"/>
              </a:rPr>
              <a:t>y</a:t>
            </a:r>
            <a:r>
              <a:rPr lang="zh-CN" altLang="en-US" sz="2000">
                <a:latin typeface="+mn-ea"/>
              </a:rPr>
              <a:t>的值无法倒算</a:t>
            </a:r>
            <a:r>
              <a:rPr lang="en-US" altLang="zh-CN" sz="2000" i="1">
                <a:latin typeface="+mn-ea"/>
              </a:rPr>
              <a:t>x</a:t>
            </a:r>
            <a:r>
              <a:rPr lang="zh-CN" altLang="en-US" sz="2000">
                <a:latin typeface="+mn-ea"/>
              </a:rPr>
              <a:t>的值。</a:t>
            </a:r>
          </a:p>
          <a:p>
            <a:pPr>
              <a:buFont typeface="Wingdings" panose="05000000000000000000" pitchFamily="2" charset="2"/>
              <a:buNone/>
            </a:pPr>
            <a:r>
              <a:rPr lang="zh-CN" altLang="en-US" sz="2000">
                <a:latin typeface="+mn-ea"/>
              </a:rPr>
              <a:t>（这就是说，希望</a:t>
            </a:r>
            <a:r>
              <a:rPr lang="en-US" altLang="zh-CN" sz="2000" i="1">
                <a:latin typeface="+mn-ea"/>
              </a:rPr>
              <a:t>y</a:t>
            </a:r>
            <a:r>
              <a:rPr lang="zh-CN" altLang="en-US" sz="2000">
                <a:latin typeface="+mn-ea"/>
              </a:rPr>
              <a:t>的作用相当于</a:t>
            </a:r>
            <a:r>
              <a:rPr lang="en-US" altLang="zh-CN" sz="2000" i="1">
                <a:latin typeface="+mn-ea"/>
              </a:rPr>
              <a:t>x</a:t>
            </a:r>
            <a:r>
              <a:rPr lang="en-US" altLang="zh-CN" sz="2000">
                <a:latin typeface="+mn-ea"/>
              </a:rPr>
              <a:t> </a:t>
            </a:r>
            <a:r>
              <a:rPr lang="zh-CN" altLang="en-US" sz="2000">
                <a:latin typeface="+mn-ea"/>
              </a:rPr>
              <a:t>的“</a:t>
            </a:r>
            <a:r>
              <a:rPr lang="zh-CN" altLang="en-US" sz="2000" b="1" u="sng">
                <a:latin typeface="+mn-ea"/>
              </a:rPr>
              <a:t>身份识别符号</a:t>
            </a:r>
            <a:r>
              <a:rPr lang="zh-CN" altLang="en-US" sz="2000">
                <a:latin typeface="+mn-ea"/>
              </a:rPr>
              <a:t>”，或者“摘要”。比如人的指纹、</a:t>
            </a:r>
            <a:r>
              <a:rPr lang="en-US" altLang="zh-CN" sz="2000">
                <a:latin typeface="+mn-ea"/>
              </a:rPr>
              <a:t>DNA</a:t>
            </a:r>
            <a:r>
              <a:rPr lang="zh-CN" altLang="en-US" sz="2000">
                <a:latin typeface="+mn-ea"/>
              </a:rPr>
              <a:t>、虹膜等。）</a:t>
            </a:r>
            <a:endParaRPr lang="zh-CN" altLang="en-US" sz="2000" dirty="0">
              <a:latin typeface="+mn-ea"/>
            </a:endParaRPr>
          </a:p>
        </p:txBody>
      </p:sp>
      <p:sp>
        <p:nvSpPr>
          <p:cNvPr id="5" name="标题 1">
            <a:extLst>
              <a:ext uri="{FF2B5EF4-FFF2-40B4-BE49-F238E27FC236}">
                <a16:creationId xmlns:a16="http://schemas.microsoft.com/office/drawing/2014/main" id="{DBBC435C-1EAC-934E-349B-CD790146DA65}"/>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Tree>
    <p:extLst>
      <p:ext uri="{BB962C8B-B14F-4D97-AF65-F5344CB8AC3E}">
        <p14:creationId xmlns:p14="http://schemas.microsoft.com/office/powerpoint/2010/main" val="313477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71AE88-B8BB-1BA2-415C-D6034B2BCDAD}"/>
              </a:ext>
            </a:extLst>
          </p:cNvPr>
          <p:cNvSpPr>
            <a:spLocks noGrp="1"/>
          </p:cNvSpPr>
          <p:nvPr>
            <p:ph type="sldNum" sz="quarter" idx="12"/>
          </p:nvPr>
        </p:nvSpPr>
        <p:spPr/>
        <p:txBody>
          <a:bodyPr/>
          <a:lstStyle/>
          <a:p>
            <a:fld id="{4DBDE2CB-4801-494F-A0A4-D49D70804842}" type="slidenum">
              <a:rPr lang="zh-CN" altLang="en-US" smtClean="0"/>
              <a:t>4</a:t>
            </a:fld>
            <a:endParaRPr lang="zh-CN" altLang="en-US"/>
          </a:p>
        </p:txBody>
      </p:sp>
      <p:sp>
        <p:nvSpPr>
          <p:cNvPr id="4" name="Rectangle 3">
            <a:extLst>
              <a:ext uri="{FF2B5EF4-FFF2-40B4-BE49-F238E27FC236}">
                <a16:creationId xmlns:a16="http://schemas.microsoft.com/office/drawing/2014/main" id="{DD12E64D-CCAF-7FEC-5441-418DE9EDF17C}"/>
              </a:ext>
            </a:extLst>
          </p:cNvPr>
          <p:cNvSpPr txBox="1">
            <a:spLocks noChangeArrowheads="1"/>
          </p:cNvSpPr>
          <p:nvPr/>
        </p:nvSpPr>
        <p:spPr>
          <a:xfrm>
            <a:off x="323529" y="1552428"/>
            <a:ext cx="8496944" cy="446563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anose="05000000000000000000" pitchFamily="2" charset="2"/>
              <a:buNone/>
            </a:pPr>
            <a:r>
              <a:rPr lang="zh-CN" altLang="en-US" b="1">
                <a:latin typeface="Times New Roman" panose="02020603050405020304" pitchFamily="18" charset="0"/>
                <a:ea typeface="黑体" panose="02010609060101010101" pitchFamily="49" charset="-122"/>
              </a:rPr>
              <a:t>一个注解</a:t>
            </a:r>
          </a:p>
          <a:p>
            <a:pPr>
              <a:buFont typeface="Wingdings" panose="05000000000000000000" pitchFamily="2" charset="2"/>
              <a:buNone/>
            </a:pPr>
            <a:r>
              <a:rPr lang="zh-CN" altLang="en-US" sz="2400">
                <a:latin typeface="Times New Roman" panose="02020603050405020304" pitchFamily="18" charset="0"/>
              </a:rPr>
              <a:t>对函数</a:t>
            </a:r>
            <a:r>
              <a:rPr lang="en-US" altLang="zh-CN" sz="2400" i="1">
                <a:latin typeface="Times New Roman" panose="02020603050405020304" pitchFamily="18" charset="0"/>
              </a:rPr>
              <a:t>y</a:t>
            </a:r>
            <a:r>
              <a:rPr lang="en-US" altLang="zh-CN"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x</a:t>
            </a:r>
            <a:r>
              <a:rPr lang="en-US" altLang="zh-CN" sz="2400">
                <a:latin typeface="Times New Roman" panose="02020603050405020304" pitchFamily="18" charset="0"/>
              </a:rPr>
              <a:t>)</a:t>
            </a:r>
            <a:r>
              <a:rPr lang="zh-CN" altLang="en-US" sz="2400">
                <a:latin typeface="Times New Roman" panose="02020603050405020304" pitchFamily="18" charset="0"/>
              </a:rPr>
              <a:t>的前两条希望是</a:t>
            </a:r>
            <a:r>
              <a:rPr lang="zh-CN" altLang="en-US" sz="2400" u="sng">
                <a:solidFill>
                  <a:srgbClr val="FF0000"/>
                </a:solidFill>
                <a:latin typeface="Times New Roman" panose="02020603050405020304" pitchFamily="18" charset="0"/>
              </a:rPr>
              <a:t>互不相容</a:t>
            </a:r>
            <a:r>
              <a:rPr lang="zh-CN" altLang="en-US" sz="2400">
                <a:latin typeface="Times New Roman" panose="02020603050405020304" pitchFamily="18" charset="0"/>
              </a:rPr>
              <a:t>的。</a:t>
            </a:r>
          </a:p>
          <a:p>
            <a:pPr>
              <a:buFont typeface="Wingdings" panose="05000000000000000000" pitchFamily="2" charset="2"/>
              <a:buNone/>
            </a:pPr>
            <a:r>
              <a:rPr lang="zh-CN" altLang="en-US" sz="2400">
                <a:latin typeface="Times New Roman" panose="02020603050405020304" pitchFamily="18" charset="0"/>
              </a:rPr>
              <a:t>这就是说，在要求“将任意长度的比特串</a:t>
            </a:r>
            <a:r>
              <a:rPr lang="en-US" altLang="zh-CN" sz="2400" i="1">
                <a:latin typeface="Times New Roman" panose="02020603050405020304" pitchFamily="18" charset="0"/>
              </a:rPr>
              <a:t>x</a:t>
            </a:r>
            <a:r>
              <a:rPr lang="zh-CN" altLang="en-US" sz="2400">
                <a:latin typeface="Times New Roman" panose="02020603050405020304" pitchFamily="18" charset="0"/>
              </a:rPr>
              <a:t>压缩成为固定长度的比特串</a:t>
            </a:r>
            <a:r>
              <a:rPr lang="en-US" altLang="zh-CN" sz="2400" i="1">
                <a:latin typeface="Times New Roman" panose="02020603050405020304" pitchFamily="18" charset="0"/>
              </a:rPr>
              <a:t>y</a:t>
            </a:r>
            <a:r>
              <a:rPr lang="en-US" altLang="zh-CN" sz="2400">
                <a:latin typeface="Times New Roman" panose="02020603050405020304" pitchFamily="18" charset="0"/>
              </a:rPr>
              <a:t>”</a:t>
            </a:r>
            <a:r>
              <a:rPr lang="zh-CN" altLang="en-US" sz="2400">
                <a:latin typeface="Times New Roman" panose="02020603050405020304" pitchFamily="18" charset="0"/>
              </a:rPr>
              <a:t>时，无法做到“不同的</a:t>
            </a:r>
            <a:r>
              <a:rPr lang="en-US" altLang="zh-CN" sz="2400" i="1">
                <a:latin typeface="Times New Roman" panose="02020603050405020304" pitchFamily="18" charset="0"/>
              </a:rPr>
              <a:t>x</a:t>
            </a:r>
            <a:r>
              <a:rPr lang="zh-CN" altLang="en-US" sz="2400">
                <a:latin typeface="Times New Roman" panose="02020603050405020304" pitchFamily="18" charset="0"/>
              </a:rPr>
              <a:t>生成不同的</a:t>
            </a:r>
            <a:r>
              <a:rPr lang="en-US" altLang="zh-CN" sz="2400" i="1">
                <a:latin typeface="Times New Roman" panose="02020603050405020304" pitchFamily="18" charset="0"/>
              </a:rPr>
              <a:t>y</a:t>
            </a:r>
            <a:r>
              <a:rPr lang="en-US" altLang="zh-CN" sz="2400">
                <a:latin typeface="Times New Roman" panose="02020603050405020304" pitchFamily="18" charset="0"/>
              </a:rPr>
              <a:t>”</a:t>
            </a:r>
            <a:r>
              <a:rPr lang="zh-CN" altLang="en-US" sz="2400">
                <a:latin typeface="Times New Roman" panose="02020603050405020304" pitchFamily="18" charset="0"/>
              </a:rPr>
              <a:t>。</a:t>
            </a:r>
          </a:p>
          <a:p>
            <a:pPr>
              <a:buFont typeface="Wingdings" panose="05000000000000000000" pitchFamily="2" charset="2"/>
              <a:buNone/>
            </a:pPr>
            <a:r>
              <a:rPr lang="zh-CN" altLang="en-US" sz="2400">
                <a:latin typeface="Times New Roman" panose="02020603050405020304" pitchFamily="18" charset="0"/>
              </a:rPr>
              <a:t> </a:t>
            </a:r>
            <a:r>
              <a:rPr lang="zh-CN" altLang="en-US" sz="2000">
                <a:solidFill>
                  <a:schemeClr val="folHlink"/>
                </a:solidFill>
                <a:latin typeface="Times New Roman" panose="02020603050405020304" pitchFamily="18" charset="0"/>
              </a:rPr>
              <a:t>（</a:t>
            </a:r>
            <a:r>
              <a:rPr lang="zh-CN" altLang="en-US" sz="2000">
                <a:solidFill>
                  <a:srgbClr val="FF0000"/>
                </a:solidFill>
                <a:latin typeface="Times New Roman" panose="02020603050405020304" pitchFamily="18" charset="0"/>
              </a:rPr>
              <a:t>散列编码是原始数据文件的压缩，而不是带格式的文件的压缩，如</a:t>
            </a:r>
            <a:r>
              <a:rPr lang="en-US" altLang="zh-CN" sz="2000">
                <a:solidFill>
                  <a:srgbClr val="FF0000"/>
                </a:solidFill>
                <a:latin typeface="Times New Roman" panose="02020603050405020304" pitchFamily="18" charset="0"/>
              </a:rPr>
              <a:t>ZIP</a:t>
            </a:r>
            <a:r>
              <a:rPr lang="zh-CN" altLang="en-US" sz="2000">
                <a:solidFill>
                  <a:srgbClr val="FF0000"/>
                </a:solidFill>
                <a:latin typeface="Times New Roman" panose="02020603050405020304" pitchFamily="18" charset="0"/>
              </a:rPr>
              <a:t>等</a:t>
            </a:r>
            <a:r>
              <a:rPr lang="zh-CN" altLang="en-US" sz="2000">
                <a:solidFill>
                  <a:schemeClr val="folHlink"/>
                </a:solidFill>
                <a:latin typeface="Times New Roman" panose="02020603050405020304" pitchFamily="18" charset="0"/>
              </a:rPr>
              <a:t>）</a:t>
            </a:r>
            <a:endParaRPr lang="zh-CN" altLang="en-US" sz="2400">
              <a:solidFill>
                <a:schemeClr val="folHlink"/>
              </a:solidFill>
              <a:latin typeface="Times New Roman" panose="02020603050405020304" pitchFamily="18" charset="0"/>
            </a:endParaRPr>
          </a:p>
          <a:p>
            <a:pPr>
              <a:buFont typeface="Wingdings" panose="05000000000000000000" pitchFamily="2" charset="2"/>
              <a:buNone/>
            </a:pPr>
            <a:r>
              <a:rPr lang="zh-CN" altLang="en-US" sz="2400">
                <a:latin typeface="Times New Roman" panose="02020603050405020304" pitchFamily="18" charset="0"/>
              </a:rPr>
              <a:t>例如： </a:t>
            </a:r>
            <a:r>
              <a:rPr lang="en-US" altLang="zh-CN" sz="2400" i="1">
                <a:latin typeface="Times New Roman" panose="02020603050405020304" pitchFamily="18" charset="0"/>
              </a:rPr>
              <a:t>y</a:t>
            </a:r>
            <a:r>
              <a:rPr lang="en-US" altLang="zh-CN"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x</a:t>
            </a:r>
            <a:r>
              <a:rPr lang="en-US" altLang="zh-CN" sz="2400">
                <a:latin typeface="Times New Roman" panose="02020603050405020304" pitchFamily="18" charset="0"/>
              </a:rPr>
              <a:t>)</a:t>
            </a:r>
            <a:r>
              <a:rPr lang="zh-CN" altLang="en-US" sz="2400">
                <a:latin typeface="Times New Roman" panose="02020603050405020304" pitchFamily="18" charset="0"/>
              </a:rPr>
              <a:t>，其中设</a:t>
            </a:r>
            <a:r>
              <a:rPr lang="en-US" altLang="zh-CN" sz="2400" i="1">
                <a:latin typeface="Times New Roman" panose="02020603050405020304" pitchFamily="18" charset="0"/>
              </a:rPr>
              <a:t>x</a:t>
            </a:r>
            <a:r>
              <a:rPr lang="zh-CN" altLang="en-US" sz="2400">
                <a:latin typeface="Times New Roman" panose="02020603050405020304" pitchFamily="18" charset="0"/>
              </a:rPr>
              <a:t>的长度在</a:t>
            </a:r>
            <a:r>
              <a:rPr lang="en-US" altLang="zh-CN" sz="2400">
                <a:latin typeface="Times New Roman" panose="02020603050405020304" pitchFamily="18" charset="0"/>
              </a:rPr>
              <a:t>128</a:t>
            </a:r>
            <a:r>
              <a:rPr lang="zh-CN" altLang="en-US" sz="2400">
                <a:latin typeface="Times New Roman" panose="02020603050405020304" pitchFamily="18" charset="0"/>
              </a:rPr>
              <a:t>到</a:t>
            </a:r>
            <a:r>
              <a:rPr lang="en-US" altLang="zh-CN" sz="2400">
                <a:latin typeface="Times New Roman" panose="02020603050405020304" pitchFamily="18" charset="0"/>
              </a:rPr>
              <a:t>256</a:t>
            </a:r>
            <a:r>
              <a:rPr lang="zh-CN" altLang="en-US" sz="2400">
                <a:latin typeface="Times New Roman" panose="02020603050405020304" pitchFamily="18" charset="0"/>
              </a:rPr>
              <a:t>之间；设</a:t>
            </a:r>
            <a:r>
              <a:rPr lang="en-US" altLang="zh-CN" sz="2400" i="1">
                <a:latin typeface="Times New Roman" panose="02020603050405020304" pitchFamily="18" charset="0"/>
              </a:rPr>
              <a:t>y</a:t>
            </a:r>
            <a:r>
              <a:rPr lang="zh-CN" altLang="en-US" sz="2400">
                <a:latin typeface="Times New Roman" panose="02020603050405020304" pitchFamily="18" charset="0"/>
              </a:rPr>
              <a:t>的固定长度为</a:t>
            </a:r>
            <a:r>
              <a:rPr lang="en-US" altLang="zh-CN" sz="2400">
                <a:latin typeface="Times New Roman" panose="02020603050405020304" pitchFamily="18" charset="0"/>
              </a:rPr>
              <a:t>128</a:t>
            </a:r>
            <a:r>
              <a:rPr lang="zh-CN" altLang="en-US" sz="2400">
                <a:latin typeface="Times New Roman" panose="02020603050405020304" pitchFamily="18" charset="0"/>
              </a:rPr>
              <a:t>。</a:t>
            </a:r>
          </a:p>
          <a:p>
            <a:pPr>
              <a:buFont typeface="Wingdings" panose="05000000000000000000" pitchFamily="2" charset="2"/>
              <a:buNone/>
            </a:pPr>
            <a:r>
              <a:rPr lang="zh-CN" altLang="en-US" sz="2400">
                <a:latin typeface="Times New Roman" panose="02020603050405020304" pitchFamily="18" charset="0"/>
              </a:rPr>
              <a:t>（在这里， 比特串</a:t>
            </a:r>
            <a:r>
              <a:rPr lang="en-US" altLang="zh-CN" sz="2400" i="1">
                <a:latin typeface="Times New Roman" panose="02020603050405020304" pitchFamily="18" charset="0"/>
              </a:rPr>
              <a:t>x</a:t>
            </a:r>
            <a:r>
              <a:rPr lang="zh-CN" altLang="en-US" sz="2400">
                <a:latin typeface="Times New Roman" panose="02020603050405020304" pitchFamily="18" charset="0"/>
              </a:rPr>
              <a:t>是数据文件，必须假设它“可能是任何一个长度在</a:t>
            </a:r>
            <a:r>
              <a:rPr lang="en-US" altLang="zh-CN" sz="2400">
                <a:latin typeface="Times New Roman" panose="02020603050405020304" pitchFamily="18" charset="0"/>
              </a:rPr>
              <a:t>128</a:t>
            </a:r>
            <a:r>
              <a:rPr lang="zh-CN" altLang="en-US" sz="2400">
                <a:latin typeface="Times New Roman" panose="02020603050405020304" pitchFamily="18" charset="0"/>
              </a:rPr>
              <a:t>到</a:t>
            </a:r>
            <a:r>
              <a:rPr lang="en-US" altLang="zh-CN" sz="2400">
                <a:latin typeface="Times New Roman" panose="02020603050405020304" pitchFamily="18" charset="0"/>
              </a:rPr>
              <a:t>256</a:t>
            </a:r>
            <a:r>
              <a:rPr lang="zh-CN" altLang="en-US" sz="2400">
                <a:latin typeface="Times New Roman" panose="02020603050405020304" pitchFamily="18" charset="0"/>
              </a:rPr>
              <a:t>之间的比特串”。 ）</a:t>
            </a:r>
          </a:p>
          <a:p>
            <a:pPr>
              <a:buFont typeface="Wingdings" panose="05000000000000000000" pitchFamily="2" charset="2"/>
              <a:buNone/>
            </a:pPr>
            <a:r>
              <a:rPr lang="zh-CN" altLang="en-US" sz="2400">
                <a:latin typeface="Times New Roman" panose="02020603050405020304" pitchFamily="18" charset="0"/>
              </a:rPr>
              <a:t>一共有</a:t>
            </a:r>
            <a:r>
              <a:rPr lang="en-US" altLang="zh-CN" sz="2400">
                <a:latin typeface="Times New Roman" panose="02020603050405020304" pitchFamily="18" charset="0"/>
              </a:rPr>
              <a:t>2</a:t>
            </a:r>
            <a:r>
              <a:rPr lang="en-US" altLang="zh-CN" sz="2400" baseline="30000">
                <a:latin typeface="Times New Roman" panose="02020603050405020304" pitchFamily="18" charset="0"/>
              </a:rPr>
              <a:t>128</a:t>
            </a:r>
            <a:r>
              <a:rPr lang="en-US" altLang="zh-CN" sz="2400">
                <a:latin typeface="Times New Roman" panose="02020603050405020304" pitchFamily="18" charset="0"/>
              </a:rPr>
              <a:t>+2</a:t>
            </a:r>
            <a:r>
              <a:rPr lang="en-US" altLang="zh-CN" sz="2400" baseline="30000">
                <a:latin typeface="Times New Roman" panose="02020603050405020304" pitchFamily="18" charset="0"/>
              </a:rPr>
              <a:t>129</a:t>
            </a:r>
            <a:r>
              <a:rPr lang="en-US" altLang="zh-CN" sz="2400">
                <a:latin typeface="Times New Roman" panose="02020603050405020304" pitchFamily="18" charset="0"/>
              </a:rPr>
              <a:t>+2</a:t>
            </a:r>
            <a:r>
              <a:rPr lang="en-US" altLang="zh-CN" sz="2400" baseline="30000">
                <a:latin typeface="Times New Roman" panose="02020603050405020304" pitchFamily="18" charset="0"/>
              </a:rPr>
              <a:t>130</a:t>
            </a:r>
            <a:r>
              <a:rPr lang="en-US" altLang="zh-CN" sz="2400">
                <a:latin typeface="Times New Roman" panose="02020603050405020304" pitchFamily="18" charset="0"/>
              </a:rPr>
              <a:t>+…+ 2</a:t>
            </a:r>
            <a:r>
              <a:rPr lang="en-US" altLang="zh-CN" sz="2400" baseline="30000">
                <a:latin typeface="Times New Roman" panose="02020603050405020304" pitchFamily="18" charset="0"/>
              </a:rPr>
              <a:t>256</a:t>
            </a:r>
            <a:r>
              <a:rPr lang="zh-CN" altLang="en-US" sz="2400">
                <a:latin typeface="Times New Roman" panose="02020603050405020304" pitchFamily="18" charset="0"/>
              </a:rPr>
              <a:t>个不同的</a:t>
            </a:r>
            <a:r>
              <a:rPr lang="en-US" altLang="zh-CN" sz="2400" i="1">
                <a:latin typeface="Times New Roman" panose="02020603050405020304" pitchFamily="18" charset="0"/>
              </a:rPr>
              <a:t>x</a:t>
            </a:r>
            <a:r>
              <a:rPr lang="zh-CN" altLang="en-US" sz="2400">
                <a:latin typeface="Times New Roman" panose="02020603050405020304" pitchFamily="18" charset="0"/>
              </a:rPr>
              <a:t>。一共有</a:t>
            </a:r>
            <a:r>
              <a:rPr lang="en-US" altLang="zh-CN" sz="2400">
                <a:latin typeface="Times New Roman" panose="02020603050405020304" pitchFamily="18" charset="0"/>
              </a:rPr>
              <a:t>2</a:t>
            </a:r>
            <a:r>
              <a:rPr lang="en-US" altLang="zh-CN" sz="2400" baseline="30000">
                <a:latin typeface="Times New Roman" panose="02020603050405020304" pitchFamily="18" charset="0"/>
              </a:rPr>
              <a:t>128</a:t>
            </a:r>
            <a:r>
              <a:rPr lang="zh-CN" altLang="en-US" sz="2400">
                <a:latin typeface="Times New Roman" panose="02020603050405020304" pitchFamily="18" charset="0"/>
              </a:rPr>
              <a:t>个不同的</a:t>
            </a:r>
            <a:r>
              <a:rPr lang="en-US" altLang="zh-CN" sz="2400" i="1">
                <a:latin typeface="Times New Roman" panose="02020603050405020304" pitchFamily="18" charset="0"/>
              </a:rPr>
              <a:t>y</a:t>
            </a:r>
            <a:r>
              <a:rPr lang="zh-CN" altLang="en-US" sz="2400">
                <a:latin typeface="Times New Roman" panose="02020603050405020304" pitchFamily="18" charset="0"/>
              </a:rPr>
              <a:t>。</a:t>
            </a:r>
          </a:p>
          <a:p>
            <a:pPr>
              <a:buFont typeface="Wingdings" panose="05000000000000000000" pitchFamily="2" charset="2"/>
              <a:buNone/>
            </a:pPr>
            <a:r>
              <a:rPr lang="en-US" altLang="zh-CN" sz="2400" i="1">
                <a:latin typeface="Times New Roman" panose="02020603050405020304" pitchFamily="18" charset="0"/>
              </a:rPr>
              <a:t>x</a:t>
            </a:r>
            <a:r>
              <a:rPr lang="zh-CN" altLang="en-US" sz="2400">
                <a:latin typeface="Times New Roman" panose="02020603050405020304" pitchFamily="18" charset="0"/>
              </a:rPr>
              <a:t>的个数多于</a:t>
            </a:r>
            <a:r>
              <a:rPr lang="en-US" altLang="zh-CN" sz="2400" i="1">
                <a:latin typeface="Times New Roman" panose="02020603050405020304" pitchFamily="18" charset="0"/>
              </a:rPr>
              <a:t>y</a:t>
            </a:r>
            <a:r>
              <a:rPr lang="zh-CN" altLang="en-US" sz="2400">
                <a:latin typeface="Times New Roman" panose="02020603050405020304" pitchFamily="18" charset="0"/>
              </a:rPr>
              <a:t>的个数，</a:t>
            </a:r>
            <a:r>
              <a:rPr lang="zh-CN" altLang="en-US" sz="2400" b="1">
                <a:solidFill>
                  <a:srgbClr val="FF0000"/>
                </a:solidFill>
                <a:latin typeface="Times New Roman" panose="02020603050405020304" pitchFamily="18" charset="0"/>
              </a:rPr>
              <a:t>必然有不同的</a:t>
            </a:r>
            <a:r>
              <a:rPr lang="en-US" altLang="zh-CN" sz="2400" b="1" i="1">
                <a:solidFill>
                  <a:srgbClr val="FF0000"/>
                </a:solidFill>
                <a:latin typeface="Times New Roman" panose="02020603050405020304" pitchFamily="18" charset="0"/>
              </a:rPr>
              <a:t>x</a:t>
            </a:r>
            <a:r>
              <a:rPr lang="zh-CN" altLang="en-US" sz="2400" b="1">
                <a:solidFill>
                  <a:srgbClr val="FF0000"/>
                </a:solidFill>
                <a:latin typeface="Times New Roman" panose="02020603050405020304" pitchFamily="18" charset="0"/>
              </a:rPr>
              <a:t>压缩成相同的</a:t>
            </a:r>
            <a:r>
              <a:rPr lang="en-US" altLang="zh-CN" sz="2400" b="1" i="1">
                <a:solidFill>
                  <a:srgbClr val="FF0000"/>
                </a:solidFill>
                <a:latin typeface="Times New Roman" panose="02020603050405020304" pitchFamily="18" charset="0"/>
              </a:rPr>
              <a:t>y</a:t>
            </a:r>
            <a:r>
              <a:rPr lang="zh-CN" altLang="en-US" sz="2400">
                <a:latin typeface="Times New Roman" panose="02020603050405020304" pitchFamily="18" charset="0"/>
              </a:rPr>
              <a:t>。</a:t>
            </a:r>
            <a:endParaRPr lang="zh-CN" altLang="en-US" sz="2000" dirty="0">
              <a:latin typeface="Times New Roman" panose="02020603050405020304" pitchFamily="18" charset="0"/>
            </a:endParaRPr>
          </a:p>
        </p:txBody>
      </p:sp>
      <p:sp>
        <p:nvSpPr>
          <p:cNvPr id="5" name="标题 1">
            <a:extLst>
              <a:ext uri="{FF2B5EF4-FFF2-40B4-BE49-F238E27FC236}">
                <a16:creationId xmlns:a16="http://schemas.microsoft.com/office/drawing/2014/main" id="{E6446464-430E-29C6-24FA-5F05FFB94D03}"/>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Tree>
    <p:extLst>
      <p:ext uri="{BB962C8B-B14F-4D97-AF65-F5344CB8AC3E}">
        <p14:creationId xmlns:p14="http://schemas.microsoft.com/office/powerpoint/2010/main" val="173301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1801CE9-312B-D353-BA20-5D2B0B7F3659}"/>
              </a:ext>
            </a:extLst>
          </p:cNvPr>
          <p:cNvSpPr>
            <a:spLocks noGrp="1"/>
          </p:cNvSpPr>
          <p:nvPr>
            <p:ph type="sldNum" sz="quarter" idx="12"/>
          </p:nvPr>
        </p:nvSpPr>
        <p:spPr/>
        <p:txBody>
          <a:bodyPr/>
          <a:lstStyle/>
          <a:p>
            <a:fld id="{4DBDE2CB-4801-494F-A0A4-D49D70804842}" type="slidenum">
              <a:rPr lang="zh-CN" altLang="en-US" smtClean="0"/>
              <a:t>5</a:t>
            </a:fld>
            <a:endParaRPr lang="zh-CN" altLang="en-US"/>
          </a:p>
        </p:txBody>
      </p:sp>
      <p:sp>
        <p:nvSpPr>
          <p:cNvPr id="4" name="标题 1">
            <a:extLst>
              <a:ext uri="{FF2B5EF4-FFF2-40B4-BE49-F238E27FC236}">
                <a16:creationId xmlns:a16="http://schemas.microsoft.com/office/drawing/2014/main" id="{A26C3EEB-AE15-9D28-4F00-3B283E855895}"/>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5" name="Rectangle 3">
            <a:extLst>
              <a:ext uri="{FF2B5EF4-FFF2-40B4-BE49-F238E27FC236}">
                <a16:creationId xmlns:a16="http://schemas.microsoft.com/office/drawing/2014/main" id="{9295CF73-A207-35BF-4F22-56B49AF3AB5C}"/>
              </a:ext>
            </a:extLst>
          </p:cNvPr>
          <p:cNvSpPr txBox="1">
            <a:spLocks noChangeArrowheads="1"/>
          </p:cNvSpPr>
          <p:nvPr/>
        </p:nvSpPr>
        <p:spPr>
          <a:xfrm>
            <a:off x="367599" y="1444335"/>
            <a:ext cx="8424863" cy="429050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anose="05000000000000000000" pitchFamily="2" charset="2"/>
              <a:buNone/>
            </a:pPr>
            <a:endParaRPr lang="en-US" altLang="zh-CN" sz="2000" b="1" dirty="0">
              <a:latin typeface="+mn-ea"/>
            </a:endParaRPr>
          </a:p>
          <a:p>
            <a:pPr algn="ctr">
              <a:buFont typeface="Wingdings" panose="05000000000000000000" pitchFamily="2" charset="2"/>
              <a:buNone/>
            </a:pPr>
            <a:r>
              <a:rPr lang="zh-CN" altLang="en-US" sz="2000" b="1" dirty="0">
                <a:latin typeface="+mn-ea"/>
              </a:rPr>
              <a:t>实际性质：杂凑函数</a:t>
            </a:r>
          </a:p>
          <a:p>
            <a:pPr>
              <a:buClr>
                <a:schemeClr val="tx1"/>
              </a:buClr>
              <a:buFont typeface="Wingdings" panose="05000000000000000000" pitchFamily="2" charset="2"/>
              <a:buNone/>
            </a:pPr>
            <a:r>
              <a:rPr lang="zh-CN" altLang="en-US" sz="2000" dirty="0">
                <a:latin typeface="+mn-ea"/>
              </a:rPr>
              <a:t>函数 </a:t>
            </a:r>
            <a:r>
              <a:rPr lang="en-US" altLang="zh-CN" sz="2000" i="1" dirty="0">
                <a:latin typeface="+mn-ea"/>
              </a:rPr>
              <a:t>y</a:t>
            </a:r>
            <a:r>
              <a:rPr lang="en-US" altLang="zh-CN" sz="2000" dirty="0">
                <a:latin typeface="+mn-ea"/>
              </a:rPr>
              <a:t>=</a:t>
            </a:r>
            <a:r>
              <a:rPr lang="en-US" altLang="zh-CN" sz="2000" i="1" dirty="0">
                <a:latin typeface="+mn-ea"/>
              </a:rPr>
              <a:t>H</a:t>
            </a:r>
            <a:r>
              <a:rPr lang="en-US" altLang="zh-CN" sz="2000" dirty="0">
                <a:latin typeface="+mn-ea"/>
              </a:rPr>
              <a:t>(</a:t>
            </a:r>
            <a:r>
              <a:rPr lang="en-US" altLang="zh-CN" sz="2000" i="1" dirty="0">
                <a:latin typeface="+mn-ea"/>
              </a:rPr>
              <a:t>x</a:t>
            </a:r>
            <a:r>
              <a:rPr lang="en-US" altLang="zh-CN" sz="2000" dirty="0">
                <a:latin typeface="+mn-ea"/>
              </a:rPr>
              <a:t>)</a:t>
            </a:r>
            <a:r>
              <a:rPr lang="zh-CN" altLang="en-US" sz="2000" dirty="0">
                <a:latin typeface="+mn-ea"/>
              </a:rPr>
              <a:t>满足</a:t>
            </a:r>
          </a:p>
          <a:p>
            <a:pPr>
              <a:buClr>
                <a:schemeClr val="tx1"/>
              </a:buClr>
              <a:buFont typeface="Wingdings" panose="05000000000000000000" pitchFamily="2" charset="2"/>
              <a:buNone/>
            </a:pPr>
            <a:r>
              <a:rPr lang="zh-CN" altLang="en-US" sz="2000" dirty="0">
                <a:latin typeface="+mn-ea"/>
              </a:rPr>
              <a:t>（</a:t>
            </a:r>
            <a:r>
              <a:rPr lang="en-US" altLang="zh-CN" sz="2000" dirty="0">
                <a:latin typeface="+mn-ea"/>
              </a:rPr>
              <a:t>1</a:t>
            </a:r>
            <a:r>
              <a:rPr lang="zh-CN" altLang="en-US" sz="2000" dirty="0">
                <a:latin typeface="+mn-ea"/>
              </a:rPr>
              <a:t>）将任意长度的比特串</a:t>
            </a:r>
            <a:r>
              <a:rPr lang="en-US" altLang="zh-CN" sz="2000" i="1" dirty="0">
                <a:latin typeface="+mn-ea"/>
              </a:rPr>
              <a:t>x</a:t>
            </a:r>
            <a:r>
              <a:rPr lang="zh-CN" altLang="en-US" sz="2000" dirty="0">
                <a:latin typeface="+mn-ea"/>
              </a:rPr>
              <a:t>压缩成为固定长度的比特串</a:t>
            </a:r>
            <a:r>
              <a:rPr lang="en-US" altLang="zh-CN" sz="2000" i="1" dirty="0">
                <a:latin typeface="+mn-ea"/>
              </a:rPr>
              <a:t>y</a:t>
            </a:r>
            <a:r>
              <a:rPr lang="zh-CN" altLang="en-US" sz="2000" dirty="0">
                <a:latin typeface="+mn-ea"/>
              </a:rPr>
              <a:t>。</a:t>
            </a:r>
          </a:p>
          <a:p>
            <a:pPr>
              <a:buClr>
                <a:schemeClr val="tx1"/>
              </a:buClr>
              <a:buFont typeface="Wingdings" panose="05000000000000000000" pitchFamily="2" charset="2"/>
              <a:buNone/>
            </a:pPr>
            <a:r>
              <a:rPr lang="zh-CN" altLang="en-US" sz="2000" dirty="0">
                <a:latin typeface="+mn-ea"/>
              </a:rPr>
              <a:t>（</a:t>
            </a:r>
            <a:r>
              <a:rPr lang="en-US" altLang="zh-CN" sz="2000" dirty="0">
                <a:latin typeface="+mn-ea"/>
              </a:rPr>
              <a:t>2</a:t>
            </a:r>
            <a:r>
              <a:rPr lang="zh-CN" altLang="en-US" sz="2000" dirty="0">
                <a:latin typeface="+mn-ea"/>
              </a:rPr>
              <a:t>）已知</a:t>
            </a:r>
            <a:r>
              <a:rPr lang="en-US" altLang="zh-CN" sz="2000" i="1" dirty="0">
                <a:latin typeface="+mn-ea"/>
              </a:rPr>
              <a:t>x</a:t>
            </a:r>
            <a:r>
              <a:rPr lang="zh-CN" altLang="en-US" sz="2000" dirty="0">
                <a:latin typeface="+mn-ea"/>
              </a:rPr>
              <a:t>，计算</a:t>
            </a:r>
            <a:r>
              <a:rPr lang="en-US" altLang="zh-CN" sz="2000" i="1" dirty="0">
                <a:latin typeface="+mn-ea"/>
              </a:rPr>
              <a:t>y</a:t>
            </a:r>
            <a:r>
              <a:rPr lang="en-US" altLang="zh-CN" sz="2000" dirty="0">
                <a:latin typeface="+mn-ea"/>
              </a:rPr>
              <a:t>=</a:t>
            </a:r>
            <a:r>
              <a:rPr lang="en-US" altLang="zh-CN" sz="2000" i="1" dirty="0">
                <a:latin typeface="+mn-ea"/>
              </a:rPr>
              <a:t>H</a:t>
            </a:r>
            <a:r>
              <a:rPr lang="en-US" altLang="zh-CN" sz="2000" dirty="0">
                <a:latin typeface="+mn-ea"/>
              </a:rPr>
              <a:t>(</a:t>
            </a:r>
            <a:r>
              <a:rPr lang="en-US" altLang="zh-CN" sz="2000" i="1" dirty="0">
                <a:latin typeface="+mn-ea"/>
              </a:rPr>
              <a:t>x</a:t>
            </a:r>
            <a:r>
              <a:rPr lang="en-US" altLang="zh-CN" sz="2000" dirty="0">
                <a:latin typeface="+mn-ea"/>
              </a:rPr>
              <a:t>)</a:t>
            </a:r>
            <a:r>
              <a:rPr lang="zh-CN" altLang="en-US" sz="2000" dirty="0">
                <a:latin typeface="+mn-ea"/>
              </a:rPr>
              <a:t>很容易；已知</a:t>
            </a:r>
            <a:r>
              <a:rPr lang="en-US" altLang="zh-CN" sz="2000" i="1" dirty="0">
                <a:latin typeface="+mn-ea"/>
              </a:rPr>
              <a:t>y</a:t>
            </a:r>
            <a:r>
              <a:rPr lang="zh-CN" altLang="en-US" sz="2000" dirty="0">
                <a:latin typeface="+mn-ea"/>
              </a:rPr>
              <a:t>，找一个</a:t>
            </a:r>
            <a:r>
              <a:rPr lang="en-US" altLang="zh-CN" sz="2000" i="1" dirty="0">
                <a:latin typeface="+mn-ea"/>
              </a:rPr>
              <a:t>x</a:t>
            </a:r>
            <a:r>
              <a:rPr lang="zh-CN" altLang="en-US" sz="2000" dirty="0">
                <a:latin typeface="+mn-ea"/>
              </a:rPr>
              <a:t>满足</a:t>
            </a:r>
            <a:r>
              <a:rPr lang="en-US" altLang="zh-CN" sz="2000" i="1" dirty="0">
                <a:latin typeface="+mn-ea"/>
              </a:rPr>
              <a:t>y</a:t>
            </a:r>
            <a:r>
              <a:rPr lang="en-US" altLang="zh-CN" sz="2000" dirty="0">
                <a:latin typeface="+mn-ea"/>
              </a:rPr>
              <a:t>=</a:t>
            </a:r>
            <a:r>
              <a:rPr lang="en-US" altLang="zh-CN" sz="2000" i="1" dirty="0">
                <a:latin typeface="+mn-ea"/>
              </a:rPr>
              <a:t>H</a:t>
            </a:r>
            <a:r>
              <a:rPr lang="en-US" altLang="zh-CN" sz="2000" dirty="0">
                <a:latin typeface="+mn-ea"/>
              </a:rPr>
              <a:t>(</a:t>
            </a:r>
            <a:r>
              <a:rPr lang="en-US" altLang="zh-CN" sz="2000" i="1" dirty="0">
                <a:latin typeface="+mn-ea"/>
              </a:rPr>
              <a:t>x</a:t>
            </a:r>
            <a:r>
              <a:rPr lang="en-US" altLang="zh-CN" sz="2000" dirty="0">
                <a:latin typeface="+mn-ea"/>
              </a:rPr>
              <a:t>)</a:t>
            </a:r>
            <a:r>
              <a:rPr lang="zh-CN" altLang="en-US" sz="2000" dirty="0">
                <a:latin typeface="+mn-ea"/>
              </a:rPr>
              <a:t>却很困难。这一性质称为</a:t>
            </a:r>
            <a:r>
              <a:rPr lang="zh-CN" altLang="en-US" sz="2000" u="sng" dirty="0">
                <a:latin typeface="+mn-ea"/>
              </a:rPr>
              <a:t>单向性</a:t>
            </a:r>
            <a:r>
              <a:rPr lang="zh-CN" altLang="en-US" sz="2000" dirty="0">
                <a:latin typeface="+mn-ea"/>
              </a:rPr>
              <a:t>。</a:t>
            </a:r>
          </a:p>
          <a:p>
            <a:pPr>
              <a:buFont typeface="Wingdings" panose="05000000000000000000" pitchFamily="2" charset="2"/>
              <a:buNone/>
            </a:pPr>
            <a:r>
              <a:rPr lang="zh-CN" altLang="en-US" sz="2000" dirty="0">
                <a:latin typeface="+mn-ea"/>
              </a:rPr>
              <a:t>（</a:t>
            </a:r>
            <a:r>
              <a:rPr lang="en-US" altLang="zh-CN" sz="2000" dirty="0">
                <a:latin typeface="+mn-ea"/>
              </a:rPr>
              <a:t>3</a:t>
            </a:r>
            <a:r>
              <a:rPr lang="zh-CN" altLang="en-US" sz="2000" dirty="0">
                <a:latin typeface="+mn-ea"/>
              </a:rPr>
              <a:t>）找</a:t>
            </a:r>
            <a:r>
              <a:rPr lang="en-US" altLang="zh-CN" sz="2000" dirty="0">
                <a:latin typeface="+mn-ea"/>
              </a:rPr>
              <a:t>(</a:t>
            </a:r>
            <a:r>
              <a:rPr lang="en-US" altLang="zh-CN" sz="2000" i="1" dirty="0">
                <a:latin typeface="+mn-ea"/>
              </a:rPr>
              <a:t>x</a:t>
            </a:r>
            <a:r>
              <a:rPr lang="en-US" altLang="zh-CN" sz="2000" baseline="-25000" dirty="0">
                <a:latin typeface="+mn-ea"/>
              </a:rPr>
              <a:t>1</a:t>
            </a:r>
            <a:r>
              <a:rPr lang="zh-CN" altLang="en-US" sz="2000" dirty="0">
                <a:latin typeface="+mn-ea"/>
              </a:rPr>
              <a:t>，</a:t>
            </a:r>
            <a:r>
              <a:rPr lang="en-US" altLang="zh-CN" sz="2000" i="1" dirty="0">
                <a:latin typeface="+mn-ea"/>
              </a:rPr>
              <a:t>x</a:t>
            </a:r>
            <a:r>
              <a:rPr lang="en-US" altLang="zh-CN" sz="2000" baseline="-25000" dirty="0">
                <a:latin typeface="+mn-ea"/>
              </a:rPr>
              <a:t>2</a:t>
            </a:r>
            <a:r>
              <a:rPr lang="en-US" altLang="zh-CN" sz="2000" dirty="0">
                <a:latin typeface="+mn-ea"/>
              </a:rPr>
              <a:t>)</a:t>
            </a:r>
            <a:r>
              <a:rPr lang="zh-CN" altLang="en-US" sz="2000" dirty="0">
                <a:latin typeface="+mn-ea"/>
              </a:rPr>
              <a:t>，</a:t>
            </a:r>
            <a:r>
              <a:rPr lang="en-US" altLang="zh-CN" sz="2000" i="1" dirty="0">
                <a:latin typeface="+mn-ea"/>
              </a:rPr>
              <a:t>x</a:t>
            </a:r>
            <a:r>
              <a:rPr lang="en-US" altLang="zh-CN" sz="2000" baseline="-25000" dirty="0">
                <a:latin typeface="+mn-ea"/>
              </a:rPr>
              <a:t>1</a:t>
            </a:r>
            <a:r>
              <a:rPr lang="en-US" altLang="zh-CN" sz="2000" dirty="0">
                <a:latin typeface="+mn-ea"/>
              </a:rPr>
              <a:t>≠</a:t>
            </a:r>
            <a:r>
              <a:rPr lang="en-US" altLang="zh-CN" sz="2000" i="1" dirty="0">
                <a:latin typeface="+mn-ea"/>
              </a:rPr>
              <a:t>x</a:t>
            </a:r>
            <a:r>
              <a:rPr lang="en-US" altLang="zh-CN" sz="2000" baseline="-25000" dirty="0">
                <a:latin typeface="+mn-ea"/>
              </a:rPr>
              <a:t>2</a:t>
            </a:r>
            <a:r>
              <a:rPr lang="zh-CN" altLang="en-US" sz="2000" dirty="0">
                <a:latin typeface="+mn-ea"/>
              </a:rPr>
              <a:t>，</a:t>
            </a:r>
            <a:r>
              <a:rPr lang="en-US" altLang="zh-CN" sz="2000" i="1" dirty="0">
                <a:latin typeface="+mn-ea"/>
              </a:rPr>
              <a:t>H</a:t>
            </a:r>
            <a:r>
              <a:rPr lang="en-US" altLang="zh-CN" sz="2000" dirty="0">
                <a:latin typeface="+mn-ea"/>
              </a:rPr>
              <a:t>(</a:t>
            </a:r>
            <a:r>
              <a:rPr lang="en-US" altLang="zh-CN" sz="2000" i="1" dirty="0">
                <a:latin typeface="+mn-ea"/>
              </a:rPr>
              <a:t>x</a:t>
            </a:r>
            <a:r>
              <a:rPr lang="en-US" altLang="zh-CN" sz="2000" baseline="-25000" dirty="0">
                <a:latin typeface="+mn-ea"/>
              </a:rPr>
              <a:t>1</a:t>
            </a:r>
            <a:r>
              <a:rPr lang="en-US" altLang="zh-CN" sz="2000" dirty="0">
                <a:latin typeface="+mn-ea"/>
              </a:rPr>
              <a:t>)= </a:t>
            </a:r>
            <a:r>
              <a:rPr lang="en-US" altLang="zh-CN" sz="2000" i="1" dirty="0">
                <a:latin typeface="+mn-ea"/>
              </a:rPr>
              <a:t>H</a:t>
            </a:r>
            <a:r>
              <a:rPr lang="en-US" altLang="zh-CN" sz="2000" dirty="0">
                <a:latin typeface="+mn-ea"/>
              </a:rPr>
              <a:t>(</a:t>
            </a:r>
            <a:r>
              <a:rPr lang="en-US" altLang="zh-CN" sz="2000" i="1" dirty="0">
                <a:latin typeface="+mn-ea"/>
              </a:rPr>
              <a:t>x</a:t>
            </a:r>
            <a:r>
              <a:rPr lang="en-US" altLang="zh-CN" sz="2000" baseline="-25000" dirty="0">
                <a:latin typeface="+mn-ea"/>
              </a:rPr>
              <a:t>2</a:t>
            </a:r>
            <a:r>
              <a:rPr lang="en-US" altLang="zh-CN" sz="2000" dirty="0">
                <a:latin typeface="+mn-ea"/>
              </a:rPr>
              <a:t>)</a:t>
            </a:r>
            <a:r>
              <a:rPr lang="zh-CN" altLang="en-US" sz="2000" dirty="0">
                <a:latin typeface="+mn-ea"/>
              </a:rPr>
              <a:t>，很困难。这一性质称为</a:t>
            </a:r>
            <a:r>
              <a:rPr lang="zh-CN" altLang="en-US" sz="2000" u="sng" dirty="0">
                <a:latin typeface="+mn-ea"/>
              </a:rPr>
              <a:t>无碰撞性</a:t>
            </a:r>
            <a:r>
              <a:rPr lang="zh-CN" altLang="en-US" sz="2000" dirty="0">
                <a:latin typeface="+mn-ea"/>
              </a:rPr>
              <a:t>。</a:t>
            </a:r>
          </a:p>
          <a:p>
            <a:pPr>
              <a:buFont typeface="Wingdings" panose="05000000000000000000" pitchFamily="2" charset="2"/>
              <a:buNone/>
            </a:pPr>
            <a:r>
              <a:rPr lang="zh-CN" altLang="en-US" sz="2000" dirty="0">
                <a:latin typeface="+mn-ea"/>
              </a:rPr>
              <a:t>这样的函数称为</a:t>
            </a:r>
            <a:r>
              <a:rPr lang="zh-CN" altLang="en-US" sz="2000" b="1" u="sng" dirty="0">
                <a:solidFill>
                  <a:schemeClr val="hlink"/>
                </a:solidFill>
                <a:latin typeface="+mn-ea"/>
              </a:rPr>
              <a:t>杂凑函数</a:t>
            </a:r>
            <a:r>
              <a:rPr lang="zh-CN" altLang="en-US" sz="2000" dirty="0">
                <a:latin typeface="+mn-ea"/>
              </a:rPr>
              <a:t>。</a:t>
            </a:r>
          </a:p>
        </p:txBody>
      </p:sp>
    </p:spTree>
    <p:extLst>
      <p:ext uri="{BB962C8B-B14F-4D97-AF65-F5344CB8AC3E}">
        <p14:creationId xmlns:p14="http://schemas.microsoft.com/office/powerpoint/2010/main" val="1135078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0655FFD-B4F2-C699-056C-F79381A45693}"/>
              </a:ext>
            </a:extLst>
          </p:cNvPr>
          <p:cNvSpPr>
            <a:spLocks noGrp="1"/>
          </p:cNvSpPr>
          <p:nvPr>
            <p:ph type="sldNum" sz="quarter" idx="12"/>
          </p:nvPr>
        </p:nvSpPr>
        <p:spPr/>
        <p:txBody>
          <a:bodyPr/>
          <a:lstStyle/>
          <a:p>
            <a:fld id="{4DBDE2CB-4801-494F-A0A4-D49D70804842}" type="slidenum">
              <a:rPr lang="zh-CN" altLang="en-US" smtClean="0"/>
              <a:t>6</a:t>
            </a:fld>
            <a:endParaRPr lang="zh-CN" altLang="en-US"/>
          </a:p>
        </p:txBody>
      </p:sp>
      <p:sp>
        <p:nvSpPr>
          <p:cNvPr id="4" name="标题 1">
            <a:extLst>
              <a:ext uri="{FF2B5EF4-FFF2-40B4-BE49-F238E27FC236}">
                <a16:creationId xmlns:a16="http://schemas.microsoft.com/office/drawing/2014/main" id="{D3B980CA-F9A4-336B-5428-F964A05E56A2}"/>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5" name="Rectangle 3">
            <a:extLst>
              <a:ext uri="{FF2B5EF4-FFF2-40B4-BE49-F238E27FC236}">
                <a16:creationId xmlns:a16="http://schemas.microsoft.com/office/drawing/2014/main" id="{5AAF10E8-78AE-1244-E227-CA7002E40623}"/>
              </a:ext>
            </a:extLst>
          </p:cNvPr>
          <p:cNvSpPr txBox="1">
            <a:spLocks noChangeArrowheads="1"/>
          </p:cNvSpPr>
          <p:nvPr/>
        </p:nvSpPr>
        <p:spPr>
          <a:xfrm>
            <a:off x="504031" y="1618391"/>
            <a:ext cx="8135938" cy="42481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None/>
            </a:pPr>
            <a:r>
              <a:rPr lang="zh-CN" altLang="en-US" dirty="0">
                <a:latin typeface="Times New Roman" panose="02020603050405020304" pitchFamily="18" charset="0"/>
              </a:rPr>
              <a:t>（</a:t>
            </a:r>
            <a:r>
              <a:rPr lang="zh-CN" altLang="en-US" sz="2000" dirty="0">
                <a:latin typeface="+mn-ea"/>
              </a:rPr>
              <a:t>单向性的准确解释：或许已经知道了许多对</a:t>
            </a:r>
          </a:p>
          <a:p>
            <a:pPr>
              <a:lnSpc>
                <a:spcPct val="120000"/>
              </a:lnSpc>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y</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，满足</a:t>
            </a:r>
            <a:r>
              <a:rPr lang="en-US" altLang="zh-CN" sz="2000" i="1" dirty="0">
                <a:latin typeface="Times New Roman" panose="02020603050405020304" pitchFamily="18" charset="0"/>
                <a:cs typeface="Times New Roman" panose="02020603050405020304" pitchFamily="18" charset="0"/>
              </a:rPr>
              <a:t>y</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H</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；或许一个新的</a:t>
            </a:r>
            <a:r>
              <a:rPr lang="en-US" altLang="zh-CN" sz="2000" i="1" dirty="0">
                <a:latin typeface="Times New Roman" panose="02020603050405020304" pitchFamily="18" charset="0"/>
                <a:cs typeface="Times New Roman" panose="02020603050405020304" pitchFamily="18" charset="0"/>
              </a:rPr>
              <a:t>y</a:t>
            </a:r>
            <a:r>
              <a:rPr lang="zh-CN" altLang="en-US" sz="2000" dirty="0">
                <a:latin typeface="Times New Roman" panose="02020603050405020304" pitchFamily="18" charset="0"/>
                <a:cs typeface="Times New Roman" panose="02020603050405020304" pitchFamily="18" charset="0"/>
              </a:rPr>
              <a:t>确实存在一个</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满足</a:t>
            </a:r>
            <a:r>
              <a:rPr lang="en-US" altLang="zh-CN" sz="2000" i="1" dirty="0">
                <a:latin typeface="Times New Roman" panose="02020603050405020304" pitchFamily="18" charset="0"/>
                <a:cs typeface="Times New Roman" panose="02020603050405020304" pitchFamily="18" charset="0"/>
              </a:rPr>
              <a:t>y</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H</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；然而实际找到这样的</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却很困难，在计算上行不通。</a:t>
            </a:r>
          </a:p>
          <a:p>
            <a:pPr>
              <a:lnSpc>
                <a:spcPct val="120000"/>
              </a:lnSpc>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无碰撞性的准确解释：或许已经知道了许多对</a:t>
            </a:r>
          </a:p>
          <a:p>
            <a:pPr>
              <a:lnSpc>
                <a:spcPct val="120000"/>
              </a:lnSpc>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y</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，满足</a:t>
            </a:r>
            <a:r>
              <a:rPr lang="en-US" altLang="zh-CN" sz="2000" i="1" dirty="0">
                <a:latin typeface="Times New Roman" panose="02020603050405020304" pitchFamily="18" charset="0"/>
                <a:cs typeface="Times New Roman" panose="02020603050405020304" pitchFamily="18" charset="0"/>
              </a:rPr>
              <a:t>y</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H</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；或许确实存在</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满足： </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H</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H</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，实际找到这样的</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却很困难，在计算上行不通。 ） </a:t>
            </a:r>
          </a:p>
        </p:txBody>
      </p:sp>
    </p:spTree>
    <p:extLst>
      <p:ext uri="{BB962C8B-B14F-4D97-AF65-F5344CB8AC3E}">
        <p14:creationId xmlns:p14="http://schemas.microsoft.com/office/powerpoint/2010/main" val="2024469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15CA-A0CA-C17B-0663-0702380A4818}"/>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1B7C1B8-334E-C687-44E1-08550CB2C189}"/>
              </a:ext>
            </a:extLst>
          </p:cNvPr>
          <p:cNvSpPr>
            <a:spLocks noGrp="1"/>
          </p:cNvSpPr>
          <p:nvPr>
            <p:ph type="sldNum" sz="quarter" idx="12"/>
          </p:nvPr>
        </p:nvSpPr>
        <p:spPr/>
        <p:txBody>
          <a:bodyPr/>
          <a:lstStyle/>
          <a:p>
            <a:fld id="{4DBDE2CB-4801-494F-A0A4-D49D70804842}" type="slidenum">
              <a:rPr lang="zh-CN" altLang="en-US" smtClean="0"/>
              <a:t>7</a:t>
            </a:fld>
            <a:endParaRPr lang="zh-CN" altLang="en-US"/>
          </a:p>
        </p:txBody>
      </p:sp>
      <p:sp>
        <p:nvSpPr>
          <p:cNvPr id="4" name="标题 1">
            <a:extLst>
              <a:ext uri="{FF2B5EF4-FFF2-40B4-BE49-F238E27FC236}">
                <a16:creationId xmlns:a16="http://schemas.microsoft.com/office/drawing/2014/main" id="{02C79392-652E-4F93-993B-730B6D7BE1B0}"/>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DF58062F-B330-188C-B5FA-414D88F74F1B}"/>
              </a:ext>
            </a:extLst>
          </p:cNvPr>
          <p:cNvSpPr txBox="1">
            <a:spLocks noChangeArrowheads="1"/>
          </p:cNvSpPr>
          <p:nvPr/>
        </p:nvSpPr>
        <p:spPr>
          <a:xfrm>
            <a:off x="504031" y="1465262"/>
            <a:ext cx="8135938" cy="42481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a:t>
            </a:r>
            <a:r>
              <a:rPr lang="zh-CN" altLang="en-US" sz="2000" dirty="0">
                <a:latin typeface="Times New Roman" panose="02020603050405020304" pitchFamily="18" charset="0"/>
              </a:rPr>
              <a:t>单向性的准确解释：或许已经知道了许多对</a:t>
            </a:r>
          </a:p>
          <a:p>
            <a:pPr>
              <a:buFont typeface="Wingdings" panose="05000000000000000000" pitchFamily="2" charset="2"/>
              <a:buNone/>
            </a:pP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zh-CN" altLang="en-US" sz="2000" dirty="0">
                <a:latin typeface="Times New Roman" panose="02020603050405020304" pitchFamily="18" charset="0"/>
              </a:rPr>
              <a:t>，满足</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；或许一个新的</a:t>
            </a:r>
            <a:r>
              <a:rPr lang="en-US" altLang="zh-CN" sz="2000" i="1" dirty="0">
                <a:latin typeface="Times New Roman" panose="02020603050405020304" pitchFamily="18" charset="0"/>
              </a:rPr>
              <a:t>y</a:t>
            </a:r>
            <a:r>
              <a:rPr lang="zh-CN" altLang="en-US" sz="2000" dirty="0">
                <a:latin typeface="Times New Roman" panose="02020603050405020304" pitchFamily="18" charset="0"/>
              </a:rPr>
              <a:t>确实存在一个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满足</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；然而实际找到这样的</a:t>
            </a:r>
            <a:r>
              <a:rPr lang="en-US" altLang="zh-CN" sz="2000" i="1" dirty="0">
                <a:latin typeface="Times New Roman" panose="02020603050405020304" pitchFamily="18" charset="0"/>
              </a:rPr>
              <a:t>x</a:t>
            </a:r>
            <a:r>
              <a:rPr lang="zh-CN" altLang="en-US" sz="2000" dirty="0">
                <a:latin typeface="Times New Roman" panose="02020603050405020304" pitchFamily="18" charset="0"/>
              </a:rPr>
              <a:t>却很困难，在计算上行不通。</a:t>
            </a:r>
          </a:p>
          <a:p>
            <a:pPr>
              <a:buFont typeface="Wingdings" panose="05000000000000000000" pitchFamily="2" charset="2"/>
              <a:buNone/>
            </a:pPr>
            <a:r>
              <a:rPr lang="zh-CN" altLang="en-US" sz="2000" dirty="0">
                <a:latin typeface="Times New Roman" panose="02020603050405020304" pitchFamily="18" charset="0"/>
              </a:rPr>
              <a:t>无碰撞性的准确解释：或许已经知道了许多对</a:t>
            </a:r>
          </a:p>
          <a:p>
            <a:pPr>
              <a:buFont typeface="Wingdings" panose="05000000000000000000" pitchFamily="2" charset="2"/>
              <a:buNone/>
            </a:pP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zh-CN" altLang="en-US" sz="2000" dirty="0">
                <a:latin typeface="Times New Roman" panose="02020603050405020304" pitchFamily="18" charset="0"/>
              </a:rPr>
              <a:t>，满足</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；或许确实存在</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zh-CN" altLang="en-US" sz="2000" dirty="0">
                <a:latin typeface="Times New Roman" panose="02020603050405020304" pitchFamily="18" charset="0"/>
              </a:rPr>
              <a:t>满足： </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 </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zh-CN" altLang="en-US" sz="2000" dirty="0">
                <a:latin typeface="Times New Roman" panose="02020603050405020304" pitchFamily="18" charset="0"/>
              </a:rPr>
              <a:t>，实际找到这样的</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zh-CN" altLang="en-US" sz="2000" dirty="0">
                <a:latin typeface="Times New Roman" panose="02020603050405020304" pitchFamily="18" charset="0"/>
              </a:rPr>
              <a:t>却很困难，在计算上行不通。 </a:t>
            </a:r>
            <a:r>
              <a:rPr lang="zh-CN" altLang="en-US" sz="2000" dirty="0"/>
              <a:t>）</a:t>
            </a:r>
            <a:r>
              <a:rPr lang="zh-CN" altLang="en-US" sz="2000" dirty="0">
                <a:latin typeface="Times New Roman" panose="02020603050405020304" pitchFamily="18" charset="0"/>
              </a:rPr>
              <a:t> </a:t>
            </a:r>
          </a:p>
        </p:txBody>
      </p:sp>
    </p:spTree>
    <p:extLst>
      <p:ext uri="{BB962C8B-B14F-4D97-AF65-F5344CB8AC3E}">
        <p14:creationId xmlns:p14="http://schemas.microsoft.com/office/powerpoint/2010/main" val="163771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432AE-3585-106D-17E8-07F0630B8B1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2FB65A6-4B37-80BB-2C06-C9A3CB5B7B7F}"/>
              </a:ext>
            </a:extLst>
          </p:cNvPr>
          <p:cNvSpPr>
            <a:spLocks noGrp="1"/>
          </p:cNvSpPr>
          <p:nvPr>
            <p:ph type="sldNum" sz="quarter" idx="12"/>
          </p:nvPr>
        </p:nvSpPr>
        <p:spPr/>
        <p:txBody>
          <a:bodyPr/>
          <a:lstStyle/>
          <a:p>
            <a:fld id="{4DBDE2CB-4801-494F-A0A4-D49D70804842}" type="slidenum">
              <a:rPr lang="zh-CN" altLang="en-US" smtClean="0"/>
              <a:t>8</a:t>
            </a:fld>
            <a:endParaRPr lang="zh-CN" altLang="en-US"/>
          </a:p>
        </p:txBody>
      </p:sp>
      <p:sp>
        <p:nvSpPr>
          <p:cNvPr id="4" name="标题 1">
            <a:extLst>
              <a:ext uri="{FF2B5EF4-FFF2-40B4-BE49-F238E27FC236}">
                <a16:creationId xmlns:a16="http://schemas.microsoft.com/office/drawing/2014/main" id="{9626B2A5-4495-BA31-EFD3-94D228323D00}"/>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AB97FF13-B148-6831-5127-047962AAA0EA}"/>
              </a:ext>
            </a:extLst>
          </p:cNvPr>
          <p:cNvSpPr txBox="1">
            <a:spLocks noChangeArrowheads="1"/>
          </p:cNvSpPr>
          <p:nvPr/>
        </p:nvSpPr>
        <p:spPr>
          <a:xfrm>
            <a:off x="365092" y="1407319"/>
            <a:ext cx="8631238" cy="43640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000" dirty="0">
                <a:latin typeface="Times New Roman" panose="02020603050405020304" pitchFamily="18" charset="0"/>
              </a:rPr>
              <a:t>杂凑函数的性质（</a:t>
            </a:r>
            <a:r>
              <a:rPr lang="en-US" altLang="zh-CN" sz="2000" dirty="0">
                <a:latin typeface="Times New Roman" panose="02020603050405020304" pitchFamily="18" charset="0"/>
              </a:rPr>
              <a:t>3</a:t>
            </a:r>
            <a:r>
              <a:rPr lang="zh-CN" altLang="en-US" sz="2000" dirty="0">
                <a:latin typeface="Times New Roman" panose="02020603050405020304" pitchFamily="18" charset="0"/>
              </a:rPr>
              <a:t>）强于性质（</a:t>
            </a:r>
            <a:r>
              <a:rPr lang="en-US" altLang="zh-CN" sz="2000" dirty="0">
                <a:latin typeface="Times New Roman" panose="02020603050405020304" pitchFamily="18" charset="0"/>
              </a:rPr>
              <a:t>2</a:t>
            </a:r>
            <a:r>
              <a:rPr lang="zh-CN" altLang="en-US" sz="2000" dirty="0">
                <a:latin typeface="Times New Roman" panose="02020603050405020304" pitchFamily="18" charset="0"/>
              </a:rPr>
              <a:t>），即由无碰撞性能够得到单向性。例如，设函数 </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r>
              <a:rPr lang="en-US" altLang="zh-CN" sz="2000" i="1" dirty="0">
                <a:latin typeface="Times New Roman" panose="02020603050405020304" pitchFamily="18" charset="0"/>
              </a:rPr>
              <a:t>x</a:t>
            </a:r>
            <a:r>
              <a:rPr lang="zh-CN" altLang="en-US" sz="2000" dirty="0">
                <a:latin typeface="Times New Roman" panose="02020603050405020304" pitchFamily="18" charset="0"/>
              </a:rPr>
              <a:t>的长度固定为</a:t>
            </a:r>
            <a:r>
              <a:rPr lang="en-US" altLang="zh-CN" sz="2000" i="1" dirty="0">
                <a:latin typeface="Times New Roman" panose="02020603050405020304" pitchFamily="18" charset="0"/>
              </a:rPr>
              <a:t>N</a:t>
            </a:r>
            <a:r>
              <a:rPr lang="zh-CN" altLang="en-US" sz="2000" dirty="0">
                <a:latin typeface="Times New Roman" panose="02020603050405020304" pitchFamily="18" charset="0"/>
              </a:rPr>
              <a:t>，</a:t>
            </a:r>
            <a:r>
              <a:rPr lang="en-US" altLang="zh-CN" sz="2000" i="1" dirty="0">
                <a:latin typeface="Times New Roman" panose="02020603050405020304" pitchFamily="18" charset="0"/>
              </a:rPr>
              <a:t>y</a:t>
            </a:r>
            <a:r>
              <a:rPr lang="zh-CN" altLang="en-US" sz="2000" dirty="0">
                <a:latin typeface="Times New Roman" panose="02020603050405020304" pitchFamily="18" charset="0"/>
              </a:rPr>
              <a:t>的长度为</a:t>
            </a:r>
            <a:r>
              <a:rPr lang="en-US" altLang="zh-CN" sz="2000" i="1" dirty="0">
                <a:latin typeface="Times New Roman" panose="02020603050405020304" pitchFamily="18" charset="0"/>
              </a:rPr>
              <a:t>L</a:t>
            </a:r>
            <a:r>
              <a:rPr lang="zh-CN" altLang="en-US" sz="2000" dirty="0">
                <a:latin typeface="Times New Roman" panose="02020603050405020304" pitchFamily="18" charset="0"/>
              </a:rPr>
              <a:t>。</a:t>
            </a:r>
          </a:p>
          <a:p>
            <a:pPr>
              <a:buFont typeface="Wingdings" panose="05000000000000000000" pitchFamily="2" charset="2"/>
              <a:buNone/>
            </a:pPr>
            <a:r>
              <a:rPr lang="zh-CN" altLang="en-US" sz="2000" dirty="0">
                <a:latin typeface="Times New Roman" panose="02020603050405020304" pitchFamily="18" charset="0"/>
              </a:rPr>
              <a:t>设每个</a:t>
            </a:r>
            <a:r>
              <a:rPr lang="en-US" altLang="zh-CN" sz="2000" i="1" dirty="0">
                <a:latin typeface="Times New Roman" panose="02020603050405020304" pitchFamily="18" charset="0"/>
              </a:rPr>
              <a:t>y</a:t>
            </a:r>
            <a:r>
              <a:rPr lang="zh-CN" altLang="en-US" sz="2000" dirty="0">
                <a:latin typeface="Times New Roman" panose="02020603050405020304" pitchFamily="18" charset="0"/>
              </a:rPr>
              <a:t>有</a:t>
            </a:r>
            <a:r>
              <a:rPr lang="en-US" altLang="zh-CN" sz="2000" dirty="0">
                <a:latin typeface="Times New Roman" panose="02020603050405020304" pitchFamily="18" charset="0"/>
              </a:rPr>
              <a:t>2</a:t>
            </a:r>
            <a:r>
              <a:rPr lang="en-US" altLang="zh-CN" sz="2000" i="1" baseline="30000" dirty="0">
                <a:latin typeface="Times New Roman" panose="02020603050405020304" pitchFamily="18" charset="0"/>
              </a:rPr>
              <a:t>N-L</a:t>
            </a:r>
            <a:r>
              <a:rPr lang="zh-CN" altLang="en-US" sz="2000" dirty="0">
                <a:latin typeface="Times New Roman" panose="02020603050405020304" pitchFamily="18" charset="0"/>
              </a:rPr>
              <a:t>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使</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。（均衡函数）</a:t>
            </a:r>
          </a:p>
          <a:p>
            <a:pPr>
              <a:buFont typeface="Wingdings" panose="05000000000000000000" pitchFamily="2" charset="2"/>
              <a:buNone/>
            </a:pPr>
            <a:r>
              <a:rPr lang="zh-CN" altLang="en-US" sz="2000" dirty="0">
                <a:latin typeface="Times New Roman" panose="02020603050405020304" pitchFamily="18" charset="0"/>
              </a:rPr>
              <a:t>随机地取</a:t>
            </a:r>
            <a:r>
              <a:rPr lang="en-US" altLang="zh-CN" sz="2000" i="1" dirty="0">
                <a:latin typeface="Times New Roman" panose="02020603050405020304" pitchFamily="18" charset="0"/>
              </a:rPr>
              <a:t>m</a:t>
            </a:r>
            <a:r>
              <a:rPr lang="zh-CN" altLang="en-US" sz="2000" dirty="0">
                <a:latin typeface="Times New Roman" panose="02020603050405020304" pitchFamily="18" charset="0"/>
              </a:rPr>
              <a:t>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值。则</a:t>
            </a:r>
          </a:p>
          <a:p>
            <a:pPr>
              <a:buFont typeface="Wingdings" panose="05000000000000000000" pitchFamily="2" charset="2"/>
              <a:buNone/>
            </a:pPr>
            <a:r>
              <a:rPr lang="en-US" altLang="zh-CN" sz="2000" i="1" dirty="0">
                <a:latin typeface="Times New Roman" panose="02020603050405020304" pitchFamily="18" charset="0"/>
              </a:rPr>
              <a:t>P</a:t>
            </a:r>
            <a:r>
              <a:rPr lang="en-US" altLang="zh-CN" sz="2000" dirty="0">
                <a:latin typeface="Times New Roman" panose="02020603050405020304" pitchFamily="18" charset="0"/>
              </a:rPr>
              <a:t>(</a:t>
            </a:r>
            <a:r>
              <a:rPr lang="zh-CN" altLang="en-US" sz="2000" dirty="0">
                <a:latin typeface="Times New Roman" panose="02020603050405020304" pitchFamily="18" charset="0"/>
              </a:rPr>
              <a:t>有个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值满足</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en-US" altLang="zh-CN" sz="2000" i="1" dirty="0">
                <a:latin typeface="Times New Roman" panose="02020603050405020304" pitchFamily="18" charset="0"/>
              </a:rPr>
              <a:t>y</a:t>
            </a:r>
            <a:r>
              <a:rPr lang="en-US" altLang="zh-CN" sz="2000" dirty="0">
                <a:latin typeface="Times New Roman" panose="02020603050405020304" pitchFamily="18" charset="0"/>
              </a:rPr>
              <a:t>’)=1-(1-2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a:t>
            </a:r>
            <a:r>
              <a:rPr lang="en-US" altLang="zh-CN" sz="2000" i="1" baseline="30000" dirty="0">
                <a:latin typeface="Times New Roman" panose="02020603050405020304" pitchFamily="18" charset="0"/>
              </a:rPr>
              <a:t>m</a:t>
            </a:r>
            <a:r>
              <a:rPr lang="zh-CN" altLang="en-US" sz="2000" dirty="0">
                <a:latin typeface="Times New Roman" panose="02020603050405020304" pitchFamily="18" charset="0"/>
              </a:rPr>
              <a:t>；</a:t>
            </a:r>
          </a:p>
          <a:p>
            <a:pPr>
              <a:buFont typeface="Wingdings" panose="05000000000000000000" pitchFamily="2" charset="2"/>
              <a:buNone/>
            </a:pPr>
            <a:r>
              <a:rPr lang="en-US" altLang="zh-CN" sz="2000" i="1" dirty="0">
                <a:latin typeface="Times New Roman" panose="02020603050405020304" pitchFamily="18" charset="0"/>
              </a:rPr>
              <a:t>P</a:t>
            </a:r>
            <a:r>
              <a:rPr lang="en-US" altLang="zh-CN" sz="2000" dirty="0">
                <a:latin typeface="Times New Roman" panose="02020603050405020304" pitchFamily="18" charset="0"/>
              </a:rPr>
              <a:t>(</a:t>
            </a:r>
            <a:r>
              <a:rPr lang="zh-CN" altLang="en-US" sz="2000" dirty="0">
                <a:latin typeface="Times New Roman" panose="02020603050405020304" pitchFamily="18" charset="0"/>
              </a:rPr>
              <a:t>有两个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值具有相同的</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值</a:t>
            </a:r>
            <a:r>
              <a:rPr lang="en-US" altLang="zh-CN" sz="2000" dirty="0">
                <a:latin typeface="Times New Roman" panose="02020603050405020304" pitchFamily="18" charset="0"/>
              </a:rPr>
              <a:t>)</a:t>
            </a:r>
          </a:p>
          <a:p>
            <a:pPr>
              <a:buFont typeface="Wingdings" panose="05000000000000000000" pitchFamily="2" charset="2"/>
              <a:buNone/>
            </a:pPr>
            <a:r>
              <a:rPr lang="en-US" altLang="zh-CN" sz="2000" dirty="0">
                <a:latin typeface="Times New Roman" panose="02020603050405020304" pitchFamily="18" charset="0"/>
              </a:rPr>
              <a:t>=1-(2</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)(2</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-1)(2</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-2)…(2</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a:t>
            </a:r>
            <a:r>
              <a:rPr lang="en-US" altLang="zh-CN" sz="2000" i="1" dirty="0">
                <a:latin typeface="Times New Roman" panose="02020603050405020304" pitchFamily="18" charset="0"/>
              </a:rPr>
              <a:t>m</a:t>
            </a:r>
            <a:r>
              <a:rPr lang="en-US" altLang="zh-CN" sz="2000" dirty="0">
                <a:latin typeface="Times New Roman" panose="02020603050405020304" pitchFamily="18" charset="0"/>
              </a:rPr>
              <a:t>+1)2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Lm</a:t>
            </a:r>
            <a:endParaRPr lang="zh-CN" altLang="en-US" sz="2000" dirty="0">
              <a:latin typeface="Times New Roman" panose="02020603050405020304" pitchFamily="18" charset="0"/>
            </a:endParaRPr>
          </a:p>
          <a:p>
            <a:pPr>
              <a:buFont typeface="Wingdings" panose="05000000000000000000" pitchFamily="2" charset="2"/>
              <a:buNone/>
            </a:pPr>
            <a:r>
              <a:rPr lang="en-US" altLang="zh-CN" sz="2000" dirty="0">
                <a:latin typeface="Times New Roman" panose="02020603050405020304" pitchFamily="18" charset="0"/>
              </a:rPr>
              <a:t>=1-(1-0×2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)(1-1×2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 (1-2×2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)…(1-(</a:t>
            </a:r>
            <a:r>
              <a:rPr lang="en-US" altLang="zh-CN" sz="2000" i="1" dirty="0">
                <a:latin typeface="Times New Roman" panose="02020603050405020304" pitchFamily="18" charset="0"/>
              </a:rPr>
              <a:t>m</a:t>
            </a:r>
            <a:r>
              <a:rPr lang="en-US" altLang="zh-CN" sz="2000" dirty="0">
                <a:latin typeface="Times New Roman" panose="02020603050405020304" pitchFamily="18" charset="0"/>
              </a:rPr>
              <a:t>-1)×2</a:t>
            </a:r>
            <a:r>
              <a:rPr lang="en-US" altLang="zh-CN" sz="2000" baseline="30000" dirty="0">
                <a:latin typeface="Times New Roman" panose="02020603050405020304" pitchFamily="18" charset="0"/>
              </a:rPr>
              <a:t>-</a:t>
            </a:r>
            <a:r>
              <a:rPr lang="en-US" altLang="zh-CN" sz="2000" i="1" baseline="30000" dirty="0">
                <a:latin typeface="Times New Roman" panose="02020603050405020304" pitchFamily="18" charset="0"/>
              </a:rPr>
              <a:t>L</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endParaRPr lang="zh-CN" altLang="en-US" sz="2000" i="1" baseline="30000" dirty="0">
              <a:latin typeface="Times New Roman" panose="02020603050405020304" pitchFamily="18" charset="0"/>
            </a:endParaRPr>
          </a:p>
        </p:txBody>
      </p:sp>
    </p:spTree>
    <p:extLst>
      <p:ext uri="{BB962C8B-B14F-4D97-AF65-F5344CB8AC3E}">
        <p14:creationId xmlns:p14="http://schemas.microsoft.com/office/powerpoint/2010/main" val="881565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7155F6-22F0-C598-E0ED-4BE0944DDB5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9E8D82C-B147-4073-BC01-1C298E0D1EA8}"/>
              </a:ext>
            </a:extLst>
          </p:cNvPr>
          <p:cNvSpPr>
            <a:spLocks noGrp="1"/>
          </p:cNvSpPr>
          <p:nvPr>
            <p:ph type="sldNum" sz="quarter" idx="12"/>
          </p:nvPr>
        </p:nvSpPr>
        <p:spPr/>
        <p:txBody>
          <a:bodyPr/>
          <a:lstStyle/>
          <a:p>
            <a:fld id="{4DBDE2CB-4801-494F-A0A4-D49D70804842}" type="slidenum">
              <a:rPr lang="zh-CN" altLang="en-US" smtClean="0"/>
              <a:t>9</a:t>
            </a:fld>
            <a:endParaRPr lang="zh-CN" altLang="en-US"/>
          </a:p>
        </p:txBody>
      </p:sp>
      <p:sp>
        <p:nvSpPr>
          <p:cNvPr id="4" name="标题 1">
            <a:extLst>
              <a:ext uri="{FF2B5EF4-FFF2-40B4-BE49-F238E27FC236}">
                <a16:creationId xmlns:a16="http://schemas.microsoft.com/office/drawing/2014/main" id="{A43DC088-02F6-231E-F8AB-9E41E8A0407E}"/>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pic>
        <p:nvPicPr>
          <p:cNvPr id="2" name="内容占位符 6">
            <a:extLst>
              <a:ext uri="{FF2B5EF4-FFF2-40B4-BE49-F238E27FC236}">
                <a16:creationId xmlns:a16="http://schemas.microsoft.com/office/drawing/2014/main" id="{401B5FE1-0664-87E6-989F-B4B4F5D4D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020" y="1669329"/>
            <a:ext cx="6581960" cy="4191000"/>
          </a:xfrm>
          <a:prstGeom prst="rect">
            <a:avLst/>
          </a:prstGeom>
        </p:spPr>
      </p:pic>
    </p:spTree>
    <p:extLst>
      <p:ext uri="{BB962C8B-B14F-4D97-AF65-F5344CB8AC3E}">
        <p14:creationId xmlns:p14="http://schemas.microsoft.com/office/powerpoint/2010/main" val="129461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5A9769-1989-CC34-557B-C7AB2A9E1820}"/>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1B462F2-4FFB-8305-8EC2-B33EC869B632}"/>
              </a:ext>
            </a:extLst>
          </p:cNvPr>
          <p:cNvSpPr>
            <a:spLocks noGrp="1"/>
          </p:cNvSpPr>
          <p:nvPr>
            <p:ph type="sldNum" sz="quarter" idx="12"/>
          </p:nvPr>
        </p:nvSpPr>
        <p:spPr/>
        <p:txBody>
          <a:bodyPr/>
          <a:lstStyle/>
          <a:p>
            <a:fld id="{4DBDE2CB-4801-494F-A0A4-D49D70804842}" type="slidenum">
              <a:rPr lang="zh-CN" altLang="en-US" smtClean="0"/>
              <a:t>10</a:t>
            </a:fld>
            <a:endParaRPr lang="zh-CN" altLang="en-US"/>
          </a:p>
        </p:txBody>
      </p:sp>
      <p:sp>
        <p:nvSpPr>
          <p:cNvPr id="4" name="标题 1">
            <a:extLst>
              <a:ext uri="{FF2B5EF4-FFF2-40B4-BE49-F238E27FC236}">
                <a16:creationId xmlns:a16="http://schemas.microsoft.com/office/drawing/2014/main" id="{4FE7A920-D4F8-5028-E19C-66C8A23CD5C7}"/>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pic>
        <p:nvPicPr>
          <p:cNvPr id="5" name="内容占位符 7">
            <a:extLst>
              <a:ext uri="{FF2B5EF4-FFF2-40B4-BE49-F238E27FC236}">
                <a16:creationId xmlns:a16="http://schemas.microsoft.com/office/drawing/2014/main" id="{6118741C-AB6E-11CF-7F09-D9655E9E1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443" y="1710892"/>
            <a:ext cx="6871114" cy="4191000"/>
          </a:xfrm>
          <a:prstGeom prst="rect">
            <a:avLst/>
          </a:prstGeom>
        </p:spPr>
      </p:pic>
    </p:spTree>
    <p:extLst>
      <p:ext uri="{BB962C8B-B14F-4D97-AF65-F5344CB8AC3E}">
        <p14:creationId xmlns:p14="http://schemas.microsoft.com/office/powerpoint/2010/main" val="247415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62E4E2-5918-D665-0ABE-2913E02C5F19}"/>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40E1D3E-8712-0F16-69A0-E17629F414EA}"/>
              </a:ext>
            </a:extLst>
          </p:cNvPr>
          <p:cNvSpPr>
            <a:spLocks noGrp="1"/>
          </p:cNvSpPr>
          <p:nvPr>
            <p:ph type="sldNum" sz="quarter" idx="12"/>
          </p:nvPr>
        </p:nvSpPr>
        <p:spPr/>
        <p:txBody>
          <a:bodyPr/>
          <a:lstStyle/>
          <a:p>
            <a:fld id="{4DBDE2CB-4801-494F-A0A4-D49D70804842}" type="slidenum">
              <a:rPr lang="zh-CN" altLang="en-US" smtClean="0"/>
              <a:t>11</a:t>
            </a:fld>
            <a:endParaRPr lang="zh-CN" altLang="en-US"/>
          </a:p>
        </p:txBody>
      </p:sp>
      <p:sp>
        <p:nvSpPr>
          <p:cNvPr id="4" name="标题 1">
            <a:extLst>
              <a:ext uri="{FF2B5EF4-FFF2-40B4-BE49-F238E27FC236}">
                <a16:creationId xmlns:a16="http://schemas.microsoft.com/office/drawing/2014/main" id="{83A47616-68C6-1BED-139B-D4B26941CCF5}"/>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pic>
        <p:nvPicPr>
          <p:cNvPr id="2" name="内容占位符 6">
            <a:extLst>
              <a:ext uri="{FF2B5EF4-FFF2-40B4-BE49-F238E27FC236}">
                <a16:creationId xmlns:a16="http://schemas.microsoft.com/office/drawing/2014/main" id="{213C0CB5-F138-559A-071A-E3A3D3CF8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370" y="1690110"/>
            <a:ext cx="7349260" cy="4191000"/>
          </a:xfrm>
          <a:prstGeom prst="rect">
            <a:avLst/>
          </a:prstGeom>
        </p:spPr>
      </p:pic>
    </p:spTree>
    <p:extLst>
      <p:ext uri="{BB962C8B-B14F-4D97-AF65-F5344CB8AC3E}">
        <p14:creationId xmlns:p14="http://schemas.microsoft.com/office/powerpoint/2010/main" val="1755570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9B024F-18B0-F38D-48E6-8C94AC66EEA1}"/>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ACD424C-C595-3940-6C71-72D88EDEA411}"/>
              </a:ext>
            </a:extLst>
          </p:cNvPr>
          <p:cNvSpPr>
            <a:spLocks noGrp="1"/>
          </p:cNvSpPr>
          <p:nvPr>
            <p:ph type="sldNum" sz="quarter" idx="12"/>
          </p:nvPr>
        </p:nvSpPr>
        <p:spPr/>
        <p:txBody>
          <a:bodyPr/>
          <a:lstStyle/>
          <a:p>
            <a:fld id="{4DBDE2CB-4801-494F-A0A4-D49D70804842}" type="slidenum">
              <a:rPr lang="zh-CN" altLang="en-US" smtClean="0"/>
              <a:t>12</a:t>
            </a:fld>
            <a:endParaRPr lang="zh-CN" altLang="en-US"/>
          </a:p>
        </p:txBody>
      </p:sp>
      <p:sp>
        <p:nvSpPr>
          <p:cNvPr id="4" name="标题 1">
            <a:extLst>
              <a:ext uri="{FF2B5EF4-FFF2-40B4-BE49-F238E27FC236}">
                <a16:creationId xmlns:a16="http://schemas.microsoft.com/office/drawing/2014/main" id="{360C5254-DE15-6985-8922-0856B6E54FEE}"/>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pic>
        <p:nvPicPr>
          <p:cNvPr id="2" name="内容占位符 7">
            <a:extLst>
              <a:ext uri="{FF2B5EF4-FFF2-40B4-BE49-F238E27FC236}">
                <a16:creationId xmlns:a16="http://schemas.microsoft.com/office/drawing/2014/main" id="{6713A39D-A6C8-0F56-BC8C-BAB278DF5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7967" y="1617373"/>
            <a:ext cx="6508067" cy="4191000"/>
          </a:xfrm>
          <a:prstGeom prst="rect">
            <a:avLst/>
          </a:prstGeom>
        </p:spPr>
      </p:pic>
    </p:spTree>
    <p:extLst>
      <p:ext uri="{BB962C8B-B14F-4D97-AF65-F5344CB8AC3E}">
        <p14:creationId xmlns:p14="http://schemas.microsoft.com/office/powerpoint/2010/main" val="33810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06E01E-0B70-C86F-F01E-DFD59FF58721}"/>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6793A8B-DF80-2435-BBE6-3FD4973E351F}"/>
              </a:ext>
            </a:extLst>
          </p:cNvPr>
          <p:cNvSpPr>
            <a:spLocks noGrp="1"/>
          </p:cNvSpPr>
          <p:nvPr>
            <p:ph type="sldNum" sz="quarter" idx="12"/>
          </p:nvPr>
        </p:nvSpPr>
        <p:spPr/>
        <p:txBody>
          <a:bodyPr/>
          <a:lstStyle/>
          <a:p>
            <a:fld id="{4DBDE2CB-4801-494F-A0A4-D49D70804842}" type="slidenum">
              <a:rPr lang="zh-CN" altLang="en-US" smtClean="0"/>
              <a:t>13</a:t>
            </a:fld>
            <a:endParaRPr lang="zh-CN" altLang="en-US"/>
          </a:p>
        </p:txBody>
      </p:sp>
      <p:sp>
        <p:nvSpPr>
          <p:cNvPr id="4" name="标题 1">
            <a:extLst>
              <a:ext uri="{FF2B5EF4-FFF2-40B4-BE49-F238E27FC236}">
                <a16:creationId xmlns:a16="http://schemas.microsoft.com/office/drawing/2014/main" id="{A3BFEAC3-EF0B-FC50-0FF3-509CE41AC42C}"/>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pic>
        <p:nvPicPr>
          <p:cNvPr id="2" name="内容占位符 6">
            <a:extLst>
              <a:ext uri="{FF2B5EF4-FFF2-40B4-BE49-F238E27FC236}">
                <a16:creationId xmlns:a16="http://schemas.microsoft.com/office/drawing/2014/main" id="{D277DADD-2616-E1F7-C895-0C62633C9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6159" y="1586200"/>
            <a:ext cx="6691683" cy="4191000"/>
          </a:xfrm>
          <a:prstGeom prst="rect">
            <a:avLst/>
          </a:prstGeom>
        </p:spPr>
      </p:pic>
    </p:spTree>
    <p:extLst>
      <p:ext uri="{BB962C8B-B14F-4D97-AF65-F5344CB8AC3E}">
        <p14:creationId xmlns:p14="http://schemas.microsoft.com/office/powerpoint/2010/main" val="1181286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493D-16F6-C5C6-4C47-63FEE14237F5}"/>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5EACA14-E4A0-B2B4-572D-1F32C59DC952}"/>
              </a:ext>
            </a:extLst>
          </p:cNvPr>
          <p:cNvSpPr>
            <a:spLocks noGrp="1"/>
          </p:cNvSpPr>
          <p:nvPr>
            <p:ph type="sldNum" sz="quarter" idx="12"/>
          </p:nvPr>
        </p:nvSpPr>
        <p:spPr/>
        <p:txBody>
          <a:bodyPr/>
          <a:lstStyle/>
          <a:p>
            <a:fld id="{4DBDE2CB-4801-494F-A0A4-D49D70804842}" type="slidenum">
              <a:rPr lang="zh-CN" altLang="en-US" smtClean="0"/>
              <a:t>14</a:t>
            </a:fld>
            <a:endParaRPr lang="zh-CN" altLang="en-US"/>
          </a:p>
        </p:txBody>
      </p:sp>
      <p:sp>
        <p:nvSpPr>
          <p:cNvPr id="4" name="标题 1">
            <a:extLst>
              <a:ext uri="{FF2B5EF4-FFF2-40B4-BE49-F238E27FC236}">
                <a16:creationId xmlns:a16="http://schemas.microsoft.com/office/drawing/2014/main" id="{CD496CA2-237B-6DFD-05FE-D1BEF39EB8E6}"/>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F160C06C-0790-BE51-42F4-81D8637CF49D}"/>
              </a:ext>
            </a:extLst>
          </p:cNvPr>
          <p:cNvSpPr txBox="1">
            <a:spLocks noChangeArrowheads="1"/>
          </p:cNvSpPr>
          <p:nvPr/>
        </p:nvSpPr>
        <p:spPr>
          <a:xfrm>
            <a:off x="628650" y="1531937"/>
            <a:ext cx="78867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dirty="0"/>
              <a:t>（什么样的函数能作为</a:t>
            </a:r>
            <a:r>
              <a:rPr lang="zh-CN" altLang="en-US" sz="2400" dirty="0">
                <a:latin typeface="Times New Roman" panose="02020603050405020304" pitchFamily="18" charset="0"/>
              </a:rPr>
              <a:t>杂凑函数</a:t>
            </a:r>
            <a:r>
              <a:rPr lang="zh-CN" altLang="en-US" sz="2400" dirty="0"/>
              <a:t>？这个问题的含义非常广泛。</a:t>
            </a:r>
          </a:p>
          <a:p>
            <a:pPr>
              <a:buClr>
                <a:schemeClr val="tx1"/>
              </a:buClr>
              <a:buFont typeface="Wingdings" panose="05000000000000000000" pitchFamily="2" charset="2"/>
              <a:buNone/>
            </a:pPr>
            <a:r>
              <a:rPr lang="zh-CN" altLang="en-US" sz="2400" dirty="0"/>
              <a:t>以下仅举出几个简单的例子说明，什么样的函数不能作为</a:t>
            </a:r>
            <a:r>
              <a:rPr lang="zh-CN" altLang="en-US" sz="2400" dirty="0">
                <a:latin typeface="Times New Roman" panose="02020603050405020304" pitchFamily="18" charset="0"/>
              </a:rPr>
              <a:t>杂凑函数</a:t>
            </a:r>
            <a:r>
              <a:rPr lang="zh-CN" altLang="en-US" sz="2400" dirty="0"/>
              <a:t>。）</a:t>
            </a:r>
          </a:p>
        </p:txBody>
      </p:sp>
    </p:spTree>
    <p:extLst>
      <p:ext uri="{BB962C8B-B14F-4D97-AF65-F5344CB8AC3E}">
        <p14:creationId xmlns:p14="http://schemas.microsoft.com/office/powerpoint/2010/main" val="2388217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03489-69B7-D2F8-69CD-8D2E15060E65}"/>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13084BA-E8D5-996C-007F-48846BD9DB2A}"/>
              </a:ext>
            </a:extLst>
          </p:cNvPr>
          <p:cNvSpPr>
            <a:spLocks noGrp="1"/>
          </p:cNvSpPr>
          <p:nvPr>
            <p:ph type="sldNum" sz="quarter" idx="12"/>
          </p:nvPr>
        </p:nvSpPr>
        <p:spPr/>
        <p:txBody>
          <a:bodyPr/>
          <a:lstStyle/>
          <a:p>
            <a:fld id="{4DBDE2CB-4801-494F-A0A4-D49D70804842}" type="slidenum">
              <a:rPr lang="zh-CN" altLang="en-US" smtClean="0"/>
              <a:t>15</a:t>
            </a:fld>
            <a:endParaRPr lang="zh-CN" altLang="en-US"/>
          </a:p>
        </p:txBody>
      </p:sp>
      <p:sp>
        <p:nvSpPr>
          <p:cNvPr id="4" name="标题 1">
            <a:extLst>
              <a:ext uri="{FF2B5EF4-FFF2-40B4-BE49-F238E27FC236}">
                <a16:creationId xmlns:a16="http://schemas.microsoft.com/office/drawing/2014/main" id="{49CA7FEA-F640-EC4E-5198-0990ABD3FEE2}"/>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2FA3162B-4D1C-6845-6ECB-40C2B088ABC2}"/>
              </a:ext>
            </a:extLst>
          </p:cNvPr>
          <p:cNvSpPr txBox="1">
            <a:spLocks noChangeArrowheads="1"/>
          </p:cNvSpPr>
          <p:nvPr/>
        </p:nvSpPr>
        <p:spPr>
          <a:xfrm>
            <a:off x="250792" y="1553878"/>
            <a:ext cx="8424936" cy="42481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Wingdings" panose="05000000000000000000" pitchFamily="2" charset="2"/>
              <a:buNone/>
            </a:pPr>
            <a:endParaRPr lang="en-US" altLang="zh-CN" sz="2000" b="1" dirty="0">
              <a:latin typeface="Times New Roman" panose="02020603050405020304" pitchFamily="18" charset="0"/>
            </a:endParaRPr>
          </a:p>
          <a:p>
            <a:pPr>
              <a:buClr>
                <a:schemeClr val="tx1"/>
              </a:buClr>
              <a:buFont typeface="Wingdings" panose="05000000000000000000" pitchFamily="2" charset="2"/>
              <a:buNone/>
            </a:pPr>
            <a:r>
              <a:rPr lang="zh-CN" altLang="en-US" sz="2000" dirty="0">
                <a:latin typeface="Times New Roman" panose="02020603050405020304" pitchFamily="18" charset="0"/>
              </a:rPr>
              <a:t>例</a:t>
            </a:r>
            <a:r>
              <a:rPr lang="en-US" altLang="zh-CN" sz="2000" dirty="0">
                <a:latin typeface="Times New Roman" panose="02020603050405020304" pitchFamily="18" charset="0"/>
              </a:rPr>
              <a:t>1</a:t>
            </a:r>
            <a:r>
              <a:rPr lang="zh-CN" altLang="en-US" sz="2000" dirty="0">
                <a:latin typeface="Times New Roman" panose="02020603050405020304" pitchFamily="18" charset="0"/>
              </a:rPr>
              <a:t>：设函数</a:t>
            </a:r>
            <a:r>
              <a:rPr lang="en-US" altLang="zh-CN" sz="2000" dirty="0">
                <a:latin typeface="Times New Roman" panose="02020603050405020304" pitchFamily="18" charset="0"/>
              </a:rPr>
              <a:t>y=H(x)</a:t>
            </a:r>
            <a:r>
              <a:rPr lang="zh-CN" altLang="en-US" sz="2000" dirty="0">
                <a:latin typeface="Times New Roman" panose="02020603050405020304" pitchFamily="18" charset="0"/>
              </a:rPr>
              <a:t>具有可加性：对任意的 </a:t>
            </a:r>
            <a:r>
              <a:rPr lang="en-US" altLang="zh-CN" sz="2000" dirty="0">
                <a:latin typeface="Times New Roman" panose="02020603050405020304" pitchFamily="18" charset="0"/>
              </a:rPr>
              <a:t>x1</a:t>
            </a:r>
            <a:r>
              <a:rPr lang="zh-CN" altLang="en-US" sz="2000" dirty="0">
                <a:latin typeface="Times New Roman" panose="02020603050405020304" pitchFamily="18" charset="0"/>
              </a:rPr>
              <a:t>，</a:t>
            </a:r>
            <a:r>
              <a:rPr lang="en-US" altLang="zh-CN" sz="2000" dirty="0">
                <a:latin typeface="Times New Roman" panose="02020603050405020304" pitchFamily="18" charset="0"/>
              </a:rPr>
              <a:t>x2</a:t>
            </a:r>
            <a:r>
              <a:rPr lang="zh-CN" altLang="en-US" sz="2000" dirty="0">
                <a:latin typeface="Times New Roman" panose="02020603050405020304" pitchFamily="18" charset="0"/>
              </a:rPr>
              <a:t>，   </a:t>
            </a:r>
            <a:r>
              <a:rPr lang="en-US" altLang="zh-CN" sz="2000" dirty="0">
                <a:latin typeface="Times New Roman" panose="02020603050405020304" pitchFamily="18" charset="0"/>
              </a:rPr>
              <a:t>H(x1)+H(x2)=H(x1+x2)</a:t>
            </a:r>
            <a:r>
              <a:rPr lang="zh-CN" altLang="en-US" sz="2000" dirty="0">
                <a:latin typeface="Times New Roman" panose="02020603050405020304" pitchFamily="18" charset="0"/>
              </a:rPr>
              <a:t>。这样的函数不能作为杂凑函数。</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dirty="0">
                <a:latin typeface="Times New Roman" panose="02020603050405020304" pitchFamily="18" charset="0"/>
              </a:rPr>
              <a:t>x1</a:t>
            </a:r>
            <a:r>
              <a:rPr lang="zh-CN" altLang="en-US" sz="2000" dirty="0">
                <a:latin typeface="Times New Roman" panose="02020603050405020304" pitchFamily="18" charset="0"/>
              </a:rPr>
              <a:t>并计算</a:t>
            </a:r>
            <a:r>
              <a:rPr lang="en-US" altLang="zh-CN" sz="2000" dirty="0">
                <a:latin typeface="Times New Roman" panose="02020603050405020304" pitchFamily="18" charset="0"/>
              </a:rPr>
              <a:t>y1=H(x1)</a:t>
            </a:r>
            <a:r>
              <a:rPr lang="zh-CN" altLang="en-US" sz="2000" dirty="0">
                <a:latin typeface="Times New Roman" panose="02020603050405020304" pitchFamily="18" charset="0"/>
              </a:rPr>
              <a:t>；取</a:t>
            </a:r>
            <a:r>
              <a:rPr lang="en-US" altLang="zh-CN" sz="2000" dirty="0">
                <a:latin typeface="Times New Roman" panose="02020603050405020304" pitchFamily="18" charset="0"/>
              </a:rPr>
              <a:t>x2</a:t>
            </a:r>
            <a:r>
              <a:rPr lang="zh-CN" altLang="en-US" sz="2000" dirty="0">
                <a:latin typeface="Times New Roman" panose="02020603050405020304" pitchFamily="18" charset="0"/>
              </a:rPr>
              <a:t>并计算</a:t>
            </a:r>
            <a:r>
              <a:rPr lang="en-US" altLang="zh-CN" sz="2000" dirty="0">
                <a:latin typeface="Times New Roman" panose="02020603050405020304" pitchFamily="18" charset="0"/>
              </a:rPr>
              <a:t>y2=H(x2)</a:t>
            </a:r>
            <a:r>
              <a:rPr lang="zh-CN" altLang="en-US" sz="2000" dirty="0">
                <a:latin typeface="Times New Roman" panose="02020603050405020304" pitchFamily="18" charset="0"/>
              </a:rPr>
              <a:t>。</a:t>
            </a:r>
          </a:p>
          <a:p>
            <a:pPr>
              <a:buClr>
                <a:schemeClr val="tx1"/>
              </a:buClr>
              <a:buFont typeface="Wingdings" panose="05000000000000000000" pitchFamily="2" charset="2"/>
              <a:buNone/>
            </a:pPr>
            <a:endParaRPr lang="en-US" altLang="zh-CN" sz="2000" b="1" dirty="0">
              <a:latin typeface="Times New Roman" panose="02020603050405020304" pitchFamily="18" charset="0"/>
            </a:endParaRPr>
          </a:p>
          <a:p>
            <a:pPr>
              <a:buClr>
                <a:schemeClr val="tx1"/>
              </a:buClr>
              <a:buFont typeface="Wingdings" panose="05000000000000000000" pitchFamily="2" charset="2"/>
              <a:buNone/>
            </a:pPr>
            <a:endParaRPr lang="en-US" altLang="zh-CN" sz="2000" b="1" dirty="0">
              <a:latin typeface="Times New Roman" panose="02020603050405020304" pitchFamily="18" charset="0"/>
            </a:endParaRPr>
          </a:p>
          <a:p>
            <a:pPr>
              <a:buClr>
                <a:schemeClr val="tx1"/>
              </a:buClr>
              <a:buFont typeface="Wingdings" panose="05000000000000000000" pitchFamily="2" charset="2"/>
              <a:buNone/>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a:t>
            </a:r>
            <a:r>
              <a:rPr lang="zh-CN" altLang="en-US" sz="2000" dirty="0">
                <a:latin typeface="Times New Roman" panose="02020603050405020304" pitchFamily="18" charset="0"/>
              </a:rPr>
              <a:t>设函数</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具有</a:t>
            </a:r>
            <a:r>
              <a:rPr lang="zh-CN" altLang="en-US" sz="2000" u="sng" dirty="0">
                <a:latin typeface="Times New Roman" panose="02020603050405020304" pitchFamily="18" charset="0"/>
              </a:rPr>
              <a:t>线性</a:t>
            </a:r>
            <a:r>
              <a:rPr lang="zh-CN" altLang="en-US" sz="2000" dirty="0">
                <a:latin typeface="Times New Roman" panose="02020603050405020304" pitchFamily="18" charset="0"/>
              </a:rPr>
              <a:t>：对任意的 </a:t>
            </a:r>
            <a:r>
              <a:rPr lang="en-US" altLang="zh-CN" sz="2000" i="1" dirty="0">
                <a:latin typeface="Times New Roman" panose="02020603050405020304" pitchFamily="18" charset="0"/>
              </a:rPr>
              <a:t>x</a:t>
            </a:r>
            <a:r>
              <a:rPr lang="zh-CN" altLang="en-US" sz="2000" dirty="0">
                <a:latin typeface="Times New Roman" panose="02020603050405020304" pitchFamily="18" charset="0"/>
              </a:rPr>
              <a:t>，</a:t>
            </a:r>
            <a:r>
              <a:rPr lang="en-US" altLang="zh-CN" sz="2000" i="1" dirty="0">
                <a:latin typeface="Times New Roman" panose="02020603050405020304" pitchFamily="18" charset="0"/>
              </a:rPr>
              <a:t>a</a:t>
            </a:r>
            <a:r>
              <a:rPr lang="zh-CN" altLang="en-US" sz="2000" dirty="0">
                <a:latin typeface="Times New Roman" panose="02020603050405020304" pitchFamily="18" charset="0"/>
              </a:rPr>
              <a:t>，</a:t>
            </a:r>
            <a:r>
              <a:rPr lang="en-US" altLang="zh-CN" sz="2000" i="1" dirty="0" err="1">
                <a:latin typeface="Times New Roman" panose="02020603050405020304" pitchFamily="18" charset="0"/>
              </a:rPr>
              <a:t>aH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ax</a:t>
            </a:r>
            <a:r>
              <a:rPr lang="en-US" altLang="zh-CN" sz="2000" dirty="0">
                <a:latin typeface="Times New Roman" panose="02020603050405020304" pitchFamily="18" charset="0"/>
              </a:rPr>
              <a:t>)</a:t>
            </a:r>
            <a:r>
              <a:rPr lang="zh-CN" altLang="en-US" sz="2000" dirty="0">
                <a:latin typeface="Times New Roman" panose="02020603050405020304" pitchFamily="18" charset="0"/>
              </a:rPr>
              <a:t>。这样的函数不能作为杂凑函数。</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并计算</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。记</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ay</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。求一个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使得</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，可以取</a:t>
            </a:r>
            <a:r>
              <a:rPr lang="en-US" altLang="zh-CN" sz="2000" i="1" dirty="0">
                <a:latin typeface="Times New Roman" panose="02020603050405020304" pitchFamily="18" charset="0"/>
              </a:rPr>
              <a:t>x=ax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a:t>
            </a:r>
          </a:p>
        </p:txBody>
      </p:sp>
    </p:spTree>
    <p:extLst>
      <p:ext uri="{BB962C8B-B14F-4D97-AF65-F5344CB8AC3E}">
        <p14:creationId xmlns:p14="http://schemas.microsoft.com/office/powerpoint/2010/main" val="56358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DBA24-8BDA-1ACC-3F87-8219836CB31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A9A5C2C-F929-0BEC-54F1-208C84174FBB}"/>
              </a:ext>
            </a:extLst>
          </p:cNvPr>
          <p:cNvSpPr>
            <a:spLocks noGrp="1"/>
          </p:cNvSpPr>
          <p:nvPr>
            <p:ph type="sldNum" sz="quarter" idx="12"/>
          </p:nvPr>
        </p:nvSpPr>
        <p:spPr/>
        <p:txBody>
          <a:bodyPr/>
          <a:lstStyle/>
          <a:p>
            <a:fld id="{4DBDE2CB-4801-494F-A0A4-D49D70804842}" type="slidenum">
              <a:rPr lang="zh-CN" altLang="en-US" smtClean="0"/>
              <a:t>16</a:t>
            </a:fld>
            <a:endParaRPr lang="zh-CN" altLang="en-US"/>
          </a:p>
        </p:txBody>
      </p:sp>
      <p:sp>
        <p:nvSpPr>
          <p:cNvPr id="4" name="标题 1">
            <a:extLst>
              <a:ext uri="{FF2B5EF4-FFF2-40B4-BE49-F238E27FC236}">
                <a16:creationId xmlns:a16="http://schemas.microsoft.com/office/drawing/2014/main" id="{8BF39C90-820E-4DA4-653B-19BA2F992E70}"/>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7524EA0A-7532-02D8-E56C-01E3EFE8E71A}"/>
              </a:ext>
            </a:extLst>
          </p:cNvPr>
          <p:cNvSpPr txBox="1">
            <a:spLocks noChangeArrowheads="1"/>
          </p:cNvSpPr>
          <p:nvPr/>
        </p:nvSpPr>
        <p:spPr>
          <a:xfrm>
            <a:off x="206121" y="1553202"/>
            <a:ext cx="8713787" cy="42481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Wingdings" panose="05000000000000000000" pitchFamily="2" charset="2"/>
              <a:buNone/>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a:t>
            </a:r>
            <a:r>
              <a:rPr lang="zh-CN" altLang="en-US" sz="2000" dirty="0">
                <a:latin typeface="Times New Roman" panose="02020603050405020304" pitchFamily="18" charset="0"/>
              </a:rPr>
              <a:t>设函数</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具有</a:t>
            </a:r>
            <a:r>
              <a:rPr lang="zh-CN" altLang="en-US" sz="2000" u="sng" dirty="0">
                <a:latin typeface="Times New Roman" panose="02020603050405020304" pitchFamily="18" charset="0"/>
              </a:rPr>
              <a:t>局部置换性</a:t>
            </a:r>
            <a:r>
              <a:rPr lang="zh-CN" altLang="en-US" sz="2000" dirty="0">
                <a:latin typeface="Times New Roman" panose="02020603050405020304" pitchFamily="18" charset="0"/>
              </a:rPr>
              <a:t>： </a:t>
            </a:r>
            <a:r>
              <a:rPr lang="en-US" altLang="zh-CN" sz="2000" i="1" u="sng" dirty="0">
                <a:latin typeface="Times New Roman" panose="02020603050405020304" pitchFamily="18" charset="0"/>
              </a:rPr>
              <a:t>x</a:t>
            </a:r>
            <a:r>
              <a:rPr lang="zh-CN" altLang="en-US" sz="2000" u="sng" dirty="0">
                <a:latin typeface="Times New Roman" panose="02020603050405020304" pitchFamily="18" charset="0"/>
              </a:rPr>
              <a:t>的第一个比特总等于</a:t>
            </a:r>
            <a:r>
              <a:rPr lang="en-US" altLang="zh-CN" sz="2000" i="1" u="sng" dirty="0">
                <a:latin typeface="Times New Roman" panose="02020603050405020304" pitchFamily="18" charset="0"/>
              </a:rPr>
              <a:t>y</a:t>
            </a:r>
            <a:r>
              <a:rPr lang="zh-CN" altLang="en-US" sz="2000" u="sng" dirty="0">
                <a:latin typeface="Times New Roman" panose="02020603050405020304" pitchFamily="18" charset="0"/>
              </a:rPr>
              <a:t>的第三个比特，无论</a:t>
            </a:r>
            <a:r>
              <a:rPr lang="en-US" altLang="zh-CN" sz="2000" i="1" u="sng" dirty="0">
                <a:latin typeface="Times New Roman" panose="02020603050405020304" pitchFamily="18" charset="0"/>
              </a:rPr>
              <a:t>x</a:t>
            </a:r>
            <a:r>
              <a:rPr lang="zh-CN" altLang="en-US" sz="2000" u="sng" dirty="0">
                <a:latin typeface="Times New Roman" panose="02020603050405020304" pitchFamily="18" charset="0"/>
              </a:rPr>
              <a:t>为何值</a:t>
            </a:r>
            <a:r>
              <a:rPr lang="zh-CN" altLang="en-US" sz="2000" dirty="0">
                <a:latin typeface="Times New Roman" panose="02020603050405020304" pitchFamily="18" charset="0"/>
              </a:rPr>
              <a:t>。这样的函数不能作为杂凑函数。</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并计算</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i="1" dirty="0">
                <a:latin typeface="Times New Roman" panose="02020603050405020304" pitchFamily="18" charset="0"/>
              </a:rPr>
              <a:t>y</a:t>
            </a:r>
            <a:r>
              <a:rPr lang="zh-CN" altLang="en-US" sz="2000" dirty="0">
                <a:latin typeface="Times New Roman" panose="02020603050405020304" pitchFamily="18" charset="0"/>
              </a:rPr>
              <a:t>为将</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改变第三个比特。求一个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使得</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，可以取为将</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改变第一个比特。</a:t>
            </a:r>
            <a:endParaRPr lang="en-US" altLang="zh-CN" sz="2000" dirty="0">
              <a:latin typeface="Times New Roman" panose="02020603050405020304" pitchFamily="18" charset="0"/>
            </a:endParaRPr>
          </a:p>
          <a:p>
            <a:pPr>
              <a:buClr>
                <a:schemeClr val="tx1"/>
              </a:buClr>
              <a:buFont typeface="Wingdings" panose="05000000000000000000" pitchFamily="2" charset="2"/>
              <a:buNone/>
            </a:pPr>
            <a:endParaRPr lang="zh-CN" altLang="en-US" sz="2000" dirty="0">
              <a:latin typeface="Times New Roman" panose="02020603050405020304" pitchFamily="18" charset="0"/>
            </a:endParaRPr>
          </a:p>
          <a:p>
            <a:pPr>
              <a:buClr>
                <a:schemeClr val="tx1"/>
              </a:buClr>
              <a:buFont typeface="Wingdings" panose="05000000000000000000" pitchFamily="2" charset="2"/>
              <a:buNone/>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4</a:t>
            </a:r>
            <a:r>
              <a:rPr lang="zh-CN" altLang="en-US" sz="2000" b="1" dirty="0">
                <a:latin typeface="Times New Roman" panose="02020603050405020304" pitchFamily="18" charset="0"/>
              </a:rPr>
              <a:t>：</a:t>
            </a:r>
            <a:r>
              <a:rPr lang="zh-CN" altLang="en-US" sz="2000" dirty="0">
                <a:latin typeface="Times New Roman" panose="02020603050405020304" pitchFamily="18" charset="0"/>
              </a:rPr>
              <a:t>设函数</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具有</a:t>
            </a:r>
            <a:r>
              <a:rPr lang="zh-CN" altLang="en-US" sz="2000" u="sng" dirty="0">
                <a:latin typeface="Times New Roman" panose="02020603050405020304" pitchFamily="18" charset="0"/>
              </a:rPr>
              <a:t>某种连续性</a:t>
            </a:r>
            <a:r>
              <a:rPr lang="zh-CN" altLang="en-US" sz="2000" dirty="0">
                <a:latin typeface="Times New Roman" panose="02020603050405020304" pitchFamily="18" charset="0"/>
              </a:rPr>
              <a:t>：当 </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与</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2 </a:t>
            </a:r>
            <a:r>
              <a:rPr lang="zh-CN" altLang="en-US" sz="2000" dirty="0">
                <a:latin typeface="Times New Roman" panose="02020603050405020304" pitchFamily="18" charset="0"/>
              </a:rPr>
              <a:t>“距离很近”时，存在</a:t>
            </a:r>
            <a:r>
              <a:rPr lang="en-US" altLang="zh-CN" sz="2000" i="1" dirty="0">
                <a:latin typeface="Times New Roman" panose="02020603050405020304" pitchFamily="18" charset="0"/>
              </a:rPr>
              <a:t> 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与</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 </a:t>
            </a:r>
            <a:r>
              <a:rPr lang="zh-CN" altLang="en-US" sz="2000" dirty="0">
                <a:latin typeface="Times New Roman" panose="02020603050405020304" pitchFamily="18" charset="0"/>
              </a:rPr>
              <a:t>“距离很近”</a:t>
            </a:r>
            <a:r>
              <a:rPr lang="en-US" altLang="zh-CN" sz="2000" baseline="-25000" dirty="0">
                <a:latin typeface="Times New Roman" panose="02020603050405020304" pitchFamily="18" charset="0"/>
              </a:rPr>
              <a:t> </a:t>
            </a:r>
            <a:r>
              <a:rPr lang="zh-CN" altLang="en-US" sz="2000" dirty="0">
                <a:latin typeface="Times New Roman" panose="02020603050405020304" pitchFamily="18" charset="0"/>
              </a:rPr>
              <a:t>，且</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 </a:t>
            </a:r>
            <a:r>
              <a:rPr lang="zh-CN" altLang="en-US" sz="2000" dirty="0">
                <a:latin typeface="Times New Roman" panose="02020603050405020304" pitchFamily="18" charset="0"/>
              </a:rPr>
              <a:t>。这样的函数不能作为杂凑函数。</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并计算</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。取</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与</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“距离很近”。 寻找一个</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使</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zh-CN" altLang="en-US" sz="2000" dirty="0">
                <a:latin typeface="Times New Roman" panose="02020603050405020304" pitchFamily="18" charset="0"/>
              </a:rPr>
              <a:t>，只需要在</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的“附近”寻找，搜索量远远低于穷举搜索。</a:t>
            </a:r>
          </a:p>
        </p:txBody>
      </p:sp>
    </p:spTree>
    <p:extLst>
      <p:ext uri="{BB962C8B-B14F-4D97-AF65-F5344CB8AC3E}">
        <p14:creationId xmlns:p14="http://schemas.microsoft.com/office/powerpoint/2010/main" val="3553251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FD080-D9BE-9AD2-371B-3EB9B3C99D62}"/>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80ED59C-3806-A4E0-0BC7-367FF1E3AE03}"/>
              </a:ext>
            </a:extLst>
          </p:cNvPr>
          <p:cNvSpPr>
            <a:spLocks noGrp="1"/>
          </p:cNvSpPr>
          <p:nvPr>
            <p:ph type="sldNum" sz="quarter" idx="12"/>
          </p:nvPr>
        </p:nvSpPr>
        <p:spPr/>
        <p:txBody>
          <a:bodyPr/>
          <a:lstStyle/>
          <a:p>
            <a:fld id="{4DBDE2CB-4801-494F-A0A4-D49D70804842}" type="slidenum">
              <a:rPr lang="zh-CN" altLang="en-US" smtClean="0"/>
              <a:t>17</a:t>
            </a:fld>
            <a:endParaRPr lang="zh-CN" altLang="en-US"/>
          </a:p>
        </p:txBody>
      </p:sp>
      <p:sp>
        <p:nvSpPr>
          <p:cNvPr id="4" name="标题 1">
            <a:extLst>
              <a:ext uri="{FF2B5EF4-FFF2-40B4-BE49-F238E27FC236}">
                <a16:creationId xmlns:a16="http://schemas.microsoft.com/office/drawing/2014/main" id="{556E7324-FFD7-7992-E119-B54541F430DB}"/>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5" name="Rectangle 3">
            <a:extLst>
              <a:ext uri="{FF2B5EF4-FFF2-40B4-BE49-F238E27FC236}">
                <a16:creationId xmlns:a16="http://schemas.microsoft.com/office/drawing/2014/main" id="{23AB2C04-2A4A-D904-124A-4B3A60CEA207}"/>
              </a:ext>
            </a:extLst>
          </p:cNvPr>
          <p:cNvSpPr txBox="1">
            <a:spLocks noChangeArrowheads="1"/>
          </p:cNvSpPr>
          <p:nvPr/>
        </p:nvSpPr>
        <p:spPr>
          <a:xfrm>
            <a:off x="357312" y="1431056"/>
            <a:ext cx="8429376" cy="43165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Wingdings" panose="05000000000000000000" pitchFamily="2" charset="2"/>
              <a:buNone/>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a:t>
            </a:r>
            <a:r>
              <a:rPr lang="zh-CN" altLang="en-US" sz="2000" dirty="0">
                <a:latin typeface="Times New Roman" panose="02020603050405020304" pitchFamily="18" charset="0"/>
              </a:rPr>
              <a:t>设函数</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r>
              <a:rPr lang="en-US" altLang="zh-CN" sz="2000" i="1" dirty="0">
                <a:latin typeface="Times New Roman" panose="02020603050405020304" pitchFamily="18" charset="0"/>
              </a:rPr>
              <a:t>y</a:t>
            </a:r>
            <a:r>
              <a:rPr lang="zh-CN" altLang="en-US" sz="2000" dirty="0">
                <a:latin typeface="Times New Roman" panose="02020603050405020304" pitchFamily="18" charset="0"/>
              </a:rPr>
              <a:t>的固定长度太小。这样的函数不能作为杂凑函数，因为可以用穷举的方法进行</a:t>
            </a:r>
            <a:r>
              <a:rPr lang="zh-CN" altLang="en-US" sz="2000" u="sng" dirty="0">
                <a:latin typeface="Times New Roman" panose="02020603050405020304" pitchFamily="18" charset="0"/>
              </a:rPr>
              <a:t>碰撞攻击</a:t>
            </a:r>
            <a:r>
              <a:rPr lang="zh-CN" altLang="en-US" sz="2000" dirty="0">
                <a:latin typeface="Times New Roman" panose="02020603050405020304" pitchFamily="18" charset="0"/>
              </a:rPr>
              <a:t>。</a:t>
            </a:r>
          </a:p>
          <a:p>
            <a:pPr>
              <a:buClr>
                <a:schemeClr val="tx1"/>
              </a:buClr>
              <a:buFont typeface="Wingdings" panose="05000000000000000000" pitchFamily="2" charset="2"/>
              <a:buNone/>
            </a:pPr>
            <a:r>
              <a:rPr lang="zh-CN" altLang="en-US" sz="2000" dirty="0">
                <a:latin typeface="Times New Roman" panose="02020603050405020304" pitchFamily="18" charset="0"/>
              </a:rPr>
              <a:t>设</a:t>
            </a:r>
            <a:r>
              <a:rPr lang="en-US" altLang="zh-CN" sz="2000" i="1" dirty="0">
                <a:latin typeface="Times New Roman" panose="02020603050405020304" pitchFamily="18" charset="0"/>
              </a:rPr>
              <a:t>y</a:t>
            </a:r>
            <a:r>
              <a:rPr lang="zh-CN" altLang="en-US" sz="2000" dirty="0">
                <a:latin typeface="Times New Roman" panose="02020603050405020304" pitchFamily="18" charset="0"/>
              </a:rPr>
              <a:t>的固定长度为</a:t>
            </a:r>
            <a:r>
              <a:rPr lang="en-US" altLang="zh-CN" sz="2000" dirty="0">
                <a:latin typeface="Times New Roman" panose="02020603050405020304" pitchFamily="18" charset="0"/>
              </a:rPr>
              <a:t>8</a:t>
            </a:r>
            <a:r>
              <a:rPr lang="zh-CN" altLang="en-US" sz="2000" dirty="0">
                <a:latin typeface="Times New Roman" panose="02020603050405020304" pitchFamily="18" charset="0"/>
              </a:rPr>
              <a:t>。注意到不同的</a:t>
            </a:r>
            <a:r>
              <a:rPr lang="en-US" altLang="zh-CN" sz="2000" i="1" dirty="0">
                <a:latin typeface="Times New Roman" panose="02020603050405020304" pitchFamily="18" charset="0"/>
              </a:rPr>
              <a:t>y</a:t>
            </a:r>
            <a:r>
              <a:rPr lang="zh-CN" altLang="en-US" sz="2000" dirty="0">
                <a:latin typeface="Times New Roman" panose="02020603050405020304" pitchFamily="18" charset="0"/>
              </a:rPr>
              <a:t>的值的个数有</a:t>
            </a:r>
            <a:r>
              <a:rPr lang="en-US" altLang="zh-CN" sz="2000" dirty="0">
                <a:latin typeface="Times New Roman" panose="02020603050405020304" pitchFamily="18" charset="0"/>
              </a:rPr>
              <a:t>2</a:t>
            </a:r>
            <a:r>
              <a:rPr lang="en-US" altLang="zh-CN" sz="2000" baseline="30000" dirty="0">
                <a:latin typeface="Times New Roman" panose="02020603050405020304" pitchFamily="18" charset="0"/>
              </a:rPr>
              <a:t>8</a:t>
            </a:r>
            <a:r>
              <a:rPr lang="en-US" altLang="zh-CN" sz="2000" dirty="0">
                <a:latin typeface="Times New Roman" panose="02020603050405020304" pitchFamily="18" charset="0"/>
              </a:rPr>
              <a:t>=256</a:t>
            </a:r>
            <a:r>
              <a:rPr lang="zh-CN" altLang="en-US" sz="2000" dirty="0">
                <a:latin typeface="Times New Roman" panose="02020603050405020304" pitchFamily="18" charset="0"/>
              </a:rPr>
              <a:t>个。</a:t>
            </a:r>
          </a:p>
          <a:p>
            <a:pPr>
              <a:buClr>
                <a:schemeClr val="tx1"/>
              </a:buClr>
              <a:buFont typeface="Wingdings" panose="05000000000000000000" pitchFamily="2" charset="2"/>
              <a:buNone/>
            </a:pPr>
            <a:r>
              <a:rPr lang="zh-CN" altLang="en-US" sz="2000" dirty="0">
                <a:latin typeface="Times New Roman" panose="02020603050405020304" pitchFamily="18" charset="0"/>
              </a:rPr>
              <a:t>取</a:t>
            </a:r>
            <a:r>
              <a:rPr lang="en-US" altLang="zh-CN" sz="2000" dirty="0">
                <a:latin typeface="Times New Roman" panose="02020603050405020304" pitchFamily="18" charset="0"/>
              </a:rPr>
              <a:t>257</a:t>
            </a:r>
            <a:r>
              <a:rPr lang="zh-CN" altLang="en-US" sz="2000" dirty="0">
                <a:latin typeface="Times New Roman" panose="02020603050405020304" pitchFamily="18" charset="0"/>
              </a:rPr>
              <a:t>个不同的</a:t>
            </a:r>
            <a:r>
              <a:rPr lang="en-US" altLang="zh-CN" sz="2000" i="1" dirty="0">
                <a:latin typeface="Times New Roman" panose="02020603050405020304" pitchFamily="18" charset="0"/>
              </a:rPr>
              <a:t>x</a:t>
            </a:r>
            <a:r>
              <a:rPr lang="zh-CN" altLang="en-US" sz="2000" dirty="0">
                <a:latin typeface="Times New Roman" panose="02020603050405020304" pitchFamily="18" charset="0"/>
              </a:rPr>
              <a:t>，并对每个</a:t>
            </a:r>
            <a:r>
              <a:rPr lang="en-US" altLang="zh-CN" sz="2000" i="1" dirty="0">
                <a:latin typeface="Times New Roman" panose="02020603050405020304" pitchFamily="18" charset="0"/>
              </a:rPr>
              <a:t>x</a:t>
            </a:r>
            <a:r>
              <a:rPr lang="zh-CN" altLang="en-US" sz="2000" dirty="0">
                <a:latin typeface="Times New Roman" panose="02020603050405020304" pitchFamily="18" charset="0"/>
              </a:rPr>
              <a:t>计算</a:t>
            </a:r>
            <a:r>
              <a:rPr lang="en-US" altLang="zh-CN" sz="2000" i="1" dirty="0">
                <a:latin typeface="Times New Roman" panose="02020603050405020304" pitchFamily="18" charset="0"/>
              </a:rPr>
              <a:t>y</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dirty="0">
                <a:latin typeface="Times New Roman" panose="02020603050405020304" pitchFamily="18" charset="0"/>
              </a:rPr>
              <a:t>)</a:t>
            </a:r>
            <a:r>
              <a:rPr lang="zh-CN" altLang="en-US" sz="2000" dirty="0">
                <a:latin typeface="Times New Roman" panose="02020603050405020304" pitchFamily="18" charset="0"/>
              </a:rPr>
              <a:t>，得到了</a:t>
            </a:r>
            <a:r>
              <a:rPr lang="en-US" altLang="zh-CN" sz="2000" dirty="0">
                <a:latin typeface="Times New Roman" panose="02020603050405020304" pitchFamily="18" charset="0"/>
              </a:rPr>
              <a:t>257</a:t>
            </a:r>
            <a:r>
              <a:rPr lang="zh-CN" altLang="en-US" sz="2000" dirty="0">
                <a:latin typeface="Times New Roman" panose="02020603050405020304" pitchFamily="18" charset="0"/>
              </a:rPr>
              <a:t>个</a:t>
            </a:r>
            <a:r>
              <a:rPr lang="en-US" altLang="zh-CN" sz="2000" i="1" dirty="0">
                <a:latin typeface="Times New Roman" panose="02020603050405020304" pitchFamily="18" charset="0"/>
              </a:rPr>
              <a:t>y</a:t>
            </a:r>
            <a:r>
              <a:rPr lang="zh-CN" altLang="en-US" sz="2000" dirty="0">
                <a:latin typeface="Times New Roman" panose="02020603050405020304" pitchFamily="18" charset="0"/>
              </a:rPr>
              <a:t>。</a:t>
            </a:r>
          </a:p>
          <a:p>
            <a:pPr>
              <a:buClr>
                <a:schemeClr val="tx1"/>
              </a:buClr>
              <a:buFont typeface="Wingdings" panose="05000000000000000000" pitchFamily="2" charset="2"/>
              <a:buNone/>
            </a:pPr>
            <a:r>
              <a:rPr lang="zh-CN" altLang="en-US" sz="2000" dirty="0">
                <a:latin typeface="Times New Roman" panose="02020603050405020304" pitchFamily="18" charset="0"/>
              </a:rPr>
              <a:t>这</a:t>
            </a:r>
            <a:r>
              <a:rPr lang="en-US" altLang="zh-CN" sz="2000" dirty="0">
                <a:latin typeface="Times New Roman" panose="02020603050405020304" pitchFamily="18" charset="0"/>
              </a:rPr>
              <a:t>257</a:t>
            </a:r>
            <a:r>
              <a:rPr lang="zh-CN" altLang="en-US" sz="2000" dirty="0">
                <a:latin typeface="Times New Roman" panose="02020603050405020304" pitchFamily="18" charset="0"/>
              </a:rPr>
              <a:t>个</a:t>
            </a:r>
            <a:r>
              <a:rPr lang="en-US" altLang="zh-CN" sz="2000" i="1" dirty="0">
                <a:latin typeface="Times New Roman" panose="02020603050405020304" pitchFamily="18" charset="0"/>
              </a:rPr>
              <a:t>y</a:t>
            </a:r>
            <a:r>
              <a:rPr lang="zh-CN" altLang="en-US" sz="2000" dirty="0">
                <a:latin typeface="Times New Roman" panose="02020603050405020304" pitchFamily="18" charset="0"/>
              </a:rPr>
              <a:t>必然有</a:t>
            </a:r>
            <a:r>
              <a:rPr lang="zh-CN" altLang="en-US" sz="2000" u="sng" dirty="0">
                <a:latin typeface="Times New Roman" panose="02020603050405020304" pitchFamily="18" charset="0"/>
              </a:rPr>
              <a:t>两个具有相同的值</a:t>
            </a:r>
            <a:r>
              <a:rPr lang="zh-CN" altLang="en-US" sz="2000" dirty="0">
                <a:latin typeface="Times New Roman" panose="02020603050405020304" pitchFamily="18" charset="0"/>
              </a:rPr>
              <a:t>。</a:t>
            </a:r>
          </a:p>
        </p:txBody>
      </p:sp>
      <p:sp>
        <p:nvSpPr>
          <p:cNvPr id="7" name="文本框 6">
            <a:extLst>
              <a:ext uri="{FF2B5EF4-FFF2-40B4-BE49-F238E27FC236}">
                <a16:creationId xmlns:a16="http://schemas.microsoft.com/office/drawing/2014/main" id="{1F01C788-F0CE-61CA-6FA5-D5025E463FAF}"/>
              </a:ext>
            </a:extLst>
          </p:cNvPr>
          <p:cNvSpPr txBox="1"/>
          <p:nvPr/>
        </p:nvSpPr>
        <p:spPr>
          <a:xfrm>
            <a:off x="779318" y="3869891"/>
            <a:ext cx="7315200" cy="1754326"/>
          </a:xfrm>
          <a:prstGeom prst="rect">
            <a:avLst/>
          </a:prstGeom>
          <a:noFill/>
        </p:spPr>
        <p:txBody>
          <a:bodyPr wrap="square">
            <a:spAutoFit/>
          </a:bodyPr>
          <a:lstStyle/>
          <a:p>
            <a:pPr>
              <a:buFont typeface="Wingdings" panose="05000000000000000000" pitchFamily="2" charset="2"/>
              <a:buNone/>
            </a:pPr>
            <a:r>
              <a:rPr lang="zh-CN" altLang="en-US" sz="1800" dirty="0">
                <a:latin typeface="Times New Roman" panose="02020603050405020304" pitchFamily="18" charset="0"/>
              </a:rPr>
              <a:t>由此可见，杂凑函数</a:t>
            </a:r>
            <a:r>
              <a:rPr lang="en-US" altLang="zh-CN" sz="1800" i="1" dirty="0">
                <a:latin typeface="Times New Roman" panose="02020603050405020304" pitchFamily="18" charset="0"/>
              </a:rPr>
              <a:t>y</a:t>
            </a:r>
            <a:r>
              <a:rPr lang="en-US" altLang="zh-CN" sz="1800" dirty="0">
                <a:latin typeface="Times New Roman" panose="02020603050405020304" pitchFamily="18" charset="0"/>
              </a:rPr>
              <a:t>=</a:t>
            </a:r>
            <a:r>
              <a:rPr lang="en-US" altLang="zh-CN" sz="1800" i="1" dirty="0">
                <a:latin typeface="Times New Roman" panose="02020603050405020304" pitchFamily="18" charset="0"/>
              </a:rPr>
              <a:t>H</a:t>
            </a:r>
            <a:r>
              <a:rPr lang="en-US" altLang="zh-CN" sz="1800" dirty="0">
                <a:latin typeface="Times New Roman" panose="02020603050405020304" pitchFamily="18" charset="0"/>
              </a:rPr>
              <a:t>(</a:t>
            </a:r>
            <a:r>
              <a:rPr lang="en-US" altLang="zh-CN" sz="1800" i="1" dirty="0">
                <a:latin typeface="Times New Roman" panose="02020603050405020304" pitchFamily="18" charset="0"/>
              </a:rPr>
              <a:t>x</a:t>
            </a:r>
            <a:r>
              <a:rPr lang="en-US" altLang="zh-CN" sz="1800" dirty="0">
                <a:latin typeface="Times New Roman" panose="02020603050405020304" pitchFamily="18" charset="0"/>
              </a:rPr>
              <a:t>)</a:t>
            </a:r>
            <a:r>
              <a:rPr lang="zh-CN" altLang="en-US" sz="1800" dirty="0">
                <a:latin typeface="Times New Roman" panose="02020603050405020304" pitchFamily="18" charset="0"/>
              </a:rPr>
              <a:t>不能具有任何“整齐”的性质，并且</a:t>
            </a:r>
            <a:r>
              <a:rPr lang="en-US" altLang="zh-CN" sz="1800" i="1" dirty="0">
                <a:latin typeface="Times New Roman" panose="02020603050405020304" pitchFamily="18" charset="0"/>
              </a:rPr>
              <a:t>x</a:t>
            </a:r>
            <a:r>
              <a:rPr lang="zh-CN" altLang="en-US" sz="1800" dirty="0">
                <a:latin typeface="Times New Roman" panose="02020603050405020304" pitchFamily="18" charset="0"/>
              </a:rPr>
              <a:t>的任一个比特影响</a:t>
            </a:r>
            <a:r>
              <a:rPr lang="en-US" altLang="zh-CN" sz="1800" i="1" dirty="0">
                <a:latin typeface="Times New Roman" panose="02020603050405020304" pitchFamily="18" charset="0"/>
              </a:rPr>
              <a:t>y</a:t>
            </a:r>
            <a:r>
              <a:rPr lang="zh-CN" altLang="en-US" sz="1800" dirty="0">
                <a:latin typeface="Times New Roman" panose="02020603050405020304" pitchFamily="18" charset="0"/>
              </a:rPr>
              <a:t>的每一个比特，就像揉面一样，达到</a:t>
            </a:r>
            <a:r>
              <a:rPr lang="zh-CN" altLang="en-US" sz="1800" dirty="0">
                <a:solidFill>
                  <a:srgbClr val="FF0000"/>
                </a:solidFill>
                <a:latin typeface="Times New Roman" panose="02020603050405020304" pitchFamily="18" charset="0"/>
              </a:rPr>
              <a:t>充分的混淆和扩散</a:t>
            </a:r>
            <a:r>
              <a:rPr lang="zh-CN" altLang="en-US" sz="1800" dirty="0">
                <a:latin typeface="Times New Roman" panose="02020603050405020304" pitchFamily="18" charset="0"/>
              </a:rPr>
              <a:t>。</a:t>
            </a:r>
          </a:p>
          <a:p>
            <a:pPr>
              <a:buFont typeface="Wingdings" panose="05000000000000000000" pitchFamily="2" charset="2"/>
              <a:buNone/>
            </a:pPr>
            <a:r>
              <a:rPr lang="zh-CN" altLang="en-US" sz="1800" dirty="0">
                <a:latin typeface="Times New Roman" panose="02020603050405020304" pitchFamily="18" charset="0"/>
              </a:rPr>
              <a:t>此外，</a:t>
            </a:r>
            <a:r>
              <a:rPr lang="en-US" altLang="zh-CN" sz="1800" i="1" dirty="0">
                <a:latin typeface="Times New Roman" panose="02020603050405020304" pitchFamily="18" charset="0"/>
              </a:rPr>
              <a:t>y</a:t>
            </a:r>
            <a:r>
              <a:rPr lang="zh-CN" altLang="en-US" sz="1800" dirty="0">
                <a:latin typeface="Times New Roman" panose="02020603050405020304" pitchFamily="18" charset="0"/>
              </a:rPr>
              <a:t>的长度不能太短，一般在</a:t>
            </a:r>
            <a:r>
              <a:rPr lang="en-US" altLang="zh-CN" sz="1800" dirty="0">
                <a:latin typeface="Times New Roman" panose="02020603050405020304" pitchFamily="18" charset="0"/>
              </a:rPr>
              <a:t>128</a:t>
            </a:r>
            <a:r>
              <a:rPr lang="zh-CN" altLang="en-US" sz="1800" dirty="0">
                <a:latin typeface="Times New Roman" panose="02020603050405020304" pitchFamily="18" charset="0"/>
              </a:rPr>
              <a:t>以上，以防止用穷举的方法进行碰撞攻击。</a:t>
            </a:r>
          </a:p>
          <a:p>
            <a:pPr>
              <a:buFont typeface="Wingdings" panose="05000000000000000000" pitchFamily="2" charset="2"/>
              <a:buNone/>
            </a:pPr>
            <a:r>
              <a:rPr lang="zh-CN" altLang="en-US" sz="1800" dirty="0">
                <a:latin typeface="Times New Roman" panose="02020603050405020304" pitchFamily="18" charset="0"/>
              </a:rPr>
              <a:t>我们发现，杂凑函数的设计准则颇像分组密码的设计准则。所不同的是，</a:t>
            </a:r>
            <a:r>
              <a:rPr lang="zh-CN" altLang="en-US" sz="1800" u="sng" dirty="0">
                <a:latin typeface="Times New Roman" panose="02020603050405020304" pitchFamily="18" charset="0"/>
              </a:rPr>
              <a:t>分组密码不具有压缩功能</a:t>
            </a:r>
            <a:r>
              <a:rPr lang="zh-CN" altLang="en-US" dirty="0">
                <a:latin typeface="Times New Roman" panose="02020603050405020304" pitchFamily="18" charset="0"/>
              </a:rPr>
              <a:t>。</a:t>
            </a:r>
          </a:p>
        </p:txBody>
      </p:sp>
    </p:spTree>
    <p:extLst>
      <p:ext uri="{BB962C8B-B14F-4D97-AF65-F5344CB8AC3E}">
        <p14:creationId xmlns:p14="http://schemas.microsoft.com/office/powerpoint/2010/main" val="3629189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D7F7A-A536-0971-1A61-F516EFB190F3}"/>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48643A9-23C4-7967-6293-4B25E7818992}"/>
              </a:ext>
            </a:extLst>
          </p:cNvPr>
          <p:cNvSpPr>
            <a:spLocks noGrp="1"/>
          </p:cNvSpPr>
          <p:nvPr>
            <p:ph type="sldNum" sz="quarter" idx="12"/>
          </p:nvPr>
        </p:nvSpPr>
        <p:spPr/>
        <p:txBody>
          <a:bodyPr/>
          <a:lstStyle/>
          <a:p>
            <a:fld id="{4DBDE2CB-4801-494F-A0A4-D49D70804842}" type="slidenum">
              <a:rPr lang="zh-CN" altLang="en-US" smtClean="0"/>
              <a:t>18</a:t>
            </a:fld>
            <a:endParaRPr lang="zh-CN" altLang="en-US"/>
          </a:p>
        </p:txBody>
      </p:sp>
      <p:sp>
        <p:nvSpPr>
          <p:cNvPr id="4" name="标题 1">
            <a:extLst>
              <a:ext uri="{FF2B5EF4-FFF2-40B4-BE49-F238E27FC236}">
                <a16:creationId xmlns:a16="http://schemas.microsoft.com/office/drawing/2014/main" id="{D3A82D04-13E7-BB00-FE85-21AD6E53C8A3}"/>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48FE0333-F455-CD6D-A9EC-D7F719DDEF26}"/>
              </a:ext>
            </a:extLst>
          </p:cNvPr>
          <p:cNvSpPr txBox="1">
            <a:spLocks noChangeArrowheads="1"/>
          </p:cNvSpPr>
          <p:nvPr/>
        </p:nvSpPr>
        <p:spPr>
          <a:xfrm>
            <a:off x="467518" y="1795140"/>
            <a:ext cx="8208963" cy="40719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endParaRPr lang="zh-CN" altLang="en-US" dirty="0">
              <a:latin typeface="Times New Roman" panose="02020603050405020304" pitchFamily="18" charset="0"/>
            </a:endParaRPr>
          </a:p>
        </p:txBody>
      </p:sp>
      <p:sp>
        <p:nvSpPr>
          <p:cNvPr id="5" name="Rectangle 3">
            <a:extLst>
              <a:ext uri="{FF2B5EF4-FFF2-40B4-BE49-F238E27FC236}">
                <a16:creationId xmlns:a16="http://schemas.microsoft.com/office/drawing/2014/main" id="{52987354-E703-3FEB-AA57-40334D8755B9}"/>
              </a:ext>
            </a:extLst>
          </p:cNvPr>
          <p:cNvSpPr txBox="1">
            <a:spLocks noChangeArrowheads="1"/>
          </p:cNvSpPr>
          <p:nvPr/>
        </p:nvSpPr>
        <p:spPr>
          <a:xfrm>
            <a:off x="250824" y="1371600"/>
            <a:ext cx="8642350" cy="41148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zh-CN" altLang="en-US" sz="2400" b="1" dirty="0">
                <a:latin typeface="Times New Roman" panose="02020603050405020304" pitchFamily="18" charset="0"/>
                <a:ea typeface="黑体" panose="02010609060101010101" pitchFamily="49" charset="-122"/>
              </a:rPr>
              <a:t>散列编码的用途</a:t>
            </a:r>
          </a:p>
          <a:p>
            <a:pPr marL="0" indent="0" algn="ctr">
              <a:buFont typeface="Wingdings" panose="05000000000000000000" pitchFamily="2" charset="2"/>
              <a:buNone/>
            </a:pPr>
            <a:endParaRPr lang="zh-CN" altLang="en-US" sz="2400" b="1" dirty="0">
              <a:latin typeface="Times New Roman" panose="02020603050405020304" pitchFamily="18" charset="0"/>
              <a:ea typeface="黑体" panose="02010609060101010101" pitchFamily="49" charset="-122"/>
            </a:endParaRPr>
          </a:p>
          <a:p>
            <a:pPr marL="0" indent="0" algn="ctr">
              <a:buFont typeface="Wingdings" panose="05000000000000000000" pitchFamily="2" charset="2"/>
              <a:buNone/>
            </a:pPr>
            <a:r>
              <a:rPr lang="zh-CN" altLang="en-US" sz="2400" b="1" dirty="0">
                <a:latin typeface="Times New Roman" panose="02020603050405020304" pitchFamily="18" charset="0"/>
                <a:ea typeface="黑体" panose="02010609060101010101" pitchFamily="49" charset="-122"/>
              </a:rPr>
              <a:t>用途一：公平提交方案</a:t>
            </a:r>
            <a:endParaRPr lang="zh-CN" altLang="en-US" sz="2400" dirty="0">
              <a:latin typeface="Times New Roman" panose="02020603050405020304" pitchFamily="18" charset="0"/>
            </a:endParaRPr>
          </a:p>
          <a:p>
            <a:pPr marL="0" indent="0">
              <a:buFont typeface="Wingdings" panose="05000000000000000000" pitchFamily="2" charset="2"/>
              <a:buNone/>
            </a:pPr>
            <a:r>
              <a:rPr lang="en-US" altLang="zh-CN" sz="2400" dirty="0">
                <a:latin typeface="Times New Roman" panose="02020603050405020304" pitchFamily="18" charset="0"/>
              </a:rPr>
              <a:t>Alice</a:t>
            </a:r>
            <a:r>
              <a:rPr lang="zh-CN" altLang="en-US" sz="2400" dirty="0">
                <a:latin typeface="Times New Roman" panose="02020603050405020304" pitchFamily="18" charset="0"/>
              </a:rPr>
              <a:t>猜测了一个号码</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，但不知道中奖号码</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p>
          <a:p>
            <a:pPr marL="0" indent="0">
              <a:buFont typeface="Wingdings" panose="05000000000000000000" pitchFamily="2" charset="2"/>
              <a:buNone/>
            </a:pPr>
            <a:r>
              <a:rPr lang="en-US" altLang="zh-CN" sz="2400" dirty="0">
                <a:latin typeface="Times New Roman" panose="02020603050405020304" pitchFamily="18" charset="0"/>
              </a:rPr>
              <a:t>Bob</a:t>
            </a:r>
            <a:r>
              <a:rPr lang="zh-CN" altLang="en-US" sz="2400" dirty="0">
                <a:latin typeface="Times New Roman" panose="02020603050405020304" pitchFamily="18" charset="0"/>
              </a:rPr>
              <a:t>设置了中奖号码</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，但不知道</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猜测的号码</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 </a:t>
            </a:r>
          </a:p>
          <a:p>
            <a:pPr marL="0" indent="0">
              <a:buFont typeface="Wingdings" panose="05000000000000000000" pitchFamily="2" charset="2"/>
              <a:buNone/>
            </a:pPr>
            <a:r>
              <a:rPr lang="en-US" altLang="zh-CN" sz="2400" dirty="0">
                <a:latin typeface="Times New Roman" panose="02020603050405020304" pitchFamily="18" charset="0"/>
              </a:rPr>
              <a:t>Alice</a:t>
            </a:r>
            <a:r>
              <a:rPr lang="zh-CN" altLang="en-US" sz="2400" dirty="0">
                <a:latin typeface="Times New Roman" panose="02020603050405020304" pitchFamily="18" charset="0"/>
              </a:rPr>
              <a:t>希望首先获得</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，然后重新确定</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使得</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p>
          <a:p>
            <a:pPr marL="0" indent="0">
              <a:buFont typeface="Wingdings" panose="05000000000000000000" pitchFamily="2" charset="2"/>
              <a:buNone/>
            </a:pPr>
            <a:r>
              <a:rPr lang="en-US" altLang="zh-CN" sz="2400" dirty="0">
                <a:latin typeface="Times New Roman" panose="02020603050405020304" pitchFamily="18" charset="0"/>
              </a:rPr>
              <a:t>Bob</a:t>
            </a:r>
            <a:r>
              <a:rPr lang="zh-CN" altLang="en-US" sz="2400" dirty="0">
                <a:latin typeface="Times New Roman" panose="02020603050405020304" pitchFamily="18" charset="0"/>
              </a:rPr>
              <a:t>希望首先获得</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，然后重新确定</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使得</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p>
          <a:p>
            <a:pPr marL="0" indent="0">
              <a:buFont typeface="Wingdings" panose="05000000000000000000" pitchFamily="2" charset="2"/>
              <a:buNone/>
            </a:pPr>
            <a:r>
              <a:rPr lang="zh-CN" altLang="en-US" sz="2400" dirty="0">
                <a:latin typeface="Times New Roman" panose="02020603050405020304" pitchFamily="18" charset="0"/>
              </a:rPr>
              <a:t>防止两人作弊的方案称为“公平提交方案”。</a:t>
            </a:r>
          </a:p>
          <a:p>
            <a:pPr marL="0" indent="0">
              <a:buFont typeface="Wingdings" panose="05000000000000000000" pitchFamily="2" charset="2"/>
              <a:buNone/>
            </a:pPr>
            <a:r>
              <a:rPr lang="zh-CN" altLang="en-US" sz="2400" dirty="0">
                <a:latin typeface="Times New Roman" panose="02020603050405020304" pitchFamily="18" charset="0"/>
              </a:rPr>
              <a:t>两人使用一个公开的杂凑函数</a:t>
            </a:r>
            <a:r>
              <a:rPr lang="en-US" altLang="zh-CN" sz="2400" i="1" dirty="0">
                <a:latin typeface="Times New Roman" panose="02020603050405020304" pitchFamily="18" charset="0"/>
              </a:rPr>
              <a:t>y</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zh-CN" altLang="en-US" sz="2400" dirty="0">
                <a:latin typeface="Times New Roman" panose="02020603050405020304" pitchFamily="18" charset="0"/>
              </a:rPr>
              <a:t>。方案如下：</a:t>
            </a:r>
          </a:p>
        </p:txBody>
      </p:sp>
    </p:spTree>
    <p:extLst>
      <p:ext uri="{BB962C8B-B14F-4D97-AF65-F5344CB8AC3E}">
        <p14:creationId xmlns:p14="http://schemas.microsoft.com/office/powerpoint/2010/main" val="175653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9898-2046-D8E2-AB1B-96B9499A328D}"/>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41DFA42-2687-1223-5A39-F1CBF469294D}"/>
              </a:ext>
            </a:extLst>
          </p:cNvPr>
          <p:cNvSpPr>
            <a:spLocks noGrp="1"/>
          </p:cNvSpPr>
          <p:nvPr>
            <p:ph type="sldNum" sz="quarter" idx="12"/>
          </p:nvPr>
        </p:nvSpPr>
        <p:spPr/>
        <p:txBody>
          <a:bodyPr/>
          <a:lstStyle/>
          <a:p>
            <a:fld id="{4DBDE2CB-4801-494F-A0A4-D49D70804842}" type="slidenum">
              <a:rPr lang="zh-CN" altLang="en-US" smtClean="0"/>
              <a:t>19</a:t>
            </a:fld>
            <a:endParaRPr lang="zh-CN" altLang="en-US"/>
          </a:p>
        </p:txBody>
      </p:sp>
      <p:sp>
        <p:nvSpPr>
          <p:cNvPr id="4" name="标题 1">
            <a:extLst>
              <a:ext uri="{FF2B5EF4-FFF2-40B4-BE49-F238E27FC236}">
                <a16:creationId xmlns:a16="http://schemas.microsoft.com/office/drawing/2014/main" id="{7F7302A9-7BFD-404D-19E1-0BA113F1996D}"/>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5D18E7E9-78C1-6C04-DFDC-2CCECDB0C5A4}"/>
              </a:ext>
            </a:extLst>
          </p:cNvPr>
          <p:cNvSpPr txBox="1">
            <a:spLocks noChangeArrowheads="1"/>
          </p:cNvSpPr>
          <p:nvPr/>
        </p:nvSpPr>
        <p:spPr>
          <a:xfrm>
            <a:off x="206120" y="1677397"/>
            <a:ext cx="8713788" cy="43640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Alice</a:t>
            </a:r>
            <a:r>
              <a:rPr lang="zh-CN" altLang="en-US" sz="2400" dirty="0">
                <a:latin typeface="Times New Roman" panose="02020603050405020304" pitchFamily="18" charset="0"/>
              </a:rPr>
              <a:t>随机选择</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，计算</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，并将</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Bob</a:t>
            </a:r>
            <a:r>
              <a:rPr lang="zh-CN" altLang="en-US" sz="2400" dirty="0">
                <a:latin typeface="Times New Roman" panose="02020603050405020304" pitchFamily="18" charset="0"/>
              </a:rPr>
              <a:t>随机选择</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，计算</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，并将</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 </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r>
              <a:rPr lang="en-US" altLang="zh-CN" sz="2400" dirty="0">
                <a:latin typeface="Times New Roman" panose="02020603050405020304" pitchFamily="18" charset="0"/>
              </a:rPr>
              <a:t>Alice</a:t>
            </a:r>
            <a:r>
              <a:rPr lang="zh-CN" altLang="en-US" sz="2400" dirty="0">
                <a:latin typeface="Times New Roman" panose="02020603050405020304" pitchFamily="18" charset="0"/>
              </a:rPr>
              <a:t>收到</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后，将</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Bob</a:t>
            </a:r>
            <a:r>
              <a:rPr lang="zh-CN" altLang="en-US" sz="2400" dirty="0">
                <a:latin typeface="Times New Roman" panose="02020603050405020304" pitchFamily="18" charset="0"/>
              </a:rPr>
              <a:t>收到</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后，将</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5</a:t>
            </a:r>
            <a:r>
              <a:rPr lang="zh-CN" altLang="en-US" sz="2400" dirty="0">
                <a:latin typeface="Times New Roman" panose="02020603050405020304" pitchFamily="18" charset="0"/>
              </a:rPr>
              <a:t>）</a:t>
            </a:r>
            <a:r>
              <a:rPr lang="en-US" altLang="zh-CN" sz="2400" dirty="0">
                <a:latin typeface="Times New Roman" panose="02020603050405020304" pitchFamily="18" charset="0"/>
              </a:rPr>
              <a:t>Alice</a:t>
            </a:r>
            <a:r>
              <a:rPr lang="zh-CN" altLang="en-US" sz="2400" dirty="0">
                <a:latin typeface="Times New Roman" panose="02020603050405020304" pitchFamily="18" charset="0"/>
              </a:rPr>
              <a:t>收到</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后，检验是否</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，若是则</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是真实的中奖号码。</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6</a:t>
            </a:r>
            <a:r>
              <a:rPr lang="zh-CN" altLang="en-US" sz="2400" dirty="0">
                <a:latin typeface="Times New Roman" panose="02020603050405020304" pitchFamily="18" charset="0"/>
              </a:rPr>
              <a:t>）</a:t>
            </a:r>
            <a:r>
              <a:rPr lang="en-US" altLang="zh-CN" sz="2400" dirty="0">
                <a:latin typeface="Times New Roman" panose="02020603050405020304" pitchFamily="18" charset="0"/>
              </a:rPr>
              <a:t>Bob</a:t>
            </a:r>
            <a:r>
              <a:rPr lang="zh-CN" altLang="en-US" sz="2400" dirty="0">
                <a:latin typeface="Times New Roman" panose="02020603050405020304" pitchFamily="18" charset="0"/>
              </a:rPr>
              <a:t>收到</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后，检验是否</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，若是则</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是</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的真实的猜测号码</a:t>
            </a:r>
            <a:r>
              <a:rPr lang="zh-CN" altLang="en-US" sz="2400" dirty="0"/>
              <a:t>。</a:t>
            </a:r>
          </a:p>
        </p:txBody>
      </p:sp>
    </p:spTree>
    <p:extLst>
      <p:ext uri="{BB962C8B-B14F-4D97-AF65-F5344CB8AC3E}">
        <p14:creationId xmlns:p14="http://schemas.microsoft.com/office/powerpoint/2010/main" val="4013412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D236B-329F-92E7-1366-D170CC1D413C}"/>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0FC13E2-51CB-97CF-84D3-477878DFABD9}"/>
              </a:ext>
            </a:extLst>
          </p:cNvPr>
          <p:cNvSpPr>
            <a:spLocks noGrp="1"/>
          </p:cNvSpPr>
          <p:nvPr>
            <p:ph type="sldNum" sz="quarter" idx="12"/>
          </p:nvPr>
        </p:nvSpPr>
        <p:spPr/>
        <p:txBody>
          <a:bodyPr/>
          <a:lstStyle/>
          <a:p>
            <a:fld id="{4DBDE2CB-4801-494F-A0A4-D49D70804842}" type="slidenum">
              <a:rPr lang="zh-CN" altLang="en-US" smtClean="0"/>
              <a:t>20</a:t>
            </a:fld>
            <a:endParaRPr lang="zh-CN" altLang="en-US"/>
          </a:p>
        </p:txBody>
      </p:sp>
      <p:sp>
        <p:nvSpPr>
          <p:cNvPr id="4" name="标题 1">
            <a:extLst>
              <a:ext uri="{FF2B5EF4-FFF2-40B4-BE49-F238E27FC236}">
                <a16:creationId xmlns:a16="http://schemas.microsoft.com/office/drawing/2014/main" id="{CA16B2B5-0B4A-C779-05C6-C50B03A67EB9}"/>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graphicFrame>
        <p:nvGraphicFramePr>
          <p:cNvPr id="2" name="Object 4">
            <a:extLst>
              <a:ext uri="{FF2B5EF4-FFF2-40B4-BE49-F238E27FC236}">
                <a16:creationId xmlns:a16="http://schemas.microsoft.com/office/drawing/2014/main" id="{A83AE205-A618-5743-0DCA-4136E88B3A1C}"/>
              </a:ext>
            </a:extLst>
          </p:cNvPr>
          <p:cNvGraphicFramePr>
            <a:graphicFrameLocks noChangeAspect="1"/>
          </p:cNvGraphicFramePr>
          <p:nvPr/>
        </p:nvGraphicFramePr>
        <p:xfrm>
          <a:off x="2014538" y="2017713"/>
          <a:ext cx="5392737" cy="4114800"/>
        </p:xfrm>
        <a:graphic>
          <a:graphicData uri="http://schemas.openxmlformats.org/presentationml/2006/ole">
            <mc:AlternateContent xmlns:mc="http://schemas.openxmlformats.org/markup-compatibility/2006">
              <mc:Choice xmlns:v="urn:schemas-microsoft-com:vml" Requires="v">
                <p:oleObj name="Visio" r:id="rId2" imgW="7594803" imgH="5794503" progId="Visio.Drawing.11">
                  <p:embed/>
                </p:oleObj>
              </mc:Choice>
              <mc:Fallback>
                <p:oleObj name="Visio" r:id="rId2" imgW="7594803" imgH="5794503" progId="Visio.Drawing.11">
                  <p:embed/>
                  <p:pic>
                    <p:nvPicPr>
                      <p:cNvPr id="425988" name="Object 4">
                        <a:extLst>
                          <a:ext uri="{FF2B5EF4-FFF2-40B4-BE49-F238E27FC236}">
                            <a16:creationId xmlns:a16="http://schemas.microsoft.com/office/drawing/2014/main" id="{BEBA6160-D6AF-4081-BFA1-19ADB4A09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2017713"/>
                        <a:ext cx="5392737"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0187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D6261-222C-21D6-03F9-5117DB23294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1BFE67A-6819-DB29-3130-D9A33A9DB80D}"/>
              </a:ext>
            </a:extLst>
          </p:cNvPr>
          <p:cNvSpPr>
            <a:spLocks noGrp="1"/>
          </p:cNvSpPr>
          <p:nvPr>
            <p:ph type="sldNum" sz="quarter" idx="12"/>
          </p:nvPr>
        </p:nvSpPr>
        <p:spPr/>
        <p:txBody>
          <a:bodyPr/>
          <a:lstStyle/>
          <a:p>
            <a:fld id="{4DBDE2CB-4801-494F-A0A4-D49D70804842}" type="slidenum">
              <a:rPr lang="zh-CN" altLang="en-US" smtClean="0"/>
              <a:t>21</a:t>
            </a:fld>
            <a:endParaRPr lang="zh-CN" altLang="en-US"/>
          </a:p>
        </p:txBody>
      </p:sp>
      <p:sp>
        <p:nvSpPr>
          <p:cNvPr id="4" name="标题 1">
            <a:extLst>
              <a:ext uri="{FF2B5EF4-FFF2-40B4-BE49-F238E27FC236}">
                <a16:creationId xmlns:a16="http://schemas.microsoft.com/office/drawing/2014/main" id="{0C572E51-8DDF-C4D0-B2A7-5A43260A100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5" name="Rectangle 3">
            <a:extLst>
              <a:ext uri="{FF2B5EF4-FFF2-40B4-BE49-F238E27FC236}">
                <a16:creationId xmlns:a16="http://schemas.microsoft.com/office/drawing/2014/main" id="{02DF3D8E-ED3F-5C6A-11BC-85BA3BA17A19}"/>
              </a:ext>
            </a:extLst>
          </p:cNvPr>
          <p:cNvSpPr txBox="1">
            <a:spLocks noChangeArrowheads="1"/>
          </p:cNvSpPr>
          <p:nvPr/>
        </p:nvSpPr>
        <p:spPr>
          <a:xfrm>
            <a:off x="684212" y="1517650"/>
            <a:ext cx="7775575" cy="41433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anose="05000000000000000000" pitchFamily="2" charset="2"/>
              <a:buNone/>
            </a:pPr>
            <a:r>
              <a:rPr lang="zh-CN" altLang="en-US" sz="2400" b="1" dirty="0">
                <a:latin typeface="Times New Roman" panose="02020603050405020304" pitchFamily="18" charset="0"/>
              </a:rPr>
              <a:t>方案分析：</a:t>
            </a:r>
          </a:p>
          <a:p>
            <a:pPr>
              <a:buFont typeface="Wingdings" panose="05000000000000000000" pitchFamily="2" charset="2"/>
              <a:buNone/>
            </a:pPr>
            <a:r>
              <a:rPr lang="en-US" altLang="zh-CN" sz="2400" dirty="0">
                <a:latin typeface="Times New Roman" panose="02020603050405020304" pitchFamily="18" charset="0"/>
              </a:rPr>
              <a:t>Alice</a:t>
            </a:r>
            <a:r>
              <a:rPr lang="zh-CN" altLang="en-US" sz="2400" dirty="0">
                <a:latin typeface="Times New Roman" panose="02020603050405020304" pitchFamily="18" charset="0"/>
              </a:rPr>
              <a:t>发送</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r>
              <a:rPr lang="en-US" altLang="zh-CN" sz="2400" dirty="0">
                <a:latin typeface="Times New Roman" panose="02020603050405020304" pitchFamily="18" charset="0"/>
              </a:rPr>
              <a:t>Bob</a:t>
            </a:r>
            <a:r>
              <a:rPr lang="zh-CN" altLang="en-US" sz="2400" dirty="0">
                <a:latin typeface="Times New Roman" panose="02020603050405020304" pitchFamily="18" charset="0"/>
              </a:rPr>
              <a:t>发送</a:t>
            </a:r>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给</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，这叫做</a:t>
            </a:r>
            <a:r>
              <a:rPr lang="zh-CN" altLang="en-US" sz="2400" u="sng" dirty="0">
                <a:latin typeface="Times New Roman" panose="02020603050405020304" pitchFamily="18" charset="0"/>
              </a:rPr>
              <a:t>承诺</a:t>
            </a:r>
            <a:r>
              <a:rPr lang="zh-CN" altLang="en-US" sz="2400" dirty="0">
                <a:latin typeface="Times New Roman" panose="02020603050405020304" pitchFamily="18" charset="0"/>
              </a:rPr>
              <a:t>。</a:t>
            </a:r>
          </a:p>
          <a:p>
            <a:pPr>
              <a:buFont typeface="Wingdings" panose="05000000000000000000" pitchFamily="2" charset="2"/>
              <a:buNone/>
            </a:pPr>
            <a:r>
              <a:rPr lang="en-US" altLang="zh-CN" sz="2400" dirty="0">
                <a:latin typeface="Times New Roman" panose="02020603050405020304" pitchFamily="18" charset="0"/>
              </a:rPr>
              <a:t>Alice</a:t>
            </a:r>
            <a:r>
              <a:rPr lang="zh-CN" altLang="en-US" sz="2400" dirty="0">
                <a:latin typeface="Times New Roman" panose="02020603050405020304" pitchFamily="18" charset="0"/>
              </a:rPr>
              <a:t>发送</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r>
              <a:rPr lang="en-US" altLang="zh-CN" sz="2400" dirty="0">
                <a:latin typeface="Times New Roman" panose="02020603050405020304" pitchFamily="18" charset="0"/>
              </a:rPr>
              <a:t>Bob</a:t>
            </a:r>
            <a:r>
              <a:rPr lang="zh-CN" altLang="en-US" sz="2400" dirty="0">
                <a:latin typeface="Times New Roman" panose="02020603050405020304" pitchFamily="18" charset="0"/>
              </a:rPr>
              <a:t>发送</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给</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，这叫做</a:t>
            </a:r>
            <a:r>
              <a:rPr lang="zh-CN" altLang="en-US" sz="2400" u="sng" dirty="0">
                <a:latin typeface="Times New Roman" panose="02020603050405020304" pitchFamily="18" charset="0"/>
              </a:rPr>
              <a:t>践诺</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当承诺值确定以后，无法改变践诺值。</a:t>
            </a:r>
          </a:p>
          <a:p>
            <a:pPr>
              <a:buFont typeface="Wingdings" panose="05000000000000000000" pitchFamily="2" charset="2"/>
              <a:buNone/>
            </a:pPr>
            <a:r>
              <a:rPr lang="zh-CN" altLang="en-US" sz="2400" dirty="0">
                <a:latin typeface="Times New Roman" panose="02020603050405020304" pitchFamily="18" charset="0"/>
              </a:rPr>
              <a:t>当对方发送来了承诺值以后，己方无法计算出对方的践诺值，因而无法“随机应变地”确定自己的践诺值，以重合或避开对方的践诺值。</a:t>
            </a:r>
          </a:p>
          <a:p>
            <a:pPr>
              <a:buFont typeface="Wingdings" panose="05000000000000000000" pitchFamily="2" charset="2"/>
              <a:buNone/>
            </a:pPr>
            <a:r>
              <a:rPr lang="zh-CN" altLang="en-US" sz="2400" dirty="0">
                <a:latin typeface="Times New Roman" panose="02020603050405020304" pitchFamily="18" charset="0"/>
              </a:rPr>
              <a:t>综上所述，杂凑函数阻止了双方作弊。</a:t>
            </a:r>
          </a:p>
        </p:txBody>
      </p:sp>
    </p:spTree>
    <p:extLst>
      <p:ext uri="{BB962C8B-B14F-4D97-AF65-F5344CB8AC3E}">
        <p14:creationId xmlns:p14="http://schemas.microsoft.com/office/powerpoint/2010/main" val="625787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6B7EC-B024-5053-7672-982B5E5455DD}"/>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ABE59A4-4563-24ED-5156-7ABC5E3B40AB}"/>
              </a:ext>
            </a:extLst>
          </p:cNvPr>
          <p:cNvSpPr>
            <a:spLocks noGrp="1"/>
          </p:cNvSpPr>
          <p:nvPr>
            <p:ph type="sldNum" sz="quarter" idx="12"/>
          </p:nvPr>
        </p:nvSpPr>
        <p:spPr/>
        <p:txBody>
          <a:bodyPr/>
          <a:lstStyle/>
          <a:p>
            <a:fld id="{4DBDE2CB-4801-494F-A0A4-D49D70804842}" type="slidenum">
              <a:rPr lang="zh-CN" altLang="en-US" smtClean="0"/>
              <a:t>22</a:t>
            </a:fld>
            <a:endParaRPr lang="zh-CN" altLang="en-US"/>
          </a:p>
        </p:txBody>
      </p:sp>
      <p:sp>
        <p:nvSpPr>
          <p:cNvPr id="4" name="标题 1">
            <a:extLst>
              <a:ext uri="{FF2B5EF4-FFF2-40B4-BE49-F238E27FC236}">
                <a16:creationId xmlns:a16="http://schemas.microsoft.com/office/drawing/2014/main" id="{3AAD3336-970A-3EC2-5847-2B90F194691B}"/>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3E1F4594-887C-C6FA-7E4B-6F3508BF9D8C}"/>
              </a:ext>
            </a:extLst>
          </p:cNvPr>
          <p:cNvSpPr txBox="1">
            <a:spLocks noChangeArrowheads="1"/>
          </p:cNvSpPr>
          <p:nvPr/>
        </p:nvSpPr>
        <p:spPr>
          <a:xfrm>
            <a:off x="575468" y="1543488"/>
            <a:ext cx="7993063" cy="42481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anose="05000000000000000000" pitchFamily="2" charset="2"/>
              <a:buNone/>
            </a:pPr>
            <a:r>
              <a:rPr lang="zh-CN" altLang="en-US" sz="2400" b="1" dirty="0">
                <a:latin typeface="Times New Roman" panose="02020603050405020304" pitchFamily="18" charset="0"/>
                <a:ea typeface="黑体" panose="02010609060101010101" pitchFamily="49" charset="-122"/>
              </a:rPr>
              <a:t>用途二：简易的身份识别</a:t>
            </a:r>
            <a:endParaRPr lang="en-US" altLang="zh-CN" sz="2400" dirty="0">
              <a:latin typeface="Times New Roman" panose="02020603050405020304" pitchFamily="18" charset="0"/>
            </a:endParaRPr>
          </a:p>
          <a:p>
            <a:pPr>
              <a:spcBef>
                <a:spcPts val="1200"/>
              </a:spcBef>
              <a:buFont typeface="Wingdings" panose="05000000000000000000" pitchFamily="2" charset="2"/>
              <a:buNone/>
            </a:pPr>
            <a:r>
              <a:rPr lang="zh-CN" altLang="en-US" sz="2400" dirty="0">
                <a:latin typeface="Times New Roman" panose="02020603050405020304" pitchFamily="18" charset="0"/>
              </a:rPr>
              <a:t>设</a:t>
            </a:r>
            <a:r>
              <a:rPr lang="en-US" altLang="zh-CN" sz="2400" dirty="0">
                <a:latin typeface="Times New Roman" panose="02020603050405020304" pitchFamily="18" charset="0"/>
              </a:rPr>
              <a:t>Bob</a:t>
            </a:r>
            <a:r>
              <a:rPr lang="zh-CN" altLang="en-US" sz="2400" dirty="0">
                <a:latin typeface="Times New Roman" panose="02020603050405020304" pitchFamily="18" charset="0"/>
              </a:rPr>
              <a:t>拥有</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的身份密号</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 现在</a:t>
            </a:r>
            <a:r>
              <a:rPr lang="en-US" altLang="zh-CN" sz="2400" dirty="0">
                <a:latin typeface="Times New Roman" panose="02020603050405020304" pitchFamily="18" charset="0"/>
              </a:rPr>
              <a:t>Alice</a:t>
            </a:r>
            <a:r>
              <a:rPr lang="zh-CN" altLang="en-US" sz="2400" dirty="0">
                <a:latin typeface="Times New Roman" panose="02020603050405020304" pitchFamily="18" charset="0"/>
              </a:rPr>
              <a:t>需要向</a:t>
            </a:r>
            <a:r>
              <a:rPr lang="en-US" altLang="zh-CN" sz="2400" dirty="0">
                <a:latin typeface="Times New Roman" panose="02020603050405020304" pitchFamily="18" charset="0"/>
              </a:rPr>
              <a:t>Bob</a:t>
            </a:r>
            <a:r>
              <a:rPr lang="zh-CN" altLang="en-US" sz="2400" dirty="0">
                <a:latin typeface="Times New Roman" panose="02020603050405020304" pitchFamily="18" charset="0"/>
              </a:rPr>
              <a:t>证明自己的身份，即要向</a:t>
            </a:r>
            <a:r>
              <a:rPr lang="en-US" altLang="zh-CN" sz="2400" dirty="0">
                <a:latin typeface="Times New Roman" panose="02020603050405020304" pitchFamily="18" charset="0"/>
              </a:rPr>
              <a:t>Bob</a:t>
            </a:r>
            <a:r>
              <a:rPr lang="zh-CN" altLang="en-US" sz="2400" dirty="0">
                <a:latin typeface="Times New Roman" panose="02020603050405020304" pitchFamily="18" charset="0"/>
              </a:rPr>
              <a:t>证明自己知道</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。但必须通过不安全的公共信道来进行证明。这就是说，信道上有攻击者</a:t>
            </a:r>
            <a:r>
              <a:rPr lang="en-US" altLang="zh-CN" sz="2400" dirty="0">
                <a:latin typeface="Times New Roman" panose="02020603050405020304" pitchFamily="18" charset="0"/>
              </a:rPr>
              <a:t>Eve</a:t>
            </a:r>
            <a:r>
              <a:rPr lang="zh-CN" altLang="en-US" sz="2400" dirty="0">
                <a:latin typeface="Times New Roman" panose="02020603050405020304" pitchFamily="18" charset="0"/>
              </a:rPr>
              <a:t>在截听。</a:t>
            </a:r>
          </a:p>
          <a:p>
            <a:pPr>
              <a:buFont typeface="Wingdings" panose="05000000000000000000" pitchFamily="2" charset="2"/>
              <a:buNone/>
            </a:pPr>
            <a:r>
              <a:rPr lang="zh-CN" altLang="en-US" sz="2400" dirty="0">
                <a:latin typeface="Times New Roman" panose="02020603050405020304" pitchFamily="18" charset="0"/>
              </a:rPr>
              <a:t>两人使用一个公开的杂凑函数</a:t>
            </a:r>
            <a:r>
              <a:rPr lang="en-US" altLang="zh-CN" sz="2400" i="1" dirty="0">
                <a:latin typeface="Times New Roman" panose="02020603050405020304" pitchFamily="18" charset="0"/>
              </a:rPr>
              <a:t>y</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zh-CN" altLang="en-US" sz="2400" dirty="0">
                <a:latin typeface="Times New Roman" panose="02020603050405020304" pitchFamily="18" charset="0"/>
              </a:rPr>
              <a:t>。方案如下</a:t>
            </a:r>
            <a:r>
              <a:rPr lang="zh-CN" altLang="en-US" dirty="0">
                <a:latin typeface="Times New Roman" panose="02020603050405020304" pitchFamily="18" charset="0"/>
              </a:rPr>
              <a:t>：</a:t>
            </a:r>
          </a:p>
        </p:txBody>
      </p:sp>
    </p:spTree>
    <p:extLst>
      <p:ext uri="{BB962C8B-B14F-4D97-AF65-F5344CB8AC3E}">
        <p14:creationId xmlns:p14="http://schemas.microsoft.com/office/powerpoint/2010/main" val="3407274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636B6-2580-1DB7-787D-414608E86479}"/>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135CD2D-6F1B-7A79-5C02-49B35FD7112F}"/>
              </a:ext>
            </a:extLst>
          </p:cNvPr>
          <p:cNvSpPr>
            <a:spLocks noGrp="1"/>
          </p:cNvSpPr>
          <p:nvPr>
            <p:ph type="sldNum" sz="quarter" idx="12"/>
          </p:nvPr>
        </p:nvSpPr>
        <p:spPr/>
        <p:txBody>
          <a:bodyPr/>
          <a:lstStyle/>
          <a:p>
            <a:fld id="{4DBDE2CB-4801-494F-A0A4-D49D70804842}" type="slidenum">
              <a:rPr lang="zh-CN" altLang="en-US" smtClean="0"/>
              <a:t>23</a:t>
            </a:fld>
            <a:endParaRPr lang="zh-CN" altLang="en-US"/>
          </a:p>
        </p:txBody>
      </p:sp>
      <p:sp>
        <p:nvSpPr>
          <p:cNvPr id="4" name="标题 1">
            <a:extLst>
              <a:ext uri="{FF2B5EF4-FFF2-40B4-BE49-F238E27FC236}">
                <a16:creationId xmlns:a16="http://schemas.microsoft.com/office/drawing/2014/main" id="{A964EE88-FDDF-45D5-FE43-FF1BFD742A44}"/>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2" name="Rectangle 3">
            <a:extLst>
              <a:ext uri="{FF2B5EF4-FFF2-40B4-BE49-F238E27FC236}">
                <a16:creationId xmlns:a16="http://schemas.microsoft.com/office/drawing/2014/main" id="{38F691AA-75A2-AC33-94AE-E69C4DB3C25E}"/>
              </a:ext>
            </a:extLst>
          </p:cNvPr>
          <p:cNvSpPr txBox="1">
            <a:spLocks noChangeArrowheads="1"/>
          </p:cNvSpPr>
          <p:nvPr/>
        </p:nvSpPr>
        <p:spPr>
          <a:xfrm>
            <a:off x="503237" y="1531937"/>
            <a:ext cx="8137525" cy="41148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向</a:t>
            </a:r>
            <a:r>
              <a:rPr lang="en-US" altLang="zh-CN" sz="2400" dirty="0">
                <a:latin typeface="Times New Roman" panose="02020603050405020304" pitchFamily="18" charset="0"/>
              </a:rPr>
              <a:t>Bob</a:t>
            </a:r>
            <a:r>
              <a:rPr lang="zh-CN" altLang="en-US" sz="2400" dirty="0">
                <a:latin typeface="Times New Roman" panose="02020603050405020304" pitchFamily="18" charset="0"/>
              </a:rPr>
              <a:t>发送信息“我是</a:t>
            </a:r>
            <a:r>
              <a:rPr lang="en-US" altLang="zh-CN" sz="2400" dirty="0">
                <a:latin typeface="Times New Roman" panose="02020603050405020304" pitchFamily="18" charset="0"/>
              </a:rPr>
              <a:t>Alice”</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 </a:t>
            </a:r>
            <a:r>
              <a:rPr lang="en-US" altLang="zh-CN" sz="2400" dirty="0">
                <a:latin typeface="Times New Roman" panose="02020603050405020304" pitchFamily="18" charset="0"/>
              </a:rPr>
              <a:t>Bob</a:t>
            </a:r>
            <a:r>
              <a:rPr lang="zh-CN" altLang="en-US" sz="2400" dirty="0">
                <a:latin typeface="Times New Roman" panose="02020603050405020304" pitchFamily="18" charset="0"/>
              </a:rPr>
              <a:t>收到信息后，向</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发送一个随机的比特串</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收到</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后，与自己的身份密号</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联立，得到</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 </a:t>
            </a:r>
            <a:r>
              <a:rPr lang="en-US" altLang="zh-CN" sz="2400" dirty="0">
                <a:latin typeface="Times New Roman" panose="02020603050405020304" pitchFamily="18" charset="0"/>
              </a:rPr>
              <a:t>Alice</a:t>
            </a:r>
            <a:r>
              <a:rPr lang="zh-CN" altLang="en-US" sz="2400" dirty="0">
                <a:latin typeface="Times New Roman" panose="02020603050405020304" pitchFamily="18" charset="0"/>
              </a:rPr>
              <a:t>计算</a:t>
            </a:r>
            <a:r>
              <a:rPr lang="en-US" altLang="zh-CN" sz="2400" i="1" dirty="0">
                <a:latin typeface="Times New Roman" panose="02020603050405020304" pitchFamily="18" charset="0"/>
              </a:rPr>
              <a:t>y</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zh-CN" altLang="en-US" sz="2400" dirty="0">
                <a:latin typeface="Times New Roman" panose="02020603050405020304" pitchFamily="18" charset="0"/>
              </a:rPr>
              <a:t>，并向</a:t>
            </a:r>
            <a:r>
              <a:rPr lang="en-US" altLang="zh-CN" sz="2400" dirty="0">
                <a:latin typeface="Times New Roman" panose="02020603050405020304" pitchFamily="18" charset="0"/>
              </a:rPr>
              <a:t>Bob</a:t>
            </a:r>
            <a:r>
              <a:rPr lang="zh-CN" altLang="en-US" sz="2400" dirty="0">
                <a:latin typeface="Times New Roman" panose="02020603050405020304" pitchFamily="18" charset="0"/>
              </a:rPr>
              <a:t>发送</a:t>
            </a:r>
            <a:r>
              <a:rPr lang="en-US" altLang="zh-CN" sz="2400" i="1" dirty="0">
                <a:latin typeface="Times New Roman" panose="02020603050405020304" pitchFamily="18" charset="0"/>
              </a:rPr>
              <a:t>y</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5</a:t>
            </a:r>
            <a:r>
              <a:rPr lang="zh-CN" altLang="en-US" sz="2400" dirty="0">
                <a:latin typeface="Times New Roman" panose="02020603050405020304" pitchFamily="18" charset="0"/>
              </a:rPr>
              <a:t>） </a:t>
            </a:r>
            <a:r>
              <a:rPr lang="en-US" altLang="zh-CN" sz="2400" dirty="0">
                <a:latin typeface="Times New Roman" panose="02020603050405020304" pitchFamily="18" charset="0"/>
              </a:rPr>
              <a:t>Bob</a:t>
            </a:r>
            <a:r>
              <a:rPr lang="zh-CN" altLang="en-US" sz="2400" dirty="0">
                <a:latin typeface="Times New Roman" panose="02020603050405020304" pitchFamily="18" charset="0"/>
              </a:rPr>
              <a:t>收到</a:t>
            </a:r>
            <a:r>
              <a:rPr lang="en-US" altLang="zh-CN" sz="2400" i="1" dirty="0">
                <a:latin typeface="Times New Roman" panose="02020603050405020304" pitchFamily="18" charset="0"/>
              </a:rPr>
              <a:t>y</a:t>
            </a:r>
            <a:r>
              <a:rPr lang="zh-CN" altLang="en-US" sz="2400" dirty="0">
                <a:latin typeface="Times New Roman" panose="02020603050405020304" pitchFamily="18" charset="0"/>
              </a:rPr>
              <a:t>后，取出</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的身份密号</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，并与</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联立得到</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，然后验证是否</a:t>
            </a:r>
          </a:p>
          <a:p>
            <a:pPr algn="ctr">
              <a:buFont typeface="Wingdings" panose="05000000000000000000" pitchFamily="2" charset="2"/>
              <a:buNone/>
            </a:pPr>
            <a:r>
              <a:rPr lang="en-US" altLang="zh-CN" sz="2400" i="1" dirty="0">
                <a:latin typeface="Times New Roman" panose="02020603050405020304" pitchFamily="18" charset="0"/>
              </a:rPr>
              <a:t>y</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若是则认为“</a:t>
            </a:r>
            <a:r>
              <a:rPr lang="en-US" altLang="zh-CN" sz="2400" dirty="0">
                <a:latin typeface="Times New Roman" panose="02020603050405020304" pitchFamily="18" charset="0"/>
              </a:rPr>
              <a:t>Alice”</a:t>
            </a:r>
            <a:r>
              <a:rPr lang="zh-CN" altLang="en-US" sz="2400" dirty="0">
                <a:latin typeface="Times New Roman" panose="02020603050405020304" pitchFamily="18" charset="0"/>
              </a:rPr>
              <a:t>是真正的</a:t>
            </a:r>
            <a:r>
              <a:rPr lang="en-US" altLang="zh-CN" sz="2400" dirty="0">
                <a:latin typeface="Times New Roman" panose="02020603050405020304" pitchFamily="18" charset="0"/>
              </a:rPr>
              <a:t>Alice</a:t>
            </a:r>
            <a:r>
              <a:rPr lang="zh-CN" altLang="en-US" sz="2400" dirty="0">
                <a:latin typeface="Times New Roman" panose="02020603050405020304" pitchFamily="18" charset="0"/>
              </a:rPr>
              <a:t>；</a:t>
            </a:r>
          </a:p>
          <a:p>
            <a:pPr>
              <a:buFont typeface="Wingdings" panose="05000000000000000000" pitchFamily="2" charset="2"/>
              <a:buNone/>
            </a:pPr>
            <a:r>
              <a:rPr lang="zh-CN" altLang="en-US" sz="2400" dirty="0">
                <a:latin typeface="Times New Roman" panose="02020603050405020304" pitchFamily="18" charset="0"/>
              </a:rPr>
              <a:t>若否则认为“</a:t>
            </a:r>
            <a:r>
              <a:rPr lang="en-US" altLang="zh-CN" sz="2400" dirty="0">
                <a:latin typeface="Times New Roman" panose="02020603050405020304" pitchFamily="18" charset="0"/>
              </a:rPr>
              <a:t>Alice”</a:t>
            </a:r>
            <a:r>
              <a:rPr lang="zh-CN" altLang="en-US" sz="2400" dirty="0">
                <a:latin typeface="Times New Roman" panose="02020603050405020304" pitchFamily="18" charset="0"/>
              </a:rPr>
              <a:t>是假冒的</a:t>
            </a:r>
            <a:r>
              <a:rPr lang="en-US" altLang="zh-CN" sz="2400" dirty="0">
                <a:latin typeface="Times New Roman" panose="02020603050405020304" pitchFamily="18" charset="0"/>
              </a:rPr>
              <a:t>Alice </a:t>
            </a:r>
            <a:r>
              <a:rPr lang="zh-CN" altLang="en-US" sz="2400" dirty="0">
                <a:latin typeface="Times New Roman" panose="02020603050405020304" pitchFamily="18" charset="0"/>
              </a:rPr>
              <a:t>。</a:t>
            </a:r>
          </a:p>
        </p:txBody>
      </p:sp>
    </p:spTree>
    <p:extLst>
      <p:ext uri="{BB962C8B-B14F-4D97-AF65-F5344CB8AC3E}">
        <p14:creationId xmlns:p14="http://schemas.microsoft.com/office/powerpoint/2010/main" val="1850900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7CE38-1F9F-776D-4994-A7B465D51A64}"/>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C3AE0B7-C495-644A-2E13-6D362A9B5404}"/>
              </a:ext>
            </a:extLst>
          </p:cNvPr>
          <p:cNvSpPr>
            <a:spLocks noGrp="1"/>
          </p:cNvSpPr>
          <p:nvPr>
            <p:ph type="sldNum" sz="quarter" idx="12"/>
          </p:nvPr>
        </p:nvSpPr>
        <p:spPr/>
        <p:txBody>
          <a:bodyPr/>
          <a:lstStyle/>
          <a:p>
            <a:fld id="{4DBDE2CB-4801-494F-A0A4-D49D70804842}" type="slidenum">
              <a:rPr lang="zh-CN" altLang="en-US" smtClean="0"/>
              <a:t>24</a:t>
            </a:fld>
            <a:endParaRPr lang="zh-CN" altLang="en-US"/>
          </a:p>
        </p:txBody>
      </p:sp>
      <p:sp>
        <p:nvSpPr>
          <p:cNvPr id="4" name="标题 1">
            <a:extLst>
              <a:ext uri="{FF2B5EF4-FFF2-40B4-BE49-F238E27FC236}">
                <a16:creationId xmlns:a16="http://schemas.microsoft.com/office/drawing/2014/main" id="{4624B8AB-E8F2-C88F-0285-E667C49E1DFE}"/>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graphicFrame>
        <p:nvGraphicFramePr>
          <p:cNvPr id="2" name="Object 4">
            <a:extLst>
              <a:ext uri="{FF2B5EF4-FFF2-40B4-BE49-F238E27FC236}">
                <a16:creationId xmlns:a16="http://schemas.microsoft.com/office/drawing/2014/main" id="{D1F913F3-E4A4-688F-3E40-5DCF1CF56F32}"/>
              </a:ext>
            </a:extLst>
          </p:cNvPr>
          <p:cNvGraphicFramePr>
            <a:graphicFrameLocks noChangeAspect="1"/>
          </p:cNvGraphicFramePr>
          <p:nvPr/>
        </p:nvGraphicFramePr>
        <p:xfrm>
          <a:off x="1492250" y="1807022"/>
          <a:ext cx="6159500" cy="4114800"/>
        </p:xfrm>
        <a:graphic>
          <a:graphicData uri="http://schemas.openxmlformats.org/presentationml/2006/ole">
            <mc:AlternateContent xmlns:mc="http://schemas.openxmlformats.org/markup-compatibility/2006">
              <mc:Choice xmlns:v="urn:schemas-microsoft-com:vml" Requires="v">
                <p:oleObj name="Visio" r:id="rId2" imgW="6427622" imgH="4294022" progId="Visio.Drawing.6">
                  <p:embed/>
                </p:oleObj>
              </mc:Choice>
              <mc:Fallback>
                <p:oleObj name="Visio" r:id="rId2" imgW="6427622" imgH="4294022" progId="Visio.Drawing.6">
                  <p:embed/>
                  <p:pic>
                    <p:nvPicPr>
                      <p:cNvPr id="431108" name="Object 4">
                        <a:extLst>
                          <a:ext uri="{FF2B5EF4-FFF2-40B4-BE49-F238E27FC236}">
                            <a16:creationId xmlns:a16="http://schemas.microsoft.com/office/drawing/2014/main" id="{4D174A77-B4BF-4B6D-B33F-CD9B6D0BC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250" y="1807022"/>
                        <a:ext cx="6159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2937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49A1-1382-8610-5807-C69EB39F5AB6}"/>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E3A60F5-CC93-8A85-6A7E-68715A8CCE85}"/>
              </a:ext>
            </a:extLst>
          </p:cNvPr>
          <p:cNvSpPr>
            <a:spLocks noGrp="1"/>
          </p:cNvSpPr>
          <p:nvPr>
            <p:ph type="sldNum" sz="quarter" idx="12"/>
          </p:nvPr>
        </p:nvSpPr>
        <p:spPr/>
        <p:txBody>
          <a:bodyPr/>
          <a:lstStyle/>
          <a:p>
            <a:fld id="{4DBDE2CB-4801-494F-A0A4-D49D70804842}" type="slidenum">
              <a:rPr lang="zh-CN" altLang="en-US" smtClean="0"/>
              <a:t>25</a:t>
            </a:fld>
            <a:endParaRPr lang="zh-CN" altLang="en-US"/>
          </a:p>
        </p:txBody>
      </p:sp>
      <p:sp>
        <p:nvSpPr>
          <p:cNvPr id="4" name="标题 1">
            <a:extLst>
              <a:ext uri="{FF2B5EF4-FFF2-40B4-BE49-F238E27FC236}">
                <a16:creationId xmlns:a16="http://schemas.microsoft.com/office/drawing/2014/main" id="{78759315-E23B-F8D7-D8C3-06F7CCA810E5}"/>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5" name="Rectangle 3">
            <a:extLst>
              <a:ext uri="{FF2B5EF4-FFF2-40B4-BE49-F238E27FC236}">
                <a16:creationId xmlns:a16="http://schemas.microsoft.com/office/drawing/2014/main" id="{CA7F9BE4-2C8F-20E0-7B1B-6461643E30CC}"/>
              </a:ext>
            </a:extLst>
          </p:cNvPr>
          <p:cNvSpPr txBox="1">
            <a:spLocks noChangeArrowheads="1"/>
          </p:cNvSpPr>
          <p:nvPr/>
        </p:nvSpPr>
        <p:spPr>
          <a:xfrm>
            <a:off x="219868" y="1587322"/>
            <a:ext cx="8704263" cy="4291012"/>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buFont typeface="Wingdings" panose="05000000000000000000" pitchFamily="2" charset="2"/>
              <a:buNone/>
            </a:pPr>
            <a:r>
              <a:rPr lang="zh-CN" altLang="en-US" b="1" dirty="0">
                <a:latin typeface="Times New Roman" panose="02020603050405020304" pitchFamily="18" charset="0"/>
              </a:rPr>
              <a:t>方案分析：</a:t>
            </a:r>
          </a:p>
          <a:p>
            <a:pPr>
              <a:lnSpc>
                <a:spcPct val="150000"/>
              </a:lnSpc>
              <a:buClr>
                <a:schemeClr val="tx1"/>
              </a:buClr>
              <a:buFont typeface="Wingdings" panose="05000000000000000000" pitchFamily="2" charset="2"/>
              <a:buNone/>
            </a:pPr>
            <a:r>
              <a:rPr lang="zh-CN" altLang="en-US" dirty="0">
                <a:latin typeface="Times New Roman" panose="02020603050405020304" pitchFamily="18" charset="0"/>
              </a:rPr>
              <a:t>设攻击者</a:t>
            </a:r>
            <a:r>
              <a:rPr lang="en-US" altLang="zh-CN" dirty="0">
                <a:latin typeface="Times New Roman" panose="02020603050405020304" pitchFamily="18" charset="0"/>
              </a:rPr>
              <a:t>Eve</a:t>
            </a:r>
            <a:r>
              <a:rPr lang="zh-CN" altLang="en-US" dirty="0">
                <a:latin typeface="Times New Roman" panose="02020603050405020304" pitchFamily="18" charset="0"/>
              </a:rPr>
              <a:t>截听到了</a:t>
            </a:r>
            <a:r>
              <a:rPr lang="en-US" altLang="zh-CN" dirty="0">
                <a:latin typeface="Times New Roman" panose="02020603050405020304" pitchFamily="18" charset="0"/>
              </a:rPr>
              <a:t>Alice</a:t>
            </a:r>
            <a:r>
              <a:rPr lang="zh-CN" altLang="en-US" dirty="0">
                <a:latin typeface="Times New Roman" panose="02020603050405020304" pitchFamily="18" charset="0"/>
              </a:rPr>
              <a:t>和</a:t>
            </a:r>
            <a:r>
              <a:rPr lang="en-US" altLang="zh-CN" dirty="0">
                <a:latin typeface="Times New Roman" panose="02020603050405020304" pitchFamily="18" charset="0"/>
              </a:rPr>
              <a:t>Bob</a:t>
            </a:r>
            <a:r>
              <a:rPr lang="zh-CN" altLang="en-US" dirty="0">
                <a:latin typeface="Times New Roman" panose="02020603050405020304" pitchFamily="18" charset="0"/>
              </a:rPr>
              <a:t>之间的证明全过程。这就是说， </a:t>
            </a:r>
            <a:r>
              <a:rPr lang="en-US" altLang="zh-CN" dirty="0">
                <a:latin typeface="Times New Roman" panose="02020603050405020304" pitchFamily="18" charset="0"/>
              </a:rPr>
              <a:t>Eve</a:t>
            </a:r>
            <a:r>
              <a:rPr lang="zh-CN" altLang="en-US" dirty="0">
                <a:latin typeface="Times New Roman" panose="02020603050405020304" pitchFamily="18" charset="0"/>
              </a:rPr>
              <a:t>知道了随机比特串</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zh-CN" altLang="en-US" dirty="0">
                <a:latin typeface="Times New Roman" panose="02020603050405020304" pitchFamily="18" charset="0"/>
              </a:rPr>
              <a:t>，知道了杂凑函数值 </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zh-CN" altLang="en-US" dirty="0">
                <a:latin typeface="Times New Roman" panose="02020603050405020304" pitchFamily="18" charset="0"/>
              </a:rPr>
              <a:t>，</a:t>
            </a:r>
            <a:r>
              <a:rPr lang="en-US" altLang="zh-CN" i="1" dirty="0">
                <a:latin typeface="Times New Roman" panose="02020603050405020304" pitchFamily="18" charset="0"/>
              </a:rPr>
              <a:t>x</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，但不知道</a:t>
            </a:r>
            <a:r>
              <a:rPr lang="en-US" altLang="zh-CN" dirty="0">
                <a:latin typeface="Times New Roman" panose="02020603050405020304" pitchFamily="18" charset="0"/>
              </a:rPr>
              <a:t>Alice</a:t>
            </a:r>
            <a:r>
              <a:rPr lang="zh-CN" altLang="en-US" dirty="0">
                <a:latin typeface="Times New Roman" panose="02020603050405020304" pitchFamily="18" charset="0"/>
              </a:rPr>
              <a:t>的身份密号</a:t>
            </a:r>
            <a:r>
              <a:rPr lang="en-US" altLang="zh-CN" i="1" dirty="0">
                <a:latin typeface="Times New Roman" panose="02020603050405020304" pitchFamily="18" charset="0"/>
              </a:rPr>
              <a:t>x</a:t>
            </a:r>
            <a:r>
              <a:rPr lang="en-US" altLang="zh-CN" baseline="-25000" dirty="0">
                <a:latin typeface="Times New Roman" panose="02020603050405020304" pitchFamily="18" charset="0"/>
              </a:rPr>
              <a:t>2</a:t>
            </a:r>
            <a:r>
              <a:rPr lang="zh-CN" altLang="en-US" dirty="0">
                <a:latin typeface="Times New Roman" panose="02020603050405020304" pitchFamily="18" charset="0"/>
              </a:rPr>
              <a:t>。</a:t>
            </a:r>
          </a:p>
          <a:p>
            <a:pPr>
              <a:lnSpc>
                <a:spcPct val="150000"/>
              </a:lnSpc>
              <a:buClr>
                <a:schemeClr val="tx1"/>
              </a:buClr>
              <a:buFont typeface="Wingdings" panose="05000000000000000000" pitchFamily="2" charset="2"/>
              <a:buNone/>
            </a:pPr>
            <a:r>
              <a:rPr lang="zh-CN" altLang="en-US" dirty="0">
                <a:latin typeface="Times New Roman" panose="02020603050405020304" pitchFamily="18" charset="0"/>
              </a:rPr>
              <a:t>根据杂凑函数的性质， </a:t>
            </a:r>
            <a:r>
              <a:rPr lang="en-US" altLang="zh-CN" dirty="0">
                <a:latin typeface="Times New Roman" panose="02020603050405020304" pitchFamily="18" charset="0"/>
              </a:rPr>
              <a:t>Eve</a:t>
            </a:r>
            <a:r>
              <a:rPr lang="zh-CN" altLang="en-US" dirty="0">
                <a:latin typeface="Times New Roman" panose="02020603050405020304" pitchFamily="18" charset="0"/>
              </a:rPr>
              <a:t>不可能由</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zh-CN" altLang="en-US" dirty="0">
                <a:latin typeface="Times New Roman" panose="02020603050405020304" pitchFamily="18" charset="0"/>
              </a:rPr>
              <a:t>和</a:t>
            </a:r>
            <a:r>
              <a:rPr lang="en-US" altLang="zh-CN" i="1" dirty="0">
                <a:latin typeface="Times New Roman" panose="02020603050405020304" pitchFamily="18" charset="0"/>
              </a:rPr>
              <a:t>y</a:t>
            </a:r>
            <a:r>
              <a:rPr lang="zh-CN" altLang="en-US" dirty="0">
                <a:latin typeface="Times New Roman" panose="02020603050405020304" pitchFamily="18" charset="0"/>
              </a:rPr>
              <a:t>计算出</a:t>
            </a:r>
            <a:r>
              <a:rPr lang="en-US" altLang="zh-CN" i="1" dirty="0">
                <a:latin typeface="Times New Roman" panose="02020603050405020304" pitchFamily="18" charset="0"/>
              </a:rPr>
              <a:t>x</a:t>
            </a:r>
            <a:r>
              <a:rPr lang="en-US" altLang="zh-CN" baseline="-25000" dirty="0">
                <a:latin typeface="Times New Roman" panose="02020603050405020304" pitchFamily="18" charset="0"/>
              </a:rPr>
              <a:t>2</a:t>
            </a:r>
            <a:r>
              <a:rPr lang="zh-CN" altLang="en-US" dirty="0">
                <a:latin typeface="Times New Roman" panose="02020603050405020304" pitchFamily="18" charset="0"/>
              </a:rPr>
              <a:t>。</a:t>
            </a:r>
          </a:p>
          <a:p>
            <a:pPr>
              <a:lnSpc>
                <a:spcPct val="150000"/>
              </a:lnSpc>
              <a:buClr>
                <a:schemeClr val="tx1"/>
              </a:buClr>
              <a:buFont typeface="Wingdings" panose="05000000000000000000" pitchFamily="2" charset="2"/>
              <a:buNone/>
            </a:pPr>
            <a:r>
              <a:rPr lang="zh-CN" altLang="en-US" dirty="0">
                <a:latin typeface="Times New Roman" panose="02020603050405020304" pitchFamily="18" charset="0"/>
              </a:rPr>
              <a:t>那么， </a:t>
            </a:r>
            <a:r>
              <a:rPr lang="en-US" altLang="zh-CN" dirty="0">
                <a:latin typeface="Times New Roman" panose="02020603050405020304" pitchFamily="18" charset="0"/>
              </a:rPr>
              <a:t>Eve</a:t>
            </a:r>
            <a:r>
              <a:rPr lang="zh-CN" altLang="en-US" dirty="0">
                <a:latin typeface="Times New Roman" panose="02020603050405020304" pitchFamily="18" charset="0"/>
              </a:rPr>
              <a:t>在不知道</a:t>
            </a:r>
            <a:r>
              <a:rPr lang="en-US" altLang="zh-CN" i="1" dirty="0">
                <a:latin typeface="Times New Roman" panose="02020603050405020304" pitchFamily="18" charset="0"/>
              </a:rPr>
              <a:t>x</a:t>
            </a:r>
            <a:r>
              <a:rPr lang="en-US" altLang="zh-CN" baseline="-25000" dirty="0">
                <a:latin typeface="Times New Roman" panose="02020603050405020304" pitchFamily="18" charset="0"/>
              </a:rPr>
              <a:t>2</a:t>
            </a:r>
            <a:r>
              <a:rPr lang="zh-CN" altLang="en-US" dirty="0">
                <a:latin typeface="Times New Roman" panose="02020603050405020304" pitchFamily="18" charset="0"/>
              </a:rPr>
              <a:t>的前提下，能否在</a:t>
            </a:r>
            <a:r>
              <a:rPr lang="zh-CN" altLang="en-US" u="sng" dirty="0">
                <a:latin typeface="Times New Roman" panose="02020603050405020304" pitchFamily="18" charset="0"/>
              </a:rPr>
              <a:t>以后</a:t>
            </a:r>
            <a:r>
              <a:rPr lang="zh-CN" altLang="en-US" dirty="0">
                <a:latin typeface="Times New Roman" panose="02020603050405020304" pitchFamily="18" charset="0"/>
              </a:rPr>
              <a:t>向</a:t>
            </a:r>
            <a:r>
              <a:rPr lang="en-US" altLang="zh-CN" dirty="0">
                <a:latin typeface="Times New Roman" panose="02020603050405020304" pitchFamily="18" charset="0"/>
              </a:rPr>
              <a:t>Bob</a:t>
            </a:r>
            <a:r>
              <a:rPr lang="zh-CN" altLang="en-US" dirty="0">
                <a:latin typeface="Times New Roman" panose="02020603050405020304" pitchFamily="18" charset="0"/>
              </a:rPr>
              <a:t>冒充</a:t>
            </a:r>
            <a:r>
              <a:rPr lang="en-US" altLang="zh-CN" dirty="0">
                <a:latin typeface="Times New Roman" panose="02020603050405020304" pitchFamily="18" charset="0"/>
              </a:rPr>
              <a:t>Alice</a:t>
            </a:r>
            <a:r>
              <a:rPr lang="zh-CN" altLang="en-US" dirty="0">
                <a:latin typeface="Times New Roman" panose="02020603050405020304" pitchFamily="18" charset="0"/>
              </a:rPr>
              <a:t>呢？如果</a:t>
            </a:r>
            <a:r>
              <a:rPr lang="en-US" altLang="zh-CN" dirty="0">
                <a:latin typeface="Times New Roman" panose="02020603050405020304" pitchFamily="18" charset="0"/>
              </a:rPr>
              <a:t>Bob</a:t>
            </a:r>
            <a:r>
              <a:rPr lang="zh-CN" altLang="en-US" dirty="0">
                <a:latin typeface="Times New Roman" panose="02020603050405020304" pitchFamily="18" charset="0"/>
              </a:rPr>
              <a:t>发送的</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zh-CN" altLang="en-US" dirty="0">
                <a:latin typeface="Times New Roman" panose="02020603050405020304" pitchFamily="18" charset="0"/>
              </a:rPr>
              <a:t>保持不变，则</a:t>
            </a:r>
            <a:r>
              <a:rPr lang="en-US" altLang="zh-CN" dirty="0">
                <a:latin typeface="Times New Roman" panose="02020603050405020304" pitchFamily="18" charset="0"/>
              </a:rPr>
              <a:t>Eve</a:t>
            </a:r>
            <a:r>
              <a:rPr lang="zh-CN" altLang="en-US" dirty="0">
                <a:latin typeface="Times New Roman" panose="02020603050405020304" pitchFamily="18" charset="0"/>
              </a:rPr>
              <a:t>能够冒充成功。 （见方案）。但每次发送的</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zh-CN" altLang="en-US" dirty="0">
                <a:latin typeface="Times New Roman" panose="02020603050405020304" pitchFamily="18" charset="0"/>
              </a:rPr>
              <a:t>是随机的，重复发送的概率是微乎其微的。</a:t>
            </a:r>
          </a:p>
        </p:txBody>
      </p:sp>
    </p:spTree>
    <p:extLst>
      <p:ext uri="{BB962C8B-B14F-4D97-AF65-F5344CB8AC3E}">
        <p14:creationId xmlns:p14="http://schemas.microsoft.com/office/powerpoint/2010/main" val="352150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26</a:t>
            </a:fld>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252125"/>
                <a:ext cx="8479945" cy="5078826"/>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        哈希 </a:t>
                </a:r>
                <a:r>
                  <a:rPr lang="en-US" altLang="zh-CN" sz="2000" dirty="0">
                    <a:latin typeface="Times New Roman" panose="02020603050405020304" pitchFamily="18" charset="0"/>
                    <a:cs typeface="Times New Roman" panose="02020603050405020304" pitchFamily="18" charset="0"/>
                  </a:rPr>
                  <a:t>(Hash) </a:t>
                </a:r>
                <a:r>
                  <a:rPr lang="zh-CN" altLang="en-US" sz="2000" dirty="0">
                    <a:latin typeface="Times New Roman" panose="02020603050405020304" pitchFamily="18" charset="0"/>
                    <a:cs typeface="Times New Roman" panose="02020603050405020304" pitchFamily="18" charset="0"/>
                  </a:rPr>
                  <a:t>函数 </a:t>
                </a:r>
                <a14:m>
                  <m:oMath xmlns:m="http://schemas.openxmlformats.org/officeDocument/2006/math">
                    <m:r>
                      <a:rPr lang="en-US" altLang="zh-CN" sz="2000" i="1">
                        <a:latin typeface="Cambria Math" panose="02040503050406030204" pitchFamily="18" charset="0"/>
                        <a:cs typeface="Times New Roman" panose="02020603050405020304" pitchFamily="18" charset="0"/>
                      </a:rPr>
                      <m:t>h</m:t>
                    </m:r>
                    <m:r>
                      <a:rPr lang="en-US" altLang="zh-CN" sz="2000" i="1">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，又称为杂凑函数或散列函数，它是一个将</a:t>
                </a:r>
                <a:r>
                  <a:rPr lang="zh-CN" altLang="en-US" sz="2000" dirty="0">
                    <a:solidFill>
                      <a:srgbClr val="0000FF"/>
                    </a:solidFill>
                    <a:latin typeface="Times New Roman" panose="02020603050405020304" pitchFamily="18" charset="0"/>
                    <a:cs typeface="Times New Roman" panose="02020603050405020304" pitchFamily="18" charset="0"/>
                  </a:rPr>
                  <a:t>任意长</a:t>
                </a:r>
                <a:r>
                  <a:rPr lang="zh-CN" altLang="en-US" sz="2000" dirty="0">
                    <a:latin typeface="Times New Roman" panose="02020603050405020304" pitchFamily="18" charset="0"/>
                    <a:cs typeface="Times New Roman" panose="02020603050405020304" pitchFamily="18" charset="0"/>
                  </a:rPr>
                  <a:t>的消息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𝑀</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映射成一个</a:t>
                </a:r>
                <a:r>
                  <a:rPr lang="zh-CN" altLang="en-US" sz="2000" dirty="0">
                    <a:solidFill>
                      <a:srgbClr val="0000FF"/>
                    </a:solidFill>
                    <a:latin typeface="Times New Roman" panose="02020603050405020304" pitchFamily="18" charset="0"/>
                    <a:cs typeface="Times New Roman" panose="02020603050405020304" pitchFamily="18" charset="0"/>
                  </a:rPr>
                  <a:t>较短的、固定长度</a:t>
                </a:r>
                <a:r>
                  <a:rPr lang="zh-CN" altLang="en-US" sz="2000" dirty="0">
                    <a:latin typeface="Times New Roman" panose="02020603050405020304" pitchFamily="18" charset="0"/>
                    <a:cs typeface="Times New Roman" panose="02020603050405020304" pitchFamily="18" charset="0"/>
                  </a:rPr>
                  <a:t>值的函数。称 </a:t>
                </a:r>
                <a14:m>
                  <m:oMath xmlns:m="http://schemas.openxmlformats.org/officeDocument/2006/math">
                    <m:r>
                      <a:rPr lang="zh-CN" altLang="en-US" sz="2000" i="1" dirty="0" smtClean="0">
                        <a:latin typeface="Cambria Math" panose="02040503050406030204" pitchFamily="18" charset="0"/>
                        <a:cs typeface="Times New Roman" panose="02020603050405020304" pitchFamily="18" charset="0"/>
                      </a:rPr>
                      <m:t>𝐻</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h</m:t>
                    </m:r>
                    <m:r>
                      <a:rPr lang="en-US" altLang="zh-CN" sz="2000" i="1" dirty="0">
                        <a:latin typeface="Cambria Math" panose="02040503050406030204" pitchFamily="18" charset="0"/>
                        <a:cs typeface="Times New Roman" panose="02020603050405020304" pitchFamily="18" charset="0"/>
                      </a:rPr>
                      <m:t> (</m:t>
                    </m:r>
                    <m:r>
                      <a:rPr lang="zh-CN" altLang="en-US" sz="2000" i="1" dirty="0">
                        <a:latin typeface="Cambria Math" panose="02040503050406030204" pitchFamily="18" charset="0"/>
                        <a:cs typeface="Times New Roman" panose="02020603050405020304" pitchFamily="18" charset="0"/>
                      </a:rPr>
                      <m:t>𝑀</m:t>
                    </m:r>
                    <m:r>
                      <a:rPr lang="en-US" altLang="zh-CN" sz="200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为 </a:t>
                </a:r>
                <a14:m>
                  <m:oMath xmlns:m="http://schemas.openxmlformats.org/officeDocument/2006/math">
                    <m:r>
                      <a:rPr lang="zh-CN" altLang="en-US" sz="2000" i="1" dirty="0" smtClean="0">
                        <a:latin typeface="Cambria Math" panose="02040503050406030204" pitchFamily="18" charset="0"/>
                        <a:cs typeface="Times New Roman" panose="02020603050405020304" pitchFamily="18" charset="0"/>
                      </a:rPr>
                      <m:t>𝑀</m:t>
                    </m:r>
                  </m:oMath>
                </a14:m>
                <a:r>
                  <a:rPr lang="zh-CN" altLang="en-US" sz="2000" dirty="0">
                    <a:latin typeface="Times New Roman" panose="02020603050405020304" pitchFamily="18" charset="0"/>
                    <a:cs typeface="Times New Roman" panose="02020603050405020304" pitchFamily="18" charset="0"/>
                  </a:rPr>
                  <a:t> 的哈希值，也称为杂凑值、杂凑码或消息摘要，而且</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𝑀</m:t>
                        </m:r>
                      </m:e>
                    </m:d>
                  </m:oMath>
                </a14:m>
                <a:r>
                  <a:rPr lang="zh-CN" altLang="en-US" sz="2000" dirty="0">
                    <a:latin typeface="Times New Roman" panose="02020603050405020304" pitchFamily="18" charset="0"/>
                    <a:cs typeface="Times New Roman" panose="02020603050405020304" pitchFamily="18" charset="0"/>
                  </a:rPr>
                  <a:t> 易于计算。</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1200"/>
                  </a:spcBef>
                </a:pPr>
                <a:r>
                  <a:rPr lang="zh-CN" altLang="en-US" sz="2000" dirty="0">
                    <a:latin typeface="Times New Roman" panose="02020603050405020304" pitchFamily="18" charset="0"/>
                    <a:cs typeface="Times New Roman" panose="02020603050405020304" pitchFamily="18" charset="0"/>
                  </a:rPr>
                  <a:t>       哈希函数的性质：</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defRPr/>
                </a:pPr>
                <a:r>
                  <a:rPr lang="zh-CN" altLang="en-US" sz="2000" dirty="0">
                    <a:solidFill>
                      <a:schemeClr val="tx1"/>
                    </a:solidFill>
                    <a:latin typeface="Times New Roman" panose="02020603050405020304" pitchFamily="18" charset="0"/>
                    <a:cs typeface="Times New Roman" panose="02020603050405020304" pitchFamily="18" charset="0"/>
                  </a:rPr>
                  <a:t>压缩性</a:t>
                </a:r>
                <a:r>
                  <a:rPr lang="zh-CN" altLang="en-US" sz="2000" b="1"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将任意长度的比特串压缩成为固定长度的比特串。</a:t>
                </a:r>
                <a:endPar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defRPr/>
                </a:pPr>
                <a:r>
                  <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单向性</a:t>
                </a:r>
                <a:r>
                  <a:rPr lang="zh-CN" altLang="en-US" sz="2000" b="1" dirty="0">
                    <a:solidFill>
                      <a:prstClr val="black"/>
                    </a:solidFill>
                    <a:latin typeface="Times New Roman" panose="02020603050405020304" pitchFamily="18" charset="0"/>
                    <a:cs typeface="Times New Roman" panose="02020603050405020304" pitchFamily="18" charset="0"/>
                  </a:rPr>
                  <a:t>：</a:t>
                </a:r>
                <a:r>
                  <a:rPr lang="zh-CN" altLang="en-US" sz="2000" dirty="0">
                    <a:solidFill>
                      <a:prstClr val="black"/>
                    </a:solidFill>
                    <a:latin typeface="Times New Roman" panose="02020603050405020304" pitchFamily="18" charset="0"/>
                    <a:cs typeface="Times New Roman" panose="02020603050405020304" pitchFamily="18" charset="0"/>
                  </a:rPr>
                  <a:t>给定任意 𝑦，找一个 </a:t>
                </a:r>
                <a14:m>
                  <m:oMath xmlns:m="http://schemas.openxmlformats.org/officeDocument/2006/math">
                    <m:r>
                      <a:rPr lang="zh-CN" altLang="en-US" sz="2000" i="1" dirty="0" smtClean="0">
                        <a:solidFill>
                          <a:prstClr val="black"/>
                        </a:solidFill>
                        <a:latin typeface="Cambria Math" panose="02040503050406030204" pitchFamily="18" charset="0"/>
                        <a:cs typeface="Times New Roman" panose="02020603050405020304" pitchFamily="18" charset="0"/>
                      </a:rPr>
                      <m:t>𝑥</m:t>
                    </m:r>
                  </m:oMath>
                </a14:m>
                <a:r>
                  <a:rPr lang="zh-CN" altLang="en-US" sz="2000" dirty="0">
                    <a:solidFill>
                      <a:prstClr val="black"/>
                    </a:solidFill>
                    <a:latin typeface="Times New Roman" panose="02020603050405020304" pitchFamily="18" charset="0"/>
                    <a:cs typeface="Times New Roman" panose="02020603050405020304" pitchFamily="18" charset="0"/>
                  </a:rPr>
                  <a:t> 满足 </a:t>
                </a:r>
                <a14:m>
                  <m:oMath xmlns:m="http://schemas.openxmlformats.org/officeDocument/2006/math">
                    <m:r>
                      <a:rPr lang="zh-CN" altLang="en-US" sz="2000" i="1" dirty="0" smtClean="0">
                        <a:solidFill>
                          <a:prstClr val="black"/>
                        </a:solidFill>
                        <a:latin typeface="Cambria Math" panose="02040503050406030204" pitchFamily="18" charset="0"/>
                        <a:cs typeface="Times New Roman" panose="02020603050405020304" pitchFamily="18" charset="0"/>
                      </a:rPr>
                      <m:t>𝑦</m:t>
                    </m:r>
                    <m:r>
                      <a:rPr lang="en-US" altLang="zh-CN" sz="2000" i="1" dirty="0" smtClean="0">
                        <a:solidFill>
                          <a:prstClr val="black"/>
                        </a:solidFill>
                        <a:latin typeface="Cambria Math" panose="02040503050406030204" pitchFamily="18" charset="0"/>
                        <a:cs typeface="Times New Roman" panose="02020603050405020304" pitchFamily="18" charset="0"/>
                      </a:rPr>
                      <m:t>=</m:t>
                    </m:r>
                    <m:r>
                      <a:rPr lang="en-US" altLang="zh-CN" sz="2000" i="1" dirty="0" smtClean="0">
                        <a:solidFill>
                          <a:prstClr val="black"/>
                        </a:solidFill>
                        <a:latin typeface="Cambria Math" panose="02040503050406030204" pitchFamily="18" charset="0"/>
                        <a:cs typeface="Times New Roman" panose="02020603050405020304" pitchFamily="18" charset="0"/>
                      </a:rPr>
                      <m:t>h</m:t>
                    </m:r>
                    <m:r>
                      <a:rPr lang="en-US" altLang="zh-CN" sz="2000" i="1" dirty="0" smtClean="0">
                        <a:solidFill>
                          <a:prstClr val="black"/>
                        </a:solidFill>
                        <a:latin typeface="Cambria Math" panose="02040503050406030204" pitchFamily="18" charset="0"/>
                        <a:cs typeface="Times New Roman" panose="02020603050405020304" pitchFamily="18" charset="0"/>
                      </a:rPr>
                      <m:t>(</m:t>
                    </m:r>
                    <m:r>
                      <a:rPr lang="zh-CN" altLang="en-US" sz="2000" i="1" dirty="0">
                        <a:solidFill>
                          <a:prstClr val="black"/>
                        </a:solidFill>
                        <a:latin typeface="Cambria Math" panose="02040503050406030204" pitchFamily="18" charset="0"/>
                        <a:cs typeface="Times New Roman" panose="02020603050405020304" pitchFamily="18" charset="0"/>
                      </a:rPr>
                      <m:t>𝑥</m:t>
                    </m:r>
                    <m:r>
                      <a:rPr lang="en-US" altLang="zh-CN" sz="2000" i="1" dirty="0">
                        <a:solidFill>
                          <a:prstClr val="black"/>
                        </a:solidFill>
                        <a:latin typeface="Cambria Math" panose="02040503050406030204" pitchFamily="18" charset="0"/>
                        <a:cs typeface="Times New Roman" panose="02020603050405020304" pitchFamily="18" charset="0"/>
                      </a:rPr>
                      <m:t>)  </m:t>
                    </m:r>
                  </m:oMath>
                </a14:m>
                <a:r>
                  <a:rPr lang="zh-CN" altLang="en-US" sz="2000" dirty="0">
                    <a:solidFill>
                      <a:prstClr val="black"/>
                    </a:solidFill>
                    <a:latin typeface="Times New Roman" panose="02020603050405020304" pitchFamily="18" charset="0"/>
                    <a:cs typeface="Times New Roman" panose="02020603050405020304" pitchFamily="18" charset="0"/>
                  </a:rPr>
                  <a:t>在计算上是不可行的</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弱抗碰撞性</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lang="zh-CN" altLang="en-US" sz="2000" dirty="0"/>
                  <a:t>给定任意</a:t>
                </a:r>
                <a14:m>
                  <m:oMath xmlns:m="http://schemas.openxmlformats.org/officeDocument/2006/math">
                    <m:r>
                      <a:rPr lang="en-US" altLang="zh-CN" sz="2000">
                        <a:latin typeface="Cambria Math" panose="02040503050406030204" pitchFamily="18" charset="0"/>
                      </a:rPr>
                      <m:t> </m:t>
                    </m:r>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 </m:t>
                        </m:r>
                        <m:r>
                          <a:rPr lang="en-US" altLang="zh-CN" sz="2000" dirty="0">
                            <a:latin typeface="Cambria Math" panose="02040503050406030204" pitchFamily="18" charset="0"/>
                          </a:rPr>
                          <m:t>𝑥</m:t>
                        </m:r>
                      </m:e>
                      <m:sub>
                        <m:r>
                          <a:rPr lang="en-US" altLang="zh-CN" sz="2000" dirty="0">
                            <a:latin typeface="Cambria Math" panose="02040503050406030204" pitchFamily="18" charset="0"/>
                          </a:rPr>
                          <m:t>1</m:t>
                        </m:r>
                      </m:sub>
                    </m:sSub>
                  </m:oMath>
                </a14:m>
                <a:r>
                  <a:rPr lang="zh-CN" altLang="en-US" sz="2000" dirty="0"/>
                  <a:t>，找一个 </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𝑥</m:t>
                        </m:r>
                      </m:e>
                      <m:sub>
                        <m:r>
                          <a:rPr lang="en-US" altLang="zh-CN" sz="2000" dirty="0">
                            <a:latin typeface="Cambria Math" panose="02040503050406030204" pitchFamily="18" charset="0"/>
                          </a:rPr>
                          <m:t>2 </m:t>
                        </m:r>
                      </m:sub>
                    </m:sSub>
                  </m:oMath>
                </a14:m>
                <a:r>
                  <a:rPr lang="zh-CN" altLang="en-US" sz="2000" dirty="0"/>
                  <a:t>满足</a:t>
                </a:r>
                <a14:m>
                  <m:oMath xmlns:m="http://schemas.openxmlformats.org/officeDocument/2006/math">
                    <m:r>
                      <a:rPr lang="en-US" altLang="zh-CN" sz="2000" dirty="0">
                        <a:latin typeface="Cambria Math" panose="02040503050406030204" pitchFamily="18" charset="0"/>
                      </a:rPr>
                      <m:t> </m:t>
                    </m:r>
                    <m:r>
                      <a:rPr lang="en-US" altLang="zh-CN" sz="2000" b="0" i="1" dirty="0" smtClean="0">
                        <a:latin typeface="Cambria Math" panose="02040503050406030204" pitchFamily="18" charset="0"/>
                      </a:rPr>
                      <m:t>h</m:t>
                    </m:r>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𝑥</m:t>
                        </m:r>
                      </m:e>
                      <m:sub>
                        <m:r>
                          <a:rPr lang="en-US" altLang="zh-CN" sz="2000" i="1" dirty="0">
                            <a:latin typeface="Cambria Math" panose="02040503050406030204" pitchFamily="18" charset="0"/>
                          </a:rPr>
                          <m:t>2</m:t>
                        </m:r>
                      </m:sub>
                    </m:sSub>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h</m:t>
                    </m:r>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𝑥</m:t>
                        </m:r>
                      </m:e>
                      <m:sub>
                        <m:r>
                          <a:rPr lang="en-US" altLang="zh-CN" sz="2000" i="1" dirty="0">
                            <a:latin typeface="Cambria Math" panose="02040503050406030204" pitchFamily="18" charset="0"/>
                          </a:rPr>
                          <m:t>1</m:t>
                        </m:r>
                      </m:sub>
                    </m:sSub>
                    <m:r>
                      <a:rPr lang="en-US" altLang="zh-CN" sz="2000" i="1" dirty="0">
                        <a:latin typeface="Cambria Math" panose="02040503050406030204" pitchFamily="18" charset="0"/>
                      </a:rPr>
                      <m:t>)</m:t>
                    </m:r>
                    <m:r>
                      <m:rPr>
                        <m:nor/>
                      </m:rPr>
                      <a:rPr lang="en-US" altLang="zh-CN" sz="2000" i="1" dirty="0"/>
                      <m:t> </m:t>
                    </m:r>
                    <m:r>
                      <m:rPr>
                        <m:nor/>
                      </m:rPr>
                      <a:rPr lang="zh-CN" altLang="en-US" sz="2000" dirty="0"/>
                      <m:t>在</m:t>
                    </m:r>
                  </m:oMath>
                </a14:m>
                <a:r>
                  <a:rPr lang="zh-CN" altLang="en-US" sz="2000" dirty="0"/>
                  <a:t>计算上是不可行的。</a:t>
                </a:r>
              </a:p>
              <a:p>
                <a:pPr marL="457200" indent="-457200" algn="just">
                  <a:lnSpc>
                    <a:spcPct val="15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强抗碰撞性</a:t>
                </a:r>
                <a:r>
                  <a:rPr lang="zh-CN" altLang="en-US" sz="2000" b="1" dirty="0">
                    <a:solidFill>
                      <a:prstClr val="black"/>
                    </a:solidFill>
                    <a:latin typeface="Times New Roman" panose="02020603050405020304" pitchFamily="18" charset="0"/>
                    <a:cs typeface="Times New Roman" panose="02020603050405020304" pitchFamily="18" charset="0"/>
                  </a:rPr>
                  <a:t>：</a:t>
                </a:r>
                <a:r>
                  <a:rPr lang="zh-CN" altLang="en-US" sz="2000" dirty="0"/>
                  <a:t>要找到任何一对</a:t>
                </a:r>
                <a14:m>
                  <m:oMath xmlns:m="http://schemas.openxmlformats.org/officeDocument/2006/math">
                    <m:r>
                      <a:rPr lang="en-US" altLang="zh-CN" sz="2000">
                        <a:latin typeface="Cambria Math" panose="02040503050406030204" pitchFamily="18" charset="0"/>
                      </a:rPr>
                      <m:t> </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𝑥</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𝑥</m:t>
                            </m:r>
                          </m:e>
                          <m:sub>
                            <m:r>
                              <a:rPr lang="en-US" altLang="zh-CN" sz="2000">
                                <a:latin typeface="Cambria Math" panose="02040503050406030204" pitchFamily="18" charset="0"/>
                              </a:rPr>
                              <m:t>2</m:t>
                            </m:r>
                          </m:sub>
                        </m:sSub>
                      </m:e>
                    </m:d>
                    <m:r>
                      <a:rPr lang="zh-CN" altLang="en-US" sz="2000">
                        <a:latin typeface="Cambria Math" panose="02040503050406030204" pitchFamily="18" charset="0"/>
                      </a:rPr>
                      <m:t>，</m:t>
                    </m:r>
                  </m:oMath>
                </a14:m>
                <a:r>
                  <a:rPr lang="zh-CN" altLang="en-US" sz="2000" dirty="0"/>
                  <a:t>其中</a:t>
                </a:r>
                <a14:m>
                  <m:oMath xmlns:m="http://schemas.openxmlformats.org/officeDocument/2006/math">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 </m:t>
                        </m:r>
                        <m:r>
                          <a:rPr lang="en-US" altLang="zh-CN" sz="2000" dirty="0">
                            <a:latin typeface="Cambria Math" panose="02040503050406030204" pitchFamily="18" charset="0"/>
                          </a:rPr>
                          <m:t>𝑥</m:t>
                        </m:r>
                      </m:e>
                      <m:sub>
                        <m:r>
                          <a:rPr lang="en-US" altLang="zh-CN" sz="2000" dirty="0">
                            <a:latin typeface="Cambria Math" panose="02040503050406030204" pitchFamily="18" charset="0"/>
                          </a:rPr>
                          <m:t>1</m:t>
                        </m:r>
                      </m:sub>
                    </m:sSub>
                    <m:r>
                      <a:rPr lang="en-US" altLang="zh-CN" sz="2000"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dirty="0">
                            <a:latin typeface="Cambria Math" panose="02040503050406030204" pitchFamily="18" charset="0"/>
                          </a:rPr>
                          <m:t>𝑥</m:t>
                        </m:r>
                      </m:e>
                      <m:sub>
                        <m:r>
                          <a:rPr lang="en-US" altLang="zh-CN" sz="2000" dirty="0">
                            <a:latin typeface="Cambria Math" panose="02040503050406030204" pitchFamily="18" charset="0"/>
                          </a:rPr>
                          <m:t>2</m:t>
                        </m:r>
                      </m:sub>
                    </m:sSub>
                  </m:oMath>
                </a14:m>
                <a:r>
                  <a:rPr lang="zh-CN" altLang="en-US" sz="2000" dirty="0"/>
                  <a:t>，使得</a:t>
                </a:r>
                <a14:m>
                  <m:oMath xmlns:m="http://schemas.openxmlformats.org/officeDocument/2006/math">
                    <m:r>
                      <a:rPr lang="en-US" altLang="zh-CN" sz="2000">
                        <a:latin typeface="Cambria Math" panose="02040503050406030204" pitchFamily="18" charset="0"/>
                      </a:rPr>
                      <m:t> </m:t>
                    </m:r>
                    <m:r>
                      <a:rPr lang="en-US" altLang="zh-CN" sz="2000" b="0" i="1" smtClean="0">
                        <a:latin typeface="Cambria Math" panose="02040503050406030204" pitchFamily="18" charset="0"/>
                      </a:rPr>
                      <m:t>h</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𝑥</m:t>
                            </m:r>
                          </m:e>
                          <m:sub>
                            <m:r>
                              <a:rPr lang="en-US" altLang="zh-CN" sz="2000">
                                <a:latin typeface="Cambria Math" panose="02040503050406030204" pitchFamily="18" charset="0"/>
                              </a:rPr>
                              <m:t>1</m:t>
                            </m:r>
                          </m:sub>
                        </m:sSub>
                      </m:e>
                    </m:d>
                    <m:r>
                      <a:rPr lang="en-US" altLang="zh-CN" sz="2000">
                        <a:latin typeface="Cambria Math" panose="02040503050406030204" pitchFamily="18" charset="0"/>
                      </a:rPr>
                      <m:t>=</m:t>
                    </m:r>
                    <m:r>
                      <a:rPr lang="en-US" altLang="zh-CN" sz="2000" b="0" i="1" smtClean="0">
                        <a:latin typeface="Cambria Math" panose="02040503050406030204" pitchFamily="18" charset="0"/>
                      </a:rPr>
                      <m:t>h</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𝑥</m:t>
                            </m:r>
                          </m:e>
                          <m:sub>
                            <m:r>
                              <a:rPr lang="en-US" altLang="zh-CN" sz="2000">
                                <a:latin typeface="Cambria Math" panose="02040503050406030204" pitchFamily="18" charset="0"/>
                              </a:rPr>
                              <m:t>2</m:t>
                            </m:r>
                          </m:sub>
                        </m:sSub>
                      </m:e>
                    </m:d>
                    <m:r>
                      <a:rPr lang="en-US" altLang="zh-CN" sz="2000">
                        <a:latin typeface="Cambria Math" panose="02040503050406030204" pitchFamily="18" charset="0"/>
                      </a:rPr>
                      <m:t> </m:t>
                    </m:r>
                  </m:oMath>
                </a14:m>
                <a:r>
                  <a:rPr lang="zh-CN" altLang="en-US" sz="2000" dirty="0"/>
                  <a:t>在计算上是不可行的。</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 xmlns:a16="http://schemas.microsoft.com/office/drawing/2014/main"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12517" y="1252125"/>
                <a:ext cx="8479945" cy="5078826"/>
              </a:xfrm>
              <a:prstGeom prst="rect">
                <a:avLst/>
              </a:prstGeom>
              <a:blipFill rotWithShape="0">
                <a:blip r:embed="rId3"/>
                <a:stretch>
                  <a:fillRect l="-719" r="-7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4507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27</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1.1 </a:t>
            </a:r>
            <a:r>
              <a:rPr lang="zh-CN" altLang="en-US" sz="2400" b="1" dirty="0">
                <a:solidFill>
                  <a:srgbClr val="FF0000"/>
                </a:solidFill>
                <a:latin typeface="+mn-ea"/>
              </a:rPr>
              <a:t>哈希函数</a:t>
            </a:r>
            <a:r>
              <a:rPr lang="zh-CN" altLang="en-US" sz="2400" b="1" dirty="0">
                <a:solidFill>
                  <a:srgbClr val="FF0000"/>
                </a:solidFill>
                <a:latin typeface="Times New Roman" panose="02020603050405020304" pitchFamily="18" charset="0"/>
                <a:cs typeface="Times New Roman" panose="02020603050405020304" pitchFamily="18" charset="0"/>
              </a:rPr>
              <a:t>的分类</a:t>
            </a:r>
            <a:endParaRPr lang="zh-CN" altLang="en-US" sz="2400" b="1" dirty="0">
              <a:solidFill>
                <a:srgbClr val="FF0000"/>
              </a:solidFill>
              <a:latin typeface="+mn-ea"/>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774528"/>
                <a:ext cx="8479945" cy="4000390"/>
              </a:xfrm>
              <a:prstGeom prst="rect">
                <a:avLst/>
              </a:prstGeom>
              <a:noFill/>
            </p:spPr>
            <p:txBody>
              <a:bodyPr wrap="square" rtlCol="0">
                <a:spAutoFit/>
              </a:bodyPr>
              <a:lstStyle/>
              <a:p>
                <a:pPr marL="342900" indent="-342900" algn="just">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密码哈希函数</a:t>
                </a:r>
                <a:endParaRPr lang="en-US" altLang="zh-CN" sz="2000" b="1" dirty="0">
                  <a:latin typeface="Times New Roman" panose="02020603050405020304" pitchFamily="18" charset="0"/>
                  <a:cs typeface="Times New Roman" panose="02020603050405020304" pitchFamily="18" charset="0"/>
                </a:endParaRPr>
              </a:p>
              <a:p>
                <a:pPr algn="just">
                  <a:lnSpc>
                    <a:spcPct val="120000"/>
                  </a:lnSpc>
                  <a:spcBef>
                    <a:spcPts val="600"/>
                  </a:spcBef>
                  <a:spcAft>
                    <a:spcPts val="600"/>
                  </a:spcAft>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有密钥控制，表示为</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 </m:t>
                    </m:r>
                    <m:r>
                      <a:rPr lang="en-US" altLang="zh-CN" sz="2000" b="0" i="1" smtClean="0">
                        <a:solidFill>
                          <a:srgbClr val="0000FF"/>
                        </a:solidFill>
                        <a:latin typeface="Cambria Math" panose="02040503050406030204" pitchFamily="18" charset="0"/>
                        <a:cs typeface="Times New Roman" panose="02020603050405020304" pitchFamily="18" charset="0"/>
                      </a:rPr>
                      <m:t>h</m:t>
                    </m:r>
                    <m:r>
                      <a:rPr lang="en-US" altLang="zh-CN" sz="2000" b="0" i="1" smtClean="0">
                        <a:solidFill>
                          <a:srgbClr val="0000FF"/>
                        </a:solidFill>
                        <a:latin typeface="Cambria Math" panose="02040503050406030204" pitchFamily="18" charset="0"/>
                        <a:cs typeface="Times New Roman" panose="02020603050405020304" pitchFamily="18" charset="0"/>
                      </a:rPr>
                      <m:t>(</m:t>
                    </m:r>
                    <m:r>
                      <a:rPr lang="en-US" altLang="zh-CN" sz="2000" b="0" i="1" smtClean="0">
                        <a:solidFill>
                          <a:srgbClr val="0000FF"/>
                        </a:solidFill>
                        <a:latin typeface="Cambria Math" panose="02040503050406030204" pitchFamily="18" charset="0"/>
                        <a:cs typeface="Times New Roman" panose="02020603050405020304" pitchFamily="18" charset="0"/>
                      </a:rPr>
                      <m:t>𝐾</m:t>
                    </m:r>
                    <m:r>
                      <a:rPr lang="en-US" altLang="zh-CN" sz="2000" b="0" i="1" smtClean="0">
                        <a:solidFill>
                          <a:srgbClr val="0000FF"/>
                        </a:solidFill>
                        <a:latin typeface="Cambria Math" panose="02040503050406030204" pitchFamily="18" charset="0"/>
                        <a:cs typeface="Times New Roman" panose="02020603050405020304" pitchFamily="18" charset="0"/>
                      </a:rPr>
                      <m:t>,</m:t>
                    </m:r>
                    <m:r>
                      <a:rPr lang="en-US" altLang="zh-CN" sz="2000" b="0" i="1" smtClean="0">
                        <a:solidFill>
                          <a:srgbClr val="0000FF"/>
                        </a:solidFill>
                        <a:latin typeface="Cambria Math" panose="02040503050406030204" pitchFamily="18" charset="0"/>
                        <a:cs typeface="Times New Roman" panose="02020603050405020304" pitchFamily="18" charset="0"/>
                      </a:rPr>
                      <m:t>𝑀</m:t>
                    </m:r>
                    <m:r>
                      <a:rPr lang="en-US" altLang="zh-CN" sz="2000" b="0" i="1" smtClean="0">
                        <a:solidFill>
                          <a:srgbClr val="0000FF"/>
                        </a:solidFill>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。其哈希值不仅与输入有关，而且与密钥有关。只有拥有此密钥的人才能计算出相应的哈希值，因此</a:t>
                </a:r>
                <a:r>
                  <a:rPr lang="zh-CN" altLang="en-US" sz="2000" dirty="0">
                    <a:solidFill>
                      <a:srgbClr val="0000FF"/>
                    </a:solidFill>
                    <a:latin typeface="Times New Roman" panose="02020603050405020304" pitchFamily="18" charset="0"/>
                    <a:cs typeface="Times New Roman" panose="02020603050405020304" pitchFamily="18" charset="0"/>
                  </a:rPr>
                  <a:t>具有身份验证功能</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20000"/>
                  </a:lnSpc>
                  <a:spcBef>
                    <a:spcPts val="12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一般哈希函数</a:t>
                </a:r>
                <a:endParaRPr lang="en-US" altLang="zh-CN" sz="2000" b="1" dirty="0">
                  <a:latin typeface="Times New Roman" panose="02020603050405020304" pitchFamily="18" charset="0"/>
                  <a:cs typeface="Times New Roman" panose="02020603050405020304" pitchFamily="18" charset="0"/>
                </a:endParaRPr>
              </a:p>
              <a:p>
                <a:pPr algn="just">
                  <a:lnSpc>
                    <a:spcPct val="120000"/>
                  </a:lnSpc>
                  <a:spcBef>
                    <a:spcPts val="600"/>
                  </a:spcBef>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无密钥控制的单向哈希函数。其哈希值只与输入有关，任何人都可以计算，因此</a:t>
                </a:r>
                <a:r>
                  <a:rPr lang="zh-CN" altLang="en-US" sz="2000" dirty="0">
                    <a:solidFill>
                      <a:srgbClr val="0000FF"/>
                    </a:solidFill>
                    <a:latin typeface="Times New Roman" panose="02020603050405020304" pitchFamily="18" charset="0"/>
                    <a:cs typeface="Times New Roman" panose="02020603050405020304" pitchFamily="18" charset="0"/>
                  </a:rPr>
                  <a:t>不具备身份验证功能</a:t>
                </a:r>
                <a:r>
                  <a:rPr lang="zh-CN" altLang="en-US" sz="2000" dirty="0">
                    <a:latin typeface="Times New Roman" panose="02020603050405020304" pitchFamily="18" charset="0"/>
                    <a:cs typeface="Times New Roman" panose="02020603050405020304" pitchFamily="18" charset="0"/>
                  </a:rPr>
                  <a:t>，只用于检测接收数据的完整性。</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1800"/>
                  </a:spcBef>
                </a:pPr>
                <a:r>
                  <a:rPr lang="zh-CN" altLang="en-US" sz="2000" dirty="0">
                    <a:latin typeface="Times New Roman" panose="02020603050405020304" pitchFamily="18" charset="0"/>
                    <a:cs typeface="Times New Roman" panose="02020603050405020304" pitchFamily="18" charset="0"/>
                  </a:rPr>
                  <a:t>        尽管密码哈希函数通常比一般哈希函数慢，但它满足了各种安全性要求，在现代密码学中有着重要作用。</a:t>
                </a: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774528"/>
                <a:ext cx="8479945" cy="4000390"/>
              </a:xfrm>
              <a:prstGeom prst="rect">
                <a:avLst/>
              </a:prstGeom>
              <a:blipFill>
                <a:blip r:embed="rId3"/>
                <a:stretch>
                  <a:fillRect l="-719" r="-791" b="-18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8102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1.2 </a:t>
            </a:r>
            <a:r>
              <a:rPr lang="zh-CN" altLang="en-US" sz="2400" b="1" dirty="0">
                <a:solidFill>
                  <a:srgbClr val="FF0000"/>
                </a:solidFill>
                <a:latin typeface="+mn-ea"/>
              </a:rPr>
              <a:t>哈希函数的应用</a:t>
            </a:r>
          </a:p>
        </p:txBody>
      </p:sp>
      <p:sp>
        <p:nvSpPr>
          <p:cNvPr id="7" name="文本框 6">
            <a:extLst>
              <a:ext uri="{FF2B5EF4-FFF2-40B4-BE49-F238E27FC236}">
                <a16:creationId xmlns:a16="http://schemas.microsoft.com/office/drawing/2014/main" id="{0D62A5DE-B116-2098-BBCF-2C373A6B4455}"/>
              </a:ext>
            </a:extLst>
          </p:cNvPr>
          <p:cNvSpPr txBox="1"/>
          <p:nvPr/>
        </p:nvSpPr>
        <p:spPr>
          <a:xfrm>
            <a:off x="312517" y="1613275"/>
            <a:ext cx="8561671" cy="4632037"/>
          </a:xfrm>
          <a:prstGeom prst="rect">
            <a:avLst/>
          </a:prstGeom>
          <a:noFill/>
        </p:spPr>
        <p:txBody>
          <a:bodyPr wrap="square" rtlCol="0">
            <a:spAutoFit/>
          </a:bodyPr>
          <a:lstStyle/>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消息认证码 </a:t>
            </a:r>
            <a:r>
              <a:rPr lang="en-US" altLang="zh-CN" sz="2000" dirty="0">
                <a:latin typeface="Times New Roman" panose="02020603050405020304" pitchFamily="18" charset="0"/>
                <a:cs typeface="Times New Roman" panose="02020603050405020304" pitchFamily="18" charset="0"/>
              </a:rPr>
              <a:t>MAC (Message Authentication Code)</a:t>
            </a:r>
            <a:r>
              <a:rPr lang="zh-CN" altLang="en-US" sz="2000" dirty="0">
                <a:latin typeface="Times New Roman" panose="02020603050405020304" pitchFamily="18" charset="0"/>
                <a:cs typeface="Times New Roman" panose="02020603050405020304" pitchFamily="18" charset="0"/>
              </a:rPr>
              <a:t>：消息的</a:t>
            </a:r>
            <a:r>
              <a:rPr lang="zh-CN" altLang="en-US" sz="2000" dirty="0">
                <a:solidFill>
                  <a:srgbClr val="0000FF"/>
                </a:solidFill>
                <a:latin typeface="Times New Roman" panose="02020603050405020304" pitchFamily="18" charset="0"/>
                <a:cs typeface="Times New Roman" panose="02020603050405020304" pitchFamily="18" charset="0"/>
              </a:rPr>
              <a:t>密码哈希值</a:t>
            </a:r>
            <a:r>
              <a:rPr lang="zh-CN" altLang="en-US" sz="2000" dirty="0">
                <a:latin typeface="Times New Roman" panose="02020603050405020304" pitchFamily="18" charset="0"/>
                <a:cs typeface="Times New Roman" panose="02020603050405020304" pitchFamily="18" charset="0"/>
              </a:rPr>
              <a:t>，也称作</a:t>
            </a:r>
            <a:r>
              <a:rPr lang="zh-CN" altLang="en-US" sz="2000" dirty="0">
                <a:solidFill>
                  <a:srgbClr val="0000FF"/>
                </a:solidFill>
                <a:latin typeface="Times New Roman" panose="02020603050405020304" pitchFamily="18" charset="0"/>
                <a:cs typeface="Times New Roman" panose="02020603050405020304" pitchFamily="18" charset="0"/>
              </a:rPr>
              <a:t>认证符</a:t>
            </a:r>
            <a:r>
              <a:rPr lang="zh-CN" altLang="en-US" sz="2000" dirty="0">
                <a:latin typeface="Times New Roman" panose="02020603050405020304" pitchFamily="18" charset="0"/>
                <a:cs typeface="Times New Roman" panose="02020603050405020304" pitchFamily="18" charset="0"/>
              </a:rPr>
              <a:t>或</a:t>
            </a:r>
            <a:r>
              <a:rPr lang="zh-CN" altLang="en-US" sz="2000" dirty="0">
                <a:solidFill>
                  <a:srgbClr val="0000FF"/>
                </a:solidFill>
                <a:latin typeface="Times New Roman" panose="02020603050405020304" pitchFamily="18" charset="0"/>
                <a:cs typeface="Times New Roman" panose="02020603050405020304" pitchFamily="18" charset="0"/>
              </a:rPr>
              <a:t>认证码。</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消息摘要：在实际应用中，签名实际上是对摘要的签名，可提升效率。</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伪随机函数 </a:t>
            </a:r>
            <a:r>
              <a:rPr lang="en-US" altLang="zh-CN" sz="2000" dirty="0">
                <a:latin typeface="Times New Roman" panose="02020603050405020304" pitchFamily="18" charset="0"/>
                <a:cs typeface="Times New Roman" panose="02020603050405020304" pitchFamily="18" charset="0"/>
              </a:rPr>
              <a:t>PRF (pseudorandom function)</a:t>
            </a:r>
            <a:r>
              <a:rPr lang="zh-CN" altLang="en-US" sz="2000" dirty="0">
                <a:latin typeface="Times New Roman" panose="02020603050405020304" pitchFamily="18" charset="0"/>
                <a:cs typeface="Times New Roman" panose="02020603050405020304" pitchFamily="18" charset="0"/>
              </a:rPr>
              <a:t>：在密钥协商方案中或零知识证明协议中，提供实用的伪随机数。</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可证明安全性</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设计安全的公钥加密</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签名方案 如 </a:t>
            </a:r>
            <a:r>
              <a:rPr lang="en-US" altLang="zh-CN" sz="2000" dirty="0">
                <a:latin typeface="Times New Roman" panose="02020603050405020304" pitchFamily="18" charset="0"/>
                <a:cs typeface="Times New Roman" panose="02020603050405020304" pitchFamily="18" charset="0"/>
              </a:rPr>
              <a:t>RSA-OAEP</a:t>
            </a:r>
            <a:r>
              <a:rPr lang="zh-CN" altLang="en-US"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Schnorr</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等。</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随机预言模型 </a:t>
            </a:r>
            <a:r>
              <a:rPr lang="en-US" altLang="zh-CN" sz="2000" dirty="0">
                <a:latin typeface="Times New Roman" panose="02020603050405020304" pitchFamily="18" charset="0"/>
                <a:cs typeface="Times New Roman" panose="02020603050405020304" pitchFamily="18" charset="0"/>
              </a:rPr>
              <a:t>ROM (Random Oracle Model)</a:t>
            </a:r>
            <a:r>
              <a:rPr lang="zh-CN" altLang="en-US" sz="2000" dirty="0">
                <a:latin typeface="Times New Roman" panose="02020603050405020304" pitchFamily="18" charset="0"/>
                <a:cs typeface="Times New Roman" panose="02020603050405020304" pitchFamily="18" charset="0"/>
              </a:rPr>
              <a:t>：将哈希函数视为一个理想的随机函数。</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28</a:t>
            </a:fld>
            <a:endParaRPr lang="zh-CN" altLang="en-US"/>
          </a:p>
        </p:txBody>
      </p:sp>
    </p:spTree>
    <p:extLst>
      <p:ext uri="{BB962C8B-B14F-4D97-AF65-F5344CB8AC3E}">
        <p14:creationId xmlns:p14="http://schemas.microsoft.com/office/powerpoint/2010/main" val="589064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29</a:t>
            </a:fld>
            <a:endParaRPr lang="zh-CN" altLang="en-US" dirty="0"/>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1.3 </a:t>
            </a:r>
            <a:r>
              <a:rPr lang="zh-CN" altLang="en-US" sz="2400" b="1" dirty="0">
                <a:solidFill>
                  <a:srgbClr val="FF0000"/>
                </a:solidFill>
                <a:latin typeface="+mn-ea"/>
              </a:rPr>
              <a:t>哈希函数的构造与设计</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631910"/>
                <a:ext cx="8479945" cy="4324261"/>
              </a:xfrm>
              <a:prstGeom prst="rect">
                <a:avLst/>
              </a:prstGeom>
              <a:noFill/>
            </p:spPr>
            <p:txBody>
              <a:bodyPr wrap="square" rtlCol="0">
                <a:spAutoFit/>
              </a:bodyPr>
              <a:lstStyle/>
              <a:p>
                <a:pPr>
                  <a:lnSpc>
                    <a:spcPct val="150000"/>
                  </a:lnSpc>
                  <a:spcBef>
                    <a:spcPts val="600"/>
                  </a:spcBef>
                </a:pPr>
                <a:r>
                  <a:rPr lang="zh-CN" altLang="en-US" sz="2000" dirty="0">
                    <a:latin typeface="Times New Roman" panose="02020603050405020304" pitchFamily="18" charset="0"/>
                    <a:cs typeface="Times New Roman" panose="02020603050405020304" pitchFamily="18" charset="0"/>
                  </a:rPr>
                  <a:t>大多数哈希函数如 </a:t>
                </a:r>
                <a:r>
                  <a:rPr lang="en-US" altLang="zh-CN" sz="2000" dirty="0">
                    <a:latin typeface="Times New Roman" panose="02020603050405020304" pitchFamily="18" charset="0"/>
                    <a:cs typeface="Times New Roman" panose="02020603050405020304" pitchFamily="18" charset="0"/>
                  </a:rPr>
                  <a:t>MD5</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SHA-1</a:t>
                </a:r>
                <a:r>
                  <a:rPr lang="zh-CN" altLang="en-US" sz="2000" dirty="0">
                    <a:latin typeface="Times New Roman" panose="02020603050405020304" pitchFamily="18" charset="0"/>
                    <a:cs typeface="Times New Roman" panose="02020603050405020304" pitchFamily="18" charset="0"/>
                  </a:rPr>
                  <a:t>，都使用</a:t>
                </a:r>
                <a:r>
                  <a:rPr lang="zh-CN" altLang="en-US" sz="2000" dirty="0">
                    <a:solidFill>
                      <a:srgbClr val="0000FF"/>
                    </a:solidFill>
                    <a:latin typeface="Times New Roman" panose="02020603050405020304" pitchFamily="18" charset="0"/>
                    <a:cs typeface="Times New Roman" panose="02020603050405020304" pitchFamily="18" charset="0"/>
                  </a:rPr>
                  <a:t>迭代</a:t>
                </a:r>
                <a:r>
                  <a:rPr lang="zh-CN" altLang="en-US" sz="2000" dirty="0">
                    <a:latin typeface="Times New Roman" panose="02020603050405020304" pitchFamily="18" charset="0"/>
                    <a:cs typeface="Times New Roman" panose="02020603050405020304" pitchFamily="18" charset="0"/>
                  </a:rPr>
                  <a:t>结构，其构造算法如下：</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将输入消息分为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𝑁</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个固定长度的分组，每组长度为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𝑏</m:t>
                    </m:r>
                  </m:oMath>
                </a14:m>
                <a:r>
                  <a:rPr lang="zh-CN" altLang="en-US" sz="2000" dirty="0">
                    <a:latin typeface="Times New Roman" panose="02020603050405020304" pitchFamily="18" charset="0"/>
                    <a:cs typeface="Times New Roman" panose="02020603050405020304" pitchFamily="18" charset="0"/>
                  </a:rPr>
                  <a:t> 位</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如果最后一个分组不足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𝑏</m:t>
                    </m:r>
                  </m:oMath>
                </a14:m>
                <a:r>
                  <a:rPr lang="zh-CN" altLang="en-US" sz="2000" dirty="0">
                    <a:latin typeface="Times New Roman" panose="02020603050405020304" pitchFamily="18" charset="0"/>
                    <a:cs typeface="Times New Roman" panose="02020603050405020304" pitchFamily="18" charset="0"/>
                  </a:rPr>
                  <a:t> 位，则将其填充为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𝑏</m:t>
                    </m:r>
                  </m:oMath>
                </a14:m>
                <a:r>
                  <a:rPr lang="zh-CN" altLang="en-US" sz="2000" dirty="0">
                    <a:latin typeface="Times New Roman" panose="02020603050405020304" pitchFamily="18" charset="0"/>
                    <a:cs typeface="Times New Roman" panose="02020603050405020304" pitchFamily="18" charset="0"/>
                  </a:rPr>
                  <a:t> 位</a:t>
                </a:r>
                <a:endParaRPr lang="en-US" altLang="zh-CN" sz="2000" dirty="0">
                  <a:latin typeface="Times New Roman" panose="02020603050405020304" pitchFamily="18" charset="0"/>
                  <a:cs typeface="Times New Roman" panose="02020603050405020304" pitchFamily="18" charset="0"/>
                </a:endParaRPr>
              </a:p>
              <a:p>
                <a:pPr marL="1371600" lvl="2" indent="-457200">
                  <a:lnSpc>
                    <a:spcPct val="150000"/>
                  </a:lnSpc>
                  <a:spcBef>
                    <a:spcPts val="600"/>
                  </a:spcBef>
                  <a:buFont typeface="Wingdings" panose="05000000000000000000" pitchFamily="2" charset="2"/>
                  <a:buChar char="ü"/>
                </a:pPr>
                <a:r>
                  <a:rPr lang="zh-CN" altLang="en-US" sz="2000" dirty="0">
                    <a:latin typeface="Times New Roman" panose="02020603050405020304" pitchFamily="18" charset="0"/>
                    <a:cs typeface="Times New Roman" panose="02020603050405020304" pitchFamily="18" charset="0"/>
                  </a:rPr>
                  <a:t>最后一个分组的填充包括原始消息长度</a:t>
                </a:r>
                <a:endParaRPr lang="en-US" altLang="zh-CN" sz="2000" dirty="0">
                  <a:latin typeface="Times New Roman" panose="02020603050405020304" pitchFamily="18" charset="0"/>
                  <a:cs typeface="Times New Roman" panose="02020603050405020304" pitchFamily="18" charset="0"/>
                </a:endParaRPr>
              </a:p>
              <a:p>
                <a:pPr marL="342900"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重复使用压缩函数</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𝑓</m:t>
                    </m:r>
                  </m:oMath>
                </a14:m>
                <a:r>
                  <a:rPr lang="zh-CN" altLang="en-US" sz="2000" dirty="0">
                    <a:latin typeface="Times New Roman" panose="02020603050405020304" pitchFamily="18" charset="0"/>
                    <a:cs typeface="Times New Roman" panose="02020603050405020304" pitchFamily="18" charset="0"/>
                  </a:rPr>
                  <a:t>，函数</a:t>
                </a:r>
                <a14:m>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𝑓</m:t>
                    </m:r>
                  </m:oMath>
                </a14:m>
                <a:r>
                  <a:rPr lang="zh-CN" altLang="en-US" sz="2000" dirty="0">
                    <a:latin typeface="Times New Roman" panose="02020603050405020304" pitchFamily="18" charset="0"/>
                    <a:cs typeface="Times New Roman" panose="02020603050405020304" pitchFamily="18" charset="0"/>
                  </a:rPr>
                  <a:t> 的输入为：</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上一轮的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𝑛</m:t>
                    </m:r>
                  </m:oMath>
                </a14:m>
                <a:r>
                  <a:rPr lang="zh-CN" altLang="en-US" sz="2000" dirty="0">
                    <a:latin typeface="Times New Roman" panose="02020603050405020304" pitchFamily="18" charset="0"/>
                    <a:cs typeface="Times New Roman" panose="02020603050405020304" pitchFamily="18" charset="0"/>
                  </a:rPr>
                  <a:t> 位输出，称为</a:t>
                </a:r>
                <a:r>
                  <a:rPr lang="zh-CN" altLang="en-US" sz="2000" dirty="0">
                    <a:solidFill>
                      <a:srgbClr val="0000FF"/>
                    </a:solidFill>
                    <a:latin typeface="Times New Roman" panose="02020603050405020304" pitchFamily="18" charset="0"/>
                    <a:cs typeface="Times New Roman" panose="02020603050405020304" pitchFamily="18" charset="0"/>
                  </a:rPr>
                  <a:t>链接变量；</a:t>
                </a:r>
                <a:r>
                  <a:rPr lang="zh-CN" altLang="en-US" sz="2000" dirty="0">
                    <a:latin typeface="Times New Roman" panose="02020603050405020304" pitchFamily="18" charset="0"/>
                    <a:cs typeface="Times New Roman" panose="02020603050405020304" pitchFamily="18" charset="0"/>
                  </a:rPr>
                  <a:t>如果是第一轮，则输入一个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𝑛</m:t>
                    </m:r>
                  </m:oMath>
                </a14:m>
                <a:r>
                  <a:rPr lang="zh-CN" altLang="en-US" sz="2000" dirty="0">
                    <a:latin typeface="Times New Roman" panose="02020603050405020304" pitchFamily="18" charset="0"/>
                    <a:cs typeface="Times New Roman" panose="02020603050405020304" pitchFamily="18" charset="0"/>
                  </a:rPr>
                  <a:t> 位 </a:t>
                </a:r>
                <a:r>
                  <a:rPr lang="zh-CN" altLang="en-US" sz="2000" dirty="0">
                    <a:solidFill>
                      <a:srgbClr val="0000FF"/>
                    </a:solidFill>
                    <a:latin typeface="Times New Roman" panose="02020603050405020304" pitchFamily="18" charset="0"/>
                    <a:cs typeface="Times New Roman" panose="02020603050405020304" pitchFamily="18" charset="0"/>
                  </a:rPr>
                  <a:t>初始向量 </a:t>
                </a: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𝐼𝑉</m:t>
                    </m:r>
                  </m:oMath>
                </a14:m>
                <a:endParaRPr lang="en-US" altLang="zh-CN" sz="2000" dirty="0">
                  <a:solidFill>
                    <a:srgbClr val="0000FF"/>
                  </a:solidFill>
                  <a:latin typeface="Times New Roman" panose="02020603050405020304" pitchFamily="18" charset="0"/>
                  <a:cs typeface="Times New Roman" panose="02020603050405020304" pitchFamily="18" charset="0"/>
                </a:endParaRPr>
              </a:p>
              <a:p>
                <a:pPr marL="914400" lvl="1" indent="-457200">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本轮的的</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solidFill>
                          <a:srgbClr val="0000FF"/>
                        </a:solidFill>
                        <a:latin typeface="Cambria Math" panose="02040503050406030204" pitchFamily="18" charset="0"/>
                        <a:cs typeface="Times New Roman" panose="02020603050405020304" pitchFamily="18" charset="0"/>
                      </a:rPr>
                      <m:t>𝑏</m:t>
                    </m:r>
                    <m:r>
                      <a:rPr lang="en-US" altLang="zh-CN" sz="2000" b="0" i="1" smtClean="0">
                        <a:solidFill>
                          <a:srgbClr val="0000FF"/>
                        </a:solidFill>
                        <a:latin typeface="Cambria Math" panose="02040503050406030204" pitchFamily="18" charset="0"/>
                        <a:cs typeface="Times New Roman" panose="02020603050405020304" pitchFamily="18" charset="0"/>
                      </a:rPr>
                      <m:t> </m:t>
                    </m:r>
                  </m:oMath>
                </a14:m>
                <a:r>
                  <a:rPr lang="zh-CN" altLang="en-US" sz="2000" dirty="0">
                    <a:solidFill>
                      <a:srgbClr val="0000FF"/>
                    </a:solidFill>
                    <a:latin typeface="Times New Roman" panose="02020603050405020304" pitchFamily="18" charset="0"/>
                    <a:cs typeface="Times New Roman" panose="02020603050405020304" pitchFamily="18" charset="0"/>
                  </a:rPr>
                  <a:t>位数据分组</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12517" y="1631910"/>
                <a:ext cx="8479945" cy="4324261"/>
              </a:xfrm>
              <a:prstGeom prst="rect">
                <a:avLst/>
              </a:prstGeom>
              <a:blipFill rotWithShape="0">
                <a:blip r:embed="rId3"/>
                <a:stretch>
                  <a:fillRect l="-7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6377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哈希函数概述</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30</a:t>
            </a:fld>
            <a:endParaRPr lang="zh-CN" altLang="en-US" dirty="0"/>
          </a:p>
        </p:txBody>
      </p:sp>
      <p:grpSp>
        <p:nvGrpSpPr>
          <p:cNvPr id="4" name="组合 3">
            <a:extLst>
              <a:ext uri="{FF2B5EF4-FFF2-40B4-BE49-F238E27FC236}">
                <a16:creationId xmlns:a16="http://schemas.microsoft.com/office/drawing/2014/main" id="{14B004C7-ACB1-4821-8930-8B6889EDC81A}"/>
              </a:ext>
            </a:extLst>
          </p:cNvPr>
          <p:cNvGrpSpPr/>
          <p:nvPr/>
        </p:nvGrpSpPr>
        <p:grpSpPr>
          <a:xfrm>
            <a:off x="81877" y="3198124"/>
            <a:ext cx="8792311" cy="2690603"/>
            <a:chOff x="232837" y="2206666"/>
            <a:chExt cx="8911162" cy="2810621"/>
          </a:xfrm>
        </p:grpSpPr>
        <p:sp>
          <p:nvSpPr>
            <p:cNvPr id="5" name="梯形 4">
              <a:extLst>
                <a:ext uri="{FF2B5EF4-FFF2-40B4-BE49-F238E27FC236}">
                  <a16:creationId xmlns:a16="http://schemas.microsoft.com/office/drawing/2014/main" id="{22EB421B-C51C-8B23-7634-256898430E67}"/>
                </a:ext>
              </a:extLst>
            </p:cNvPr>
            <p:cNvSpPr/>
            <p:nvPr/>
          </p:nvSpPr>
          <p:spPr>
            <a:xfrm rot="5400000">
              <a:off x="1489643" y="3673157"/>
              <a:ext cx="1714839" cy="771344"/>
            </a:xfrm>
            <a:prstGeom prst="trapezoid">
              <a:avLst>
                <a:gd name="adj" fmla="val 60484"/>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B8CE19A-9A8D-F94D-8D9A-041EE9EF39BE}"/>
                    </a:ext>
                  </a:extLst>
                </p:cNvPr>
                <p:cNvSpPr txBox="1"/>
                <p:nvPr/>
              </p:nvSpPr>
              <p:spPr>
                <a:xfrm>
                  <a:off x="2080154" y="3789958"/>
                  <a:ext cx="518502" cy="5499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𝑓</m:t>
                        </m:r>
                      </m:oMath>
                    </m:oMathPara>
                  </a14:m>
                  <a:endParaRPr lang="zh-CN" altLang="en-US" dirty="0">
                    <a:solidFill>
                      <a:schemeClr val="bg1"/>
                    </a:solidFill>
                  </a:endParaRPr>
                </a:p>
              </p:txBody>
            </p:sp>
          </mc:Choice>
          <mc:Fallback xmlns="">
            <p:sp>
              <p:nvSpPr>
                <p:cNvPr id="9" name="文本框 8">
                  <a:extLst>
                    <a:ext uri="{FF2B5EF4-FFF2-40B4-BE49-F238E27FC236}">
                      <a16:creationId xmlns:a16="http://schemas.microsoft.com/office/drawing/2014/main" id="{4B8CE19A-9A8D-F94D-8D9A-041EE9EF39BE}"/>
                    </a:ext>
                  </a:extLst>
                </p:cNvPr>
                <p:cNvSpPr txBox="1">
                  <a:spLocks noRot="1" noChangeAspect="1" noMove="1" noResize="1" noEditPoints="1" noAdjustHandles="1" noChangeArrowheads="1" noChangeShapeType="1" noTextEdit="1"/>
                </p:cNvSpPr>
                <p:nvPr/>
              </p:nvSpPr>
              <p:spPr>
                <a:xfrm>
                  <a:off x="2080154" y="3789958"/>
                  <a:ext cx="518502" cy="549904"/>
                </a:xfrm>
                <a:prstGeom prst="rect">
                  <a:avLst/>
                </a:prstGeom>
                <a:blipFill>
                  <a:blip r:embed="rId3"/>
                  <a:stretch>
                    <a:fillRect/>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CD98718D-8740-90AD-CE6F-F47F16493632}"/>
                </a:ext>
              </a:extLst>
            </p:cNvPr>
            <p:cNvCxnSpPr>
              <a:cxnSpLocks/>
            </p:cNvCxnSpPr>
            <p:nvPr/>
          </p:nvCxnSpPr>
          <p:spPr>
            <a:xfrm>
              <a:off x="1114840" y="4280984"/>
              <a:ext cx="83768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连接符 10">
              <a:extLst>
                <a:ext uri="{FF2B5EF4-FFF2-40B4-BE49-F238E27FC236}">
                  <a16:creationId xmlns:a16="http://schemas.microsoft.com/office/drawing/2014/main" id="{3007EF8E-9E35-EB88-488E-48C952CABAB1}"/>
                </a:ext>
              </a:extLst>
            </p:cNvPr>
            <p:cNvCxnSpPr>
              <a:cxnSpLocks/>
            </p:cNvCxnSpPr>
            <p:nvPr/>
          </p:nvCxnSpPr>
          <p:spPr>
            <a:xfrm rot="5400000">
              <a:off x="1471390" y="4193617"/>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8B3849-7DE0-5557-71FA-42FFA002CE61}"/>
                    </a:ext>
                  </a:extLst>
                </p:cNvPr>
                <p:cNvSpPr txBox="1"/>
                <p:nvPr/>
              </p:nvSpPr>
              <p:spPr>
                <a:xfrm>
                  <a:off x="232837" y="4467383"/>
                  <a:ext cx="1463926" cy="3858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𝐼𝑉</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𝐶𝑉</m:t>
                            </m:r>
                          </m:e>
                          <m:sub>
                            <m:r>
                              <a:rPr lang="en-US" altLang="zh-CN" b="0" i="1" dirty="0" smtClean="0">
                                <a:latin typeface="Cambria Math" panose="02040503050406030204" pitchFamily="18" charset="0"/>
                              </a:rPr>
                              <m:t>0</m:t>
                            </m:r>
                          </m:sub>
                        </m:sSub>
                      </m:oMath>
                    </m:oMathPara>
                  </a14:m>
                  <a:endParaRPr lang="en-US" altLang="zh-CN" b="0" i="1" dirty="0">
                    <a:latin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F58B3849-7DE0-5557-71FA-42FFA002CE61}"/>
                    </a:ext>
                  </a:extLst>
                </p:cNvPr>
                <p:cNvSpPr txBox="1">
                  <a:spLocks noRot="1" noChangeAspect="1" noMove="1" noResize="1" noEditPoints="1" noAdjustHandles="1" noChangeArrowheads="1" noChangeShapeType="1" noTextEdit="1"/>
                </p:cNvSpPr>
                <p:nvPr/>
              </p:nvSpPr>
              <p:spPr>
                <a:xfrm>
                  <a:off x="232837" y="4467383"/>
                  <a:ext cx="1463926" cy="385807"/>
                </a:xfrm>
                <a:prstGeom prst="rect">
                  <a:avLst/>
                </a:prstGeom>
                <a:blipFill>
                  <a:blip r:embed="rId4"/>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4F79FB8-03B6-470E-7DE6-8F5BEE95890C}"/>
                    </a:ext>
                  </a:extLst>
                </p:cNvPr>
                <p:cNvSpPr txBox="1"/>
                <p:nvPr/>
              </p:nvSpPr>
              <p:spPr>
                <a:xfrm>
                  <a:off x="1203494" y="3882088"/>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𝑛</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04F79FB8-03B6-470E-7DE6-8F5BEE95890C}"/>
                    </a:ext>
                  </a:extLst>
                </p:cNvPr>
                <p:cNvSpPr txBox="1">
                  <a:spLocks noRot="1" noChangeAspect="1" noMove="1" noResize="1" noEditPoints="1" noAdjustHandles="1" noChangeArrowheads="1" noChangeShapeType="1" noTextEdit="1"/>
                </p:cNvSpPr>
                <p:nvPr/>
              </p:nvSpPr>
              <p:spPr>
                <a:xfrm>
                  <a:off x="1203494" y="3882088"/>
                  <a:ext cx="569141" cy="5499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2304A10-8001-D9EA-4C65-61247ABEC070}"/>
                    </a:ext>
                  </a:extLst>
                </p:cNvPr>
                <p:cNvSpPr txBox="1"/>
                <p:nvPr/>
              </p:nvSpPr>
              <p:spPr>
                <a:xfrm>
                  <a:off x="1131492" y="2208570"/>
                  <a:ext cx="633299" cy="5499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𝑌</m:t>
                            </m:r>
                          </m:e>
                          <m:sub>
                            <m:r>
                              <a:rPr lang="en-US" altLang="zh-CN" b="0" i="1" smtClean="0">
                                <a:latin typeface="Cambria Math" panose="02040503050406030204" pitchFamily="18" charset="0"/>
                                <a:cs typeface="Times New Roman" panose="02020603050405020304" pitchFamily="18" charset="0"/>
                              </a:rPr>
                              <m:t>0</m:t>
                            </m:r>
                          </m:sub>
                        </m:sSub>
                      </m:oMath>
                    </m:oMathPara>
                  </a14:m>
                  <a:endParaRPr lang="en-US" altLang="zh-CN" b="0" dirty="0">
                    <a:latin typeface="Times New Roman" panose="02020603050405020304" pitchFamily="18" charset="0"/>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72304A10-8001-D9EA-4C65-61247ABEC070}"/>
                    </a:ext>
                  </a:extLst>
                </p:cNvPr>
                <p:cNvSpPr txBox="1">
                  <a:spLocks noRot="1" noChangeAspect="1" noMove="1" noResize="1" noEditPoints="1" noAdjustHandles="1" noChangeArrowheads="1" noChangeShapeType="1" noTextEdit="1"/>
                </p:cNvSpPr>
                <p:nvPr/>
              </p:nvSpPr>
              <p:spPr>
                <a:xfrm>
                  <a:off x="1131492" y="2208570"/>
                  <a:ext cx="633299" cy="549904"/>
                </a:xfrm>
                <a:prstGeom prst="rect">
                  <a:avLst/>
                </a:prstGeom>
                <a:blipFill>
                  <a:blip r:embed="rId6"/>
                  <a:stretch>
                    <a:fillRect/>
                  </a:stretch>
                </a:blipFill>
              </p:spPr>
              <p:txBody>
                <a:bodyPr/>
                <a:lstStyle/>
                <a:p>
                  <a:r>
                    <a:rPr lang="zh-CN" altLang="en-US">
                      <a:noFill/>
                    </a:rPr>
                    <a:t> </a:t>
                  </a:r>
                </a:p>
              </p:txBody>
            </p:sp>
          </mc:Fallback>
        </mc:AlternateContent>
        <p:cxnSp>
          <p:nvCxnSpPr>
            <p:cNvPr id="17" name="连接符: 肘形 16">
              <a:extLst>
                <a:ext uri="{FF2B5EF4-FFF2-40B4-BE49-F238E27FC236}">
                  <a16:creationId xmlns:a16="http://schemas.microsoft.com/office/drawing/2014/main" id="{CD13A8A8-737F-473D-F929-A72B2278A0D1}"/>
                </a:ext>
              </a:extLst>
            </p:cNvPr>
            <p:cNvCxnSpPr>
              <a:cxnSpLocks/>
            </p:cNvCxnSpPr>
            <p:nvPr/>
          </p:nvCxnSpPr>
          <p:spPr>
            <a:xfrm rot="16200000" flipH="1">
              <a:off x="1082445" y="2928206"/>
              <a:ext cx="1173230" cy="588233"/>
            </a:xfrm>
            <a:prstGeom prst="bentConnector3">
              <a:avLst>
                <a:gd name="adj1" fmla="val 99370"/>
              </a:avLst>
            </a:prstGeom>
            <a:ln>
              <a:tailEnd type="triangle"/>
            </a:ln>
          </p:spPr>
          <p:style>
            <a:lnRef idx="2">
              <a:schemeClr val="dk1"/>
            </a:lnRef>
            <a:fillRef idx="0">
              <a:schemeClr val="dk1"/>
            </a:fillRef>
            <a:effectRef idx="1">
              <a:schemeClr val="dk1"/>
            </a:effectRef>
            <a:fontRef idx="minor">
              <a:schemeClr val="tx1"/>
            </a:fontRef>
          </p:style>
        </p:cxnSp>
        <p:cxnSp>
          <p:nvCxnSpPr>
            <p:cNvPr id="22" name="直接连接符 21">
              <a:extLst>
                <a:ext uri="{FF2B5EF4-FFF2-40B4-BE49-F238E27FC236}">
                  <a16:creationId xmlns:a16="http://schemas.microsoft.com/office/drawing/2014/main" id="{DA166C6E-E186-4B93-B7C0-3F703E4D85E7}"/>
                </a:ext>
              </a:extLst>
            </p:cNvPr>
            <p:cNvCxnSpPr>
              <a:cxnSpLocks/>
            </p:cNvCxnSpPr>
            <p:nvPr/>
          </p:nvCxnSpPr>
          <p:spPr>
            <a:xfrm rot="5400000">
              <a:off x="1265514" y="3159397"/>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D5375B2-4AA8-6B13-0095-74006A4D8BC7}"/>
                    </a:ext>
                  </a:extLst>
                </p:cNvPr>
                <p:cNvSpPr txBox="1"/>
                <p:nvPr/>
              </p:nvSpPr>
              <p:spPr>
                <a:xfrm>
                  <a:off x="1282802" y="2748829"/>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𝑏</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26" name="文本框 25">
                  <a:extLst>
                    <a:ext uri="{FF2B5EF4-FFF2-40B4-BE49-F238E27FC236}">
                      <a16:creationId xmlns:a16="http://schemas.microsoft.com/office/drawing/2014/main" id="{DD5375B2-4AA8-6B13-0095-74006A4D8BC7}"/>
                    </a:ext>
                  </a:extLst>
                </p:cNvPr>
                <p:cNvSpPr txBox="1">
                  <a:spLocks noRot="1" noChangeAspect="1" noMove="1" noResize="1" noEditPoints="1" noAdjustHandles="1" noChangeArrowheads="1" noChangeShapeType="1" noTextEdit="1"/>
                </p:cNvSpPr>
                <p:nvPr/>
              </p:nvSpPr>
              <p:spPr>
                <a:xfrm>
                  <a:off x="1282802" y="2748829"/>
                  <a:ext cx="569141" cy="549904"/>
                </a:xfrm>
                <a:prstGeom prst="rect">
                  <a:avLst/>
                </a:prstGeom>
                <a:blipFill>
                  <a:blip r:embed="rId7"/>
                  <a:stretch>
                    <a:fillRect/>
                  </a:stretch>
                </a:blipFill>
              </p:spPr>
              <p:txBody>
                <a:bodyPr/>
                <a:lstStyle/>
                <a:p>
                  <a:r>
                    <a:rPr lang="zh-CN" altLang="en-US">
                      <a:noFill/>
                    </a:rPr>
                    <a:t> </a:t>
                  </a:r>
                </a:p>
              </p:txBody>
            </p:sp>
          </mc:Fallback>
        </mc:AlternateContent>
        <p:sp>
          <p:nvSpPr>
            <p:cNvPr id="46" name="梯形 45">
              <a:extLst>
                <a:ext uri="{FF2B5EF4-FFF2-40B4-BE49-F238E27FC236}">
                  <a16:creationId xmlns:a16="http://schemas.microsoft.com/office/drawing/2014/main" id="{3D494DAA-F207-2D12-4A19-52315388A0F5}"/>
                </a:ext>
              </a:extLst>
            </p:cNvPr>
            <p:cNvSpPr/>
            <p:nvPr/>
          </p:nvSpPr>
          <p:spPr>
            <a:xfrm rot="5400000">
              <a:off x="3090885" y="3673159"/>
              <a:ext cx="1714839" cy="771344"/>
            </a:xfrm>
            <a:prstGeom prst="trapezoid">
              <a:avLst>
                <a:gd name="adj" fmla="val 60484"/>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3CB0A12B-12B2-A15A-2CDB-7699D8BAF70F}"/>
                    </a:ext>
                  </a:extLst>
                </p:cNvPr>
                <p:cNvSpPr txBox="1"/>
                <p:nvPr/>
              </p:nvSpPr>
              <p:spPr>
                <a:xfrm>
                  <a:off x="3681397" y="3789959"/>
                  <a:ext cx="518502" cy="5499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𝑓</m:t>
                        </m:r>
                      </m:oMath>
                    </m:oMathPara>
                  </a14:m>
                  <a:endParaRPr lang="zh-CN" altLang="en-US" dirty="0">
                    <a:solidFill>
                      <a:schemeClr val="bg1"/>
                    </a:solidFill>
                  </a:endParaRPr>
                </a:p>
              </p:txBody>
            </p:sp>
          </mc:Choice>
          <mc:Fallback xmlns="">
            <p:sp>
              <p:nvSpPr>
                <p:cNvPr id="47" name="文本框 46">
                  <a:extLst>
                    <a:ext uri="{FF2B5EF4-FFF2-40B4-BE49-F238E27FC236}">
                      <a16:creationId xmlns:a16="http://schemas.microsoft.com/office/drawing/2014/main" id="{3CB0A12B-12B2-A15A-2CDB-7699D8BAF70F}"/>
                    </a:ext>
                  </a:extLst>
                </p:cNvPr>
                <p:cNvSpPr txBox="1">
                  <a:spLocks noRot="1" noChangeAspect="1" noMove="1" noResize="1" noEditPoints="1" noAdjustHandles="1" noChangeArrowheads="1" noChangeShapeType="1" noTextEdit="1"/>
                </p:cNvSpPr>
                <p:nvPr/>
              </p:nvSpPr>
              <p:spPr>
                <a:xfrm>
                  <a:off x="3681397" y="3789959"/>
                  <a:ext cx="518502" cy="549904"/>
                </a:xfrm>
                <a:prstGeom prst="rect">
                  <a:avLst/>
                </a:prstGeom>
                <a:blipFill>
                  <a:blip r:embed="rId8"/>
                  <a:stretch>
                    <a:fillRect/>
                  </a:stretch>
                </a:blipFill>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BEB4E1D2-1BF8-679D-DC63-5EF8EADA9A9B}"/>
                </a:ext>
              </a:extLst>
            </p:cNvPr>
            <p:cNvCxnSpPr>
              <a:cxnSpLocks/>
            </p:cNvCxnSpPr>
            <p:nvPr/>
          </p:nvCxnSpPr>
          <p:spPr>
            <a:xfrm>
              <a:off x="2732735" y="4280986"/>
              <a:ext cx="8210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直接连接符 48">
              <a:extLst>
                <a:ext uri="{FF2B5EF4-FFF2-40B4-BE49-F238E27FC236}">
                  <a16:creationId xmlns:a16="http://schemas.microsoft.com/office/drawing/2014/main" id="{1663BE80-2B38-00E5-4B12-DECAF03277FF}"/>
                </a:ext>
              </a:extLst>
            </p:cNvPr>
            <p:cNvCxnSpPr>
              <a:cxnSpLocks/>
            </p:cNvCxnSpPr>
            <p:nvPr/>
          </p:nvCxnSpPr>
          <p:spPr>
            <a:xfrm rot="5400000">
              <a:off x="3072633" y="4193618"/>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8A8645D9-852B-4DE4-8AA7-80CA824D34C1}"/>
                    </a:ext>
                  </a:extLst>
                </p:cNvPr>
                <p:cNvSpPr txBox="1"/>
                <p:nvPr/>
              </p:nvSpPr>
              <p:spPr>
                <a:xfrm>
                  <a:off x="2844068" y="3889948"/>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𝑛</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50" name="文本框 49">
                  <a:extLst>
                    <a:ext uri="{FF2B5EF4-FFF2-40B4-BE49-F238E27FC236}">
                      <a16:creationId xmlns:a16="http://schemas.microsoft.com/office/drawing/2014/main" id="{8A8645D9-852B-4DE4-8AA7-80CA824D34C1}"/>
                    </a:ext>
                  </a:extLst>
                </p:cNvPr>
                <p:cNvSpPr txBox="1">
                  <a:spLocks noRot="1" noChangeAspect="1" noMove="1" noResize="1" noEditPoints="1" noAdjustHandles="1" noChangeArrowheads="1" noChangeShapeType="1" noTextEdit="1"/>
                </p:cNvSpPr>
                <p:nvPr/>
              </p:nvSpPr>
              <p:spPr>
                <a:xfrm>
                  <a:off x="2844068" y="3889948"/>
                  <a:ext cx="569141" cy="5499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BDEFD09-4B3F-A310-7B42-2B1F6E989182}"/>
                    </a:ext>
                  </a:extLst>
                </p:cNvPr>
                <p:cNvSpPr txBox="1"/>
                <p:nvPr/>
              </p:nvSpPr>
              <p:spPr>
                <a:xfrm>
                  <a:off x="2732735" y="2208572"/>
                  <a:ext cx="633299" cy="5499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𝑌</m:t>
                            </m:r>
                          </m:e>
                          <m:sub>
                            <m:r>
                              <a:rPr lang="en-US" altLang="zh-CN" b="0" i="1" smtClean="0">
                                <a:latin typeface="Cambria Math" panose="02040503050406030204" pitchFamily="18" charset="0"/>
                                <a:cs typeface="Times New Roman" panose="02020603050405020304" pitchFamily="18" charset="0"/>
                              </a:rPr>
                              <m:t>1</m:t>
                            </m:r>
                          </m:sub>
                        </m:sSub>
                      </m:oMath>
                    </m:oMathPara>
                  </a14:m>
                  <a:endParaRPr lang="en-US" altLang="zh-CN" b="0" dirty="0">
                    <a:latin typeface="Times New Roman" panose="02020603050405020304" pitchFamily="18" charset="0"/>
                    <a:cs typeface="Times New Roman" panose="02020603050405020304" pitchFamily="18" charset="0"/>
                  </a:endParaRPr>
                </a:p>
              </p:txBody>
            </p:sp>
          </mc:Choice>
          <mc:Fallback xmlns="">
            <p:sp>
              <p:nvSpPr>
                <p:cNvPr id="51" name="文本框 50">
                  <a:extLst>
                    <a:ext uri="{FF2B5EF4-FFF2-40B4-BE49-F238E27FC236}">
                      <a16:creationId xmlns:a16="http://schemas.microsoft.com/office/drawing/2014/main" id="{5BDEFD09-4B3F-A310-7B42-2B1F6E989182}"/>
                    </a:ext>
                  </a:extLst>
                </p:cNvPr>
                <p:cNvSpPr txBox="1">
                  <a:spLocks noRot="1" noChangeAspect="1" noMove="1" noResize="1" noEditPoints="1" noAdjustHandles="1" noChangeArrowheads="1" noChangeShapeType="1" noTextEdit="1"/>
                </p:cNvSpPr>
                <p:nvPr/>
              </p:nvSpPr>
              <p:spPr>
                <a:xfrm>
                  <a:off x="2732735" y="2208572"/>
                  <a:ext cx="633299" cy="549904"/>
                </a:xfrm>
                <a:prstGeom prst="rect">
                  <a:avLst/>
                </a:prstGeom>
                <a:blipFill>
                  <a:blip r:embed="rId10"/>
                  <a:stretch>
                    <a:fillRect/>
                  </a:stretch>
                </a:blipFill>
              </p:spPr>
              <p:txBody>
                <a:bodyPr/>
                <a:lstStyle/>
                <a:p>
                  <a:r>
                    <a:rPr lang="zh-CN" altLang="en-US">
                      <a:noFill/>
                    </a:rPr>
                    <a:t> </a:t>
                  </a:r>
                </a:p>
              </p:txBody>
            </p:sp>
          </mc:Fallback>
        </mc:AlternateContent>
        <p:cxnSp>
          <p:nvCxnSpPr>
            <p:cNvPr id="52" name="连接符: 肘形 51">
              <a:extLst>
                <a:ext uri="{FF2B5EF4-FFF2-40B4-BE49-F238E27FC236}">
                  <a16:creationId xmlns:a16="http://schemas.microsoft.com/office/drawing/2014/main" id="{BB0CBB50-1D70-23CB-6310-B2DB5E71729F}"/>
                </a:ext>
              </a:extLst>
            </p:cNvPr>
            <p:cNvCxnSpPr>
              <a:cxnSpLocks/>
            </p:cNvCxnSpPr>
            <p:nvPr/>
          </p:nvCxnSpPr>
          <p:spPr>
            <a:xfrm rot="16200000" flipH="1">
              <a:off x="2683688" y="2928207"/>
              <a:ext cx="1173230" cy="588233"/>
            </a:xfrm>
            <a:prstGeom prst="bentConnector3">
              <a:avLst>
                <a:gd name="adj1" fmla="val 99370"/>
              </a:avLst>
            </a:prstGeom>
            <a:ln>
              <a:tailEnd type="triangle"/>
            </a:ln>
          </p:spPr>
          <p:style>
            <a:lnRef idx="2">
              <a:schemeClr val="dk1"/>
            </a:lnRef>
            <a:fillRef idx="0">
              <a:schemeClr val="dk1"/>
            </a:fillRef>
            <a:effectRef idx="1">
              <a:schemeClr val="dk1"/>
            </a:effectRef>
            <a:fontRef idx="minor">
              <a:schemeClr val="tx1"/>
            </a:fontRef>
          </p:style>
        </p:cxnSp>
        <p:cxnSp>
          <p:nvCxnSpPr>
            <p:cNvPr id="53" name="直接连接符 52">
              <a:extLst>
                <a:ext uri="{FF2B5EF4-FFF2-40B4-BE49-F238E27FC236}">
                  <a16:creationId xmlns:a16="http://schemas.microsoft.com/office/drawing/2014/main" id="{D43D417A-94DF-5AEC-C1C0-9C0FEEF933C3}"/>
                </a:ext>
              </a:extLst>
            </p:cNvPr>
            <p:cNvCxnSpPr>
              <a:cxnSpLocks/>
            </p:cNvCxnSpPr>
            <p:nvPr/>
          </p:nvCxnSpPr>
          <p:spPr>
            <a:xfrm rot="5400000">
              <a:off x="2866757" y="3159399"/>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0652F1F-4489-71D5-B035-9B7B2A3EF270}"/>
                    </a:ext>
                  </a:extLst>
                </p:cNvPr>
                <p:cNvSpPr txBox="1"/>
                <p:nvPr/>
              </p:nvSpPr>
              <p:spPr>
                <a:xfrm>
                  <a:off x="2884045" y="2748831"/>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𝑏</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54" name="文本框 53">
                  <a:extLst>
                    <a:ext uri="{FF2B5EF4-FFF2-40B4-BE49-F238E27FC236}">
                      <a16:creationId xmlns:a16="http://schemas.microsoft.com/office/drawing/2014/main" id="{C0652F1F-4489-71D5-B035-9B7B2A3EF270}"/>
                    </a:ext>
                  </a:extLst>
                </p:cNvPr>
                <p:cNvSpPr txBox="1">
                  <a:spLocks noRot="1" noChangeAspect="1" noMove="1" noResize="1" noEditPoints="1" noAdjustHandles="1" noChangeArrowheads="1" noChangeShapeType="1" noTextEdit="1"/>
                </p:cNvSpPr>
                <p:nvPr/>
              </p:nvSpPr>
              <p:spPr>
                <a:xfrm>
                  <a:off x="2884045" y="2748831"/>
                  <a:ext cx="569141" cy="5499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A1F8F5A-9C5C-1D75-3865-437BC1BE8C05}"/>
                    </a:ext>
                  </a:extLst>
                </p:cNvPr>
                <p:cNvSpPr txBox="1"/>
                <p:nvPr/>
              </p:nvSpPr>
              <p:spPr>
                <a:xfrm>
                  <a:off x="2810495" y="4467383"/>
                  <a:ext cx="716240"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𝐶𝑉</m:t>
                            </m:r>
                          </m:e>
                          <m:sub>
                            <m:r>
                              <a:rPr lang="en-US" altLang="zh-CN" b="0" i="0" dirty="0" smtClean="0">
                                <a:latin typeface="Cambria Math" panose="02040503050406030204" pitchFamily="18" charset="0"/>
                              </a:rPr>
                              <m:t>1</m:t>
                            </m:r>
                          </m:sub>
                        </m:sSub>
                      </m:oMath>
                    </m:oMathPara>
                  </a14:m>
                  <a:endParaRPr lang="en-US" altLang="zh-CN" b="0" dirty="0">
                    <a:latin typeface="Times New Roman" panose="02020603050405020304" pitchFamily="18" charset="0"/>
                  </a:endParaRPr>
                </a:p>
              </p:txBody>
            </p:sp>
          </mc:Choice>
          <mc:Fallback xmlns="">
            <p:sp>
              <p:nvSpPr>
                <p:cNvPr id="56" name="文本框 55">
                  <a:extLst>
                    <a:ext uri="{FF2B5EF4-FFF2-40B4-BE49-F238E27FC236}">
                      <a16:creationId xmlns:a16="http://schemas.microsoft.com/office/drawing/2014/main" id="{FA1F8F5A-9C5C-1D75-3865-437BC1BE8C05}"/>
                    </a:ext>
                  </a:extLst>
                </p:cNvPr>
                <p:cNvSpPr txBox="1">
                  <a:spLocks noRot="1" noChangeAspect="1" noMove="1" noResize="1" noEditPoints="1" noAdjustHandles="1" noChangeArrowheads="1" noChangeShapeType="1" noTextEdit="1"/>
                </p:cNvSpPr>
                <p:nvPr/>
              </p:nvSpPr>
              <p:spPr>
                <a:xfrm>
                  <a:off x="2810495" y="4467383"/>
                  <a:ext cx="716240" cy="549904"/>
                </a:xfrm>
                <a:prstGeom prst="rect">
                  <a:avLst/>
                </a:prstGeom>
                <a:blipFill>
                  <a:blip r:embed="rId12"/>
                  <a:stretch>
                    <a:fillRect/>
                  </a:stretch>
                </a:blipFill>
              </p:spPr>
              <p:txBody>
                <a:bodyPr/>
                <a:lstStyle/>
                <a:p>
                  <a:r>
                    <a:rPr lang="zh-CN" altLang="en-US">
                      <a:noFill/>
                    </a:rPr>
                    <a:t> </a:t>
                  </a:r>
                </a:p>
              </p:txBody>
            </p:sp>
          </mc:Fallback>
        </mc:AlternateContent>
        <p:sp>
          <p:nvSpPr>
            <p:cNvPr id="57" name="梯形 56">
              <a:extLst>
                <a:ext uri="{FF2B5EF4-FFF2-40B4-BE49-F238E27FC236}">
                  <a16:creationId xmlns:a16="http://schemas.microsoft.com/office/drawing/2014/main" id="{3A841966-FA6E-0CC0-EA92-098A91307B96}"/>
                </a:ext>
              </a:extLst>
            </p:cNvPr>
            <p:cNvSpPr/>
            <p:nvPr/>
          </p:nvSpPr>
          <p:spPr>
            <a:xfrm rot="5400000">
              <a:off x="6518244" y="3671253"/>
              <a:ext cx="1714839" cy="771344"/>
            </a:xfrm>
            <a:prstGeom prst="trapezoid">
              <a:avLst>
                <a:gd name="adj" fmla="val 60484"/>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09C3EA8-7F20-2291-6BC1-BBF28303A1EE}"/>
                    </a:ext>
                  </a:extLst>
                </p:cNvPr>
                <p:cNvSpPr txBox="1"/>
                <p:nvPr/>
              </p:nvSpPr>
              <p:spPr>
                <a:xfrm>
                  <a:off x="7108755" y="3788053"/>
                  <a:ext cx="518502" cy="5499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𝑓</m:t>
                        </m:r>
                      </m:oMath>
                    </m:oMathPara>
                  </a14:m>
                  <a:endParaRPr lang="zh-CN" altLang="en-US" dirty="0">
                    <a:solidFill>
                      <a:schemeClr val="bg1"/>
                    </a:solidFill>
                  </a:endParaRPr>
                </a:p>
              </p:txBody>
            </p:sp>
          </mc:Choice>
          <mc:Fallback xmlns="">
            <p:sp>
              <p:nvSpPr>
                <p:cNvPr id="58" name="文本框 57">
                  <a:extLst>
                    <a:ext uri="{FF2B5EF4-FFF2-40B4-BE49-F238E27FC236}">
                      <a16:creationId xmlns:a16="http://schemas.microsoft.com/office/drawing/2014/main" id="{709C3EA8-7F20-2291-6BC1-BBF28303A1EE}"/>
                    </a:ext>
                  </a:extLst>
                </p:cNvPr>
                <p:cNvSpPr txBox="1">
                  <a:spLocks noRot="1" noChangeAspect="1" noMove="1" noResize="1" noEditPoints="1" noAdjustHandles="1" noChangeArrowheads="1" noChangeShapeType="1" noTextEdit="1"/>
                </p:cNvSpPr>
                <p:nvPr/>
              </p:nvSpPr>
              <p:spPr>
                <a:xfrm>
                  <a:off x="7108755" y="3788053"/>
                  <a:ext cx="518502" cy="549904"/>
                </a:xfrm>
                <a:prstGeom prst="rect">
                  <a:avLst/>
                </a:prstGeom>
                <a:blipFill>
                  <a:blip r:embed="rId13"/>
                  <a:stretch>
                    <a:fillRect/>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FD312F85-AD88-E36B-9D28-5E7DB58C1B82}"/>
                </a:ext>
              </a:extLst>
            </p:cNvPr>
            <p:cNvCxnSpPr>
              <a:cxnSpLocks/>
            </p:cNvCxnSpPr>
            <p:nvPr/>
          </p:nvCxnSpPr>
          <p:spPr>
            <a:xfrm>
              <a:off x="6160093" y="4279080"/>
              <a:ext cx="8210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直接连接符 59">
              <a:extLst>
                <a:ext uri="{FF2B5EF4-FFF2-40B4-BE49-F238E27FC236}">
                  <a16:creationId xmlns:a16="http://schemas.microsoft.com/office/drawing/2014/main" id="{F228C0CD-0BAA-0E77-9360-28CB2CDB33BA}"/>
                </a:ext>
              </a:extLst>
            </p:cNvPr>
            <p:cNvCxnSpPr>
              <a:cxnSpLocks/>
            </p:cNvCxnSpPr>
            <p:nvPr/>
          </p:nvCxnSpPr>
          <p:spPr>
            <a:xfrm rot="5400000">
              <a:off x="6499992" y="4191712"/>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B22E3F98-BE9F-AD6A-626A-746E7C475C09}"/>
                    </a:ext>
                  </a:extLst>
                </p:cNvPr>
                <p:cNvSpPr txBox="1"/>
                <p:nvPr/>
              </p:nvSpPr>
              <p:spPr>
                <a:xfrm>
                  <a:off x="6311403" y="3885393"/>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𝑛</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61" name="文本框 60">
                  <a:extLst>
                    <a:ext uri="{FF2B5EF4-FFF2-40B4-BE49-F238E27FC236}">
                      <a16:creationId xmlns:a16="http://schemas.microsoft.com/office/drawing/2014/main" id="{B22E3F98-BE9F-AD6A-626A-746E7C475C09}"/>
                    </a:ext>
                  </a:extLst>
                </p:cNvPr>
                <p:cNvSpPr txBox="1">
                  <a:spLocks noRot="1" noChangeAspect="1" noMove="1" noResize="1" noEditPoints="1" noAdjustHandles="1" noChangeArrowheads="1" noChangeShapeType="1" noTextEdit="1"/>
                </p:cNvSpPr>
                <p:nvPr/>
              </p:nvSpPr>
              <p:spPr>
                <a:xfrm>
                  <a:off x="6311403" y="3885393"/>
                  <a:ext cx="569141" cy="54990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A3E04CE3-5156-FA29-E336-C918D3884ABC}"/>
                    </a:ext>
                  </a:extLst>
                </p:cNvPr>
                <p:cNvSpPr txBox="1"/>
                <p:nvPr/>
              </p:nvSpPr>
              <p:spPr>
                <a:xfrm>
                  <a:off x="6160093" y="2206666"/>
                  <a:ext cx="6332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𝑌</m:t>
                            </m:r>
                          </m:e>
                          <m:sub>
                            <m:r>
                              <a:rPr lang="en-US" altLang="zh-CN" b="0" i="1" smtClean="0">
                                <a:latin typeface="Cambria Math" panose="02040503050406030204" pitchFamily="18" charset="0"/>
                                <a:cs typeface="Times New Roman" panose="02020603050405020304" pitchFamily="18" charset="0"/>
                              </a:rPr>
                              <m:t>𝑁</m:t>
                            </m:r>
                            <m:r>
                              <a:rPr lang="en-US" altLang="zh-CN" b="0" i="1" smtClean="0">
                                <a:latin typeface="Cambria Math" panose="02040503050406030204" pitchFamily="18" charset="0"/>
                                <a:cs typeface="Times New Roman" panose="02020603050405020304" pitchFamily="18" charset="0"/>
                              </a:rPr>
                              <m:t>−1</m:t>
                            </m:r>
                          </m:sub>
                        </m:sSub>
                      </m:oMath>
                    </m:oMathPara>
                  </a14:m>
                  <a:endParaRPr lang="en-US" altLang="zh-CN" b="0" dirty="0">
                    <a:latin typeface="Times New Roman" panose="02020603050405020304" pitchFamily="18" charset="0"/>
                    <a:cs typeface="Times New Roman" panose="02020603050405020304" pitchFamily="18" charset="0"/>
                  </a:endParaRPr>
                </a:p>
              </p:txBody>
            </p:sp>
          </mc:Choice>
          <mc:Fallback xmlns="">
            <p:sp>
              <p:nvSpPr>
                <p:cNvPr id="62" name="文本框 61">
                  <a:extLst>
                    <a:ext uri="{FF2B5EF4-FFF2-40B4-BE49-F238E27FC236}">
                      <a16:creationId xmlns:a16="http://schemas.microsoft.com/office/drawing/2014/main" id="{A3E04CE3-5156-FA29-E336-C918D3884ABC}"/>
                    </a:ext>
                  </a:extLst>
                </p:cNvPr>
                <p:cNvSpPr txBox="1">
                  <a:spLocks noRot="1" noChangeAspect="1" noMove="1" noResize="1" noEditPoints="1" noAdjustHandles="1" noChangeArrowheads="1" noChangeShapeType="1" noTextEdit="1"/>
                </p:cNvSpPr>
                <p:nvPr/>
              </p:nvSpPr>
              <p:spPr>
                <a:xfrm>
                  <a:off x="6160093" y="2206666"/>
                  <a:ext cx="633299" cy="369332"/>
                </a:xfrm>
                <a:prstGeom prst="rect">
                  <a:avLst/>
                </a:prstGeom>
                <a:blipFill>
                  <a:blip r:embed="rId15"/>
                  <a:stretch>
                    <a:fillRect l="-3846" b="-1667"/>
                  </a:stretch>
                </a:blipFill>
              </p:spPr>
              <p:txBody>
                <a:bodyPr/>
                <a:lstStyle/>
                <a:p>
                  <a:r>
                    <a:rPr lang="zh-CN" altLang="en-US">
                      <a:noFill/>
                    </a:rPr>
                    <a:t> </a:t>
                  </a:r>
                </a:p>
              </p:txBody>
            </p:sp>
          </mc:Fallback>
        </mc:AlternateContent>
        <p:cxnSp>
          <p:nvCxnSpPr>
            <p:cNvPr id="63" name="连接符: 肘形 62">
              <a:extLst>
                <a:ext uri="{FF2B5EF4-FFF2-40B4-BE49-F238E27FC236}">
                  <a16:creationId xmlns:a16="http://schemas.microsoft.com/office/drawing/2014/main" id="{8D587E24-EE4B-3274-BE16-3162780F57B6}"/>
                </a:ext>
              </a:extLst>
            </p:cNvPr>
            <p:cNvCxnSpPr>
              <a:cxnSpLocks/>
            </p:cNvCxnSpPr>
            <p:nvPr/>
          </p:nvCxnSpPr>
          <p:spPr>
            <a:xfrm rot="16200000" flipH="1">
              <a:off x="6111046" y="2926301"/>
              <a:ext cx="1173230" cy="588233"/>
            </a:xfrm>
            <a:prstGeom prst="bentConnector3">
              <a:avLst>
                <a:gd name="adj1" fmla="val 99370"/>
              </a:avLst>
            </a:prstGeom>
            <a:ln>
              <a:tailEnd type="triangle"/>
            </a:ln>
          </p:spPr>
          <p:style>
            <a:lnRef idx="2">
              <a:schemeClr val="dk1"/>
            </a:lnRef>
            <a:fillRef idx="0">
              <a:schemeClr val="dk1"/>
            </a:fillRef>
            <a:effectRef idx="1">
              <a:schemeClr val="dk1"/>
            </a:effectRef>
            <a:fontRef idx="minor">
              <a:schemeClr val="tx1"/>
            </a:fontRef>
          </p:style>
        </p:cxnSp>
        <p:cxnSp>
          <p:nvCxnSpPr>
            <p:cNvPr id="64" name="直接连接符 63">
              <a:extLst>
                <a:ext uri="{FF2B5EF4-FFF2-40B4-BE49-F238E27FC236}">
                  <a16:creationId xmlns:a16="http://schemas.microsoft.com/office/drawing/2014/main" id="{B767092A-BB71-AC71-5E9B-BCD020A7A493}"/>
                </a:ext>
              </a:extLst>
            </p:cNvPr>
            <p:cNvCxnSpPr>
              <a:cxnSpLocks/>
            </p:cNvCxnSpPr>
            <p:nvPr/>
          </p:nvCxnSpPr>
          <p:spPr>
            <a:xfrm rot="5400000">
              <a:off x="6294115" y="3157493"/>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6BF058B8-8A23-3563-2DD0-25B8D82B8BEE}"/>
                    </a:ext>
                  </a:extLst>
                </p:cNvPr>
                <p:cNvSpPr txBox="1"/>
                <p:nvPr/>
              </p:nvSpPr>
              <p:spPr>
                <a:xfrm>
                  <a:off x="6311403" y="2746926"/>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𝑏</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65" name="文本框 64">
                  <a:extLst>
                    <a:ext uri="{FF2B5EF4-FFF2-40B4-BE49-F238E27FC236}">
                      <a16:creationId xmlns:a16="http://schemas.microsoft.com/office/drawing/2014/main" id="{6BF058B8-8A23-3563-2DD0-25B8D82B8BEE}"/>
                    </a:ext>
                  </a:extLst>
                </p:cNvPr>
                <p:cNvSpPr txBox="1">
                  <a:spLocks noRot="1" noChangeAspect="1" noMove="1" noResize="1" noEditPoints="1" noAdjustHandles="1" noChangeArrowheads="1" noChangeShapeType="1" noTextEdit="1"/>
                </p:cNvSpPr>
                <p:nvPr/>
              </p:nvSpPr>
              <p:spPr>
                <a:xfrm>
                  <a:off x="6311403" y="2746926"/>
                  <a:ext cx="569141" cy="549904"/>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DCA53954-0355-89E2-0629-A5300122F7C0}"/>
                    </a:ext>
                  </a:extLst>
                </p:cNvPr>
                <p:cNvSpPr txBox="1"/>
                <p:nvPr/>
              </p:nvSpPr>
              <p:spPr>
                <a:xfrm>
                  <a:off x="6069223" y="4476176"/>
                  <a:ext cx="7162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𝐶𝑉</m:t>
                            </m:r>
                          </m:e>
                          <m:sub>
                            <m:r>
                              <a:rPr lang="en-US" altLang="zh-CN" b="0" i="1" dirty="0" smtClean="0">
                                <a:latin typeface="Cambria Math" panose="02040503050406030204" pitchFamily="18" charset="0"/>
                              </a:rPr>
                              <m:t>𝑁</m:t>
                            </m:r>
                            <m:r>
                              <a:rPr lang="en-US" altLang="zh-CN" b="0" i="1" dirty="0" smtClean="0">
                                <a:latin typeface="Cambria Math" panose="02040503050406030204" pitchFamily="18" charset="0"/>
                              </a:rPr>
                              <m:t>−1</m:t>
                            </m:r>
                          </m:sub>
                        </m:sSub>
                      </m:oMath>
                    </m:oMathPara>
                  </a14:m>
                  <a:endParaRPr lang="en-US" altLang="zh-CN" b="0" i="1" dirty="0">
                    <a:latin typeface="Times New Roman" panose="02020603050405020304" pitchFamily="18" charset="0"/>
                  </a:endParaRPr>
                </a:p>
              </p:txBody>
            </p:sp>
          </mc:Choice>
          <mc:Fallback xmlns="">
            <p:sp>
              <p:nvSpPr>
                <p:cNvPr id="66" name="文本框 65">
                  <a:extLst>
                    <a:ext uri="{FF2B5EF4-FFF2-40B4-BE49-F238E27FC236}">
                      <a16:creationId xmlns:a16="http://schemas.microsoft.com/office/drawing/2014/main" id="{DCA53954-0355-89E2-0629-A5300122F7C0}"/>
                    </a:ext>
                  </a:extLst>
                </p:cNvPr>
                <p:cNvSpPr txBox="1">
                  <a:spLocks noRot="1" noChangeAspect="1" noMove="1" noResize="1" noEditPoints="1" noAdjustHandles="1" noChangeArrowheads="1" noChangeShapeType="1" noTextEdit="1"/>
                </p:cNvSpPr>
                <p:nvPr/>
              </p:nvSpPr>
              <p:spPr>
                <a:xfrm>
                  <a:off x="6069223" y="4476176"/>
                  <a:ext cx="716240" cy="369332"/>
                </a:xfrm>
                <a:prstGeom prst="rect">
                  <a:avLst/>
                </a:prstGeom>
                <a:blipFill>
                  <a:blip r:embed="rId17"/>
                  <a:stretch>
                    <a:fillRect r="-4237" b="-1667"/>
                  </a:stretch>
                </a:blipFill>
              </p:spPr>
              <p:txBody>
                <a:bodyPr/>
                <a:lstStyle/>
                <a:p>
                  <a:r>
                    <a:rPr lang="zh-CN" altLang="en-US">
                      <a:noFill/>
                    </a:rPr>
                    <a:t> </a:t>
                  </a:r>
                </a:p>
              </p:txBody>
            </p:sp>
          </mc:Fallback>
        </mc:AlternateContent>
        <p:cxnSp>
          <p:nvCxnSpPr>
            <p:cNvPr id="67" name="直接箭头连接符 66">
              <a:extLst>
                <a:ext uri="{FF2B5EF4-FFF2-40B4-BE49-F238E27FC236}">
                  <a16:creationId xmlns:a16="http://schemas.microsoft.com/office/drawing/2014/main" id="{A56851B9-82EF-23A6-4614-E395FC21236F}"/>
                </a:ext>
              </a:extLst>
            </p:cNvPr>
            <p:cNvCxnSpPr>
              <a:cxnSpLocks/>
            </p:cNvCxnSpPr>
            <p:nvPr/>
          </p:nvCxnSpPr>
          <p:spPr>
            <a:xfrm>
              <a:off x="4329365" y="4279080"/>
              <a:ext cx="83768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直接连接符 67">
              <a:extLst>
                <a:ext uri="{FF2B5EF4-FFF2-40B4-BE49-F238E27FC236}">
                  <a16:creationId xmlns:a16="http://schemas.microsoft.com/office/drawing/2014/main" id="{55F9F3ED-EA53-0289-1AE1-88AAE3834284}"/>
                </a:ext>
              </a:extLst>
            </p:cNvPr>
            <p:cNvCxnSpPr>
              <a:cxnSpLocks/>
            </p:cNvCxnSpPr>
            <p:nvPr/>
          </p:nvCxnSpPr>
          <p:spPr>
            <a:xfrm rot="5400000">
              <a:off x="4685916" y="4191712"/>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A35AD5F3-A7E0-FA62-1B22-C7664C403BD3}"/>
                    </a:ext>
                  </a:extLst>
                </p:cNvPr>
                <p:cNvSpPr txBox="1"/>
                <p:nvPr/>
              </p:nvSpPr>
              <p:spPr>
                <a:xfrm>
                  <a:off x="5264396" y="3994784"/>
                  <a:ext cx="71624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latin typeface="Cambria Math" panose="02040503050406030204" pitchFamily="18" charset="0"/>
                            <a:ea typeface="Cambria Math" panose="02040503050406030204" pitchFamily="18" charset="0"/>
                          </a:rPr>
                          <m:t>⋯</m:t>
                        </m:r>
                      </m:oMath>
                    </m:oMathPara>
                  </a14:m>
                  <a:endParaRPr lang="en-US" altLang="zh-CN" sz="3200" b="1" dirty="0">
                    <a:latin typeface="Times New Roman" panose="02020603050405020304" pitchFamily="18" charset="0"/>
                  </a:endParaRPr>
                </a:p>
              </p:txBody>
            </p:sp>
          </mc:Choice>
          <mc:Fallback xmlns="">
            <p:sp>
              <p:nvSpPr>
                <p:cNvPr id="71" name="文本框 70">
                  <a:extLst>
                    <a:ext uri="{FF2B5EF4-FFF2-40B4-BE49-F238E27FC236}">
                      <a16:creationId xmlns:a16="http://schemas.microsoft.com/office/drawing/2014/main" id="{A35AD5F3-A7E0-FA62-1B22-C7664C403BD3}"/>
                    </a:ext>
                  </a:extLst>
                </p:cNvPr>
                <p:cNvSpPr txBox="1">
                  <a:spLocks noRot="1" noChangeAspect="1" noMove="1" noResize="1" noEditPoints="1" noAdjustHandles="1" noChangeArrowheads="1" noChangeShapeType="1" noTextEdit="1"/>
                </p:cNvSpPr>
                <p:nvPr/>
              </p:nvSpPr>
              <p:spPr>
                <a:xfrm>
                  <a:off x="5264396" y="3994784"/>
                  <a:ext cx="716240" cy="584775"/>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3234226D-8C19-6B87-9475-4EB17BC1FC06}"/>
                    </a:ext>
                  </a:extLst>
                </p:cNvPr>
                <p:cNvSpPr txBox="1"/>
                <p:nvPr/>
              </p:nvSpPr>
              <p:spPr>
                <a:xfrm>
                  <a:off x="4449011" y="3893277"/>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𝑛</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73" name="文本框 72">
                  <a:extLst>
                    <a:ext uri="{FF2B5EF4-FFF2-40B4-BE49-F238E27FC236}">
                      <a16:creationId xmlns:a16="http://schemas.microsoft.com/office/drawing/2014/main" id="{3234226D-8C19-6B87-9475-4EB17BC1FC06}"/>
                    </a:ext>
                  </a:extLst>
                </p:cNvPr>
                <p:cNvSpPr txBox="1">
                  <a:spLocks noRot="1" noChangeAspect="1" noMove="1" noResize="1" noEditPoints="1" noAdjustHandles="1" noChangeArrowheads="1" noChangeShapeType="1" noTextEdit="1"/>
                </p:cNvSpPr>
                <p:nvPr/>
              </p:nvSpPr>
              <p:spPr>
                <a:xfrm>
                  <a:off x="4449011" y="3893277"/>
                  <a:ext cx="569141" cy="549904"/>
                </a:xfrm>
                <a:prstGeom prst="rect">
                  <a:avLst/>
                </a:prstGeom>
                <a:blipFill>
                  <a:blip r:embed="rId19"/>
                  <a:stretch>
                    <a:fillRect/>
                  </a:stretch>
                </a:blipFill>
              </p:spPr>
              <p:txBody>
                <a:bodyPr/>
                <a:lstStyle/>
                <a:p>
                  <a:r>
                    <a:rPr lang="zh-CN" altLang="en-US">
                      <a:noFill/>
                    </a:rPr>
                    <a:t> </a:t>
                  </a:r>
                </a:p>
              </p:txBody>
            </p:sp>
          </mc:Fallback>
        </mc:AlternateContent>
        <p:cxnSp>
          <p:nvCxnSpPr>
            <p:cNvPr id="74" name="直接箭头连接符 73">
              <a:extLst>
                <a:ext uri="{FF2B5EF4-FFF2-40B4-BE49-F238E27FC236}">
                  <a16:creationId xmlns:a16="http://schemas.microsoft.com/office/drawing/2014/main" id="{B1F94AAF-793E-384E-144C-22D3111271EB}"/>
                </a:ext>
              </a:extLst>
            </p:cNvPr>
            <p:cNvCxnSpPr>
              <a:cxnSpLocks/>
            </p:cNvCxnSpPr>
            <p:nvPr/>
          </p:nvCxnSpPr>
          <p:spPr>
            <a:xfrm>
              <a:off x="7763414" y="4287172"/>
              <a:ext cx="8210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直接连接符 74">
              <a:extLst>
                <a:ext uri="{FF2B5EF4-FFF2-40B4-BE49-F238E27FC236}">
                  <a16:creationId xmlns:a16="http://schemas.microsoft.com/office/drawing/2014/main" id="{90F3B8FB-AD75-FE41-4C92-61295946A2C7}"/>
                </a:ext>
              </a:extLst>
            </p:cNvPr>
            <p:cNvCxnSpPr>
              <a:cxnSpLocks/>
            </p:cNvCxnSpPr>
            <p:nvPr/>
          </p:nvCxnSpPr>
          <p:spPr>
            <a:xfrm rot="5400000">
              <a:off x="8103313" y="4199805"/>
              <a:ext cx="272983" cy="17776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838701DA-54A2-D698-59D8-A8032FD7BA44}"/>
                    </a:ext>
                  </a:extLst>
                </p:cNvPr>
                <p:cNvSpPr txBox="1"/>
                <p:nvPr/>
              </p:nvSpPr>
              <p:spPr>
                <a:xfrm>
                  <a:off x="7907648" y="3882088"/>
                  <a:ext cx="569141" cy="5499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𝑛</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76" name="文本框 75">
                  <a:extLst>
                    <a:ext uri="{FF2B5EF4-FFF2-40B4-BE49-F238E27FC236}">
                      <a16:creationId xmlns:a16="http://schemas.microsoft.com/office/drawing/2014/main" id="{838701DA-54A2-D698-59D8-A8032FD7BA44}"/>
                    </a:ext>
                  </a:extLst>
                </p:cNvPr>
                <p:cNvSpPr txBox="1">
                  <a:spLocks noRot="1" noChangeAspect="1" noMove="1" noResize="1" noEditPoints="1" noAdjustHandles="1" noChangeArrowheads="1" noChangeShapeType="1" noTextEdit="1"/>
                </p:cNvSpPr>
                <p:nvPr/>
              </p:nvSpPr>
              <p:spPr>
                <a:xfrm>
                  <a:off x="7907648" y="3882088"/>
                  <a:ext cx="569141" cy="549904"/>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7904ADE0-C79F-448F-8761-DB070CA5427A}"/>
                    </a:ext>
                  </a:extLst>
                </p:cNvPr>
                <p:cNvSpPr txBox="1"/>
                <p:nvPr/>
              </p:nvSpPr>
              <p:spPr>
                <a:xfrm>
                  <a:off x="7715882" y="4493906"/>
                  <a:ext cx="14281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𝐶𝑉</m:t>
                            </m:r>
                          </m:e>
                          <m:sub>
                            <m:r>
                              <a:rPr lang="en-US" altLang="zh-CN" b="0" i="1" dirty="0" smtClean="0">
                                <a:latin typeface="Cambria Math" panose="02040503050406030204" pitchFamily="18" charset="0"/>
                              </a:rPr>
                              <m:t>𝑁</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h</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𝑚</m:t>
                        </m:r>
                        <m:r>
                          <a:rPr lang="en-US" altLang="zh-CN" b="0" i="1" dirty="0" smtClean="0">
                            <a:latin typeface="Cambria Math" panose="02040503050406030204" pitchFamily="18" charset="0"/>
                          </a:rPr>
                          <m:t>)</m:t>
                        </m:r>
                      </m:oMath>
                    </m:oMathPara>
                  </a14:m>
                  <a:endParaRPr lang="en-US" altLang="zh-CN" b="0" dirty="0">
                    <a:latin typeface="Times New Roman" panose="02020603050405020304" pitchFamily="18" charset="0"/>
                  </a:endParaRPr>
                </a:p>
              </p:txBody>
            </p:sp>
          </mc:Choice>
          <mc:Fallback xmlns="">
            <p:sp>
              <p:nvSpPr>
                <p:cNvPr id="55" name="文本框 54">
                  <a:extLst>
                    <a:ext uri="{FF2B5EF4-FFF2-40B4-BE49-F238E27FC236}">
                      <a16:creationId xmlns:a16="http://schemas.microsoft.com/office/drawing/2014/main" id="{7904ADE0-C79F-448F-8761-DB070CA5427A}"/>
                    </a:ext>
                  </a:extLst>
                </p:cNvPr>
                <p:cNvSpPr txBox="1">
                  <a:spLocks noRot="1" noChangeAspect="1" noMove="1" noResize="1" noEditPoints="1" noAdjustHandles="1" noChangeArrowheads="1" noChangeShapeType="1" noTextEdit="1"/>
                </p:cNvSpPr>
                <p:nvPr/>
              </p:nvSpPr>
              <p:spPr>
                <a:xfrm>
                  <a:off x="7715882" y="4493906"/>
                  <a:ext cx="1428117" cy="369332"/>
                </a:xfrm>
                <a:prstGeom prst="rect">
                  <a:avLst/>
                </a:prstGeom>
                <a:blipFill>
                  <a:blip r:embed="rId21"/>
                  <a:stretch>
                    <a:fillRect b="-1500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4831F33F-4688-4931-B2F4-7ED07264B5B2}"/>
                  </a:ext>
                </a:extLst>
              </p:cNvPr>
              <p:cNvSpPr txBox="1"/>
              <p:nvPr/>
            </p:nvSpPr>
            <p:spPr>
              <a:xfrm>
                <a:off x="401613" y="1135416"/>
                <a:ext cx="7920482" cy="1766637"/>
              </a:xfrm>
              <a:prstGeom prst="rect">
                <a:avLst/>
              </a:prstGeom>
              <a:noFill/>
            </p:spPr>
            <p:txBody>
              <a:bodyPr wrap="square">
                <a:spAutoFit/>
              </a:bodyPr>
              <a:lstStyle/>
              <a:p>
                <a:pPr>
                  <a:lnSpc>
                    <a:spcPct val="120000"/>
                  </a:lnSpc>
                  <a:spcBef>
                    <a:spcPts val="600"/>
                  </a:spcBef>
                  <a:spcAft>
                    <a:spcPts val="600"/>
                  </a:spcAft>
                </a:pPr>
                <a:r>
                  <a:rPr lang="zh-CN" altLang="en-US" sz="2000" dirty="0">
                    <a:latin typeface="Times New Roman" panose="02020603050405020304" pitchFamily="18" charset="0"/>
                    <a:cs typeface="Times New Roman" panose="02020603050405020304" pitchFamily="18" charset="0"/>
                  </a:rPr>
                  <a:t>哈希函数的逻辑关系可以表示为</a:t>
                </a:r>
                <a:r>
                  <a:rPr lang="en-US" altLang="zh-CN" sz="2000" dirty="0">
                    <a:latin typeface="Times New Roman" panose="02020603050405020304" pitchFamily="18" charset="0"/>
                    <a:cs typeface="Times New Roman" panose="02020603050405020304" pitchFamily="18" charset="0"/>
                  </a:rPr>
                  <a:t>: </a:t>
                </a:r>
              </a:p>
              <a:p>
                <a:pPr marL="285750" indent="-285750">
                  <a:lnSpc>
                    <a:spcPct val="120000"/>
                  </a:lnSpc>
                  <a:spcBef>
                    <a:spcPts val="600"/>
                  </a:spcBef>
                  <a:buFont typeface="Wingdings" panose="05000000000000000000" pitchFamily="2" charset="2"/>
                  <a:buChar char="l"/>
                </a:pP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𝐶</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𝑉</m:t>
                        </m:r>
                      </m:e>
                      <m:sub>
                        <m:r>
                          <a:rPr lang="en-US" altLang="zh-CN" sz="1800" b="0" i="1" smtClean="0">
                            <a:latin typeface="Cambria Math" panose="02040503050406030204" pitchFamily="18" charset="0"/>
                            <a:cs typeface="Times New Roman" panose="02020603050405020304" pitchFamily="18" charset="0"/>
                          </a:rPr>
                          <m:t>0</m:t>
                        </m:r>
                      </m:sub>
                    </m:sSub>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𝐼𝑉</m:t>
                    </m:r>
                  </m:oMath>
                </a14:m>
                <a:endParaRPr lang="en-US" altLang="zh-CN" sz="1800" b="0" i="1" dirty="0">
                  <a:latin typeface="Cambria Math" panose="02040503050406030204" pitchFamily="18" charset="0"/>
                  <a:cs typeface="Times New Roman" panose="02020603050405020304" pitchFamily="18" charset="0"/>
                </a:endParaRPr>
              </a:p>
              <a:p>
                <a:pPr marL="285750" indent="-285750">
                  <a:lnSpc>
                    <a:spcPct val="120000"/>
                  </a:lnSpc>
                  <a:spcBef>
                    <a:spcPts val="600"/>
                  </a:spcBef>
                  <a:buFont typeface="Wingdings" panose="05000000000000000000" pitchFamily="2" charset="2"/>
                  <a:buChar char="l"/>
                </a:pP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𝐶</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𝑉</m:t>
                        </m:r>
                      </m:e>
                      <m:sub>
                        <m:r>
                          <a:rPr lang="en-US" altLang="zh-CN" sz="1800" b="0" i="1" smtClean="0">
                            <a:latin typeface="Cambria Math" panose="02040503050406030204" pitchFamily="18" charset="0"/>
                            <a:cs typeface="Times New Roman" panose="02020603050405020304" pitchFamily="18" charset="0"/>
                          </a:rPr>
                          <m:t>𝑖</m:t>
                        </m:r>
                      </m:sub>
                    </m:sSub>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𝑓</m:t>
                    </m:r>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𝐶</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𝑉</m:t>
                            </m:r>
                          </m:e>
                          <m:sub>
                            <m:r>
                              <a:rPr lang="en-US" altLang="zh-CN" sz="1800" b="0" i="1" smtClean="0">
                                <a:latin typeface="Cambria Math" panose="02040503050406030204" pitchFamily="18" charset="0"/>
                                <a:cs typeface="Times New Roman" panose="02020603050405020304" pitchFamily="18" charset="0"/>
                              </a:rPr>
                              <m:t>𝑖</m:t>
                            </m:r>
                            <m:r>
                              <a:rPr lang="en-US" altLang="zh-CN" sz="1800" b="0" i="1" smtClean="0">
                                <a:latin typeface="Cambria Math" panose="02040503050406030204" pitchFamily="18" charset="0"/>
                                <a:cs typeface="Times New Roman" panose="02020603050405020304" pitchFamily="18" charset="0"/>
                              </a:rPr>
                              <m:t>−1</m:t>
                            </m:r>
                          </m:sub>
                        </m:sSub>
                        <m:r>
                          <a:rPr lang="en-US" altLang="zh-CN" sz="1800" b="0" i="1" smtClean="0">
                            <a:latin typeface="Cambria Math" panose="02040503050406030204" pitchFamily="18" charset="0"/>
                            <a:cs typeface="Times New Roman" panose="02020603050405020304" pitchFamily="18" charset="0"/>
                          </a:rPr>
                          <m:t>,</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𝑌</m:t>
                            </m:r>
                          </m:e>
                          <m:sub>
                            <m:r>
                              <a:rPr lang="en-US" altLang="zh-CN" sz="1800" b="0" i="1" smtClean="0">
                                <a:latin typeface="Cambria Math" panose="02040503050406030204" pitchFamily="18" charset="0"/>
                                <a:cs typeface="Times New Roman" panose="02020603050405020304" pitchFamily="18" charset="0"/>
                              </a:rPr>
                              <m:t>𝑖</m:t>
                            </m:r>
                            <m:r>
                              <a:rPr lang="en-US" altLang="zh-CN" sz="1800" b="0" i="1" smtClean="0">
                                <a:latin typeface="Cambria Math" panose="02040503050406030204" pitchFamily="18" charset="0"/>
                                <a:cs typeface="Times New Roman" panose="02020603050405020304" pitchFamily="18" charset="0"/>
                              </a:rPr>
                              <m:t>−1</m:t>
                            </m:r>
                          </m:sub>
                        </m:sSub>
                      </m:e>
                    </m:d>
                  </m:oMath>
                </a14:m>
                <a:r>
                  <a:rPr lang="en-US" altLang="zh-CN" sz="1800" dirty="0">
                    <a:cs typeface="Times New Roman" panose="02020603050405020304" pitchFamily="18" charset="0"/>
                  </a:rPr>
                  <a:t> </a:t>
                </a:r>
                <a14:m>
                  <m:oMath xmlns:m="http://schemas.openxmlformats.org/officeDocument/2006/math">
                    <m:d>
                      <m:dPr>
                        <m:ctrlPr>
                          <a:rPr lang="en-US" altLang="zh-CN" sz="1800" i="1">
                            <a:latin typeface="Cambria Math" panose="02040503050406030204" pitchFamily="18" charset="0"/>
                            <a:cs typeface="Times New Roman" panose="02020603050405020304" pitchFamily="18" charset="0"/>
                          </a:rPr>
                        </m:ctrlPr>
                      </m:dPr>
                      <m:e>
                        <m:r>
                          <a:rPr lang="en-US" altLang="zh-CN" sz="1800" i="1">
                            <a:latin typeface="Cambria Math" panose="02040503050406030204" pitchFamily="18" charset="0"/>
                            <a:cs typeface="Times New Roman" panose="02020603050405020304" pitchFamily="18" charset="0"/>
                          </a:rPr>
                          <m:t>1≤</m:t>
                        </m:r>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𝑁</m:t>
                        </m:r>
                      </m:e>
                    </m:d>
                  </m:oMath>
                </a14:m>
                <a:endParaRPr lang="en-US" altLang="zh-CN" sz="1800" i="1" dirty="0">
                  <a:latin typeface="Cambria Math" panose="02040503050406030204" pitchFamily="18" charset="0"/>
                  <a:cs typeface="Times New Roman" panose="02020603050405020304" pitchFamily="18" charset="0"/>
                </a:endParaRPr>
              </a:p>
              <a:p>
                <a:pPr marL="285750" indent="-285750">
                  <a:lnSpc>
                    <a:spcPct val="120000"/>
                  </a:lnSpc>
                  <a:spcBef>
                    <a:spcPts val="600"/>
                  </a:spcBef>
                  <a:buFont typeface="Wingdings" panose="05000000000000000000" pitchFamily="2" charset="2"/>
                  <a:buChar char="l"/>
                </a:pP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h</m:t>
                    </m:r>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𝑚</m:t>
                        </m:r>
                      </m:e>
                    </m:d>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𝐶</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𝑉</m:t>
                        </m:r>
                      </m:e>
                      <m:sub>
                        <m:r>
                          <a:rPr lang="en-US" altLang="zh-CN" sz="1800" b="0" i="1" smtClean="0">
                            <a:latin typeface="Cambria Math" panose="02040503050406030204" pitchFamily="18" charset="0"/>
                            <a:cs typeface="Times New Roman" panose="02020603050405020304" pitchFamily="18" charset="0"/>
                          </a:rPr>
                          <m:t>𝑁</m:t>
                        </m:r>
                      </m:sub>
                    </m:sSub>
                  </m:oMath>
                </a14:m>
                <a:endParaRPr lang="en-US" altLang="zh-CN" sz="1800" b="0" dirty="0">
                  <a:latin typeface="Times New Roman" panose="02020603050405020304" pitchFamily="18" charset="0"/>
                  <a:cs typeface="Times New Roman" panose="02020603050405020304" pitchFamily="18" charset="0"/>
                </a:endParaRPr>
              </a:p>
            </p:txBody>
          </p:sp>
        </mc:Choice>
        <mc:Fallback xmlns="">
          <p:sp>
            <p:nvSpPr>
              <p:cNvPr id="45" name="文本框 44">
                <a:extLst>
                  <a:ext uri="{FF2B5EF4-FFF2-40B4-BE49-F238E27FC236}">
                    <a16:creationId xmlns:a16="http://schemas.microsoft.com/office/drawing/2014/main" xmlns:a14="http://schemas.microsoft.com/office/drawing/2010/main" xmlns="" id="{4831F33F-4688-4931-B2F4-7ED07264B5B2}"/>
                  </a:ext>
                </a:extLst>
              </p:cNvPr>
              <p:cNvSpPr txBox="1">
                <a:spLocks noRot="1" noChangeAspect="1" noMove="1" noResize="1" noEditPoints="1" noAdjustHandles="1" noChangeArrowheads="1" noChangeShapeType="1" noTextEdit="1"/>
              </p:cNvSpPr>
              <p:nvPr/>
            </p:nvSpPr>
            <p:spPr>
              <a:xfrm>
                <a:off x="401613" y="1135416"/>
                <a:ext cx="7920482" cy="1766637"/>
              </a:xfrm>
              <a:prstGeom prst="rect">
                <a:avLst/>
              </a:prstGeom>
              <a:blipFill rotWithShape="0">
                <a:blip r:embed="rId22"/>
                <a:stretch>
                  <a:fillRect l="-847" b="-20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4161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31</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2.1 </a:t>
            </a:r>
            <a:r>
              <a:rPr lang="zh-CN" altLang="en-US" sz="2400" b="1" dirty="0">
                <a:solidFill>
                  <a:srgbClr val="FF0000"/>
                </a:solidFill>
                <a:latin typeface="Times New Roman" panose="02020603050405020304" pitchFamily="18" charset="0"/>
                <a:cs typeface="Times New Roman" panose="02020603050405020304" pitchFamily="18" charset="0"/>
              </a:rPr>
              <a:t>哈希函数的攻击方法</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480765"/>
                <a:ext cx="8479945" cy="4916026"/>
              </a:xfrm>
              <a:prstGeom prst="rect">
                <a:avLst/>
              </a:prstGeom>
              <a:noFill/>
            </p:spPr>
            <p:txBody>
              <a:bodyPr wrap="square" rtlCol="0">
                <a:spAutoFit/>
              </a:bodyPr>
              <a:lstStyle/>
              <a:p>
                <a:pPr algn="just">
                  <a:lnSpc>
                    <a:spcPct val="130000"/>
                  </a:lnSpc>
                  <a:spcBef>
                    <a:spcPts val="600"/>
                  </a:spcBef>
                  <a:spcAft>
                    <a:spcPts val="600"/>
                  </a:spcAft>
                </a:pPr>
                <a:r>
                  <a:rPr lang="zh-CN" altLang="en-US" sz="2000" dirty="0">
                    <a:latin typeface="Times New Roman" panose="02020603050405020304" pitchFamily="18" charset="0"/>
                    <a:cs typeface="Times New Roman" panose="02020603050405020304" pitchFamily="18" charset="0"/>
                  </a:rPr>
                  <a:t>        哈希函数的安全性取决于其抗击各种攻击的能力。攻击者的目标是</a:t>
                </a:r>
                <a:r>
                  <a:rPr lang="zh-CN" altLang="en-US" sz="2000" dirty="0">
                    <a:solidFill>
                      <a:srgbClr val="0000FF"/>
                    </a:solidFill>
                    <a:latin typeface="Times New Roman" panose="02020603050405020304" pitchFamily="18" charset="0"/>
                    <a:cs typeface="Times New Roman" panose="02020603050405020304" pitchFamily="18" charset="0"/>
                  </a:rPr>
                  <a:t>找到可以映射为同一哈希值的两个不同消息</a:t>
                </a:r>
                <a:r>
                  <a:rPr lang="zh-CN" altLang="en-US" sz="2000" dirty="0">
                    <a:latin typeface="Times New Roman" panose="02020603050405020304" pitchFamily="18" charset="0"/>
                    <a:cs typeface="Times New Roman" panose="02020603050405020304" pitchFamily="18" charset="0"/>
                  </a:rPr>
                  <a:t>。一般假定攻击者知道哈希算法，采用选择明文攻击法。</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spcAft>
                    <a:spcPts val="600"/>
                  </a:spcAft>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穷举攻击：</a:t>
                </a:r>
                <a:r>
                  <a:rPr lang="zh-CN" altLang="en-US" sz="2000" dirty="0"/>
                  <a:t>攻击者尝试所有可能的输入，直到找到一个输入其哈希值与目标哈希值匹配。</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spcAft>
                    <a:spcPts val="600"/>
                  </a:spcAft>
                  <a:buFont typeface="Wingdings" panose="05000000000000000000" pitchFamily="2" charset="2"/>
                  <a:buChar char="Ø"/>
                </a:pPr>
                <a:r>
                  <a:rPr lang="zh-CN" altLang="en-US" sz="2000" dirty="0">
                    <a:solidFill>
                      <a:srgbClr val="0000FF"/>
                    </a:solidFill>
                    <a:latin typeface="Times New Roman" panose="02020603050405020304" pitchFamily="18" charset="0"/>
                    <a:cs typeface="Times New Roman" panose="02020603050405020304" pitchFamily="18" charset="0"/>
                  </a:rPr>
                  <a:t>生日攻击：</a:t>
                </a:r>
                <a:r>
                  <a:rPr lang="zh-CN" altLang="en-US" sz="2000" dirty="0">
                    <a:latin typeface="Times New Roman" panose="02020603050405020304" pitchFamily="18" charset="0"/>
                    <a:cs typeface="Times New Roman" panose="02020603050405020304" pitchFamily="18" charset="0"/>
                  </a:rPr>
                  <a:t>给定初值 </a:t>
                </a:r>
                <a14:m>
                  <m:oMath xmlns:m="http://schemas.openxmlformats.org/officeDocument/2006/math">
                    <m:sSub>
                      <m:sSubPr>
                        <m:ctrlPr>
                          <a:rPr lang="en-US" altLang="zh-CN" sz="2000" i="1" dirty="0">
                            <a:latin typeface="Cambria Math" panose="02040503050406030204" pitchFamily="18" charset="0"/>
                            <a:cs typeface="Times New Roman" panose="02020603050405020304" pitchFamily="18" charset="0"/>
                          </a:rPr>
                        </m:ctrlPr>
                      </m:sSubPr>
                      <m:e>
                        <m:r>
                          <a:rPr lang="zh-CN" altLang="en-US" sz="2000" i="1" dirty="0">
                            <a:latin typeface="Cambria Math" panose="02040503050406030204" pitchFamily="18" charset="0"/>
                            <a:cs typeface="Times New Roman" panose="02020603050405020304" pitchFamily="18" charset="0"/>
                          </a:rPr>
                          <m:t>𝐻</m:t>
                        </m:r>
                      </m:e>
                      <m:sub>
                        <m:r>
                          <a:rPr lang="en-US" altLang="zh-CN" sz="2000" i="1" dirty="0">
                            <a:latin typeface="Cambria Math" panose="02040503050406030204" pitchFamily="18" charset="0"/>
                            <a:cs typeface="Times New Roman" panose="02020603050405020304" pitchFamily="18" charset="0"/>
                          </a:rPr>
                          <m:t>0</m:t>
                        </m:r>
                      </m:sub>
                    </m:sSub>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zh-CN" altLang="en-US" sz="2000" i="1" dirty="0">
                            <a:latin typeface="Cambria Math" panose="02040503050406030204" pitchFamily="18" charset="0"/>
                            <a:cs typeface="Times New Roman" panose="02020603050405020304" pitchFamily="18" charset="0"/>
                          </a:rPr>
                          <m:t>𝑀</m:t>
                        </m:r>
                      </m:e>
                    </m:d>
                  </m:oMath>
                </a14:m>
                <a:r>
                  <a:rPr lang="zh-CN" altLang="en-US" sz="2000" dirty="0">
                    <a:latin typeface="Times New Roman" panose="02020603050405020304" pitchFamily="18" charset="0"/>
                    <a:cs typeface="Times New Roman" panose="02020603050405020304" pitchFamily="18" charset="0"/>
                  </a:rPr>
                  <a:t>，寻找</a:t>
                </a:r>
                <a14:m>
                  <m:oMath xmlns:m="http://schemas.openxmlformats.org/officeDocument/2006/math">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b="0" i="1"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𝑀</m:t>
                        </m:r>
                      </m:e>
                      <m:sup>
                        <m:r>
                          <a:rPr lang="en-US" altLang="zh-CN" sz="2000" i="1" dirty="0" smtClean="0">
                            <a:latin typeface="Cambria Math" panose="02040503050406030204" pitchFamily="18" charset="0"/>
                            <a:cs typeface="Times New Roman" panose="02020603050405020304" pitchFamily="18" charset="0"/>
                          </a:rPr>
                          <m:t>′</m:t>
                        </m:r>
                      </m:sup>
                    </m:sSup>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𝑀</m:t>
                    </m:r>
                  </m:oMath>
                </a14:m>
                <a:r>
                  <a:rPr lang="zh-CN" altLang="en-US" sz="2000" dirty="0">
                    <a:latin typeface="Times New Roman" panose="02020603050405020304" pitchFamily="18" charset="0"/>
                    <a:cs typeface="Times New Roman" panose="02020603050405020304" pitchFamily="18" charset="0"/>
                  </a:rPr>
                  <a:t>，使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sSup>
                          <m:sSupPr>
                            <m:ctrlPr>
                              <a:rPr lang="en-US" altLang="zh-CN" sz="2000" i="1" dirty="0">
                                <a:latin typeface="Cambria Math" panose="02040503050406030204" pitchFamily="18" charset="0"/>
                                <a:cs typeface="Times New Roman" panose="02020603050405020304" pitchFamily="18" charset="0"/>
                              </a:rPr>
                            </m:ctrlPr>
                          </m:sSupPr>
                          <m:e>
                            <m:r>
                              <a:rPr lang="zh-CN" altLang="en-US" sz="2000" i="1" dirty="0">
                                <a:latin typeface="Cambria Math" panose="02040503050406030204" pitchFamily="18" charset="0"/>
                                <a:cs typeface="Times New Roman" panose="02020603050405020304" pitchFamily="18" charset="0"/>
                              </a:rPr>
                              <m:t>𝑀</m:t>
                            </m:r>
                          </m:e>
                          <m:sup>
                            <m:r>
                              <a:rPr lang="en-US" altLang="zh-CN" sz="2000" i="1" dirty="0">
                                <a:latin typeface="Cambria Math" panose="02040503050406030204" pitchFamily="18" charset="0"/>
                                <a:cs typeface="Times New Roman" panose="02020603050405020304" pitchFamily="18" charset="0"/>
                              </a:rPr>
                              <m:t>′</m:t>
                            </m:r>
                          </m:sup>
                        </m:sSup>
                      </m:e>
                    </m:d>
                    <m:r>
                      <a:rPr lang="en-US" altLang="zh-CN" sz="2000" i="1" dirty="0">
                        <a:latin typeface="Cambria Math" panose="02040503050406030204" pitchFamily="18" charset="0"/>
                        <a:cs typeface="Times New Roman" panose="02020603050405020304" pitchFamily="18" charset="0"/>
                      </a:rPr>
                      <m:t>=</m:t>
                    </m:r>
                    <m:sSub>
                      <m:sSubPr>
                        <m:ctrlPr>
                          <a:rPr lang="en-US" altLang="zh-CN" sz="2000" i="1" dirty="0">
                            <a:latin typeface="Cambria Math" panose="02040503050406030204" pitchFamily="18" charset="0"/>
                            <a:cs typeface="Times New Roman" panose="02020603050405020304" pitchFamily="18" charset="0"/>
                          </a:rPr>
                        </m:ctrlPr>
                      </m:sSubPr>
                      <m:e>
                        <m:r>
                          <a:rPr lang="zh-CN" altLang="en-US" sz="2000" i="1" dirty="0">
                            <a:latin typeface="Cambria Math" panose="02040503050406030204" pitchFamily="18" charset="0"/>
                            <a:cs typeface="Times New Roman" panose="02020603050405020304" pitchFamily="18" charset="0"/>
                          </a:rPr>
                          <m:t>𝐻</m:t>
                        </m:r>
                      </m:e>
                      <m:sub>
                        <m:r>
                          <a:rPr lang="en-US" altLang="zh-CN" sz="2000" i="1" dirty="0">
                            <a:latin typeface="Cambria Math" panose="02040503050406030204" pitchFamily="18" charset="0"/>
                            <a:cs typeface="Times New Roman" panose="02020603050405020304" pitchFamily="18" charset="0"/>
                          </a:rPr>
                          <m:t>0</m:t>
                        </m:r>
                      </m:sub>
                    </m:sSub>
                    <m:r>
                      <a:rPr lang="zh-CN" altLang="en-US" sz="2000" i="1" dirty="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或者，不限制初值</a:t>
                </a:r>
                <a:r>
                  <a:rPr lang="en-US" altLang="zh-C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000" i="1" dirty="0">
                            <a:latin typeface="Cambria Math" panose="02040503050406030204" pitchFamily="18" charset="0"/>
                            <a:cs typeface="Times New Roman" panose="02020603050405020304" pitchFamily="18" charset="0"/>
                          </a:rPr>
                        </m:ctrlPr>
                      </m:sSubPr>
                      <m:e>
                        <m:r>
                          <a:rPr lang="zh-CN" altLang="en-US" sz="2000" i="1" dirty="0">
                            <a:latin typeface="Cambria Math" panose="02040503050406030204" pitchFamily="18" charset="0"/>
                            <a:cs typeface="Times New Roman" panose="02020603050405020304" pitchFamily="18" charset="0"/>
                          </a:rPr>
                          <m:t>𝐻</m:t>
                        </m:r>
                      </m:e>
                      <m:sub>
                        <m:r>
                          <a:rPr lang="en-US" altLang="zh-CN" sz="2000" i="1" dirty="0">
                            <a:latin typeface="Cambria Math" panose="02040503050406030204" pitchFamily="18" charset="0"/>
                            <a:cs typeface="Times New Roman" panose="02020603050405020304" pitchFamily="18" charset="0"/>
                          </a:rPr>
                          <m:t>0</m:t>
                        </m:r>
                      </m:sub>
                    </m:sSub>
                  </m:oMath>
                </a14:m>
                <a:r>
                  <a:rPr lang="zh-CN" altLang="en-US" sz="2000" dirty="0">
                    <a:latin typeface="Times New Roman" panose="02020603050405020304" pitchFamily="18" charset="0"/>
                    <a:cs typeface="Times New Roman" panose="02020603050405020304" pitchFamily="18" charset="0"/>
                  </a:rPr>
                  <a:t>，寻找</a:t>
                </a:r>
                <a:r>
                  <a:rPr lang="en-US" altLang="zh-CN"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2000" i="1" dirty="0">
                            <a:latin typeface="Cambria Math" panose="02040503050406030204" pitchFamily="18" charset="0"/>
                            <a:cs typeface="Times New Roman" panose="02020603050405020304" pitchFamily="18" charset="0"/>
                          </a:rPr>
                        </m:ctrlPr>
                      </m:sSupPr>
                      <m:e>
                        <m:r>
                          <a:rPr lang="en-US" altLang="zh-CN" sz="2000" i="1" dirty="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𝑀</m:t>
                        </m:r>
                      </m:e>
                      <m:sup>
                        <m:r>
                          <a:rPr lang="en-US" altLang="zh-CN" sz="2000" i="1" dirty="0">
                            <a:latin typeface="Cambria Math" panose="02040503050406030204" pitchFamily="18" charset="0"/>
                            <a:cs typeface="Times New Roman" panose="02020603050405020304" pitchFamily="18" charset="0"/>
                          </a:rPr>
                          <m:t>′</m:t>
                        </m:r>
                      </m:sup>
                    </m:sSup>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𝑀</m:t>
                    </m:r>
                  </m:oMath>
                </a14:m>
                <a:r>
                  <a:rPr lang="zh-CN" altLang="en-US" sz="2000" dirty="0">
                    <a:latin typeface="Times New Roman" panose="02020603050405020304" pitchFamily="18" charset="0"/>
                    <a:cs typeface="Times New Roman" panose="02020603050405020304" pitchFamily="18" charset="0"/>
                  </a:rPr>
                  <a:t> 使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sSup>
                          <m:sSupPr>
                            <m:ctrlPr>
                              <a:rPr lang="en-US" altLang="zh-CN" sz="2000" i="1" dirty="0">
                                <a:latin typeface="Cambria Math" panose="02040503050406030204" pitchFamily="18" charset="0"/>
                                <a:cs typeface="Times New Roman" panose="02020603050405020304" pitchFamily="18" charset="0"/>
                              </a:rPr>
                            </m:ctrlPr>
                          </m:sSupPr>
                          <m:e>
                            <m:r>
                              <a:rPr lang="zh-CN" altLang="en-US" sz="2000" i="1" dirty="0">
                                <a:latin typeface="Cambria Math" panose="02040503050406030204" pitchFamily="18" charset="0"/>
                                <a:cs typeface="Times New Roman" panose="02020603050405020304" pitchFamily="18" charset="0"/>
                              </a:rPr>
                              <m:t>𝑀</m:t>
                            </m:r>
                          </m:e>
                          <m:sup>
                            <m:r>
                              <a:rPr lang="en-US" altLang="zh-CN" sz="2000" i="1" dirty="0">
                                <a:latin typeface="Cambria Math" panose="02040503050406030204" pitchFamily="18" charset="0"/>
                                <a:cs typeface="Times New Roman" panose="02020603050405020304" pitchFamily="18" charset="0"/>
                              </a:rPr>
                              <m:t>′</m:t>
                            </m:r>
                          </m:sup>
                        </m:sSup>
                      </m:e>
                    </m:d>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zh-CN" altLang="en-US" sz="2000" i="1" dirty="0">
                            <a:latin typeface="Cambria Math" panose="02040503050406030204" pitchFamily="18" charset="0"/>
                            <a:cs typeface="Times New Roman" panose="02020603050405020304" pitchFamily="18" charset="0"/>
                          </a:rPr>
                          <m:t>𝑀</m:t>
                        </m:r>
                      </m:e>
                    </m:d>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nSpc>
                    <a:spcPct val="130000"/>
                  </a:lnSpc>
                  <a:spcBef>
                    <a:spcPts val="600"/>
                  </a:spcBef>
                  <a:spcAft>
                    <a:spcPts val="600"/>
                  </a:spcAft>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中途相遇攻击</a:t>
                </a:r>
                <a:r>
                  <a:rPr lang="zh-CN" altLang="en-US" sz="2000" dirty="0">
                    <a:latin typeface="Times New Roman" panose="02020603050405020304" pitchFamily="18" charset="0"/>
                    <a:cs typeface="Times New Roman" panose="02020603050405020304" pitchFamily="18" charset="0"/>
                  </a:rPr>
                  <a:t>：对于采用迭代结构的哈希函数，攻击者先选择一个初值计算其哈希值，并存储每个迭代步骤的中间值。然后，攻击者选择其他输入进行计算。如果</a:t>
                </a:r>
                <a:r>
                  <a:rPr lang="zh-CN" altLang="en-US" sz="2000" b="0" i="0" dirty="0">
                    <a:solidFill>
                      <a:srgbClr val="374151"/>
                    </a:solidFill>
                    <a:effectLst/>
                    <a:latin typeface="Söhne"/>
                  </a:rPr>
                  <a:t>找到某个输入在某个迭代步骤上产生和初值一样的中间值，</a:t>
                </a:r>
                <a:r>
                  <a:rPr lang="zh-CN" altLang="en-US" sz="2000" dirty="0">
                    <a:latin typeface="Times New Roman" panose="02020603050405020304" pitchFamily="18" charset="0"/>
                    <a:cs typeface="Times New Roman" panose="02020603050405020304" pitchFamily="18" charset="0"/>
                  </a:rPr>
                  <a:t>那么攻击者找到了两个</a:t>
                </a:r>
                <a:r>
                  <a:rPr lang="zh-CN" altLang="en-US" sz="2000" b="0" i="0" dirty="0">
                    <a:solidFill>
                      <a:srgbClr val="374151"/>
                    </a:solidFill>
                    <a:effectLst/>
                    <a:latin typeface="Söhne"/>
                  </a:rPr>
                  <a:t>产生相同哈希值的</a:t>
                </a:r>
                <a:r>
                  <a:rPr lang="zh-CN" altLang="en-US" sz="2000" dirty="0">
                    <a:latin typeface="Times New Roman" panose="02020603050405020304" pitchFamily="18" charset="0"/>
                    <a:cs typeface="Times New Roman" panose="02020603050405020304" pitchFamily="18" charset="0"/>
                  </a:rPr>
                  <a:t>不同输入。</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480765"/>
                <a:ext cx="8479945" cy="4916026"/>
              </a:xfrm>
              <a:prstGeom prst="rect">
                <a:avLst/>
              </a:prstGeom>
              <a:blipFill>
                <a:blip r:embed="rId3"/>
                <a:stretch>
                  <a:fillRect l="-719" r="-3738" b="-13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8910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32</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2.2 </a:t>
            </a:r>
            <a:r>
              <a:rPr lang="zh-CN" altLang="en-US" sz="2400" b="1" dirty="0">
                <a:solidFill>
                  <a:srgbClr val="FF0000"/>
                </a:solidFill>
                <a:latin typeface="Times New Roman" panose="02020603050405020304" pitchFamily="18" charset="0"/>
                <a:cs typeface="Times New Roman" panose="02020603050405020304" pitchFamily="18" charset="0"/>
              </a:rPr>
              <a:t>生日攻击</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666086"/>
                <a:ext cx="8479945" cy="3846502"/>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假定一年有</a:t>
                </a:r>
                <a:r>
                  <a:rPr lang="en-US" altLang="zh-CN" sz="2000" dirty="0">
                    <a:latin typeface="Times New Roman" panose="02020603050405020304" pitchFamily="18" charset="0"/>
                    <a:cs typeface="Times New Roman" panose="02020603050405020304" pitchFamily="18" charset="0"/>
                  </a:rPr>
                  <a:t>365</a:t>
                </a:r>
                <a:r>
                  <a:rPr lang="zh-CN" altLang="en-US" sz="2000" dirty="0">
                    <a:latin typeface="Times New Roman" panose="02020603050405020304" pitchFamily="18" charset="0"/>
                    <a:cs typeface="Times New Roman" panose="02020603050405020304" pitchFamily="18" charset="0"/>
                  </a:rPr>
                  <a:t>天，且所有人的生日均匀分布于</a:t>
                </a:r>
                <a:r>
                  <a:rPr lang="en-US" altLang="zh-CN" sz="2000" dirty="0">
                    <a:latin typeface="Times New Roman" panose="02020603050405020304" pitchFamily="18" charset="0"/>
                    <a:cs typeface="Times New Roman" panose="02020603050405020304" pitchFamily="18" charset="0"/>
                  </a:rPr>
                  <a:t>365</a:t>
                </a:r>
                <a:r>
                  <a:rPr lang="zh-CN" altLang="en-US" sz="2000" dirty="0">
                    <a:latin typeface="Times New Roman" panose="02020603050405020304" pitchFamily="18" charset="0"/>
                    <a:cs typeface="Times New Roman" panose="02020603050405020304" pitchFamily="18" charset="0"/>
                  </a:rPr>
                  <a:t>天中</a:t>
                </a:r>
                <a:endParaRPr lang="en-US" altLang="zh-CN" sz="2000" dirty="0">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第一类生日问题</a:t>
                </a:r>
                <a:endParaRPr lang="en-US" altLang="zh-CN" sz="2000" b="1" dirty="0">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        在一个房间里，至少需要多少人，才可以找到一个人与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的生日为同一天的概率大于</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nSpc>
                    <a:spcPct val="120000"/>
                  </a:lnSpc>
                  <a:spcBef>
                    <a:spcPts val="600"/>
                  </a:spcBef>
                </a:pPr>
                <a:endParaRPr lang="en-US" altLang="zh-CN" sz="2000" dirty="0">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第二类生日问题：</a:t>
                </a:r>
                <a:r>
                  <a:rPr lang="zh-CN" altLang="en-US" sz="2000" b="1" dirty="0">
                    <a:solidFill>
                      <a:srgbClr val="0000FF"/>
                    </a:solidFill>
                    <a:latin typeface="Times New Roman" panose="02020603050405020304" pitchFamily="18" charset="0"/>
                    <a:cs typeface="Times New Roman" panose="02020603050405020304" pitchFamily="18" charset="0"/>
                  </a:rPr>
                  <a:t>生日悖论</a:t>
                </a:r>
                <a:endParaRPr lang="en-US" altLang="zh-CN" sz="2000" b="1" dirty="0">
                  <a:solidFill>
                    <a:srgbClr val="0000FF"/>
                  </a:solidFill>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        在一个房间里，至少需要多少人，才可以找到两个人的生日为同一天的概率大于</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12517" y="1666086"/>
                <a:ext cx="8479945" cy="3846502"/>
              </a:xfrm>
              <a:prstGeom prst="rect">
                <a:avLst/>
              </a:prstGeom>
              <a:blipFill rotWithShape="0">
                <a:blip r:embed="rId2"/>
                <a:stretch>
                  <a:fillRect l="-719" r="-719" b="-19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9045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33</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b="1" dirty="0">
                <a:solidFill>
                  <a:srgbClr val="FF0000"/>
                </a:solidFill>
                <a:latin typeface="Times New Roman" panose="02020603050405020304" pitchFamily="18" charset="0"/>
                <a:cs typeface="Times New Roman" panose="02020603050405020304" pitchFamily="18" charset="0"/>
              </a:rPr>
              <a:t>第一类生日问题</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480765"/>
                <a:ext cx="8561671" cy="5060296"/>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在一个房间里，至少需要多少人，才可以找到一个人与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的生日为同一天的概率大于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solidFill>
                    <a:srgbClr val="0000FF"/>
                  </a:solidFill>
                  <a:latin typeface="Times New Roman" panose="02020603050405020304" pitchFamily="18" charset="0"/>
                  <a:cs typeface="Times New Roman" panose="02020603050405020304" pitchFamily="18" charset="0"/>
                </a:endParaRPr>
              </a:p>
              <a:p>
                <a:pPr algn="just">
                  <a:lnSpc>
                    <a:spcPct val="120000"/>
                  </a:lnSpc>
                  <a:spcBef>
                    <a:spcPts val="600"/>
                  </a:spcBef>
                </a:pPr>
                <a:r>
                  <a:rPr lang="zh-CN" altLang="en-US" sz="2000" dirty="0">
                    <a:solidFill>
                      <a:srgbClr val="0000FF"/>
                    </a:solidFill>
                    <a:latin typeface="Times New Roman" panose="02020603050405020304" pitchFamily="18" charset="0"/>
                    <a:cs typeface="Times New Roman" panose="02020603050405020304" pitchFamily="18" charset="0"/>
                  </a:rPr>
                  <a:t>解：</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房间里有 </a:t>
                </a:r>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个人与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的生日为同一天的概率为 </a:t>
                </a:r>
                <a14:m>
                  <m:oMath xmlns:m="http://schemas.openxmlformats.org/officeDocument/2006/math">
                    <m:f>
                      <m:fPr>
                        <m:ctrlPr>
                          <a:rPr lang="en-US" altLang="zh-CN" sz="2000" b="0" i="1" dirty="0" smtClean="0">
                            <a:latin typeface="Cambria Math" panose="02040503050406030204" pitchFamily="18" charset="0"/>
                            <a:cs typeface="Times New Roman" panose="02020603050405020304" pitchFamily="18" charset="0"/>
                          </a:rPr>
                        </m:ctrlPr>
                      </m:fPr>
                      <m:num>
                        <m:r>
                          <a:rPr lang="en-US" altLang="zh-CN" sz="2000" b="0" i="1" dirty="0" smtClean="0">
                            <a:latin typeface="Cambria Math" panose="02040503050406030204" pitchFamily="18" charset="0"/>
                            <a:cs typeface="Times New Roman" panose="02020603050405020304" pitchFamily="18" charset="0"/>
                          </a:rPr>
                          <m:t>1</m:t>
                        </m:r>
                      </m:num>
                      <m:den>
                        <m:r>
                          <a:rPr lang="en-US" altLang="zh-CN" sz="2000" b="0" i="1" dirty="0" smtClean="0">
                            <a:latin typeface="Cambria Math" panose="02040503050406030204" pitchFamily="18" charset="0"/>
                            <a:cs typeface="Times New Roman" panose="02020603050405020304" pitchFamily="18" charset="0"/>
                          </a:rPr>
                          <m:t>365</m:t>
                        </m:r>
                      </m:den>
                    </m:f>
                  </m:oMath>
                </a14:m>
                <a:r>
                  <a:rPr lang="zh-CN" altLang="en-US" sz="2000" dirty="0">
                    <a:latin typeface="Times New Roman" panose="02020603050405020304" pitchFamily="18" charset="0"/>
                    <a:cs typeface="Times New Roman" panose="02020603050405020304" pitchFamily="18" charset="0"/>
                  </a:rPr>
                  <a:t>，不为同一天的概率为</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f>
                      <m:fPr>
                        <m:ctrlPr>
                          <a:rPr lang="en-US" altLang="zh-CN" sz="2000" b="0" i="1" dirty="0" smtClean="0">
                            <a:latin typeface="Cambria Math" panose="02040503050406030204" pitchFamily="18" charset="0"/>
                            <a:cs typeface="Times New Roman" panose="02020603050405020304" pitchFamily="18" charset="0"/>
                          </a:rPr>
                        </m:ctrlPr>
                      </m:fPr>
                      <m:num>
                        <m:r>
                          <a:rPr lang="en-US" altLang="zh-CN" sz="2000" b="0" i="1" dirty="0" smtClean="0">
                            <a:latin typeface="Cambria Math" panose="02040503050406030204" pitchFamily="18" charset="0"/>
                            <a:cs typeface="Times New Roman" panose="02020603050405020304" pitchFamily="18" charset="0"/>
                          </a:rPr>
                          <m:t>364</m:t>
                        </m:r>
                      </m:num>
                      <m:den>
                        <m:r>
                          <a:rPr lang="en-US" altLang="zh-CN" sz="2000" b="0" i="1" dirty="0" smtClean="0">
                            <a:latin typeface="Cambria Math" panose="02040503050406030204" pitchFamily="18" charset="0"/>
                            <a:cs typeface="Times New Roman" panose="02020603050405020304" pitchFamily="18" charset="0"/>
                          </a:rPr>
                          <m:t>365</m:t>
                        </m:r>
                      </m:den>
                    </m:f>
                    <m:r>
                      <a:rPr lang="zh-CN" altLang="en-US" sz="2000" i="1" dirty="0">
                        <a:latin typeface="Cambria Math" panose="02040503050406030204" pitchFamily="18" charset="0"/>
                        <a:cs typeface="Times New Roman" panose="02020603050405020304" pitchFamily="18" charset="0"/>
                      </a:rPr>
                      <m:t>；</m:t>
                    </m:r>
                  </m:oMath>
                </a14:m>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房间里另外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𝑘</m:t>
                    </m:r>
                    <m:r>
                      <a:rPr lang="en-US" altLang="zh-CN" sz="2000" i="1" dirty="0" smtClean="0">
                        <a:latin typeface="Cambria Math" panose="02040503050406030204" pitchFamily="18" charset="0"/>
                        <a:cs typeface="Times New Roman" panose="02020603050405020304" pitchFamily="18" charset="0"/>
                      </a:rPr>
                      <m:t>−1</m:t>
                    </m:r>
                  </m:oMath>
                </a14:m>
                <a:r>
                  <a:rPr lang="en-US" altLang="zh-CN"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个人与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的生日不为同一天的概率为 </a:t>
                </a:r>
                <a14:m>
                  <m:oMath xmlns:m="http://schemas.openxmlformats.org/officeDocument/2006/math">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b="0" i="1" dirty="0" smtClean="0">
                            <a:latin typeface="Cambria Math" panose="02040503050406030204" pitchFamily="18" charset="0"/>
                            <a:cs typeface="Times New Roman" panose="02020603050405020304" pitchFamily="18" charset="0"/>
                          </a:rPr>
                          <m:t>(</m:t>
                        </m:r>
                        <m:f>
                          <m:fPr>
                            <m:ctrlPr>
                              <a:rPr lang="en-US" altLang="zh-CN" sz="2000" i="1" dirty="0">
                                <a:latin typeface="Cambria Math" panose="02040503050406030204" pitchFamily="18" charset="0"/>
                                <a:cs typeface="Times New Roman" panose="02020603050405020304" pitchFamily="18" charset="0"/>
                              </a:rPr>
                            </m:ctrlPr>
                          </m:fPr>
                          <m:num>
                            <m:r>
                              <a:rPr lang="en-US" altLang="zh-CN" sz="2000" i="1" dirty="0">
                                <a:latin typeface="Cambria Math" panose="02040503050406030204" pitchFamily="18" charset="0"/>
                                <a:cs typeface="Times New Roman" panose="02020603050405020304" pitchFamily="18" charset="0"/>
                              </a:rPr>
                              <m:t>364</m:t>
                            </m:r>
                          </m:num>
                          <m:den>
                            <m:r>
                              <a:rPr lang="en-US" altLang="zh-CN" sz="2000" i="1" dirty="0">
                                <a:latin typeface="Cambria Math" panose="02040503050406030204" pitchFamily="18" charset="0"/>
                                <a:cs typeface="Times New Roman" panose="02020603050405020304" pitchFamily="18" charset="0"/>
                              </a:rPr>
                              <m:t>365</m:t>
                            </m:r>
                          </m:den>
                        </m:f>
                        <m:r>
                          <a:rPr lang="en-US" altLang="zh-CN" sz="2000" b="0" i="1" dirty="0" smtClean="0">
                            <a:latin typeface="Cambria Math" panose="02040503050406030204" pitchFamily="18" charset="0"/>
                            <a:cs typeface="Times New Roman" panose="02020603050405020304" pitchFamily="18" charset="0"/>
                          </a:rPr>
                          <m:t>)</m:t>
                        </m:r>
                      </m:e>
                      <m:sup>
                        <m:r>
                          <a:rPr lang="en-US" altLang="zh-CN" sz="2000" b="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−1</m:t>
                        </m:r>
                      </m:sup>
                    </m:sSup>
                  </m:oMath>
                </a14:m>
                <a:r>
                  <a:rPr lang="zh-CN" altLang="en-US" sz="2000" b="0" dirty="0">
                    <a:latin typeface="Times New Roman" panose="02020603050405020304" pitchFamily="18" charset="0"/>
                    <a:cs typeface="Times New Roman" panose="02020603050405020304" pitchFamily="18" charset="0"/>
                  </a:rPr>
                  <a:t>；</a:t>
                </a:r>
                <a:endParaRPr lang="en-US" altLang="zh-CN" sz="2000" b="0" dirty="0">
                  <a:latin typeface="Times New Roman" panose="02020603050405020304" pitchFamily="18" charset="0"/>
                  <a:cs typeface="Times New Roman" panose="02020603050405020304" pitchFamily="18" charset="0"/>
                </a:endParaRPr>
              </a:p>
              <a:p>
                <a:pPr marL="342900" indent="-342900" algn="just">
                  <a:lnSpc>
                    <a:spcPct val="130000"/>
                  </a:lnSpc>
                  <a:buFont typeface="Wingdings" panose="05000000000000000000" pitchFamily="2" charset="2"/>
                  <a:buChar char="l"/>
                </a:pP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−1</m:t>
                    </m:r>
                  </m:oMath>
                </a14:m>
                <a:r>
                  <a:rPr lang="zh-CN" altLang="en-US" sz="2000" dirty="0">
                    <a:latin typeface="Times New Roman" panose="02020603050405020304" pitchFamily="18" charset="0"/>
                    <a:cs typeface="Times New Roman" panose="02020603050405020304" pitchFamily="18" charset="0"/>
                  </a:rPr>
                  <a:t> 个人中可以找到一个与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的生日为同一天的概率大于 </a:t>
                </a:r>
                <a14:m>
                  <m:oMath xmlns:m="http://schemas.openxmlformats.org/officeDocument/2006/math">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i="1" dirty="0" smtClean="0">
                            <a:latin typeface="Cambria Math" panose="02040503050406030204" pitchFamily="18" charset="0"/>
                            <a:cs typeface="Times New Roman" panose="02020603050405020304" pitchFamily="18" charset="0"/>
                          </a:rPr>
                          <m:t>1</m:t>
                        </m:r>
                      </m:num>
                      <m:den>
                        <m:r>
                          <a:rPr lang="en-US" altLang="zh-CN" sz="2000" i="1" dirty="0" smtClean="0">
                            <a:latin typeface="Cambria Math" panose="02040503050406030204" pitchFamily="18" charset="0"/>
                            <a:cs typeface="Times New Roman" panose="02020603050405020304" pitchFamily="18" charset="0"/>
                          </a:rPr>
                          <m:t>2</m:t>
                        </m:r>
                      </m:den>
                    </m:f>
                    <m:r>
                      <a:rPr lang="zh-CN" altLang="en-US" sz="2000" i="1" dirty="0">
                        <a:latin typeface="Cambria Math" panose="02040503050406030204" pitchFamily="18" charset="0"/>
                        <a:cs typeface="Times New Roman" panose="02020603050405020304" pitchFamily="18" charset="0"/>
                      </a:rPr>
                      <m:t>：</m:t>
                    </m:r>
                  </m:oMath>
                </a14:m>
                <a:endParaRPr lang="en-US" altLang="zh-CN" sz="2000" i="1" dirty="0">
                  <a:latin typeface="Cambria Math" panose="02040503050406030204" pitchFamily="18" charset="0"/>
                  <a:cs typeface="Times New Roman" panose="02020603050405020304" pitchFamily="18" charset="0"/>
                </a:endParaRPr>
              </a:p>
              <a:p>
                <a:pPr algn="ctr">
                  <a:lnSpc>
                    <a:spcPct val="130000"/>
                  </a:lnSpc>
                </a:pP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1−</m:t>
                    </m:r>
                    <m:sSup>
                      <m:sSupPr>
                        <m:ctrlPr>
                          <a:rPr lang="en-US" altLang="zh-CN" sz="2000" i="1" dirty="0">
                            <a:latin typeface="Cambria Math" panose="02040503050406030204" pitchFamily="18" charset="0"/>
                            <a:cs typeface="Times New Roman" panose="02020603050405020304" pitchFamily="18" charset="0"/>
                          </a:rPr>
                        </m:ctrlPr>
                      </m:sSupPr>
                      <m:e>
                        <m:r>
                          <a:rPr lang="en-US" altLang="zh-CN" sz="2000" i="1" dirty="0">
                            <a:latin typeface="Cambria Math" panose="02040503050406030204" pitchFamily="18" charset="0"/>
                            <a:cs typeface="Times New Roman" panose="02020603050405020304" pitchFamily="18" charset="0"/>
                          </a:rPr>
                          <m:t>(</m:t>
                        </m:r>
                        <m:f>
                          <m:fPr>
                            <m:ctrlPr>
                              <a:rPr lang="en-US" altLang="zh-CN" sz="2000" i="1" dirty="0">
                                <a:latin typeface="Cambria Math" panose="02040503050406030204" pitchFamily="18" charset="0"/>
                                <a:cs typeface="Times New Roman" panose="02020603050405020304" pitchFamily="18" charset="0"/>
                              </a:rPr>
                            </m:ctrlPr>
                          </m:fPr>
                          <m:num>
                            <m:r>
                              <a:rPr lang="en-US" altLang="zh-CN" sz="2000" i="1" dirty="0">
                                <a:latin typeface="Cambria Math" panose="02040503050406030204" pitchFamily="18" charset="0"/>
                                <a:cs typeface="Times New Roman" panose="02020603050405020304" pitchFamily="18" charset="0"/>
                              </a:rPr>
                              <m:t>364</m:t>
                            </m:r>
                          </m:num>
                          <m:den>
                            <m:r>
                              <a:rPr lang="en-US" altLang="zh-CN" sz="2000" i="1" dirty="0">
                                <a:latin typeface="Cambria Math" panose="02040503050406030204" pitchFamily="18" charset="0"/>
                                <a:cs typeface="Times New Roman" panose="02020603050405020304" pitchFamily="18" charset="0"/>
                              </a:rPr>
                              <m:t>365</m:t>
                            </m:r>
                          </m:den>
                        </m:f>
                        <m:r>
                          <a:rPr lang="en-US" altLang="zh-CN" sz="2000" i="1" dirty="0">
                            <a:latin typeface="Cambria Math" panose="02040503050406030204" pitchFamily="18" charset="0"/>
                            <a:cs typeface="Times New Roman" panose="02020603050405020304" pitchFamily="18" charset="0"/>
                          </a:rPr>
                          <m:t>)</m:t>
                        </m:r>
                      </m:e>
                      <m:sup>
                        <m:r>
                          <a:rPr lang="en-US" altLang="zh-CN" sz="2000" i="1" dirty="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−1</m:t>
                        </m:r>
                      </m:sup>
                    </m:sSup>
                    <m:r>
                      <a:rPr lang="en-US" altLang="zh-CN" sz="2000" i="1"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b="0" i="1" dirty="0"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CN" sz="2000" b="0" i="1" dirty="0" smtClean="0">
                            <a:latin typeface="Cambria Math" panose="02040503050406030204" pitchFamily="18" charset="0"/>
                            <a:ea typeface="Cambria Math" panose="02040503050406030204" pitchFamily="18" charset="0"/>
                            <a:cs typeface="Times New Roman" panose="02020603050405020304" pitchFamily="18" charset="0"/>
                          </a:rPr>
                          <m:t>2</m:t>
                        </m:r>
                      </m:den>
                    </m:f>
                  </m:oMath>
                </a14:m>
                <a:r>
                  <a:rPr lang="zh-CN" altLang="en-US" sz="2000" dirty="0">
                    <a:latin typeface="Times New Roman" panose="02020603050405020304" pitchFamily="18" charset="0"/>
                    <a:cs typeface="Times New Roman" panose="02020603050405020304" pitchFamily="18" charset="0"/>
                  </a:rPr>
                  <a:t>，即</a:t>
                </a:r>
                <a14:m>
                  <m:oMath xmlns:m="http://schemas.openxmlformats.org/officeDocument/2006/math">
                    <m:sSup>
                      <m:sSupPr>
                        <m:ctrlPr>
                          <a:rPr lang="en-US" altLang="zh-CN" sz="2000" i="1" dirty="0">
                            <a:latin typeface="Cambria Math" panose="02040503050406030204" pitchFamily="18" charset="0"/>
                            <a:cs typeface="Times New Roman" panose="02020603050405020304" pitchFamily="18" charset="0"/>
                          </a:rPr>
                        </m:ctrlPr>
                      </m:sSupPr>
                      <m:e>
                        <m:r>
                          <a:rPr lang="en-US" altLang="zh-CN" sz="2000" b="0" i="1"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m:t>
                        </m:r>
                        <m:f>
                          <m:fPr>
                            <m:ctrlPr>
                              <a:rPr lang="en-US" altLang="zh-CN" sz="2000" i="1" dirty="0">
                                <a:latin typeface="Cambria Math" panose="02040503050406030204" pitchFamily="18" charset="0"/>
                                <a:cs typeface="Times New Roman" panose="02020603050405020304" pitchFamily="18" charset="0"/>
                              </a:rPr>
                            </m:ctrlPr>
                          </m:fPr>
                          <m:num>
                            <m:r>
                              <a:rPr lang="en-US" altLang="zh-CN" sz="2000" i="1" dirty="0">
                                <a:latin typeface="Cambria Math" panose="02040503050406030204" pitchFamily="18" charset="0"/>
                                <a:cs typeface="Times New Roman" panose="02020603050405020304" pitchFamily="18" charset="0"/>
                              </a:rPr>
                              <m:t>364</m:t>
                            </m:r>
                          </m:num>
                          <m:den>
                            <m:r>
                              <a:rPr lang="en-US" altLang="zh-CN" sz="2000" i="1" dirty="0">
                                <a:latin typeface="Cambria Math" panose="02040503050406030204" pitchFamily="18" charset="0"/>
                                <a:cs typeface="Times New Roman" panose="02020603050405020304" pitchFamily="18" charset="0"/>
                              </a:rPr>
                              <m:t>365</m:t>
                            </m:r>
                          </m:den>
                        </m:f>
                        <m:r>
                          <a:rPr lang="en-US" altLang="zh-CN" sz="2000" i="1" dirty="0">
                            <a:latin typeface="Cambria Math" panose="02040503050406030204" pitchFamily="18" charset="0"/>
                            <a:cs typeface="Times New Roman" panose="02020603050405020304" pitchFamily="18" charset="0"/>
                          </a:rPr>
                          <m:t>)</m:t>
                        </m:r>
                      </m:e>
                      <m:sup>
                        <m:r>
                          <a:rPr lang="en-US" altLang="zh-CN" sz="2000" i="1" dirty="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−1</m:t>
                        </m:r>
                      </m:sup>
                    </m:sSup>
                    <m:r>
                      <a:rPr lang="en-US" altLang="zh-CN" sz="2000" i="1"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2</m:t>
                        </m:r>
                      </m:den>
                    </m:f>
                  </m:oMath>
                </a14:m>
                <a:endParaRPr lang="en-US" altLang="zh-CN" sz="2000" i="1"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lgn="just">
                  <a:lnSpc>
                    <a:spcPct val="130000"/>
                  </a:lnSpc>
                  <a:buFont typeface="Wingdings" panose="05000000000000000000" pitchFamily="2" charset="2"/>
                  <a:buChar char="l"/>
                </a:pPr>
                <a:r>
                  <a:rPr lang="zh-CN" altLang="en-US" sz="2000" dirty="0">
                    <a:cs typeface="Times New Roman" panose="02020603050405020304" pitchFamily="18" charset="0"/>
                  </a:rPr>
                  <a:t>求解不等式可得 </a:t>
                </a:r>
                <a14:m>
                  <m:oMath xmlns:m="http://schemas.openxmlformats.org/officeDocument/2006/math">
                    <m:r>
                      <m:rPr>
                        <m:nor/>
                      </m:rPr>
                      <a:rPr lang="en-US" altLang="zh-CN" sz="2000" i="1" dirty="0">
                        <a:latin typeface="Times New Roman" panose="02020603050405020304" pitchFamily="18" charset="0"/>
                        <a:cs typeface="Times New Roman" panose="02020603050405020304" pitchFamily="18" charset="0"/>
                      </a:rPr>
                      <m:t>k</m:t>
                    </m:r>
                    <m:r>
                      <a:rPr lang="en-US" altLang="zh-CN" sz="2000">
                        <a:latin typeface="Cambria Math" panose="02040503050406030204" pitchFamily="18" charset="0"/>
                        <a:cs typeface="Times New Roman" panose="02020603050405020304" pitchFamily="18" charset="0"/>
                      </a:rPr>
                      <m:t>≥25</m:t>
                    </m:r>
                    <m:r>
                      <a:rPr lang="en-US" altLang="zh-CN" sz="2000" b="0" i="0" smtClean="0">
                        <a:latin typeface="Cambria Math" panose="02040503050406030204" pitchFamily="18" charset="0"/>
                        <a:cs typeface="Times New Roman" panose="02020603050405020304" pitchFamily="18" charset="0"/>
                      </a:rPr>
                      <m:t>4</m:t>
                    </m:r>
                  </m:oMath>
                </a14:m>
                <a:r>
                  <a:rPr lang="zh-CN" altLang="en-US" sz="2000" dirty="0">
                    <a:latin typeface="Times New Roman" panose="02020603050405020304" pitchFamily="18" charset="0"/>
                    <a:cs typeface="Times New Roman" panose="02020603050405020304" pitchFamily="18" charset="0"/>
                  </a:rPr>
                  <a:t>，即至少需要</a:t>
                </a: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25</m:t>
                    </m:r>
                    <m:r>
                      <a:rPr lang="en-US" altLang="zh-CN" sz="2000" b="0" i="1" dirty="0" smtClean="0">
                        <a:solidFill>
                          <a:srgbClr val="0000FF"/>
                        </a:solidFill>
                        <a:latin typeface="Cambria Math" panose="02040503050406030204" pitchFamily="18" charset="0"/>
                        <a:cs typeface="Times New Roman" panose="02020603050405020304" pitchFamily="18" charset="0"/>
                      </a:rPr>
                      <m:t>4</m:t>
                    </m:r>
                  </m:oMath>
                </a14:m>
                <a:r>
                  <a:rPr lang="zh-CN" altLang="en-US" sz="2000" dirty="0">
                    <a:solidFill>
                      <a:srgbClr val="0000FF"/>
                    </a:solidFill>
                    <a:latin typeface="Times New Roman" panose="02020603050405020304" pitchFamily="18" charset="0"/>
                    <a:cs typeface="Times New Roman" panose="02020603050405020304" pitchFamily="18" charset="0"/>
                  </a:rPr>
                  <a:t>人</a:t>
                </a:r>
                <a:r>
                  <a:rPr lang="zh-CN" altLang="en-US" sz="2000" dirty="0">
                    <a:latin typeface="Times New Roman" panose="02020603050405020304" pitchFamily="18" charset="0"/>
                    <a:cs typeface="Times New Roman" panose="02020603050405020304" pitchFamily="18" charset="0"/>
                  </a:rPr>
                  <a:t>才能确保找到一个与 </a:t>
                </a:r>
                <a:r>
                  <a:rPr lang="en-US" altLang="zh-CN" sz="2000" dirty="0">
                    <a:latin typeface="Times New Roman" panose="02020603050405020304" pitchFamily="18" charset="0"/>
                    <a:cs typeface="Times New Roman" panose="02020603050405020304" pitchFamily="18" charset="0"/>
                  </a:rPr>
                  <a:t>Alice </a:t>
                </a:r>
                <a:r>
                  <a:rPr lang="zh-CN" altLang="en-US" sz="2000" dirty="0">
                    <a:latin typeface="Times New Roman" panose="02020603050405020304" pitchFamily="18" charset="0"/>
                    <a:cs typeface="Times New Roman" panose="02020603050405020304" pitchFamily="18" charset="0"/>
                  </a:rPr>
                  <a:t>生日为同一天的概率大于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480765"/>
                <a:ext cx="8561671" cy="5060296"/>
              </a:xfrm>
              <a:prstGeom prst="rect">
                <a:avLst/>
              </a:prstGeom>
              <a:blipFill>
                <a:blip r:embed="rId3"/>
                <a:stretch>
                  <a:fillRect l="-712" r="-712" b="-12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6435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34</a:t>
            </a:fld>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129465"/>
                <a:ext cx="8479945" cy="5151603"/>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latin typeface="+mn-ea"/>
                  </a:rPr>
                  <a:t>第一类生日攻击：</a:t>
                </a:r>
                <a:r>
                  <a:rPr lang="zh-CN" altLang="en-US" sz="2000" dirty="0">
                    <a:latin typeface="Times New Roman" panose="02020603050405020304" pitchFamily="18" charset="0"/>
                    <a:cs typeface="Times New Roman" panose="02020603050405020304" pitchFamily="18" charset="0"/>
                  </a:rPr>
                  <a:t>已知一个哈希函数</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有</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𝑛</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个可能的输出，其中</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𝑥</m:t>
                        </m:r>
                      </m:e>
                    </m:d>
                  </m:oMath>
                </a14:m>
                <a:r>
                  <a:rPr lang="zh-CN" altLang="en-US" sz="2000" dirty="0">
                    <a:latin typeface="Times New Roman" panose="02020603050405020304" pitchFamily="18" charset="0"/>
                    <a:cs typeface="Times New Roman" panose="02020603050405020304" pitchFamily="18" charset="0"/>
                  </a:rPr>
                  <a:t>是一个特定输出。对</a:t>
                </a:r>
                <a14:m>
                  <m:oMath xmlns:m="http://schemas.openxmlformats.org/officeDocument/2006/math">
                    <m:r>
                      <a:rPr lang="en-US" altLang="zh-CN" sz="2000" dirty="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h</m:t>
                    </m:r>
                  </m:oMath>
                </a14:m>
                <a:r>
                  <a:rPr lang="zh-CN" altLang="en-US" sz="2000" dirty="0">
                    <a:latin typeface="Times New Roman" panose="02020603050405020304" pitchFamily="18" charset="0"/>
                    <a:cs typeface="Times New Roman" panose="02020603050405020304" pitchFamily="18" charset="0"/>
                  </a:rPr>
                  <a:t>随机取</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个输入，则至少有一个输入</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𝑦</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使得</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𝑦</m:t>
                    </m:r>
                    <m:r>
                      <a:rPr lang="en-US" altLang="zh-CN" sz="2000" i="1" dirty="0" smtClean="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𝑥</m:t>
                        </m:r>
                      </m:e>
                    </m:d>
                  </m:oMath>
                </a14:m>
                <a:r>
                  <a:rPr lang="zh-CN" altLang="en-US" sz="2000" dirty="0">
                    <a:latin typeface="Times New Roman" panose="02020603050405020304" pitchFamily="18" charset="0"/>
                    <a:cs typeface="Times New Roman" panose="02020603050405020304" pitchFamily="18" charset="0"/>
                  </a:rPr>
                  <a:t> 的概率为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0.5</m:t>
                    </m:r>
                  </m:oMath>
                </a14:m>
                <a:r>
                  <a:rPr lang="zh-CN" altLang="en-US" sz="2000" dirty="0">
                    <a:latin typeface="Times New Roman" panose="02020603050405020304" pitchFamily="18" charset="0"/>
                    <a:cs typeface="Times New Roman" panose="02020603050405020304" pitchFamily="18" charset="0"/>
                  </a:rPr>
                  <a:t> 时，求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多大</a:t>
                </a:r>
                <a:r>
                  <a:rPr lang="en-US" altLang="zh-CN" sz="2000" dirty="0">
                    <a:latin typeface="Times New Roman" panose="02020603050405020304" pitchFamily="18" charset="0"/>
                    <a:cs typeface="Times New Roman" panose="02020603050405020304" pitchFamily="18" charset="0"/>
                  </a:rPr>
                  <a:t>?</a:t>
                </a:r>
              </a:p>
              <a:p>
                <a:pPr algn="just">
                  <a:lnSpc>
                    <a:spcPct val="120000"/>
                  </a:lnSpc>
                  <a:spcBef>
                    <a:spcPts val="600"/>
                  </a:spcBef>
                </a:pPr>
                <a:r>
                  <a:rPr lang="zh-CN" altLang="en-US" sz="2000" dirty="0">
                    <a:solidFill>
                      <a:srgbClr val="0000FF"/>
                    </a:solidFill>
                    <a:latin typeface="Times New Roman" panose="02020603050405020304" pitchFamily="18" charset="0"/>
                    <a:cs typeface="Times New Roman" panose="02020603050405020304" pitchFamily="18" charset="0"/>
                  </a:rPr>
                  <a:t>解：</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一个输入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𝑦</m:t>
                    </m:r>
                  </m:oMath>
                </a14:m>
                <a:r>
                  <a:rPr lang="zh-CN" altLang="en-US" sz="2000" i="0" dirty="0">
                    <a:latin typeface="+mj-lt"/>
                    <a:cs typeface="Times New Roman" panose="02020603050405020304" pitchFamily="18" charset="0"/>
                  </a:rPr>
                  <a:t> 使</a:t>
                </a:r>
                <a14:m>
                  <m:oMath xmlns:m="http://schemas.openxmlformats.org/officeDocument/2006/math">
                    <m:r>
                      <m:rPr>
                        <m:nor/>
                      </m:rPr>
                      <a:rPr lang="en-US" altLang="zh-CN" sz="2000" b="0" i="0" dirty="0" smtClean="0">
                        <a:latin typeface="Times New Roman" panose="020206030504050203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𝑦</m:t>
                        </m:r>
                      </m:e>
                    </m:d>
                    <m:r>
                      <a:rPr lang="en-US" altLang="zh-CN" sz="2000" b="0" i="0" dirty="0" smtClean="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𝑥</m:t>
                        </m:r>
                      </m:e>
                    </m:d>
                    <m:r>
                      <a:rPr lang="en-US" altLang="zh-CN" sz="2000" b="0" i="0"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的概率是 </a:t>
                </a:r>
                <a14:m>
                  <m:oMath xmlns:m="http://schemas.openxmlformats.org/officeDocument/2006/math">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i="1" dirty="0" smtClean="0">
                            <a:latin typeface="Cambria Math" panose="02040503050406030204" pitchFamily="18" charset="0"/>
                            <a:cs typeface="Times New Roman" panose="02020603050405020304" pitchFamily="18" charset="0"/>
                          </a:rPr>
                          <m:t>1</m:t>
                        </m:r>
                      </m:num>
                      <m:den>
                        <m:r>
                          <a:rPr lang="en-US" altLang="zh-CN" sz="2000" i="1" dirty="0" smtClean="0">
                            <a:latin typeface="Cambria Math" panose="02040503050406030204" pitchFamily="18" charset="0"/>
                            <a:cs typeface="Times New Roman" panose="02020603050405020304" pitchFamily="18" charset="0"/>
                          </a:rPr>
                          <m:t>𝑛</m:t>
                        </m:r>
                      </m:den>
                    </m:f>
                  </m:oMath>
                </a14:m>
                <a:r>
                  <a:rPr lang="zh-CN" altLang="en-US" sz="2000" dirty="0">
                    <a:latin typeface="Times New Roman" panose="02020603050405020304" pitchFamily="18" charset="0"/>
                    <a:cs typeface="Times New Roman" panose="02020603050405020304" pitchFamily="18" charset="0"/>
                  </a:rPr>
                  <a:t>，使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𝑦</m:t>
                        </m:r>
                      </m:e>
                    </m:d>
                    <m:r>
                      <a:rPr lang="en-US" altLang="zh-CN" sz="2000" i="1" dirty="0" smtClean="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𝑥</m:t>
                        </m:r>
                      </m:e>
                    </m:d>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的概率是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m:t>
                    </m:r>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i="1" dirty="0" smtClean="0">
                            <a:latin typeface="Cambria Math" panose="02040503050406030204" pitchFamily="18" charset="0"/>
                            <a:cs typeface="Times New Roman" panose="02020603050405020304" pitchFamily="18" charset="0"/>
                          </a:rPr>
                          <m:t>1</m:t>
                        </m:r>
                      </m:num>
                      <m:den>
                        <m:r>
                          <a:rPr lang="en-US" altLang="zh-CN" sz="2000" i="1" dirty="0" smtClean="0">
                            <a:latin typeface="Cambria Math" panose="02040503050406030204" pitchFamily="18" charset="0"/>
                            <a:cs typeface="Times New Roman" panose="02020603050405020304" pitchFamily="18" charset="0"/>
                          </a:rPr>
                          <m:t>𝑛</m:t>
                        </m:r>
                      </m:den>
                    </m:f>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随机取</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𝑦</m:t>
                    </m:r>
                  </m:oMath>
                </a14:m>
                <a:r>
                  <a:rPr lang="zh-CN" altLang="en-US" sz="2000" dirty="0">
                    <a:latin typeface="Times New Roman" panose="02020603050405020304" pitchFamily="18" charset="0"/>
                    <a:cs typeface="Times New Roman" panose="02020603050405020304" pitchFamily="18" charset="0"/>
                  </a:rPr>
                  <a:t>，均为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𝑦</m:t>
                        </m:r>
                      </m:e>
                    </m:d>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h</m:t>
                    </m:r>
                    <m:d>
                      <m:dPr>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𝑥</m:t>
                        </m:r>
                      </m:e>
                    </m:d>
                  </m:oMath>
                </a14:m>
                <a:r>
                  <a:rPr lang="zh-CN" altLang="en-US" sz="2000" dirty="0">
                    <a:latin typeface="Times New Roman" panose="02020603050405020304" pitchFamily="18" charset="0"/>
                    <a:cs typeface="Times New Roman" panose="02020603050405020304" pitchFamily="18" charset="0"/>
                  </a:rPr>
                  <a:t> 的概率是</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sSup>
                      <m:sSupPr>
                        <m:ctrlPr>
                          <a:rPr lang="en-US" altLang="zh-CN" sz="2000" b="0" i="1" dirty="0" smtClean="0">
                            <a:latin typeface="Cambria Math" panose="02040503050406030204" pitchFamily="18" charset="0"/>
                            <a:cs typeface="Times New Roman" panose="02020603050405020304" pitchFamily="18" charset="0"/>
                          </a:rPr>
                        </m:ctrlPr>
                      </m:sSupPr>
                      <m:e>
                        <m:r>
                          <a:rPr lang="en-US" altLang="zh-CN" sz="2000" b="0" i="1" dirty="0" smtClean="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1−</m:t>
                        </m:r>
                        <m:r>
                          <a:rPr lang="en-US" altLang="zh-CN" sz="2000" b="0" i="1" dirty="0" smtClean="0">
                            <a:latin typeface="Cambria Math" panose="02040503050406030204" pitchFamily="18" charset="0"/>
                            <a:cs typeface="Times New Roman" panose="02020603050405020304" pitchFamily="18" charset="0"/>
                          </a:rPr>
                          <m:t>1/</m:t>
                        </m:r>
                        <m:r>
                          <a:rPr lang="en-US" altLang="zh-CN" sz="2000" b="0" i="1" dirty="0" smtClean="0">
                            <a:latin typeface="Cambria Math" panose="02040503050406030204" pitchFamily="18" charset="0"/>
                            <a:cs typeface="Times New Roman" panose="02020603050405020304" pitchFamily="18" charset="0"/>
                          </a:rPr>
                          <m:t>𝑛</m:t>
                        </m:r>
                        <m:r>
                          <a:rPr lang="en-US" altLang="zh-CN" sz="2000" b="0" i="1" dirty="0" smtClean="0">
                            <a:latin typeface="Cambria Math" panose="02040503050406030204" pitchFamily="18" charset="0"/>
                            <a:cs typeface="Times New Roman" panose="02020603050405020304" pitchFamily="18" charset="0"/>
                          </a:rPr>
                          <m:t>)</m:t>
                        </m:r>
                      </m:e>
                      <m:sup>
                        <m:r>
                          <a:rPr lang="en-US" altLang="zh-CN" sz="2000" i="1" dirty="0" smtClean="0">
                            <a:latin typeface="Cambria Math" panose="02040503050406030204" pitchFamily="18" charset="0"/>
                            <a:cs typeface="Times New Roman" panose="02020603050405020304" pitchFamily="18" charset="0"/>
                          </a:rPr>
                          <m:t>𝑘</m:t>
                        </m:r>
                      </m:sup>
                    </m:sSup>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𝑘</m:t>
                    </m:r>
                    <m:r>
                      <a:rPr lang="en-US" altLang="zh-CN" sz="2000" i="1" dirty="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2000" dirty="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𝑦</m:t>
                    </m:r>
                  </m:oMath>
                </a14:m>
                <a:r>
                  <a:rPr lang="zh-CN" altLang="en-US" sz="2000" dirty="0">
                    <a:latin typeface="Times New Roman" panose="02020603050405020304" pitchFamily="18" charset="0"/>
                    <a:cs typeface="Times New Roman" panose="02020603050405020304" pitchFamily="18" charset="0"/>
                  </a:rPr>
                  <a:t> 中至少有一个等于</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𝑥</m:t>
                        </m:r>
                      </m:e>
                    </m:d>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的概率是</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1−</m:t>
                    </m:r>
                    <m:sSup>
                      <m:sSupPr>
                        <m:ctrlPr>
                          <a:rPr lang="en-US" altLang="zh-CN" sz="2000" i="1" dirty="0">
                            <a:latin typeface="Cambria Math" panose="02040503050406030204" pitchFamily="18" charset="0"/>
                            <a:cs typeface="Times New Roman" panose="02020603050405020304" pitchFamily="18" charset="0"/>
                          </a:rPr>
                        </m:ctrlPr>
                      </m:sSupPr>
                      <m:e>
                        <m:d>
                          <m:dPr>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1−1/</m:t>
                            </m:r>
                            <m:r>
                              <a:rPr lang="en-US" altLang="zh-CN" sz="2000" i="1" dirty="0">
                                <a:latin typeface="Cambria Math" panose="02040503050406030204" pitchFamily="18" charset="0"/>
                                <a:cs typeface="Times New Roman" panose="02020603050405020304" pitchFamily="18" charset="0"/>
                              </a:rPr>
                              <m:t>𝑛</m:t>
                            </m:r>
                          </m:e>
                        </m:d>
                      </m:e>
                      <m:sup>
                        <m:r>
                          <a:rPr lang="en-US" altLang="zh-CN" sz="2000" i="1" dirty="0">
                            <a:latin typeface="Cambria Math" panose="02040503050406030204" pitchFamily="18" charset="0"/>
                            <a:cs typeface="Times New Roman" panose="02020603050405020304" pitchFamily="18" charset="0"/>
                          </a:rPr>
                          <m:t>𝑘</m:t>
                        </m:r>
                      </m:sup>
                    </m:sSup>
                    <m:r>
                      <a:rPr lang="en-US" altLang="zh-CN" sz="2000" b="0" i="0" dirty="0" smtClean="0">
                        <a:latin typeface="Cambria Math" panose="02040503050406030204" pitchFamily="18" charset="0"/>
                        <a:cs typeface="Times New Roman" panose="02020603050405020304" pitchFamily="18" charset="0"/>
                      </a:rPr>
                      <m:t>;</m:t>
                    </m:r>
                  </m:oMath>
                </a14:m>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b="0" dirty="0">
                    <a:cs typeface="Times New Roman" panose="02020603050405020304" pitchFamily="18" charset="0"/>
                  </a:rPr>
                  <a:t>由于对于</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𝑥</m:t>
                    </m:r>
                    <m:r>
                      <a:rPr lang="en-US" altLang="zh-CN" sz="2000" i="1" dirty="0">
                        <a:latin typeface="Cambria Math" panose="02040503050406030204" pitchFamily="18" charset="0"/>
                        <a:cs typeface="Times New Roman" panose="02020603050405020304" pitchFamily="18" charset="0"/>
                      </a:rPr>
                      <m:t>|≤1 </m:t>
                    </m:r>
                  </m:oMath>
                </a14:m>
                <a:r>
                  <a:rPr lang="zh-CN" altLang="en-US" sz="2000" b="0" dirty="0">
                    <a:cs typeface="Times New Roman" panose="02020603050405020304" pitchFamily="18" charset="0"/>
                  </a:rPr>
                  <a:t>，</a:t>
                </a:r>
                <a14:m>
                  <m:oMath xmlns:m="http://schemas.openxmlformats.org/officeDocument/2006/math">
                    <m:sSup>
                      <m:sSupPr>
                        <m:ctrlPr>
                          <a:rPr lang="en-US" altLang="zh-CN" sz="2000" b="0" i="1" dirty="0" smtClean="0">
                            <a:latin typeface="Cambria Math" panose="02040503050406030204" pitchFamily="18" charset="0"/>
                            <a:cs typeface="Times New Roman" panose="02020603050405020304" pitchFamily="18" charset="0"/>
                          </a:rPr>
                        </m:ctrlPr>
                      </m:sSupPr>
                      <m:e>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smtClean="0">
                                <a:latin typeface="Cambria Math" panose="02040503050406030204" pitchFamily="18" charset="0"/>
                                <a:cs typeface="Times New Roman" panose="02020603050405020304" pitchFamily="18" charset="0"/>
                              </a:rPr>
                              <m:t>1−</m:t>
                            </m:r>
                            <m:r>
                              <a:rPr lang="en-US" altLang="zh-CN" sz="2000" i="1" dirty="0" smtClean="0">
                                <a:latin typeface="Cambria Math" panose="02040503050406030204" pitchFamily="18" charset="0"/>
                                <a:cs typeface="Times New Roman" panose="02020603050405020304" pitchFamily="18" charset="0"/>
                              </a:rPr>
                              <m:t>𝑥</m:t>
                            </m:r>
                          </m:e>
                        </m:d>
                      </m:e>
                      <m:sup>
                        <m:r>
                          <a:rPr lang="en-US" altLang="zh-CN" sz="2000" i="1" dirty="0" smtClean="0">
                            <a:latin typeface="Cambria Math" panose="02040503050406030204" pitchFamily="18" charset="0"/>
                            <a:cs typeface="Times New Roman" panose="02020603050405020304" pitchFamily="18" charset="0"/>
                          </a:rPr>
                          <m:t>𝑘</m:t>
                        </m:r>
                      </m:sup>
                    </m:sSup>
                    <m:r>
                      <a:rPr lang="en-US" altLang="zh-CN" sz="2000" i="1" dirty="0" smtClean="0">
                        <a:latin typeface="Cambria Math" panose="02040503050406030204" pitchFamily="18" charset="0"/>
                        <a:cs typeface="Times New Roman" panose="02020603050405020304" pitchFamily="18" charset="0"/>
                      </a:rPr>
                      <m:t>≈1− </m:t>
                    </m:r>
                    <m:r>
                      <a:rPr lang="en-US" altLang="zh-CN" sz="2000" i="1" dirty="0" err="1" smtClean="0">
                        <a:latin typeface="Cambria Math" panose="02040503050406030204" pitchFamily="18" charset="0"/>
                        <a:cs typeface="Times New Roman" panose="02020603050405020304" pitchFamily="18" charset="0"/>
                      </a:rPr>
                      <m:t>𝑘𝑥</m:t>
                    </m:r>
                  </m:oMath>
                </a14:m>
                <a:r>
                  <a:rPr lang="zh-CN" altLang="en-US" sz="2000" dirty="0">
                    <a:latin typeface="Times New Roman" panose="02020603050405020304" pitchFamily="18" charset="0"/>
                    <a:cs typeface="Times New Roman" panose="02020603050405020304" pitchFamily="18" charset="0"/>
                  </a:rPr>
                  <a:t>，所以</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14:m>
                  <m:oMathPara xmlns:m="http://schemas.openxmlformats.org/officeDocument/2006/math">
                    <m:oMathParaPr>
                      <m:jc m:val="centerGroup"/>
                    </m:oMathParaPr>
                    <m:oMath xmlns:m="http://schemas.openxmlformats.org/officeDocument/2006/math">
                      <m:sSup>
                        <m:sSupPr>
                          <m:ctrlPr>
                            <a:rPr lang="en-US" altLang="zh-CN" sz="2000" i="1" dirty="0">
                              <a:latin typeface="Cambria Math" panose="02040503050406030204" pitchFamily="18" charset="0"/>
                              <a:cs typeface="Times New Roman" panose="02020603050405020304" pitchFamily="18" charset="0"/>
                            </a:rPr>
                          </m:ctrlPr>
                        </m:sSupPr>
                        <m:e>
                          <m:r>
                            <a:rPr lang="en-US" altLang="zh-CN" sz="2000" i="1" dirty="0">
                              <a:latin typeface="Cambria Math" panose="02040503050406030204" pitchFamily="18" charset="0"/>
                              <a:cs typeface="Times New Roman" panose="02020603050405020304" pitchFamily="18" charset="0"/>
                            </a:rPr>
                            <m:t>1−</m:t>
                          </m:r>
                          <m:d>
                            <m:dPr>
                              <m:begChr m:val="["/>
                              <m:endChr m:val="]"/>
                              <m:ctrlPr>
                                <a:rPr lang="en-US" altLang="zh-CN" sz="2000" i="1" dirty="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1−1/</m:t>
                              </m:r>
                              <m:r>
                                <a:rPr lang="en-US" altLang="zh-CN" sz="2000" i="1" dirty="0">
                                  <a:latin typeface="Cambria Math" panose="02040503050406030204" pitchFamily="18" charset="0"/>
                                  <a:cs typeface="Times New Roman" panose="02020603050405020304" pitchFamily="18" charset="0"/>
                                </a:rPr>
                                <m:t>𝑛</m:t>
                              </m:r>
                            </m:e>
                          </m:d>
                        </m:e>
                        <m:sup>
                          <m:r>
                            <a:rPr lang="en-US" altLang="zh-CN" sz="2000" i="1" dirty="0">
                              <a:latin typeface="Cambria Math" panose="02040503050406030204" pitchFamily="18" charset="0"/>
                              <a:cs typeface="Times New Roman" panose="02020603050405020304" pitchFamily="18" charset="0"/>
                            </a:rPr>
                            <m:t>𝑘</m:t>
                          </m:r>
                        </m:sup>
                      </m:sSup>
                      <m:r>
                        <a:rPr lang="en-US" altLang="zh-CN" sz="2000" i="1" dirty="0" smtClean="0">
                          <a:latin typeface="Cambria Math" panose="02040503050406030204" pitchFamily="18" charset="0"/>
                          <a:cs typeface="Times New Roman" panose="02020603050405020304" pitchFamily="18" charset="0"/>
                        </a:rPr>
                        <m:t>≈1−[1− </m:t>
                      </m:r>
                      <m:r>
                        <a:rPr lang="en-US" altLang="zh-CN" sz="2000" i="1" dirty="0" smtClean="0">
                          <a:latin typeface="Cambria Math" panose="02040503050406030204" pitchFamily="18" charset="0"/>
                          <a:cs typeface="Times New Roman" panose="02020603050405020304" pitchFamily="18" charset="0"/>
                        </a:rPr>
                        <m:t>𝑘</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𝑛</m:t>
                      </m:r>
                      <m:r>
                        <a:rPr lang="en-US" altLang="zh-CN" sz="2000" i="1"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𝑘</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𝑛</m:t>
                      </m:r>
                    </m:oMath>
                  </m:oMathPara>
                </a14:m>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若使上述概率等于</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0.5</m:t>
                    </m:r>
                  </m:oMath>
                </a14:m>
                <a:r>
                  <a:rPr lang="zh-CN" altLang="en-US" sz="2000" b="0" dirty="0">
                    <a:latin typeface="Cambria Math" panose="02040503050406030204" pitchFamily="18" charset="0"/>
                    <a:cs typeface="Times New Roman" panose="02020603050405020304" pitchFamily="18" charset="0"/>
                  </a:rPr>
                  <a:t>，则</a:t>
                </a:r>
                <a14:m>
                  <m:oMath xmlns:m="http://schemas.openxmlformats.org/officeDocument/2006/math">
                    <m:r>
                      <a:rPr lang="en-US" altLang="zh-CN" sz="2000" b="0" i="0" dirty="0" smtClean="0">
                        <a:solidFill>
                          <a:srgbClr val="0000FF"/>
                        </a:solidFill>
                        <a:latin typeface="Cambria Math" panose="02040503050406030204" pitchFamily="18" charset="0"/>
                        <a:cs typeface="Times New Roman" panose="02020603050405020304" pitchFamily="18" charset="0"/>
                      </a:rPr>
                      <m:t> </m:t>
                    </m:r>
                    <m:r>
                      <a:rPr lang="en-US" altLang="zh-CN" sz="2000" i="1" dirty="0">
                        <a:solidFill>
                          <a:srgbClr val="0000FF"/>
                        </a:solidFill>
                        <a:latin typeface="Cambria Math" panose="02040503050406030204" pitchFamily="18" charset="0"/>
                        <a:cs typeface="Times New Roman" panose="02020603050405020304" pitchFamily="18" charset="0"/>
                      </a:rPr>
                      <m:t>𝑘</m:t>
                    </m:r>
                    <m:r>
                      <a:rPr lang="en-US" altLang="zh-CN" sz="2000" i="1" dirty="0">
                        <a:solidFill>
                          <a:srgbClr val="0000FF"/>
                        </a:solidFill>
                        <a:latin typeface="Cambria Math" panose="02040503050406030204" pitchFamily="18" charset="0"/>
                        <a:cs typeface="Times New Roman" panose="02020603050405020304" pitchFamily="18" charset="0"/>
                      </a:rPr>
                      <m:t>=</m:t>
                    </m:r>
                    <m:r>
                      <a:rPr lang="en-US" altLang="zh-CN" sz="2000" i="1" dirty="0">
                        <a:solidFill>
                          <a:srgbClr val="0000FF"/>
                        </a:solidFill>
                        <a:latin typeface="Cambria Math" panose="02040503050406030204" pitchFamily="18" charset="0"/>
                        <a:cs typeface="Times New Roman" panose="02020603050405020304" pitchFamily="18" charset="0"/>
                      </a:rPr>
                      <m:t>𝑛</m:t>
                    </m:r>
                    <m:r>
                      <a:rPr lang="en-US" altLang="zh-CN" sz="2000" i="1" dirty="0">
                        <a:solidFill>
                          <a:srgbClr val="0000FF"/>
                        </a:solidFill>
                        <a:latin typeface="Cambria Math" panose="02040503050406030204" pitchFamily="18" charset="0"/>
                        <a:cs typeface="Times New Roman" panose="02020603050405020304" pitchFamily="18" charset="0"/>
                      </a:rPr>
                      <m:t>/2</m:t>
                    </m:r>
                  </m:oMath>
                </a14:m>
                <a:r>
                  <a:rPr lang="zh-CN" altLang="en-US" dirty="0"/>
                  <a:t>；</a:t>
                </a:r>
                <a:endParaRPr lang="en-US" altLang="zh-CN" dirty="0">
                  <a:latin typeface="Cambria Math" panose="02040503050406030204" pitchFamily="18" charset="0"/>
                </a:endParaRPr>
              </a:p>
              <a:p>
                <a:pPr marL="457200" indent="-4572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𝐻</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的输出为</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𝑚</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比特，即</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𝑛</m:t>
                    </m:r>
                    <m:r>
                      <a:rPr lang="en-US" altLang="zh-CN" sz="2000" i="1" dirty="0" smtClean="0">
                        <a:latin typeface="Cambria Math" panose="02040503050406030204" pitchFamily="18" charset="0"/>
                        <a:cs typeface="Times New Roman" panose="02020603050405020304" pitchFamily="18" charset="0"/>
                      </a:rPr>
                      <m:t>=</m:t>
                    </m:r>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i="1" dirty="0" smtClean="0">
                            <a:latin typeface="Cambria Math" panose="02040503050406030204" pitchFamily="18" charset="0"/>
                            <a:cs typeface="Times New Roman" panose="02020603050405020304" pitchFamily="18" charset="0"/>
                          </a:rPr>
                          <m:t>2</m:t>
                        </m:r>
                      </m:e>
                      <m:sup>
                        <m:r>
                          <a:rPr lang="en-US" altLang="zh-CN" sz="2000" i="1" dirty="0" smtClean="0">
                            <a:latin typeface="Cambria Math" panose="02040503050406030204" pitchFamily="18" charset="0"/>
                            <a:cs typeface="Times New Roman" panose="02020603050405020304" pitchFamily="18" charset="0"/>
                          </a:rPr>
                          <m:t>𝑚</m:t>
                        </m:r>
                      </m:sup>
                    </m:sSup>
                  </m:oMath>
                </a14:m>
                <a:r>
                  <a:rPr lang="zh-CN" altLang="en-US" sz="2000" dirty="0">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则</a:t>
                </a:r>
                <a14:m>
                  <m:oMath xmlns:m="http://schemas.openxmlformats.org/officeDocument/2006/math">
                    <m:r>
                      <a:rPr lang="en-US" altLang="zh-CN" sz="2000" b="0" i="0" dirty="0" smtClean="0">
                        <a:solidFill>
                          <a:srgbClr val="0000FF"/>
                        </a:solidFill>
                        <a:latin typeface="Cambria Math" panose="02040503050406030204" pitchFamily="18" charset="0"/>
                        <a:cs typeface="Times New Roman" panose="02020603050405020304" pitchFamily="18" charset="0"/>
                      </a:rPr>
                      <m:t> </m:t>
                    </m:r>
                    <m:r>
                      <a:rPr lang="en-US" altLang="zh-CN" sz="2000" i="1" dirty="0" smtClean="0">
                        <a:solidFill>
                          <a:srgbClr val="0000FF"/>
                        </a:solidFill>
                        <a:latin typeface="Cambria Math" panose="02040503050406030204" pitchFamily="18" charset="0"/>
                        <a:cs typeface="Times New Roman" panose="02020603050405020304" pitchFamily="18" charset="0"/>
                      </a:rPr>
                      <m:t>𝑘</m:t>
                    </m:r>
                    <m:r>
                      <a:rPr lang="en-US" altLang="zh-CN" sz="2000" i="1" dirty="0" smtClean="0">
                        <a:solidFill>
                          <a:srgbClr val="0000FF"/>
                        </a:solidFill>
                        <a:latin typeface="Cambria Math" panose="02040503050406030204" pitchFamily="18" charset="0"/>
                        <a:cs typeface="Times New Roman" panose="02020603050405020304" pitchFamily="18" charset="0"/>
                      </a:rPr>
                      <m:t>=</m:t>
                    </m:r>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2</m:t>
                        </m:r>
                      </m:e>
                      <m:sup>
                        <m:r>
                          <a:rPr lang="en-US" altLang="zh-CN" sz="2000" i="1" dirty="0">
                            <a:solidFill>
                              <a:srgbClr val="0000FF"/>
                            </a:solidFill>
                            <a:latin typeface="Cambria Math" panose="02040503050406030204" pitchFamily="18" charset="0"/>
                            <a:cs typeface="Times New Roman" panose="02020603050405020304" pitchFamily="18" charset="0"/>
                          </a:rPr>
                          <m:t>𝑚</m:t>
                        </m:r>
                        <m:r>
                          <a:rPr lang="en-US" altLang="zh-CN" sz="2000" i="1" dirty="0">
                            <a:solidFill>
                              <a:srgbClr val="0000FF"/>
                            </a:solidFill>
                            <a:latin typeface="Cambria Math" panose="02040503050406030204" pitchFamily="18" charset="0"/>
                            <a:cs typeface="Times New Roman" panose="02020603050405020304" pitchFamily="18" charset="0"/>
                          </a:rPr>
                          <m:t>−1</m:t>
                        </m:r>
                      </m:sup>
                    </m:sSup>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312517" y="1129465"/>
                <a:ext cx="8479945" cy="5151603"/>
              </a:xfrm>
              <a:prstGeom prst="rect">
                <a:avLst/>
              </a:prstGeom>
              <a:blipFill rotWithShape="0">
                <a:blip r:embed="rId3"/>
                <a:stretch>
                  <a:fillRect l="-719" r="-3738" b="-5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45107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35</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b="1" dirty="0">
                <a:solidFill>
                  <a:srgbClr val="FF0000"/>
                </a:solidFill>
                <a:latin typeface="Times New Roman" panose="02020603050405020304" pitchFamily="18" charset="0"/>
                <a:cs typeface="Times New Roman" panose="02020603050405020304" pitchFamily="18" charset="0"/>
              </a:rPr>
              <a:t>第二类生日问题 </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生日悖论</a:t>
            </a:r>
            <a:r>
              <a:rPr lang="en-US" altLang="zh-CN" sz="2400" b="1" dirty="0">
                <a:solidFill>
                  <a:srgbClr val="FF0000"/>
                </a:solidFill>
                <a:latin typeface="Times New Roman" panose="02020603050405020304" pitchFamily="18" charset="0"/>
                <a:cs typeface="Times New Roman" panose="02020603050405020304" pitchFamily="18" charset="0"/>
              </a:rPr>
              <a:t>)</a:t>
            </a:r>
            <a:endParaRPr lang="zh-CN" altLang="en-US" sz="2400" b="1" dirty="0">
              <a:solidFill>
                <a:srgbClr val="FF0000"/>
              </a:solidFill>
              <a:latin typeface="+mn-ea"/>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576015"/>
                <a:ext cx="8479945" cy="4858510"/>
              </a:xfrm>
              <a:prstGeom prst="rect">
                <a:avLst/>
              </a:prstGeom>
              <a:noFill/>
            </p:spPr>
            <p:txBody>
              <a:bodyPr wrap="square" rtlCol="0">
                <a:spAutoFit/>
              </a:bodyPr>
              <a:lstStyle/>
              <a:p>
                <a:pPr algn="just">
                  <a:lnSpc>
                    <a:spcPct val="120000"/>
                  </a:lnSpc>
                  <a:spcBef>
                    <a:spcPts val="600"/>
                  </a:spcBef>
                </a:pPr>
                <a:r>
                  <a:rPr lang="zh-CN" altLang="en-US" sz="2000" dirty="0">
                    <a:solidFill>
                      <a:prstClr val="black"/>
                    </a:solidFill>
                    <a:latin typeface="Times New Roman" panose="02020603050405020304" pitchFamily="18" charset="0"/>
                    <a:cs typeface="Times New Roman" panose="02020603050405020304" pitchFamily="18" charset="0"/>
                  </a:rPr>
                  <a:t>在一个房间里，至少需要多少人，才可以找到两个人的生日为同一天的概率大于</a:t>
                </a:r>
                <a14:m>
                  <m:oMath xmlns:m="http://schemas.openxmlformats.org/officeDocument/2006/math">
                    <m:r>
                      <a:rPr lang="en-US" altLang="zh-CN" sz="2000" i="1" dirty="0">
                        <a:solidFill>
                          <a:prstClr val="black"/>
                        </a:solidFill>
                        <a:latin typeface="Cambria Math" panose="02040503050406030204" pitchFamily="18" charset="0"/>
                        <a:cs typeface="Times New Roman" panose="02020603050405020304" pitchFamily="18" charset="0"/>
                      </a:rPr>
                      <m:t>1/2</m:t>
                    </m:r>
                  </m:oMath>
                </a14:m>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solidFill>
                    <a:prstClr val="black"/>
                  </a:solidFill>
                  <a:latin typeface="Times New Roman" panose="02020603050405020304" pitchFamily="18" charset="0"/>
                  <a:cs typeface="Times New Roman" panose="02020603050405020304" pitchFamily="18" charset="0"/>
                </a:endParaRPr>
              </a:p>
              <a:p>
                <a:pPr algn="just">
                  <a:lnSpc>
                    <a:spcPct val="120000"/>
                  </a:lnSpc>
                  <a:spcBef>
                    <a:spcPts val="600"/>
                  </a:spcBef>
                </a:pPr>
                <a:r>
                  <a:rPr lang="zh-CN" altLang="en-US" sz="2000" dirty="0">
                    <a:solidFill>
                      <a:srgbClr val="0000FF"/>
                    </a:solidFill>
                    <a:latin typeface="Times New Roman" panose="02020603050405020304" pitchFamily="18" charset="0"/>
                    <a:cs typeface="Times New Roman" panose="02020603050405020304" pitchFamily="18" charset="0"/>
                  </a:rPr>
                  <a:t>解：</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solidFill>
                      <a:prstClr val="black"/>
                    </a:solidFill>
                    <a:latin typeface="Times New Roman" panose="02020603050405020304" pitchFamily="18" charset="0"/>
                    <a:cs typeface="Times New Roman" panose="02020603050405020304" pitchFamily="18" charset="0"/>
                  </a:rPr>
                  <a:t>房间里有</a:t>
                </a:r>
                <a:r>
                  <a:rPr lang="en-US" altLang="zh-CN" sz="2000" dirty="0">
                    <a:solidFill>
                      <a:prstClr val="black"/>
                    </a:solidFill>
                    <a:latin typeface="Times New Roman" panose="02020603050405020304" pitchFamily="18" charset="0"/>
                    <a:cs typeface="Times New Roman" panose="02020603050405020304" pitchFamily="18" charset="0"/>
                  </a:rPr>
                  <a:t> 2 </a:t>
                </a:r>
                <a:r>
                  <a:rPr lang="zh-CN" altLang="en-US" sz="2000" dirty="0">
                    <a:solidFill>
                      <a:prstClr val="black"/>
                    </a:solidFill>
                    <a:latin typeface="Times New Roman" panose="02020603050405020304" pitchFamily="18" charset="0"/>
                    <a:cs typeface="Times New Roman" panose="02020603050405020304" pitchFamily="18" charset="0"/>
                  </a:rPr>
                  <a:t>个人时，第二个人的生日与第一个人不为同一天的概率为</a:t>
                </a:r>
                <a14:m>
                  <m:oMath xmlns:m="http://schemas.openxmlformats.org/officeDocument/2006/math">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b="0" i="1" dirty="0" smtClean="0">
                            <a:latin typeface="Cambria Math" panose="02040503050406030204" pitchFamily="18" charset="0"/>
                            <a:cs typeface="Times New Roman" panose="02020603050405020304" pitchFamily="18" charset="0"/>
                          </a:rPr>
                          <m:t>364</m:t>
                        </m:r>
                      </m:num>
                      <m:den>
                        <m:r>
                          <a:rPr lang="en-US" altLang="zh-CN" sz="2000" i="1" dirty="0" smtClean="0">
                            <a:latin typeface="Cambria Math" panose="02040503050406030204" pitchFamily="18" charset="0"/>
                            <a:cs typeface="Times New Roman" panose="02020603050405020304" pitchFamily="18" charset="0"/>
                          </a:rPr>
                          <m:t>365</m:t>
                        </m:r>
                      </m:den>
                    </m:f>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solidFill>
                      <a:prstClr val="black"/>
                    </a:solidFill>
                    <a:latin typeface="Times New Roman" panose="02020603050405020304" pitchFamily="18" charset="0"/>
                    <a:cs typeface="Times New Roman" panose="02020603050405020304" pitchFamily="18" charset="0"/>
                  </a:rPr>
                  <a:t>房间里有</a:t>
                </a:r>
                <a:r>
                  <a:rPr lang="en-US" altLang="zh-CN" sz="2000" dirty="0">
                    <a:solidFill>
                      <a:prstClr val="black"/>
                    </a:solidFill>
                    <a:latin typeface="Times New Roman" panose="02020603050405020304" pitchFamily="18" charset="0"/>
                    <a:cs typeface="Times New Roman" panose="02020603050405020304" pitchFamily="18" charset="0"/>
                  </a:rPr>
                  <a:t> 3 </a:t>
                </a:r>
                <a:r>
                  <a:rPr lang="zh-CN" altLang="en-US" sz="2000" dirty="0">
                    <a:solidFill>
                      <a:prstClr val="black"/>
                    </a:solidFill>
                    <a:latin typeface="Times New Roman" panose="02020603050405020304" pitchFamily="18" charset="0"/>
                    <a:cs typeface="Times New Roman" panose="02020603050405020304" pitchFamily="18" charset="0"/>
                  </a:rPr>
                  <a:t>个人时，第三个人的生日与前两个人不为同一天的概率为</a:t>
                </a:r>
                <a14:m>
                  <m:oMath xmlns:m="http://schemas.openxmlformats.org/officeDocument/2006/math">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b="0" i="1" dirty="0" smtClean="0">
                            <a:latin typeface="Cambria Math" panose="02040503050406030204" pitchFamily="18" charset="0"/>
                            <a:cs typeface="Times New Roman" panose="02020603050405020304" pitchFamily="18" charset="0"/>
                          </a:rPr>
                          <m:t>363</m:t>
                        </m:r>
                      </m:num>
                      <m:den>
                        <m:r>
                          <a:rPr lang="en-US" altLang="zh-CN" sz="2000" i="1" dirty="0" smtClean="0">
                            <a:latin typeface="Cambria Math" panose="02040503050406030204" pitchFamily="18" charset="0"/>
                            <a:cs typeface="Times New Roman" panose="02020603050405020304" pitchFamily="18" charset="0"/>
                          </a:rPr>
                          <m:t>365</m:t>
                        </m:r>
                      </m:den>
                    </m:f>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以此类推</a:t>
                </a:r>
                <a:r>
                  <a:rPr lang="en-US" altLang="zh-CN" sz="2000" dirty="0">
                    <a:latin typeface="Times New Roman" panose="02020603050405020304" pitchFamily="18" charset="0"/>
                    <a:cs typeface="Times New Roman" panose="02020603050405020304" pitchFamily="18" charset="0"/>
                  </a:rPr>
                  <a:t>…</a:t>
                </a:r>
              </a:p>
              <a:p>
                <a:pPr marL="342900" indent="-342900" algn="just">
                  <a:lnSpc>
                    <a:spcPct val="120000"/>
                  </a:lnSpc>
                  <a:spcBef>
                    <a:spcPts val="600"/>
                  </a:spcBef>
                  <a:buFont typeface="Wingdings" panose="05000000000000000000" pitchFamily="2" charset="2"/>
                  <a:buChar char="l"/>
                </a:pPr>
                <a:r>
                  <a:rPr lang="zh-CN" altLang="en-US" sz="2000" dirty="0">
                    <a:solidFill>
                      <a:prstClr val="black"/>
                    </a:solidFill>
                    <a:latin typeface="Times New Roman" panose="02020603050405020304" pitchFamily="18" charset="0"/>
                    <a:cs typeface="Times New Roman" panose="02020603050405020304" pitchFamily="18" charset="0"/>
                  </a:rPr>
                  <a:t>房间里有</a:t>
                </a:r>
                <a:r>
                  <a:rPr lang="en-US" altLang="zh-CN" sz="200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𝑚</m:t>
                    </m:r>
                    <m:r>
                      <a:rPr lang="en-US" altLang="zh-CN" sz="2000" i="1" dirty="0">
                        <a:latin typeface="Cambria Math" panose="02040503050406030204" pitchFamily="18" charset="0"/>
                        <a:cs typeface="Times New Roman" panose="02020603050405020304" pitchFamily="18" charset="0"/>
                      </a:rPr>
                      <m:t>−1 </m:t>
                    </m:r>
                  </m:oMath>
                </a14:m>
                <a:r>
                  <a:rPr lang="zh-CN" altLang="en-US" sz="2000" dirty="0">
                    <a:latin typeface="Times New Roman" panose="02020603050405020304" pitchFamily="18" charset="0"/>
                    <a:cs typeface="Times New Roman" panose="02020603050405020304" pitchFamily="18" charset="0"/>
                  </a:rPr>
                  <a:t>个人</a:t>
                </a:r>
                <a:r>
                  <a:rPr lang="zh-CN" altLang="en-US" sz="2000" dirty="0">
                    <a:solidFill>
                      <a:prstClr val="black"/>
                    </a:solidFill>
                    <a:latin typeface="Times New Roman" panose="02020603050405020304" pitchFamily="18" charset="0"/>
                    <a:cs typeface="Times New Roman" panose="02020603050405020304" pitchFamily="18" charset="0"/>
                  </a:rPr>
                  <a:t>时</a:t>
                </a:r>
                <a:r>
                  <a:rPr lang="zh-CN" altLang="en-US" sz="2000" dirty="0">
                    <a:latin typeface="Times New Roman" panose="02020603050405020304" pitchFamily="18" charset="0"/>
                    <a:cs typeface="Times New Roman" panose="02020603050405020304" pitchFamily="18" charset="0"/>
                  </a:rPr>
                  <a:t>，没有两人生日相同的概率</a:t>
                </a:r>
                <a:r>
                  <a:rPr lang="zh-CN" altLang="en-US" sz="2000" dirty="0">
                    <a:solidFill>
                      <a:prstClr val="black"/>
                    </a:solidFill>
                    <a:latin typeface="Times New Roman" panose="02020603050405020304" pitchFamily="18" charset="0"/>
                    <a:cs typeface="Times New Roman" panose="02020603050405020304" pitchFamily="18" charset="0"/>
                  </a:rPr>
                  <a:t>为</a:t>
                </a:r>
                <a:endParaRPr lang="en-US" altLang="zh-CN" sz="2000" dirty="0">
                  <a:latin typeface="Times New Roman" panose="02020603050405020304" pitchFamily="18" charset="0"/>
                  <a:cs typeface="Times New Roman" panose="02020603050405020304" pitchFamily="18" charset="0"/>
                </a:endParaRPr>
              </a:p>
              <a:p>
                <a:pPr lvl="1" algn="just">
                  <a:lnSpc>
                    <a:spcPct val="120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00FF"/>
                              </a:solidFill>
                              <a:latin typeface="Cambria Math" panose="02040503050406030204" pitchFamily="18" charset="0"/>
                              <a:cs typeface="Times New Roman" panose="02020603050405020304" pitchFamily="18" charset="0"/>
                            </a:rPr>
                          </m:ctrlPr>
                        </m:sSubPr>
                        <m:e>
                          <m:r>
                            <a:rPr lang="en-US" altLang="zh-CN" sz="2000" b="0" i="1" smtClean="0">
                              <a:solidFill>
                                <a:srgbClr val="0000FF"/>
                              </a:solidFill>
                              <a:latin typeface="Cambria Math" panose="02040503050406030204" pitchFamily="18" charset="0"/>
                              <a:cs typeface="Times New Roman" panose="02020603050405020304" pitchFamily="18" charset="0"/>
                            </a:rPr>
                            <m:t>𝑃</m:t>
                          </m:r>
                        </m:e>
                        <m:sub>
                          <m:r>
                            <a:rPr lang="en-US" altLang="zh-CN" sz="2000" b="0" i="1" smtClean="0">
                              <a:solidFill>
                                <a:srgbClr val="0000FF"/>
                              </a:solidFill>
                              <a:latin typeface="Cambria Math" panose="02040503050406030204" pitchFamily="18" charset="0"/>
                              <a:cs typeface="Times New Roman" panose="02020603050405020304" pitchFamily="18" charset="0"/>
                            </a:rPr>
                            <m:t>𝑚</m:t>
                          </m:r>
                        </m:sub>
                      </m:sSub>
                      <m:r>
                        <a:rPr lang="en-US" altLang="zh-CN" sz="2000" b="0" i="1" smtClean="0">
                          <a:solidFill>
                            <a:srgbClr val="0000FF"/>
                          </a:solidFill>
                          <a:latin typeface="Cambria Math" panose="02040503050406030204" pitchFamily="18" charset="0"/>
                          <a:cs typeface="Times New Roman" panose="02020603050405020304" pitchFamily="18" charset="0"/>
                        </a:rPr>
                        <m:t>=</m:t>
                      </m:r>
                      <m:f>
                        <m:fPr>
                          <m:ctrlPr>
                            <a:rPr lang="en-US" altLang="zh-CN" sz="2000" i="1">
                              <a:solidFill>
                                <a:srgbClr val="0000FF"/>
                              </a:solidFill>
                              <a:latin typeface="Cambria Math" panose="02040503050406030204" pitchFamily="18" charset="0"/>
                              <a:cs typeface="Times New Roman" panose="02020603050405020304" pitchFamily="18" charset="0"/>
                            </a:rPr>
                          </m:ctrlPr>
                        </m:fPr>
                        <m:num>
                          <m:r>
                            <a:rPr lang="en-US" altLang="zh-CN" sz="2000" i="1">
                              <a:solidFill>
                                <a:srgbClr val="0000FF"/>
                              </a:solidFill>
                              <a:latin typeface="Cambria Math" panose="02040503050406030204" pitchFamily="18" charset="0"/>
                              <a:cs typeface="Times New Roman" panose="02020603050405020304" pitchFamily="18" charset="0"/>
                            </a:rPr>
                            <m:t>36</m:t>
                          </m:r>
                          <m:r>
                            <a:rPr lang="en-US" altLang="zh-CN" sz="2000" b="0" i="1" smtClean="0">
                              <a:solidFill>
                                <a:srgbClr val="0000FF"/>
                              </a:solidFill>
                              <a:latin typeface="Cambria Math" panose="02040503050406030204" pitchFamily="18" charset="0"/>
                              <a:cs typeface="Times New Roman" panose="02020603050405020304" pitchFamily="18" charset="0"/>
                            </a:rPr>
                            <m:t>5</m:t>
                          </m:r>
                        </m:num>
                        <m:den>
                          <m:r>
                            <a:rPr lang="en-US" altLang="zh-CN" sz="2000" i="1">
                              <a:solidFill>
                                <a:srgbClr val="0000FF"/>
                              </a:solidFill>
                              <a:latin typeface="Cambria Math" panose="02040503050406030204" pitchFamily="18" charset="0"/>
                              <a:cs typeface="Times New Roman" panose="02020603050405020304" pitchFamily="18" charset="0"/>
                            </a:rPr>
                            <m:t>365</m:t>
                          </m:r>
                        </m:den>
                      </m:f>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solidFill>
                                <a:srgbClr val="0000FF"/>
                              </a:solidFill>
                              <a:latin typeface="Cambria Math" panose="02040503050406030204" pitchFamily="18" charset="0"/>
                              <a:cs typeface="Times New Roman" panose="02020603050405020304" pitchFamily="18" charset="0"/>
                            </a:rPr>
                          </m:ctrlPr>
                        </m:fPr>
                        <m:num>
                          <m:r>
                            <a:rPr lang="en-US" altLang="zh-CN" sz="2000" i="1">
                              <a:solidFill>
                                <a:srgbClr val="0000FF"/>
                              </a:solidFill>
                              <a:latin typeface="Cambria Math" panose="02040503050406030204" pitchFamily="18" charset="0"/>
                              <a:cs typeface="Times New Roman" panose="02020603050405020304" pitchFamily="18" charset="0"/>
                            </a:rPr>
                            <m:t>36</m:t>
                          </m:r>
                          <m:r>
                            <a:rPr lang="en-US" altLang="zh-CN" sz="2000" b="0" i="1" smtClean="0">
                              <a:solidFill>
                                <a:srgbClr val="0000FF"/>
                              </a:solidFill>
                              <a:latin typeface="Cambria Math" panose="02040503050406030204" pitchFamily="18" charset="0"/>
                              <a:cs typeface="Times New Roman" panose="02020603050405020304" pitchFamily="18" charset="0"/>
                            </a:rPr>
                            <m:t>4</m:t>
                          </m:r>
                        </m:num>
                        <m:den>
                          <m:r>
                            <a:rPr lang="en-US" altLang="zh-CN" sz="2000" i="1">
                              <a:solidFill>
                                <a:srgbClr val="0000FF"/>
                              </a:solidFill>
                              <a:latin typeface="Cambria Math" panose="02040503050406030204" pitchFamily="18" charset="0"/>
                              <a:cs typeface="Times New Roman" panose="02020603050405020304" pitchFamily="18" charset="0"/>
                            </a:rPr>
                            <m:t>365</m:t>
                          </m:r>
                        </m:den>
                      </m:f>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solidFill>
                                <a:srgbClr val="0000FF"/>
                              </a:solidFill>
                              <a:latin typeface="Cambria Math" panose="02040503050406030204" pitchFamily="18" charset="0"/>
                              <a:cs typeface="Times New Roman" panose="02020603050405020304" pitchFamily="18" charset="0"/>
                            </a:rPr>
                          </m:ctrlPr>
                        </m:fPr>
                        <m:num>
                          <m:r>
                            <a:rPr lang="en-US" altLang="zh-CN" sz="2000" i="1">
                              <a:solidFill>
                                <a:srgbClr val="0000FF"/>
                              </a:solidFill>
                              <a:latin typeface="Cambria Math" panose="02040503050406030204" pitchFamily="18" charset="0"/>
                              <a:cs typeface="Times New Roman" panose="02020603050405020304" pitchFamily="18" charset="0"/>
                            </a:rPr>
                            <m:t>36</m:t>
                          </m:r>
                          <m:r>
                            <a:rPr lang="en-US" altLang="zh-CN" sz="2000" b="0" i="1" smtClean="0">
                              <a:solidFill>
                                <a:srgbClr val="0000FF"/>
                              </a:solidFill>
                              <a:latin typeface="Cambria Math" panose="02040503050406030204" pitchFamily="18" charset="0"/>
                              <a:cs typeface="Times New Roman" panose="02020603050405020304" pitchFamily="18" charset="0"/>
                            </a:rPr>
                            <m:t>3</m:t>
                          </m:r>
                        </m:num>
                        <m:den>
                          <m:r>
                            <a:rPr lang="en-US" altLang="zh-CN" sz="2000" i="1">
                              <a:solidFill>
                                <a:srgbClr val="0000FF"/>
                              </a:solidFill>
                              <a:latin typeface="Cambria Math" panose="02040503050406030204" pitchFamily="18" charset="0"/>
                              <a:cs typeface="Times New Roman" panose="02020603050405020304" pitchFamily="18" charset="0"/>
                            </a:rPr>
                            <m:t>365</m:t>
                          </m:r>
                        </m:den>
                      </m:f>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b="0" i="1" smtClean="0">
                              <a:solidFill>
                                <a:srgbClr val="0000FF"/>
                              </a:solidFill>
                              <a:latin typeface="Cambria Math" panose="02040503050406030204" pitchFamily="18" charset="0"/>
                              <a:cs typeface="Times New Roman" panose="02020603050405020304" pitchFamily="18" charset="0"/>
                            </a:rPr>
                          </m:ctrlPr>
                        </m:fPr>
                        <m:num>
                          <m:r>
                            <a:rPr lang="en-US" altLang="zh-CN" sz="2000" b="0" i="1" smtClean="0">
                              <a:solidFill>
                                <a:srgbClr val="0000FF"/>
                              </a:solidFill>
                              <a:latin typeface="Cambria Math" panose="02040503050406030204" pitchFamily="18" charset="0"/>
                              <a:cs typeface="Times New Roman" panose="02020603050405020304" pitchFamily="18" charset="0"/>
                            </a:rPr>
                            <m:t>365−</m:t>
                          </m:r>
                          <m:r>
                            <a:rPr lang="en-US" altLang="zh-CN" sz="2000" b="0" i="1" smtClean="0">
                              <a:solidFill>
                                <a:srgbClr val="0000FF"/>
                              </a:solidFill>
                              <a:latin typeface="Cambria Math" panose="02040503050406030204" pitchFamily="18" charset="0"/>
                              <a:cs typeface="Times New Roman" panose="02020603050405020304" pitchFamily="18" charset="0"/>
                            </a:rPr>
                            <m:t>𝑚</m:t>
                          </m:r>
                          <m:r>
                            <a:rPr lang="en-US" altLang="zh-CN" sz="2000" b="0" i="1" smtClean="0">
                              <a:solidFill>
                                <a:srgbClr val="0000FF"/>
                              </a:solidFill>
                              <a:latin typeface="Cambria Math" panose="02040503050406030204" pitchFamily="18" charset="0"/>
                              <a:cs typeface="Times New Roman" panose="02020603050405020304" pitchFamily="18" charset="0"/>
                            </a:rPr>
                            <m:t>+1</m:t>
                          </m:r>
                        </m:num>
                        <m:den>
                          <m:r>
                            <a:rPr lang="en-US" altLang="zh-CN" sz="2000" b="0" i="1" smtClean="0">
                              <a:solidFill>
                                <a:srgbClr val="0000FF"/>
                              </a:solidFill>
                              <a:latin typeface="Cambria Math" panose="02040503050406030204" pitchFamily="18" charset="0"/>
                              <a:cs typeface="Times New Roman" panose="02020603050405020304" pitchFamily="18" charset="0"/>
                            </a:rPr>
                            <m:t>365</m:t>
                          </m:r>
                        </m:den>
                      </m:f>
                    </m:oMath>
                  </m:oMathPara>
                </a14:m>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b="0" dirty="0">
                    <a:latin typeface="Times New Roman" panose="02020603050405020304" pitchFamily="18" charset="0"/>
                    <a:cs typeface="Times New Roman" panose="02020603050405020304" pitchFamily="18" charset="0"/>
                  </a:rPr>
                  <a:t>当</a:t>
                </a:r>
                <a14:m>
                  <m:oMath xmlns:m="http://schemas.openxmlformats.org/officeDocument/2006/math">
                    <m:r>
                      <a:rPr lang="en-US" altLang="zh-CN" sz="2000" b="0" i="0" smtClean="0">
                        <a:solidFill>
                          <a:srgbClr val="0000FF"/>
                        </a:solidFill>
                        <a:latin typeface="Cambria Math" panose="02040503050406030204" pitchFamily="18" charset="0"/>
                        <a:cs typeface="Times New Roman" panose="02020603050405020304" pitchFamily="18" charset="0"/>
                      </a:rPr>
                      <m:t> </m:t>
                    </m:r>
                    <m:r>
                      <a:rPr lang="en-US" altLang="zh-CN" sz="2000" b="0" i="1" smtClean="0">
                        <a:solidFill>
                          <a:srgbClr val="0000FF"/>
                        </a:solidFill>
                        <a:latin typeface="Cambria Math" panose="02040503050406030204" pitchFamily="18" charset="0"/>
                        <a:cs typeface="Times New Roman" panose="02020603050405020304" pitchFamily="18" charset="0"/>
                      </a:rPr>
                      <m:t>𝑚</m:t>
                    </m:r>
                    <m:r>
                      <a:rPr lang="en-US" altLang="zh-CN" sz="20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≥23</m:t>
                    </m:r>
                  </m:oMath>
                </a14:m>
                <a:r>
                  <a:rPr lang="zh-CN" altLang="en-US" sz="2000" b="0" dirty="0">
                    <a:latin typeface="Times New Roman" panose="02020603050405020304" pitchFamily="18" charset="0"/>
                    <a:cs typeface="Times New Roman" panose="02020603050405020304" pitchFamily="18" charset="0"/>
                  </a:rPr>
                  <a:t>时，</a:t>
                </a:r>
                <a:r>
                  <a:rPr lang="zh-CN" altLang="en-US" sz="2000" dirty="0">
                    <a:latin typeface="Times New Roman" panose="02020603050405020304" pitchFamily="18" charset="0"/>
                    <a:cs typeface="Times New Roman" panose="02020603050405020304" pitchFamily="18" charset="0"/>
                  </a:rPr>
                  <a:t>上述</a:t>
                </a:r>
                <a:r>
                  <a:rPr lang="en-US" altLang="zh-CN" sz="2000" dirty="0">
                    <a:cs typeface="Times New Roman" panose="02020603050405020304" pitchFamily="18" charset="0"/>
                  </a:rPr>
                  <a:t> </a:t>
                </a:r>
                <a14:m>
                  <m:oMath xmlns:m="http://schemas.openxmlformats.org/officeDocument/2006/math">
                    <m:sSub>
                      <m:sSubPr>
                        <m:ctrlPr>
                          <a:rPr lang="en-US" altLang="zh-CN" sz="2000" i="1" dirty="0">
                            <a:latin typeface="Cambria Math" panose="02040503050406030204" pitchFamily="18" charset="0"/>
                            <a:cs typeface="Times New Roman" panose="02020603050405020304" pitchFamily="18" charset="0"/>
                          </a:rPr>
                        </m:ctrlPr>
                      </m:sSubPr>
                      <m:e>
                        <m:r>
                          <a:rPr lang="en-US" altLang="zh-CN" sz="2000" i="1" dirty="0">
                            <a:latin typeface="Cambria Math" panose="02040503050406030204" pitchFamily="18" charset="0"/>
                            <a:cs typeface="Times New Roman" panose="02020603050405020304" pitchFamily="18" charset="0"/>
                          </a:rPr>
                          <m:t>𝑃</m:t>
                        </m:r>
                      </m:e>
                      <m:sub>
                        <m:r>
                          <a:rPr lang="en-US" altLang="zh-CN" sz="2000" i="1" dirty="0">
                            <a:latin typeface="Cambria Math" panose="02040503050406030204" pitchFamily="18" charset="0"/>
                            <a:cs typeface="Times New Roman" panose="02020603050405020304" pitchFamily="18" charset="0"/>
                          </a:rPr>
                          <m:t>𝑚</m:t>
                        </m:r>
                      </m:sub>
                    </m:sSub>
                    <m:r>
                      <a:rPr lang="en-US" altLang="zh-CN" sz="2000" i="1" dirty="0" smtClean="0">
                        <a:latin typeface="Cambria Math" panose="02040503050406030204" pitchFamily="18" charset="0"/>
                        <a:ea typeface="Cambria Math" panose="02040503050406030204" pitchFamily="18" charset="0"/>
                        <a:cs typeface="Times New Roman" panose="02020603050405020304" pitchFamily="18" charset="0"/>
                      </a:rPr>
                      <m:t>&lt;</m:t>
                    </m:r>
                    <m:r>
                      <a:rPr lang="en-US" altLang="zh-CN" sz="2000" b="0" i="1" dirty="0" smtClean="0">
                        <a:latin typeface="Cambria Math" panose="02040503050406030204" pitchFamily="18" charset="0"/>
                        <a:ea typeface="Cambria Math" panose="02040503050406030204" pitchFamily="18" charset="0"/>
                        <a:cs typeface="Times New Roman" panose="02020603050405020304" pitchFamily="18" charset="0"/>
                      </a:rPr>
                      <m:t>1/2</m:t>
                    </m:r>
                  </m:oMath>
                </a14:m>
                <a:r>
                  <a:rPr lang="zh-CN" altLang="en-US" sz="2000" b="0" dirty="0">
                    <a:latin typeface="Times New Roman" panose="02020603050405020304" pitchFamily="18" charset="0"/>
                    <a:cs typeface="Times New Roman" panose="02020603050405020304" pitchFamily="18" charset="0"/>
                  </a:rPr>
                  <a:t>；即当</a:t>
                </a:r>
                <a:r>
                  <a:rPr lang="en-US" altLang="zh-CN" sz="2000" b="0" dirty="0">
                    <a:latin typeface="Times New Roman" panose="02020603050405020304" pitchFamily="18" charset="0"/>
                    <a:cs typeface="Times New Roman" panose="02020603050405020304" pitchFamily="18" charset="0"/>
                  </a:rPr>
                  <a:t>23</a:t>
                </a:r>
                <a:r>
                  <a:rPr lang="zh-CN" altLang="en-US" sz="2000" dirty="0">
                    <a:latin typeface="Times New Roman" panose="02020603050405020304" pitchFamily="18" charset="0"/>
                    <a:cs typeface="Times New Roman" panose="02020603050405020304" pitchFamily="18" charset="0"/>
                  </a:rPr>
                  <a:t>人在一起时，有相同的生日的概率大于</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576015"/>
                <a:ext cx="8479945" cy="4858510"/>
              </a:xfrm>
              <a:prstGeom prst="rect">
                <a:avLst/>
              </a:prstGeom>
              <a:blipFill>
                <a:blip r:embed="rId3"/>
                <a:stretch>
                  <a:fillRect l="-719" t="-125" r="-3810" b="-12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925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36</a:t>
            </a:fld>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94243" y="1239685"/>
                <a:ext cx="8479945" cy="5608267"/>
              </a:xfrm>
              <a:prstGeom prst="rect">
                <a:avLst/>
              </a:prstGeom>
              <a:noFill/>
            </p:spPr>
            <p:txBody>
              <a:bodyPr wrap="square" rtlCol="0">
                <a:spAutoFit/>
              </a:bodyPr>
              <a:lstStyle/>
              <a:p>
                <a:pPr algn="just">
                  <a:lnSpc>
                    <a:spcPct val="150000"/>
                  </a:lnSpc>
                  <a:spcBef>
                    <a:spcPts val="600"/>
                  </a:spcBef>
                </a:pPr>
                <a:r>
                  <a:rPr lang="zh-CN" altLang="en-US" sz="2000" b="1" dirty="0">
                    <a:solidFill>
                      <a:srgbClr val="0000FF"/>
                    </a:solidFill>
                    <a:latin typeface="+mn-ea"/>
                  </a:rPr>
                  <a:t>第二类生日攻击：</a:t>
                </a:r>
                <a:r>
                  <a:rPr lang="zh-CN" altLang="en-US" sz="2000" dirty="0">
                    <a:latin typeface="Times New Roman" panose="02020603050405020304" pitchFamily="18" charset="0"/>
                    <a:cs typeface="Times New Roman" panose="02020603050405020304" pitchFamily="18" charset="0"/>
                  </a:rPr>
                  <a:t>若文件</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𝑚</m:t>
                    </m:r>
                  </m:oMath>
                </a14:m>
                <a:r>
                  <a:rPr lang="zh-CN" altLang="en-US" sz="2000" dirty="0">
                    <a:latin typeface="Times New Roman" panose="02020603050405020304" pitchFamily="18" charset="0"/>
                    <a:cs typeface="Times New Roman" panose="02020603050405020304" pitchFamily="18" charset="0"/>
                  </a:rPr>
                  <a:t> 的哈希值</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b="0" i="1" dirty="0" smtClean="0">
                        <a:latin typeface="Cambria Math" panose="02040503050406030204" pitchFamily="18" charset="0"/>
                        <a:cs typeface="Times New Roman" panose="02020603050405020304" pitchFamily="18" charset="0"/>
                      </a:rPr>
                      <m:t>h</m:t>
                    </m:r>
                    <m:d>
                      <m:dPr>
                        <m:ctrlPr>
                          <a:rPr lang="en-US" altLang="zh-CN" sz="2000" i="1" dirty="0" smtClean="0">
                            <a:latin typeface="Cambria Math" panose="02040503050406030204" pitchFamily="18" charset="0"/>
                            <a:cs typeface="Times New Roman" panose="02020603050405020304" pitchFamily="18" charset="0"/>
                          </a:rPr>
                        </m:ctrlPr>
                      </m:dPr>
                      <m:e>
                        <m:r>
                          <a:rPr lang="en-US" altLang="zh-CN" sz="2000" i="1" dirty="0">
                            <a:latin typeface="Cambria Math" panose="02040503050406030204" pitchFamily="18" charset="0"/>
                            <a:cs typeface="Times New Roman" panose="02020603050405020304" pitchFamily="18" charset="0"/>
                          </a:rPr>
                          <m:t>𝑚</m:t>
                        </m:r>
                      </m:e>
                    </m:d>
                  </m:oMath>
                </a14:m>
                <a:r>
                  <a:rPr lang="zh-CN" altLang="en-US" sz="2000" dirty="0">
                    <a:latin typeface="Times New Roman" panose="02020603050405020304" pitchFamily="18" charset="0"/>
                    <a:cs typeface="Times New Roman" panose="02020603050405020304" pitchFamily="18" charset="0"/>
                  </a:rPr>
                  <a:t> 为 </a:t>
                </a:r>
                <a:r>
                  <a:rPr lang="en-US" altLang="zh-CN" sz="2000" dirty="0">
                    <a:latin typeface="Times New Roman" panose="02020603050405020304" pitchFamily="18" charset="0"/>
                    <a:cs typeface="Times New Roman" panose="02020603050405020304" pitchFamily="18" charset="0"/>
                  </a:rPr>
                  <a:t>32 bit</a:t>
                </a:r>
                <a:r>
                  <a:rPr lang="zh-CN" altLang="en-US" sz="2000" dirty="0">
                    <a:latin typeface="Times New Roman" panose="02020603050405020304" pitchFamily="18" charset="0"/>
                    <a:cs typeface="Times New Roman" panose="02020603050405020304" pitchFamily="18" charset="0"/>
                  </a:rPr>
                  <a:t>，至少需要多少文件，才可以找到两个文件的哈希值相同的概率大于</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pPr>
                <a:r>
                  <a:rPr lang="zh-CN" altLang="en-US" sz="2000" dirty="0">
                    <a:solidFill>
                      <a:srgbClr val="0000FF"/>
                    </a:solidFill>
                    <a:latin typeface="Times New Roman" panose="02020603050405020304" pitchFamily="18" charset="0"/>
                    <a:cs typeface="Times New Roman" panose="02020603050405020304" pitchFamily="18" charset="0"/>
                  </a:rPr>
                  <a:t>解：</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将</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365</m:t>
                    </m:r>
                  </m:oMath>
                </a14:m>
                <a:r>
                  <a:rPr lang="zh-CN" altLang="en-US" sz="2000" dirty="0">
                    <a:latin typeface="Times New Roman" panose="02020603050405020304" pitchFamily="18" charset="0"/>
                    <a:cs typeface="Times New Roman" panose="02020603050405020304" pitchFamily="18" charset="0"/>
                  </a:rPr>
                  <a:t>改为</a:t>
                </a:r>
                <a14:m>
                  <m:oMath xmlns:m="http://schemas.openxmlformats.org/officeDocument/2006/math">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i="1" dirty="0" smtClean="0">
                            <a:latin typeface="Cambria Math" panose="02040503050406030204" pitchFamily="18" charset="0"/>
                            <a:cs typeface="Times New Roman" panose="02020603050405020304" pitchFamily="18" charset="0"/>
                          </a:rPr>
                          <m:t>2</m:t>
                        </m:r>
                      </m:e>
                      <m:sup>
                        <m:r>
                          <a:rPr lang="en-US" altLang="zh-CN" sz="2000" i="1" dirty="0" smtClean="0">
                            <a:latin typeface="Cambria Math" panose="02040503050406030204" pitchFamily="18" charset="0"/>
                            <a:cs typeface="Times New Roman" panose="02020603050405020304" pitchFamily="18" charset="0"/>
                          </a:rPr>
                          <m:t>32</m:t>
                        </m:r>
                      </m:sup>
                    </m:sSup>
                  </m:oMath>
                </a14:m>
                <a:r>
                  <a:rPr lang="zh-CN" altLang="en-US" sz="2000" dirty="0">
                    <a:latin typeface="Times New Roman" panose="02020603050405020304" pitchFamily="18" charset="0"/>
                    <a:cs typeface="Times New Roman" panose="02020603050405020304" pitchFamily="18" charset="0"/>
                  </a:rPr>
                  <a:t>，则有 </a:t>
                </a:r>
                <a14:m>
                  <m:oMath xmlns:m="http://schemas.openxmlformats.org/officeDocument/2006/math">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𝑃</m:t>
                        </m:r>
                      </m:e>
                      <m:sub>
                        <m:r>
                          <a:rPr lang="en-US" altLang="zh-CN" sz="2000" b="0" i="1" smtClean="0">
                            <a:latin typeface="Cambria Math" panose="02040503050406030204" pitchFamily="18" charset="0"/>
                            <a:cs typeface="Times New Roman" panose="02020603050405020304" pitchFamily="18" charset="0"/>
                          </a:rPr>
                          <m:t>𝑚</m:t>
                        </m:r>
                      </m:sub>
                    </m:sSub>
                    <m:r>
                      <a:rPr lang="en-US" altLang="zh-CN" sz="2000" b="0" i="1" smtClean="0">
                        <a:latin typeface="Cambria Math" panose="02040503050406030204" pitchFamily="18" charset="0"/>
                        <a:cs typeface="Times New Roman" panose="02020603050405020304" pitchFamily="18" charset="0"/>
                      </a:rPr>
                      <m:t>=</m:t>
                    </m:r>
                    <m:f>
                      <m:fPr>
                        <m:ctrlPr>
                          <a:rPr lang="en-US" altLang="zh-CN" sz="2000" i="1" smtClean="0">
                            <a:solidFill>
                              <a:schemeClr val="tx1"/>
                            </a:solidFill>
                            <a:latin typeface="Cambria Math" panose="02040503050406030204" pitchFamily="18" charset="0"/>
                            <a:cs typeface="Times New Roman" panose="02020603050405020304" pitchFamily="18" charset="0"/>
                          </a:rPr>
                        </m:ctrlPr>
                      </m:fPr>
                      <m:num>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r>
                          <a:rPr lang="en-US" altLang="zh-CN" sz="2000" i="1" dirty="0">
                            <a:solidFill>
                              <a:schemeClr val="tx1"/>
                            </a:solidFill>
                            <a:latin typeface="Cambria Math" panose="02040503050406030204" pitchFamily="18" charset="0"/>
                            <a:cs typeface="Times New Roman" panose="02020603050405020304" pitchFamily="18" charset="0"/>
                          </a:rPr>
                          <m:t>−1</m:t>
                        </m:r>
                      </m:num>
                      <m:den>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den>
                    </m:f>
                    <m:r>
                      <a:rPr lang="en-US" altLang="zh-CN"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solidFill>
                              <a:schemeClr val="tx1"/>
                            </a:solidFill>
                            <a:latin typeface="Cambria Math" panose="02040503050406030204" pitchFamily="18" charset="0"/>
                            <a:cs typeface="Times New Roman" panose="02020603050405020304" pitchFamily="18" charset="0"/>
                          </a:rPr>
                        </m:ctrlPr>
                      </m:fPr>
                      <m:num>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r>
                          <a:rPr lang="en-US" altLang="zh-CN" sz="2000" i="1" dirty="0">
                            <a:solidFill>
                              <a:schemeClr val="tx1"/>
                            </a:solidFill>
                            <a:latin typeface="Cambria Math" panose="02040503050406030204" pitchFamily="18" charset="0"/>
                            <a:cs typeface="Times New Roman" panose="02020603050405020304" pitchFamily="18" charset="0"/>
                          </a:rPr>
                          <m:t>−2</m:t>
                        </m:r>
                      </m:num>
                      <m:den>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den>
                    </m:f>
                    <m:r>
                      <a:rPr lang="en-US" altLang="zh-CN" sz="2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solidFill>
                              <a:schemeClr val="tx1"/>
                            </a:solidFill>
                            <a:latin typeface="Cambria Math" panose="02040503050406030204" pitchFamily="18" charset="0"/>
                            <a:cs typeface="Times New Roman" panose="02020603050405020304" pitchFamily="18" charset="0"/>
                          </a:rPr>
                        </m:ctrlPr>
                      </m:fPr>
                      <m:num>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r>
                          <a:rPr lang="en-US" altLang="zh-CN" sz="2000" i="1">
                            <a:solidFill>
                              <a:schemeClr val="tx1"/>
                            </a:solidFill>
                            <a:latin typeface="Cambria Math" panose="02040503050406030204" pitchFamily="18" charset="0"/>
                            <a:cs typeface="Times New Roman" panose="02020603050405020304" pitchFamily="18" charset="0"/>
                          </a:rPr>
                          <m:t>−</m:t>
                        </m:r>
                        <m:r>
                          <a:rPr lang="en-US" altLang="zh-CN" sz="2000" i="1">
                            <a:solidFill>
                              <a:schemeClr val="tx1"/>
                            </a:solidFill>
                            <a:latin typeface="Cambria Math" panose="02040503050406030204" pitchFamily="18" charset="0"/>
                            <a:cs typeface="Times New Roman" panose="02020603050405020304" pitchFamily="18" charset="0"/>
                          </a:rPr>
                          <m:t>𝑚</m:t>
                        </m:r>
                        <m:r>
                          <a:rPr lang="en-US" altLang="zh-CN" sz="2000" i="1">
                            <a:solidFill>
                              <a:schemeClr val="tx1"/>
                            </a:solidFill>
                            <a:latin typeface="Cambria Math" panose="02040503050406030204" pitchFamily="18" charset="0"/>
                            <a:cs typeface="Times New Roman" panose="02020603050405020304" pitchFamily="18" charset="0"/>
                          </a:rPr>
                          <m:t>+1</m:t>
                        </m:r>
                      </m:num>
                      <m:den>
                        <m:sSup>
                          <m:sSupPr>
                            <m:ctrlPr>
                              <a:rPr lang="en-US" altLang="zh-CN" sz="2000" i="1" dirty="0">
                                <a:solidFill>
                                  <a:schemeClr val="tx1"/>
                                </a:solidFill>
                                <a:latin typeface="Cambria Math" panose="02040503050406030204" pitchFamily="18" charset="0"/>
                                <a:cs typeface="Times New Roman" panose="02020603050405020304" pitchFamily="18" charset="0"/>
                              </a:rPr>
                            </m:ctrlPr>
                          </m:sSupPr>
                          <m:e>
                            <m:r>
                              <a:rPr lang="en-US" altLang="zh-CN" sz="2000" i="1" dirty="0">
                                <a:solidFill>
                                  <a:schemeClr val="tx1"/>
                                </a:solidFill>
                                <a:latin typeface="Cambria Math" panose="02040503050406030204" pitchFamily="18" charset="0"/>
                                <a:cs typeface="Times New Roman" panose="02020603050405020304" pitchFamily="18" charset="0"/>
                              </a:rPr>
                              <m:t>2</m:t>
                            </m:r>
                          </m:e>
                          <m:sup>
                            <m:r>
                              <a:rPr lang="en-US" altLang="zh-CN" sz="2000" i="1" dirty="0">
                                <a:solidFill>
                                  <a:schemeClr val="tx1"/>
                                </a:solidFill>
                                <a:latin typeface="Cambria Math" panose="02040503050406030204" pitchFamily="18" charset="0"/>
                                <a:cs typeface="Times New Roman" panose="02020603050405020304" pitchFamily="18" charset="0"/>
                              </a:rPr>
                              <m:t>32</m:t>
                            </m:r>
                          </m:sup>
                        </m:sSup>
                      </m:den>
                    </m:f>
                  </m:oMath>
                </a14:m>
                <a:r>
                  <a:rPr lang="zh-CN" altLang="en-US" sz="2000" b="0" dirty="0">
                    <a:latin typeface="Times New Roman" panose="02020603050405020304" pitchFamily="18" charset="0"/>
                    <a:cs typeface="Times New Roman" panose="02020603050405020304" pitchFamily="18" charset="0"/>
                  </a:rPr>
                  <a:t>，即</a:t>
                </a:r>
                <a:endParaRPr lang="en-US" altLang="zh-CN" sz="2000" b="0" dirty="0">
                  <a:latin typeface="Times New Roman" panose="02020603050405020304" pitchFamily="18" charset="0"/>
                  <a:cs typeface="Times New Roman" panose="02020603050405020304" pitchFamily="18" charset="0"/>
                </a:endParaRPr>
              </a:p>
              <a:p>
                <a:pPr algn="just">
                  <a:lnSpc>
                    <a:spcPct val="150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00FF"/>
                              </a:solidFill>
                              <a:latin typeface="Cambria Math" panose="02040503050406030204" pitchFamily="18" charset="0"/>
                              <a:cs typeface="Times New Roman" panose="02020603050405020304" pitchFamily="18" charset="0"/>
                            </a:rPr>
                          </m:ctrlPr>
                        </m:sSubPr>
                        <m:e>
                          <m:r>
                            <a:rPr lang="en-US" altLang="zh-CN" sz="2000" i="1">
                              <a:solidFill>
                                <a:srgbClr val="0000FF"/>
                              </a:solidFill>
                              <a:latin typeface="Cambria Math" panose="02040503050406030204" pitchFamily="18" charset="0"/>
                              <a:cs typeface="Times New Roman" panose="02020603050405020304" pitchFamily="18" charset="0"/>
                            </a:rPr>
                            <m:t>𝑃</m:t>
                          </m:r>
                        </m:e>
                        <m:sub>
                          <m:r>
                            <a:rPr lang="en-US" altLang="zh-CN" sz="2000" i="1">
                              <a:solidFill>
                                <a:srgbClr val="0000FF"/>
                              </a:solidFill>
                              <a:latin typeface="Cambria Math" panose="02040503050406030204" pitchFamily="18" charset="0"/>
                              <a:cs typeface="Times New Roman" panose="02020603050405020304" pitchFamily="18" charset="0"/>
                            </a:rPr>
                            <m:t>𝑚</m:t>
                          </m:r>
                        </m:sub>
                      </m:sSub>
                      <m:r>
                        <a:rPr lang="en-US" altLang="zh-CN" sz="2000" i="1">
                          <a:solidFill>
                            <a:srgbClr val="0000FF"/>
                          </a:solidFill>
                          <a:latin typeface="Cambria Math" panose="02040503050406030204" pitchFamily="18" charset="0"/>
                          <a:cs typeface="Times New Roman" panose="02020603050405020304" pitchFamily="18" charset="0"/>
                        </a:rPr>
                        <m:t>=</m:t>
                      </m:r>
                      <m:f>
                        <m:fPr>
                          <m:ctrlPr>
                            <a:rPr lang="en-US" altLang="zh-CN" sz="2000" i="1">
                              <a:solidFill>
                                <a:srgbClr val="0000FF"/>
                              </a:solidFill>
                              <a:latin typeface="Cambria Math" panose="02040503050406030204" pitchFamily="18" charset="0"/>
                              <a:cs typeface="Times New Roman" panose="02020603050405020304" pitchFamily="18" charset="0"/>
                            </a:rPr>
                          </m:ctrlPr>
                        </m:fPr>
                        <m:num>
                          <m:r>
                            <a:rPr lang="en-US" altLang="zh-CN" sz="2000" i="1">
                              <a:solidFill>
                                <a:srgbClr val="0000FF"/>
                              </a:solidFill>
                              <a:latin typeface="Cambria Math" panose="02040503050406030204" pitchFamily="18" charset="0"/>
                              <a:cs typeface="Times New Roman" panose="02020603050405020304" pitchFamily="18" charset="0"/>
                            </a:rPr>
                            <m:t>1</m:t>
                          </m:r>
                        </m:num>
                        <m:den>
                          <m:sSup>
                            <m:sSupPr>
                              <m:ctrlPr>
                                <a:rPr lang="en-US" altLang="zh-CN" sz="2000" i="1">
                                  <a:solidFill>
                                    <a:srgbClr val="0000FF"/>
                                  </a:solidFill>
                                  <a:latin typeface="Cambria Math" panose="02040503050406030204" pitchFamily="18" charset="0"/>
                                  <a:cs typeface="Times New Roman" panose="02020603050405020304" pitchFamily="18" charset="0"/>
                                </a:rPr>
                              </m:ctrlPr>
                            </m:sSupPr>
                            <m:e>
                              <m:d>
                                <m:dPr>
                                  <m:ctrlPr>
                                    <a:rPr lang="en-US" altLang="zh-CN" sz="2000" i="1">
                                      <a:solidFill>
                                        <a:srgbClr val="0000FF"/>
                                      </a:solidFill>
                                      <a:latin typeface="Cambria Math" panose="02040503050406030204" pitchFamily="18" charset="0"/>
                                      <a:cs typeface="Times New Roman" panose="02020603050405020304" pitchFamily="18" charset="0"/>
                                    </a:rPr>
                                  </m:ctrlPr>
                                </m:dPr>
                                <m:e>
                                  <m:sSup>
                                    <m:sSupPr>
                                      <m:ctrlPr>
                                        <a:rPr lang="en-US" altLang="zh-CN" sz="2000" i="1">
                                          <a:solidFill>
                                            <a:srgbClr val="0000FF"/>
                                          </a:solidFill>
                                          <a:latin typeface="Cambria Math" panose="02040503050406030204" pitchFamily="18" charset="0"/>
                                          <a:cs typeface="Times New Roman" panose="02020603050405020304" pitchFamily="18" charset="0"/>
                                        </a:rPr>
                                      </m:ctrlPr>
                                    </m:sSupPr>
                                    <m:e>
                                      <m:r>
                                        <a:rPr lang="en-US" altLang="zh-CN" sz="2000" i="1">
                                          <a:solidFill>
                                            <a:srgbClr val="0000FF"/>
                                          </a:solidFill>
                                          <a:latin typeface="Cambria Math" panose="02040503050406030204" pitchFamily="18" charset="0"/>
                                          <a:cs typeface="Times New Roman" panose="02020603050405020304" pitchFamily="18" charset="0"/>
                                        </a:rPr>
                                        <m:t>2</m:t>
                                      </m:r>
                                    </m:e>
                                    <m:sup>
                                      <m:r>
                                        <a:rPr lang="en-US" altLang="zh-CN" sz="2000" i="1">
                                          <a:solidFill>
                                            <a:srgbClr val="0000FF"/>
                                          </a:solidFill>
                                          <a:latin typeface="Cambria Math" panose="02040503050406030204" pitchFamily="18" charset="0"/>
                                          <a:cs typeface="Times New Roman" panose="02020603050405020304" pitchFamily="18" charset="0"/>
                                        </a:rPr>
                                        <m:t>32</m:t>
                                      </m:r>
                                    </m:sup>
                                  </m:sSup>
                                </m:e>
                              </m:d>
                            </m:e>
                            <m:sup>
                              <m:r>
                                <a:rPr lang="en-US" altLang="zh-CN" sz="2000" i="1">
                                  <a:solidFill>
                                    <a:srgbClr val="0000FF"/>
                                  </a:solidFill>
                                  <a:latin typeface="Cambria Math" panose="02040503050406030204" pitchFamily="18" charset="0"/>
                                  <a:cs typeface="Times New Roman" panose="02020603050405020304" pitchFamily="18" charset="0"/>
                                </a:rPr>
                                <m:t>𝑚</m:t>
                              </m:r>
                              <m:r>
                                <a:rPr lang="en-US" altLang="zh-CN" sz="2000" i="1">
                                  <a:solidFill>
                                    <a:srgbClr val="0000FF"/>
                                  </a:solidFill>
                                  <a:latin typeface="Cambria Math" panose="02040503050406030204" pitchFamily="18" charset="0"/>
                                  <a:cs typeface="Times New Roman" panose="02020603050405020304" pitchFamily="18" charset="0"/>
                                </a:rPr>
                                <m:t>−1</m:t>
                              </m:r>
                            </m:sup>
                          </m:sSup>
                        </m:den>
                      </m:f>
                      <m:f>
                        <m:fPr>
                          <m:ctrlPr>
                            <a:rPr lang="en-US" altLang="zh-CN" sz="2000" b="0" i="1" smtClean="0">
                              <a:solidFill>
                                <a:srgbClr val="0000FF"/>
                              </a:solidFill>
                              <a:latin typeface="Cambria Math" panose="02040503050406030204" pitchFamily="18" charset="0"/>
                              <a:cs typeface="Times New Roman" panose="02020603050405020304" pitchFamily="18" charset="0"/>
                            </a:rPr>
                          </m:ctrlPr>
                        </m:fPr>
                        <m:num>
                          <m:d>
                            <m:dPr>
                              <m:ctrlPr>
                                <a:rPr lang="en-US" altLang="zh-CN" sz="2000" b="0" i="1" smtClean="0">
                                  <a:solidFill>
                                    <a:srgbClr val="0000FF"/>
                                  </a:solidFill>
                                  <a:latin typeface="Cambria Math" panose="02040503050406030204" pitchFamily="18" charset="0"/>
                                  <a:cs typeface="Times New Roman" panose="02020603050405020304" pitchFamily="18" charset="0"/>
                                </a:rPr>
                              </m:ctrlPr>
                            </m:dPr>
                            <m:e>
                              <m:sSup>
                                <m:sSupPr>
                                  <m:ctrlPr>
                                    <a:rPr lang="en-US" altLang="zh-CN" sz="2000" i="1">
                                      <a:solidFill>
                                        <a:srgbClr val="0000FF"/>
                                      </a:solidFill>
                                      <a:latin typeface="Cambria Math" panose="02040503050406030204" pitchFamily="18" charset="0"/>
                                      <a:cs typeface="Times New Roman" panose="02020603050405020304" pitchFamily="18" charset="0"/>
                                    </a:rPr>
                                  </m:ctrlPr>
                                </m:sSupPr>
                                <m:e>
                                  <m:r>
                                    <a:rPr lang="en-US" altLang="zh-CN" sz="2000" i="1">
                                      <a:solidFill>
                                        <a:srgbClr val="0000FF"/>
                                      </a:solidFill>
                                      <a:latin typeface="Cambria Math" panose="02040503050406030204" pitchFamily="18" charset="0"/>
                                      <a:cs typeface="Times New Roman" panose="02020603050405020304" pitchFamily="18" charset="0"/>
                                    </a:rPr>
                                    <m:t>2</m:t>
                                  </m:r>
                                </m:e>
                                <m:sup>
                                  <m:r>
                                    <a:rPr lang="en-US" altLang="zh-CN" sz="2000" i="1">
                                      <a:solidFill>
                                        <a:srgbClr val="0000FF"/>
                                      </a:solidFill>
                                      <a:latin typeface="Cambria Math" panose="02040503050406030204" pitchFamily="18" charset="0"/>
                                      <a:cs typeface="Times New Roman" panose="02020603050405020304" pitchFamily="18" charset="0"/>
                                    </a:rPr>
                                    <m:t>32</m:t>
                                  </m:r>
                                </m:sup>
                              </m:sSup>
                              <m:r>
                                <a:rPr lang="en-US" altLang="zh-CN" sz="2000" i="1">
                                  <a:solidFill>
                                    <a:srgbClr val="0000FF"/>
                                  </a:solidFill>
                                  <a:latin typeface="Cambria Math" panose="02040503050406030204" pitchFamily="18" charset="0"/>
                                  <a:cs typeface="Times New Roman" panose="02020603050405020304" pitchFamily="18" charset="0"/>
                                </a:rPr>
                                <m:t>−1</m:t>
                              </m:r>
                            </m:e>
                          </m:d>
                          <m:r>
                            <a:rPr lang="en-US" altLang="zh-CN" sz="2000" b="0" i="1" smtClean="0">
                              <a:solidFill>
                                <a:srgbClr val="0000FF"/>
                              </a:solidFill>
                              <a:latin typeface="Cambria Math" panose="02040503050406030204" pitchFamily="18" charset="0"/>
                              <a:cs typeface="Times New Roman" panose="02020603050405020304" pitchFamily="18" charset="0"/>
                            </a:rPr>
                            <m:t>!</m:t>
                          </m:r>
                        </m:num>
                        <m:den>
                          <m:d>
                            <m:dPr>
                              <m:ctrlPr>
                                <a:rPr lang="en-US" altLang="zh-CN" sz="2000" b="0" i="1" smtClean="0">
                                  <a:solidFill>
                                    <a:srgbClr val="0000FF"/>
                                  </a:solidFill>
                                  <a:latin typeface="Cambria Math" panose="02040503050406030204" pitchFamily="18" charset="0"/>
                                  <a:cs typeface="Times New Roman" panose="02020603050405020304" pitchFamily="18" charset="0"/>
                                </a:rPr>
                              </m:ctrlPr>
                            </m:dPr>
                            <m:e>
                              <m:sSup>
                                <m:sSupPr>
                                  <m:ctrlPr>
                                    <a:rPr lang="en-US" altLang="zh-CN" sz="2000" i="1">
                                      <a:solidFill>
                                        <a:srgbClr val="0000FF"/>
                                      </a:solidFill>
                                      <a:latin typeface="Cambria Math" panose="02040503050406030204" pitchFamily="18" charset="0"/>
                                      <a:cs typeface="Times New Roman" panose="02020603050405020304" pitchFamily="18" charset="0"/>
                                    </a:rPr>
                                  </m:ctrlPr>
                                </m:sSupPr>
                                <m:e>
                                  <m:r>
                                    <a:rPr lang="en-US" altLang="zh-CN" sz="2000" i="1">
                                      <a:solidFill>
                                        <a:srgbClr val="0000FF"/>
                                      </a:solidFill>
                                      <a:latin typeface="Cambria Math" panose="02040503050406030204" pitchFamily="18" charset="0"/>
                                      <a:cs typeface="Times New Roman" panose="02020603050405020304" pitchFamily="18" charset="0"/>
                                    </a:rPr>
                                    <m:t>2</m:t>
                                  </m:r>
                                </m:e>
                                <m:sup>
                                  <m:r>
                                    <a:rPr lang="en-US" altLang="zh-CN" sz="2000" i="1">
                                      <a:solidFill>
                                        <a:srgbClr val="0000FF"/>
                                      </a:solidFill>
                                      <a:latin typeface="Cambria Math" panose="02040503050406030204" pitchFamily="18" charset="0"/>
                                      <a:cs typeface="Times New Roman" panose="02020603050405020304" pitchFamily="18" charset="0"/>
                                    </a:rPr>
                                    <m:t>32</m:t>
                                  </m:r>
                                </m:sup>
                              </m:sSup>
                              <m:r>
                                <a:rPr lang="en-US" altLang="zh-CN" sz="2000" i="1">
                                  <a:solidFill>
                                    <a:srgbClr val="0000FF"/>
                                  </a:solidFill>
                                  <a:latin typeface="Cambria Math" panose="02040503050406030204" pitchFamily="18" charset="0"/>
                                  <a:cs typeface="Times New Roman" panose="02020603050405020304" pitchFamily="18" charset="0"/>
                                </a:rPr>
                                <m:t>−</m:t>
                              </m:r>
                              <m:r>
                                <a:rPr lang="en-US" altLang="zh-CN" sz="2000" b="0" i="1" smtClean="0">
                                  <a:solidFill>
                                    <a:srgbClr val="0000FF"/>
                                  </a:solidFill>
                                  <a:latin typeface="Cambria Math" panose="02040503050406030204" pitchFamily="18" charset="0"/>
                                  <a:cs typeface="Times New Roman" panose="02020603050405020304" pitchFamily="18" charset="0"/>
                                </a:rPr>
                                <m:t>𝑚</m:t>
                              </m:r>
                            </m:e>
                          </m:d>
                          <m:r>
                            <a:rPr lang="en-US" altLang="zh-CN" sz="2000" b="0" i="1" smtClean="0">
                              <a:solidFill>
                                <a:srgbClr val="0000FF"/>
                              </a:solidFill>
                              <a:latin typeface="Cambria Math" panose="02040503050406030204" pitchFamily="18" charset="0"/>
                              <a:cs typeface="Times New Roman" panose="02020603050405020304" pitchFamily="18" charset="0"/>
                            </a:rPr>
                            <m:t>!</m:t>
                          </m:r>
                        </m:den>
                      </m:f>
                    </m:oMath>
                  </m:oMathPara>
                </a14:m>
                <a:endParaRPr lang="en-US" altLang="zh-CN" sz="2000" b="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验算可知</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𝑚</m:t>
                    </m:r>
                    <m:r>
                      <a:rPr lang="en-US" altLang="zh-CN" sz="2000" i="1" dirty="0" smtClean="0">
                        <a:latin typeface="Cambria Math" panose="02040503050406030204" pitchFamily="18" charset="0"/>
                        <a:cs typeface="Times New Roman" panose="02020603050405020304" pitchFamily="18" charset="0"/>
                      </a:rPr>
                      <m:t>&gt;</m:t>
                    </m:r>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i="1" dirty="0" smtClean="0">
                            <a:latin typeface="Cambria Math" panose="02040503050406030204" pitchFamily="18" charset="0"/>
                            <a:cs typeface="Times New Roman" panose="02020603050405020304" pitchFamily="18" charset="0"/>
                          </a:rPr>
                          <m:t>2</m:t>
                        </m:r>
                      </m:e>
                      <m:sup>
                        <m:r>
                          <a:rPr lang="en-US" altLang="zh-CN" sz="2000" i="1" dirty="0" smtClean="0">
                            <a:latin typeface="Cambria Math" panose="02040503050406030204" pitchFamily="18" charset="0"/>
                            <a:cs typeface="Times New Roman" panose="02020603050405020304" pitchFamily="18" charset="0"/>
                          </a:rPr>
                          <m:t>17</m:t>
                        </m:r>
                      </m:sup>
                    </m:sSup>
                    <m:r>
                      <a:rPr lang="en-US" altLang="zh-CN" sz="2000" i="1" dirty="0" smtClean="0">
                        <a:latin typeface="Cambria Math" panose="02040503050406030204" pitchFamily="18" charset="0"/>
                        <a:cs typeface="Times New Roman" panose="02020603050405020304" pitchFamily="18" charset="0"/>
                      </a:rPr>
                      <m:t> </m:t>
                    </m:r>
                  </m:oMath>
                </a14:m>
                <a:r>
                  <a:rPr lang="en-US" altLang="zh-CN" sz="20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CN" sz="2000" i="1" dirty="0">
                            <a:latin typeface="Cambria Math" panose="02040503050406030204" pitchFamily="18" charset="0"/>
                            <a:cs typeface="Times New Roman" panose="02020603050405020304" pitchFamily="18" charset="0"/>
                          </a:rPr>
                        </m:ctrlPr>
                      </m:sSupPr>
                      <m:e>
                        <m:r>
                          <a:rPr lang="en-US" altLang="zh-CN" sz="2000" i="1" dirty="0">
                            <a:latin typeface="Cambria Math" panose="02040503050406030204" pitchFamily="18" charset="0"/>
                            <a:cs typeface="Times New Roman" panose="02020603050405020304" pitchFamily="18" charset="0"/>
                          </a:rPr>
                          <m:t>2</m:t>
                        </m:r>
                      </m:e>
                      <m:sup>
                        <m:r>
                          <a:rPr lang="en-US" altLang="zh-CN" sz="2000" i="1" dirty="0">
                            <a:latin typeface="Cambria Math" panose="02040503050406030204" pitchFamily="18" charset="0"/>
                            <a:cs typeface="Times New Roman" panose="02020603050405020304" pitchFamily="18" charset="0"/>
                          </a:rPr>
                          <m:t>17</m:t>
                        </m:r>
                      </m:sup>
                    </m:sSup>
                    <m:r>
                      <a:rPr lang="en-US" altLang="zh-CN" sz="2000" i="1" dirty="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=131072</m:t>
                    </m:r>
                  </m:oMath>
                </a14:m>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时，</a:t>
                </a:r>
                <a14:m>
                  <m:oMath xmlns:m="http://schemas.openxmlformats.org/officeDocument/2006/math">
                    <m:sSub>
                      <m:sSubPr>
                        <m:ctrlPr>
                          <a:rPr lang="en-US" altLang="zh-CN" sz="2000" i="1" dirty="0" smtClean="0">
                            <a:latin typeface="Cambria Math" panose="02040503050406030204" pitchFamily="18" charset="0"/>
                            <a:cs typeface="Times New Roman" panose="02020603050405020304" pitchFamily="18" charset="0"/>
                          </a:rPr>
                        </m:ctrlPr>
                      </m:sSubPr>
                      <m:e>
                        <m:r>
                          <a:rPr lang="en-US" altLang="zh-CN" sz="2000" i="1" dirty="0" smtClean="0">
                            <a:latin typeface="Cambria Math" panose="02040503050406030204" pitchFamily="18" charset="0"/>
                            <a:cs typeface="Times New Roman" panose="02020603050405020304" pitchFamily="18" charset="0"/>
                          </a:rPr>
                          <m:t>𝑃</m:t>
                        </m:r>
                      </m:e>
                      <m:sub>
                        <m:r>
                          <a:rPr lang="en-US" altLang="zh-CN" sz="2000" i="1" dirty="0" smtClean="0">
                            <a:latin typeface="Cambria Math" panose="02040503050406030204" pitchFamily="18" charset="0"/>
                            <a:cs typeface="Times New Roman" panose="02020603050405020304" pitchFamily="18" charset="0"/>
                          </a:rPr>
                          <m:t>𝑚</m:t>
                        </m:r>
                      </m:sub>
                    </m:sSub>
                    <m:r>
                      <a:rPr lang="en-US" altLang="zh-CN" sz="2000" i="1" dirty="0">
                        <a:latin typeface="Cambria Math" panose="02040503050406030204" pitchFamily="18" charset="0"/>
                        <a:cs typeface="Times New Roman" panose="02020603050405020304" pitchFamily="18" charset="0"/>
                      </a:rPr>
                      <m:t>&lt;</m:t>
                    </m:r>
                    <m:f>
                      <m:fPr>
                        <m:ctrlPr>
                          <a:rPr lang="en-US" altLang="zh-CN" sz="2000" i="1" dirty="0" smtClean="0">
                            <a:latin typeface="Cambria Math" panose="02040503050406030204" pitchFamily="18" charset="0"/>
                            <a:cs typeface="Times New Roman" panose="02020603050405020304" pitchFamily="18" charset="0"/>
                          </a:rPr>
                        </m:ctrlPr>
                      </m:fPr>
                      <m:num>
                        <m:r>
                          <a:rPr lang="en-US" altLang="zh-CN" sz="2000" i="1" dirty="0" smtClean="0">
                            <a:latin typeface="Cambria Math" panose="02040503050406030204" pitchFamily="18" charset="0"/>
                            <a:cs typeface="Times New Roman" panose="02020603050405020304" pitchFamily="18" charset="0"/>
                          </a:rPr>
                          <m:t>1</m:t>
                        </m:r>
                      </m:num>
                      <m:den>
                        <m:r>
                          <a:rPr lang="en-US" altLang="zh-CN" sz="2000" i="1" dirty="0" smtClean="0">
                            <a:latin typeface="Cambria Math" panose="02040503050406030204" pitchFamily="18" charset="0"/>
                            <a:cs typeface="Times New Roman" panose="02020603050405020304" pitchFamily="18" charset="0"/>
                          </a:rPr>
                          <m:t>2</m:t>
                        </m:r>
                      </m:den>
                    </m:f>
                    <m:r>
                      <a:rPr lang="zh-CN" altLang="en-US" sz="2000" i="1" dirty="0">
                        <a:latin typeface="Cambria Math" panose="02040503050406030204" pitchFamily="18" charset="0"/>
                        <a:cs typeface="Times New Roman" panose="02020603050405020304" pitchFamily="18" charset="0"/>
                      </a:rPr>
                      <m:t>；</m:t>
                    </m:r>
                  </m:oMath>
                </a14:m>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即至少需要有</a:t>
                </a:r>
                <a14:m>
                  <m:oMath xmlns:m="http://schemas.openxmlformats.org/officeDocument/2006/math">
                    <m:sSup>
                      <m:sSupPr>
                        <m:ctrlPr>
                          <a:rPr lang="en-US" altLang="zh-CN" sz="2000" i="1" dirty="0" smtClean="0">
                            <a:latin typeface="Cambria Math" panose="02040503050406030204" pitchFamily="18" charset="0"/>
                            <a:cs typeface="Times New Roman" panose="02020603050405020304" pitchFamily="18" charset="0"/>
                          </a:rPr>
                        </m:ctrlPr>
                      </m:sSupPr>
                      <m:e>
                        <m:r>
                          <a:rPr lang="en-US" altLang="zh-CN" sz="2000" i="1" dirty="0" smtClean="0">
                            <a:latin typeface="Cambria Math" panose="02040503050406030204" pitchFamily="18" charset="0"/>
                            <a:cs typeface="Times New Roman" panose="02020603050405020304" pitchFamily="18" charset="0"/>
                          </a:rPr>
                          <m:t>2</m:t>
                        </m:r>
                      </m:e>
                      <m:sup>
                        <m:r>
                          <a:rPr lang="en-US" altLang="zh-CN" sz="2000" i="1" dirty="0" smtClean="0">
                            <a:latin typeface="Cambria Math" panose="02040503050406030204" pitchFamily="18" charset="0"/>
                            <a:cs typeface="Times New Roman" panose="02020603050405020304" pitchFamily="18" charset="0"/>
                          </a:rPr>
                          <m:t>17</m:t>
                        </m:r>
                      </m:sup>
                    </m:sSup>
                  </m:oMath>
                </a14:m>
                <a:r>
                  <a:rPr lang="zh-CN" altLang="en-US" sz="2000" dirty="0">
                    <a:latin typeface="Times New Roman" panose="02020603050405020304" pitchFamily="18" charset="0"/>
                    <a:cs typeface="Times New Roman" panose="02020603050405020304" pitchFamily="18" charset="0"/>
                  </a:rPr>
                  <a:t>个文件，才可以找到两个文件有相同的哈希值的概率超过</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a:lnSpc>
                    <a:spcPct val="150000"/>
                  </a:lnSpc>
                  <a:spcBef>
                    <a:spcPts val="600"/>
                  </a:spcBef>
                </a:pPr>
                <a:r>
                  <a:rPr lang="en-US" altLang="zh-CN" sz="2000" dirty="0">
                    <a:latin typeface="Times New Roman" panose="02020603050405020304" pitchFamily="18" charset="0"/>
                    <a:cs typeface="Times New Roman" panose="02020603050405020304" pitchFamily="18" charset="0"/>
                  </a:rPr>
                  <a:t>        </a:t>
                </a: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394243" y="1239685"/>
                <a:ext cx="8479945" cy="5608267"/>
              </a:xfrm>
              <a:prstGeom prst="rect">
                <a:avLst/>
              </a:prstGeom>
              <a:blipFill rotWithShape="0">
                <a:blip r:embed="rId3"/>
                <a:stretch>
                  <a:fillRect l="-791" r="-7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2451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2D71-871D-EC6C-F789-975475B4D1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D1F0404-E7C3-A2ED-8FA5-58818241ADF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哈希函数安全性</a:t>
            </a:r>
          </a:p>
        </p:txBody>
      </p:sp>
      <p:sp>
        <p:nvSpPr>
          <p:cNvPr id="3" name="灯片编号占位符 2">
            <a:extLst>
              <a:ext uri="{FF2B5EF4-FFF2-40B4-BE49-F238E27FC236}">
                <a16:creationId xmlns:a16="http://schemas.microsoft.com/office/drawing/2014/main" id="{148A403E-26CE-EB2E-07F3-EB062D634FA8}"/>
              </a:ext>
            </a:extLst>
          </p:cNvPr>
          <p:cNvSpPr>
            <a:spLocks noGrp="1"/>
          </p:cNvSpPr>
          <p:nvPr>
            <p:ph type="sldNum" sz="quarter" idx="12"/>
          </p:nvPr>
        </p:nvSpPr>
        <p:spPr/>
        <p:txBody>
          <a:bodyPr/>
          <a:lstStyle/>
          <a:p>
            <a:fld id="{4DBDE2CB-4801-494F-A0A4-D49D70804842}" type="slidenum">
              <a:rPr lang="zh-CN" altLang="en-US" smtClean="0"/>
              <a:t>37</a:t>
            </a:fld>
            <a:endParaRPr lang="zh-CN" altLang="en-US"/>
          </a:p>
        </p:txBody>
      </p:sp>
      <p:pic>
        <p:nvPicPr>
          <p:cNvPr id="4" name="内容占位符 6">
            <a:extLst>
              <a:ext uri="{FF2B5EF4-FFF2-40B4-BE49-F238E27FC236}">
                <a16:creationId xmlns:a16="http://schemas.microsoft.com/office/drawing/2014/main" id="{6A852862-077A-995E-0084-AAF9B87DD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159" y="1586200"/>
            <a:ext cx="6691683" cy="4191000"/>
          </a:xfrm>
          <a:prstGeom prst="rect">
            <a:avLst/>
          </a:prstGeom>
        </p:spPr>
      </p:pic>
    </p:spTree>
    <p:extLst>
      <p:ext uri="{BB962C8B-B14F-4D97-AF65-F5344CB8AC3E}">
        <p14:creationId xmlns:p14="http://schemas.microsoft.com/office/powerpoint/2010/main" val="3605279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38</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3.1 MD </a:t>
            </a:r>
            <a:r>
              <a:rPr lang="zh-CN" altLang="en-US" sz="2400" b="1" dirty="0">
                <a:solidFill>
                  <a:srgbClr val="FF0000"/>
                </a:solidFill>
                <a:latin typeface="Times New Roman" panose="02020603050405020304" pitchFamily="18" charset="0"/>
                <a:cs typeface="Times New Roman" panose="02020603050405020304" pitchFamily="18" charset="0"/>
              </a:rPr>
              <a:t>系列算法的发展历史</a:t>
            </a:r>
            <a:endParaRPr lang="zh-CN" altLang="en-US" sz="2400" b="1" dirty="0">
              <a:solidFill>
                <a:srgbClr val="FF0000"/>
              </a:solidFill>
              <a:latin typeface="+mn-ea"/>
            </a:endParaRPr>
          </a:p>
        </p:txBody>
      </p:sp>
      <p:sp>
        <p:nvSpPr>
          <p:cNvPr id="4" name="文本框 3">
            <a:extLst>
              <a:ext uri="{FF2B5EF4-FFF2-40B4-BE49-F238E27FC236}">
                <a16:creationId xmlns:a16="http://schemas.microsoft.com/office/drawing/2014/main" id="{64CAF960-E897-5A2B-CB0F-1A7BBC613A2E}"/>
              </a:ext>
            </a:extLst>
          </p:cNvPr>
          <p:cNvSpPr txBox="1"/>
          <p:nvPr/>
        </p:nvSpPr>
        <p:spPr>
          <a:xfrm>
            <a:off x="312517" y="2357676"/>
            <a:ext cx="8479945" cy="4108817"/>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MD2 (1989</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nSpc>
                <a:spcPct val="120000"/>
              </a:lnSpc>
              <a:spcBef>
                <a:spcPts val="600"/>
              </a:spcBef>
              <a:buFont typeface="Wingdings" panose="05000000000000000000" pitchFamily="2" charset="2"/>
              <a:buChar char="Ø"/>
            </a:pPr>
            <a:r>
              <a:rPr lang="zh-CN" altLang="en-US" dirty="0">
                <a:solidFill>
                  <a:srgbClr val="333333"/>
                </a:solidFill>
                <a:latin typeface="Times New Roman" panose="02020603050405020304" pitchFamily="18" charset="0"/>
                <a:cs typeface="Times New Roman" panose="02020603050405020304" pitchFamily="18" charset="0"/>
              </a:rPr>
              <a:t>将消息</a:t>
            </a:r>
            <a:r>
              <a:rPr lang="zh-CN" altLang="en-US" b="0" i="0" dirty="0">
                <a:solidFill>
                  <a:srgbClr val="333333"/>
                </a:solidFill>
                <a:effectLst/>
                <a:latin typeface="Times New Roman" panose="02020603050405020304" pitchFamily="18" charset="0"/>
                <a:cs typeface="Times New Roman" panose="02020603050405020304" pitchFamily="18" charset="0"/>
              </a:rPr>
              <a:t>补位至</a:t>
            </a:r>
            <a:r>
              <a:rPr lang="zh-CN" altLang="en-US" b="0" i="0" dirty="0">
                <a:solidFill>
                  <a:srgbClr val="4D4D4D"/>
                </a:solidFill>
                <a:effectLst/>
                <a:latin typeface="-apple-system"/>
              </a:rPr>
              <a:t>字节长度是</a:t>
            </a:r>
            <a:r>
              <a:rPr lang="en-US" altLang="zh-CN" b="0" i="0" dirty="0">
                <a:solidFill>
                  <a:srgbClr val="4D4D4D"/>
                </a:solidFill>
                <a:effectLst/>
                <a:latin typeface="-apple-system"/>
              </a:rPr>
              <a:t>16</a:t>
            </a:r>
            <a:r>
              <a:rPr lang="zh-CN" altLang="en-US" b="0" i="0" dirty="0">
                <a:solidFill>
                  <a:srgbClr val="4D4D4D"/>
                </a:solidFill>
                <a:effectLst/>
                <a:latin typeface="-apple-system"/>
              </a:rPr>
              <a:t>的倍数</a:t>
            </a:r>
            <a:r>
              <a:rPr lang="zh-CN" altLang="en-US" b="0" i="0" dirty="0">
                <a:solidFill>
                  <a:srgbClr val="333333"/>
                </a:solidFill>
                <a:effectLst/>
                <a:latin typeface="Times New Roman" panose="02020603050405020304" pitchFamily="18" charset="0"/>
                <a:cs typeface="Times New Roman" panose="02020603050405020304" pitchFamily="18" charset="0"/>
              </a:rPr>
              <a:t>，追加一个</a:t>
            </a:r>
            <a:r>
              <a:rPr lang="en-US" altLang="zh-CN" b="0" i="0" dirty="0">
                <a:solidFill>
                  <a:srgbClr val="333333"/>
                </a:solidFill>
                <a:effectLst/>
                <a:latin typeface="Times New Roman" panose="02020603050405020304" pitchFamily="18" charset="0"/>
                <a:cs typeface="Times New Roman" panose="02020603050405020304" pitchFamily="18" charset="0"/>
              </a:rPr>
              <a:t>16</a:t>
            </a:r>
            <a:r>
              <a:rPr lang="zh-CN" altLang="en-US" b="0" i="0" dirty="0">
                <a:solidFill>
                  <a:srgbClr val="333333"/>
                </a:solidFill>
                <a:effectLst/>
                <a:latin typeface="Times New Roman" panose="02020603050405020304" pitchFamily="18" charset="0"/>
                <a:cs typeface="Times New Roman" panose="02020603050405020304" pitchFamily="18" charset="0"/>
              </a:rPr>
              <a:t>位的</a:t>
            </a:r>
            <a:r>
              <a:rPr lang="zh-CN" altLang="en-US" b="0" i="0" dirty="0">
                <a:solidFill>
                  <a:srgbClr val="0000FF"/>
                </a:solidFill>
                <a:effectLst/>
                <a:latin typeface="Times New Roman" panose="02020603050405020304" pitchFamily="18" charset="0"/>
                <a:cs typeface="Times New Roman" panose="02020603050405020304" pitchFamily="18" charset="0"/>
              </a:rPr>
              <a:t>校验和</a:t>
            </a:r>
            <a:endParaRPr lang="en-US" altLang="zh-CN" b="0" i="0" dirty="0">
              <a:solidFill>
                <a:srgbClr val="0000FF"/>
              </a:solidFill>
              <a:effectLst/>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b="0" i="0" dirty="0">
                <a:solidFill>
                  <a:srgbClr val="404040"/>
                </a:solidFill>
                <a:effectLst/>
                <a:latin typeface="Times New Roman" panose="02020603050405020304" pitchFamily="18" charset="0"/>
                <a:cs typeface="Times New Roman" panose="02020603050405020304" pitchFamily="18" charset="0"/>
              </a:rPr>
              <a:t>产生一个 </a:t>
            </a:r>
            <a:r>
              <a:rPr lang="en-US" altLang="zh-CN" b="0" i="0" dirty="0">
                <a:solidFill>
                  <a:srgbClr val="404040"/>
                </a:solidFill>
                <a:effectLst/>
                <a:latin typeface="Times New Roman" panose="02020603050405020304" pitchFamily="18" charset="0"/>
                <a:cs typeface="Times New Roman" panose="02020603050405020304" pitchFamily="18" charset="0"/>
              </a:rPr>
              <a:t>128 </a:t>
            </a:r>
            <a:r>
              <a:rPr lang="zh-CN" altLang="en-US" b="0" i="0" dirty="0">
                <a:solidFill>
                  <a:srgbClr val="404040"/>
                </a:solidFill>
                <a:effectLst/>
                <a:latin typeface="Times New Roman" panose="02020603050405020304" pitchFamily="18" charset="0"/>
                <a:cs typeface="Times New Roman" panose="02020603050405020304" pitchFamily="18" charset="0"/>
              </a:rPr>
              <a:t>位的 </a:t>
            </a:r>
            <a:r>
              <a:rPr lang="en-US" altLang="zh-CN" b="0" i="0" dirty="0">
                <a:solidFill>
                  <a:srgbClr val="404040"/>
                </a:solidFill>
                <a:effectLst/>
                <a:latin typeface="Times New Roman" panose="02020603050405020304" pitchFamily="18" charset="0"/>
                <a:cs typeface="Times New Roman" panose="02020603050405020304" pitchFamily="18" charset="0"/>
              </a:rPr>
              <a:t>MD2 </a:t>
            </a:r>
            <a:r>
              <a:rPr lang="zh-CN" altLang="en-US" b="0" i="0" dirty="0">
                <a:solidFill>
                  <a:srgbClr val="404040"/>
                </a:solidFill>
                <a:effectLst/>
                <a:latin typeface="Times New Roman" panose="02020603050405020304" pitchFamily="18" charset="0"/>
                <a:cs typeface="Times New Roman" panose="02020603050405020304" pitchFamily="18" charset="0"/>
              </a:rPr>
              <a:t>值</a:t>
            </a:r>
            <a:endParaRPr lang="en-US" altLang="zh-CN" b="0" i="0" dirty="0">
              <a:solidFill>
                <a:srgbClr val="404040"/>
              </a:solidFill>
              <a:effectLst/>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b="0" i="0" dirty="0">
                <a:solidFill>
                  <a:srgbClr val="0000FF"/>
                </a:solidFill>
                <a:effectLst/>
                <a:latin typeface="Times New Roman" panose="02020603050405020304" pitchFamily="18" charset="0"/>
                <a:cs typeface="Times New Roman" panose="02020603050405020304" pitchFamily="18" charset="0"/>
              </a:rPr>
              <a:t>如果忽略了校验和，</a:t>
            </a:r>
            <a:r>
              <a:rPr lang="en-US" altLang="zh-CN" b="0" i="0" dirty="0">
                <a:solidFill>
                  <a:srgbClr val="0000FF"/>
                </a:solidFill>
                <a:effectLst/>
                <a:latin typeface="Times New Roman" panose="02020603050405020304" pitchFamily="18" charset="0"/>
                <a:cs typeface="Times New Roman" panose="02020603050405020304" pitchFamily="18" charset="0"/>
              </a:rPr>
              <a:t>MD2 </a:t>
            </a:r>
            <a:r>
              <a:rPr lang="zh-CN" altLang="en-US" b="0" i="0" dirty="0">
                <a:solidFill>
                  <a:srgbClr val="0000FF"/>
                </a:solidFill>
                <a:effectLst/>
                <a:latin typeface="Times New Roman" panose="02020603050405020304" pitchFamily="18" charset="0"/>
                <a:cs typeface="Times New Roman" panose="02020603050405020304" pitchFamily="18" charset="0"/>
              </a:rPr>
              <a:t>将</a:t>
            </a:r>
            <a:r>
              <a:rPr lang="zh-CN" altLang="en-US" dirty="0">
                <a:solidFill>
                  <a:srgbClr val="0000FF"/>
                </a:solidFill>
                <a:latin typeface="Times New Roman" panose="02020603050405020304" pitchFamily="18" charset="0"/>
                <a:cs typeface="Times New Roman" panose="02020603050405020304" pitchFamily="18" charset="0"/>
              </a:rPr>
              <a:t>产生碰撞</a:t>
            </a:r>
            <a:r>
              <a:rPr lang="zh-CN" altLang="en-US" b="0" i="0" dirty="0">
                <a:effectLst/>
                <a:latin typeface="Times New Roman" panose="02020603050405020304" pitchFamily="18" charset="0"/>
                <a:cs typeface="Times New Roman" panose="02020603050405020304" pitchFamily="18" charset="0"/>
              </a:rPr>
              <a:t>，速度较慢</a:t>
            </a:r>
            <a:endParaRPr lang="en-US" altLang="zh-CN" b="0" i="0" dirty="0">
              <a:effectLst/>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MD4 (1990</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nSpc>
                <a:spcPct val="120000"/>
              </a:lnSpc>
              <a:spcBef>
                <a:spcPts val="600"/>
              </a:spcBef>
              <a:buFont typeface="Wingdings" panose="05000000000000000000" pitchFamily="2" charset="2"/>
              <a:buChar char="Ø"/>
            </a:pPr>
            <a:r>
              <a:rPr lang="zh-CN" altLang="en-US" b="0" i="0" dirty="0">
                <a:solidFill>
                  <a:srgbClr val="333333"/>
                </a:solidFill>
                <a:effectLst/>
                <a:latin typeface="Times New Roman" panose="02020603050405020304" pitchFamily="18" charset="0"/>
                <a:cs typeface="Times New Roman" panose="02020603050405020304" pitchFamily="18" charset="0"/>
              </a:rPr>
              <a:t>消息</a:t>
            </a:r>
            <a:r>
              <a:rPr lang="zh-CN" altLang="en-US" b="0" i="0" dirty="0">
                <a:solidFill>
                  <a:srgbClr val="404040"/>
                </a:solidFill>
                <a:effectLst/>
                <a:latin typeface="Times New Roman" panose="02020603050405020304" pitchFamily="18" charset="0"/>
                <a:cs typeface="Times New Roman" panose="02020603050405020304" pitchFamily="18" charset="0"/>
              </a:rPr>
              <a:t>补位时添加 </a:t>
            </a:r>
            <a:r>
              <a:rPr lang="en-US" altLang="zh-CN" dirty="0">
                <a:solidFill>
                  <a:srgbClr val="404040"/>
                </a:solidFill>
                <a:latin typeface="Times New Roman" panose="02020603050405020304" pitchFamily="18" charset="0"/>
                <a:cs typeface="Times New Roman" panose="02020603050405020304" pitchFamily="18" charset="0"/>
              </a:rPr>
              <a:t>448</a:t>
            </a:r>
            <a:r>
              <a:rPr lang="en-US" altLang="zh-CN" b="0" i="0" dirty="0">
                <a:solidFill>
                  <a:srgbClr val="404040"/>
                </a:solidFill>
                <a:effectLst/>
                <a:latin typeface="Times New Roman" panose="02020603050405020304" pitchFamily="18" charset="0"/>
                <a:cs typeface="Times New Roman" panose="02020603050405020304" pitchFamily="18" charset="0"/>
              </a:rPr>
              <a:t> </a:t>
            </a:r>
            <a:r>
              <a:rPr lang="zh-CN" altLang="en-US" b="0" i="0" dirty="0">
                <a:solidFill>
                  <a:srgbClr val="404040"/>
                </a:solidFill>
                <a:effectLst/>
                <a:latin typeface="Times New Roman" panose="02020603050405020304" pitchFamily="18" charset="0"/>
                <a:cs typeface="Times New Roman" panose="02020603050405020304" pitchFamily="18" charset="0"/>
              </a:rPr>
              <a:t>个比特，使其</a:t>
            </a:r>
            <a:r>
              <a:rPr lang="zh-CN" altLang="en-US" b="0" i="0" dirty="0">
                <a:solidFill>
                  <a:srgbClr val="333333"/>
                </a:solidFill>
                <a:effectLst/>
                <a:latin typeface="Times New Roman" panose="02020603050405020304" pitchFamily="18" charset="0"/>
                <a:cs typeface="Times New Roman" panose="02020603050405020304" pitchFamily="18" charset="0"/>
              </a:rPr>
              <a:t>长度变为 </a:t>
            </a:r>
            <a:r>
              <a:rPr lang="en-US" altLang="zh-CN" dirty="0">
                <a:solidFill>
                  <a:srgbClr val="333333"/>
                </a:solidFill>
                <a:latin typeface="Times New Roman" panose="02020603050405020304" pitchFamily="18" charset="0"/>
                <a:cs typeface="Times New Roman" panose="02020603050405020304" pitchFamily="18" charset="0"/>
              </a:rPr>
              <a:t>512 </a:t>
            </a:r>
            <a:r>
              <a:rPr lang="zh-CN" altLang="en-US" b="0" i="0" dirty="0">
                <a:solidFill>
                  <a:srgbClr val="333333"/>
                </a:solidFill>
                <a:effectLst/>
                <a:latin typeface="Times New Roman" panose="02020603050405020304" pitchFamily="18" charset="0"/>
                <a:cs typeface="Times New Roman" panose="02020603050405020304" pitchFamily="18" charset="0"/>
              </a:rPr>
              <a:t>的倍数</a:t>
            </a:r>
            <a:endParaRPr lang="en-US" altLang="zh-CN" b="0" i="0" dirty="0">
              <a:solidFill>
                <a:srgbClr val="333333"/>
              </a:solidFill>
              <a:effectLst/>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b="0" i="0" dirty="0">
                <a:solidFill>
                  <a:srgbClr val="404040"/>
                </a:solidFill>
                <a:effectLst/>
                <a:latin typeface="Times New Roman" panose="02020603050405020304" pitchFamily="18" charset="0"/>
                <a:cs typeface="Times New Roman" panose="02020603050405020304" pitchFamily="18" charset="0"/>
              </a:rPr>
              <a:t>产生一个 </a:t>
            </a:r>
            <a:r>
              <a:rPr lang="en-US" altLang="zh-CN" b="0" i="0" dirty="0">
                <a:solidFill>
                  <a:srgbClr val="404040"/>
                </a:solidFill>
                <a:effectLst/>
                <a:latin typeface="Times New Roman" panose="02020603050405020304" pitchFamily="18" charset="0"/>
                <a:cs typeface="Times New Roman" panose="02020603050405020304" pitchFamily="18" charset="0"/>
              </a:rPr>
              <a:t>128 </a:t>
            </a:r>
            <a:r>
              <a:rPr lang="zh-CN" altLang="en-US" b="0" i="0" dirty="0">
                <a:solidFill>
                  <a:srgbClr val="404040"/>
                </a:solidFill>
                <a:effectLst/>
                <a:latin typeface="Times New Roman" panose="02020603050405020304" pitchFamily="18" charset="0"/>
                <a:cs typeface="Times New Roman" panose="02020603050405020304" pitchFamily="18" charset="0"/>
              </a:rPr>
              <a:t>位的 </a:t>
            </a:r>
            <a:r>
              <a:rPr lang="en-US" altLang="zh-CN" b="0" i="0" dirty="0">
                <a:solidFill>
                  <a:srgbClr val="404040"/>
                </a:solidFill>
                <a:effectLst/>
                <a:latin typeface="Times New Roman" panose="02020603050405020304" pitchFamily="18" charset="0"/>
                <a:cs typeface="Times New Roman" panose="02020603050405020304" pitchFamily="18" charset="0"/>
              </a:rPr>
              <a:t>MD4 </a:t>
            </a:r>
            <a:r>
              <a:rPr lang="zh-CN" altLang="en-US" b="0" i="0" dirty="0">
                <a:solidFill>
                  <a:srgbClr val="404040"/>
                </a:solidFill>
                <a:effectLst/>
                <a:latin typeface="Times New Roman" panose="02020603050405020304" pitchFamily="18" charset="0"/>
                <a:cs typeface="Times New Roman" panose="02020603050405020304" pitchFamily="18" charset="0"/>
              </a:rPr>
              <a:t>值</a:t>
            </a:r>
            <a:endParaRPr lang="en-US" altLang="zh-CN" b="0" i="0" dirty="0">
              <a:solidFill>
                <a:srgbClr val="404040"/>
              </a:solidFill>
              <a:effectLst/>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b="0" i="0" dirty="0">
                <a:solidFill>
                  <a:srgbClr val="333333"/>
                </a:solidFill>
                <a:effectLst/>
                <a:latin typeface="Times New Roman" panose="02020603050405020304" pitchFamily="18" charset="0"/>
                <a:cs typeface="Times New Roman" panose="02020603050405020304" pitchFamily="18" charset="0"/>
              </a:rPr>
              <a:t>容易产生碰撞：普通的个人电脑在几分钟内即可找到 </a:t>
            </a:r>
            <a:r>
              <a:rPr lang="en-US" altLang="zh-CN" b="0" i="0" dirty="0">
                <a:solidFill>
                  <a:srgbClr val="333333"/>
                </a:solidFill>
                <a:effectLst/>
                <a:latin typeface="Times New Roman" panose="02020603050405020304" pitchFamily="18" charset="0"/>
                <a:cs typeface="Times New Roman" panose="02020603050405020304" pitchFamily="18" charset="0"/>
              </a:rPr>
              <a:t>MD4 </a:t>
            </a:r>
            <a:r>
              <a:rPr lang="zh-CN" altLang="en-US" b="0" i="0" dirty="0">
                <a:solidFill>
                  <a:srgbClr val="333333"/>
                </a:solidFill>
                <a:effectLst/>
                <a:latin typeface="Times New Roman" panose="02020603050405020304" pitchFamily="18" charset="0"/>
                <a:cs typeface="Times New Roman" panose="02020603050405020304" pitchFamily="18" charset="0"/>
              </a:rPr>
              <a:t>的碰撞</a:t>
            </a:r>
            <a:endParaRPr lang="en-US" altLang="zh-CN" dirty="0">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MD5 (1991</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由 </a:t>
            </a:r>
            <a:r>
              <a:rPr lang="en-US" altLang="zh-CN" dirty="0">
                <a:latin typeface="Times New Roman" panose="02020603050405020304" pitchFamily="18" charset="0"/>
                <a:cs typeface="Times New Roman" panose="02020603050405020304" pitchFamily="18" charset="0"/>
              </a:rPr>
              <a:t>MD4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MD2 </a:t>
            </a:r>
            <a:r>
              <a:rPr lang="zh-CN" altLang="en-US" dirty="0">
                <a:latin typeface="Times New Roman" panose="02020603050405020304" pitchFamily="18" charset="0"/>
                <a:cs typeface="Times New Roman" panose="02020603050405020304" pitchFamily="18" charset="0"/>
              </a:rPr>
              <a:t>改进而来，主要增强了算法的</a:t>
            </a:r>
            <a:r>
              <a:rPr lang="zh-CN" altLang="en-US" dirty="0">
                <a:solidFill>
                  <a:srgbClr val="0000FF"/>
                </a:solidFill>
                <a:latin typeface="Times New Roman" panose="02020603050405020304" pitchFamily="18" charset="0"/>
                <a:cs typeface="Times New Roman" panose="02020603050405020304" pitchFamily="18" charset="0"/>
              </a:rPr>
              <a:t>复杂度和单向性</a:t>
            </a:r>
            <a:endParaRPr lang="en-US" altLang="zh-CN"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DBC42B0A-C184-4FDB-8D78-E22DF4AF5B9A}"/>
              </a:ext>
            </a:extLst>
          </p:cNvPr>
          <p:cNvSpPr txBox="1"/>
          <p:nvPr/>
        </p:nvSpPr>
        <p:spPr>
          <a:xfrm>
            <a:off x="312518" y="1468412"/>
            <a:ext cx="6882384" cy="799514"/>
          </a:xfrm>
          <a:prstGeom prst="rect">
            <a:avLst/>
          </a:prstGeom>
          <a:noFill/>
        </p:spPr>
        <p:txBody>
          <a:bodyPr wrap="square" rtlCol="0">
            <a:spAutoFit/>
          </a:bodyPr>
          <a:lstStyle/>
          <a:p>
            <a:pPr algn="just">
              <a:lnSpc>
                <a:spcPct val="120000"/>
              </a:lnSpc>
              <a:spcBef>
                <a:spcPts val="600"/>
              </a:spcBef>
            </a:pPr>
            <a:r>
              <a:rPr lang="en-US" altLang="zh-CN" sz="2000" b="0" i="0" dirty="0">
                <a:solidFill>
                  <a:srgbClr val="333333"/>
                </a:solidFill>
                <a:effectLst/>
                <a:latin typeface="Times New Roman" panose="02020603050405020304" pitchFamily="18" charset="0"/>
                <a:cs typeface="Times New Roman" panose="02020603050405020304" pitchFamily="18" charset="0"/>
              </a:rPr>
              <a:t>MD </a:t>
            </a:r>
            <a:r>
              <a:rPr lang="zh-CN" altLang="en-US" sz="2000" b="0" i="0" dirty="0">
                <a:solidFill>
                  <a:srgbClr val="333333"/>
                </a:solidFill>
                <a:effectLst/>
                <a:latin typeface="Times New Roman" panose="02020603050405020304" pitchFamily="18" charset="0"/>
                <a:cs typeface="Times New Roman" panose="02020603050405020304" pitchFamily="18" charset="0"/>
              </a:rPr>
              <a:t>信息摘要算法 </a:t>
            </a:r>
            <a:r>
              <a:rPr lang="en-US" altLang="zh-CN" sz="2000" b="0" i="0" dirty="0">
                <a:solidFill>
                  <a:srgbClr val="333333"/>
                </a:solidFill>
                <a:effectLst/>
                <a:latin typeface="Times New Roman" panose="02020603050405020304" pitchFamily="18" charset="0"/>
                <a:cs typeface="Times New Roman" panose="02020603050405020304" pitchFamily="18" charset="0"/>
              </a:rPr>
              <a:t>(Message-Digest</a:t>
            </a:r>
            <a:r>
              <a:rPr lang="en-US" altLang="zh-CN" sz="2000" dirty="0">
                <a:latin typeface="Times New Roman" panose="02020603050405020304" pitchFamily="18" charset="0"/>
                <a:cs typeface="Times New Roman" panose="02020603050405020304" pitchFamily="18" charset="0"/>
              </a:rPr>
              <a:t> Algorithm) </a:t>
            </a:r>
            <a:r>
              <a:rPr lang="zh-CN" altLang="en-US" sz="2000" dirty="0">
                <a:solidFill>
                  <a:srgbClr val="333333"/>
                </a:solidFill>
                <a:latin typeface="Times New Roman" panose="02020603050405020304" pitchFamily="18" charset="0"/>
                <a:cs typeface="Times New Roman" panose="02020603050405020304" pitchFamily="18" charset="0"/>
              </a:rPr>
              <a:t>是</a:t>
            </a:r>
            <a:r>
              <a:rPr lang="zh-CN" altLang="en-US" sz="2000" b="0" i="0" dirty="0">
                <a:solidFill>
                  <a:srgbClr val="333333"/>
                </a:solidFill>
                <a:effectLst/>
                <a:latin typeface="Times New Roman" panose="02020603050405020304" pitchFamily="18" charset="0"/>
                <a:cs typeface="Times New Roman" panose="02020603050405020304" pitchFamily="18" charset="0"/>
              </a:rPr>
              <a:t>一种被广泛使用的哈希函数，由美国密码学家 </a:t>
            </a:r>
            <a:r>
              <a:rPr lang="en-US" altLang="zh-CN" sz="2000" b="0" i="0" dirty="0">
                <a:solidFill>
                  <a:srgbClr val="333333"/>
                </a:solidFill>
                <a:effectLst/>
                <a:latin typeface="Times New Roman" panose="02020603050405020304" pitchFamily="18" charset="0"/>
                <a:cs typeface="Times New Roman" panose="02020603050405020304" pitchFamily="18" charset="0"/>
              </a:rPr>
              <a:t>Ronald Linn Rivest</a:t>
            </a:r>
            <a:r>
              <a:rPr lang="zh-CN" altLang="en-US" sz="2000" b="0" i="0" dirty="0">
                <a:solidFill>
                  <a:srgbClr val="333333"/>
                </a:solidFill>
                <a:effectLst/>
                <a:latin typeface="Times New Roman" panose="02020603050405020304" pitchFamily="18" charset="0"/>
                <a:cs typeface="Times New Roman" panose="02020603050405020304" pitchFamily="18" charset="0"/>
              </a:rPr>
              <a:t> 设计</a:t>
            </a:r>
            <a:r>
              <a:rPr lang="zh-CN" altLang="en-US" sz="2000" dirty="0">
                <a:solidFill>
                  <a:srgbClr val="333333"/>
                </a:solidFill>
                <a:latin typeface="Times New Roman" panose="02020603050405020304" pitchFamily="18" charset="0"/>
                <a:cs typeface="Times New Roman" panose="02020603050405020304" pitchFamily="18" charset="0"/>
              </a:rPr>
              <a:t>。</a:t>
            </a:r>
            <a:endParaRPr lang="zh-CN" altLang="en-US" sz="2000" b="0" i="0" dirty="0">
              <a:solidFill>
                <a:srgbClr val="333333"/>
              </a:solidFill>
              <a:effectLst/>
              <a:latin typeface="Times New Roman" panose="02020603050405020304" pitchFamily="18" charset="0"/>
              <a:cs typeface="Times New Roman" panose="02020603050405020304" pitchFamily="18" charset="0"/>
            </a:endParaRPr>
          </a:p>
        </p:txBody>
      </p:sp>
      <p:pic>
        <p:nvPicPr>
          <p:cNvPr id="8" name="Picture 2" descr="罗纳德·李维斯特">
            <a:extLst>
              <a:ext uri="{FF2B5EF4-FFF2-40B4-BE49-F238E27FC236}">
                <a16:creationId xmlns:a16="http://schemas.microsoft.com/office/drawing/2014/main" id="{EA6F8B1C-B6DB-4406-AEBF-6DF5D597A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4724" y="1204193"/>
            <a:ext cx="1506757" cy="170093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278D1AC0-83F4-4721-9452-8EF700C9D1A8}"/>
              </a:ext>
            </a:extLst>
          </p:cNvPr>
          <p:cNvSpPr txBox="1"/>
          <p:nvPr/>
        </p:nvSpPr>
        <p:spPr>
          <a:xfrm>
            <a:off x="7194901" y="3013925"/>
            <a:ext cx="1949099" cy="369332"/>
          </a:xfrm>
          <a:prstGeom prst="rect">
            <a:avLst/>
          </a:prstGeom>
          <a:noFill/>
        </p:spPr>
        <p:txBody>
          <a:bodyPr wrap="square">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Ronald L. Rivest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802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39</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59479"/>
                <a:ext cx="8479945" cy="4431278"/>
              </a:xfrm>
              <a:prstGeom prst="rect">
                <a:avLst/>
              </a:prstGeom>
              <a:noFill/>
            </p:spPr>
            <p:txBody>
              <a:bodyPr wrap="square" rtlCol="0">
                <a:spAutoFit/>
              </a:bodyPr>
              <a:lstStyle/>
              <a:p>
                <a:pPr algn="just">
                  <a:lnSpc>
                    <a:spcPct val="120000"/>
                  </a:lnSpc>
                  <a:spcBef>
                    <a:spcPts val="600"/>
                  </a:spcBef>
                  <a:spcAft>
                    <a:spcPts val="600"/>
                  </a:spcAft>
                </a:pP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算法输入任意长的消息，将其映射至</a:t>
                </a:r>
                <a14:m>
                  <m:oMath xmlns:m="http://schemas.openxmlformats.org/officeDocument/2006/math">
                    <m:r>
                      <a:rPr lang="en-US" altLang="zh-CN" sz="2000" b="0" i="0" dirty="0" smtClean="0">
                        <a:solidFill>
                          <a:srgbClr val="333333"/>
                        </a:solidFill>
                        <a:latin typeface="Cambria Math" panose="02040503050406030204" pitchFamily="18" charset="0"/>
                        <a:cs typeface="Times New Roman" panose="02020603050405020304" pitchFamily="18" charset="0"/>
                      </a:rPr>
                      <m:t> </m:t>
                    </m:r>
                    <m:r>
                      <a:rPr lang="en-US" altLang="zh-CN" sz="2000" i="1" dirty="0" smtClean="0">
                        <a:solidFill>
                          <a:srgbClr val="333333"/>
                        </a:solidFill>
                        <a:latin typeface="Cambria Math" panose="02040503050406030204" pitchFamily="18" charset="0"/>
                        <a:cs typeface="Times New Roman" panose="02020603050405020304" pitchFamily="18" charset="0"/>
                      </a:rPr>
                      <m:t>128</m:t>
                    </m:r>
                    <m:r>
                      <a:rPr lang="en-US" altLang="zh-CN" sz="2000" b="0" i="1" dirty="0" smtClean="0">
                        <a:solidFill>
                          <a:srgbClr val="333333"/>
                        </a:solidFill>
                        <a:latin typeface="Cambria Math" panose="02040503050406030204" pitchFamily="18" charset="0"/>
                        <a:cs typeface="Times New Roman" panose="02020603050405020304" pitchFamily="18" charset="0"/>
                      </a:rPr>
                      <m:t> </m:t>
                    </m:r>
                  </m:oMath>
                </a14:m>
                <a:r>
                  <a:rPr lang="zh-CN" altLang="en-US" sz="2000" dirty="0">
                    <a:solidFill>
                      <a:srgbClr val="333333"/>
                    </a:solidFill>
                    <a:latin typeface="Times New Roman" panose="02020603050405020304" pitchFamily="18" charset="0"/>
                    <a:cs typeface="Times New Roman" panose="02020603050405020304" pitchFamily="18" charset="0"/>
                  </a:rPr>
                  <a:t> 位 </a:t>
                </a:r>
                <a:r>
                  <a:rPr lang="en-US" altLang="zh-CN" sz="2000" dirty="0">
                    <a:solidFill>
                      <a:srgbClr val="333333"/>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sz="2000" i="1" dirty="0" smtClean="0">
                        <a:solidFill>
                          <a:srgbClr val="333333"/>
                        </a:solidFill>
                        <a:latin typeface="Cambria Math" panose="02040503050406030204" pitchFamily="18" charset="0"/>
                        <a:cs typeface="Times New Roman" panose="02020603050405020304" pitchFamily="18" charset="0"/>
                      </a:rPr>
                      <m:t>16</m:t>
                    </m:r>
                    <m:r>
                      <a:rPr lang="en-US" altLang="zh-CN" sz="2000" b="0" i="0" dirty="0" smtClean="0">
                        <a:solidFill>
                          <a:srgbClr val="333333"/>
                        </a:solidFill>
                        <a:latin typeface="Cambria Math" panose="02040503050406030204" pitchFamily="18" charset="0"/>
                        <a:cs typeface="Times New Roman" panose="02020603050405020304" pitchFamily="18" charset="0"/>
                      </a:rPr>
                      <m:t> </m:t>
                    </m:r>
                  </m:oMath>
                </a14:m>
                <a:r>
                  <a:rPr lang="zh-CN" altLang="en-US" sz="2000" dirty="0">
                    <a:solidFill>
                      <a:srgbClr val="333333"/>
                    </a:solidFill>
                    <a:latin typeface="Times New Roman" panose="02020603050405020304" pitchFamily="18" charset="0"/>
                    <a:cs typeface="Times New Roman" panose="02020603050405020304" pitchFamily="18" charset="0"/>
                  </a:rPr>
                  <a:t>字节</a:t>
                </a:r>
                <a:r>
                  <a:rPr lang="en-US" altLang="zh-CN" sz="2000" dirty="0">
                    <a:solidFill>
                      <a:srgbClr val="333333"/>
                    </a:solidFill>
                    <a:latin typeface="Times New Roman" panose="02020603050405020304" pitchFamily="18" charset="0"/>
                    <a:cs typeface="Times New Roman" panose="02020603050405020304" pitchFamily="18" charset="0"/>
                  </a:rPr>
                  <a:t>) </a:t>
                </a:r>
                <a:r>
                  <a:rPr lang="zh-CN" altLang="en-US" sz="2000" dirty="0">
                    <a:solidFill>
                      <a:srgbClr val="333333"/>
                    </a:solidFill>
                    <a:latin typeface="Times New Roman" panose="02020603050405020304" pitchFamily="18" charset="0"/>
                    <a:cs typeface="Times New Roman" panose="02020603050405020304" pitchFamily="18" charset="0"/>
                  </a:rPr>
                  <a:t>的哈希值</a:t>
                </a:r>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solidFill>
                    <a:srgbClr val="333333"/>
                  </a:solidFill>
                  <a:latin typeface="Times New Roman" panose="02020603050405020304" pitchFamily="18" charset="0"/>
                  <a:cs typeface="Times New Roman" panose="02020603050405020304" pitchFamily="18" charset="0"/>
                </a:endParaRPr>
              </a:p>
              <a:p>
                <a:pPr algn="just">
                  <a:lnSpc>
                    <a:spcPct val="130000"/>
                  </a:lnSpc>
                  <a:spcBef>
                    <a:spcPts val="600"/>
                  </a:spcBef>
                  <a:spcAft>
                    <a:spcPts val="600"/>
                  </a:spcAft>
                </a:pPr>
                <a:r>
                  <a:rPr lang="en-US" altLang="zh-CN" sz="2000" b="1" dirty="0">
                    <a:solidFill>
                      <a:srgbClr val="333333"/>
                    </a:solidFill>
                    <a:latin typeface="Times New Roman" panose="02020603050405020304" pitchFamily="18" charset="0"/>
                    <a:cs typeface="Times New Roman" panose="02020603050405020304" pitchFamily="18" charset="0"/>
                  </a:rPr>
                  <a:t>MD5 </a:t>
                </a:r>
                <a:r>
                  <a:rPr lang="zh-CN" altLang="en-US" sz="2000" b="1" dirty="0">
                    <a:latin typeface="Times New Roman" panose="02020603050405020304" pitchFamily="18" charset="0"/>
                    <a:cs typeface="Times New Roman" panose="02020603050405020304" pitchFamily="18" charset="0"/>
                  </a:rPr>
                  <a:t>基本思想</a:t>
                </a:r>
                <a:r>
                  <a:rPr lang="zh-CN" altLang="en-US" sz="2000" dirty="0">
                    <a:latin typeface="Times New Roman" panose="02020603050405020304" pitchFamily="18" charset="0"/>
                    <a:cs typeface="Times New Roman" panose="02020603050405020304" pitchFamily="18" charset="0"/>
                  </a:rPr>
                  <a:t>：以</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512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位的分组来处理输入的信息，每个分组再划分为</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16</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位子分组，经过一系列处理后，算法输出四个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位分组，将这四个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位分组级联后生成一个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128</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位哈希值。</a:t>
                </a:r>
                <a:endParaRPr lang="en-US" altLang="zh-CN" sz="2000" dirty="0">
                  <a:latin typeface="Times New Roman" panose="02020603050405020304" pitchFamily="18" charset="0"/>
                  <a:cs typeface="Times New Roman" panose="02020603050405020304" pitchFamily="18" charset="0"/>
                </a:endParaRPr>
              </a:p>
              <a:p>
                <a:pPr algn="just">
                  <a:lnSpc>
                    <a:spcPct val="130000"/>
                  </a:lnSpc>
                  <a:spcBef>
                    <a:spcPts val="600"/>
                  </a:spcBef>
                  <a:spcAft>
                    <a:spcPts val="600"/>
                  </a:spcAft>
                </a:pPr>
                <a:r>
                  <a:rPr lang="en-US" altLang="zh-CN" sz="2000" b="0" i="0" dirty="0">
                    <a:solidFill>
                      <a:srgbClr val="374151"/>
                    </a:solidFill>
                    <a:effectLst/>
                    <a:latin typeface="Times New Roman" panose="02020603050405020304" pitchFamily="18" charset="0"/>
                    <a:cs typeface="Times New Roman" panose="02020603050405020304" pitchFamily="18" charset="0"/>
                  </a:rPr>
                  <a:t>MD5 </a:t>
                </a:r>
                <a:r>
                  <a:rPr lang="zh-CN" altLang="en-US" sz="2000" dirty="0">
                    <a:solidFill>
                      <a:srgbClr val="374151"/>
                    </a:solidFill>
                    <a:latin typeface="Times New Roman" panose="02020603050405020304" pitchFamily="18" charset="0"/>
                    <a:cs typeface="Times New Roman" panose="02020603050405020304" pitchFamily="18" charset="0"/>
                  </a:rPr>
                  <a:t>的算法流程包括：</a:t>
                </a:r>
                <a:endParaRPr lang="en-US" altLang="zh-CN" sz="2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消息填充</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初始化缓存器</a:t>
                </a: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分组循环运算</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输出</a:t>
                </a: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值</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299056" y="1659479"/>
                <a:ext cx="8479945" cy="4431278"/>
              </a:xfrm>
              <a:prstGeom prst="rect">
                <a:avLst/>
              </a:prstGeom>
              <a:blipFill>
                <a:blip r:embed="rId3"/>
                <a:stretch>
                  <a:fillRect l="-719" r="-791" b="-1513"/>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3.2 MD5 </a:t>
            </a:r>
            <a:r>
              <a:rPr lang="zh-CN" altLang="en-US" sz="2400" b="1" dirty="0">
                <a:solidFill>
                  <a:srgbClr val="FF0000"/>
                </a:solidFill>
                <a:latin typeface="Times New Roman" panose="02020603050405020304" pitchFamily="18" charset="0"/>
                <a:cs typeface="Times New Roman" panose="02020603050405020304" pitchFamily="18" charset="0"/>
              </a:rPr>
              <a:t>的算法流程</a:t>
            </a:r>
          </a:p>
        </p:txBody>
      </p:sp>
    </p:spTree>
    <p:extLst>
      <p:ext uri="{BB962C8B-B14F-4D97-AF65-F5344CB8AC3E}">
        <p14:creationId xmlns:p14="http://schemas.microsoft.com/office/powerpoint/2010/main" val="21761646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40</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11716"/>
                <a:ext cx="8493405" cy="4115807"/>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按位填充消息</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如果长度为 </a:t>
                </a:r>
                <a:r>
                  <a:rPr lang="en-US" altLang="zh-CN" sz="2000" i="1" dirty="0">
                    <a:latin typeface="Times New Roman" panose="02020603050405020304" pitchFamily="18" charset="0"/>
                    <a:cs typeface="Times New Roman" panose="02020603050405020304" pitchFamily="18" charset="0"/>
                  </a:rPr>
                  <a:t>L </a:t>
                </a:r>
                <a:r>
                  <a:rPr lang="en-US" altLang="zh-CN" sz="2000" dirty="0">
                    <a:latin typeface="Times New Roman" panose="02020603050405020304" pitchFamily="18" charset="0"/>
                    <a:cs typeface="Times New Roman" panose="02020603050405020304" pitchFamily="18" charset="0"/>
                  </a:rPr>
                  <a:t>bits</a:t>
                </a:r>
                <a:r>
                  <a:rPr lang="zh-CN" altLang="en-US" sz="2000" dirty="0">
                    <a:latin typeface="Times New Roman" panose="02020603050405020304" pitchFamily="18" charset="0"/>
                    <a:cs typeface="Times New Roman" panose="02020603050405020304" pitchFamily="18" charset="0"/>
                  </a:rPr>
                  <a:t>的原始消息长度不满足</a:t>
                </a:r>
                <a14:m>
                  <m:oMath xmlns:m="http://schemas.openxmlformats.org/officeDocument/2006/math">
                    <m:r>
                      <a:rPr lang="en-US" altLang="zh-CN" sz="2000" i="1" dirty="0">
                        <a:solidFill>
                          <a:srgbClr val="0000FF"/>
                        </a:solidFill>
                        <a:latin typeface="Cambria Math" panose="02040503050406030204" pitchFamily="18" charset="0"/>
                        <a:cs typeface="Times New Roman" panose="02020603050405020304" pitchFamily="18" charset="0"/>
                      </a:rPr>
                      <m:t> </m:t>
                    </m:r>
                    <m:r>
                      <a:rPr lang="en-US" altLang="zh-CN" sz="2000" i="1" dirty="0">
                        <a:solidFill>
                          <a:srgbClr val="0000FF"/>
                        </a:solidFill>
                        <a:latin typeface="Cambria Math" panose="02040503050406030204" pitchFamily="18" charset="0"/>
                        <a:cs typeface="Times New Roman" panose="02020603050405020304" pitchFamily="18" charset="0"/>
                      </a:rPr>
                      <m:t>𝐿</m:t>
                    </m:r>
                    <m:r>
                      <a:rPr lang="en-US" altLang="zh-CN" sz="2000" i="1" dirty="0">
                        <a:solidFill>
                          <a:srgbClr val="0000FF"/>
                        </a:solidFill>
                        <a:latin typeface="Cambria Math" panose="02040503050406030204" pitchFamily="18" charset="0"/>
                        <a:cs typeface="Times New Roman" panose="02020603050405020304" pitchFamily="18" charset="0"/>
                      </a:rPr>
                      <m:t> </m:t>
                    </m:r>
                    <m:r>
                      <m:rPr>
                        <m:sty m:val="p"/>
                      </m:rPr>
                      <a:rPr lang="en-US" altLang="zh-CN" sz="2000" i="0" dirty="0">
                        <a:solidFill>
                          <a:srgbClr val="0000FF"/>
                        </a:solidFill>
                        <a:latin typeface="Cambria Math" panose="02040503050406030204" pitchFamily="18" charset="0"/>
                        <a:cs typeface="Times New Roman" panose="02020603050405020304" pitchFamily="18" charset="0"/>
                      </a:rPr>
                      <m:t>mod</m:t>
                    </m:r>
                    <m:r>
                      <a:rPr lang="en-US" altLang="zh-CN" sz="2000" i="1" dirty="0">
                        <a:solidFill>
                          <a:srgbClr val="0000FF"/>
                        </a:solidFill>
                        <a:latin typeface="Cambria Math" panose="02040503050406030204" pitchFamily="18" charset="0"/>
                        <a:cs typeface="Times New Roman" panose="02020603050405020304" pitchFamily="18" charset="0"/>
                      </a:rPr>
                      <m:t> 512=448</m:t>
                    </m:r>
                  </m:oMath>
                </a14:m>
                <a:r>
                  <a:rPr lang="zh-CN" altLang="en-US" sz="2000" dirty="0">
                    <a:latin typeface="Times New Roman" panose="02020603050405020304" pitchFamily="18" charset="0"/>
                    <a:cs typeface="Times New Roman" panose="02020603050405020304" pitchFamily="18" charset="0"/>
                  </a:rPr>
                  <a:t>，先填充 </a:t>
                </a:r>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1</m:t>
                    </m:r>
                    <m:r>
                      <a:rPr lang="en-US" altLang="zh-CN" sz="2000" b="0" i="1" dirty="0"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比特，再填充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0</m:t>
                    </m:r>
                    <m:r>
                      <a:rPr lang="en-US" altLang="zh-CN" sz="2000" b="0" i="1" dirty="0"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比特，直至填充后的消息长度满足 </a:t>
                </a:r>
                <a14:m>
                  <m:oMath xmlns:m="http://schemas.openxmlformats.org/officeDocument/2006/math">
                    <m:d>
                      <m:dPr>
                        <m:ctrlPr>
                          <a:rPr lang="en-US" altLang="zh-CN" sz="2000" b="0" i="1" dirty="0" smtClean="0">
                            <a:solidFill>
                              <a:srgbClr val="0000FF"/>
                            </a:solidFill>
                            <a:latin typeface="Cambria Math" panose="02040503050406030204" pitchFamily="18" charset="0"/>
                            <a:cs typeface="Times New Roman" panose="02020603050405020304" pitchFamily="18" charset="0"/>
                          </a:rPr>
                        </m:ctrlPr>
                      </m:dPr>
                      <m:e>
                        <m:r>
                          <a:rPr lang="en-US" altLang="zh-CN" sz="2000" i="1" dirty="0" smtClean="0">
                            <a:solidFill>
                              <a:srgbClr val="0000FF"/>
                            </a:solidFill>
                            <a:latin typeface="Cambria Math" panose="02040503050406030204" pitchFamily="18" charset="0"/>
                            <a:cs typeface="Times New Roman" panose="02020603050405020304" pitchFamily="18" charset="0"/>
                          </a:rPr>
                          <m:t>𝐿</m:t>
                        </m:r>
                        <m:r>
                          <a:rPr lang="en-US" altLang="zh-CN" sz="2000" i="1" dirty="0" smtClean="0">
                            <a:solidFill>
                              <a:srgbClr val="0000FF"/>
                            </a:solidFill>
                            <a:latin typeface="Cambria Math" panose="02040503050406030204" pitchFamily="18" charset="0"/>
                            <a:cs typeface="Times New Roman" panose="02020603050405020304" pitchFamily="18" charset="0"/>
                          </a:rPr>
                          <m:t>+1+</m:t>
                        </m:r>
                        <m:r>
                          <a:rPr lang="en-US" altLang="zh-CN" sz="2000" i="1" dirty="0" smtClean="0">
                            <a:solidFill>
                              <a:srgbClr val="0000FF"/>
                            </a:solidFill>
                            <a:latin typeface="Cambria Math" panose="02040503050406030204" pitchFamily="18" charset="0"/>
                            <a:cs typeface="Times New Roman" panose="02020603050405020304" pitchFamily="18" charset="0"/>
                          </a:rPr>
                          <m:t>𝑘</m:t>
                        </m:r>
                      </m:e>
                    </m:d>
                    <m:r>
                      <a:rPr lang="en-US" altLang="zh-CN" sz="2000" b="0" i="1" dirty="0" smtClean="0">
                        <a:solidFill>
                          <a:srgbClr val="0000FF"/>
                        </a:solidFill>
                        <a:latin typeface="Cambria Math" panose="02040503050406030204" pitchFamily="18" charset="0"/>
                        <a:cs typeface="Times New Roman" panose="02020603050405020304" pitchFamily="18" charset="0"/>
                      </a:rPr>
                      <m:t> </m:t>
                    </m:r>
                    <m:r>
                      <m:rPr>
                        <m:sty m:val="p"/>
                      </m:rPr>
                      <a:rPr lang="en-US" altLang="zh-CN" sz="2000" b="0" i="0" dirty="0" smtClean="0">
                        <a:solidFill>
                          <a:srgbClr val="0000FF"/>
                        </a:solidFill>
                        <a:latin typeface="Cambria Math" panose="02040503050406030204" pitchFamily="18" charset="0"/>
                        <a:cs typeface="Times New Roman" panose="02020603050405020304" pitchFamily="18" charset="0"/>
                      </a:rPr>
                      <m:t>mod</m:t>
                    </m:r>
                    <m:r>
                      <a:rPr lang="en-US" altLang="zh-CN" sz="2000" i="1" dirty="0" smtClean="0">
                        <a:solidFill>
                          <a:srgbClr val="0000FF"/>
                        </a:solidFill>
                        <a:latin typeface="Cambria Math" panose="02040503050406030204" pitchFamily="18" charset="0"/>
                        <a:cs typeface="Times New Roman" panose="02020603050405020304" pitchFamily="18" charset="0"/>
                      </a:rPr>
                      <m:t> 512=448</m:t>
                    </m:r>
                  </m:oMath>
                </a14:m>
                <a:r>
                  <a:rPr lang="zh-CN" altLang="en-US" sz="2000" dirty="0"/>
                  <a:t>，</a:t>
                </a:r>
                <a14:m>
                  <m:oMath xmlns:m="http://schemas.openxmlformats.org/officeDocument/2006/math">
                    <m:r>
                      <a:rPr lang="en-US" altLang="zh-CN" i="1" dirty="0">
                        <a:latin typeface="Cambria Math" panose="02040503050406030204" pitchFamily="18" charset="0"/>
                        <a:cs typeface="Times New Roman" panose="02020603050405020304" pitchFamily="18" charset="0"/>
                      </a:rPr>
                      <m:t>𝑘</m:t>
                    </m:r>
                  </m:oMath>
                </a14:m>
                <a:r>
                  <a:rPr lang="zh-CN" altLang="en-US" dirty="0"/>
                  <a:t> 取最小正整数。</a:t>
                </a:r>
                <a:endParaRPr lang="en-US" altLang="zh-CN" dirty="0"/>
              </a:p>
              <a:p>
                <a:pPr marL="914400" lvl="1" indent="-4572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如果原始消息长度恰好满足</a:t>
                </a:r>
                <a14:m>
                  <m:oMath xmlns:m="http://schemas.openxmlformats.org/officeDocument/2006/math">
                    <m:r>
                      <a:rPr lang="en-US" altLang="zh-CN" sz="2000" i="1" dirty="0">
                        <a:solidFill>
                          <a:srgbClr val="0000FF"/>
                        </a:solidFill>
                        <a:latin typeface="Cambria Math" panose="02040503050406030204" pitchFamily="18" charset="0"/>
                        <a:cs typeface="Times New Roman" panose="02020603050405020304" pitchFamily="18" charset="0"/>
                      </a:rPr>
                      <m:t> </m:t>
                    </m:r>
                    <m:r>
                      <a:rPr lang="en-US" altLang="zh-CN" sz="2000" b="0" i="1" dirty="0" smtClean="0">
                        <a:solidFill>
                          <a:srgbClr val="0000FF"/>
                        </a:solidFill>
                        <a:latin typeface="Cambria Math" panose="02040503050406030204" pitchFamily="18" charset="0"/>
                        <a:cs typeface="Times New Roman" panose="02020603050405020304" pitchFamily="18" charset="0"/>
                      </a:rPr>
                      <m:t>𝐿</m:t>
                    </m:r>
                    <m:r>
                      <a:rPr lang="en-US" altLang="zh-CN" sz="2000" b="0" i="1" dirty="0" smtClean="0">
                        <a:solidFill>
                          <a:srgbClr val="0000FF"/>
                        </a:solidFill>
                        <a:latin typeface="Cambria Math" panose="02040503050406030204" pitchFamily="18" charset="0"/>
                        <a:cs typeface="Times New Roman" panose="02020603050405020304" pitchFamily="18" charset="0"/>
                      </a:rPr>
                      <m:t> </m:t>
                    </m:r>
                    <m:r>
                      <m:rPr>
                        <m:sty m:val="p"/>
                      </m:rPr>
                      <a:rPr lang="en-US" altLang="zh-CN" sz="2000" i="0" dirty="0">
                        <a:solidFill>
                          <a:srgbClr val="0000FF"/>
                        </a:solidFill>
                        <a:latin typeface="Cambria Math" panose="02040503050406030204" pitchFamily="18" charset="0"/>
                        <a:cs typeface="Times New Roman" panose="02020603050405020304" pitchFamily="18" charset="0"/>
                      </a:rPr>
                      <m:t>mod</m:t>
                    </m:r>
                    <m:r>
                      <a:rPr lang="en-US" altLang="zh-CN" sz="2000" i="1" dirty="0">
                        <a:solidFill>
                          <a:srgbClr val="0000FF"/>
                        </a:solidFill>
                        <a:latin typeface="Cambria Math" panose="02040503050406030204" pitchFamily="18" charset="0"/>
                        <a:cs typeface="Times New Roman" panose="02020603050405020304" pitchFamily="18" charset="0"/>
                      </a:rPr>
                      <m:t> 512=448</m:t>
                    </m:r>
                  </m:oMath>
                </a14:m>
                <a:r>
                  <a:rPr lang="zh-CN" altLang="en-US" sz="2000" dirty="0">
                    <a:latin typeface="Times New Roman" panose="02020603050405020304" pitchFamily="18" charset="0"/>
                    <a:cs typeface="Times New Roman" panose="02020603050405020304" pitchFamily="18" charset="0"/>
                  </a:rPr>
                  <a:t>，填充</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512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个比特。</a:t>
                </a:r>
                <a:endParaRPr lang="en-US" altLang="zh-CN" sz="2000" dirty="0">
                  <a:latin typeface="Times New Roman" panose="02020603050405020304" pitchFamily="18" charset="0"/>
                  <a:cs typeface="Times New Roman" panose="02020603050405020304" pitchFamily="18" charset="0"/>
                </a:endParaRPr>
              </a:p>
              <a:p>
                <a:pPr marL="457200" lvl="0" indent="-457200" algn="just">
                  <a:lnSpc>
                    <a:spcPct val="13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追加消息长度</a:t>
                </a:r>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defRPr/>
                </a:pPr>
                <a:r>
                  <a:rPr lang="zh-CN" altLang="en-US" sz="2000" dirty="0">
                    <a:solidFill>
                      <a:prstClr val="black"/>
                    </a:solidFill>
                    <a:latin typeface="Times New Roman" panose="02020603050405020304" pitchFamily="18" charset="0"/>
                    <a:cs typeface="Times New Roman" panose="02020603050405020304" pitchFamily="18" charset="0"/>
                  </a:rPr>
                  <a:t>将原始消息的长度 </a:t>
                </a:r>
                <a:r>
                  <a:rPr lang="en-US" altLang="zh-CN" sz="2000" i="1" dirty="0">
                    <a:latin typeface="Times New Roman" panose="02020603050405020304" pitchFamily="18" charset="0"/>
                    <a:cs typeface="Times New Roman" panose="02020603050405020304" pitchFamily="18" charset="0"/>
                  </a:rPr>
                  <a:t>L </a:t>
                </a:r>
                <a:r>
                  <a:rPr lang="zh-CN" altLang="en-US" sz="2000" dirty="0">
                    <a:solidFill>
                      <a:prstClr val="black"/>
                    </a:solidFill>
                    <a:latin typeface="Times New Roman" panose="02020603050405020304" pitchFamily="18" charset="0"/>
                    <a:cs typeface="Times New Roman" panose="02020603050405020304" pitchFamily="18" charset="0"/>
                  </a:rPr>
                  <a:t>以 </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a14:m>
                <a:r>
                  <a:rPr lang="zh-CN" altLang="en-US" sz="2000" dirty="0">
                    <a:solidFill>
                      <a:prstClr val="black"/>
                    </a:solidFill>
                    <a:latin typeface="Times New Roman" panose="02020603050405020304" pitchFamily="18" charset="0"/>
                    <a:cs typeface="Times New Roman" panose="02020603050405020304" pitchFamily="18" charset="0"/>
                  </a:rPr>
                  <a:t> 的形式追加到填充的消息末尾。</a:t>
                </a:r>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如果 </a:t>
                </a:r>
                <a:r>
                  <a:rPr lang="en-US" altLang="zh-CN" sz="2000" i="1" dirty="0">
                    <a:latin typeface="Times New Roman" panose="02020603050405020304" pitchFamily="18" charset="0"/>
                    <a:cs typeface="Times New Roman" panose="02020603050405020304" pitchFamily="18" charset="0"/>
                  </a:rPr>
                  <a:t>L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超过 </a:t>
                </a:r>
                <a14:m>
                  <m:oMath xmlns:m="http://schemas.openxmlformats.org/officeDocument/2006/math">
                    <m: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bits</m:t>
                    </m:r>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所能表示的数据长度，只保留</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最后</a:t>
                </a:r>
                <a14:m>
                  <m:oMath xmlns:m="http://schemas.openxmlformats.org/officeDocument/2006/math">
                    <m: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m:t>
                    </m:r>
                    <m: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bits</m:t>
                    </m:r>
                  </m:oMath>
                </a14:m>
                <a:r>
                  <a:rPr lang="en-US" altLang="zh-CN" sz="2000" dirty="0">
                    <a:solidFill>
                      <a:prstClr val="black"/>
                    </a:solidFill>
                    <a:latin typeface="Times New Roman" panose="02020603050405020304" pitchFamily="18" charset="0"/>
                    <a:cs typeface="Times New Roman" panose="02020603050405020304" pitchFamily="18" charset="0"/>
                  </a:rPr>
                  <a:t> </a:t>
                </a:r>
                <a:r>
                  <a:rPr lang="zh-CN" altLang="en-US" sz="2000" dirty="0">
                    <a:solidFill>
                      <a:prstClr val="black"/>
                    </a:solidFill>
                    <a:latin typeface="Times New Roman" panose="02020603050405020304" pitchFamily="18" charset="0"/>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algn="just">
                  <a:lnSpc>
                    <a:spcPct val="130000"/>
                  </a:lnSpc>
                  <a:spcBef>
                    <a:spcPts val="600"/>
                  </a:spcBef>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最后消息</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为 </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512 </a:t>
                </a:r>
                <a14:m>
                  <m:oMath xmlns:m="http://schemas.openxmlformats.org/officeDocument/2006/math">
                    <m:r>
                      <m:rPr>
                        <m:sty m:val="p"/>
                      </m:rP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bits</m:t>
                    </m:r>
                  </m:oMath>
                </a14:m>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的整数倍</a:t>
                </a:r>
                <a:r>
                  <a:rPr lang="en-US" altLang="zh-CN" sz="2000" dirty="0">
                    <a:solidFill>
                      <a:srgbClr val="0000FF"/>
                    </a:solidFill>
                    <a:latin typeface="Times New Roman" panose="02020603050405020304" pitchFamily="18" charset="0"/>
                    <a:ea typeface="微软雅黑"/>
                    <a:cs typeface="Times New Roman" panose="02020603050405020304" pitchFamily="18" charset="0"/>
                  </a:rPr>
                  <a:t> </a:t>
                </a:r>
                <a:r>
                  <a:rPr lang="en-US" altLang="zh-CN" sz="2000" dirty="0">
                    <a:solidFill>
                      <a:schemeClr val="tx1"/>
                    </a:solidFill>
                    <a:latin typeface="Times New Roman" panose="02020603050405020304" pitchFamily="18" charset="0"/>
                    <a:ea typeface="微软雅黑"/>
                    <a:cs typeface="Times New Roman" panose="02020603050405020304" pitchFamily="18" charset="0"/>
                  </a:rPr>
                  <a:t>(</a:t>
                </a:r>
                <a14:m>
                  <m:oMath xmlns:m="http://schemas.openxmlformats.org/officeDocument/2006/math">
                    <m:r>
                      <m:rPr>
                        <m:sty m:val="p"/>
                      </m:rPr>
                      <a:rPr lang="en-US" altLang="zh-CN" sz="2000" dirty="0">
                        <a:solidFill>
                          <a:schemeClr val="tx1"/>
                        </a:solidFill>
                        <a:latin typeface="Cambria Math" panose="02040503050406030204" pitchFamily="18" charset="0"/>
                      </a:rPr>
                      <m:t>N</m:t>
                    </m:r>
                    <m:r>
                      <a:rPr lang="en-US" altLang="zh-CN" sz="2000" dirty="0">
                        <a:solidFill>
                          <a:schemeClr val="tx1"/>
                        </a:solidFill>
                        <a:latin typeface="Cambria Math" panose="02040503050406030204" pitchFamily="18" charset="0"/>
                      </a:rPr>
                      <m:t>∗512</m:t>
                    </m:r>
                  </m:oMath>
                </a14:m>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bits)</a:t>
                </a:r>
                <a:r>
                  <a:rPr lang="zh-CN" altLang="en-US" sz="2000" dirty="0">
                    <a:solidFill>
                      <a:prstClr val="black"/>
                    </a:solidFill>
                    <a:latin typeface="Times New Roman" panose="02020603050405020304" pitchFamily="18" charset="0"/>
                    <a:cs typeface="Times New Roman" panose="02020603050405020304" pitchFamily="18" charset="0"/>
                  </a:rPr>
                  <a:t> 。</a:t>
                </a: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299056" y="1611716"/>
                <a:ext cx="8493405" cy="4115807"/>
              </a:xfrm>
              <a:prstGeom prst="rect">
                <a:avLst/>
              </a:prstGeom>
              <a:blipFill rotWithShape="0">
                <a:blip r:embed="rId3"/>
                <a:stretch>
                  <a:fillRect l="-718" r="-790" b="-1627"/>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消息填充</a:t>
            </a:r>
          </a:p>
        </p:txBody>
      </p:sp>
    </p:spTree>
    <p:extLst>
      <p:ext uri="{BB962C8B-B14F-4D97-AF65-F5344CB8AC3E}">
        <p14:creationId xmlns:p14="http://schemas.microsoft.com/office/powerpoint/2010/main" val="3429963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消息填充</a:t>
            </a:r>
          </a:p>
        </p:txBody>
      </p:sp>
      <p:grpSp>
        <p:nvGrpSpPr>
          <p:cNvPr id="108" name="组合 107">
            <a:extLst>
              <a:ext uri="{FF2B5EF4-FFF2-40B4-BE49-F238E27FC236}">
                <a16:creationId xmlns:a16="http://schemas.microsoft.com/office/drawing/2014/main" id="{42080F09-C16E-4021-82D5-F133986CB07F}"/>
              </a:ext>
            </a:extLst>
          </p:cNvPr>
          <p:cNvGrpSpPr/>
          <p:nvPr/>
        </p:nvGrpSpPr>
        <p:grpSpPr>
          <a:xfrm>
            <a:off x="1718682" y="2019836"/>
            <a:ext cx="6332357" cy="3057050"/>
            <a:chOff x="1718682" y="1521691"/>
            <a:chExt cx="6332357" cy="3057050"/>
          </a:xfrm>
        </p:grpSpPr>
        <p:cxnSp>
          <p:nvCxnSpPr>
            <p:cNvPr id="59" name="直接箭头连接符 58">
              <a:extLst>
                <a:ext uri="{FF2B5EF4-FFF2-40B4-BE49-F238E27FC236}">
                  <a16:creationId xmlns:a16="http://schemas.microsoft.com/office/drawing/2014/main" id="{C0DF60A5-A31F-4F43-8B4F-E1AF36C4BEBC}"/>
                </a:ext>
              </a:extLst>
            </p:cNvPr>
            <p:cNvCxnSpPr>
              <a:cxnSpLocks/>
            </p:cNvCxnSpPr>
            <p:nvPr/>
          </p:nvCxnSpPr>
          <p:spPr>
            <a:xfrm>
              <a:off x="1718682" y="1911184"/>
              <a:ext cx="520083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15C15CCB-4FFB-4C0C-B465-A84D40401F6C}"/>
                    </a:ext>
                  </a:extLst>
                </p:cNvPr>
                <p:cNvSpPr txBox="1"/>
                <p:nvPr/>
              </p:nvSpPr>
              <p:spPr>
                <a:xfrm>
                  <a:off x="3623894" y="1521691"/>
                  <a:ext cx="1439291" cy="369332"/>
                </a:xfrm>
                <a:prstGeom prst="rect">
                  <a:avLst/>
                </a:prstGeom>
                <a:noFill/>
              </p:spPr>
              <p:txBody>
                <a:bodyPr wrap="none" rtlCol="0">
                  <a:spAutoFit/>
                </a:bodyPr>
                <a:lstStyle/>
                <a:p>
                  <a14:m>
                    <m:oMath xmlns:m="http://schemas.openxmlformats.org/officeDocument/2006/math">
                      <m:r>
                        <m:rPr>
                          <m:sty m:val="p"/>
                        </m:rPr>
                        <a:rPr lang="en-US" altLang="zh-CN" i="0" dirty="0" smtClean="0">
                          <a:latin typeface="Cambria Math" panose="02040503050406030204" pitchFamily="18" charset="0"/>
                        </a:rPr>
                        <m:t>N</m:t>
                      </m:r>
                      <m:r>
                        <a:rPr lang="en-US" altLang="zh-CN" i="0" dirty="0" smtClean="0">
                          <a:latin typeface="Cambria Math" panose="02040503050406030204" pitchFamily="18" charset="0"/>
                        </a:rPr>
                        <m:t>∗512</m:t>
                      </m:r>
                    </m:oMath>
                  </a14:m>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bits</a:t>
                  </a:r>
                  <a:endParaRPr lang="zh-CN" altLang="en-US" dirty="0">
                    <a:latin typeface="Times New Roman" panose="02020603050405020304" pitchFamily="18" charset="0"/>
                    <a:cs typeface="Times New Roman" panose="02020603050405020304" pitchFamily="18" charset="0"/>
                  </a:endParaRPr>
                </a:p>
              </p:txBody>
            </p:sp>
          </mc:Choice>
          <mc:Fallback xmlns="">
            <p:sp>
              <p:nvSpPr>
                <p:cNvPr id="60" name="文本框 59">
                  <a:extLst>
                    <a:ext uri="{FF2B5EF4-FFF2-40B4-BE49-F238E27FC236}">
                      <a16:creationId xmlns:a16="http://schemas.microsoft.com/office/drawing/2014/main" id="{15C15CCB-4FFB-4C0C-B465-A84D40401F6C}"/>
                    </a:ext>
                  </a:extLst>
                </p:cNvPr>
                <p:cNvSpPr txBox="1">
                  <a:spLocks noRot="1" noChangeAspect="1" noMove="1" noResize="1" noEditPoints="1" noAdjustHandles="1" noChangeArrowheads="1" noChangeShapeType="1" noTextEdit="1"/>
                </p:cNvSpPr>
                <p:nvPr/>
              </p:nvSpPr>
              <p:spPr>
                <a:xfrm>
                  <a:off x="3623894" y="1521691"/>
                  <a:ext cx="1439291" cy="369332"/>
                </a:xfrm>
                <a:prstGeom prst="rect">
                  <a:avLst/>
                </a:prstGeom>
                <a:blipFill>
                  <a:blip r:embed="rId3"/>
                  <a:stretch>
                    <a:fillRect t="-8197" b="-24590"/>
                  </a:stretch>
                </a:blipFill>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4C098E3E-5843-43F6-920F-C4B0914E8743}"/>
                </a:ext>
              </a:extLst>
            </p:cNvPr>
            <p:cNvSpPr/>
            <p:nvPr/>
          </p:nvSpPr>
          <p:spPr>
            <a:xfrm>
              <a:off x="1718682" y="2578599"/>
              <a:ext cx="2871683" cy="395866"/>
            </a:xfrm>
            <a:prstGeom prst="rect">
              <a:avLst/>
            </a:prstGeom>
            <a:solidFill>
              <a:schemeClr val="accent5">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dirty="0">
                  <a:solidFill>
                    <a:schemeClr val="tx1"/>
                  </a:solidFill>
                </a:rPr>
                <a:t>消息</a:t>
              </a:r>
            </a:p>
          </p:txBody>
        </p:sp>
        <p:cxnSp>
          <p:nvCxnSpPr>
            <p:cNvPr id="62" name="直接箭头连接符 61">
              <a:extLst>
                <a:ext uri="{FF2B5EF4-FFF2-40B4-BE49-F238E27FC236}">
                  <a16:creationId xmlns:a16="http://schemas.microsoft.com/office/drawing/2014/main" id="{720A61AE-A5EE-4570-B233-0E6A43CA7AB4}"/>
                </a:ext>
              </a:extLst>
            </p:cNvPr>
            <p:cNvCxnSpPr>
              <a:cxnSpLocks/>
            </p:cNvCxnSpPr>
            <p:nvPr/>
          </p:nvCxnSpPr>
          <p:spPr>
            <a:xfrm>
              <a:off x="1718682" y="2387161"/>
              <a:ext cx="287168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19A9097-2C25-4EDE-82D4-277845086A7D}"/>
                    </a:ext>
                  </a:extLst>
                </p:cNvPr>
                <p:cNvSpPr txBox="1"/>
                <p:nvPr/>
              </p:nvSpPr>
              <p:spPr>
                <a:xfrm>
                  <a:off x="2689461" y="1968045"/>
                  <a:ext cx="1279037" cy="3728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𝐿</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63" name="文本框 62">
                  <a:extLst>
                    <a:ext uri="{FF2B5EF4-FFF2-40B4-BE49-F238E27FC236}">
                      <a16:creationId xmlns:a16="http://schemas.microsoft.com/office/drawing/2014/main" xmlns:a14="http://schemas.microsoft.com/office/drawing/2010/main" xmlns="" id="{E19A9097-2C25-4EDE-82D4-277845086A7D}"/>
                    </a:ext>
                  </a:extLst>
                </p:cNvPr>
                <p:cNvSpPr txBox="1">
                  <a:spLocks noRot="1" noChangeAspect="1" noMove="1" noResize="1" noEditPoints="1" noAdjustHandles="1" noChangeArrowheads="1" noChangeShapeType="1" noTextEdit="1"/>
                </p:cNvSpPr>
                <p:nvPr/>
              </p:nvSpPr>
              <p:spPr>
                <a:xfrm>
                  <a:off x="2689461" y="1968045"/>
                  <a:ext cx="1279037" cy="372803"/>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396FB21A-84D9-48AD-9676-039509945C4E}"/>
                    </a:ext>
                  </a:extLst>
                </p:cNvPr>
                <p:cNvSpPr/>
                <p:nvPr/>
              </p:nvSpPr>
              <p:spPr>
                <a:xfrm>
                  <a:off x="4590367" y="2578599"/>
                  <a:ext cx="1872341" cy="395866"/>
                </a:xfrm>
                <a:prstGeom prst="rect">
                  <a:avLst/>
                </a:prstGeom>
                <a:solidFill>
                  <a:schemeClr val="accent5">
                    <a:lumMod val="60000"/>
                    <a:lumOff val="4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cs typeface="Times New Roman" panose="02020603050405020304" pitchFamily="18" charset="0"/>
                          </a:rPr>
                          <m:t>100...00</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4" name="矩形 63">
                  <a:extLst>
                    <a:ext uri="{FF2B5EF4-FFF2-40B4-BE49-F238E27FC236}">
                      <a16:creationId xmlns:a16="http://schemas.microsoft.com/office/drawing/2014/main" id="{396FB21A-84D9-48AD-9676-039509945C4E}"/>
                    </a:ext>
                  </a:extLst>
                </p:cNvPr>
                <p:cNvSpPr>
                  <a:spLocks noRot="1" noChangeAspect="1" noMove="1" noResize="1" noEditPoints="1" noAdjustHandles="1" noChangeArrowheads="1" noChangeShapeType="1" noTextEdit="1"/>
                </p:cNvSpPr>
                <p:nvPr/>
              </p:nvSpPr>
              <p:spPr>
                <a:xfrm>
                  <a:off x="4590367" y="2578599"/>
                  <a:ext cx="1872341" cy="395866"/>
                </a:xfrm>
                <a:prstGeom prst="rect">
                  <a:avLst/>
                </a:prstGeom>
                <a:blipFill>
                  <a:blip r:embed="rId5"/>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对话气泡: 圆角矩形 64">
                  <a:extLst>
                    <a:ext uri="{FF2B5EF4-FFF2-40B4-BE49-F238E27FC236}">
                      <a16:creationId xmlns:a16="http://schemas.microsoft.com/office/drawing/2014/main" id="{96BBF0A8-5D27-4A5A-B17F-9132EE14B172}"/>
                    </a:ext>
                  </a:extLst>
                </p:cNvPr>
                <p:cNvSpPr/>
                <p:nvPr/>
              </p:nvSpPr>
              <p:spPr>
                <a:xfrm>
                  <a:off x="4730200" y="2139591"/>
                  <a:ext cx="2189316" cy="361256"/>
                </a:xfrm>
                <a:prstGeom prst="wedgeRoundRectCallout">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填充</a:t>
                  </a:r>
                  <a14:m>
                    <m:oMath xmlns:m="http://schemas.openxmlformats.org/officeDocument/2006/math">
                      <m:r>
                        <a:rPr lang="en-US" altLang="zh-CN" b="0" i="0" dirty="0" smtClean="0">
                          <a:latin typeface="Cambria Math" panose="02040503050406030204" pitchFamily="18" charset="0"/>
                        </a:rPr>
                        <m:t>1</m:t>
                      </m:r>
                      <m:r>
                        <a:rPr lang="en-US" altLang="zh-CN" i="0" dirty="0" smtClean="0">
                          <a:latin typeface="Cambria Math" panose="02040503050406030204" pitchFamily="18" charset="0"/>
                        </a:rPr>
                        <m:t>~512 </m:t>
                      </m:r>
                      <m:r>
                        <m:rPr>
                          <m:sty m:val="p"/>
                        </m:rPr>
                        <a:rPr lang="en-US" altLang="zh-CN" i="0" dirty="0" smtClean="0">
                          <a:latin typeface="Cambria Math" panose="02040503050406030204" pitchFamily="18" charset="0"/>
                        </a:rPr>
                        <m:t>bits</m:t>
                      </m:r>
                    </m:oMath>
                  </a14:m>
                  <a:endParaRPr lang="zh-CN" altLang="en-US" dirty="0"/>
                </a:p>
              </p:txBody>
            </p:sp>
          </mc:Choice>
          <mc:Fallback xmlns="">
            <p:sp>
              <p:nvSpPr>
                <p:cNvPr id="65" name="对话气泡: 圆角矩形 64">
                  <a:extLst>
                    <a:ext uri="{FF2B5EF4-FFF2-40B4-BE49-F238E27FC236}">
                      <a16:creationId xmlns:a16="http://schemas.microsoft.com/office/drawing/2014/main" id="{96BBF0A8-5D27-4A5A-B17F-9132EE14B172}"/>
                    </a:ext>
                  </a:extLst>
                </p:cNvPr>
                <p:cNvSpPr>
                  <a:spLocks noRot="1" noChangeAspect="1" noMove="1" noResize="1" noEditPoints="1" noAdjustHandles="1" noChangeArrowheads="1" noChangeShapeType="1" noTextEdit="1"/>
                </p:cNvSpPr>
                <p:nvPr/>
              </p:nvSpPr>
              <p:spPr>
                <a:xfrm>
                  <a:off x="4730200" y="2139591"/>
                  <a:ext cx="2189316" cy="361256"/>
                </a:xfrm>
                <a:prstGeom prst="wedgeRoundRectCallout">
                  <a:avLst/>
                </a:prstGeom>
                <a:blipFill>
                  <a:blip r:embed="rId6"/>
                  <a:stretch>
                    <a:fillRect t="-8955" b="-11940"/>
                  </a:stretch>
                </a:blipFill>
                <a:ln w="12700">
                  <a:noFill/>
                </a:ln>
              </p:spPr>
              <p:txBody>
                <a:bodyPr/>
                <a:lstStyle/>
                <a:p>
                  <a:r>
                    <a:rPr lang="zh-CN" altLang="en-US">
                      <a:noFill/>
                    </a:rPr>
                    <a:t> </a:t>
                  </a:r>
                </a:p>
              </p:txBody>
            </p:sp>
          </mc:Fallback>
        </mc:AlternateContent>
        <p:sp>
          <p:nvSpPr>
            <p:cNvPr id="66" name="矩形 65">
              <a:extLst>
                <a:ext uri="{FF2B5EF4-FFF2-40B4-BE49-F238E27FC236}">
                  <a16:creationId xmlns:a16="http://schemas.microsoft.com/office/drawing/2014/main" id="{82CBF2F6-B8A1-4AAA-80A7-B264BAFAE255}"/>
                </a:ext>
              </a:extLst>
            </p:cNvPr>
            <p:cNvSpPr/>
            <p:nvPr/>
          </p:nvSpPr>
          <p:spPr>
            <a:xfrm>
              <a:off x="6462705" y="2578599"/>
              <a:ext cx="456810" cy="395866"/>
            </a:xfrm>
            <a:prstGeom prst="rect">
              <a:avLst/>
            </a:prstGeom>
            <a:solidFill>
              <a:schemeClr val="accent5">
                <a:lumMod val="20000"/>
                <a:lumOff val="8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7" name="对话气泡: 圆角矩形 66">
                  <a:extLst>
                    <a:ext uri="{FF2B5EF4-FFF2-40B4-BE49-F238E27FC236}">
                      <a16:creationId xmlns:a16="http://schemas.microsoft.com/office/drawing/2014/main" id="{48B4EA2F-ADA8-432B-B873-C955FEAC8154}"/>
                    </a:ext>
                  </a:extLst>
                </p:cNvPr>
                <p:cNvSpPr/>
                <p:nvPr/>
              </p:nvSpPr>
              <p:spPr>
                <a:xfrm>
                  <a:off x="6178698" y="3141734"/>
                  <a:ext cx="1872341" cy="361255"/>
                </a:xfrm>
                <a:prstGeom prst="wedgeRoundRectCallout">
                  <a:avLst>
                    <a:gd name="adj1" fmla="val -18501"/>
                    <a:gd name="adj2" fmla="val -88654"/>
                    <a:gd name="adj3" fmla="val 16667"/>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消息长度 </a:t>
                  </a:r>
                  <a14:m>
                    <m:oMath xmlns:m="http://schemas.openxmlformats.org/officeDocument/2006/math">
                      <m:r>
                        <a:rPr lang="en-US" altLang="zh-CN" i="0" dirty="0" smtClean="0">
                          <a:latin typeface="Cambria Math" panose="02040503050406030204" pitchFamily="18" charset="0"/>
                        </a:rPr>
                        <m:t>64</m:t>
                      </m:r>
                      <m:r>
                        <a:rPr lang="en-US" altLang="zh-CN" b="0" i="0" dirty="0" smtClean="0">
                          <a:latin typeface="Cambria Math" panose="02040503050406030204" pitchFamily="18" charset="0"/>
                        </a:rPr>
                        <m:t> </m:t>
                      </m:r>
                      <m:r>
                        <m:rPr>
                          <m:sty m:val="p"/>
                        </m:rPr>
                        <a:rPr lang="en-US" altLang="zh-CN" i="0" dirty="0" smtClean="0">
                          <a:latin typeface="Cambria Math" panose="02040503050406030204" pitchFamily="18" charset="0"/>
                        </a:rPr>
                        <m:t>bits</m:t>
                      </m:r>
                    </m:oMath>
                  </a14:m>
                  <a:endParaRPr lang="en-US" altLang="zh-CN" dirty="0"/>
                </a:p>
              </p:txBody>
            </p:sp>
          </mc:Choice>
          <mc:Fallback xmlns="">
            <p:sp>
              <p:nvSpPr>
                <p:cNvPr id="67" name="对话气泡: 圆角矩形 66">
                  <a:extLst>
                    <a:ext uri="{FF2B5EF4-FFF2-40B4-BE49-F238E27FC236}">
                      <a16:creationId xmlns:a16="http://schemas.microsoft.com/office/drawing/2014/main" id="{48B4EA2F-ADA8-432B-B873-C955FEAC8154}"/>
                    </a:ext>
                  </a:extLst>
                </p:cNvPr>
                <p:cNvSpPr>
                  <a:spLocks noRot="1" noChangeAspect="1" noMove="1" noResize="1" noEditPoints="1" noAdjustHandles="1" noChangeArrowheads="1" noChangeShapeType="1" noTextEdit="1"/>
                </p:cNvSpPr>
                <p:nvPr/>
              </p:nvSpPr>
              <p:spPr>
                <a:xfrm>
                  <a:off x="6178698" y="3141734"/>
                  <a:ext cx="1872341" cy="361255"/>
                </a:xfrm>
                <a:prstGeom prst="wedgeRoundRectCallout">
                  <a:avLst>
                    <a:gd name="adj1" fmla="val -18501"/>
                    <a:gd name="adj2" fmla="val -88654"/>
                    <a:gd name="adj3" fmla="val 16667"/>
                  </a:avLst>
                </a:prstGeom>
                <a:blipFill>
                  <a:blip r:embed="rId7"/>
                  <a:stretch>
                    <a:fillRect l="-1954" b="-20732"/>
                  </a:stretch>
                </a:blipFill>
                <a:ln w="12700">
                  <a:noFill/>
                </a:ln>
              </p:spPr>
              <p:txBody>
                <a:bodyPr/>
                <a:lstStyle/>
                <a:p>
                  <a:r>
                    <a:rPr lang="zh-CN" altLang="en-US">
                      <a:noFill/>
                    </a:rPr>
                    <a:t> </a:t>
                  </a:r>
                </a:p>
              </p:txBody>
            </p:sp>
          </mc:Fallback>
        </mc:AlternateContent>
        <p:sp>
          <p:nvSpPr>
            <p:cNvPr id="68" name="箭头: 下 67">
              <a:extLst>
                <a:ext uri="{FF2B5EF4-FFF2-40B4-BE49-F238E27FC236}">
                  <a16:creationId xmlns:a16="http://schemas.microsoft.com/office/drawing/2014/main" id="{A81D979F-5B4D-434F-AFEA-AD2B2C2FE854}"/>
                </a:ext>
              </a:extLst>
            </p:cNvPr>
            <p:cNvSpPr/>
            <p:nvPr/>
          </p:nvSpPr>
          <p:spPr>
            <a:xfrm>
              <a:off x="3045987" y="3120204"/>
              <a:ext cx="427613" cy="572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270BADC3-12F9-46BF-8569-6106C8BFC294}"/>
                    </a:ext>
                  </a:extLst>
                </p:cNvPr>
                <p:cNvSpPr/>
                <p:nvPr/>
              </p:nvSpPr>
              <p:spPr>
                <a:xfrm>
                  <a:off x="1877092" y="4182875"/>
                  <a:ext cx="1494400"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0</m:t>
                            </m:r>
                          </m:sub>
                        </m:sSub>
                      </m:oMath>
                    </m:oMathPara>
                  </a14:m>
                  <a:endParaRPr lang="en-US" altLang="zh-CN" b="0" dirty="0">
                    <a:solidFill>
                      <a:schemeClr val="tx1"/>
                    </a:solidFill>
                  </a:endParaRPr>
                </a:p>
              </p:txBody>
            </p:sp>
          </mc:Choice>
          <mc:Fallback xmlns="">
            <p:sp>
              <p:nvSpPr>
                <p:cNvPr id="69" name="矩形 68">
                  <a:extLst>
                    <a:ext uri="{FF2B5EF4-FFF2-40B4-BE49-F238E27FC236}">
                      <a16:creationId xmlns:a16="http://schemas.microsoft.com/office/drawing/2014/main" id="{270BADC3-12F9-46BF-8569-6106C8BFC294}"/>
                    </a:ext>
                  </a:extLst>
                </p:cNvPr>
                <p:cNvSpPr>
                  <a:spLocks noRot="1" noChangeAspect="1" noMove="1" noResize="1" noEditPoints="1" noAdjustHandles="1" noChangeArrowheads="1" noChangeShapeType="1" noTextEdit="1"/>
                </p:cNvSpPr>
                <p:nvPr/>
              </p:nvSpPr>
              <p:spPr>
                <a:xfrm>
                  <a:off x="1877092" y="4182875"/>
                  <a:ext cx="1494400" cy="395866"/>
                </a:xfrm>
                <a:prstGeom prst="rect">
                  <a:avLst/>
                </a:prstGeom>
                <a:blipFill>
                  <a:blip r:embed="rId8"/>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24FCEBE2-4064-43D1-8E8D-F4BE0BAD11EE}"/>
                    </a:ext>
                  </a:extLst>
                </p:cNvPr>
                <p:cNvSpPr/>
                <p:nvPr/>
              </p:nvSpPr>
              <p:spPr>
                <a:xfrm>
                  <a:off x="3371495" y="4182875"/>
                  <a:ext cx="1494402"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0" name="矩形 69">
                  <a:extLst>
                    <a:ext uri="{FF2B5EF4-FFF2-40B4-BE49-F238E27FC236}">
                      <a16:creationId xmlns:a16="http://schemas.microsoft.com/office/drawing/2014/main" id="{24FCEBE2-4064-43D1-8E8D-F4BE0BAD11EE}"/>
                    </a:ext>
                  </a:extLst>
                </p:cNvPr>
                <p:cNvSpPr>
                  <a:spLocks noRot="1" noChangeAspect="1" noMove="1" noResize="1" noEditPoints="1" noAdjustHandles="1" noChangeArrowheads="1" noChangeShapeType="1" noTextEdit="1"/>
                </p:cNvSpPr>
                <p:nvPr/>
              </p:nvSpPr>
              <p:spPr>
                <a:xfrm>
                  <a:off x="3371495" y="4182875"/>
                  <a:ext cx="1494402" cy="395866"/>
                </a:xfrm>
                <a:prstGeom prst="rect">
                  <a:avLst/>
                </a:prstGeom>
                <a:blipFill>
                  <a:blip r:embed="rId9"/>
                  <a:stretch>
                    <a:fillRect/>
                  </a:stretch>
                </a:blipFill>
                <a:ln w="12700">
                  <a:solidFill>
                    <a:schemeClr val="tx1"/>
                  </a:solidFill>
                </a:ln>
              </p:spPr>
              <p:txBody>
                <a:bodyPr/>
                <a:lstStyle/>
                <a:p>
                  <a:r>
                    <a:rPr lang="zh-CN" altLang="en-US">
                      <a:noFill/>
                    </a:rPr>
                    <a:t> </a:t>
                  </a:r>
                </a:p>
              </p:txBody>
            </p:sp>
          </mc:Fallback>
        </mc:AlternateContent>
        <p:sp>
          <p:nvSpPr>
            <p:cNvPr id="71" name="矩形 70">
              <a:extLst>
                <a:ext uri="{FF2B5EF4-FFF2-40B4-BE49-F238E27FC236}">
                  <a16:creationId xmlns:a16="http://schemas.microsoft.com/office/drawing/2014/main" id="{F3EAED65-CFB5-4E04-9B9C-C7E7B27F4B45}"/>
                </a:ext>
              </a:extLst>
            </p:cNvPr>
            <p:cNvSpPr/>
            <p:nvPr/>
          </p:nvSpPr>
          <p:spPr>
            <a:xfrm>
              <a:off x="4865897" y="4182875"/>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72" name="直接箭头连接符 71">
              <a:extLst>
                <a:ext uri="{FF2B5EF4-FFF2-40B4-BE49-F238E27FC236}">
                  <a16:creationId xmlns:a16="http://schemas.microsoft.com/office/drawing/2014/main" id="{9A8A6157-2379-4565-9A6B-0C23FE50ED85}"/>
                </a:ext>
              </a:extLst>
            </p:cNvPr>
            <p:cNvCxnSpPr>
              <a:cxnSpLocks/>
            </p:cNvCxnSpPr>
            <p:nvPr/>
          </p:nvCxnSpPr>
          <p:spPr>
            <a:xfrm>
              <a:off x="1877092" y="4065724"/>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5D847B4-432B-4F8C-B4E0-E4B83B7B5402}"/>
                    </a:ext>
                  </a:extLst>
                </p:cNvPr>
                <p:cNvSpPr txBox="1"/>
                <p:nvPr/>
              </p:nvSpPr>
              <p:spPr>
                <a:xfrm>
                  <a:off x="1974560" y="3730757"/>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3" name="文本框 72">
                  <a:extLst>
                    <a:ext uri="{FF2B5EF4-FFF2-40B4-BE49-F238E27FC236}">
                      <a16:creationId xmlns:a16="http://schemas.microsoft.com/office/drawing/2014/main" id="{95D847B4-432B-4F8C-B4E0-E4B83B7B5402}"/>
                    </a:ext>
                  </a:extLst>
                </p:cNvPr>
                <p:cNvSpPr txBox="1">
                  <a:spLocks noRot="1" noChangeAspect="1" noMove="1" noResize="1" noEditPoints="1" noAdjustHandles="1" noChangeArrowheads="1" noChangeShapeType="1" noTextEdit="1"/>
                </p:cNvSpPr>
                <p:nvPr/>
              </p:nvSpPr>
              <p:spPr>
                <a:xfrm>
                  <a:off x="1974560" y="3730757"/>
                  <a:ext cx="1279036" cy="369332"/>
                </a:xfrm>
                <a:prstGeom prst="rect">
                  <a:avLst/>
                </a:prstGeom>
                <a:blipFill>
                  <a:blip r:embed="rId10"/>
                  <a:stretch>
                    <a:fillRect/>
                  </a:stretch>
                </a:blipFill>
              </p:spPr>
              <p:txBody>
                <a:bodyPr/>
                <a:lstStyle/>
                <a:p>
                  <a:r>
                    <a:rPr lang="zh-CN" altLang="en-US">
                      <a:noFill/>
                    </a:rPr>
                    <a:t> </a:t>
                  </a:r>
                </a:p>
              </p:txBody>
            </p:sp>
          </mc:Fallback>
        </mc:AlternateContent>
        <p:cxnSp>
          <p:nvCxnSpPr>
            <p:cNvPr id="74" name="直接箭头连接符 73">
              <a:extLst>
                <a:ext uri="{FF2B5EF4-FFF2-40B4-BE49-F238E27FC236}">
                  <a16:creationId xmlns:a16="http://schemas.microsoft.com/office/drawing/2014/main" id="{5316DDD3-C961-4C59-878E-D1CD08466A28}"/>
                </a:ext>
              </a:extLst>
            </p:cNvPr>
            <p:cNvCxnSpPr>
              <a:cxnSpLocks/>
            </p:cNvCxnSpPr>
            <p:nvPr/>
          </p:nvCxnSpPr>
          <p:spPr>
            <a:xfrm>
              <a:off x="3358728"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802E4E38-244D-419D-BF6D-B7ABBBCEEA59}"/>
                    </a:ext>
                  </a:extLst>
                </p:cNvPr>
                <p:cNvSpPr txBox="1"/>
                <p:nvPr/>
              </p:nvSpPr>
              <p:spPr>
                <a:xfrm>
                  <a:off x="3456197" y="3729036"/>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5" name="文本框 74">
                  <a:extLst>
                    <a:ext uri="{FF2B5EF4-FFF2-40B4-BE49-F238E27FC236}">
                      <a16:creationId xmlns:a16="http://schemas.microsoft.com/office/drawing/2014/main" id="{802E4E38-244D-419D-BF6D-B7ABBBCEEA59}"/>
                    </a:ext>
                  </a:extLst>
                </p:cNvPr>
                <p:cNvSpPr txBox="1">
                  <a:spLocks noRot="1" noChangeAspect="1" noMove="1" noResize="1" noEditPoints="1" noAdjustHandles="1" noChangeArrowheads="1" noChangeShapeType="1" noTextEdit="1"/>
                </p:cNvSpPr>
                <p:nvPr/>
              </p:nvSpPr>
              <p:spPr>
                <a:xfrm>
                  <a:off x="3456197" y="3729036"/>
                  <a:ext cx="1279036"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77BA4309-6F62-4EA4-8F30-5E2BC3439CCD}"/>
                    </a:ext>
                  </a:extLst>
                </p:cNvPr>
                <p:cNvSpPr/>
                <p:nvPr/>
              </p:nvSpPr>
              <p:spPr>
                <a:xfrm>
                  <a:off x="5437879" y="4180708"/>
                  <a:ext cx="1481636"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m:rPr>
                                <m:sty m:val="p"/>
                              </m:rPr>
                              <a:rPr lang="en-US" altLang="zh-CN" i="0" dirty="0">
                                <a:solidFill>
                                  <a:schemeClr val="tx1"/>
                                </a:solidFill>
                                <a:latin typeface="Cambria Math" panose="02040503050406030204" pitchFamily="18" charset="0"/>
                              </a:rPr>
                              <m:t>N</m:t>
                            </m:r>
                            <m:r>
                              <a:rPr lang="en-US" altLang="zh-CN" i="0" dirty="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6" name="矩形 75">
                  <a:extLst>
                    <a:ext uri="{FF2B5EF4-FFF2-40B4-BE49-F238E27FC236}">
                      <a16:creationId xmlns:a16="http://schemas.microsoft.com/office/drawing/2014/main" id="{77BA4309-6F62-4EA4-8F30-5E2BC3439CCD}"/>
                    </a:ext>
                  </a:extLst>
                </p:cNvPr>
                <p:cNvSpPr>
                  <a:spLocks noRot="1" noChangeAspect="1" noMove="1" noResize="1" noEditPoints="1" noAdjustHandles="1" noChangeArrowheads="1" noChangeShapeType="1" noTextEdit="1"/>
                </p:cNvSpPr>
                <p:nvPr/>
              </p:nvSpPr>
              <p:spPr>
                <a:xfrm>
                  <a:off x="5437879" y="4180708"/>
                  <a:ext cx="1481636" cy="395866"/>
                </a:xfrm>
                <a:prstGeom prst="rect">
                  <a:avLst/>
                </a:prstGeom>
                <a:blipFill>
                  <a:blip r:embed="rId12"/>
                  <a:stretch>
                    <a:fillRect/>
                  </a:stretch>
                </a:blipFill>
                <a:ln w="12700">
                  <a:solidFill>
                    <a:schemeClr val="tx1"/>
                  </a:solidFill>
                </a:ln>
              </p:spPr>
              <p:txBody>
                <a:bodyPr/>
                <a:lstStyle/>
                <a:p>
                  <a:r>
                    <a:rPr lang="zh-CN" altLang="en-US">
                      <a:noFill/>
                    </a:rPr>
                    <a:t> </a:t>
                  </a:r>
                </a:p>
              </p:txBody>
            </p:sp>
          </mc:Fallback>
        </mc:AlternateContent>
        <p:cxnSp>
          <p:nvCxnSpPr>
            <p:cNvPr id="77" name="直接箭头连接符 76">
              <a:extLst>
                <a:ext uri="{FF2B5EF4-FFF2-40B4-BE49-F238E27FC236}">
                  <a16:creationId xmlns:a16="http://schemas.microsoft.com/office/drawing/2014/main" id="{DC978D4F-E7B0-495E-A1E9-27C507DE0742}"/>
                </a:ext>
              </a:extLst>
            </p:cNvPr>
            <p:cNvCxnSpPr>
              <a:cxnSpLocks/>
            </p:cNvCxnSpPr>
            <p:nvPr/>
          </p:nvCxnSpPr>
          <p:spPr>
            <a:xfrm>
              <a:off x="5417465"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80C78F47-0480-47E3-A1C9-981BFA472555}"/>
                    </a:ext>
                  </a:extLst>
                </p:cNvPr>
                <p:cNvSpPr txBox="1"/>
                <p:nvPr/>
              </p:nvSpPr>
              <p:spPr>
                <a:xfrm>
                  <a:off x="5514933" y="3729036"/>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8" name="文本框 77">
                  <a:extLst>
                    <a:ext uri="{FF2B5EF4-FFF2-40B4-BE49-F238E27FC236}">
                      <a16:creationId xmlns:a16="http://schemas.microsoft.com/office/drawing/2014/main" id="{80C78F47-0480-47E3-A1C9-981BFA472555}"/>
                    </a:ext>
                  </a:extLst>
                </p:cNvPr>
                <p:cNvSpPr txBox="1">
                  <a:spLocks noRot="1" noChangeAspect="1" noMove="1" noResize="1" noEditPoints="1" noAdjustHandles="1" noChangeArrowheads="1" noChangeShapeType="1" noTextEdit="1"/>
                </p:cNvSpPr>
                <p:nvPr/>
              </p:nvSpPr>
              <p:spPr>
                <a:xfrm>
                  <a:off x="5514933" y="3729036"/>
                  <a:ext cx="1279036" cy="369332"/>
                </a:xfrm>
                <a:prstGeom prst="rect">
                  <a:avLst/>
                </a:prstGeom>
                <a:blipFill>
                  <a:blip r:embed="rId13"/>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366483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42</a:t>
            </a:fld>
            <a:endParaRPr lang="zh-CN" altLang="en-US" dirty="0"/>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a:t>
            </a:r>
            <a:r>
              <a:rPr lang="zh-CN" altLang="en-US" sz="2400" b="1" dirty="0">
                <a:solidFill>
                  <a:srgbClr val="0000FF"/>
                </a:solidFill>
                <a:latin typeface="Times New Roman" panose="02020603050405020304" pitchFamily="18" charset="0"/>
                <a:cs typeface="Times New Roman" panose="02020603050405020304" pitchFamily="18" charset="0"/>
              </a:rPr>
              <a:t>初始化缓存器</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645834"/>
                <a:ext cx="8493405" cy="4092723"/>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设置一个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0" dirty="0" smtClean="0">
                        <a:latin typeface="Cambria Math" panose="02040503050406030204" pitchFamily="18" charset="0"/>
                        <a:cs typeface="Times New Roman" panose="02020603050405020304" pitchFamily="18" charset="0"/>
                      </a:rPr>
                      <m:t>128</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的缓存器，用于存放中间变量和最终结果</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spcAft>
                    <a:spcPts val="600"/>
                  </a:spcAft>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初始化为</a:t>
                </a:r>
                <a:r>
                  <a:rPr lang="en-US" altLang="zh-CN" sz="2000" dirty="0">
                    <a:latin typeface="Times New Roman" panose="02020603050405020304" pitchFamily="18" charset="0"/>
                    <a:cs typeface="Times New Roman" panose="02020603050405020304" pitchFamily="18" charset="0"/>
                  </a:rPr>
                  <a:t> 4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的链接变量</a:t>
                </a:r>
                <a:endParaRPr lang="en-US" altLang="zh-CN" sz="2000" dirty="0">
                  <a:latin typeface="Times New Roman" panose="02020603050405020304" pitchFamily="18" charset="0"/>
                  <a:cs typeface="Times New Roman" panose="02020603050405020304" pitchFamily="18" charset="0"/>
                </a:endParaRPr>
              </a:p>
              <a:p>
                <a:pPr marL="1371600" lvl="2"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i="0" dirty="0" smtClean="0">
                        <a:latin typeface="Cambria Math" panose="02040503050406030204" pitchFamily="18" charset="0"/>
                        <a:cs typeface="Times New Roman" panose="02020603050405020304" pitchFamily="18" charset="0"/>
                      </a:rPr>
                      <m:t>A</m:t>
                    </m:r>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m:t>
                    </m:r>
                    <m:r>
                      <a:rPr lang="en-US" altLang="zh-CN" sz="2000" i="0" dirty="0" smtClean="0">
                        <a:latin typeface="Cambria Math" panose="02040503050406030204" pitchFamily="18" charset="0"/>
                        <a:cs typeface="Times New Roman" panose="02020603050405020304" pitchFamily="18" charset="0"/>
                      </a:rPr>
                      <m:t>67452301</m:t>
                    </m:r>
                  </m:oMath>
                </a14:m>
                <a:endParaRPr lang="en-US" altLang="zh-CN" sz="2000" dirty="0">
                  <a:latin typeface="Times New Roman" panose="02020603050405020304" pitchFamily="18" charset="0"/>
                  <a:cs typeface="Times New Roman" panose="02020603050405020304" pitchFamily="18" charset="0"/>
                </a:endParaRPr>
              </a:p>
              <a:p>
                <a:pPr marL="1371600" lvl="2"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i="0" dirty="0" smtClean="0">
                        <a:latin typeface="Cambria Math" panose="02040503050406030204" pitchFamily="18" charset="0"/>
                        <a:cs typeface="Times New Roman" panose="02020603050405020304" pitchFamily="18" charset="0"/>
                      </a:rPr>
                      <m:t>B</m:t>
                    </m:r>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xEFCDAB</m:t>
                    </m:r>
                    <m:r>
                      <a:rPr lang="en-US" altLang="zh-CN" sz="2000" i="0" dirty="0" smtClean="0">
                        <a:latin typeface="Cambria Math" panose="02040503050406030204" pitchFamily="18" charset="0"/>
                        <a:cs typeface="Times New Roman" panose="02020603050405020304" pitchFamily="18" charset="0"/>
                      </a:rPr>
                      <m:t>89</m:t>
                    </m:r>
                  </m:oMath>
                </a14:m>
                <a:endParaRPr lang="en-US" altLang="zh-CN" sz="2000" dirty="0">
                  <a:latin typeface="Times New Roman" panose="02020603050405020304" pitchFamily="18" charset="0"/>
                  <a:cs typeface="Times New Roman" panose="02020603050405020304" pitchFamily="18" charset="0"/>
                </a:endParaRPr>
              </a:p>
              <a:p>
                <a:pPr marL="1371600" lvl="2"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i="0" dirty="0" smtClean="0">
                        <a:latin typeface="Cambria Math" panose="02040503050406030204" pitchFamily="18" charset="0"/>
                        <a:cs typeface="Times New Roman" panose="02020603050405020304" pitchFamily="18" charset="0"/>
                      </a:rPr>
                      <m:t>C</m:t>
                    </m:r>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m:t>
                    </m:r>
                    <m:r>
                      <a:rPr lang="en-US" altLang="zh-CN" sz="2000" i="0" dirty="0" smtClean="0">
                        <a:latin typeface="Cambria Math" panose="02040503050406030204" pitchFamily="18" charset="0"/>
                        <a:cs typeface="Times New Roman" panose="02020603050405020304" pitchFamily="18" charset="0"/>
                      </a:rPr>
                      <m:t>98</m:t>
                    </m:r>
                    <m:r>
                      <m:rPr>
                        <m:sty m:val="p"/>
                      </m:rPr>
                      <a:rPr lang="en-US" altLang="zh-CN" sz="2000" i="0" dirty="0" smtClean="0">
                        <a:latin typeface="Cambria Math" panose="02040503050406030204" pitchFamily="18" charset="0"/>
                        <a:cs typeface="Times New Roman" panose="02020603050405020304" pitchFamily="18" charset="0"/>
                      </a:rPr>
                      <m:t>BADCFE</m:t>
                    </m:r>
                  </m:oMath>
                </a14:m>
                <a:endParaRPr lang="en-US" altLang="zh-CN" sz="2000" dirty="0">
                  <a:latin typeface="Times New Roman" panose="02020603050405020304" pitchFamily="18" charset="0"/>
                  <a:cs typeface="Times New Roman" panose="02020603050405020304" pitchFamily="18" charset="0"/>
                </a:endParaRPr>
              </a:p>
              <a:p>
                <a:pPr marL="1371600" lvl="2"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i="0" dirty="0" smtClean="0">
                        <a:latin typeface="Cambria Math" panose="02040503050406030204" pitchFamily="18" charset="0"/>
                        <a:cs typeface="Times New Roman" panose="02020603050405020304" pitchFamily="18" charset="0"/>
                      </a:rPr>
                      <m:t>D</m:t>
                    </m:r>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m:t>
                    </m:r>
                    <m:r>
                      <a:rPr lang="en-US" altLang="zh-CN" sz="2000" i="0" dirty="0" smtClean="0">
                        <a:latin typeface="Cambria Math" panose="02040503050406030204" pitchFamily="18" charset="0"/>
                        <a:cs typeface="Times New Roman" panose="02020603050405020304" pitchFamily="18" charset="0"/>
                      </a:rPr>
                      <m:t>10325476</m:t>
                    </m:r>
                  </m:oMath>
                </a14:m>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spcAft>
                    <a:spcPts val="600"/>
                  </a:spcAft>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将四个链接变量分别赋值到中间变量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𝑎</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𝑏</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𝑐</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𝑑</m:t>
                    </m:r>
                  </m:oMath>
                </a14:m>
                <a:r>
                  <a:rPr lang="zh-CN" altLang="en-US" sz="2000" dirty="0">
                    <a:latin typeface="Times New Roman" panose="02020603050405020304" pitchFamily="18" charset="0"/>
                    <a:cs typeface="Times New Roman" panose="02020603050405020304" pitchFamily="18" charset="0"/>
                  </a:rPr>
                  <a:t> 中</a:t>
                </a:r>
                <a:r>
                  <a:rPr lang="en-US" altLang="zh-CN" sz="2000" dirty="0">
                    <a:latin typeface="Times New Roman" panose="02020603050405020304" pitchFamily="18" charset="0"/>
                    <a:cs typeface="Times New Roman" panose="02020603050405020304" pitchFamily="18" charset="0"/>
                  </a:rPr>
                  <a:t> </a:t>
                </a:r>
              </a:p>
              <a:p>
                <a:pPr marL="342900" marR="0" lvl="0" indent="-342900" algn="just" defTabSz="457200" rtl="0" eaLnBrk="1" fontAlgn="auto" latinLnBrk="0" hangingPunct="1">
                  <a:lnSpc>
                    <a:spcPct val="120000"/>
                  </a:lnSpc>
                  <a:spcBef>
                    <a:spcPts val="600"/>
                  </a:spcBef>
                  <a:spcAft>
                    <a:spcPts val="60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将填充完的消息划分为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512bits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分组</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，依次进入循环运算</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645834"/>
                <a:ext cx="8493405" cy="4092723"/>
              </a:xfrm>
              <a:prstGeom prst="rect">
                <a:avLst/>
              </a:prstGeom>
              <a:blipFill>
                <a:blip r:embed="rId3"/>
                <a:stretch>
                  <a:fillRect l="-646" t="-149" b="-17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2985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43</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557124"/>
                <a:ext cx="8493405" cy="4552978"/>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每个 </a:t>
                </a:r>
                <a:r>
                  <a:rPr lang="en-US" altLang="zh-CN" sz="2000" dirty="0">
                    <a:latin typeface="Times New Roman" panose="02020603050405020304" pitchFamily="18" charset="0"/>
                    <a:cs typeface="Times New Roman" panose="02020603050405020304" pitchFamily="18" charset="0"/>
                  </a:rPr>
                  <a:t>512bits </a:t>
                </a:r>
                <a:r>
                  <a:rPr lang="zh-CN" altLang="en-US" sz="2000" dirty="0">
                    <a:latin typeface="Times New Roman" panose="02020603050405020304" pitchFamily="18" charset="0"/>
                    <a:cs typeface="Times New Roman" panose="02020603050405020304" pitchFamily="18" charset="0"/>
                  </a:rPr>
                  <a:t>分组消息进一步分为 </a:t>
                </a:r>
                <a:r>
                  <a:rPr lang="en-US" altLang="zh-CN" sz="2000" dirty="0">
                    <a:solidFill>
                      <a:srgbClr val="0000FF"/>
                    </a:solidFill>
                    <a:latin typeface="Times New Roman" panose="02020603050405020304" pitchFamily="18" charset="0"/>
                    <a:cs typeface="Times New Roman" panose="02020603050405020304" pitchFamily="18" charset="0"/>
                  </a:rPr>
                  <a:t>16 </a:t>
                </a:r>
                <a:r>
                  <a:rPr lang="zh-CN" altLang="en-US" sz="2000" dirty="0">
                    <a:solidFill>
                      <a:srgbClr val="0000FF"/>
                    </a:solidFill>
                    <a:latin typeface="Times New Roman" panose="02020603050405020304" pitchFamily="18" charset="0"/>
                    <a:cs typeface="Times New Roman" panose="02020603050405020304" pitchFamily="18" charset="0"/>
                  </a:rPr>
                  <a:t>个 </a:t>
                </a:r>
                <a:r>
                  <a:rPr lang="en-US" altLang="zh-CN" sz="2000" dirty="0">
                    <a:solidFill>
                      <a:srgbClr val="0000FF"/>
                    </a:solidFill>
                    <a:latin typeface="Times New Roman" panose="02020603050405020304" pitchFamily="18" charset="0"/>
                    <a:cs typeface="Times New Roman" panose="02020603050405020304" pitchFamily="18" charset="0"/>
                  </a:rPr>
                  <a:t>32bits </a:t>
                </a:r>
                <a:r>
                  <a:rPr lang="zh-CN" altLang="en-US" sz="2000" dirty="0">
                    <a:solidFill>
                      <a:srgbClr val="0000FF"/>
                    </a:solidFill>
                    <a:latin typeface="Times New Roman" panose="02020603050405020304" pitchFamily="18" charset="0"/>
                    <a:cs typeface="Times New Roman" panose="02020603050405020304" pitchFamily="18" charset="0"/>
                  </a:rPr>
                  <a:t>的字</a:t>
                </a:r>
                <a14:m>
                  <m:oMath xmlns:m="http://schemas.openxmlformats.org/officeDocument/2006/math">
                    <m:r>
                      <a:rPr lang="zh-CN" altLang="en-US" sz="2000" i="1" dirty="0" smtClean="0">
                        <a:solidFill>
                          <a:srgbClr val="0000FF"/>
                        </a:solidFill>
                        <a:latin typeface="Cambria Math" panose="02040503050406030204" pitchFamily="18" charset="0"/>
                        <a:cs typeface="Times New Roman" panose="02020603050405020304" pitchFamily="18" charset="0"/>
                      </a:rPr>
                      <m:t> </m:t>
                    </m:r>
                    <m:sSub>
                      <m:sSubPr>
                        <m:ctrlPr>
                          <a:rPr lang="en-US" altLang="zh-CN" sz="2000" i="1" dirty="0">
                            <a:latin typeface="Cambria Math" panose="02040503050406030204" pitchFamily="18" charset="0"/>
                            <a:cs typeface="Times New Roman" panose="02020603050405020304" pitchFamily="18" charset="0"/>
                          </a:rPr>
                        </m:ctrlPr>
                      </m:sSubPr>
                      <m:e>
                        <m:r>
                          <m:rPr>
                            <m:sty m:val="p"/>
                          </m:rPr>
                          <a:rPr lang="en-US" altLang="zh-CN" sz="2000" dirty="0">
                            <a:latin typeface="Cambria Math" panose="02040503050406030204" pitchFamily="18" charset="0"/>
                            <a:cs typeface="Times New Roman" panose="02020603050405020304" pitchFamily="18" charset="0"/>
                          </a:rPr>
                          <m:t>M</m:t>
                        </m:r>
                      </m:e>
                      <m:sub>
                        <m:r>
                          <a:rPr lang="en-US" altLang="zh-CN" sz="2000" i="1" dirty="0">
                            <a:latin typeface="Cambria Math" panose="02040503050406030204" pitchFamily="18" charset="0"/>
                            <a:cs typeface="Times New Roman" panose="02020603050405020304" pitchFamily="18" charset="0"/>
                          </a:rPr>
                          <m:t>𝑗</m:t>
                        </m:r>
                      </m:sub>
                    </m:sSub>
                    <m:r>
                      <a:rPr lang="en-US" altLang="zh-CN" sz="2000" b="0" i="1"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1</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𝑗</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≤16)</m:t>
                    </m:r>
                  </m:oMath>
                </a14:m>
                <a:r>
                  <a:rPr lang="zh-CN" altLang="en-US" sz="2000" dirty="0">
                    <a:latin typeface="Times New Roman" panose="02020603050405020304" pitchFamily="18" charset="0"/>
                    <a:cs typeface="Times New Roman" panose="02020603050405020304" pitchFamily="18" charset="0"/>
                  </a:rPr>
                  <a:t>，参与</a:t>
                </a:r>
                <a14:m>
                  <m:oMath xmlns:m="http://schemas.openxmlformats.org/officeDocument/2006/math">
                    <m:r>
                      <a:rPr lang="en-US" altLang="zh-CN" sz="2000" dirty="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4</m:t>
                    </m:r>
                    <m:r>
                      <a:rPr lang="en-US" altLang="zh-CN" sz="2000" b="0" i="0"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轮运算，每轮使用逻辑函数不同，分别为</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defRPr/>
                </a:pP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𝐹</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oMath>
                </a14:m>
                <a:r>
                  <a:rPr kumimoji="0" lang="en-US" altLang="zh-CN" b="0" i="1"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a:t>
                </a:r>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（第</a:t>
                </a:r>
                <a:r>
                  <a:rPr kumimoji="0" lang="en-US" altLang="zh-CN"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1</a:t>
                </a:r>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轮）</a:t>
                </a:r>
                <a:endParaRPr kumimoji="0" lang="en-US" altLang="zh-CN"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endParaRPr>
              </a:p>
              <a:p>
                <a:pPr marL="800100" lvl="1" indent="-342900" algn="just">
                  <a:lnSpc>
                    <a:spcPct val="130000"/>
                  </a:lnSpc>
                  <a:buFont typeface="Wingdings" panose="05000000000000000000" pitchFamily="2" charset="2"/>
                  <a:buChar char="Ø"/>
                  <a:defRPr/>
                </a:pPr>
                <a14:m>
                  <m:oMath xmlns:m="http://schemas.openxmlformats.org/officeDocument/2006/math">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𝐺</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e>
                    </m:d>
                  </m:oMath>
                </a14:m>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（第</a:t>
                </a:r>
                <a:r>
                  <a:rPr kumimoji="0" lang="en-US" altLang="zh-CN"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2</a:t>
                </a:r>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轮）</a:t>
                </a:r>
                <a:endParaRPr kumimoji="0" lang="en-US" altLang="zh-CN" b="0" i="1"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endParaRPr>
              </a:p>
              <a:p>
                <a:pPr marL="800100" lvl="1" indent="-342900" algn="just">
                  <a:lnSpc>
                    <a:spcPct val="130000"/>
                  </a:lnSpc>
                  <a:buFont typeface="Wingdings" panose="05000000000000000000" pitchFamily="2" charset="2"/>
                  <a:buChar char="Ø"/>
                  <a:defRPr/>
                </a:pPr>
                <a14:m>
                  <m:oMath xmlns:m="http://schemas.openxmlformats.org/officeDocument/2006/math">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𝐻</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oMath>
                </a14:m>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（第</a:t>
                </a:r>
                <a:r>
                  <a:rPr kumimoji="0" lang="en-US" altLang="zh-CN"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3</a:t>
                </a:r>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轮）</a:t>
                </a:r>
                <a:endParaRPr kumimoji="0" lang="en-US" altLang="zh-CN" b="0" i="1"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endParaRPr>
              </a:p>
              <a:p>
                <a:pPr marL="800100" lvl="1" indent="-342900" algn="just">
                  <a:lnSpc>
                    <a:spcPct val="130000"/>
                  </a:lnSpc>
                  <a:buFont typeface="Wingdings" panose="05000000000000000000" pitchFamily="2" charset="2"/>
                  <a:buChar char="Ø"/>
                  <a:defRPr/>
                </a:pPr>
                <a14:m>
                  <m:oMath xmlns:m="http://schemas.openxmlformats.org/officeDocument/2006/math">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𝐼</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𝑦</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𝑥</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d>
                      </m:e>
                    </m:d>
                  </m:oMath>
                </a14:m>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（第</a:t>
                </a:r>
                <a:r>
                  <a:rPr kumimoji="0" lang="en-US" altLang="zh-CN"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4</a:t>
                </a:r>
                <a:r>
                  <a:rPr kumimoji="0" lang="zh-CN" altLang="en-US" b="0" i="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轮）</a:t>
                </a:r>
                <a:endParaRPr lang="en-US" altLang="zh-CN" dirty="0">
                  <a:latin typeface="Times New Roman" panose="02020603050405020304" pitchFamily="18" charset="0"/>
                  <a:cs typeface="Times New Roman" panose="02020603050405020304" pitchFamily="18" charset="0"/>
                </a:endParaRPr>
              </a:p>
              <a:p>
                <a:pPr marL="342900" indent="-342900" algn="just">
                  <a:lnSpc>
                    <a:spcPct val="130000"/>
                  </a:lnSpc>
                  <a:spcBef>
                    <a:spcPts val="12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每轮又要进行 </a:t>
                </a:r>
                <a:r>
                  <a:rPr lang="en-US" altLang="zh-CN" sz="2000" dirty="0">
                    <a:latin typeface="Times New Roman" panose="02020603050405020304" pitchFamily="18" charset="0"/>
                    <a:cs typeface="Times New Roman" panose="02020603050405020304" pitchFamily="18" charset="0"/>
                  </a:rPr>
                  <a:t>16 </a:t>
                </a:r>
                <a:r>
                  <a:rPr lang="zh-CN" altLang="en-US" sz="2000" dirty="0">
                    <a:latin typeface="Times New Roman" panose="02020603050405020304" pitchFamily="18" charset="0"/>
                    <a:cs typeface="Times New Roman" panose="02020603050405020304" pitchFamily="18" charset="0"/>
                  </a:rPr>
                  <a:t>步迭代运算，四轮总共 </a:t>
                </a:r>
                <a:r>
                  <a:rPr lang="en-US" altLang="zh-CN" sz="2000" dirty="0">
                    <a:solidFill>
                      <a:srgbClr val="0000FF"/>
                    </a:solidFill>
                    <a:latin typeface="Times New Roman" panose="02020603050405020304" pitchFamily="18" charset="0"/>
                    <a:cs typeface="Times New Roman" panose="02020603050405020304" pitchFamily="18" charset="0"/>
                  </a:rPr>
                  <a:t>64 </a:t>
                </a:r>
                <a:r>
                  <a:rPr lang="zh-CN" altLang="en-US" sz="2000" dirty="0">
                    <a:solidFill>
                      <a:srgbClr val="0000FF"/>
                    </a:solidFill>
                    <a:latin typeface="Times New Roman" panose="02020603050405020304" pitchFamily="18" charset="0"/>
                    <a:cs typeface="Times New Roman" panose="02020603050405020304" pitchFamily="18" charset="0"/>
                  </a:rPr>
                  <a:t>步</a:t>
                </a:r>
                <a:r>
                  <a:rPr lang="zh-CN" altLang="en-US" sz="2000" dirty="0">
                    <a:latin typeface="Times New Roman" panose="02020603050405020304" pitchFamily="18" charset="0"/>
                    <a:cs typeface="Times New Roman" panose="02020603050405020304" pitchFamily="18" charset="0"/>
                  </a:rPr>
                  <a:t>迭代</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以第一轮运算为例，每个字</a:t>
                </a:r>
                <a14:m>
                  <m:oMath xmlns:m="http://schemas.openxmlformats.org/officeDocument/2006/math">
                    <m:r>
                      <a:rPr lang="en-US" altLang="zh-CN" b="0" i="0" dirty="0" smtClean="0">
                        <a:solidFill>
                          <a:schemeClr val="tx1"/>
                        </a:solidFill>
                        <a:latin typeface="Cambria Math" panose="02040503050406030204" pitchFamily="18" charset="0"/>
                        <a:cs typeface="Times New Roman" panose="02020603050405020304" pitchFamily="18" charset="0"/>
                      </a:rPr>
                      <m:t> </m:t>
                    </m:r>
                    <m:sSub>
                      <m:sSubPr>
                        <m:ctrlPr>
                          <a:rPr lang="en-US" altLang="zh-CN" b="0" i="1" dirty="0" smtClean="0">
                            <a:solidFill>
                              <a:schemeClr val="tx1"/>
                            </a:solidFill>
                            <a:latin typeface="Cambria Math" panose="02040503050406030204" pitchFamily="18" charset="0"/>
                            <a:cs typeface="Times New Roman" panose="02020603050405020304" pitchFamily="18" charset="0"/>
                          </a:rPr>
                        </m:ctrlPr>
                      </m:sSubPr>
                      <m:e>
                        <m:r>
                          <m:rPr>
                            <m:sty m:val="p"/>
                          </m:rPr>
                          <a:rPr lang="en-US" altLang="zh-CN" i="0" dirty="0" smtClean="0">
                            <a:solidFill>
                              <a:schemeClr val="tx1"/>
                            </a:solidFill>
                            <a:latin typeface="Cambria Math" panose="02040503050406030204" pitchFamily="18" charset="0"/>
                            <a:cs typeface="Times New Roman" panose="02020603050405020304" pitchFamily="18" charset="0"/>
                          </a:rPr>
                          <m:t>M</m:t>
                        </m:r>
                      </m:e>
                      <m:sub>
                        <m:r>
                          <a:rPr lang="en-US" altLang="zh-CN" b="0" i="1" dirty="0" smtClean="0">
                            <a:solidFill>
                              <a:schemeClr val="tx1"/>
                            </a:solidFill>
                            <a:latin typeface="Cambria Math" panose="02040503050406030204" pitchFamily="18" charset="0"/>
                            <a:cs typeface="Times New Roman" panose="02020603050405020304" pitchFamily="18" charset="0"/>
                          </a:rPr>
                          <m:t>𝑗</m:t>
                        </m:r>
                      </m:sub>
                    </m:sSub>
                    <m:r>
                      <a:rPr lang="en-US" altLang="zh-CN" b="0" i="0" dirty="0" smtClean="0">
                        <a:solidFill>
                          <a:schemeClr val="tx1"/>
                        </a:solidFill>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参与一步迭代，</a:t>
                </a:r>
                <a:r>
                  <a:rPr lang="en-US" altLang="zh-CN" dirty="0">
                    <a:latin typeface="Times New Roman" panose="02020603050405020304" pitchFamily="18" charset="0"/>
                    <a:cs typeface="Times New Roman" panose="02020603050405020304" pitchFamily="18" charset="0"/>
                  </a:rPr>
                  <a:t>16 </a:t>
                </a:r>
                <a:r>
                  <a:rPr lang="zh-CN" altLang="en-US" dirty="0">
                    <a:latin typeface="Times New Roman" panose="02020603050405020304" pitchFamily="18" charset="0"/>
                    <a:cs typeface="Times New Roman" panose="02020603050405020304" pitchFamily="18" charset="0"/>
                  </a:rPr>
                  <a:t>步迭代都执行逻辑函数 </a:t>
                </a:r>
                <a14:m>
                  <m:oMath xmlns:m="http://schemas.openxmlformats.org/officeDocument/2006/math">
                    <m:r>
                      <a:rPr lang="en-US" altLang="zh-CN" i="1" dirty="0">
                        <a:latin typeface="Cambria Math" panose="02040503050406030204" pitchFamily="18" charset="0"/>
                        <a:cs typeface="Times New Roman" panose="02020603050405020304" pitchFamily="18" charset="0"/>
                      </a:rPr>
                      <m:t>𝐹</m:t>
                    </m:r>
                  </m:oMath>
                </a14:m>
                <a:endParaRPr lang="en-US" altLang="zh-CN"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每步迭代生成的 </a:t>
                </a:r>
                <a:r>
                  <a:rPr lang="en-US" altLang="zh-CN" dirty="0">
                    <a:latin typeface="Times New Roman" panose="02020603050405020304" pitchFamily="18" charset="0"/>
                    <a:cs typeface="Times New Roman" panose="02020603050405020304" pitchFamily="18" charset="0"/>
                  </a:rPr>
                  <a:t>4 </a:t>
                </a:r>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32</m:t>
                    </m:r>
                    <m:r>
                      <m:rPr>
                        <m:sty m:val="p"/>
                      </m:rPr>
                      <a:rPr lang="en-US" altLang="zh-CN" i="0" dirty="0" smtClean="0">
                        <a:latin typeface="Cambria Math" panose="02040503050406030204" pitchFamily="18" charset="0"/>
                        <a:cs typeface="Times New Roman" panose="02020603050405020304" pitchFamily="18" charset="0"/>
                      </a:rPr>
                      <m:t>bits</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的中间变量</a:t>
                </a:r>
                <a14:m>
                  <m:oMath xmlns:m="http://schemas.openxmlformats.org/officeDocument/2006/math">
                    <m:r>
                      <a:rPr lang="en-US" altLang="zh-CN" b="0" i="0" dirty="0" smtClean="0">
                        <a:latin typeface="Cambria Math" panose="02040503050406030204" pitchFamily="18" charset="0"/>
                        <a:cs typeface="Times New Roman" panose="02020603050405020304" pitchFamily="18" charset="0"/>
                      </a:rPr>
                      <m:t> </m:t>
                    </m:r>
                    <m:r>
                      <a:rPr lang="en-US" altLang="zh-CN" i="1" dirty="0" smtClean="0">
                        <a:latin typeface="Cambria Math" panose="02040503050406030204" pitchFamily="18" charset="0"/>
                        <a:cs typeface="Times New Roman" panose="02020603050405020304" pitchFamily="18" charset="0"/>
                      </a:rPr>
                      <m:t>𝑎</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𝑏</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𝑐</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𝑑</m:t>
                    </m:r>
                    <m:r>
                      <a:rPr lang="en-US" altLang="zh-CN" b="0" i="1" dirty="0" smtClean="0">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作为下一步迭代的输入</a:t>
                </a:r>
                <a:endParaRPr lang="en-US" altLang="zh-CN" dirty="0">
                  <a:latin typeface="Times New Roman" panose="02020603050405020304" pitchFamily="18" charset="0"/>
                  <a:cs typeface="Times New Roman" panose="02020603050405020304" pitchFamily="18" charset="0"/>
                </a:endParaRPr>
              </a:p>
              <a:p>
                <a:pPr marL="342900" indent="-342900" algn="just">
                  <a:lnSpc>
                    <a:spcPct val="130000"/>
                  </a:lnSpc>
                  <a:spcBef>
                    <a:spcPts val="12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每轮运算生成的 </a:t>
                </a: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的中间变量</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𝑎</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𝑏</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𝑐</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𝑑</m:t>
                    </m:r>
                  </m:oMath>
                </a14:m>
                <a:r>
                  <a:rPr lang="zh-CN" altLang="en-US" sz="2000" dirty="0">
                    <a:latin typeface="Times New Roman" panose="02020603050405020304" pitchFamily="18" charset="0"/>
                    <a:cs typeface="Times New Roman" panose="02020603050405020304" pitchFamily="18" charset="0"/>
                  </a:rPr>
                  <a:t>作为下一轮运算的输入</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299056" y="1557124"/>
                <a:ext cx="8493405" cy="4552978"/>
              </a:xfrm>
              <a:prstGeom prst="rect">
                <a:avLst/>
              </a:prstGeom>
              <a:blipFill rotWithShape="0">
                <a:blip r:embed="rId3"/>
                <a:stretch>
                  <a:fillRect l="-646" r="-790" b="-1473"/>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spTree>
    <p:extLst>
      <p:ext uri="{BB962C8B-B14F-4D97-AF65-F5344CB8AC3E}">
        <p14:creationId xmlns:p14="http://schemas.microsoft.com/office/powerpoint/2010/main" val="1776094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44</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74D4E38-7884-41CD-A49F-AC22C7C236BE}"/>
                  </a:ext>
                </a:extLst>
              </p:cNvPr>
              <p:cNvSpPr txBox="1"/>
              <p:nvPr/>
            </p:nvSpPr>
            <p:spPr>
              <a:xfrm>
                <a:off x="299057" y="1652141"/>
                <a:ext cx="8493405" cy="3849900"/>
              </a:xfrm>
              <a:prstGeom prst="rect">
                <a:avLst/>
              </a:prstGeom>
              <a:noFill/>
            </p:spPr>
            <p:txBody>
              <a:bodyPr wrap="square" rtlCol="0">
                <a:spAutoFit/>
              </a:bodyPr>
              <a:lstStyle/>
              <a:p>
                <a:pPr marL="342900" marR="0" lvl="0" indent="-342900" defTabSz="457200" rtl="0" eaLnBrk="1" fontAlgn="auto" latinLnBrk="0" hangingPunct="1">
                  <a:lnSpc>
                    <a:spcPct val="120000"/>
                  </a:lnSpc>
                  <a:spcAft>
                    <a:spcPts val="600"/>
                  </a:spcAft>
                  <a:buClrTx/>
                  <a:buSzTx/>
                  <a:buFont typeface="Wingdings" panose="05000000000000000000" pitchFamily="2" charset="2"/>
                  <a:buChar char="l"/>
                  <a:tabLst/>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第一轮的一步</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对</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𝑎</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𝑏</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𝑐</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𝑑</m:t>
                    </m:r>
                    <m:r>
                      <a:rPr lang="en-US" altLang="zh-CN" sz="2000" b="0" i="1" dirty="0" smtClean="0">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四个缓冲区的字</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做如下运算</a:t>
                </a: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800100" lvl="1" indent="-342900">
                  <a:lnSpc>
                    <a:spcPct val="120000"/>
                  </a:lnSpc>
                  <a:buFont typeface="Wingdings" panose="05000000000000000000" pitchFamily="2" charset="2"/>
                  <a:buChar char="Ø"/>
                </a:pPr>
                <a14:m>
                  <m:oMath xmlns:m="http://schemas.openxmlformats.org/officeDocument/2006/math">
                    <m:r>
                      <a:rPr lang="en-US" altLang="zh-CN" sz="2000" i="1">
                        <a:latin typeface="Cambria Math" panose="02040503050406030204" pitchFamily="18" charset="0"/>
                        <a:cs typeface="Times New Roman" panose="02020603050405020304" pitchFamily="18" charset="0"/>
                      </a:rPr>
                      <m:t>𝑏</m:t>
                    </m:r>
                    <m:r>
                      <a:rPr lang="en-US" altLang="zh-CN" sz="2000" i="1" dirty="0" smtClean="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𝑏</m:t>
                    </m:r>
                    <m:r>
                      <a:rPr lang="en-US" altLang="zh-CN" sz="2000" i="1" dirty="0">
                        <a:solidFill>
                          <a:srgbClr val="0000FF"/>
                        </a:solidFill>
                        <a:latin typeface="Cambria Math" panose="02040503050406030204" pitchFamily="18" charset="0"/>
                      </a:rPr>
                      <m:t>+(</m:t>
                    </m:r>
                    <m:d>
                      <m:dPr>
                        <m:ctrlPr>
                          <a:rPr lang="en-US" altLang="zh-CN" sz="2000" i="1" dirty="0">
                            <a:solidFill>
                              <a:srgbClr val="0000FF"/>
                            </a:solidFill>
                            <a:latin typeface="Cambria Math" panose="02040503050406030204" pitchFamily="18" charset="0"/>
                          </a:rPr>
                        </m:ctrlPr>
                      </m:dPr>
                      <m:e>
                        <m:r>
                          <a:rPr lang="en-US" altLang="zh-CN" sz="2000" i="1" dirty="0">
                            <a:solidFill>
                              <a:srgbClr val="0000FF"/>
                            </a:solidFill>
                            <a:latin typeface="Cambria Math" panose="02040503050406030204" pitchFamily="18" charset="0"/>
                          </a:rPr>
                          <m:t>𝑎</m:t>
                        </m:r>
                        <m:r>
                          <a:rPr lang="en-US" altLang="zh-CN" sz="2000" i="1" dirty="0">
                            <a:solidFill>
                              <a:srgbClr val="0000FF"/>
                            </a:solidFill>
                            <a:latin typeface="Cambria Math" panose="02040503050406030204" pitchFamily="18" charset="0"/>
                          </a:rPr>
                          <m:t> + </m:t>
                        </m:r>
                        <m:r>
                          <a:rPr lang="en-US" altLang="zh-CN" sz="2000" i="1" dirty="0">
                            <a:solidFill>
                              <a:srgbClr val="0000FF"/>
                            </a:solidFill>
                            <a:latin typeface="Cambria Math" panose="02040503050406030204" pitchFamily="18" charset="0"/>
                          </a:rPr>
                          <m:t>𝐹</m:t>
                        </m:r>
                        <m:d>
                          <m:dPr>
                            <m:ctrlPr>
                              <a:rPr lang="en-US" altLang="zh-CN" sz="2000" i="1" dirty="0">
                                <a:solidFill>
                                  <a:srgbClr val="0000FF"/>
                                </a:solidFill>
                                <a:latin typeface="Cambria Math" panose="02040503050406030204" pitchFamily="18" charset="0"/>
                              </a:rPr>
                            </m:ctrlPr>
                          </m:dPr>
                          <m:e>
                            <m:r>
                              <a:rPr lang="en-US" altLang="zh-CN" sz="2000" i="1" dirty="0">
                                <a:solidFill>
                                  <a:srgbClr val="0000FF"/>
                                </a:solidFill>
                                <a:latin typeface="Cambria Math" panose="02040503050406030204" pitchFamily="18" charset="0"/>
                              </a:rPr>
                              <m:t>𝑏</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𝑐</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𝑑</m:t>
                            </m:r>
                          </m:e>
                        </m:d>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𝑀</m:t>
                            </m:r>
                          </m:e>
                          <m:sub>
                            <m:r>
                              <a:rPr lang="en-US" altLang="zh-CN" sz="2000" i="1" dirty="0">
                                <a:solidFill>
                                  <a:srgbClr val="0000FF"/>
                                </a:solidFill>
                                <a:latin typeface="Cambria Math" panose="02040503050406030204" pitchFamily="18" charset="0"/>
                              </a:rPr>
                              <m:t>𝑗</m:t>
                            </m:r>
                          </m:sub>
                        </m:sSub>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𝑡</m:t>
                            </m:r>
                          </m:e>
                          <m:sub>
                            <m:r>
                              <a:rPr lang="en-US" altLang="zh-CN" sz="2000" i="1" dirty="0">
                                <a:solidFill>
                                  <a:srgbClr val="0000FF"/>
                                </a:solidFill>
                                <a:latin typeface="Cambria Math" panose="02040503050406030204" pitchFamily="18" charset="0"/>
                              </a:rPr>
                              <m:t>𝑖</m:t>
                            </m:r>
                          </m:sub>
                        </m:sSub>
                      </m:e>
                    </m:d>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lang="en-US" altLang="zh-CN" sz="2000" i="1" dirty="0">
                        <a:solidFill>
                          <a:srgbClr val="0000FF"/>
                        </a:solidFill>
                        <a:latin typeface="Cambria Math" panose="02040503050406030204" pitchFamily="18" charset="0"/>
                      </a:rPr>
                      <m:t>𝑠</m:t>
                    </m:r>
                    <m:r>
                      <a:rPr lang="en-US" altLang="zh-CN" sz="2000" i="1" dirty="0">
                        <a:solidFill>
                          <a:srgbClr val="0000FF"/>
                        </a:solidFill>
                        <a:latin typeface="Cambria Math" panose="02040503050406030204" pitchFamily="18" charset="0"/>
                      </a:rPr>
                      <m:t>)</m:t>
                    </m:r>
                  </m:oMath>
                </a14:m>
                <a:endParaRPr lang="en-US" altLang="zh-CN" sz="2000" dirty="0">
                  <a:solidFill>
                    <a:srgbClr val="0000FF"/>
                  </a:solidFill>
                  <a:latin typeface="Times New Roman" panose="02020603050405020304" pitchFamily="18" charset="0"/>
                  <a:cs typeface="Times New Roman" panose="02020603050405020304" pitchFamily="18" charset="0"/>
                </a:endParaRPr>
              </a:p>
              <a:p>
                <a:pPr marL="800100" lvl="1" indent="-342900">
                  <a:lnSpc>
                    <a:spcPct val="120000"/>
                  </a:lnSpc>
                  <a:buFont typeface="Wingdings" panose="05000000000000000000" pitchFamily="2" charset="2"/>
                  <a:buChar char="Ø"/>
                </a:pPr>
                <a14:m>
                  <m:oMath xmlns:m="http://schemas.openxmlformats.org/officeDocument/2006/math">
                    <m:r>
                      <a:rPr lang="en-US" altLang="zh-CN" sz="2000" i="1" dirty="0" smtClean="0">
                        <a:solidFill>
                          <a:schemeClr val="tx1"/>
                        </a:solidFill>
                        <a:latin typeface="Cambria Math" panose="02040503050406030204" pitchFamily="18" charset="0"/>
                      </a:rPr>
                      <m:t>𝑎</m:t>
                    </m:r>
                    <m:r>
                      <a:rPr lang="en-US" altLang="zh-CN" sz="2000" i="1" dirty="0" smtClean="0">
                        <a:solidFill>
                          <a:schemeClr val="tx1"/>
                        </a:solidFill>
                        <a:latin typeface="Cambria Math" panose="02040503050406030204" pitchFamily="18" charset="0"/>
                      </a:rPr>
                      <m:t>←</m:t>
                    </m:r>
                    <m:r>
                      <a:rPr lang="en-US" altLang="zh-CN" sz="2000" b="0" i="1" dirty="0" smtClean="0">
                        <a:solidFill>
                          <a:srgbClr val="0000FF"/>
                        </a:solidFill>
                        <a:latin typeface="Cambria Math" panose="02040503050406030204" pitchFamily="18" charset="0"/>
                      </a:rPr>
                      <m:t>𝑑</m:t>
                    </m:r>
                  </m:oMath>
                </a14:m>
                <a:endParaRPr kumimoji="0" lang="en-US" altLang="zh-CN" sz="2000" b="0" u="none" strike="noStrike" kern="1200" cap="none" spc="0" normalizeH="0" baseline="0" noProof="0" dirty="0">
                  <a:ln>
                    <a:noFill/>
                  </a:ln>
                  <a:solidFill>
                    <a:srgbClr val="0000FF"/>
                  </a:solidFill>
                  <a:effectLst/>
                  <a:uLnTx/>
                  <a:uFillTx/>
                  <a:latin typeface="Times New Roman" panose="02020603050405020304" pitchFamily="18" charset="0"/>
                  <a:cs typeface="+mn-cs"/>
                </a:endParaRPr>
              </a:p>
              <a:p>
                <a:pPr marL="800100" lvl="1" indent="-342900">
                  <a:lnSpc>
                    <a:spcPct val="120000"/>
                  </a:lnSpc>
                  <a:buFont typeface="Wingdings" panose="05000000000000000000" pitchFamily="2" charset="2"/>
                  <a:buChar char="Ø"/>
                </a:pPr>
                <a14:m>
                  <m:oMath xmlns:m="http://schemas.openxmlformats.org/officeDocument/2006/math">
                    <m:r>
                      <a:rPr lang="en-US" altLang="zh-CN" sz="2000" i="1">
                        <a:latin typeface="Cambria Math" panose="02040503050406030204" pitchFamily="18" charset="0"/>
                      </a:rPr>
                      <m:t>𝑑</m:t>
                    </m:r>
                    <m:r>
                      <a:rPr lang="en-US" altLang="zh-CN" sz="2000" i="1" dirty="0">
                        <a:latin typeface="Cambria Math" panose="02040503050406030204" pitchFamily="18" charset="0"/>
                      </a:rPr>
                      <m:t>←</m:t>
                    </m:r>
                    <m:r>
                      <a:rPr lang="en-US" altLang="zh-CN" sz="2000" i="1" smtClean="0">
                        <a:solidFill>
                          <a:srgbClr val="0000FF"/>
                        </a:solidFill>
                        <a:latin typeface="Cambria Math" panose="02040503050406030204" pitchFamily="18" charset="0"/>
                        <a:cs typeface="Times New Roman" panose="02020603050405020304" pitchFamily="18" charset="0"/>
                      </a:rPr>
                      <m:t>𝑐</m:t>
                    </m:r>
                  </m:oMath>
                </a14:m>
                <a:endParaRPr lang="en-US" altLang="zh-CN" sz="2000" i="1" dirty="0">
                  <a:solidFill>
                    <a:srgbClr val="0000FF"/>
                  </a:solidFill>
                  <a:latin typeface="Cambria Math" panose="02040503050406030204" pitchFamily="18" charset="0"/>
                </a:endParaRPr>
              </a:p>
              <a:p>
                <a:pPr marL="800100" lvl="1" indent="-342900">
                  <a:lnSpc>
                    <a:spcPct val="120000"/>
                  </a:lnSpc>
                  <a:buFont typeface="Wingdings" panose="05000000000000000000" pitchFamily="2" charset="2"/>
                  <a:buChar char="Ø"/>
                </a:pPr>
                <a14:m>
                  <m:oMath xmlns:m="http://schemas.openxmlformats.org/officeDocument/2006/math">
                    <m:r>
                      <a:rPr lang="en-US" altLang="zh-CN" sz="2000" i="1" smtClean="0">
                        <a:solidFill>
                          <a:schemeClr val="tx1"/>
                        </a:solidFill>
                        <a:latin typeface="Cambria Math" panose="02040503050406030204" pitchFamily="18" charset="0"/>
                        <a:cs typeface="Times New Roman" panose="02020603050405020304" pitchFamily="18" charset="0"/>
                      </a:rPr>
                      <m:t>𝑐</m:t>
                    </m:r>
                    <m:r>
                      <a:rPr lang="en-US" altLang="zh-CN" sz="2000" i="1" dirty="0">
                        <a:latin typeface="Cambria Math" panose="02040503050406030204" pitchFamily="18" charset="0"/>
                      </a:rPr>
                      <m:t>←</m:t>
                    </m:r>
                    <m:r>
                      <a:rPr lang="en-US" altLang="zh-CN" sz="2000" i="1" dirty="0" smtClean="0">
                        <a:solidFill>
                          <a:srgbClr val="0000FF"/>
                        </a:solidFill>
                        <a:latin typeface="Cambria Math" panose="02040503050406030204" pitchFamily="18" charset="0"/>
                      </a:rPr>
                      <m:t>𝑏</m:t>
                    </m:r>
                  </m:oMath>
                </a14:m>
                <a:endParaRPr lang="en-US" altLang="zh-CN" sz="2000" dirty="0">
                  <a:solidFill>
                    <a:srgbClr val="0000FF"/>
                  </a:solidFill>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defRPr/>
                </a:pPr>
                <a:r>
                  <a:rPr lang="zh-CN" altLang="en-US" sz="2000" noProof="0" dirty="0">
                    <a:latin typeface="Cambria Math" panose="02040503050406030204" pitchFamily="18" charset="0"/>
                  </a:rPr>
                  <a:t>第一轮如上运行 </a:t>
                </a:r>
                <a:r>
                  <a:rPr lang="en-US" altLang="zh-CN" sz="2000" noProof="0" dirty="0">
                    <a:latin typeface="Cambria Math" panose="02040503050406030204" pitchFamily="18" charset="0"/>
                  </a:rPr>
                  <a:t>16 </a:t>
                </a:r>
                <a:r>
                  <a:rPr lang="zh-CN" altLang="en-US" sz="2000" noProof="0" dirty="0">
                    <a:latin typeface="Cambria Math" panose="02040503050406030204" pitchFamily="18" charset="0"/>
                  </a:rPr>
                  <a:t>步迭代，其中每步迭代中</a:t>
                </a:r>
                <a:endParaRPr lang="en-US" altLang="zh-CN" sz="2000" i="1"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𝑀</m:t>
                        </m:r>
                      </m:e>
                      <m:sub>
                        <m:r>
                          <a:rPr lang="en-US" altLang="zh-CN" sz="2000" i="1" dirty="0">
                            <a:solidFill>
                              <a:schemeClr val="tx1"/>
                            </a:solidFill>
                            <a:latin typeface="Cambria Math" panose="02040503050406030204" pitchFamily="18" charset="0"/>
                          </a:rPr>
                          <m:t>𝑗</m:t>
                        </m:r>
                      </m:sub>
                    </m:sSub>
                    <m:r>
                      <a:rPr lang="en-US" altLang="zh-CN" sz="2000" b="0" i="1" dirty="0" smtClean="0">
                        <a:solidFill>
                          <a:schemeClr val="tx1"/>
                        </a:solidFill>
                        <a:latin typeface="Cambria Math" panose="02040503050406030204" pitchFamily="18" charset="0"/>
                      </a:rPr>
                      <m:t> </m:t>
                    </m:r>
                    <m:r>
                      <a:rPr lang="zh-CN" altLang="en-US" sz="2000" i="1" dirty="0">
                        <a:latin typeface="Cambria Math" panose="02040503050406030204" pitchFamily="18" charset="0"/>
                      </a:rPr>
                      <m:t>是</m:t>
                    </m:r>
                  </m:oMath>
                </a14:m>
                <a:r>
                  <a:rPr lang="en-US" altLang="zh-CN" sz="2000" dirty="0">
                    <a:latin typeface="Times New Roman" panose="02020603050405020304" pitchFamily="18" charset="0"/>
                    <a:cs typeface="Times New Roman" panose="02020603050405020304" pitchFamily="18" charset="0"/>
                  </a:rPr>
                  <a:t> 512bits </a:t>
                </a:r>
                <a:r>
                  <a:rPr lang="zh-CN" altLang="en-US" sz="2000" dirty="0">
                    <a:latin typeface="Times New Roman" panose="02020603050405020304" pitchFamily="18" charset="0"/>
                    <a:cs typeface="Times New Roman" panose="02020603050405020304" pitchFamily="18" charset="0"/>
                  </a:rPr>
                  <a:t>分组消息的初始次序的第</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𝑗</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32</m:t>
                    </m:r>
                    <m:r>
                      <m:rPr>
                        <m:sty m:val="p"/>
                      </m:rPr>
                      <a:rPr lang="en-US" altLang="zh-CN" sz="2000" dirty="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字，</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1</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𝑗</m:t>
                    </m:r>
                    <m:r>
                      <a:rPr lang="en-US" altLang="zh-CN" sz="2000" i="1" dirty="0">
                        <a:latin typeface="Cambria Math" panose="02040503050406030204" pitchFamily="18" charset="0"/>
                        <a:ea typeface="Cambria Math" panose="02040503050406030204" pitchFamily="18" charset="0"/>
                        <a:cs typeface="Times New Roman" panose="02020603050405020304" pitchFamily="18" charset="0"/>
                      </a:rPr>
                      <m:t>≤16</m:t>
                    </m:r>
                  </m:oMath>
                </a14:m>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smtClean="0">
                            <a:solidFill>
                              <a:schemeClr val="tx1"/>
                            </a:solidFill>
                            <a:effectLst/>
                            <a:latin typeface="Cambria Math" panose="02040503050406030204" pitchFamily="18" charset="0"/>
                          </a:rPr>
                        </m:ctrlPr>
                      </m:sSubPr>
                      <m:e>
                        <m:r>
                          <a:rPr lang="en-US" altLang="zh-CN"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a14:m>
                <a:r>
                  <a:rPr kumimoji="0" lang="en-US" altLang="zh-CN"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a:t>
                </a:r>
                <a:r>
                  <a:rPr kumimoji="0" lang="zh-CN" altLang="en-US"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为常数，</a:t>
                </a:r>
                <a:r>
                  <a:rPr lang="zh-CN" altLang="en-US" dirty="0">
                    <a:solidFill>
                      <a:prstClr val="black"/>
                    </a:solidFill>
                    <a:latin typeface="Cambria Math" panose="02040503050406030204" pitchFamily="18" charset="0"/>
                    <a:cs typeface="Times New Roman" panose="02020603050405020304" pitchFamily="18" charset="0"/>
                  </a:rPr>
                  <a:t>计算为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zh-CN" altLang="en-US" b="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dirty="0">
                    <a:latin typeface="Cambria Math" panose="02040503050406030204" pitchFamily="18" charset="0"/>
                  </a:rPr>
                  <a:t>第一轮中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1≤</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≤16</m:t>
                    </m:r>
                  </m:oMath>
                </a14:m>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r>
                      <a:rPr lang="en-US" altLang="zh-CN" b="0" i="1" smtClean="0">
                        <a:latin typeface="Cambria Math" panose="02040503050406030204" pitchFamily="18" charset="0"/>
                        <a:cs typeface="Times New Roman" panose="02020603050405020304" pitchFamily="18" charset="0"/>
                      </a:rPr>
                      <m:t>𝑠</m:t>
                    </m:r>
                    <m:r>
                      <a:rPr lang="en-US" altLang="zh-CN" b="0" i="1" smtClean="0">
                        <a:latin typeface="Cambria Math" panose="02040503050406030204" pitchFamily="18" charset="0"/>
                        <a:cs typeface="Times New Roman" panose="02020603050405020304" pitchFamily="18" charset="0"/>
                      </a:rPr>
                      <m:t> </m:t>
                    </m:r>
                  </m:oMath>
                </a14:m>
                <a:r>
                  <a:rPr lang="zh-CN" altLang="en-US" dirty="0">
                    <a:cs typeface="Times New Roman" panose="02020603050405020304" pitchFamily="18" charset="0"/>
                  </a:rPr>
                  <a:t>为循环左移的位数</a:t>
                </a:r>
              </a:p>
            </p:txBody>
          </p:sp>
        </mc:Choice>
        <mc:Fallback xmlns="">
          <p:sp>
            <p:nvSpPr>
              <p:cNvPr id="47" name="文本框 46">
                <a:extLst>
                  <a:ext uri="{FF2B5EF4-FFF2-40B4-BE49-F238E27FC236}">
                    <a16:creationId xmlns="" xmlns:a16="http://schemas.microsoft.com/office/drawing/2014/main" xmlns:a14="http://schemas.microsoft.com/office/drawing/2010/main" id="{674D4E38-7884-41CD-A49F-AC22C7C236BE}"/>
                  </a:ext>
                </a:extLst>
              </p:cNvPr>
              <p:cNvSpPr txBox="1">
                <a:spLocks noRot="1" noChangeAspect="1" noMove="1" noResize="1" noEditPoints="1" noAdjustHandles="1" noChangeArrowheads="1" noChangeShapeType="1" noTextEdit="1"/>
              </p:cNvSpPr>
              <p:nvPr/>
            </p:nvSpPr>
            <p:spPr>
              <a:xfrm>
                <a:off x="299057" y="1652141"/>
                <a:ext cx="8493405" cy="3849900"/>
              </a:xfrm>
              <a:prstGeom prst="rect">
                <a:avLst/>
              </a:prstGeom>
              <a:blipFill rotWithShape="0">
                <a:blip r:embed="rId3"/>
                <a:stretch>
                  <a:fillRect l="-646" b="-7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53391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45</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grpSp>
        <p:nvGrpSpPr>
          <p:cNvPr id="23" name="组合 22">
            <a:extLst>
              <a:ext uri="{FF2B5EF4-FFF2-40B4-BE49-F238E27FC236}">
                <a16:creationId xmlns:a16="http://schemas.microsoft.com/office/drawing/2014/main" id="{57E01F46-17B9-48E2-9E52-9914863DD24B}"/>
              </a:ext>
            </a:extLst>
          </p:cNvPr>
          <p:cNvGrpSpPr/>
          <p:nvPr/>
        </p:nvGrpSpPr>
        <p:grpSpPr>
          <a:xfrm>
            <a:off x="1290673" y="2133871"/>
            <a:ext cx="6857842" cy="2910932"/>
            <a:chOff x="1202856" y="3001618"/>
            <a:chExt cx="6857842" cy="2910932"/>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ED0A63B-5769-44D0-9896-F9418A2109E6}"/>
                    </a:ext>
                  </a:extLst>
                </p:cNvPr>
                <p:cNvSpPr/>
                <p:nvPr/>
              </p:nvSpPr>
              <p:spPr>
                <a:xfrm>
                  <a:off x="1202857" y="370315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1202857" y="3703159"/>
                  <a:ext cx="659230" cy="392180"/>
                </a:xfrm>
                <a:prstGeom prst="rect">
                  <a:avLst/>
                </a:prstGeom>
                <a:blipFill>
                  <a:blip r:embed="rId3"/>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83712F-73C2-41E1-944D-748919379163}"/>
                    </a:ext>
                  </a:extLst>
                </p:cNvPr>
                <p:cNvSpPr/>
                <p:nvPr/>
              </p:nvSpPr>
              <p:spPr>
                <a:xfrm>
                  <a:off x="1202857" y="409533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1202857" y="4095339"/>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95344C1-E330-4311-8301-532F616074B6}"/>
                    </a:ext>
                  </a:extLst>
                </p:cNvPr>
                <p:cNvSpPr/>
                <p:nvPr/>
              </p:nvSpPr>
              <p:spPr>
                <a:xfrm>
                  <a:off x="1202857" y="448751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1202857" y="4487519"/>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71099A2-F5D2-4D2C-BFED-5C3E6C09E51A}"/>
                    </a:ext>
                  </a:extLst>
                </p:cNvPr>
                <p:cNvSpPr/>
                <p:nvPr/>
              </p:nvSpPr>
              <p:spPr>
                <a:xfrm>
                  <a:off x="1202857" y="487969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1202857" y="4879699"/>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p:sp>
          <p:nvSpPr>
            <p:cNvPr id="4" name="流程图: 或者 3">
              <a:extLst>
                <a:ext uri="{FF2B5EF4-FFF2-40B4-BE49-F238E27FC236}">
                  <a16:creationId xmlns:a16="http://schemas.microsoft.com/office/drawing/2014/main" id="{0DF44410-B37A-40D2-81C8-4ACB894A6406}"/>
                </a:ext>
              </a:extLst>
            </p:cNvPr>
            <p:cNvSpPr/>
            <p:nvPr/>
          </p:nvSpPr>
          <p:spPr>
            <a:xfrm>
              <a:off x="2370216" y="370315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566E1AAD-833A-410E-B999-5ECD7A2DBB34}"/>
                </a:ext>
              </a:extLst>
            </p:cNvPr>
            <p:cNvCxnSpPr>
              <a:cxnSpLocks/>
              <a:stCxn id="8" idx="3"/>
              <a:endCxn id="4" idx="2"/>
            </p:cNvCxnSpPr>
            <p:nvPr/>
          </p:nvCxnSpPr>
          <p:spPr>
            <a:xfrm>
              <a:off x="1862087" y="3899249"/>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4" name="流程图: 或者 13">
              <a:extLst>
                <a:ext uri="{FF2B5EF4-FFF2-40B4-BE49-F238E27FC236}">
                  <a16:creationId xmlns:a16="http://schemas.microsoft.com/office/drawing/2014/main" id="{F174C252-2BF4-4B53-9223-E48D6DA8F9FC}"/>
                </a:ext>
              </a:extLst>
            </p:cNvPr>
            <p:cNvSpPr/>
            <p:nvPr/>
          </p:nvSpPr>
          <p:spPr>
            <a:xfrm>
              <a:off x="3210287"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9E5E886B-50ED-4836-B5CF-4227A90E3634}"/>
                </a:ext>
              </a:extLst>
            </p:cNvPr>
            <p:cNvCxnSpPr>
              <a:cxnSpLocks/>
              <a:stCxn id="4" idx="6"/>
              <a:endCxn id="14" idx="2"/>
            </p:cNvCxnSpPr>
            <p:nvPr/>
          </p:nvCxnSpPr>
          <p:spPr>
            <a:xfrm flipV="1">
              <a:off x="2762616" y="3893539"/>
              <a:ext cx="447671"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BF794E53-00E7-4716-AC9B-E61338B123CC}"/>
                </a:ext>
              </a:extLst>
            </p:cNvPr>
            <p:cNvSpPr/>
            <p:nvPr/>
          </p:nvSpPr>
          <p:spPr>
            <a:xfrm>
              <a:off x="4050358"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443A69C2-4D99-49F0-8FE8-C0BACEDC7CD6}"/>
                </a:ext>
              </a:extLst>
            </p:cNvPr>
            <p:cNvCxnSpPr>
              <a:cxnSpLocks/>
              <a:stCxn id="14" idx="6"/>
              <a:endCxn id="20" idx="2"/>
            </p:cNvCxnSpPr>
            <p:nvPr/>
          </p:nvCxnSpPr>
          <p:spPr>
            <a:xfrm>
              <a:off x="3602687" y="3893539"/>
              <a:ext cx="447671"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86AE1CAE-A369-49AE-9B4B-BA3D33059678}"/>
                    </a:ext>
                  </a:extLst>
                </p:cNvPr>
                <p:cNvSpPr/>
                <p:nvPr/>
              </p:nvSpPr>
              <p:spPr>
                <a:xfrm>
                  <a:off x="4835158" y="3697449"/>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zh-CN" altLang="en-US"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5" name="矩形 24">
                  <a:extLst>
                    <a:ext uri="{FF2B5EF4-FFF2-40B4-BE49-F238E27FC236}">
                      <a16:creationId xmlns:a16="http://schemas.microsoft.com/office/drawing/2014/main" xmlns:a14="http://schemas.microsoft.com/office/drawing/2010/main" xmlns="" id="{86AE1CAE-A369-49AE-9B4B-BA3D33059678}"/>
                    </a:ext>
                  </a:extLst>
                </p:cNvPr>
                <p:cNvSpPr>
                  <a:spLocks noRot="1" noChangeAspect="1" noMove="1" noResize="1" noEditPoints="1" noAdjustHandles="1" noChangeArrowheads="1" noChangeShapeType="1" noTextEdit="1"/>
                </p:cNvSpPr>
                <p:nvPr/>
              </p:nvSpPr>
              <p:spPr>
                <a:xfrm>
                  <a:off x="4835158" y="3697449"/>
                  <a:ext cx="906053" cy="392180"/>
                </a:xfrm>
                <a:prstGeom prst="rect">
                  <a:avLst/>
                </a:prstGeom>
                <a:blipFill rotWithShape="0">
                  <a:blip r:embed="rId7"/>
                  <a:stretch>
                    <a:fillRect/>
                  </a:stretch>
                </a:blipFill>
                <a:ln w="9525">
                  <a:solidFill>
                    <a:schemeClr val="tx1"/>
                  </a:solidFill>
                </a:ln>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983C4BDE-46AB-4077-B223-EE6240C17862}"/>
                </a:ext>
              </a:extLst>
            </p:cNvPr>
            <p:cNvCxnSpPr>
              <a:cxnSpLocks/>
              <a:stCxn id="20" idx="6"/>
              <a:endCxn id="25" idx="1"/>
            </p:cNvCxnSpPr>
            <p:nvPr/>
          </p:nvCxnSpPr>
          <p:spPr>
            <a:xfrm>
              <a:off x="4442758" y="3893539"/>
              <a:ext cx="392400"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33" name="流程图: 或者 32">
              <a:extLst>
                <a:ext uri="{FF2B5EF4-FFF2-40B4-BE49-F238E27FC236}">
                  <a16:creationId xmlns:a16="http://schemas.microsoft.com/office/drawing/2014/main" id="{17335A67-EACD-458C-AADA-5B161C5DECA4}"/>
                </a:ext>
              </a:extLst>
            </p:cNvPr>
            <p:cNvSpPr/>
            <p:nvPr/>
          </p:nvSpPr>
          <p:spPr>
            <a:xfrm>
              <a:off x="6205129" y="369767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a:extLst>
                <a:ext uri="{FF2B5EF4-FFF2-40B4-BE49-F238E27FC236}">
                  <a16:creationId xmlns:a16="http://schemas.microsoft.com/office/drawing/2014/main" id="{CB715DD6-BCF8-473A-9FF4-B390F1C4355C}"/>
                </a:ext>
              </a:extLst>
            </p:cNvPr>
            <p:cNvCxnSpPr>
              <a:cxnSpLocks/>
              <a:stCxn id="25" idx="3"/>
              <a:endCxn id="33" idx="2"/>
            </p:cNvCxnSpPr>
            <p:nvPr/>
          </p:nvCxnSpPr>
          <p:spPr>
            <a:xfrm>
              <a:off x="5741211" y="3893539"/>
              <a:ext cx="463918" cy="2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171AB742-84FF-4DF9-AD30-368E8CCB1A1C}"/>
                    </a:ext>
                  </a:extLst>
                </p:cNvPr>
                <p:cNvSpPr/>
                <p:nvPr/>
              </p:nvSpPr>
              <p:spPr>
                <a:xfrm>
                  <a:off x="7401468" y="369744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401468" y="3697449"/>
                  <a:ext cx="659230" cy="392180"/>
                </a:xfrm>
                <a:prstGeom prst="rect">
                  <a:avLst/>
                </a:prstGeom>
                <a:blipFill>
                  <a:blip r:embed="rId8"/>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E39CFEC-B2E4-4FD9-87F0-F12DCB08068D}"/>
                    </a:ext>
                  </a:extLst>
                </p:cNvPr>
                <p:cNvSpPr/>
                <p:nvPr/>
              </p:nvSpPr>
              <p:spPr>
                <a:xfrm>
                  <a:off x="7401468" y="408962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401468" y="4089629"/>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AC91102-39CE-43DA-8FEB-1CB6BDDD3E5A}"/>
                    </a:ext>
                  </a:extLst>
                </p:cNvPr>
                <p:cNvSpPr/>
                <p:nvPr/>
              </p:nvSpPr>
              <p:spPr>
                <a:xfrm>
                  <a:off x="7401468" y="448180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401468" y="4481809"/>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D8EDBEA5-5971-4F15-8C40-E0AA2CB8F772}"/>
                    </a:ext>
                  </a:extLst>
                </p:cNvPr>
                <p:cNvSpPr/>
                <p:nvPr/>
              </p:nvSpPr>
              <p:spPr>
                <a:xfrm>
                  <a:off x="7401468" y="487398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401468" y="4873989"/>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EAA66C8B-9528-423E-9DDB-946BA23FC243}"/>
                </a:ext>
              </a:extLst>
            </p:cNvPr>
            <p:cNvCxnSpPr>
              <a:cxnSpLocks/>
              <a:endCxn id="38" idx="1"/>
            </p:cNvCxnSpPr>
            <p:nvPr/>
          </p:nvCxnSpPr>
          <p:spPr>
            <a:xfrm>
              <a:off x="6889759" y="4268017"/>
              <a:ext cx="511709" cy="4098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直接箭头连接符 42">
              <a:extLst>
                <a:ext uri="{FF2B5EF4-FFF2-40B4-BE49-F238E27FC236}">
                  <a16:creationId xmlns:a16="http://schemas.microsoft.com/office/drawing/2014/main" id="{01705B3D-6BD5-4466-A81B-FB52D8371B47}"/>
                </a:ext>
              </a:extLst>
            </p:cNvPr>
            <p:cNvCxnSpPr>
              <a:cxnSpLocks/>
            </p:cNvCxnSpPr>
            <p:nvPr/>
          </p:nvCxnSpPr>
          <p:spPr>
            <a:xfrm>
              <a:off x="6877059" y="4663314"/>
              <a:ext cx="524409" cy="3890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接箭头连接符 45">
              <a:extLst>
                <a:ext uri="{FF2B5EF4-FFF2-40B4-BE49-F238E27FC236}">
                  <a16:creationId xmlns:a16="http://schemas.microsoft.com/office/drawing/2014/main" id="{CE2BE79D-BE01-4507-8B12-0F6D84048D5C}"/>
                </a:ext>
              </a:extLst>
            </p:cNvPr>
            <p:cNvCxnSpPr>
              <a:cxnSpLocks/>
              <a:endCxn id="36" idx="1"/>
            </p:cNvCxnSpPr>
            <p:nvPr/>
          </p:nvCxnSpPr>
          <p:spPr>
            <a:xfrm flipV="1">
              <a:off x="6870709" y="3893539"/>
              <a:ext cx="530759" cy="11588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直接箭头连接符 48">
              <a:extLst>
                <a:ext uri="{FF2B5EF4-FFF2-40B4-BE49-F238E27FC236}">
                  <a16:creationId xmlns:a16="http://schemas.microsoft.com/office/drawing/2014/main" id="{EFBDE949-6829-4F2E-9DEE-3C8BF3DA6BF2}"/>
                </a:ext>
              </a:extLst>
            </p:cNvPr>
            <p:cNvCxnSpPr>
              <a:cxnSpLocks/>
              <a:endCxn id="37" idx="1"/>
            </p:cNvCxnSpPr>
            <p:nvPr/>
          </p:nvCxnSpPr>
          <p:spPr>
            <a:xfrm>
              <a:off x="6889759" y="3892078"/>
              <a:ext cx="511709" cy="393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直接箭头连接符 51">
              <a:extLst>
                <a:ext uri="{FF2B5EF4-FFF2-40B4-BE49-F238E27FC236}">
                  <a16:creationId xmlns:a16="http://schemas.microsoft.com/office/drawing/2014/main" id="{FB452F92-522D-477B-A5E0-F70EBB269641}"/>
                </a:ext>
              </a:extLst>
            </p:cNvPr>
            <p:cNvCxnSpPr>
              <a:cxnSpLocks/>
            </p:cNvCxnSpPr>
            <p:nvPr/>
          </p:nvCxnSpPr>
          <p:spPr>
            <a:xfrm flipV="1">
              <a:off x="6597529" y="3893537"/>
              <a:ext cx="292230" cy="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0" name="直接箭头连接符 59">
              <a:extLst>
                <a:ext uri="{FF2B5EF4-FFF2-40B4-BE49-F238E27FC236}">
                  <a16:creationId xmlns:a16="http://schemas.microsoft.com/office/drawing/2014/main" id="{57FA8043-6EB5-4B0C-A0F1-F3541E5CD329}"/>
                </a:ext>
              </a:extLst>
            </p:cNvPr>
            <p:cNvCxnSpPr>
              <a:cxnSpLocks/>
              <a:stCxn id="9" idx="3"/>
            </p:cNvCxnSpPr>
            <p:nvPr/>
          </p:nvCxnSpPr>
          <p:spPr>
            <a:xfrm flipV="1">
              <a:off x="1862087" y="4270913"/>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6" name="直接箭头连接符 75">
              <a:extLst>
                <a:ext uri="{FF2B5EF4-FFF2-40B4-BE49-F238E27FC236}">
                  <a16:creationId xmlns:a16="http://schemas.microsoft.com/office/drawing/2014/main" id="{047AA163-B390-4BD3-B3EB-1AF00A9AC67E}"/>
                </a:ext>
              </a:extLst>
            </p:cNvPr>
            <p:cNvCxnSpPr>
              <a:cxnSpLocks/>
              <a:stCxn id="10" idx="3"/>
            </p:cNvCxnSpPr>
            <p:nvPr/>
          </p:nvCxnSpPr>
          <p:spPr>
            <a:xfrm flipV="1">
              <a:off x="1862087" y="4664432"/>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8" name="直接箭头连接符 77">
              <a:extLst>
                <a:ext uri="{FF2B5EF4-FFF2-40B4-BE49-F238E27FC236}">
                  <a16:creationId xmlns:a16="http://schemas.microsoft.com/office/drawing/2014/main" id="{B554FDAF-2039-4ED4-8D59-C2C10A8397FC}"/>
                </a:ext>
              </a:extLst>
            </p:cNvPr>
            <p:cNvCxnSpPr>
              <a:cxnSpLocks/>
            </p:cNvCxnSpPr>
            <p:nvPr/>
          </p:nvCxnSpPr>
          <p:spPr>
            <a:xfrm flipV="1">
              <a:off x="1852664" y="5042027"/>
              <a:ext cx="5024395" cy="2805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89" name="直接箭头连接符 88">
              <a:extLst>
                <a:ext uri="{FF2B5EF4-FFF2-40B4-BE49-F238E27FC236}">
                  <a16:creationId xmlns:a16="http://schemas.microsoft.com/office/drawing/2014/main" id="{F8F35B23-ACD3-4112-8419-190D51E46E3B}"/>
                </a:ext>
              </a:extLst>
            </p:cNvPr>
            <p:cNvCxnSpPr>
              <a:cxnSpLocks/>
            </p:cNvCxnSpPr>
            <p:nvPr/>
          </p:nvCxnSpPr>
          <p:spPr>
            <a:xfrm flipV="1">
              <a:off x="6404518" y="4089630"/>
              <a:ext cx="0" cy="17838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110" name="连接符: 肘形 109">
              <a:extLst>
                <a:ext uri="{FF2B5EF4-FFF2-40B4-BE49-F238E27FC236}">
                  <a16:creationId xmlns:a16="http://schemas.microsoft.com/office/drawing/2014/main" id="{50E74F85-A332-418E-B154-751F656D5B8E}"/>
                </a:ext>
              </a:extLst>
            </p:cNvPr>
            <p:cNvCxnSpPr>
              <a:cxnSpLocks/>
              <a:stCxn id="9" idx="1"/>
              <a:endCxn id="111" idx="1"/>
            </p:cNvCxnSpPr>
            <p:nvPr/>
          </p:nvCxnSpPr>
          <p:spPr>
            <a:xfrm rot="10800000" flipH="1" flipV="1">
              <a:off x="1202856" y="4291428"/>
              <a:ext cx="658901" cy="1424921"/>
            </a:xfrm>
            <a:prstGeom prst="bentConnector3">
              <a:avLst>
                <a:gd name="adj1" fmla="val -34694"/>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矩形: 圆角 110">
                  <a:extLst>
                    <a:ext uri="{FF2B5EF4-FFF2-40B4-BE49-F238E27FC236}">
                      <a16:creationId xmlns:a16="http://schemas.microsoft.com/office/drawing/2014/main" id="{D133FAD3-C7D8-47D3-B4BF-DD248AEA40C3}"/>
                    </a:ext>
                  </a:extLst>
                </p:cNvPr>
                <p:cNvSpPr/>
                <p:nvPr/>
              </p:nvSpPr>
              <p:spPr>
                <a:xfrm>
                  <a:off x="1861758" y="5520150"/>
                  <a:ext cx="1409316"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a:solidFill>
                        <a:srgbClr val="0000FF"/>
                      </a:solidFill>
                    </a:rPr>
                    <a:t>逻辑函数</a:t>
                  </a:r>
                  <a14:m>
                    <m:oMath xmlns:m="http://schemas.openxmlformats.org/officeDocument/2006/math">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𝐹</m:t>
                      </m:r>
                    </m:oMath>
                  </a14:m>
                  <a:endParaRPr lang="zh-CN" altLang="en-US" dirty="0">
                    <a:solidFill>
                      <a:srgbClr val="0000FF"/>
                    </a:solidFill>
                  </a:endParaRPr>
                </a:p>
              </p:txBody>
            </p:sp>
          </mc:Choice>
          <mc:Fallback xmlns="">
            <p:sp>
              <p:nvSpPr>
                <p:cNvPr id="111" name="矩形: 圆角 110">
                  <a:extLst>
                    <a:ext uri="{FF2B5EF4-FFF2-40B4-BE49-F238E27FC236}">
                      <a16:creationId xmlns:a16="http://schemas.microsoft.com/office/drawing/2014/main" id="{D133FAD3-C7D8-47D3-B4BF-DD248AEA40C3}"/>
                    </a:ext>
                  </a:extLst>
                </p:cNvPr>
                <p:cNvSpPr>
                  <a:spLocks noRot="1" noChangeAspect="1" noMove="1" noResize="1" noEditPoints="1" noAdjustHandles="1" noChangeArrowheads="1" noChangeShapeType="1" noTextEdit="1"/>
                </p:cNvSpPr>
                <p:nvPr/>
              </p:nvSpPr>
              <p:spPr>
                <a:xfrm>
                  <a:off x="1861758" y="5520150"/>
                  <a:ext cx="1409316" cy="392400"/>
                </a:xfrm>
                <a:prstGeom prst="roundRect">
                  <a:avLst/>
                </a:prstGeom>
                <a:blipFill>
                  <a:blip r:embed="rId12"/>
                  <a:stretch>
                    <a:fillRect t="-2985" b="-17910"/>
                  </a:stretch>
                </a:blipFill>
                <a:ln w="12700">
                  <a:solidFill>
                    <a:srgbClr val="2A2A2A"/>
                  </a:solidFill>
                </a:ln>
              </p:spPr>
              <p:txBody>
                <a:bodyPr/>
                <a:lstStyle/>
                <a:p>
                  <a:r>
                    <a:rPr lang="zh-CN" altLang="en-US">
                      <a:noFill/>
                    </a:rPr>
                    <a:t> </a:t>
                  </a:r>
                </a:p>
              </p:txBody>
            </p:sp>
          </mc:Fallback>
        </mc:AlternateContent>
        <p:cxnSp>
          <p:nvCxnSpPr>
            <p:cNvPr id="115" name="连接符: 肘形 114">
              <a:extLst>
                <a:ext uri="{FF2B5EF4-FFF2-40B4-BE49-F238E27FC236}">
                  <a16:creationId xmlns:a16="http://schemas.microsoft.com/office/drawing/2014/main" id="{427E9DE4-D4F4-44A9-8DD7-B427FE0E21BA}"/>
                </a:ext>
              </a:extLst>
            </p:cNvPr>
            <p:cNvCxnSpPr>
              <a:cxnSpLocks/>
              <a:stCxn id="10" idx="1"/>
              <a:endCxn id="111" idx="1"/>
            </p:cNvCxnSpPr>
            <p:nvPr/>
          </p:nvCxnSpPr>
          <p:spPr>
            <a:xfrm rot="10800000" flipH="1" flipV="1">
              <a:off x="1202856" y="4683608"/>
              <a:ext cx="658901" cy="1032741"/>
            </a:xfrm>
            <a:prstGeom prst="bentConnector3">
              <a:avLst>
                <a:gd name="adj1" fmla="val -34694"/>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连接符: 肘形 117">
              <a:extLst>
                <a:ext uri="{FF2B5EF4-FFF2-40B4-BE49-F238E27FC236}">
                  <a16:creationId xmlns:a16="http://schemas.microsoft.com/office/drawing/2014/main" id="{4D92A3B0-9766-4F97-B9C2-E8DE9EB9E345}"/>
                </a:ext>
              </a:extLst>
            </p:cNvPr>
            <p:cNvCxnSpPr>
              <a:cxnSpLocks/>
              <a:stCxn id="11" idx="1"/>
              <a:endCxn id="111" idx="1"/>
            </p:cNvCxnSpPr>
            <p:nvPr/>
          </p:nvCxnSpPr>
          <p:spPr>
            <a:xfrm rot="10800000" flipH="1" flipV="1">
              <a:off x="1202856" y="5075788"/>
              <a:ext cx="658901" cy="640561"/>
            </a:xfrm>
            <a:prstGeom prst="bentConnector3">
              <a:avLst>
                <a:gd name="adj1" fmla="val -34694"/>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3F01390B-000F-4B1F-938F-CD9B657310ED}"/>
                </a:ext>
              </a:extLst>
            </p:cNvPr>
            <p:cNvCxnSpPr>
              <a:cxnSpLocks/>
              <a:stCxn id="111" idx="0"/>
              <a:endCxn id="4" idx="4"/>
            </p:cNvCxnSpPr>
            <p:nvPr/>
          </p:nvCxnSpPr>
          <p:spPr>
            <a:xfrm flipV="1">
              <a:off x="2566416" y="4095339"/>
              <a:ext cx="0" cy="1424811"/>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直接箭头连接符 135">
              <a:extLst>
                <a:ext uri="{FF2B5EF4-FFF2-40B4-BE49-F238E27FC236}">
                  <a16:creationId xmlns:a16="http://schemas.microsoft.com/office/drawing/2014/main" id="{26C22B0F-773D-46F9-BAB5-3F9F7848E845}"/>
                </a:ext>
              </a:extLst>
            </p:cNvPr>
            <p:cNvCxnSpPr>
              <a:cxnSpLocks/>
              <a:stCxn id="141" idx="2"/>
              <a:endCxn id="14" idx="0"/>
            </p:cNvCxnSpPr>
            <p:nvPr/>
          </p:nvCxnSpPr>
          <p:spPr>
            <a:xfrm>
              <a:off x="3403180" y="3410189"/>
              <a:ext cx="3307" cy="28726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DAC2DAD2-D9D2-4951-851B-A8D0808B036C}"/>
                    </a:ext>
                  </a:extLst>
                </p:cNvPr>
                <p:cNvSpPr txBox="1"/>
                <p:nvPr/>
              </p:nvSpPr>
              <p:spPr>
                <a:xfrm>
                  <a:off x="3176038" y="3018543"/>
                  <a:ext cx="45428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i="1" dirty="0">
                                <a:solidFill>
                                  <a:schemeClr val="tx1"/>
                                </a:solidFill>
                                <a:latin typeface="Cambria Math" panose="02040503050406030204" pitchFamily="18" charset="0"/>
                              </a:rPr>
                              <m:t>𝑀</m:t>
                            </m:r>
                          </m:e>
                          <m:sub>
                            <m:r>
                              <a:rPr lang="en-US" altLang="zh-CN" i="1" dirty="0">
                                <a:solidFill>
                                  <a:schemeClr val="tx1"/>
                                </a:solidFill>
                                <a:latin typeface="Cambria Math" panose="02040503050406030204" pitchFamily="18" charset="0"/>
                              </a:rPr>
                              <m:t>𝑗</m:t>
                            </m:r>
                          </m:sub>
                        </m:sSub>
                      </m:oMath>
                    </m:oMathPara>
                  </a14:m>
                  <a:endParaRPr lang="zh-CN" altLang="en-US" dirty="0">
                    <a:solidFill>
                      <a:schemeClr val="tx1"/>
                    </a:solidFill>
                  </a:endParaRPr>
                </a:p>
              </p:txBody>
            </p:sp>
          </mc:Choice>
          <mc:Fallback xmlns="">
            <p:sp>
              <p:nvSpPr>
                <p:cNvPr id="141" name="文本框 140">
                  <a:extLst>
                    <a:ext uri="{FF2B5EF4-FFF2-40B4-BE49-F238E27FC236}">
                      <a16:creationId xmlns:a16="http://schemas.microsoft.com/office/drawing/2014/main" id="{DAC2DAD2-D9D2-4951-851B-A8D0808B036C}"/>
                    </a:ext>
                  </a:extLst>
                </p:cNvPr>
                <p:cNvSpPr txBox="1">
                  <a:spLocks noRot="1" noChangeAspect="1" noMove="1" noResize="1" noEditPoints="1" noAdjustHandles="1" noChangeArrowheads="1" noChangeShapeType="1" noTextEdit="1"/>
                </p:cNvSpPr>
                <p:nvPr/>
              </p:nvSpPr>
              <p:spPr>
                <a:xfrm>
                  <a:off x="3176038" y="3018543"/>
                  <a:ext cx="454284" cy="391646"/>
                </a:xfrm>
                <a:prstGeom prst="rect">
                  <a:avLst/>
                </a:prstGeom>
                <a:blipFill>
                  <a:blip r:embed="rId13"/>
                  <a:stretch>
                    <a:fillRect b="-9375"/>
                  </a:stretch>
                </a:blipFill>
              </p:spPr>
              <p:txBody>
                <a:bodyPr/>
                <a:lstStyle/>
                <a:p>
                  <a:r>
                    <a:rPr lang="zh-CN" altLang="en-US">
                      <a:noFill/>
                    </a:rPr>
                    <a:t> </a:t>
                  </a:r>
                </a:p>
              </p:txBody>
            </p:sp>
          </mc:Fallback>
        </mc:AlternateContent>
        <p:cxnSp>
          <p:nvCxnSpPr>
            <p:cNvPr id="142" name="直接箭头连接符 141">
              <a:extLst>
                <a:ext uri="{FF2B5EF4-FFF2-40B4-BE49-F238E27FC236}">
                  <a16:creationId xmlns:a16="http://schemas.microsoft.com/office/drawing/2014/main" id="{CA452595-0DDC-4BA7-BFA9-60CCFBA2B42A}"/>
                </a:ext>
              </a:extLst>
            </p:cNvPr>
            <p:cNvCxnSpPr>
              <a:cxnSpLocks/>
              <a:endCxn id="20" idx="0"/>
            </p:cNvCxnSpPr>
            <p:nvPr/>
          </p:nvCxnSpPr>
          <p:spPr>
            <a:xfrm>
              <a:off x="4246558" y="3449472"/>
              <a:ext cx="0" cy="24797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AB2C34C9-E03F-4062-BDBA-FBB33FE5A7CE}"/>
                    </a:ext>
                  </a:extLst>
                </p:cNvPr>
                <p:cNvSpPr txBox="1"/>
                <p:nvPr/>
              </p:nvSpPr>
              <p:spPr>
                <a:xfrm>
                  <a:off x="3974277" y="3001618"/>
                  <a:ext cx="521643"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m:oMathPara>
                  </a14:m>
                  <a:endParaRPr lang="zh-CN" altLang="en-US" dirty="0">
                    <a:solidFill>
                      <a:schemeClr val="tx1"/>
                    </a:solidFill>
                  </a:endParaRPr>
                </a:p>
              </p:txBody>
            </p:sp>
          </mc:Choice>
          <mc:Fallback xmlns="">
            <p:sp>
              <p:nvSpPr>
                <p:cNvPr id="143" name="文本框 142">
                  <a:extLst>
                    <a:ext uri="{FF2B5EF4-FFF2-40B4-BE49-F238E27FC236}">
                      <a16:creationId xmlns:a16="http://schemas.microsoft.com/office/drawing/2014/main" id="{AB2C34C9-E03F-4062-BDBA-FBB33FE5A7CE}"/>
                    </a:ext>
                  </a:extLst>
                </p:cNvPr>
                <p:cNvSpPr txBox="1">
                  <a:spLocks noRot="1" noChangeAspect="1" noMove="1" noResize="1" noEditPoints="1" noAdjustHandles="1" noChangeArrowheads="1" noChangeShapeType="1" noTextEdit="1"/>
                </p:cNvSpPr>
                <p:nvPr/>
              </p:nvSpPr>
              <p:spPr>
                <a:xfrm>
                  <a:off x="3974277" y="3001618"/>
                  <a:ext cx="521643" cy="370294"/>
                </a:xfrm>
                <a:prstGeom prst="rect">
                  <a:avLst/>
                </a:prstGeom>
                <a:blipFill>
                  <a:blip r:embed="rId14"/>
                  <a:stretch>
                    <a:fillRect b="-1639"/>
                  </a:stretch>
                </a:blipFill>
              </p:spPr>
              <p:txBody>
                <a:bodyPr/>
                <a:lstStyle/>
                <a:p>
                  <a:r>
                    <a:rPr lang="zh-CN" altLang="en-US">
                      <a:noFill/>
                    </a:rPr>
                    <a:t> </a:t>
                  </a:r>
                </a:p>
              </p:txBody>
            </p:sp>
          </mc:Fallback>
        </mc:AlternateContent>
      </p:grpSp>
      <p:sp>
        <p:nvSpPr>
          <p:cNvPr id="47" name="文本框 46">
            <a:extLst>
              <a:ext uri="{FF2B5EF4-FFF2-40B4-BE49-F238E27FC236}">
                <a16:creationId xmlns:a16="http://schemas.microsoft.com/office/drawing/2014/main" id="{674D4E38-7884-41CD-A49F-AC22C7C236BE}"/>
              </a:ext>
            </a:extLst>
          </p:cNvPr>
          <p:cNvSpPr txBox="1"/>
          <p:nvPr/>
        </p:nvSpPr>
        <p:spPr>
          <a:xfrm>
            <a:off x="299056" y="1557124"/>
            <a:ext cx="8493405" cy="430182"/>
          </a:xfrm>
          <a:prstGeom prst="rect">
            <a:avLst/>
          </a:prstGeom>
          <a:noFill/>
        </p:spPr>
        <p:txBody>
          <a:bodyPr wrap="square" rtlCol="0">
            <a:spAutoFit/>
          </a:bodyPr>
          <a:lstStyle/>
          <a:p>
            <a:pPr marL="0" marR="0" lvl="0" indent="0" defTabSz="457200" rtl="0" eaLnBrk="1" fontAlgn="auto" latinLnBrk="0" hangingPunct="1">
              <a:lnSpc>
                <a:spcPct val="120000"/>
              </a:lnSpc>
              <a:spcAft>
                <a:spcPts val="0"/>
              </a:spcAft>
              <a:buClrTx/>
              <a:buSzTx/>
              <a:buFontTx/>
              <a:buNone/>
              <a:tabLst/>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第一轮的一步</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迭代示意图</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2953847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46</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74D4E38-7884-41CD-A49F-AC22C7C236BE}"/>
                  </a:ext>
                </a:extLst>
              </p:cNvPr>
              <p:cNvSpPr txBox="1"/>
              <p:nvPr/>
            </p:nvSpPr>
            <p:spPr>
              <a:xfrm>
                <a:off x="299056" y="1557124"/>
                <a:ext cx="8493405" cy="2952603"/>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第二轮</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迭代运算与第一轮相同，但是使用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r>
                      <a:rPr lang="en-US" altLang="zh-CN" sz="2000" b="0" i="1" smtClean="0">
                        <a:solidFill>
                          <a:srgbClr val="0000FF"/>
                        </a:solidFill>
                        <a:latin typeface="Cambria Math" panose="02040503050406030204" pitchFamily="18" charset="0"/>
                        <a:cs typeface="Times New Roman" panose="02020603050405020304" pitchFamily="18" charset="0"/>
                      </a:rPr>
                      <m:t>𝐺</m:t>
                    </m:r>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defRPr/>
                </a:pP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𝑎</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𝐺</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𝑐</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𝑑</m:t>
                                  </m:r>
                                </m:e>
                              </m:d>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𝑀</m:t>
                                  </m:r>
                                </m:e>
                                <m:sub>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𝑗</m:t>
                                  </m:r>
                                </m:sub>
                              </m:s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𝑡</m:t>
                                  </m:r>
                                </m:e>
                                <m: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𝑖</m:t>
                                  </m:r>
                                </m:sub>
                              </m:sSub>
                            </m:e>
                          </m:d>
                          <m:r>
                            <a:rPr lang="en-US" altLang="zh-CN"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𝑠</m:t>
                          </m:r>
                        </m:e>
                      </m:d>
                    </m:oMath>
                  </m:oMathPara>
                </a14:m>
                <a:endParaRPr lang="en-US" altLang="zh-CN" dirty="0">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第二轮同样运行 </a:t>
                </a:r>
                <a:r>
                  <a:rPr lang="en-US" altLang="zh-CN" sz="2000" dirty="0">
                    <a:latin typeface="Cambria Math" panose="02040503050406030204" pitchFamily="18" charset="0"/>
                  </a:rPr>
                  <a:t>16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𝑀</m:t>
                        </m:r>
                      </m:e>
                      <m:sub>
                        <m:r>
                          <a:rPr lang="en-US" altLang="zh-CN" i="1" dirty="0">
                            <a:latin typeface="Cambria Math" panose="02040503050406030204" pitchFamily="18" charset="0"/>
                          </a:rPr>
                          <m:t>𝑗</m:t>
                        </m:r>
                      </m:sub>
                    </m:sSub>
                    <m:r>
                      <a:rPr lang="en-US" altLang="zh-CN" i="1" dirty="0">
                        <a:latin typeface="Cambria Math" panose="02040503050406030204" pitchFamily="18" charset="0"/>
                      </a:rPr>
                      <m:t> </m:t>
                    </m:r>
                    <m:r>
                      <a:rPr lang="zh-CN" altLang="en-US" i="1" dirty="0" smtClean="0">
                        <a:latin typeface="Cambria Math" panose="02040503050406030204" pitchFamily="18" charset="0"/>
                      </a:rPr>
                      <m:t>是</m:t>
                    </m:r>
                  </m:oMath>
                </a14:m>
                <a:r>
                  <a:rPr lang="zh-CN" altLang="en-US" dirty="0">
                    <a:latin typeface="Times New Roman" panose="02020603050405020304" pitchFamily="18" charset="0"/>
                    <a:cs typeface="Times New Roman" panose="02020603050405020304" pitchFamily="18" charset="0"/>
                  </a:rPr>
                  <a:t>原分组消息的第 </a:t>
                </a:r>
                <a14:m>
                  <m:oMath xmlns:m="http://schemas.openxmlformats.org/officeDocument/2006/math">
                    <m:d>
                      <m:dPr>
                        <m:ctrlPr>
                          <a:rPr lang="en-US" altLang="zh-CN" b="0" i="1" dirty="0" smtClean="0">
                            <a:solidFill>
                              <a:srgbClr val="0000FF"/>
                            </a:solidFill>
                            <a:latin typeface="Cambria Math" panose="02040503050406030204" pitchFamily="18" charset="0"/>
                            <a:cs typeface="Times New Roman" panose="02020603050405020304" pitchFamily="18" charset="0"/>
                          </a:rPr>
                        </m:ctrlPr>
                      </m:dPr>
                      <m:e>
                        <m:r>
                          <a:rPr lang="en-US" altLang="zh-CN" b="0" i="1" dirty="0" smtClean="0">
                            <a:solidFill>
                              <a:srgbClr val="0000FF"/>
                            </a:solidFill>
                            <a:latin typeface="Cambria Math" panose="02040503050406030204" pitchFamily="18" charset="0"/>
                            <a:cs typeface="Times New Roman" panose="02020603050405020304" pitchFamily="18" charset="0"/>
                          </a:rPr>
                          <m:t>1+5</m:t>
                        </m:r>
                        <m:r>
                          <a:rPr lang="en-US" altLang="zh-CN" b="0" i="1" smtClean="0">
                            <a:solidFill>
                              <a:srgbClr val="0000FF"/>
                            </a:solidFill>
                            <a:latin typeface="Cambria Math" panose="02040503050406030204" pitchFamily="18" charset="0"/>
                            <a:cs typeface="Times New Roman" panose="02020603050405020304" pitchFamily="18" charset="0"/>
                          </a:rPr>
                          <m:t>𝑗</m:t>
                        </m:r>
                      </m:e>
                    </m:d>
                    <m:r>
                      <a:rPr lang="en-US" altLang="zh-CN" b="0" i="0" smtClean="0">
                        <a:solidFill>
                          <a:srgbClr val="0000FF"/>
                        </a:solidFill>
                        <a:latin typeface="Cambria Math" panose="02040503050406030204" pitchFamily="18" charset="0"/>
                        <a:cs typeface="Times New Roman" panose="02020603050405020304" pitchFamily="18" charset="0"/>
                      </a:rPr>
                      <m:t> </m:t>
                    </m:r>
                    <m:r>
                      <m:rPr>
                        <m:sty m:val="p"/>
                      </m:rPr>
                      <a:rPr lang="en-US" altLang="zh-CN" b="0" i="0" smtClean="0">
                        <a:solidFill>
                          <a:srgbClr val="0000FF"/>
                        </a:solidFill>
                        <a:latin typeface="Cambria Math" panose="02040503050406030204" pitchFamily="18" charset="0"/>
                        <a:cs typeface="Times New Roman" panose="02020603050405020304" pitchFamily="18" charset="0"/>
                      </a:rPr>
                      <m:t>mod</m:t>
                    </m:r>
                    <m:r>
                      <a:rPr lang="en-US" altLang="zh-CN" b="0" i="1" smtClean="0">
                        <a:solidFill>
                          <a:srgbClr val="0000FF"/>
                        </a:solidFill>
                        <a:latin typeface="Cambria Math" panose="02040503050406030204" pitchFamily="18" charset="0"/>
                        <a:cs typeface="Times New Roman" panose="02020603050405020304" pitchFamily="18" charset="0"/>
                      </a:rPr>
                      <m:t> 16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zh-CN" altLang="en-US" dirty="0">
                    <a:latin typeface="Times New Roman" panose="02020603050405020304" pitchFamily="18" charset="0"/>
                    <a:cs typeface="Times New Roman" panose="02020603050405020304" pitchFamily="18" charset="0"/>
                  </a:rPr>
                  <a:t> 字，</a:t>
                </a:r>
                <a14:m>
                  <m:oMath xmlns:m="http://schemas.openxmlformats.org/officeDocument/2006/math">
                    <m:r>
                      <a:rPr lang="en-US" altLang="zh-CN" i="1" dirty="0">
                        <a:latin typeface="Cambria Math" panose="02040503050406030204" pitchFamily="18" charset="0"/>
                        <a:cs typeface="Times New Roman" panose="02020603050405020304" pitchFamily="18" charset="0"/>
                      </a:rPr>
                      <m:t>1</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𝑗</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≤16</m:t>
                    </m:r>
                  </m:oMath>
                </a14:m>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smtClean="0">
                            <a:solidFill>
                              <a:schemeClr val="tx1"/>
                            </a:solidFill>
                            <a:effectLst/>
                            <a:latin typeface="Cambria Math" panose="02040503050406030204" pitchFamily="18" charset="0"/>
                          </a:rPr>
                        </m:ctrlPr>
                      </m:sSubPr>
                      <m:e>
                        <m:r>
                          <a:rPr lang="en-US" altLang="zh-CN"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a14:m>
                <a:r>
                  <a:rPr kumimoji="0" lang="en-US" altLang="zh-CN"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a:t>
                </a:r>
                <a:r>
                  <a:rPr kumimoji="0" lang="zh-CN" altLang="en-US"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为常数，</a:t>
                </a:r>
                <a:r>
                  <a:rPr lang="zh-CN" altLang="en-US" dirty="0">
                    <a:solidFill>
                      <a:prstClr val="black"/>
                    </a:solidFill>
                    <a:latin typeface="Cambria Math" panose="02040503050406030204" pitchFamily="18" charset="0"/>
                    <a:cs typeface="Times New Roman" panose="02020603050405020304" pitchFamily="18" charset="0"/>
                  </a:rPr>
                  <a:t>计算为</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 </m:t>
                        </m:r>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zh-CN" altLang="en-US" b="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dirty="0">
                    <a:latin typeface="Cambria Math" panose="02040503050406030204" pitchFamily="18" charset="0"/>
                  </a:rPr>
                  <a:t>第二轮中</a:t>
                </a:r>
                <a14:m>
                  <m:oMath xmlns:m="http://schemas.openxmlformats.org/officeDocument/2006/math">
                    <m: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i="1">
                        <a:latin typeface="Cambria Math" panose="02040503050406030204" pitchFamily="18" charset="0"/>
                        <a:ea typeface="Cambria Math" panose="02040503050406030204" pitchFamily="18" charset="0"/>
                        <a:cs typeface="Times New Roman" panose="02020603050405020304" pitchFamily="18" charset="0"/>
                      </a:rPr>
                      <m:t>1</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7</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≤32</m:t>
                    </m:r>
                  </m:oMath>
                </a14:m>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xmlns="" xmlns:a14="http://schemas.microsoft.com/office/drawing/2010/main" id="{674D4E38-7884-41CD-A49F-AC22C7C236BE}"/>
                  </a:ext>
                </a:extLst>
              </p:cNvPr>
              <p:cNvSpPr txBox="1">
                <a:spLocks noRot="1" noChangeAspect="1" noMove="1" noResize="1" noEditPoints="1" noAdjustHandles="1" noChangeArrowheads="1" noChangeShapeType="1" noTextEdit="1"/>
              </p:cNvSpPr>
              <p:nvPr/>
            </p:nvSpPr>
            <p:spPr>
              <a:xfrm>
                <a:off x="299056" y="1557124"/>
                <a:ext cx="8493405" cy="2952603"/>
              </a:xfrm>
              <a:prstGeom prst="rect">
                <a:avLst/>
              </a:prstGeom>
              <a:blipFill rotWithShape="0">
                <a:blip r:embed="rId3"/>
                <a:stretch>
                  <a:fillRect l="-646"/>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D62E891F-3FA0-4E26-B89F-1A7B3A2163E6}"/>
              </a:ext>
            </a:extLst>
          </p:cNvPr>
          <p:cNvGrpSpPr/>
          <p:nvPr/>
        </p:nvGrpSpPr>
        <p:grpSpPr>
          <a:xfrm>
            <a:off x="1116837" y="3807724"/>
            <a:ext cx="6857841" cy="2518062"/>
            <a:chOff x="1202857" y="3076682"/>
            <a:chExt cx="6857841" cy="2681421"/>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474BE353-7D32-4E98-8F37-A26F76F9C23B}"/>
                    </a:ext>
                  </a:extLst>
                </p:cNvPr>
                <p:cNvSpPr/>
                <p:nvPr/>
              </p:nvSpPr>
              <p:spPr>
                <a:xfrm>
                  <a:off x="1202857" y="370315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1202857" y="3703159"/>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AAF9653-29EA-42D3-94D5-79F80EC35BAB}"/>
                    </a:ext>
                  </a:extLst>
                </p:cNvPr>
                <p:cNvSpPr/>
                <p:nvPr/>
              </p:nvSpPr>
              <p:spPr>
                <a:xfrm>
                  <a:off x="1202857" y="409533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1202857" y="4095339"/>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55D74A9-92E4-4372-9510-657265ACE405}"/>
                    </a:ext>
                  </a:extLst>
                </p:cNvPr>
                <p:cNvSpPr/>
                <p:nvPr/>
              </p:nvSpPr>
              <p:spPr>
                <a:xfrm>
                  <a:off x="1202857" y="448751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1202857" y="4487519"/>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D10D0CA-736B-4F7D-B588-4867B5FCC1B3}"/>
                    </a:ext>
                  </a:extLst>
                </p:cNvPr>
                <p:cNvSpPr/>
                <p:nvPr/>
              </p:nvSpPr>
              <p:spPr>
                <a:xfrm>
                  <a:off x="1202857" y="487969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1202857" y="4879699"/>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12" name="流程图: 或者 11">
              <a:extLst>
                <a:ext uri="{FF2B5EF4-FFF2-40B4-BE49-F238E27FC236}">
                  <a16:creationId xmlns:a16="http://schemas.microsoft.com/office/drawing/2014/main" id="{AC0BB1F5-56D6-4657-81BA-C07A259E81C2}"/>
                </a:ext>
              </a:extLst>
            </p:cNvPr>
            <p:cNvSpPr/>
            <p:nvPr/>
          </p:nvSpPr>
          <p:spPr>
            <a:xfrm>
              <a:off x="2370216" y="370315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84C1692C-E1E6-4726-8273-61DCA05A07D1}"/>
                </a:ext>
              </a:extLst>
            </p:cNvPr>
            <p:cNvCxnSpPr>
              <a:cxnSpLocks/>
              <a:stCxn id="8" idx="3"/>
              <a:endCxn id="12" idx="2"/>
            </p:cNvCxnSpPr>
            <p:nvPr/>
          </p:nvCxnSpPr>
          <p:spPr>
            <a:xfrm>
              <a:off x="1862087" y="3899249"/>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4" name="流程图: 或者 13">
              <a:extLst>
                <a:ext uri="{FF2B5EF4-FFF2-40B4-BE49-F238E27FC236}">
                  <a16:creationId xmlns:a16="http://schemas.microsoft.com/office/drawing/2014/main" id="{B467868E-218D-4437-B154-73950B139C7C}"/>
                </a:ext>
              </a:extLst>
            </p:cNvPr>
            <p:cNvSpPr/>
            <p:nvPr/>
          </p:nvSpPr>
          <p:spPr>
            <a:xfrm>
              <a:off x="3210287"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1F5BB2F1-9684-45DE-9E00-C6276A3FD654}"/>
                </a:ext>
              </a:extLst>
            </p:cNvPr>
            <p:cNvCxnSpPr>
              <a:cxnSpLocks/>
              <a:stCxn id="12" idx="6"/>
              <a:endCxn id="14" idx="2"/>
            </p:cNvCxnSpPr>
            <p:nvPr/>
          </p:nvCxnSpPr>
          <p:spPr>
            <a:xfrm flipV="1">
              <a:off x="2762616" y="3893539"/>
              <a:ext cx="447671"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6" name="流程图: 或者 15">
              <a:extLst>
                <a:ext uri="{FF2B5EF4-FFF2-40B4-BE49-F238E27FC236}">
                  <a16:creationId xmlns:a16="http://schemas.microsoft.com/office/drawing/2014/main" id="{FBB1E31C-A3B0-4F17-B068-0A0818FDFFAE}"/>
                </a:ext>
              </a:extLst>
            </p:cNvPr>
            <p:cNvSpPr/>
            <p:nvPr/>
          </p:nvSpPr>
          <p:spPr>
            <a:xfrm>
              <a:off x="4050358"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D6C9BB4C-4123-4385-A445-6BC8C56B95B1}"/>
                </a:ext>
              </a:extLst>
            </p:cNvPr>
            <p:cNvCxnSpPr>
              <a:cxnSpLocks/>
              <a:stCxn id="14" idx="6"/>
              <a:endCxn id="16" idx="2"/>
            </p:cNvCxnSpPr>
            <p:nvPr/>
          </p:nvCxnSpPr>
          <p:spPr>
            <a:xfrm>
              <a:off x="3602687" y="3893539"/>
              <a:ext cx="447671"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2E3F8E9C-B610-436D-A88A-6759DA7496AA}"/>
                    </a:ext>
                  </a:extLst>
                </p:cNvPr>
                <p:cNvSpPr/>
                <p:nvPr/>
              </p:nvSpPr>
              <p:spPr>
                <a:xfrm>
                  <a:off x="4835158" y="3697449"/>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zh-CN" altLang="en-US"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xmlns:a14="http://schemas.microsoft.com/office/drawing/2010/main" xmlns="" id="{2E3F8E9C-B610-436D-A88A-6759DA7496AA}"/>
                    </a:ext>
                  </a:extLst>
                </p:cNvPr>
                <p:cNvSpPr>
                  <a:spLocks noRot="1" noChangeAspect="1" noMove="1" noResize="1" noEditPoints="1" noAdjustHandles="1" noChangeArrowheads="1" noChangeShapeType="1" noTextEdit="1"/>
                </p:cNvSpPr>
                <p:nvPr/>
              </p:nvSpPr>
              <p:spPr>
                <a:xfrm>
                  <a:off x="4835158" y="3697449"/>
                  <a:ext cx="906053" cy="392180"/>
                </a:xfrm>
                <a:prstGeom prst="rect">
                  <a:avLst/>
                </a:prstGeom>
                <a:blipFill rotWithShape="0">
                  <a:blip r:embed="rId8"/>
                  <a:stretch>
                    <a:fillRect/>
                  </a:stretch>
                </a:blipFill>
                <a:ln w="9525">
                  <a:solidFill>
                    <a:schemeClr val="tx1"/>
                  </a:solidFill>
                </a:ln>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4073A21A-F046-453C-8B5C-0B62C75B970F}"/>
                </a:ext>
              </a:extLst>
            </p:cNvPr>
            <p:cNvCxnSpPr>
              <a:cxnSpLocks/>
              <a:stCxn id="16" idx="6"/>
              <a:endCxn id="18" idx="1"/>
            </p:cNvCxnSpPr>
            <p:nvPr/>
          </p:nvCxnSpPr>
          <p:spPr>
            <a:xfrm>
              <a:off x="4442758" y="3893539"/>
              <a:ext cx="392400"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5C96F498-18D0-4E0E-A54F-54DAA70207F3}"/>
                </a:ext>
              </a:extLst>
            </p:cNvPr>
            <p:cNvSpPr/>
            <p:nvPr/>
          </p:nvSpPr>
          <p:spPr>
            <a:xfrm>
              <a:off x="6205129" y="369767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3A31CA1D-9465-47AE-B809-A5EE9CE0BF12}"/>
                </a:ext>
              </a:extLst>
            </p:cNvPr>
            <p:cNvCxnSpPr>
              <a:cxnSpLocks/>
              <a:stCxn id="18" idx="3"/>
              <a:endCxn id="20" idx="2"/>
            </p:cNvCxnSpPr>
            <p:nvPr/>
          </p:nvCxnSpPr>
          <p:spPr>
            <a:xfrm>
              <a:off x="5741211" y="3893539"/>
              <a:ext cx="463918" cy="2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77F9F53C-02CE-49FF-BCAB-551812D3AE0C}"/>
                    </a:ext>
                  </a:extLst>
                </p:cNvPr>
                <p:cNvSpPr/>
                <p:nvPr/>
              </p:nvSpPr>
              <p:spPr>
                <a:xfrm>
                  <a:off x="7401468" y="369744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401468" y="3697449"/>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6E10CA2B-FFEF-4111-8EE3-FFCDD4A3CF4B}"/>
                    </a:ext>
                  </a:extLst>
                </p:cNvPr>
                <p:cNvSpPr/>
                <p:nvPr/>
              </p:nvSpPr>
              <p:spPr>
                <a:xfrm>
                  <a:off x="7401468" y="408962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401468" y="4089629"/>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184A5EE-0454-416A-866A-B0E37E662705}"/>
                    </a:ext>
                  </a:extLst>
                </p:cNvPr>
                <p:cNvSpPr/>
                <p:nvPr/>
              </p:nvSpPr>
              <p:spPr>
                <a:xfrm>
                  <a:off x="7401468" y="448180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401468" y="4481809"/>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5D441BB3-F9C3-4BBA-BC29-B8489685417A}"/>
                    </a:ext>
                  </a:extLst>
                </p:cNvPr>
                <p:cNvSpPr/>
                <p:nvPr/>
              </p:nvSpPr>
              <p:spPr>
                <a:xfrm>
                  <a:off x="7401468" y="487398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401468" y="4873989"/>
                  <a:ext cx="659230" cy="392180"/>
                </a:xfrm>
                <a:prstGeom prst="rect">
                  <a:avLst/>
                </a:prstGeom>
                <a:blipFill>
                  <a:blip r:embed="rId12"/>
                  <a:stretch>
                    <a:fillRect/>
                  </a:stretch>
                </a:blipFill>
                <a:ln w="9525">
                  <a:solidFill>
                    <a:schemeClr val="tx1"/>
                  </a:solidFill>
                </a:ln>
              </p:spPr>
              <p:txBody>
                <a:bodyPr/>
                <a:lstStyle/>
                <a:p>
                  <a:r>
                    <a:rPr lang="zh-CN" altLang="en-US">
                      <a:noFill/>
                    </a:rPr>
                    <a:t> </a:t>
                  </a:r>
                </a:p>
              </p:txBody>
            </p:sp>
          </mc:Fallback>
        </mc:AlternateContent>
        <p:cxnSp>
          <p:nvCxnSpPr>
            <p:cNvPr id="26" name="直接箭头连接符 25">
              <a:extLst>
                <a:ext uri="{FF2B5EF4-FFF2-40B4-BE49-F238E27FC236}">
                  <a16:creationId xmlns:a16="http://schemas.microsoft.com/office/drawing/2014/main" id="{FD488AE6-F1C6-4F71-AC41-BCDC43A785F1}"/>
                </a:ext>
              </a:extLst>
            </p:cNvPr>
            <p:cNvCxnSpPr>
              <a:cxnSpLocks/>
              <a:endCxn id="24" idx="1"/>
            </p:cNvCxnSpPr>
            <p:nvPr/>
          </p:nvCxnSpPr>
          <p:spPr>
            <a:xfrm>
              <a:off x="6889759" y="4268017"/>
              <a:ext cx="511709" cy="4098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2C58F3DD-D5E2-40FF-91F0-FE36B8AF94DE}"/>
                </a:ext>
              </a:extLst>
            </p:cNvPr>
            <p:cNvCxnSpPr>
              <a:cxnSpLocks/>
            </p:cNvCxnSpPr>
            <p:nvPr/>
          </p:nvCxnSpPr>
          <p:spPr>
            <a:xfrm>
              <a:off x="6877059" y="4663314"/>
              <a:ext cx="524409" cy="3890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165730A4-65D1-4407-8D99-22EF16146E8B}"/>
                </a:ext>
              </a:extLst>
            </p:cNvPr>
            <p:cNvCxnSpPr>
              <a:cxnSpLocks/>
              <a:endCxn id="22" idx="1"/>
            </p:cNvCxnSpPr>
            <p:nvPr/>
          </p:nvCxnSpPr>
          <p:spPr>
            <a:xfrm flipV="1">
              <a:off x="6870709" y="3893539"/>
              <a:ext cx="530759" cy="11588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8A278C3B-4E5F-446F-8B12-12C1F4D5DA46}"/>
                </a:ext>
              </a:extLst>
            </p:cNvPr>
            <p:cNvCxnSpPr>
              <a:cxnSpLocks/>
              <a:endCxn id="23" idx="1"/>
            </p:cNvCxnSpPr>
            <p:nvPr/>
          </p:nvCxnSpPr>
          <p:spPr>
            <a:xfrm>
              <a:off x="6889759" y="3892078"/>
              <a:ext cx="511709" cy="393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直接箭头连接符 29">
              <a:extLst>
                <a:ext uri="{FF2B5EF4-FFF2-40B4-BE49-F238E27FC236}">
                  <a16:creationId xmlns:a16="http://schemas.microsoft.com/office/drawing/2014/main" id="{18B1923D-5E56-4C0E-AE97-94B9A34A85F4}"/>
                </a:ext>
              </a:extLst>
            </p:cNvPr>
            <p:cNvCxnSpPr>
              <a:cxnSpLocks/>
            </p:cNvCxnSpPr>
            <p:nvPr/>
          </p:nvCxnSpPr>
          <p:spPr>
            <a:xfrm flipV="1">
              <a:off x="6597529" y="3893537"/>
              <a:ext cx="292230" cy="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B1DF6145-765E-4A3C-8EED-78A25422BD24}"/>
                </a:ext>
              </a:extLst>
            </p:cNvPr>
            <p:cNvCxnSpPr>
              <a:cxnSpLocks/>
              <a:stCxn id="9" idx="3"/>
            </p:cNvCxnSpPr>
            <p:nvPr/>
          </p:nvCxnSpPr>
          <p:spPr>
            <a:xfrm flipV="1">
              <a:off x="1862087" y="4270913"/>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065C51F3-BA55-4138-A9AC-60F81D85A517}"/>
                </a:ext>
              </a:extLst>
            </p:cNvPr>
            <p:cNvCxnSpPr>
              <a:cxnSpLocks/>
              <a:stCxn id="10" idx="3"/>
            </p:cNvCxnSpPr>
            <p:nvPr/>
          </p:nvCxnSpPr>
          <p:spPr>
            <a:xfrm flipV="1">
              <a:off x="1862087" y="4664432"/>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3" name="直接箭头连接符 32">
              <a:extLst>
                <a:ext uri="{FF2B5EF4-FFF2-40B4-BE49-F238E27FC236}">
                  <a16:creationId xmlns:a16="http://schemas.microsoft.com/office/drawing/2014/main" id="{5C1D747D-B50B-461A-A4BD-CCF6C15FF9C3}"/>
                </a:ext>
              </a:extLst>
            </p:cNvPr>
            <p:cNvCxnSpPr>
              <a:cxnSpLocks/>
            </p:cNvCxnSpPr>
            <p:nvPr/>
          </p:nvCxnSpPr>
          <p:spPr>
            <a:xfrm flipV="1">
              <a:off x="1852664" y="5042027"/>
              <a:ext cx="5024395" cy="2805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4" name="直接箭头连接符 33">
              <a:extLst>
                <a:ext uri="{FF2B5EF4-FFF2-40B4-BE49-F238E27FC236}">
                  <a16:creationId xmlns:a16="http://schemas.microsoft.com/office/drawing/2014/main" id="{060C54DF-92EE-4726-8F8C-66477463BBE8}"/>
                </a:ext>
              </a:extLst>
            </p:cNvPr>
            <p:cNvCxnSpPr>
              <a:cxnSpLocks/>
            </p:cNvCxnSpPr>
            <p:nvPr/>
          </p:nvCxnSpPr>
          <p:spPr>
            <a:xfrm flipV="1">
              <a:off x="6404518" y="4089630"/>
              <a:ext cx="0" cy="17838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35" name="连接符: 肘形 34">
              <a:extLst>
                <a:ext uri="{FF2B5EF4-FFF2-40B4-BE49-F238E27FC236}">
                  <a16:creationId xmlns:a16="http://schemas.microsoft.com/office/drawing/2014/main" id="{41EA56D2-F0DB-497A-9953-2E1A346B4459}"/>
                </a:ext>
              </a:extLst>
            </p:cNvPr>
            <p:cNvCxnSpPr>
              <a:cxnSpLocks/>
              <a:stCxn id="9" idx="1"/>
              <a:endCxn id="36" idx="1"/>
            </p:cNvCxnSpPr>
            <p:nvPr/>
          </p:nvCxnSpPr>
          <p:spPr>
            <a:xfrm rot="10800000" flipH="1" flipV="1">
              <a:off x="1202857" y="4291429"/>
              <a:ext cx="647858" cy="127047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圆角 35">
                  <a:extLst>
                    <a:ext uri="{FF2B5EF4-FFF2-40B4-BE49-F238E27FC236}">
                      <a16:creationId xmlns:a16="http://schemas.microsoft.com/office/drawing/2014/main" id="{12963EE1-C646-4503-87C9-1E003CBD7918}"/>
                    </a:ext>
                  </a:extLst>
                </p:cNvPr>
                <p:cNvSpPr/>
                <p:nvPr/>
              </p:nvSpPr>
              <p:spPr>
                <a:xfrm>
                  <a:off x="1850715" y="5365703"/>
                  <a:ext cx="1409316"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a:solidFill>
                        <a:srgbClr val="0000FF"/>
                      </a:solidFill>
                    </a:rPr>
                    <a:t>逻辑函数</a:t>
                  </a:r>
                  <a14:m>
                    <m:oMath xmlns:m="http://schemas.openxmlformats.org/officeDocument/2006/math">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𝐺</m:t>
                      </m:r>
                    </m:oMath>
                  </a14:m>
                  <a:endParaRPr lang="zh-CN" altLang="en-US" dirty="0">
                    <a:solidFill>
                      <a:srgbClr val="0000FF"/>
                    </a:solidFill>
                  </a:endParaRPr>
                </a:p>
              </p:txBody>
            </p:sp>
          </mc:Choice>
          <mc:Fallback xmlns="">
            <p:sp>
              <p:nvSpPr>
                <p:cNvPr id="36" name="矩形: 圆角 35">
                  <a:extLst>
                    <a:ext uri="{FF2B5EF4-FFF2-40B4-BE49-F238E27FC236}">
                      <a16:creationId xmlns:a16="http://schemas.microsoft.com/office/drawing/2014/main" id="{12963EE1-C646-4503-87C9-1E003CBD7918}"/>
                    </a:ext>
                  </a:extLst>
                </p:cNvPr>
                <p:cNvSpPr>
                  <a:spLocks noRot="1" noChangeAspect="1" noMove="1" noResize="1" noEditPoints="1" noAdjustHandles="1" noChangeArrowheads="1" noChangeShapeType="1" noTextEdit="1"/>
                </p:cNvSpPr>
                <p:nvPr/>
              </p:nvSpPr>
              <p:spPr>
                <a:xfrm>
                  <a:off x="1850715" y="5365703"/>
                  <a:ext cx="1409316" cy="392400"/>
                </a:xfrm>
                <a:prstGeom prst="roundRect">
                  <a:avLst/>
                </a:prstGeom>
                <a:blipFill>
                  <a:blip r:embed="rId13"/>
                  <a:stretch>
                    <a:fillRect t="-6349" b="-22222"/>
                  </a:stretch>
                </a:blipFill>
                <a:ln w="12700">
                  <a:solidFill>
                    <a:srgbClr val="2A2A2A"/>
                  </a:solidFill>
                </a:ln>
              </p:spPr>
              <p:txBody>
                <a:bodyPr/>
                <a:lstStyle/>
                <a:p>
                  <a:r>
                    <a:rPr lang="zh-CN" altLang="en-US">
                      <a:noFill/>
                    </a:rPr>
                    <a:t> </a:t>
                  </a:r>
                </a:p>
              </p:txBody>
            </p:sp>
          </mc:Fallback>
        </mc:AlternateContent>
        <p:cxnSp>
          <p:nvCxnSpPr>
            <p:cNvPr id="37" name="连接符: 肘形 36">
              <a:extLst>
                <a:ext uri="{FF2B5EF4-FFF2-40B4-BE49-F238E27FC236}">
                  <a16:creationId xmlns:a16="http://schemas.microsoft.com/office/drawing/2014/main" id="{779612F5-E288-48E1-AB18-21F9C4BADCE4}"/>
                </a:ext>
              </a:extLst>
            </p:cNvPr>
            <p:cNvCxnSpPr>
              <a:cxnSpLocks/>
              <a:stCxn id="10" idx="1"/>
              <a:endCxn id="36" idx="1"/>
            </p:cNvCxnSpPr>
            <p:nvPr/>
          </p:nvCxnSpPr>
          <p:spPr>
            <a:xfrm rot="10800000" flipH="1" flipV="1">
              <a:off x="1202857" y="4683609"/>
              <a:ext cx="647858" cy="87829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8FCCEE4A-C885-4609-8286-7ABEF7248EB7}"/>
                </a:ext>
              </a:extLst>
            </p:cNvPr>
            <p:cNvCxnSpPr>
              <a:cxnSpLocks/>
              <a:stCxn id="11" idx="1"/>
              <a:endCxn id="36" idx="1"/>
            </p:cNvCxnSpPr>
            <p:nvPr/>
          </p:nvCxnSpPr>
          <p:spPr>
            <a:xfrm rot="10800000" flipH="1" flipV="1">
              <a:off x="1202857" y="5075789"/>
              <a:ext cx="647858" cy="48611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519BFC89-ACAD-4512-BAEF-E01E1DE73642}"/>
                </a:ext>
              </a:extLst>
            </p:cNvPr>
            <p:cNvCxnSpPr>
              <a:cxnSpLocks/>
              <a:stCxn id="36" idx="0"/>
              <a:endCxn id="12" idx="4"/>
            </p:cNvCxnSpPr>
            <p:nvPr/>
          </p:nvCxnSpPr>
          <p:spPr>
            <a:xfrm flipV="1">
              <a:off x="2555373" y="4095339"/>
              <a:ext cx="11043" cy="127036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0" name="直接箭头连接符 39">
              <a:extLst>
                <a:ext uri="{FF2B5EF4-FFF2-40B4-BE49-F238E27FC236}">
                  <a16:creationId xmlns:a16="http://schemas.microsoft.com/office/drawing/2014/main" id="{B859B2CA-FC03-48DE-9709-FE5A75D6EE8A}"/>
                </a:ext>
              </a:extLst>
            </p:cNvPr>
            <p:cNvCxnSpPr>
              <a:cxnSpLocks/>
              <a:stCxn id="41" idx="2"/>
              <a:endCxn id="14" idx="0"/>
            </p:cNvCxnSpPr>
            <p:nvPr/>
          </p:nvCxnSpPr>
          <p:spPr>
            <a:xfrm>
              <a:off x="3403180" y="3498901"/>
              <a:ext cx="3307" cy="19854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58814BC5-93AC-43C9-88CE-8F20E96C3C3C}"/>
                    </a:ext>
                  </a:extLst>
                </p:cNvPr>
                <p:cNvSpPr txBox="1"/>
                <p:nvPr/>
              </p:nvSpPr>
              <p:spPr>
                <a:xfrm>
                  <a:off x="3176038" y="3107255"/>
                  <a:ext cx="45428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i="1" dirty="0">
                                <a:solidFill>
                                  <a:schemeClr val="tx1"/>
                                </a:solidFill>
                                <a:latin typeface="Cambria Math" panose="02040503050406030204" pitchFamily="18" charset="0"/>
                              </a:rPr>
                              <m:t>𝑀</m:t>
                            </m:r>
                          </m:e>
                          <m:sub>
                            <m:r>
                              <a:rPr lang="en-US" altLang="zh-CN" i="1" dirty="0">
                                <a:solidFill>
                                  <a:schemeClr val="tx1"/>
                                </a:solidFill>
                                <a:latin typeface="Cambria Math" panose="02040503050406030204" pitchFamily="18" charset="0"/>
                              </a:rPr>
                              <m:t>𝑗</m:t>
                            </m:r>
                          </m:sub>
                        </m:sSub>
                      </m:oMath>
                    </m:oMathPara>
                  </a14:m>
                  <a:endParaRPr lang="zh-CN" altLang="en-US" dirty="0">
                    <a:solidFill>
                      <a:schemeClr val="tx1"/>
                    </a:solidFill>
                  </a:endParaRPr>
                </a:p>
              </p:txBody>
            </p:sp>
          </mc:Choice>
          <mc:Fallback xmlns="">
            <p:sp>
              <p:nvSpPr>
                <p:cNvPr id="41" name="文本框 40">
                  <a:extLst>
                    <a:ext uri="{FF2B5EF4-FFF2-40B4-BE49-F238E27FC236}">
                      <a16:creationId xmlns:a16="http://schemas.microsoft.com/office/drawing/2014/main" id="{58814BC5-93AC-43C9-88CE-8F20E96C3C3C}"/>
                    </a:ext>
                  </a:extLst>
                </p:cNvPr>
                <p:cNvSpPr txBox="1">
                  <a:spLocks noRot="1" noChangeAspect="1" noMove="1" noResize="1" noEditPoints="1" noAdjustHandles="1" noChangeArrowheads="1" noChangeShapeType="1" noTextEdit="1"/>
                </p:cNvSpPr>
                <p:nvPr/>
              </p:nvSpPr>
              <p:spPr>
                <a:xfrm>
                  <a:off x="3176038" y="3107255"/>
                  <a:ext cx="454284" cy="391646"/>
                </a:xfrm>
                <a:prstGeom prst="rect">
                  <a:avLst/>
                </a:prstGeom>
                <a:blipFill>
                  <a:blip r:embed="rId14"/>
                  <a:stretch>
                    <a:fillRect b="-14754"/>
                  </a:stretch>
                </a:blipFill>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0861A6E3-4271-45EE-8191-D47FFAE12547}"/>
                </a:ext>
              </a:extLst>
            </p:cNvPr>
            <p:cNvCxnSpPr>
              <a:cxnSpLocks/>
              <a:endCxn id="16" idx="0"/>
            </p:cNvCxnSpPr>
            <p:nvPr/>
          </p:nvCxnSpPr>
          <p:spPr>
            <a:xfrm>
              <a:off x="4246558" y="3449472"/>
              <a:ext cx="0" cy="24797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437A264-30AB-4E23-9821-2A8ED5369752}"/>
                    </a:ext>
                  </a:extLst>
                </p:cNvPr>
                <p:cNvSpPr txBox="1"/>
                <p:nvPr/>
              </p:nvSpPr>
              <p:spPr>
                <a:xfrm>
                  <a:off x="3974277" y="3076682"/>
                  <a:ext cx="521643"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m:oMathPara>
                  </a14:m>
                  <a:endParaRPr lang="zh-CN" altLang="en-US" dirty="0">
                    <a:solidFill>
                      <a:schemeClr val="tx1"/>
                    </a:solidFill>
                  </a:endParaRPr>
                </a:p>
              </p:txBody>
            </p:sp>
          </mc:Choice>
          <mc:Fallback xmlns="">
            <p:sp>
              <p:nvSpPr>
                <p:cNvPr id="43" name="文本框 42">
                  <a:extLst>
                    <a:ext uri="{FF2B5EF4-FFF2-40B4-BE49-F238E27FC236}">
                      <a16:creationId xmlns:a16="http://schemas.microsoft.com/office/drawing/2014/main" id="{B437A264-30AB-4E23-9821-2A8ED5369752}"/>
                    </a:ext>
                  </a:extLst>
                </p:cNvPr>
                <p:cNvSpPr txBox="1">
                  <a:spLocks noRot="1" noChangeAspect="1" noMove="1" noResize="1" noEditPoints="1" noAdjustHandles="1" noChangeArrowheads="1" noChangeShapeType="1" noTextEdit="1"/>
                </p:cNvSpPr>
                <p:nvPr/>
              </p:nvSpPr>
              <p:spPr>
                <a:xfrm>
                  <a:off x="3974277" y="3076682"/>
                  <a:ext cx="521643" cy="370294"/>
                </a:xfrm>
                <a:prstGeom prst="rect">
                  <a:avLst/>
                </a:prstGeom>
                <a:blipFill>
                  <a:blip r:embed="rId15"/>
                  <a:stretch>
                    <a:fillRect b="-877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954624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47</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74D4E38-7884-41CD-A49F-AC22C7C236BE}"/>
                  </a:ext>
                </a:extLst>
              </p:cNvPr>
              <p:cNvSpPr txBox="1"/>
              <p:nvPr/>
            </p:nvSpPr>
            <p:spPr>
              <a:xfrm>
                <a:off x="299056" y="1557124"/>
                <a:ext cx="8493405" cy="2952603"/>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第三轮</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迭代运算使用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𝐻</m:t>
                    </m:r>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defRPr/>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𝑎</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𝐻</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𝑐</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𝑑</m:t>
                                  </m:r>
                                </m:e>
                              </m:d>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𝑀</m:t>
                                  </m:r>
                                </m:e>
                                <m:sub>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𝑗</m:t>
                                  </m:r>
                                </m:sub>
                              </m:s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𝑡</m:t>
                                  </m:r>
                                </m:e>
                                <m: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𝑖</m:t>
                                  </m:r>
                                </m:sub>
                              </m:sSub>
                            </m:e>
                          </m:d>
                          <m:r>
                            <a:rPr lang="en-US" altLang="zh-CN"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𝑠</m:t>
                          </m:r>
                        </m:e>
                      </m:d>
                    </m:oMath>
                  </m:oMathPara>
                </a14:m>
                <a:endParaRPr lang="en-US" altLang="zh-CN" dirty="0">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三</a:t>
                </a:r>
                <a:r>
                  <a:rPr lang="zh-CN" altLang="en-US" sz="2000" dirty="0">
                    <a:latin typeface="Cambria Math" panose="02040503050406030204" pitchFamily="18" charset="0"/>
                  </a:rPr>
                  <a:t>轮同样运行 </a:t>
                </a:r>
                <a:r>
                  <a:rPr lang="en-US" altLang="zh-CN" sz="2000" dirty="0">
                    <a:latin typeface="Cambria Math" panose="02040503050406030204" pitchFamily="18" charset="0"/>
                  </a:rPr>
                  <a:t>16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𝑀</m:t>
                        </m:r>
                      </m:e>
                      <m:sub>
                        <m:r>
                          <a:rPr lang="en-US" altLang="zh-CN" i="1" dirty="0">
                            <a:latin typeface="Cambria Math" panose="02040503050406030204" pitchFamily="18" charset="0"/>
                          </a:rPr>
                          <m:t>𝑗</m:t>
                        </m:r>
                      </m:sub>
                    </m:sSub>
                    <m:r>
                      <a:rPr lang="en-US" altLang="zh-CN" i="1" dirty="0">
                        <a:latin typeface="Cambria Math" panose="02040503050406030204" pitchFamily="18" charset="0"/>
                      </a:rPr>
                      <m:t> </m:t>
                    </m:r>
                    <m:r>
                      <a:rPr lang="zh-CN" altLang="en-US" i="1" dirty="0" smtClean="0">
                        <a:latin typeface="Cambria Math" panose="02040503050406030204" pitchFamily="18" charset="0"/>
                      </a:rPr>
                      <m:t>是</m:t>
                    </m:r>
                  </m:oMath>
                </a14:m>
                <a:r>
                  <a:rPr lang="zh-CN" altLang="en-US" dirty="0">
                    <a:latin typeface="Times New Roman" panose="02020603050405020304" pitchFamily="18" charset="0"/>
                    <a:cs typeface="Times New Roman" panose="02020603050405020304" pitchFamily="18" charset="0"/>
                  </a:rPr>
                  <a:t>原分组消息的第 </a:t>
                </a:r>
                <a14:m>
                  <m:oMath xmlns:m="http://schemas.openxmlformats.org/officeDocument/2006/math">
                    <m:d>
                      <m:dPr>
                        <m:ctrlPr>
                          <a:rPr lang="en-US" altLang="zh-CN" b="0" i="1" dirty="0" smtClean="0">
                            <a:solidFill>
                              <a:srgbClr val="0000FF"/>
                            </a:solidFill>
                            <a:latin typeface="Cambria Math" panose="02040503050406030204" pitchFamily="18" charset="0"/>
                            <a:cs typeface="Times New Roman" panose="02020603050405020304" pitchFamily="18" charset="0"/>
                          </a:rPr>
                        </m:ctrlPr>
                      </m:dPr>
                      <m:e>
                        <m:r>
                          <a:rPr lang="en-US" altLang="zh-CN" b="0" i="1" dirty="0" smtClean="0">
                            <a:solidFill>
                              <a:srgbClr val="0000FF"/>
                            </a:solidFill>
                            <a:latin typeface="Cambria Math" panose="02040503050406030204" pitchFamily="18" charset="0"/>
                            <a:cs typeface="Times New Roman" panose="02020603050405020304" pitchFamily="18" charset="0"/>
                          </a:rPr>
                          <m:t>5+3</m:t>
                        </m:r>
                        <m:r>
                          <a:rPr lang="en-US" altLang="zh-CN" b="0" i="1" smtClean="0">
                            <a:solidFill>
                              <a:srgbClr val="0000FF"/>
                            </a:solidFill>
                            <a:latin typeface="Cambria Math" panose="02040503050406030204" pitchFamily="18" charset="0"/>
                            <a:cs typeface="Times New Roman" panose="02020603050405020304" pitchFamily="18" charset="0"/>
                          </a:rPr>
                          <m:t>𝑗</m:t>
                        </m:r>
                      </m:e>
                    </m:d>
                    <m:r>
                      <a:rPr lang="en-US" altLang="zh-CN" b="0" i="0" smtClean="0">
                        <a:solidFill>
                          <a:srgbClr val="0000FF"/>
                        </a:solidFill>
                        <a:latin typeface="Cambria Math" panose="02040503050406030204" pitchFamily="18" charset="0"/>
                        <a:cs typeface="Times New Roman" panose="02020603050405020304" pitchFamily="18" charset="0"/>
                      </a:rPr>
                      <m:t> </m:t>
                    </m:r>
                    <m:r>
                      <m:rPr>
                        <m:sty m:val="p"/>
                      </m:rPr>
                      <a:rPr lang="en-US" altLang="zh-CN" b="0" i="0" smtClean="0">
                        <a:solidFill>
                          <a:srgbClr val="0000FF"/>
                        </a:solidFill>
                        <a:latin typeface="Cambria Math" panose="02040503050406030204" pitchFamily="18" charset="0"/>
                        <a:cs typeface="Times New Roman" panose="02020603050405020304" pitchFamily="18" charset="0"/>
                      </a:rPr>
                      <m:t>mod</m:t>
                    </m:r>
                    <m:r>
                      <a:rPr lang="en-US" altLang="zh-CN" b="0" i="1" smtClean="0">
                        <a:solidFill>
                          <a:srgbClr val="0000FF"/>
                        </a:solidFill>
                        <a:latin typeface="Cambria Math" panose="02040503050406030204" pitchFamily="18" charset="0"/>
                        <a:cs typeface="Times New Roman" panose="02020603050405020304" pitchFamily="18" charset="0"/>
                      </a:rPr>
                      <m:t> 16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zh-CN" altLang="en-US" dirty="0">
                    <a:latin typeface="Times New Roman" panose="02020603050405020304" pitchFamily="18" charset="0"/>
                    <a:cs typeface="Times New Roman" panose="02020603050405020304" pitchFamily="18" charset="0"/>
                  </a:rPr>
                  <a:t> 字，</a:t>
                </a:r>
                <a14:m>
                  <m:oMath xmlns:m="http://schemas.openxmlformats.org/officeDocument/2006/math">
                    <m:r>
                      <a:rPr lang="en-US" altLang="zh-CN" i="1" dirty="0">
                        <a:latin typeface="Cambria Math" panose="02040503050406030204" pitchFamily="18" charset="0"/>
                        <a:cs typeface="Times New Roman" panose="02020603050405020304" pitchFamily="18" charset="0"/>
                      </a:rPr>
                      <m:t>1</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𝑗</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≤16</m:t>
                    </m:r>
                  </m:oMath>
                </a14:m>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smtClean="0">
                            <a:solidFill>
                              <a:schemeClr val="tx1"/>
                            </a:solidFill>
                            <a:effectLst/>
                            <a:latin typeface="Cambria Math" panose="02040503050406030204" pitchFamily="18" charset="0"/>
                          </a:rPr>
                        </m:ctrlPr>
                      </m:sSubPr>
                      <m:e>
                        <m:r>
                          <a:rPr lang="en-US" altLang="zh-CN"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a14:m>
                <a:r>
                  <a:rPr kumimoji="0" lang="en-US" altLang="zh-CN"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a:t>
                </a:r>
                <a:r>
                  <a:rPr kumimoji="0" lang="zh-CN" altLang="en-US"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为常数，</a:t>
                </a:r>
                <a:r>
                  <a:rPr lang="zh-CN" altLang="en-US" dirty="0">
                    <a:solidFill>
                      <a:prstClr val="black"/>
                    </a:solidFill>
                    <a:latin typeface="Cambria Math" panose="02040503050406030204" pitchFamily="18" charset="0"/>
                    <a:cs typeface="Times New Roman" panose="02020603050405020304" pitchFamily="18" charset="0"/>
                  </a:rPr>
                  <a:t>计算为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zh-CN" altLang="en-US" b="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dirty="0">
                    <a:latin typeface="Cambria Math" panose="02040503050406030204" pitchFamily="18" charset="0"/>
                  </a:rPr>
                  <a:t>第三轮中</a:t>
                </a:r>
                <a14:m>
                  <m:oMath xmlns:m="http://schemas.openxmlformats.org/officeDocument/2006/math">
                    <m: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33</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≤48</m:t>
                    </m:r>
                  </m:oMath>
                </a14:m>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xmlns="" xmlns:a14="http://schemas.microsoft.com/office/drawing/2010/main" id="{674D4E38-7884-41CD-A49F-AC22C7C236BE}"/>
                  </a:ext>
                </a:extLst>
              </p:cNvPr>
              <p:cNvSpPr txBox="1">
                <a:spLocks noRot="1" noChangeAspect="1" noMove="1" noResize="1" noEditPoints="1" noAdjustHandles="1" noChangeArrowheads="1" noChangeShapeType="1" noTextEdit="1"/>
              </p:cNvSpPr>
              <p:nvPr/>
            </p:nvSpPr>
            <p:spPr>
              <a:xfrm>
                <a:off x="299056" y="1557124"/>
                <a:ext cx="8493405" cy="2952603"/>
              </a:xfrm>
              <a:prstGeom prst="rect">
                <a:avLst/>
              </a:prstGeom>
              <a:blipFill rotWithShape="0">
                <a:blip r:embed="rId3"/>
                <a:stretch>
                  <a:fillRect l="-646"/>
                </a:stretch>
              </a:blipFill>
            </p:spPr>
            <p:txBody>
              <a:bodyPr/>
              <a:lstStyle/>
              <a:p>
                <a:r>
                  <a:rPr lang="zh-CN" altLang="en-US">
                    <a:noFill/>
                  </a:rPr>
                  <a:t> </a:t>
                </a:r>
              </a:p>
            </p:txBody>
          </p:sp>
        </mc:Fallback>
      </mc:AlternateContent>
      <p:grpSp>
        <p:nvGrpSpPr>
          <p:cNvPr id="44" name="组合 43">
            <a:extLst>
              <a:ext uri="{FF2B5EF4-FFF2-40B4-BE49-F238E27FC236}">
                <a16:creationId xmlns:a16="http://schemas.microsoft.com/office/drawing/2014/main" id="{51CC4425-E505-4CC1-B322-1CD7D49C3F68}"/>
              </a:ext>
            </a:extLst>
          </p:cNvPr>
          <p:cNvGrpSpPr/>
          <p:nvPr/>
        </p:nvGrpSpPr>
        <p:grpSpPr>
          <a:xfrm>
            <a:off x="1116837" y="3807724"/>
            <a:ext cx="6857841" cy="2518062"/>
            <a:chOff x="1202857" y="3076682"/>
            <a:chExt cx="6857841" cy="2681421"/>
          </a:xfrm>
        </p:grpSpPr>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301E991D-4889-417A-A2C1-D9DA8935621D}"/>
                    </a:ext>
                  </a:extLst>
                </p:cNvPr>
                <p:cNvSpPr/>
                <p:nvPr/>
              </p:nvSpPr>
              <p:spPr>
                <a:xfrm>
                  <a:off x="1202857" y="370315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1202857" y="3703159"/>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93486452-E6A9-4DFA-87C8-43288AE935E1}"/>
                    </a:ext>
                  </a:extLst>
                </p:cNvPr>
                <p:cNvSpPr/>
                <p:nvPr/>
              </p:nvSpPr>
              <p:spPr>
                <a:xfrm>
                  <a:off x="1202857" y="409533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1202857" y="4095339"/>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97235874-C12D-4062-BFD1-81F9907C6A9F}"/>
                    </a:ext>
                  </a:extLst>
                </p:cNvPr>
                <p:cNvSpPr/>
                <p:nvPr/>
              </p:nvSpPr>
              <p:spPr>
                <a:xfrm>
                  <a:off x="1202857" y="448751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1202857" y="4487519"/>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AB90D5A2-1521-4933-AFB3-4BC37C6B624D}"/>
                    </a:ext>
                  </a:extLst>
                </p:cNvPr>
                <p:cNvSpPr/>
                <p:nvPr/>
              </p:nvSpPr>
              <p:spPr>
                <a:xfrm>
                  <a:off x="1202857" y="487969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1202857" y="4879699"/>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50" name="流程图: 或者 49">
              <a:extLst>
                <a:ext uri="{FF2B5EF4-FFF2-40B4-BE49-F238E27FC236}">
                  <a16:creationId xmlns:a16="http://schemas.microsoft.com/office/drawing/2014/main" id="{BFCFAF89-0645-419F-9171-791D1679BF49}"/>
                </a:ext>
              </a:extLst>
            </p:cNvPr>
            <p:cNvSpPr/>
            <p:nvPr/>
          </p:nvSpPr>
          <p:spPr>
            <a:xfrm>
              <a:off x="2370216" y="370315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a:extLst>
                <a:ext uri="{FF2B5EF4-FFF2-40B4-BE49-F238E27FC236}">
                  <a16:creationId xmlns:a16="http://schemas.microsoft.com/office/drawing/2014/main" id="{DC6CC806-74AB-48C8-BFB7-703D08C36E94}"/>
                </a:ext>
              </a:extLst>
            </p:cNvPr>
            <p:cNvCxnSpPr>
              <a:cxnSpLocks/>
              <a:stCxn id="45" idx="3"/>
              <a:endCxn id="50" idx="2"/>
            </p:cNvCxnSpPr>
            <p:nvPr/>
          </p:nvCxnSpPr>
          <p:spPr>
            <a:xfrm>
              <a:off x="1862087" y="3899249"/>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2" name="流程图: 或者 51">
              <a:extLst>
                <a:ext uri="{FF2B5EF4-FFF2-40B4-BE49-F238E27FC236}">
                  <a16:creationId xmlns:a16="http://schemas.microsoft.com/office/drawing/2014/main" id="{A5E305E3-E9B6-412A-9583-8BB323A8B645}"/>
                </a:ext>
              </a:extLst>
            </p:cNvPr>
            <p:cNvSpPr/>
            <p:nvPr/>
          </p:nvSpPr>
          <p:spPr>
            <a:xfrm>
              <a:off x="3210287"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a:extLst>
                <a:ext uri="{FF2B5EF4-FFF2-40B4-BE49-F238E27FC236}">
                  <a16:creationId xmlns:a16="http://schemas.microsoft.com/office/drawing/2014/main" id="{43C53D70-8A83-4647-B89E-3D131FA8AFBD}"/>
                </a:ext>
              </a:extLst>
            </p:cNvPr>
            <p:cNvCxnSpPr>
              <a:cxnSpLocks/>
              <a:stCxn id="50" idx="6"/>
              <a:endCxn id="52" idx="2"/>
            </p:cNvCxnSpPr>
            <p:nvPr/>
          </p:nvCxnSpPr>
          <p:spPr>
            <a:xfrm flipV="1">
              <a:off x="2762616" y="3893539"/>
              <a:ext cx="447671"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4" name="流程图: 或者 53">
              <a:extLst>
                <a:ext uri="{FF2B5EF4-FFF2-40B4-BE49-F238E27FC236}">
                  <a16:creationId xmlns:a16="http://schemas.microsoft.com/office/drawing/2014/main" id="{FFF3081E-D7DC-433B-85A3-38C86AE3D224}"/>
                </a:ext>
              </a:extLst>
            </p:cNvPr>
            <p:cNvSpPr/>
            <p:nvPr/>
          </p:nvSpPr>
          <p:spPr>
            <a:xfrm>
              <a:off x="4050358"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76AC9C44-5A7E-4D69-937B-ACB71B51C5D0}"/>
                </a:ext>
              </a:extLst>
            </p:cNvPr>
            <p:cNvCxnSpPr>
              <a:cxnSpLocks/>
              <a:stCxn id="52" idx="6"/>
              <a:endCxn id="54" idx="2"/>
            </p:cNvCxnSpPr>
            <p:nvPr/>
          </p:nvCxnSpPr>
          <p:spPr>
            <a:xfrm>
              <a:off x="3602687" y="3893539"/>
              <a:ext cx="447671"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6" name="矩形 55">
                  <a:extLst>
                    <a:ext uri="{FF2B5EF4-FFF2-40B4-BE49-F238E27FC236}">
                      <a16:creationId xmlns:a16="http://schemas.microsoft.com/office/drawing/2014/main" id="{6BD4AD04-3814-4BCF-8138-7CCDC761A7F0}"/>
                    </a:ext>
                  </a:extLst>
                </p:cNvPr>
                <p:cNvSpPr/>
                <p:nvPr/>
              </p:nvSpPr>
              <p:spPr>
                <a:xfrm>
                  <a:off x="4835158" y="3697449"/>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zh-CN" altLang="en-US"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6" name="矩形 55">
                  <a:extLst>
                    <a:ext uri="{FF2B5EF4-FFF2-40B4-BE49-F238E27FC236}">
                      <a16:creationId xmlns:a16="http://schemas.microsoft.com/office/drawing/2014/main" xmlns:a14="http://schemas.microsoft.com/office/drawing/2010/main" xmlns="" id="{6BD4AD04-3814-4BCF-8138-7CCDC761A7F0}"/>
                    </a:ext>
                  </a:extLst>
                </p:cNvPr>
                <p:cNvSpPr>
                  <a:spLocks noRot="1" noChangeAspect="1" noMove="1" noResize="1" noEditPoints="1" noAdjustHandles="1" noChangeArrowheads="1" noChangeShapeType="1" noTextEdit="1"/>
                </p:cNvSpPr>
                <p:nvPr/>
              </p:nvSpPr>
              <p:spPr>
                <a:xfrm>
                  <a:off x="4835158" y="3697449"/>
                  <a:ext cx="906053" cy="392180"/>
                </a:xfrm>
                <a:prstGeom prst="rect">
                  <a:avLst/>
                </a:prstGeom>
                <a:blipFill rotWithShape="0">
                  <a:blip r:embed="rId8"/>
                  <a:stretch>
                    <a:fillRect/>
                  </a:stretch>
                </a:blipFill>
                <a:ln w="9525">
                  <a:solidFill>
                    <a:schemeClr val="tx1"/>
                  </a:solidFill>
                </a:ln>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23835144-326C-4505-B55D-604914CCB624}"/>
                </a:ext>
              </a:extLst>
            </p:cNvPr>
            <p:cNvCxnSpPr>
              <a:cxnSpLocks/>
              <a:stCxn id="54" idx="6"/>
              <a:endCxn id="56" idx="1"/>
            </p:cNvCxnSpPr>
            <p:nvPr/>
          </p:nvCxnSpPr>
          <p:spPr>
            <a:xfrm>
              <a:off x="4442758" y="3893539"/>
              <a:ext cx="392400"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8" name="流程图: 或者 57">
              <a:extLst>
                <a:ext uri="{FF2B5EF4-FFF2-40B4-BE49-F238E27FC236}">
                  <a16:creationId xmlns:a16="http://schemas.microsoft.com/office/drawing/2014/main" id="{D0375DD5-0C45-463F-9EDC-3216D2D10A52}"/>
                </a:ext>
              </a:extLst>
            </p:cNvPr>
            <p:cNvSpPr/>
            <p:nvPr/>
          </p:nvSpPr>
          <p:spPr>
            <a:xfrm>
              <a:off x="6205129" y="369767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a:extLst>
                <a:ext uri="{FF2B5EF4-FFF2-40B4-BE49-F238E27FC236}">
                  <a16:creationId xmlns:a16="http://schemas.microsoft.com/office/drawing/2014/main" id="{5F681D77-F252-411F-BB6E-1EE1E2D8DD05}"/>
                </a:ext>
              </a:extLst>
            </p:cNvPr>
            <p:cNvCxnSpPr>
              <a:cxnSpLocks/>
              <a:stCxn id="56" idx="3"/>
              <a:endCxn id="58" idx="2"/>
            </p:cNvCxnSpPr>
            <p:nvPr/>
          </p:nvCxnSpPr>
          <p:spPr>
            <a:xfrm>
              <a:off x="5741211" y="3893539"/>
              <a:ext cx="463918" cy="2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0" name="矩形 59">
                  <a:extLst>
                    <a:ext uri="{FF2B5EF4-FFF2-40B4-BE49-F238E27FC236}">
                      <a16:creationId xmlns:a16="http://schemas.microsoft.com/office/drawing/2014/main" id="{7D691B03-5AD6-4904-B073-2D1ED60AD2C8}"/>
                    </a:ext>
                  </a:extLst>
                </p:cNvPr>
                <p:cNvSpPr/>
                <p:nvPr/>
              </p:nvSpPr>
              <p:spPr>
                <a:xfrm>
                  <a:off x="7401468" y="369744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401468" y="3697449"/>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B42A91A0-A8EF-4FFB-A961-CDA70EDE4ED2}"/>
                    </a:ext>
                  </a:extLst>
                </p:cNvPr>
                <p:cNvSpPr/>
                <p:nvPr/>
              </p:nvSpPr>
              <p:spPr>
                <a:xfrm>
                  <a:off x="7401468" y="408962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401468" y="4089629"/>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E90CC03E-18DF-49FC-BEBB-AABF7F57FC8F}"/>
                    </a:ext>
                  </a:extLst>
                </p:cNvPr>
                <p:cNvSpPr/>
                <p:nvPr/>
              </p:nvSpPr>
              <p:spPr>
                <a:xfrm>
                  <a:off x="7401468" y="448180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401468" y="4481809"/>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470B1B27-B0F6-46C5-96F3-E3C3B373FB82}"/>
                    </a:ext>
                  </a:extLst>
                </p:cNvPr>
                <p:cNvSpPr/>
                <p:nvPr/>
              </p:nvSpPr>
              <p:spPr>
                <a:xfrm>
                  <a:off x="7401468" y="487398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401468" y="4873989"/>
                  <a:ext cx="659230" cy="392180"/>
                </a:xfrm>
                <a:prstGeom prst="rect">
                  <a:avLst/>
                </a:prstGeom>
                <a:blipFill>
                  <a:blip r:embed="rId12"/>
                  <a:stretch>
                    <a:fillRect/>
                  </a:stretch>
                </a:blipFill>
                <a:ln w="9525">
                  <a:solidFill>
                    <a:schemeClr val="tx1"/>
                  </a:solidFill>
                </a:ln>
              </p:spPr>
              <p:txBody>
                <a:bodyPr/>
                <a:lstStyle/>
                <a:p>
                  <a:r>
                    <a:rPr lang="zh-CN" altLang="en-US">
                      <a:noFill/>
                    </a:rPr>
                    <a:t> </a:t>
                  </a:r>
                </a:p>
              </p:txBody>
            </p:sp>
          </mc:Fallback>
        </mc:AlternateContent>
        <p:cxnSp>
          <p:nvCxnSpPr>
            <p:cNvPr id="64" name="直接箭头连接符 63">
              <a:extLst>
                <a:ext uri="{FF2B5EF4-FFF2-40B4-BE49-F238E27FC236}">
                  <a16:creationId xmlns:a16="http://schemas.microsoft.com/office/drawing/2014/main" id="{B68A919A-F0DE-4DCC-B58F-53ED64AA3F8D}"/>
                </a:ext>
              </a:extLst>
            </p:cNvPr>
            <p:cNvCxnSpPr>
              <a:cxnSpLocks/>
              <a:endCxn id="62" idx="1"/>
            </p:cNvCxnSpPr>
            <p:nvPr/>
          </p:nvCxnSpPr>
          <p:spPr>
            <a:xfrm>
              <a:off x="6889759" y="4268017"/>
              <a:ext cx="511709" cy="4098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直接箭头连接符 64">
              <a:extLst>
                <a:ext uri="{FF2B5EF4-FFF2-40B4-BE49-F238E27FC236}">
                  <a16:creationId xmlns:a16="http://schemas.microsoft.com/office/drawing/2014/main" id="{F1FE596E-829F-46A5-AD4F-92B09C9F3D92}"/>
                </a:ext>
              </a:extLst>
            </p:cNvPr>
            <p:cNvCxnSpPr>
              <a:cxnSpLocks/>
            </p:cNvCxnSpPr>
            <p:nvPr/>
          </p:nvCxnSpPr>
          <p:spPr>
            <a:xfrm>
              <a:off x="6877059" y="4663314"/>
              <a:ext cx="524409" cy="3890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直接箭头连接符 65">
              <a:extLst>
                <a:ext uri="{FF2B5EF4-FFF2-40B4-BE49-F238E27FC236}">
                  <a16:creationId xmlns:a16="http://schemas.microsoft.com/office/drawing/2014/main" id="{A4D38F52-7C05-4301-B1EE-B3F806929676}"/>
                </a:ext>
              </a:extLst>
            </p:cNvPr>
            <p:cNvCxnSpPr>
              <a:cxnSpLocks/>
              <a:endCxn id="60" idx="1"/>
            </p:cNvCxnSpPr>
            <p:nvPr/>
          </p:nvCxnSpPr>
          <p:spPr>
            <a:xfrm flipV="1">
              <a:off x="6870709" y="3893539"/>
              <a:ext cx="530759" cy="11588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7" name="直接箭头连接符 66">
              <a:extLst>
                <a:ext uri="{FF2B5EF4-FFF2-40B4-BE49-F238E27FC236}">
                  <a16:creationId xmlns:a16="http://schemas.microsoft.com/office/drawing/2014/main" id="{156B9083-64B7-4B06-B99C-2B5C31C01631}"/>
                </a:ext>
              </a:extLst>
            </p:cNvPr>
            <p:cNvCxnSpPr>
              <a:cxnSpLocks/>
              <a:endCxn id="61" idx="1"/>
            </p:cNvCxnSpPr>
            <p:nvPr/>
          </p:nvCxnSpPr>
          <p:spPr>
            <a:xfrm>
              <a:off x="6889759" y="3892078"/>
              <a:ext cx="511709" cy="393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直接箭头连接符 67">
              <a:extLst>
                <a:ext uri="{FF2B5EF4-FFF2-40B4-BE49-F238E27FC236}">
                  <a16:creationId xmlns:a16="http://schemas.microsoft.com/office/drawing/2014/main" id="{F6F617A2-0FDC-40FF-8FEB-8F1D499BD81D}"/>
                </a:ext>
              </a:extLst>
            </p:cNvPr>
            <p:cNvCxnSpPr>
              <a:cxnSpLocks/>
            </p:cNvCxnSpPr>
            <p:nvPr/>
          </p:nvCxnSpPr>
          <p:spPr>
            <a:xfrm flipV="1">
              <a:off x="6597529" y="3893537"/>
              <a:ext cx="292230" cy="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9" name="直接箭头连接符 68">
              <a:extLst>
                <a:ext uri="{FF2B5EF4-FFF2-40B4-BE49-F238E27FC236}">
                  <a16:creationId xmlns:a16="http://schemas.microsoft.com/office/drawing/2014/main" id="{48216C5F-5B45-4BD4-BCD1-1449925F2D2C}"/>
                </a:ext>
              </a:extLst>
            </p:cNvPr>
            <p:cNvCxnSpPr>
              <a:cxnSpLocks/>
              <a:stCxn id="46" idx="3"/>
            </p:cNvCxnSpPr>
            <p:nvPr/>
          </p:nvCxnSpPr>
          <p:spPr>
            <a:xfrm flipV="1">
              <a:off x="1862087" y="4270913"/>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0" name="直接箭头连接符 69">
              <a:extLst>
                <a:ext uri="{FF2B5EF4-FFF2-40B4-BE49-F238E27FC236}">
                  <a16:creationId xmlns:a16="http://schemas.microsoft.com/office/drawing/2014/main" id="{7E52E253-B5F7-4A92-9F61-22A0F43A044B}"/>
                </a:ext>
              </a:extLst>
            </p:cNvPr>
            <p:cNvCxnSpPr>
              <a:cxnSpLocks/>
              <a:stCxn id="48" idx="3"/>
            </p:cNvCxnSpPr>
            <p:nvPr/>
          </p:nvCxnSpPr>
          <p:spPr>
            <a:xfrm flipV="1">
              <a:off x="1862087" y="4664432"/>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1" name="直接箭头连接符 70">
              <a:extLst>
                <a:ext uri="{FF2B5EF4-FFF2-40B4-BE49-F238E27FC236}">
                  <a16:creationId xmlns:a16="http://schemas.microsoft.com/office/drawing/2014/main" id="{7F1A4153-67B8-4193-AF91-3495ED928213}"/>
                </a:ext>
              </a:extLst>
            </p:cNvPr>
            <p:cNvCxnSpPr>
              <a:cxnSpLocks/>
            </p:cNvCxnSpPr>
            <p:nvPr/>
          </p:nvCxnSpPr>
          <p:spPr>
            <a:xfrm flipV="1">
              <a:off x="1852664" y="5042027"/>
              <a:ext cx="5024395" cy="2805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2" name="直接箭头连接符 71">
              <a:extLst>
                <a:ext uri="{FF2B5EF4-FFF2-40B4-BE49-F238E27FC236}">
                  <a16:creationId xmlns:a16="http://schemas.microsoft.com/office/drawing/2014/main" id="{50F6E2D8-37B1-411E-ACF0-F8AE45CFBBF9}"/>
                </a:ext>
              </a:extLst>
            </p:cNvPr>
            <p:cNvCxnSpPr>
              <a:cxnSpLocks/>
            </p:cNvCxnSpPr>
            <p:nvPr/>
          </p:nvCxnSpPr>
          <p:spPr>
            <a:xfrm flipV="1">
              <a:off x="6404518" y="4089630"/>
              <a:ext cx="0" cy="17838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73" name="连接符: 肘形 72">
              <a:extLst>
                <a:ext uri="{FF2B5EF4-FFF2-40B4-BE49-F238E27FC236}">
                  <a16:creationId xmlns:a16="http://schemas.microsoft.com/office/drawing/2014/main" id="{11E43211-3A8F-41A0-B431-DF9548E7B44B}"/>
                </a:ext>
              </a:extLst>
            </p:cNvPr>
            <p:cNvCxnSpPr>
              <a:cxnSpLocks/>
              <a:stCxn id="46" idx="1"/>
              <a:endCxn id="74" idx="1"/>
            </p:cNvCxnSpPr>
            <p:nvPr/>
          </p:nvCxnSpPr>
          <p:spPr>
            <a:xfrm rot="10800000" flipH="1" flipV="1">
              <a:off x="1202857" y="4291429"/>
              <a:ext cx="647858" cy="127047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矩形: 圆角 73">
                  <a:extLst>
                    <a:ext uri="{FF2B5EF4-FFF2-40B4-BE49-F238E27FC236}">
                      <a16:creationId xmlns:a16="http://schemas.microsoft.com/office/drawing/2014/main" id="{EE5BE247-C603-4013-9D45-AEBC0F007E33}"/>
                    </a:ext>
                  </a:extLst>
                </p:cNvPr>
                <p:cNvSpPr/>
                <p:nvPr/>
              </p:nvSpPr>
              <p:spPr>
                <a:xfrm>
                  <a:off x="1850715" y="5365703"/>
                  <a:ext cx="1409316"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a:solidFill>
                        <a:srgbClr val="0000FF"/>
                      </a:solidFill>
                    </a:rPr>
                    <a:t>逻辑函数</a:t>
                  </a:r>
                  <a14:m>
                    <m:oMath xmlns:m="http://schemas.openxmlformats.org/officeDocument/2006/math">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𝐻</m:t>
                      </m:r>
                    </m:oMath>
                  </a14:m>
                  <a:endParaRPr lang="zh-CN" altLang="en-US" dirty="0">
                    <a:solidFill>
                      <a:srgbClr val="0000FF"/>
                    </a:solidFill>
                  </a:endParaRPr>
                </a:p>
              </p:txBody>
            </p:sp>
          </mc:Choice>
          <mc:Fallback xmlns="">
            <p:sp>
              <p:nvSpPr>
                <p:cNvPr id="74" name="矩形: 圆角 73">
                  <a:extLst>
                    <a:ext uri="{FF2B5EF4-FFF2-40B4-BE49-F238E27FC236}">
                      <a16:creationId xmlns:a16="http://schemas.microsoft.com/office/drawing/2014/main" id="{EE5BE247-C603-4013-9D45-AEBC0F007E33}"/>
                    </a:ext>
                  </a:extLst>
                </p:cNvPr>
                <p:cNvSpPr>
                  <a:spLocks noRot="1" noChangeAspect="1" noMove="1" noResize="1" noEditPoints="1" noAdjustHandles="1" noChangeArrowheads="1" noChangeShapeType="1" noTextEdit="1"/>
                </p:cNvSpPr>
                <p:nvPr/>
              </p:nvSpPr>
              <p:spPr>
                <a:xfrm>
                  <a:off x="1850715" y="5365703"/>
                  <a:ext cx="1409316" cy="392400"/>
                </a:xfrm>
                <a:prstGeom prst="roundRect">
                  <a:avLst/>
                </a:prstGeom>
                <a:blipFill>
                  <a:blip r:embed="rId13"/>
                  <a:stretch>
                    <a:fillRect l="-427" t="-6349" b="-22222"/>
                  </a:stretch>
                </a:blipFill>
                <a:ln w="12700">
                  <a:solidFill>
                    <a:srgbClr val="2A2A2A"/>
                  </a:solidFill>
                </a:ln>
              </p:spPr>
              <p:txBody>
                <a:bodyPr/>
                <a:lstStyle/>
                <a:p>
                  <a:r>
                    <a:rPr lang="zh-CN" altLang="en-US">
                      <a:noFill/>
                    </a:rPr>
                    <a:t> </a:t>
                  </a:r>
                </a:p>
              </p:txBody>
            </p:sp>
          </mc:Fallback>
        </mc:AlternateContent>
        <p:cxnSp>
          <p:nvCxnSpPr>
            <p:cNvPr id="75" name="连接符: 肘形 74">
              <a:extLst>
                <a:ext uri="{FF2B5EF4-FFF2-40B4-BE49-F238E27FC236}">
                  <a16:creationId xmlns:a16="http://schemas.microsoft.com/office/drawing/2014/main" id="{34D636BE-F3BB-4B04-8499-5D029481DE14}"/>
                </a:ext>
              </a:extLst>
            </p:cNvPr>
            <p:cNvCxnSpPr>
              <a:cxnSpLocks/>
              <a:stCxn id="48" idx="1"/>
              <a:endCxn id="74" idx="1"/>
            </p:cNvCxnSpPr>
            <p:nvPr/>
          </p:nvCxnSpPr>
          <p:spPr>
            <a:xfrm rot="10800000" flipH="1" flipV="1">
              <a:off x="1202857" y="4683609"/>
              <a:ext cx="647858" cy="87829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55330177-1BD8-4613-B58D-CF75FC22227F}"/>
                </a:ext>
              </a:extLst>
            </p:cNvPr>
            <p:cNvCxnSpPr>
              <a:cxnSpLocks/>
              <a:stCxn id="49" idx="1"/>
              <a:endCxn id="74" idx="1"/>
            </p:cNvCxnSpPr>
            <p:nvPr/>
          </p:nvCxnSpPr>
          <p:spPr>
            <a:xfrm rot="10800000" flipH="1" flipV="1">
              <a:off x="1202857" y="5075789"/>
              <a:ext cx="647858" cy="48611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77CBA638-8B40-4A87-8DCB-0BBF785A1318}"/>
                </a:ext>
              </a:extLst>
            </p:cNvPr>
            <p:cNvCxnSpPr>
              <a:cxnSpLocks/>
              <a:stCxn id="74" idx="0"/>
              <a:endCxn id="50" idx="4"/>
            </p:cNvCxnSpPr>
            <p:nvPr/>
          </p:nvCxnSpPr>
          <p:spPr>
            <a:xfrm flipV="1">
              <a:off x="2555373" y="4095339"/>
              <a:ext cx="11043" cy="127036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78" name="直接箭头连接符 77">
              <a:extLst>
                <a:ext uri="{FF2B5EF4-FFF2-40B4-BE49-F238E27FC236}">
                  <a16:creationId xmlns:a16="http://schemas.microsoft.com/office/drawing/2014/main" id="{69A6B50C-B32F-4CDC-BA31-81331850ABB1}"/>
                </a:ext>
              </a:extLst>
            </p:cNvPr>
            <p:cNvCxnSpPr>
              <a:cxnSpLocks/>
              <a:stCxn id="79" idx="2"/>
              <a:endCxn id="52" idx="0"/>
            </p:cNvCxnSpPr>
            <p:nvPr/>
          </p:nvCxnSpPr>
          <p:spPr>
            <a:xfrm>
              <a:off x="3403180" y="3498901"/>
              <a:ext cx="3307" cy="19854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A8893E9-234C-4EA5-9D26-84E56A805CB8}"/>
                    </a:ext>
                  </a:extLst>
                </p:cNvPr>
                <p:cNvSpPr txBox="1"/>
                <p:nvPr/>
              </p:nvSpPr>
              <p:spPr>
                <a:xfrm>
                  <a:off x="3176038" y="3107255"/>
                  <a:ext cx="45428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i="1" dirty="0">
                                <a:solidFill>
                                  <a:schemeClr val="tx1"/>
                                </a:solidFill>
                                <a:latin typeface="Cambria Math" panose="02040503050406030204" pitchFamily="18" charset="0"/>
                              </a:rPr>
                              <m:t>𝑀</m:t>
                            </m:r>
                          </m:e>
                          <m:sub>
                            <m:r>
                              <a:rPr lang="en-US" altLang="zh-CN" i="1" dirty="0">
                                <a:solidFill>
                                  <a:schemeClr val="tx1"/>
                                </a:solidFill>
                                <a:latin typeface="Cambria Math" panose="02040503050406030204" pitchFamily="18" charset="0"/>
                              </a:rPr>
                              <m:t>𝑗</m:t>
                            </m:r>
                          </m:sub>
                        </m:sSub>
                      </m:oMath>
                    </m:oMathPara>
                  </a14:m>
                  <a:endParaRPr lang="zh-CN" altLang="en-US" dirty="0">
                    <a:solidFill>
                      <a:schemeClr val="tx1"/>
                    </a:solidFill>
                  </a:endParaRPr>
                </a:p>
              </p:txBody>
            </p:sp>
          </mc:Choice>
          <mc:Fallback xmlns="">
            <p:sp>
              <p:nvSpPr>
                <p:cNvPr id="79" name="文本框 78">
                  <a:extLst>
                    <a:ext uri="{FF2B5EF4-FFF2-40B4-BE49-F238E27FC236}">
                      <a16:creationId xmlns:a16="http://schemas.microsoft.com/office/drawing/2014/main" id="{CA8893E9-234C-4EA5-9D26-84E56A805CB8}"/>
                    </a:ext>
                  </a:extLst>
                </p:cNvPr>
                <p:cNvSpPr txBox="1">
                  <a:spLocks noRot="1" noChangeAspect="1" noMove="1" noResize="1" noEditPoints="1" noAdjustHandles="1" noChangeArrowheads="1" noChangeShapeType="1" noTextEdit="1"/>
                </p:cNvSpPr>
                <p:nvPr/>
              </p:nvSpPr>
              <p:spPr>
                <a:xfrm>
                  <a:off x="3176038" y="3107255"/>
                  <a:ext cx="454284" cy="391646"/>
                </a:xfrm>
                <a:prstGeom prst="rect">
                  <a:avLst/>
                </a:prstGeom>
                <a:blipFill>
                  <a:blip r:embed="rId14"/>
                  <a:stretch>
                    <a:fillRect b="-14754"/>
                  </a:stretch>
                </a:blipFill>
              </p:spPr>
              <p:txBody>
                <a:bodyPr/>
                <a:lstStyle/>
                <a:p>
                  <a:r>
                    <a:rPr lang="zh-CN" altLang="en-US">
                      <a:noFill/>
                    </a:rPr>
                    <a:t> </a:t>
                  </a:r>
                </a:p>
              </p:txBody>
            </p:sp>
          </mc:Fallback>
        </mc:AlternateContent>
        <p:cxnSp>
          <p:nvCxnSpPr>
            <p:cNvPr id="80" name="直接箭头连接符 79">
              <a:extLst>
                <a:ext uri="{FF2B5EF4-FFF2-40B4-BE49-F238E27FC236}">
                  <a16:creationId xmlns:a16="http://schemas.microsoft.com/office/drawing/2014/main" id="{78559A17-75BC-40DC-AD96-7B09373F7D9B}"/>
                </a:ext>
              </a:extLst>
            </p:cNvPr>
            <p:cNvCxnSpPr>
              <a:cxnSpLocks/>
              <a:endCxn id="54" idx="0"/>
            </p:cNvCxnSpPr>
            <p:nvPr/>
          </p:nvCxnSpPr>
          <p:spPr>
            <a:xfrm>
              <a:off x="4246558" y="3449472"/>
              <a:ext cx="0" cy="24797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8550435B-72EE-4EA6-AB8C-358B87C63EC4}"/>
                    </a:ext>
                  </a:extLst>
                </p:cNvPr>
                <p:cNvSpPr txBox="1"/>
                <p:nvPr/>
              </p:nvSpPr>
              <p:spPr>
                <a:xfrm>
                  <a:off x="3974277" y="3076682"/>
                  <a:ext cx="521643"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m:oMathPara>
                  </a14:m>
                  <a:endParaRPr lang="zh-CN" altLang="en-US" dirty="0">
                    <a:solidFill>
                      <a:schemeClr val="tx1"/>
                    </a:solidFill>
                  </a:endParaRPr>
                </a:p>
              </p:txBody>
            </p:sp>
          </mc:Choice>
          <mc:Fallback xmlns="">
            <p:sp>
              <p:nvSpPr>
                <p:cNvPr id="81" name="文本框 80">
                  <a:extLst>
                    <a:ext uri="{FF2B5EF4-FFF2-40B4-BE49-F238E27FC236}">
                      <a16:creationId xmlns:a16="http://schemas.microsoft.com/office/drawing/2014/main" id="{8550435B-72EE-4EA6-AB8C-358B87C63EC4}"/>
                    </a:ext>
                  </a:extLst>
                </p:cNvPr>
                <p:cNvSpPr txBox="1">
                  <a:spLocks noRot="1" noChangeAspect="1" noMove="1" noResize="1" noEditPoints="1" noAdjustHandles="1" noChangeArrowheads="1" noChangeShapeType="1" noTextEdit="1"/>
                </p:cNvSpPr>
                <p:nvPr/>
              </p:nvSpPr>
              <p:spPr>
                <a:xfrm>
                  <a:off x="3974277" y="3076682"/>
                  <a:ext cx="521643" cy="370294"/>
                </a:xfrm>
                <a:prstGeom prst="rect">
                  <a:avLst/>
                </a:prstGeom>
                <a:blipFill>
                  <a:blip r:embed="rId15"/>
                  <a:stretch>
                    <a:fillRect b="-877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3025160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48</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74D4E38-7884-41CD-A49F-AC22C7C236BE}"/>
                  </a:ext>
                </a:extLst>
              </p:cNvPr>
              <p:cNvSpPr txBox="1"/>
              <p:nvPr/>
            </p:nvSpPr>
            <p:spPr>
              <a:xfrm>
                <a:off x="299056" y="1557124"/>
                <a:ext cx="8493405" cy="2952603"/>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第四轮</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迭代运算使用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r>
                      <a:rPr lang="en-US" altLang="zh-CN" sz="2000" b="0" i="1" smtClean="0">
                        <a:solidFill>
                          <a:srgbClr val="0000FF"/>
                        </a:solidFill>
                        <a:latin typeface="Cambria Math" panose="02040503050406030204" pitchFamily="18" charset="0"/>
                        <a:cs typeface="Times New Roman" panose="02020603050405020304" pitchFamily="18" charset="0"/>
                      </a:rPr>
                      <m:t>𝐼</m:t>
                    </m:r>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defRPr/>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𝑎</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𝐼</m:t>
                              </m:r>
                              <m:d>
                                <m:d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d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𝑏</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𝑐</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 </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𝑑</m:t>
                                  </m:r>
                                </m:e>
                              </m:d>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𝑀</m:t>
                                  </m:r>
                                </m:e>
                                <m:sub>
                                  <m:r>
                                    <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rPr>
                                    <m:t>𝑗</m:t>
                                  </m:r>
                                </m:sub>
                              </m:s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m:t>
                              </m:r>
                              <m:sSub>
                                <m:sSubPr>
                                  <m:ctrlP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ctrlPr>
                                </m:sSubPr>
                                <m:e>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𝑡</m:t>
                                  </m:r>
                                </m:e>
                                <m:sub>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𝑖</m:t>
                                  </m:r>
                                </m:sub>
                              </m:sSub>
                            </m:e>
                          </m:d>
                          <m:r>
                            <a:rPr lang="en-US" altLang="zh-CN"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kumimoji="0" lang="en-US" altLang="zh-CN" b="0" i="1" u="none" strike="noStrike" kern="1200" cap="none" spc="0" normalizeH="0" baseline="0" noProof="0" dirty="0" smtClean="0">
                              <a:ln>
                                <a:noFill/>
                              </a:ln>
                              <a:solidFill>
                                <a:srgbClr val="0000FF"/>
                              </a:solidFill>
                              <a:effectLst/>
                              <a:uLnTx/>
                              <a:uFillTx/>
                              <a:latin typeface="Cambria Math" panose="02040503050406030204" pitchFamily="18" charset="0"/>
                            </a:rPr>
                            <m:t>𝑠</m:t>
                          </m:r>
                        </m:e>
                      </m:d>
                    </m:oMath>
                  </m:oMathPara>
                </a14:m>
                <a:endParaRPr lang="en-US" altLang="zh-CN" dirty="0">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四</a:t>
                </a:r>
                <a:r>
                  <a:rPr lang="zh-CN" altLang="en-US" sz="2000" dirty="0">
                    <a:latin typeface="Cambria Math" panose="02040503050406030204" pitchFamily="18" charset="0"/>
                  </a:rPr>
                  <a:t>轮同样运行 </a:t>
                </a:r>
                <a:r>
                  <a:rPr lang="en-US" altLang="zh-CN" sz="2000" dirty="0">
                    <a:latin typeface="Cambria Math" panose="02040503050406030204" pitchFamily="18" charset="0"/>
                  </a:rPr>
                  <a:t>16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𝑀</m:t>
                        </m:r>
                      </m:e>
                      <m:sub>
                        <m:r>
                          <a:rPr lang="en-US" altLang="zh-CN" i="1" dirty="0">
                            <a:latin typeface="Cambria Math" panose="02040503050406030204" pitchFamily="18" charset="0"/>
                          </a:rPr>
                          <m:t>𝑗</m:t>
                        </m:r>
                      </m:sub>
                    </m:sSub>
                    <m:r>
                      <a:rPr lang="en-US" altLang="zh-CN" i="1" dirty="0">
                        <a:latin typeface="Cambria Math" panose="02040503050406030204" pitchFamily="18" charset="0"/>
                      </a:rPr>
                      <m:t> </m:t>
                    </m:r>
                    <m:r>
                      <a:rPr lang="zh-CN" altLang="en-US" i="1" dirty="0" smtClean="0">
                        <a:latin typeface="Cambria Math" panose="02040503050406030204" pitchFamily="18" charset="0"/>
                      </a:rPr>
                      <m:t>是</m:t>
                    </m:r>
                  </m:oMath>
                </a14:m>
                <a:r>
                  <a:rPr lang="zh-CN" altLang="en-US" dirty="0">
                    <a:latin typeface="Times New Roman" panose="02020603050405020304" pitchFamily="18" charset="0"/>
                    <a:cs typeface="Times New Roman" panose="02020603050405020304" pitchFamily="18" charset="0"/>
                  </a:rPr>
                  <a:t>原分组消息的第</a:t>
                </a:r>
                <a14:m>
                  <m:oMath xmlns:m="http://schemas.openxmlformats.org/officeDocument/2006/math">
                    <m:r>
                      <a:rPr lang="en-US" altLang="zh-CN" b="0" i="0" dirty="0" smtClean="0">
                        <a:solidFill>
                          <a:srgbClr val="0000FF"/>
                        </a:solidFill>
                        <a:latin typeface="Cambria Math" panose="02040503050406030204" pitchFamily="18" charset="0"/>
                        <a:cs typeface="Times New Roman" panose="02020603050405020304" pitchFamily="18" charset="0"/>
                      </a:rPr>
                      <m:t> </m:t>
                    </m:r>
                    <m:r>
                      <a:rPr lang="en-US" altLang="zh-CN" i="1" dirty="0">
                        <a:solidFill>
                          <a:srgbClr val="0000FF"/>
                        </a:solidFill>
                        <a:latin typeface="Cambria Math" panose="02040503050406030204" pitchFamily="18" charset="0"/>
                        <a:cs typeface="Times New Roman" panose="02020603050405020304" pitchFamily="18" charset="0"/>
                      </a:rPr>
                      <m:t>7</m:t>
                    </m:r>
                    <m:r>
                      <a:rPr lang="en-US" altLang="zh-CN" i="1">
                        <a:solidFill>
                          <a:srgbClr val="0000FF"/>
                        </a:solidFill>
                        <a:latin typeface="Cambria Math" panose="02040503050406030204" pitchFamily="18" charset="0"/>
                        <a:cs typeface="Times New Roman" panose="02020603050405020304" pitchFamily="18" charset="0"/>
                      </a:rPr>
                      <m:t>𝑗</m:t>
                    </m:r>
                    <m:r>
                      <a:rPr lang="en-US" altLang="zh-CN" b="0" i="0" smtClean="0">
                        <a:solidFill>
                          <a:srgbClr val="0000FF"/>
                        </a:solidFill>
                        <a:latin typeface="Cambria Math" panose="02040503050406030204" pitchFamily="18" charset="0"/>
                        <a:cs typeface="Times New Roman" panose="02020603050405020304" pitchFamily="18" charset="0"/>
                      </a:rPr>
                      <m:t> </m:t>
                    </m:r>
                    <m:r>
                      <m:rPr>
                        <m:sty m:val="p"/>
                      </m:rPr>
                      <a:rPr lang="en-US" altLang="zh-CN" b="0" i="0" smtClean="0">
                        <a:solidFill>
                          <a:srgbClr val="0000FF"/>
                        </a:solidFill>
                        <a:latin typeface="Cambria Math" panose="02040503050406030204" pitchFamily="18" charset="0"/>
                        <a:cs typeface="Times New Roman" panose="02020603050405020304" pitchFamily="18" charset="0"/>
                      </a:rPr>
                      <m:t>mod</m:t>
                    </m:r>
                    <m:r>
                      <a:rPr lang="en-US" altLang="zh-CN" b="0" i="1" smtClean="0">
                        <a:solidFill>
                          <a:srgbClr val="0000FF"/>
                        </a:solidFill>
                        <a:latin typeface="Cambria Math" panose="02040503050406030204" pitchFamily="18" charset="0"/>
                        <a:cs typeface="Times New Roman" panose="02020603050405020304" pitchFamily="18" charset="0"/>
                      </a:rPr>
                      <m:t> 16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zh-CN" altLang="en-US" dirty="0">
                    <a:latin typeface="Times New Roman" panose="02020603050405020304" pitchFamily="18" charset="0"/>
                    <a:cs typeface="Times New Roman" panose="02020603050405020304" pitchFamily="18" charset="0"/>
                  </a:rPr>
                  <a:t> 字，</a:t>
                </a:r>
                <a14:m>
                  <m:oMath xmlns:m="http://schemas.openxmlformats.org/officeDocument/2006/math">
                    <m:r>
                      <a:rPr lang="en-US" altLang="zh-CN" i="1" dirty="0">
                        <a:latin typeface="Cambria Math" panose="02040503050406030204" pitchFamily="18" charset="0"/>
                        <a:cs typeface="Times New Roman" panose="02020603050405020304" pitchFamily="18" charset="0"/>
                      </a:rPr>
                      <m:t>1</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𝑗</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≤16</m:t>
                    </m:r>
                  </m:oMath>
                </a14:m>
                <a:endPar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smtClean="0">
                            <a:solidFill>
                              <a:schemeClr val="tx1"/>
                            </a:solidFill>
                            <a:effectLst/>
                            <a:latin typeface="Cambria Math" panose="02040503050406030204" pitchFamily="18" charset="0"/>
                          </a:rPr>
                        </m:ctrlPr>
                      </m:sSubPr>
                      <m:e>
                        <m:r>
                          <a:rPr lang="en-US" altLang="zh-CN"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a14:m>
                <a:r>
                  <a:rPr kumimoji="0" lang="en-US" altLang="zh-CN"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 </a:t>
                </a:r>
                <a:r>
                  <a:rPr kumimoji="0" lang="zh-CN" altLang="en-US"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为常数，</a:t>
                </a:r>
                <a:r>
                  <a:rPr lang="zh-CN" altLang="en-US" dirty="0">
                    <a:solidFill>
                      <a:prstClr val="black"/>
                    </a:solidFill>
                    <a:latin typeface="Cambria Math" panose="02040503050406030204" pitchFamily="18" charset="0"/>
                    <a:cs typeface="Times New Roman" panose="02020603050405020304" pitchFamily="18" charset="0"/>
                  </a:rPr>
                  <a:t>计算为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a:latin typeface="Cambria Math" panose="02040503050406030204" pitchFamily="18" charset="0"/>
                            <a:cs typeface="Times New Roman" panose="02020603050405020304" pitchFamily="18" charset="0"/>
                          </a:rPr>
                        </m:ctrlPr>
                      </m:dPr>
                      <m:e>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2</m:t>
                            </m:r>
                          </m:e>
                          <m:sup>
                            <m:r>
                              <a:rPr lang="en-US" altLang="zh-CN" i="1">
                                <a:latin typeface="Cambria Math" panose="02040503050406030204" pitchFamily="18" charset="0"/>
                                <a:cs typeface="Times New Roman" panose="02020603050405020304" pitchFamily="18" charset="0"/>
                              </a:rPr>
                              <m:t>32</m:t>
                            </m:r>
                          </m:sup>
                        </m:sSup>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ea typeface="Cambria Math" panose="02040503050406030204" pitchFamily="18" charset="0"/>
                                    <a:cs typeface="Times New Roman" panose="02020603050405020304" pitchFamily="18" charset="0"/>
                                  </a:rPr>
                                  <m:t>sin</m:t>
                                </m:r>
                              </m:fName>
                              <m:e>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e>
                            </m:func>
                          </m:e>
                        </m:d>
                      </m:e>
                    </m:d>
                  </m:oMath>
                </a14:m>
                <a:r>
                  <a:rPr lang="zh-CN" altLang="en-US" b="0"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dirty="0">
                    <a:latin typeface="Cambria Math" panose="02040503050406030204" pitchFamily="18" charset="0"/>
                  </a:rPr>
                  <a:t>第四轮中</a:t>
                </a:r>
                <a14:m>
                  <m:oMath xmlns:m="http://schemas.openxmlformats.org/officeDocument/2006/math">
                    <m: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49</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≤64</m:t>
                    </m:r>
                  </m:oMath>
                </a14:m>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342900" indent="-342900">
                  <a:lnSpc>
                    <a:spcPct val="120000"/>
                  </a:lnSpc>
                  <a:buFont typeface="Wingdings" panose="05000000000000000000" pitchFamily="2" charset="2"/>
                  <a:buChar char="l"/>
                  <a:defRPr/>
                </a:pPr>
                <a:endParaRPr lang="en-US" altLang="zh-CN" b="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xmlns="" xmlns:a14="http://schemas.microsoft.com/office/drawing/2010/main" id="{674D4E38-7884-41CD-A49F-AC22C7C236BE}"/>
                  </a:ext>
                </a:extLst>
              </p:cNvPr>
              <p:cNvSpPr txBox="1">
                <a:spLocks noRot="1" noChangeAspect="1" noMove="1" noResize="1" noEditPoints="1" noAdjustHandles="1" noChangeArrowheads="1" noChangeShapeType="1" noTextEdit="1"/>
              </p:cNvSpPr>
              <p:nvPr/>
            </p:nvSpPr>
            <p:spPr>
              <a:xfrm>
                <a:off x="299056" y="1557124"/>
                <a:ext cx="8493405" cy="2952603"/>
              </a:xfrm>
              <a:prstGeom prst="rect">
                <a:avLst/>
              </a:prstGeom>
              <a:blipFill rotWithShape="0">
                <a:blip r:embed="rId3"/>
                <a:stretch>
                  <a:fillRect l="-646"/>
                </a:stretch>
              </a:blipFill>
            </p:spPr>
            <p:txBody>
              <a:bodyPr/>
              <a:lstStyle/>
              <a:p>
                <a:r>
                  <a:rPr lang="zh-CN" altLang="en-US">
                    <a:noFill/>
                  </a:rPr>
                  <a:t> </a:t>
                </a:r>
              </a:p>
            </p:txBody>
          </p:sp>
        </mc:Fallback>
      </mc:AlternateContent>
      <p:grpSp>
        <p:nvGrpSpPr>
          <p:cNvPr id="44" name="组合 43">
            <a:extLst>
              <a:ext uri="{FF2B5EF4-FFF2-40B4-BE49-F238E27FC236}">
                <a16:creationId xmlns:a16="http://schemas.microsoft.com/office/drawing/2014/main" id="{174A44FD-662E-4E10-B811-B8DCB6C04FA1}"/>
              </a:ext>
            </a:extLst>
          </p:cNvPr>
          <p:cNvGrpSpPr/>
          <p:nvPr/>
        </p:nvGrpSpPr>
        <p:grpSpPr>
          <a:xfrm>
            <a:off x="1116837" y="3807724"/>
            <a:ext cx="6857841" cy="2518062"/>
            <a:chOff x="1202857" y="3076682"/>
            <a:chExt cx="6857841" cy="2681421"/>
          </a:xfrm>
        </p:grpSpPr>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E2E25F34-86BC-421A-8BB8-AFF5E5FF0813}"/>
                    </a:ext>
                  </a:extLst>
                </p:cNvPr>
                <p:cNvSpPr/>
                <p:nvPr/>
              </p:nvSpPr>
              <p:spPr>
                <a:xfrm>
                  <a:off x="1202857" y="370315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1202857" y="3703159"/>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3B037A9B-A5F4-4D08-876A-19D7B0559B1D}"/>
                    </a:ext>
                  </a:extLst>
                </p:cNvPr>
                <p:cNvSpPr/>
                <p:nvPr/>
              </p:nvSpPr>
              <p:spPr>
                <a:xfrm>
                  <a:off x="1202857" y="409533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1202857" y="4095339"/>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8EB76B04-86D0-49FD-8D4E-29419C9C6C89}"/>
                    </a:ext>
                  </a:extLst>
                </p:cNvPr>
                <p:cNvSpPr/>
                <p:nvPr/>
              </p:nvSpPr>
              <p:spPr>
                <a:xfrm>
                  <a:off x="1202857" y="448751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1202857" y="4487519"/>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B8B55094-A33C-4F41-BC20-3F51D4E20214}"/>
                    </a:ext>
                  </a:extLst>
                </p:cNvPr>
                <p:cNvSpPr/>
                <p:nvPr/>
              </p:nvSpPr>
              <p:spPr>
                <a:xfrm>
                  <a:off x="1202857" y="487969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1202857" y="4879699"/>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50" name="流程图: 或者 49">
              <a:extLst>
                <a:ext uri="{FF2B5EF4-FFF2-40B4-BE49-F238E27FC236}">
                  <a16:creationId xmlns:a16="http://schemas.microsoft.com/office/drawing/2014/main" id="{40CA4D62-CAB6-4EDF-BC93-ECE23D68CC64}"/>
                </a:ext>
              </a:extLst>
            </p:cNvPr>
            <p:cNvSpPr/>
            <p:nvPr/>
          </p:nvSpPr>
          <p:spPr>
            <a:xfrm>
              <a:off x="2370216" y="370315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a:extLst>
                <a:ext uri="{FF2B5EF4-FFF2-40B4-BE49-F238E27FC236}">
                  <a16:creationId xmlns:a16="http://schemas.microsoft.com/office/drawing/2014/main" id="{A4A5E035-041B-4C19-BC72-CB55BD64B20E}"/>
                </a:ext>
              </a:extLst>
            </p:cNvPr>
            <p:cNvCxnSpPr>
              <a:cxnSpLocks/>
              <a:stCxn id="45" idx="3"/>
              <a:endCxn id="50" idx="2"/>
            </p:cNvCxnSpPr>
            <p:nvPr/>
          </p:nvCxnSpPr>
          <p:spPr>
            <a:xfrm>
              <a:off x="1862087" y="3899249"/>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2" name="流程图: 或者 51">
              <a:extLst>
                <a:ext uri="{FF2B5EF4-FFF2-40B4-BE49-F238E27FC236}">
                  <a16:creationId xmlns:a16="http://schemas.microsoft.com/office/drawing/2014/main" id="{559C60A4-BCA9-4DB6-80AF-FBE6D7DBB38D}"/>
                </a:ext>
              </a:extLst>
            </p:cNvPr>
            <p:cNvSpPr/>
            <p:nvPr/>
          </p:nvSpPr>
          <p:spPr>
            <a:xfrm>
              <a:off x="3210287"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a:extLst>
                <a:ext uri="{FF2B5EF4-FFF2-40B4-BE49-F238E27FC236}">
                  <a16:creationId xmlns:a16="http://schemas.microsoft.com/office/drawing/2014/main" id="{CB98CEBF-1208-4794-854B-0616AC06E61D}"/>
                </a:ext>
              </a:extLst>
            </p:cNvPr>
            <p:cNvCxnSpPr>
              <a:cxnSpLocks/>
              <a:stCxn id="50" idx="6"/>
              <a:endCxn id="52" idx="2"/>
            </p:cNvCxnSpPr>
            <p:nvPr/>
          </p:nvCxnSpPr>
          <p:spPr>
            <a:xfrm flipV="1">
              <a:off x="2762616" y="3893539"/>
              <a:ext cx="447671"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4" name="流程图: 或者 53">
              <a:extLst>
                <a:ext uri="{FF2B5EF4-FFF2-40B4-BE49-F238E27FC236}">
                  <a16:creationId xmlns:a16="http://schemas.microsoft.com/office/drawing/2014/main" id="{8B48058E-D514-4096-AAD8-D1207AC4484D}"/>
                </a:ext>
              </a:extLst>
            </p:cNvPr>
            <p:cNvSpPr/>
            <p:nvPr/>
          </p:nvSpPr>
          <p:spPr>
            <a:xfrm>
              <a:off x="4050358" y="369744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B6D09F22-684E-4A3E-A4BE-A108A247958D}"/>
                </a:ext>
              </a:extLst>
            </p:cNvPr>
            <p:cNvCxnSpPr>
              <a:cxnSpLocks/>
              <a:stCxn id="52" idx="6"/>
              <a:endCxn id="54" idx="2"/>
            </p:cNvCxnSpPr>
            <p:nvPr/>
          </p:nvCxnSpPr>
          <p:spPr>
            <a:xfrm>
              <a:off x="3602687" y="3893539"/>
              <a:ext cx="447671"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6" name="矩形 55">
                  <a:extLst>
                    <a:ext uri="{FF2B5EF4-FFF2-40B4-BE49-F238E27FC236}">
                      <a16:creationId xmlns:a16="http://schemas.microsoft.com/office/drawing/2014/main" id="{648248C5-A565-49E5-B7F7-CA650AAE6B01}"/>
                    </a:ext>
                  </a:extLst>
                </p:cNvPr>
                <p:cNvSpPr/>
                <p:nvPr/>
              </p:nvSpPr>
              <p:spPr>
                <a:xfrm>
                  <a:off x="4835158" y="3697449"/>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zh-CN" altLang="en-US"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6" name="矩形 55">
                  <a:extLst>
                    <a:ext uri="{FF2B5EF4-FFF2-40B4-BE49-F238E27FC236}">
                      <a16:creationId xmlns:a16="http://schemas.microsoft.com/office/drawing/2014/main" xmlns:a14="http://schemas.microsoft.com/office/drawing/2010/main" xmlns="" id="{648248C5-A565-49E5-B7F7-CA650AAE6B01}"/>
                    </a:ext>
                  </a:extLst>
                </p:cNvPr>
                <p:cNvSpPr>
                  <a:spLocks noRot="1" noChangeAspect="1" noMove="1" noResize="1" noEditPoints="1" noAdjustHandles="1" noChangeArrowheads="1" noChangeShapeType="1" noTextEdit="1"/>
                </p:cNvSpPr>
                <p:nvPr/>
              </p:nvSpPr>
              <p:spPr>
                <a:xfrm>
                  <a:off x="4835158" y="3697449"/>
                  <a:ext cx="906053" cy="392180"/>
                </a:xfrm>
                <a:prstGeom prst="rect">
                  <a:avLst/>
                </a:prstGeom>
                <a:blipFill rotWithShape="0">
                  <a:blip r:embed="rId8"/>
                  <a:stretch>
                    <a:fillRect/>
                  </a:stretch>
                </a:blipFill>
                <a:ln w="9525">
                  <a:solidFill>
                    <a:schemeClr val="tx1"/>
                  </a:solidFill>
                </a:ln>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528DD47F-734F-4AF7-A1C2-5693F3D4BDEA}"/>
                </a:ext>
              </a:extLst>
            </p:cNvPr>
            <p:cNvCxnSpPr>
              <a:cxnSpLocks/>
              <a:stCxn id="54" idx="6"/>
              <a:endCxn id="56" idx="1"/>
            </p:cNvCxnSpPr>
            <p:nvPr/>
          </p:nvCxnSpPr>
          <p:spPr>
            <a:xfrm>
              <a:off x="4442758" y="3893539"/>
              <a:ext cx="392400"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58" name="流程图: 或者 57">
              <a:extLst>
                <a:ext uri="{FF2B5EF4-FFF2-40B4-BE49-F238E27FC236}">
                  <a16:creationId xmlns:a16="http://schemas.microsoft.com/office/drawing/2014/main" id="{E36D7C42-A768-4334-BBF5-49364B45B90E}"/>
                </a:ext>
              </a:extLst>
            </p:cNvPr>
            <p:cNvSpPr/>
            <p:nvPr/>
          </p:nvSpPr>
          <p:spPr>
            <a:xfrm>
              <a:off x="6205129" y="3697679"/>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a:extLst>
                <a:ext uri="{FF2B5EF4-FFF2-40B4-BE49-F238E27FC236}">
                  <a16:creationId xmlns:a16="http://schemas.microsoft.com/office/drawing/2014/main" id="{E21D587E-497D-4CD1-ACC0-E7A7FC2E4D03}"/>
                </a:ext>
              </a:extLst>
            </p:cNvPr>
            <p:cNvCxnSpPr>
              <a:cxnSpLocks/>
              <a:stCxn id="56" idx="3"/>
              <a:endCxn id="58" idx="2"/>
            </p:cNvCxnSpPr>
            <p:nvPr/>
          </p:nvCxnSpPr>
          <p:spPr>
            <a:xfrm>
              <a:off x="5741211" y="3893539"/>
              <a:ext cx="463918" cy="2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0" name="矩形 59">
                  <a:extLst>
                    <a:ext uri="{FF2B5EF4-FFF2-40B4-BE49-F238E27FC236}">
                      <a16:creationId xmlns:a16="http://schemas.microsoft.com/office/drawing/2014/main" id="{4CA70341-1B18-46D7-9F2E-BD5256003142}"/>
                    </a:ext>
                  </a:extLst>
                </p:cNvPr>
                <p:cNvSpPr/>
                <p:nvPr/>
              </p:nvSpPr>
              <p:spPr>
                <a:xfrm>
                  <a:off x="7401468" y="369744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401468" y="3697449"/>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7442B480-ABF0-4591-861A-5ABC4D61A68C}"/>
                    </a:ext>
                  </a:extLst>
                </p:cNvPr>
                <p:cNvSpPr/>
                <p:nvPr/>
              </p:nvSpPr>
              <p:spPr>
                <a:xfrm>
                  <a:off x="7401468" y="408962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401468" y="4089629"/>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BF886799-5BDE-4241-BE0A-83EF289D0007}"/>
                    </a:ext>
                  </a:extLst>
                </p:cNvPr>
                <p:cNvSpPr/>
                <p:nvPr/>
              </p:nvSpPr>
              <p:spPr>
                <a:xfrm>
                  <a:off x="7401468" y="448180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401468" y="4481809"/>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E8971789-E0E5-4F64-8DE7-B68924923AB7}"/>
                    </a:ext>
                  </a:extLst>
                </p:cNvPr>
                <p:cNvSpPr/>
                <p:nvPr/>
              </p:nvSpPr>
              <p:spPr>
                <a:xfrm>
                  <a:off x="7401468" y="4873989"/>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401468" y="4873989"/>
                  <a:ext cx="659230" cy="392180"/>
                </a:xfrm>
                <a:prstGeom prst="rect">
                  <a:avLst/>
                </a:prstGeom>
                <a:blipFill>
                  <a:blip r:embed="rId12"/>
                  <a:stretch>
                    <a:fillRect/>
                  </a:stretch>
                </a:blipFill>
                <a:ln w="9525">
                  <a:solidFill>
                    <a:schemeClr val="tx1"/>
                  </a:solidFill>
                </a:ln>
              </p:spPr>
              <p:txBody>
                <a:bodyPr/>
                <a:lstStyle/>
                <a:p>
                  <a:r>
                    <a:rPr lang="zh-CN" altLang="en-US">
                      <a:noFill/>
                    </a:rPr>
                    <a:t> </a:t>
                  </a:r>
                </a:p>
              </p:txBody>
            </p:sp>
          </mc:Fallback>
        </mc:AlternateContent>
        <p:cxnSp>
          <p:nvCxnSpPr>
            <p:cNvPr id="64" name="直接箭头连接符 63">
              <a:extLst>
                <a:ext uri="{FF2B5EF4-FFF2-40B4-BE49-F238E27FC236}">
                  <a16:creationId xmlns:a16="http://schemas.microsoft.com/office/drawing/2014/main" id="{E4923637-F8EC-4ADA-8DA5-192B5955C63A}"/>
                </a:ext>
              </a:extLst>
            </p:cNvPr>
            <p:cNvCxnSpPr>
              <a:cxnSpLocks/>
              <a:endCxn id="62" idx="1"/>
            </p:cNvCxnSpPr>
            <p:nvPr/>
          </p:nvCxnSpPr>
          <p:spPr>
            <a:xfrm>
              <a:off x="6889759" y="4268017"/>
              <a:ext cx="511709" cy="4098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直接箭头连接符 64">
              <a:extLst>
                <a:ext uri="{FF2B5EF4-FFF2-40B4-BE49-F238E27FC236}">
                  <a16:creationId xmlns:a16="http://schemas.microsoft.com/office/drawing/2014/main" id="{DA0E4AE2-FD72-477D-BBA0-54B0E1916FE9}"/>
                </a:ext>
              </a:extLst>
            </p:cNvPr>
            <p:cNvCxnSpPr>
              <a:cxnSpLocks/>
            </p:cNvCxnSpPr>
            <p:nvPr/>
          </p:nvCxnSpPr>
          <p:spPr>
            <a:xfrm>
              <a:off x="6877059" y="4663314"/>
              <a:ext cx="524409" cy="3890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直接箭头连接符 65">
              <a:extLst>
                <a:ext uri="{FF2B5EF4-FFF2-40B4-BE49-F238E27FC236}">
                  <a16:creationId xmlns:a16="http://schemas.microsoft.com/office/drawing/2014/main" id="{C4E35F01-2615-4A33-8904-6C0E1DBC7AD0}"/>
                </a:ext>
              </a:extLst>
            </p:cNvPr>
            <p:cNvCxnSpPr>
              <a:cxnSpLocks/>
              <a:endCxn id="60" idx="1"/>
            </p:cNvCxnSpPr>
            <p:nvPr/>
          </p:nvCxnSpPr>
          <p:spPr>
            <a:xfrm flipV="1">
              <a:off x="6870709" y="3893539"/>
              <a:ext cx="530759" cy="11588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7" name="直接箭头连接符 66">
              <a:extLst>
                <a:ext uri="{FF2B5EF4-FFF2-40B4-BE49-F238E27FC236}">
                  <a16:creationId xmlns:a16="http://schemas.microsoft.com/office/drawing/2014/main" id="{7D0D1E18-8BEB-4F34-829A-83C1B0F50A55}"/>
                </a:ext>
              </a:extLst>
            </p:cNvPr>
            <p:cNvCxnSpPr>
              <a:cxnSpLocks/>
              <a:endCxn id="61" idx="1"/>
            </p:cNvCxnSpPr>
            <p:nvPr/>
          </p:nvCxnSpPr>
          <p:spPr>
            <a:xfrm>
              <a:off x="6889759" y="3892078"/>
              <a:ext cx="511709" cy="3936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直接箭头连接符 67">
              <a:extLst>
                <a:ext uri="{FF2B5EF4-FFF2-40B4-BE49-F238E27FC236}">
                  <a16:creationId xmlns:a16="http://schemas.microsoft.com/office/drawing/2014/main" id="{EAC8EA96-CDFE-452E-98F0-AC1721625A04}"/>
                </a:ext>
              </a:extLst>
            </p:cNvPr>
            <p:cNvCxnSpPr>
              <a:cxnSpLocks/>
            </p:cNvCxnSpPr>
            <p:nvPr/>
          </p:nvCxnSpPr>
          <p:spPr>
            <a:xfrm flipV="1">
              <a:off x="6597529" y="3893537"/>
              <a:ext cx="292230" cy="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9" name="直接箭头连接符 68">
              <a:extLst>
                <a:ext uri="{FF2B5EF4-FFF2-40B4-BE49-F238E27FC236}">
                  <a16:creationId xmlns:a16="http://schemas.microsoft.com/office/drawing/2014/main" id="{B9359001-7AA5-4234-9748-FC10C10922A2}"/>
                </a:ext>
              </a:extLst>
            </p:cNvPr>
            <p:cNvCxnSpPr>
              <a:cxnSpLocks/>
              <a:stCxn id="46" idx="3"/>
            </p:cNvCxnSpPr>
            <p:nvPr/>
          </p:nvCxnSpPr>
          <p:spPr>
            <a:xfrm flipV="1">
              <a:off x="1862087" y="4270913"/>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0" name="直接箭头连接符 69">
              <a:extLst>
                <a:ext uri="{FF2B5EF4-FFF2-40B4-BE49-F238E27FC236}">
                  <a16:creationId xmlns:a16="http://schemas.microsoft.com/office/drawing/2014/main" id="{7833091C-C20B-4F9D-93EF-322DD923E582}"/>
                </a:ext>
              </a:extLst>
            </p:cNvPr>
            <p:cNvCxnSpPr>
              <a:cxnSpLocks/>
              <a:stCxn id="48" idx="3"/>
            </p:cNvCxnSpPr>
            <p:nvPr/>
          </p:nvCxnSpPr>
          <p:spPr>
            <a:xfrm flipV="1">
              <a:off x="1862087" y="4664432"/>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1" name="直接箭头连接符 70">
              <a:extLst>
                <a:ext uri="{FF2B5EF4-FFF2-40B4-BE49-F238E27FC236}">
                  <a16:creationId xmlns:a16="http://schemas.microsoft.com/office/drawing/2014/main" id="{53EB488B-4C5F-4CFD-AE9F-DF2467D388D5}"/>
                </a:ext>
              </a:extLst>
            </p:cNvPr>
            <p:cNvCxnSpPr>
              <a:cxnSpLocks/>
            </p:cNvCxnSpPr>
            <p:nvPr/>
          </p:nvCxnSpPr>
          <p:spPr>
            <a:xfrm flipV="1">
              <a:off x="1852664" y="5042027"/>
              <a:ext cx="5024395" cy="2805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2" name="直接箭头连接符 71">
              <a:extLst>
                <a:ext uri="{FF2B5EF4-FFF2-40B4-BE49-F238E27FC236}">
                  <a16:creationId xmlns:a16="http://schemas.microsoft.com/office/drawing/2014/main" id="{AF4F5E89-0C43-4F31-9292-CEB6D0716DE3}"/>
                </a:ext>
              </a:extLst>
            </p:cNvPr>
            <p:cNvCxnSpPr>
              <a:cxnSpLocks/>
            </p:cNvCxnSpPr>
            <p:nvPr/>
          </p:nvCxnSpPr>
          <p:spPr>
            <a:xfrm flipV="1">
              <a:off x="6404518" y="4089630"/>
              <a:ext cx="0" cy="17838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73" name="连接符: 肘形 72">
              <a:extLst>
                <a:ext uri="{FF2B5EF4-FFF2-40B4-BE49-F238E27FC236}">
                  <a16:creationId xmlns:a16="http://schemas.microsoft.com/office/drawing/2014/main" id="{5D41A9F6-2594-41A3-A602-C5ACB6A913F7}"/>
                </a:ext>
              </a:extLst>
            </p:cNvPr>
            <p:cNvCxnSpPr>
              <a:cxnSpLocks/>
              <a:stCxn id="46" idx="1"/>
              <a:endCxn id="74" idx="1"/>
            </p:cNvCxnSpPr>
            <p:nvPr/>
          </p:nvCxnSpPr>
          <p:spPr>
            <a:xfrm rot="10800000" flipH="1" flipV="1">
              <a:off x="1202857" y="4291429"/>
              <a:ext cx="647858" cy="127047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矩形: 圆角 73">
                  <a:extLst>
                    <a:ext uri="{FF2B5EF4-FFF2-40B4-BE49-F238E27FC236}">
                      <a16:creationId xmlns:a16="http://schemas.microsoft.com/office/drawing/2014/main" id="{F8495A93-92A2-4936-8452-B312FD5B4AE4}"/>
                    </a:ext>
                  </a:extLst>
                </p:cNvPr>
                <p:cNvSpPr/>
                <p:nvPr/>
              </p:nvSpPr>
              <p:spPr>
                <a:xfrm>
                  <a:off x="1850715" y="5365703"/>
                  <a:ext cx="1409316"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a:solidFill>
                        <a:srgbClr val="0000FF"/>
                      </a:solidFill>
                    </a:rPr>
                    <a:t>逻辑函数</a:t>
                  </a:r>
                  <a14:m>
                    <m:oMath xmlns:m="http://schemas.openxmlformats.org/officeDocument/2006/math">
                      <m:r>
                        <a:rPr lang="en-US" altLang="zh-CN" b="0" i="1" smtClean="0">
                          <a:solidFill>
                            <a:srgbClr val="0000FF"/>
                          </a:solidFill>
                          <a:latin typeface="Cambria Math" panose="02040503050406030204" pitchFamily="18" charset="0"/>
                        </a:rPr>
                        <m:t> </m:t>
                      </m:r>
                      <m:r>
                        <a:rPr lang="en-US" altLang="zh-CN" b="0" i="1" smtClean="0">
                          <a:solidFill>
                            <a:srgbClr val="0000FF"/>
                          </a:solidFill>
                          <a:latin typeface="Cambria Math" panose="02040503050406030204" pitchFamily="18" charset="0"/>
                        </a:rPr>
                        <m:t>𝐼</m:t>
                      </m:r>
                    </m:oMath>
                  </a14:m>
                  <a:endParaRPr lang="zh-CN" altLang="en-US" dirty="0">
                    <a:solidFill>
                      <a:srgbClr val="0000FF"/>
                    </a:solidFill>
                  </a:endParaRPr>
                </a:p>
              </p:txBody>
            </p:sp>
          </mc:Choice>
          <mc:Fallback xmlns="">
            <p:sp>
              <p:nvSpPr>
                <p:cNvPr id="74" name="矩形: 圆角 73">
                  <a:extLst>
                    <a:ext uri="{FF2B5EF4-FFF2-40B4-BE49-F238E27FC236}">
                      <a16:creationId xmlns:a16="http://schemas.microsoft.com/office/drawing/2014/main" id="{F8495A93-92A2-4936-8452-B312FD5B4AE4}"/>
                    </a:ext>
                  </a:extLst>
                </p:cNvPr>
                <p:cNvSpPr>
                  <a:spLocks noRot="1" noChangeAspect="1" noMove="1" noResize="1" noEditPoints="1" noAdjustHandles="1" noChangeArrowheads="1" noChangeShapeType="1" noTextEdit="1"/>
                </p:cNvSpPr>
                <p:nvPr/>
              </p:nvSpPr>
              <p:spPr>
                <a:xfrm>
                  <a:off x="1850715" y="5365703"/>
                  <a:ext cx="1409316" cy="392400"/>
                </a:xfrm>
                <a:prstGeom prst="roundRect">
                  <a:avLst/>
                </a:prstGeom>
                <a:blipFill>
                  <a:blip r:embed="rId13"/>
                  <a:stretch>
                    <a:fillRect t="-6349" b="-22222"/>
                  </a:stretch>
                </a:blipFill>
                <a:ln w="12700">
                  <a:solidFill>
                    <a:srgbClr val="2A2A2A"/>
                  </a:solidFill>
                </a:ln>
              </p:spPr>
              <p:txBody>
                <a:bodyPr/>
                <a:lstStyle/>
                <a:p>
                  <a:r>
                    <a:rPr lang="zh-CN" altLang="en-US">
                      <a:noFill/>
                    </a:rPr>
                    <a:t> </a:t>
                  </a:r>
                </a:p>
              </p:txBody>
            </p:sp>
          </mc:Fallback>
        </mc:AlternateContent>
        <p:cxnSp>
          <p:nvCxnSpPr>
            <p:cNvPr id="75" name="连接符: 肘形 74">
              <a:extLst>
                <a:ext uri="{FF2B5EF4-FFF2-40B4-BE49-F238E27FC236}">
                  <a16:creationId xmlns:a16="http://schemas.microsoft.com/office/drawing/2014/main" id="{A6A4F679-0C57-4252-B093-187318487B57}"/>
                </a:ext>
              </a:extLst>
            </p:cNvPr>
            <p:cNvCxnSpPr>
              <a:cxnSpLocks/>
              <a:stCxn id="48" idx="1"/>
              <a:endCxn id="74" idx="1"/>
            </p:cNvCxnSpPr>
            <p:nvPr/>
          </p:nvCxnSpPr>
          <p:spPr>
            <a:xfrm rot="10800000" flipH="1" flipV="1">
              <a:off x="1202857" y="4683609"/>
              <a:ext cx="647858" cy="87829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4CE95BC1-086E-4B48-8FB7-9973C41C2038}"/>
                </a:ext>
              </a:extLst>
            </p:cNvPr>
            <p:cNvCxnSpPr>
              <a:cxnSpLocks/>
              <a:stCxn id="49" idx="1"/>
              <a:endCxn id="74" idx="1"/>
            </p:cNvCxnSpPr>
            <p:nvPr/>
          </p:nvCxnSpPr>
          <p:spPr>
            <a:xfrm rot="10800000" flipH="1" flipV="1">
              <a:off x="1202857" y="5075789"/>
              <a:ext cx="647858" cy="486114"/>
            </a:xfrm>
            <a:prstGeom prst="bentConnector3">
              <a:avLst>
                <a:gd name="adj1" fmla="val -35286"/>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799C9D63-76D5-47E6-9E2E-36CB7883804C}"/>
                </a:ext>
              </a:extLst>
            </p:cNvPr>
            <p:cNvCxnSpPr>
              <a:cxnSpLocks/>
              <a:stCxn id="74" idx="0"/>
              <a:endCxn id="50" idx="4"/>
            </p:cNvCxnSpPr>
            <p:nvPr/>
          </p:nvCxnSpPr>
          <p:spPr>
            <a:xfrm flipV="1">
              <a:off x="2555373" y="4095339"/>
              <a:ext cx="11043" cy="127036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78" name="直接箭头连接符 77">
              <a:extLst>
                <a:ext uri="{FF2B5EF4-FFF2-40B4-BE49-F238E27FC236}">
                  <a16:creationId xmlns:a16="http://schemas.microsoft.com/office/drawing/2014/main" id="{8BFC5B41-6D6A-4B5C-A3C5-9B6424548116}"/>
                </a:ext>
              </a:extLst>
            </p:cNvPr>
            <p:cNvCxnSpPr>
              <a:cxnSpLocks/>
              <a:stCxn id="79" idx="2"/>
              <a:endCxn id="52" idx="0"/>
            </p:cNvCxnSpPr>
            <p:nvPr/>
          </p:nvCxnSpPr>
          <p:spPr>
            <a:xfrm>
              <a:off x="3403180" y="3498901"/>
              <a:ext cx="3307" cy="19854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0B8F5AA6-17D2-4641-9F16-8F9D343E5B5B}"/>
                    </a:ext>
                  </a:extLst>
                </p:cNvPr>
                <p:cNvSpPr txBox="1"/>
                <p:nvPr/>
              </p:nvSpPr>
              <p:spPr>
                <a:xfrm>
                  <a:off x="3176038" y="3107255"/>
                  <a:ext cx="45428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i="1" dirty="0">
                                <a:solidFill>
                                  <a:schemeClr val="tx1"/>
                                </a:solidFill>
                                <a:latin typeface="Cambria Math" panose="02040503050406030204" pitchFamily="18" charset="0"/>
                              </a:rPr>
                              <m:t>𝑀</m:t>
                            </m:r>
                          </m:e>
                          <m:sub>
                            <m:r>
                              <a:rPr lang="en-US" altLang="zh-CN" i="1" dirty="0">
                                <a:solidFill>
                                  <a:schemeClr val="tx1"/>
                                </a:solidFill>
                                <a:latin typeface="Cambria Math" panose="02040503050406030204" pitchFamily="18" charset="0"/>
                              </a:rPr>
                              <m:t>𝑗</m:t>
                            </m:r>
                          </m:sub>
                        </m:sSub>
                      </m:oMath>
                    </m:oMathPara>
                  </a14:m>
                  <a:endParaRPr lang="zh-CN" altLang="en-US" dirty="0">
                    <a:solidFill>
                      <a:schemeClr val="tx1"/>
                    </a:solidFill>
                  </a:endParaRPr>
                </a:p>
              </p:txBody>
            </p:sp>
          </mc:Choice>
          <mc:Fallback xmlns="">
            <p:sp>
              <p:nvSpPr>
                <p:cNvPr id="79" name="文本框 78">
                  <a:extLst>
                    <a:ext uri="{FF2B5EF4-FFF2-40B4-BE49-F238E27FC236}">
                      <a16:creationId xmlns:a16="http://schemas.microsoft.com/office/drawing/2014/main" id="{0B8F5AA6-17D2-4641-9F16-8F9D343E5B5B}"/>
                    </a:ext>
                  </a:extLst>
                </p:cNvPr>
                <p:cNvSpPr txBox="1">
                  <a:spLocks noRot="1" noChangeAspect="1" noMove="1" noResize="1" noEditPoints="1" noAdjustHandles="1" noChangeArrowheads="1" noChangeShapeType="1" noTextEdit="1"/>
                </p:cNvSpPr>
                <p:nvPr/>
              </p:nvSpPr>
              <p:spPr>
                <a:xfrm>
                  <a:off x="3176038" y="3107255"/>
                  <a:ext cx="454284" cy="391646"/>
                </a:xfrm>
                <a:prstGeom prst="rect">
                  <a:avLst/>
                </a:prstGeom>
                <a:blipFill>
                  <a:blip r:embed="rId14"/>
                  <a:stretch>
                    <a:fillRect b="-14754"/>
                  </a:stretch>
                </a:blipFill>
              </p:spPr>
              <p:txBody>
                <a:bodyPr/>
                <a:lstStyle/>
                <a:p>
                  <a:r>
                    <a:rPr lang="zh-CN" altLang="en-US">
                      <a:noFill/>
                    </a:rPr>
                    <a:t> </a:t>
                  </a:r>
                </a:p>
              </p:txBody>
            </p:sp>
          </mc:Fallback>
        </mc:AlternateContent>
        <p:cxnSp>
          <p:nvCxnSpPr>
            <p:cNvPr id="80" name="直接箭头连接符 79">
              <a:extLst>
                <a:ext uri="{FF2B5EF4-FFF2-40B4-BE49-F238E27FC236}">
                  <a16:creationId xmlns:a16="http://schemas.microsoft.com/office/drawing/2014/main" id="{7FDF5062-76CC-4D98-AC2C-8046C4B4D9C2}"/>
                </a:ext>
              </a:extLst>
            </p:cNvPr>
            <p:cNvCxnSpPr>
              <a:cxnSpLocks/>
              <a:endCxn id="54" idx="0"/>
            </p:cNvCxnSpPr>
            <p:nvPr/>
          </p:nvCxnSpPr>
          <p:spPr>
            <a:xfrm>
              <a:off x="4246558" y="3449472"/>
              <a:ext cx="0" cy="247977"/>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8316B5C4-79CE-4F4B-844E-8BE42FB8D038}"/>
                    </a:ext>
                  </a:extLst>
                </p:cNvPr>
                <p:cNvSpPr txBox="1"/>
                <p:nvPr/>
              </p:nvSpPr>
              <p:spPr>
                <a:xfrm>
                  <a:off x="3974277" y="3076682"/>
                  <a:ext cx="521643"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𝑡</m:t>
                            </m:r>
                          </m:e>
                          <m:sub>
                            <m:r>
                              <a:rPr lang="en-US" altLang="zh-CN" b="0" i="1" dirty="0" smtClean="0">
                                <a:solidFill>
                                  <a:schemeClr val="tx1"/>
                                </a:solidFill>
                                <a:latin typeface="Cambria Math" panose="02040503050406030204" pitchFamily="18" charset="0"/>
                              </a:rPr>
                              <m:t>𝑖</m:t>
                            </m:r>
                          </m:sub>
                        </m:sSub>
                      </m:oMath>
                    </m:oMathPara>
                  </a14:m>
                  <a:endParaRPr lang="zh-CN" altLang="en-US" dirty="0">
                    <a:solidFill>
                      <a:schemeClr val="tx1"/>
                    </a:solidFill>
                  </a:endParaRPr>
                </a:p>
              </p:txBody>
            </p:sp>
          </mc:Choice>
          <mc:Fallback xmlns="">
            <p:sp>
              <p:nvSpPr>
                <p:cNvPr id="81" name="文本框 80">
                  <a:extLst>
                    <a:ext uri="{FF2B5EF4-FFF2-40B4-BE49-F238E27FC236}">
                      <a16:creationId xmlns:a16="http://schemas.microsoft.com/office/drawing/2014/main" id="{8316B5C4-79CE-4F4B-844E-8BE42FB8D038}"/>
                    </a:ext>
                  </a:extLst>
                </p:cNvPr>
                <p:cNvSpPr txBox="1">
                  <a:spLocks noRot="1" noChangeAspect="1" noMove="1" noResize="1" noEditPoints="1" noAdjustHandles="1" noChangeArrowheads="1" noChangeShapeType="1" noTextEdit="1"/>
                </p:cNvSpPr>
                <p:nvPr/>
              </p:nvSpPr>
              <p:spPr>
                <a:xfrm>
                  <a:off x="3974277" y="3076682"/>
                  <a:ext cx="521643" cy="370294"/>
                </a:xfrm>
                <a:prstGeom prst="rect">
                  <a:avLst/>
                </a:prstGeom>
                <a:blipFill>
                  <a:blip r:embed="rId15"/>
                  <a:stretch>
                    <a:fillRect b="-877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852032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微软雅黑"/>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微软雅黑"/>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sp>
        <p:nvSpPr>
          <p:cNvPr id="84" name="矩形 83">
            <a:extLst>
              <a:ext uri="{FF2B5EF4-FFF2-40B4-BE49-F238E27FC236}">
                <a16:creationId xmlns:a16="http://schemas.microsoft.com/office/drawing/2014/main" id="{C0183EED-C59C-4A7D-A847-7AF4431BA91F}"/>
              </a:ext>
            </a:extLst>
          </p:cNvPr>
          <p:cNvSpPr/>
          <p:nvPr/>
        </p:nvSpPr>
        <p:spPr>
          <a:xfrm>
            <a:off x="2711862" y="5625703"/>
            <a:ext cx="696332" cy="194933"/>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85" name="矩形 84">
            <a:extLst>
              <a:ext uri="{FF2B5EF4-FFF2-40B4-BE49-F238E27FC236}">
                <a16:creationId xmlns:a16="http://schemas.microsoft.com/office/drawing/2014/main" id="{19C00A37-67B5-46A2-B445-B0E44CC9FE0D}"/>
              </a:ext>
            </a:extLst>
          </p:cNvPr>
          <p:cNvSpPr/>
          <p:nvPr/>
        </p:nvSpPr>
        <p:spPr>
          <a:xfrm>
            <a:off x="3695371" y="5625703"/>
            <a:ext cx="696332" cy="194933"/>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86" name="矩形 85">
            <a:extLst>
              <a:ext uri="{FF2B5EF4-FFF2-40B4-BE49-F238E27FC236}">
                <a16:creationId xmlns:a16="http://schemas.microsoft.com/office/drawing/2014/main" id="{1CA4FA21-5D15-4CB5-99D4-6E218397F47F}"/>
              </a:ext>
            </a:extLst>
          </p:cNvPr>
          <p:cNvSpPr/>
          <p:nvPr/>
        </p:nvSpPr>
        <p:spPr>
          <a:xfrm>
            <a:off x="4669577" y="5625703"/>
            <a:ext cx="696333" cy="194932"/>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87" name="矩形 86">
            <a:extLst>
              <a:ext uri="{FF2B5EF4-FFF2-40B4-BE49-F238E27FC236}">
                <a16:creationId xmlns:a16="http://schemas.microsoft.com/office/drawing/2014/main" id="{3EAC1702-02E5-42D8-A00B-7CB52C836F81}"/>
              </a:ext>
            </a:extLst>
          </p:cNvPr>
          <p:cNvSpPr/>
          <p:nvPr/>
        </p:nvSpPr>
        <p:spPr>
          <a:xfrm>
            <a:off x="5715146" y="5625703"/>
            <a:ext cx="696333" cy="194886"/>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8" name="矩形 87">
                <a:extLst>
                  <a:ext uri="{FF2B5EF4-FFF2-40B4-BE49-F238E27FC236}">
                    <a16:creationId xmlns:a16="http://schemas.microsoft.com/office/drawing/2014/main" id="{BDDB7851-0B13-4F43-9BC3-8BCE3582558D}"/>
                  </a:ext>
                </a:extLst>
              </p:cNvPr>
              <p:cNvSpPr/>
              <p:nvPr/>
            </p:nvSpPr>
            <p:spPr>
              <a:xfrm>
                <a:off x="2533968" y="3124868"/>
                <a:ext cx="3969653" cy="307272"/>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Times New Roman" panose="02020603050405020304" pitchFamily="18" charset="0"/>
                    <a:ea typeface="微软雅黑"/>
                    <a:cs typeface="Times New Roman" panose="02020603050405020304" pitchFamily="18" charset="0"/>
                  </a:rPr>
                  <a:t>第</a:t>
                </a:r>
                <a:r>
                  <a:rPr lang="en-US" altLang="zh-CN" dirty="0">
                    <a:solidFill>
                      <a:prstClr val="white"/>
                    </a:solidFill>
                    <a:latin typeface="Times New Roman" panose="02020603050405020304" pitchFamily="18" charset="0"/>
                    <a:ea typeface="微软雅黑"/>
                    <a:cs typeface="Times New Roman" panose="02020603050405020304" pitchFamily="18" charset="0"/>
                  </a:rPr>
                  <a:t>1</a:t>
                </a:r>
                <a:r>
                  <a:rPr lang="zh-CN" altLang="en-US" dirty="0">
                    <a:solidFill>
                      <a:prstClr val="white"/>
                    </a:solidFill>
                    <a:latin typeface="Times New Roman" panose="02020603050405020304" pitchFamily="18" charset="0"/>
                    <a:ea typeface="微软雅黑"/>
                    <a:cs typeface="Times New Roman" panose="02020603050405020304" pitchFamily="18" charset="0"/>
                  </a:rPr>
                  <a:t>轮，</a:t>
                </a: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16</a:t>
                </a:r>
                <a:r>
                  <a:rPr lang="zh-CN" altLang="en-US" noProof="0" dirty="0">
                    <a:solidFill>
                      <a:prstClr val="white"/>
                    </a:solidFill>
                    <a:latin typeface="Times New Roman" panose="02020603050405020304" pitchFamily="18" charset="0"/>
                    <a:ea typeface="微软雅黑"/>
                    <a:cs typeface="Times New Roman" panose="02020603050405020304" pitchFamily="18" charset="0"/>
                  </a:rPr>
                  <a:t>步 </a:t>
                </a:r>
                <a14:m>
                  <m:oMath xmlns:m="http://schemas.openxmlformats.org/officeDocument/2006/math">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𝑓</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𝑎</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𝑏</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𝑐</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𝑑</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𝐹</m:t>
                    </m:r>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sSub>
                      <m:sSubPr>
                        <m:ctrlP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ctrlPr>
                      </m:sSubPr>
                      <m:e>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𝑌</m:t>
                        </m:r>
                      </m:e>
                      <m:sub>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𝑞</m:t>
                        </m:r>
                      </m:sub>
                    </m:sSub>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sSub>
                      <m:sSubPr>
                        <m:ctrlP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ctrlPr>
                      </m:sSubPr>
                      <m:e>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𝑡</m:t>
                        </m:r>
                      </m:e>
                      <m:sub>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𝑖</m:t>
                        </m:r>
                      </m:sub>
                    </m:sSub>
                    <m:r>
                      <a:rPr lang="en-US" altLang="zh-CN" b="0" i="1" noProof="0" smtClean="0">
                        <a:solidFill>
                          <a:prstClr val="white"/>
                        </a:solidFill>
                        <a:latin typeface="Cambria Math" panose="02040503050406030204" pitchFamily="18" charset="0"/>
                        <a:ea typeface="微软雅黑"/>
                        <a:cs typeface="Times New Roman" panose="02020603050405020304" pitchFamily="18" charset="0"/>
                      </a:rPr>
                      <m:t>)</m:t>
                    </m:r>
                  </m:oMath>
                </a14:m>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88" name="矩形 87">
                <a:extLst>
                  <a:ext uri="{FF2B5EF4-FFF2-40B4-BE49-F238E27FC236}">
                    <a16:creationId xmlns:a16="http://schemas.microsoft.com/office/drawing/2014/main" id="{BDDB7851-0B13-4F43-9BC3-8BCE3582558D}"/>
                  </a:ext>
                </a:extLst>
              </p:cNvPr>
              <p:cNvSpPr>
                <a:spLocks noRot="1" noChangeAspect="1" noMove="1" noResize="1" noEditPoints="1" noAdjustHandles="1" noChangeArrowheads="1" noChangeShapeType="1" noTextEdit="1"/>
              </p:cNvSpPr>
              <p:nvPr/>
            </p:nvSpPr>
            <p:spPr>
              <a:xfrm>
                <a:off x="2533968" y="3124868"/>
                <a:ext cx="3969653" cy="307272"/>
              </a:xfrm>
              <a:prstGeom prst="rect">
                <a:avLst/>
              </a:prstGeom>
              <a:blipFill>
                <a:blip r:embed="rId3"/>
                <a:stretch>
                  <a:fillRect t="-21154" b="-34615"/>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B20A96A1-655A-41E4-8190-CE166E82CF59}"/>
                  </a:ext>
                </a:extLst>
              </p:cNvPr>
              <p:cNvSpPr txBox="1"/>
              <p:nvPr/>
            </p:nvSpPr>
            <p:spPr>
              <a:xfrm>
                <a:off x="664339" y="2550044"/>
                <a:ext cx="1701518" cy="35753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𝑌</m:t>
                          </m:r>
                        </m:e>
                        <m:sub>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𝑞</m:t>
                          </m:r>
                        </m:sub>
                      </m:sSub>
                    </m:oMath>
                  </m:oMathPara>
                </a14:m>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89" name="文本框 88">
                <a:extLst>
                  <a:ext uri="{FF2B5EF4-FFF2-40B4-BE49-F238E27FC236}">
                    <a16:creationId xmlns:a16="http://schemas.microsoft.com/office/drawing/2014/main" id="{B20A96A1-655A-41E4-8190-CE166E82CF59}"/>
                  </a:ext>
                </a:extLst>
              </p:cNvPr>
              <p:cNvSpPr txBox="1">
                <a:spLocks noRot="1" noChangeAspect="1" noMove="1" noResize="1" noEditPoints="1" noAdjustHandles="1" noChangeArrowheads="1" noChangeShapeType="1" noTextEdit="1"/>
              </p:cNvSpPr>
              <p:nvPr/>
            </p:nvSpPr>
            <p:spPr>
              <a:xfrm>
                <a:off x="664339" y="2550044"/>
                <a:ext cx="1701518" cy="357534"/>
              </a:xfrm>
              <a:prstGeom prst="rect">
                <a:avLst/>
              </a:prstGeom>
              <a:blipFill>
                <a:blip r:embed="rId4"/>
                <a:stretch>
                  <a:fillRect b="-3390"/>
                </a:stretch>
              </a:blipFill>
            </p:spPr>
            <p:txBody>
              <a:bodyPr/>
              <a:lstStyle/>
              <a:p>
                <a:r>
                  <a:rPr lang="zh-CN" altLang="en-US">
                    <a:noFill/>
                  </a:rPr>
                  <a:t> </a:t>
                </a:r>
              </a:p>
            </p:txBody>
          </p:sp>
        </mc:Fallback>
      </mc:AlternateContent>
      <p:cxnSp>
        <p:nvCxnSpPr>
          <p:cNvPr id="90" name="连接符: 肘形 89">
            <a:extLst>
              <a:ext uri="{FF2B5EF4-FFF2-40B4-BE49-F238E27FC236}">
                <a16:creationId xmlns:a16="http://schemas.microsoft.com/office/drawing/2014/main" id="{03631087-5E8C-4345-95B1-43E6831DC43F}"/>
              </a:ext>
            </a:extLst>
          </p:cNvPr>
          <p:cNvCxnSpPr>
            <a:cxnSpLocks/>
            <a:endCxn id="93" idx="1"/>
          </p:cNvCxnSpPr>
          <p:nvPr/>
        </p:nvCxnSpPr>
        <p:spPr>
          <a:xfrm rot="16200000" flipH="1">
            <a:off x="901326" y="3437059"/>
            <a:ext cx="2234871" cy="1079748"/>
          </a:xfrm>
          <a:prstGeom prst="bentConnector2">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ED4F3F03-99BA-43FD-940F-6C443C974EFC}"/>
                  </a:ext>
                </a:extLst>
              </p:cNvPr>
              <p:cNvSpPr/>
              <p:nvPr/>
            </p:nvSpPr>
            <p:spPr>
              <a:xfrm>
                <a:off x="2546301" y="3732851"/>
                <a:ext cx="3961929" cy="307272"/>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第</a:t>
                </a: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2</a:t>
                </a: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轮，</a:t>
                </a: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16</a:t>
                </a:r>
                <a:r>
                  <a:rPr lang="zh-CN" altLang="en-US" dirty="0">
                    <a:solidFill>
                      <a:prstClr val="white"/>
                    </a:solidFill>
                    <a:latin typeface="Times New Roman" panose="02020603050405020304" pitchFamily="18" charset="0"/>
                    <a:cs typeface="Times New Roman" panose="02020603050405020304" pitchFamily="18" charset="0"/>
                  </a:rPr>
                  <a:t>步</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i="1">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𝐺</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𝑌</m:t>
                        </m:r>
                      </m:e>
                      <m:sub>
                        <m:r>
                          <a:rPr lang="en-US" altLang="zh-CN" i="1">
                            <a:solidFill>
                              <a:prstClr val="white"/>
                            </a:solidFill>
                            <a:latin typeface="Cambria Math" panose="02040503050406030204" pitchFamily="18" charset="0"/>
                            <a:cs typeface="Times New Roman" panose="02020603050405020304" pitchFamily="18" charset="0"/>
                          </a:rPr>
                          <m:t>𝑞</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𝑡</m:t>
                        </m:r>
                      </m:e>
                      <m:sub>
                        <m:r>
                          <a:rPr lang="en-US" altLang="zh-CN" i="1">
                            <a:solidFill>
                              <a:prstClr val="white"/>
                            </a:solidFill>
                            <a:latin typeface="Cambria Math" panose="02040503050406030204" pitchFamily="18" charset="0"/>
                            <a:cs typeface="Times New Roman" panose="02020603050405020304" pitchFamily="18" charset="0"/>
                          </a:rPr>
                          <m:t>𝑖</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91" name="矩形 90">
                <a:extLst>
                  <a:ext uri="{FF2B5EF4-FFF2-40B4-BE49-F238E27FC236}">
                    <a16:creationId xmlns:a16="http://schemas.microsoft.com/office/drawing/2014/main" id="{ED4F3F03-99BA-43FD-940F-6C443C974EFC}"/>
                  </a:ext>
                </a:extLst>
              </p:cNvPr>
              <p:cNvSpPr>
                <a:spLocks noRot="1" noChangeAspect="1" noMove="1" noResize="1" noEditPoints="1" noAdjustHandles="1" noChangeArrowheads="1" noChangeShapeType="1" noTextEdit="1"/>
              </p:cNvSpPr>
              <p:nvPr/>
            </p:nvSpPr>
            <p:spPr>
              <a:xfrm>
                <a:off x="2546301" y="3732851"/>
                <a:ext cx="3961929" cy="307272"/>
              </a:xfrm>
              <a:prstGeom prst="rect">
                <a:avLst/>
              </a:prstGeom>
              <a:blipFill>
                <a:blip r:embed="rId5"/>
                <a:stretch>
                  <a:fillRect t="-20755" b="-33962"/>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947DF832-78AB-463E-926C-34C5F31A759B}"/>
                  </a:ext>
                </a:extLst>
              </p:cNvPr>
              <p:cNvSpPr/>
              <p:nvPr/>
            </p:nvSpPr>
            <p:spPr>
              <a:xfrm>
                <a:off x="2565761" y="4333912"/>
                <a:ext cx="3961929" cy="307272"/>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第</a:t>
                </a: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3</a:t>
                </a: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 16</a:t>
                </a:r>
                <a:r>
                  <a:rPr lang="zh-CN" altLang="en-US" dirty="0">
                    <a:solidFill>
                      <a:prstClr val="white"/>
                    </a:solidFill>
                    <a:latin typeface="Times New Roman" panose="02020603050405020304" pitchFamily="18" charset="0"/>
                    <a:cs typeface="Times New Roman" panose="02020603050405020304" pitchFamily="18" charset="0"/>
                  </a:rPr>
                  <a:t>步</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i="1">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𝐻</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𝑌</m:t>
                        </m:r>
                      </m:e>
                      <m:sub>
                        <m:r>
                          <a:rPr lang="en-US" altLang="zh-CN" i="1">
                            <a:solidFill>
                              <a:prstClr val="white"/>
                            </a:solidFill>
                            <a:latin typeface="Cambria Math" panose="02040503050406030204" pitchFamily="18" charset="0"/>
                            <a:cs typeface="Times New Roman" panose="02020603050405020304" pitchFamily="18" charset="0"/>
                          </a:rPr>
                          <m:t>𝑞</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𝑡</m:t>
                        </m:r>
                      </m:e>
                      <m:sub>
                        <m:r>
                          <a:rPr lang="en-US" altLang="zh-CN" i="1">
                            <a:solidFill>
                              <a:prstClr val="white"/>
                            </a:solidFill>
                            <a:latin typeface="Cambria Math" panose="02040503050406030204" pitchFamily="18" charset="0"/>
                            <a:cs typeface="Times New Roman" panose="02020603050405020304" pitchFamily="18" charset="0"/>
                          </a:rPr>
                          <m:t>𝑖</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92" name="矩形 91">
                <a:extLst>
                  <a:ext uri="{FF2B5EF4-FFF2-40B4-BE49-F238E27FC236}">
                    <a16:creationId xmlns:a16="http://schemas.microsoft.com/office/drawing/2014/main" id="{947DF832-78AB-463E-926C-34C5F31A759B}"/>
                  </a:ext>
                </a:extLst>
              </p:cNvPr>
              <p:cNvSpPr>
                <a:spLocks noRot="1" noChangeAspect="1" noMove="1" noResize="1" noEditPoints="1" noAdjustHandles="1" noChangeArrowheads="1" noChangeShapeType="1" noTextEdit="1"/>
              </p:cNvSpPr>
              <p:nvPr/>
            </p:nvSpPr>
            <p:spPr>
              <a:xfrm>
                <a:off x="2565761" y="4333912"/>
                <a:ext cx="3961929" cy="307272"/>
              </a:xfrm>
              <a:prstGeom prst="rect">
                <a:avLst/>
              </a:prstGeom>
              <a:blipFill>
                <a:blip r:embed="rId6"/>
                <a:stretch>
                  <a:fillRect t="-21154" b="-34615"/>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矩形 92">
                <a:extLst>
                  <a:ext uri="{FF2B5EF4-FFF2-40B4-BE49-F238E27FC236}">
                    <a16:creationId xmlns:a16="http://schemas.microsoft.com/office/drawing/2014/main" id="{CDB89817-130C-4F69-B3D1-5F487E98F405}"/>
                  </a:ext>
                </a:extLst>
              </p:cNvPr>
              <p:cNvSpPr/>
              <p:nvPr/>
            </p:nvSpPr>
            <p:spPr>
              <a:xfrm>
                <a:off x="2558635" y="4940733"/>
                <a:ext cx="3944986" cy="307272"/>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第</a:t>
                </a:r>
                <a:r>
                  <a:rPr kumimoji="0" lang="en-US" altLang="zh-CN"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4</a:t>
                </a:r>
                <a:r>
                  <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 16</a:t>
                </a:r>
                <a:r>
                  <a:rPr lang="zh-CN" altLang="en-US" dirty="0">
                    <a:solidFill>
                      <a:prstClr val="white"/>
                    </a:solidFill>
                    <a:latin typeface="Times New Roman" panose="02020603050405020304" pitchFamily="18" charset="0"/>
                    <a:cs typeface="Times New Roman" panose="02020603050405020304" pitchFamily="18" charset="0"/>
                  </a:rPr>
                  <a:t>步</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i="1">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𝐼</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𝑌</m:t>
                        </m:r>
                      </m:e>
                      <m:sub>
                        <m:r>
                          <a:rPr lang="en-US" altLang="zh-CN" i="1">
                            <a:solidFill>
                              <a:prstClr val="white"/>
                            </a:solidFill>
                            <a:latin typeface="Cambria Math" panose="02040503050406030204" pitchFamily="18" charset="0"/>
                            <a:cs typeface="Times New Roman" panose="02020603050405020304" pitchFamily="18" charset="0"/>
                          </a:rPr>
                          <m:t>𝑞</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i="1">
                            <a:solidFill>
                              <a:prstClr val="white"/>
                            </a:solidFill>
                            <a:latin typeface="Cambria Math" panose="02040503050406030204" pitchFamily="18" charset="0"/>
                            <a:cs typeface="Times New Roman" panose="02020603050405020304" pitchFamily="18" charset="0"/>
                          </a:rPr>
                          <m:t>𝑡</m:t>
                        </m:r>
                      </m:e>
                      <m:sub>
                        <m:r>
                          <a:rPr lang="en-US" altLang="zh-CN" i="1">
                            <a:solidFill>
                              <a:prstClr val="white"/>
                            </a:solidFill>
                            <a:latin typeface="Cambria Math" panose="02040503050406030204" pitchFamily="18" charset="0"/>
                            <a:cs typeface="Times New Roman" panose="02020603050405020304" pitchFamily="18" charset="0"/>
                          </a:rPr>
                          <m:t>𝑖</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93" name="矩形 92">
                <a:extLst>
                  <a:ext uri="{FF2B5EF4-FFF2-40B4-BE49-F238E27FC236}">
                    <a16:creationId xmlns:a16="http://schemas.microsoft.com/office/drawing/2014/main" id="{CDB89817-130C-4F69-B3D1-5F487E98F405}"/>
                  </a:ext>
                </a:extLst>
              </p:cNvPr>
              <p:cNvSpPr>
                <a:spLocks noRot="1" noChangeAspect="1" noMove="1" noResize="1" noEditPoints="1" noAdjustHandles="1" noChangeArrowheads="1" noChangeShapeType="1" noTextEdit="1"/>
              </p:cNvSpPr>
              <p:nvPr/>
            </p:nvSpPr>
            <p:spPr>
              <a:xfrm>
                <a:off x="2558635" y="4940733"/>
                <a:ext cx="3944986" cy="307272"/>
              </a:xfrm>
              <a:prstGeom prst="rect">
                <a:avLst/>
              </a:prstGeom>
              <a:blipFill>
                <a:blip r:embed="rId7"/>
                <a:stretch>
                  <a:fillRect t="-20755" b="-33962"/>
                </a:stretch>
              </a:blipFill>
              <a:ln>
                <a:headEnd type="none" w="med" len="med"/>
                <a:tailEnd type="none" w="med" len="med"/>
              </a:ln>
            </p:spPr>
            <p:txBody>
              <a:bodyPr/>
              <a:lstStyle/>
              <a:p>
                <a:r>
                  <a:rPr lang="zh-CN" altLang="en-US">
                    <a:noFill/>
                  </a:rPr>
                  <a:t> </a:t>
                </a:r>
              </a:p>
            </p:txBody>
          </p:sp>
        </mc:Fallback>
      </mc:AlternateContent>
      <p:cxnSp>
        <p:nvCxnSpPr>
          <p:cNvPr id="94" name="直接箭头连接符 93">
            <a:extLst>
              <a:ext uri="{FF2B5EF4-FFF2-40B4-BE49-F238E27FC236}">
                <a16:creationId xmlns:a16="http://schemas.microsoft.com/office/drawing/2014/main" id="{5C952709-F88C-437F-977F-434D5066852D}"/>
              </a:ext>
            </a:extLst>
          </p:cNvPr>
          <p:cNvCxnSpPr>
            <a:cxnSpLocks/>
            <a:endCxn id="88" idx="1"/>
          </p:cNvCxnSpPr>
          <p:nvPr/>
        </p:nvCxnSpPr>
        <p:spPr>
          <a:xfrm>
            <a:off x="1482288" y="3278504"/>
            <a:ext cx="105168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6" name="直接箭头连接符 95">
            <a:extLst>
              <a:ext uri="{FF2B5EF4-FFF2-40B4-BE49-F238E27FC236}">
                <a16:creationId xmlns:a16="http://schemas.microsoft.com/office/drawing/2014/main" id="{6008D49D-DCCB-46C4-B6EB-190BA82EBF2D}"/>
              </a:ext>
            </a:extLst>
          </p:cNvPr>
          <p:cNvCxnSpPr>
            <a:cxnSpLocks/>
          </p:cNvCxnSpPr>
          <p:nvPr/>
        </p:nvCxnSpPr>
        <p:spPr>
          <a:xfrm>
            <a:off x="1477756" y="3915655"/>
            <a:ext cx="105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8" name="直接箭头连接符 97">
            <a:extLst>
              <a:ext uri="{FF2B5EF4-FFF2-40B4-BE49-F238E27FC236}">
                <a16:creationId xmlns:a16="http://schemas.microsoft.com/office/drawing/2014/main" id="{A2052E2A-7B7B-4C72-8496-C5BC6718D968}"/>
              </a:ext>
            </a:extLst>
          </p:cNvPr>
          <p:cNvCxnSpPr>
            <a:cxnSpLocks/>
            <a:endCxn id="92" idx="1"/>
          </p:cNvCxnSpPr>
          <p:nvPr/>
        </p:nvCxnSpPr>
        <p:spPr>
          <a:xfrm>
            <a:off x="1482288" y="4487272"/>
            <a:ext cx="1083473" cy="2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1" name="直接箭头连接符 100">
            <a:extLst>
              <a:ext uri="{FF2B5EF4-FFF2-40B4-BE49-F238E27FC236}">
                <a16:creationId xmlns:a16="http://schemas.microsoft.com/office/drawing/2014/main" id="{BBB74A3A-2BDA-4686-AAEC-9FADA08E9F37}"/>
              </a:ext>
            </a:extLst>
          </p:cNvPr>
          <p:cNvCxnSpPr>
            <a:cxnSpLocks/>
          </p:cNvCxnSpPr>
          <p:nvPr/>
        </p:nvCxnSpPr>
        <p:spPr>
          <a:xfrm>
            <a:off x="3019958" y="5242671"/>
            <a:ext cx="0" cy="3868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2" name="直接箭头连接符 101">
            <a:extLst>
              <a:ext uri="{FF2B5EF4-FFF2-40B4-BE49-F238E27FC236}">
                <a16:creationId xmlns:a16="http://schemas.microsoft.com/office/drawing/2014/main" id="{5F7E6C19-E474-47C1-9600-C50093CFD439}"/>
              </a:ext>
            </a:extLst>
          </p:cNvPr>
          <p:cNvCxnSpPr>
            <a:cxnSpLocks/>
          </p:cNvCxnSpPr>
          <p:nvPr/>
        </p:nvCxnSpPr>
        <p:spPr>
          <a:xfrm>
            <a:off x="4029967" y="5254100"/>
            <a:ext cx="0" cy="377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3" name="直接箭头连接符 102">
            <a:extLst>
              <a:ext uri="{FF2B5EF4-FFF2-40B4-BE49-F238E27FC236}">
                <a16:creationId xmlns:a16="http://schemas.microsoft.com/office/drawing/2014/main" id="{3CD02B96-04EF-434D-A9BB-900DBC06EF9D}"/>
              </a:ext>
            </a:extLst>
          </p:cNvPr>
          <p:cNvCxnSpPr>
            <a:cxnSpLocks/>
          </p:cNvCxnSpPr>
          <p:nvPr/>
        </p:nvCxnSpPr>
        <p:spPr>
          <a:xfrm>
            <a:off x="6067675" y="5254099"/>
            <a:ext cx="0" cy="377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4" name="直接箭头连接符 103">
            <a:extLst>
              <a:ext uri="{FF2B5EF4-FFF2-40B4-BE49-F238E27FC236}">
                <a16:creationId xmlns:a16="http://schemas.microsoft.com/office/drawing/2014/main" id="{643AB06C-2296-4E25-9997-501B8FAC669D}"/>
              </a:ext>
            </a:extLst>
          </p:cNvPr>
          <p:cNvCxnSpPr>
            <a:cxnSpLocks/>
          </p:cNvCxnSpPr>
          <p:nvPr/>
        </p:nvCxnSpPr>
        <p:spPr>
          <a:xfrm flipH="1">
            <a:off x="5038532" y="5246481"/>
            <a:ext cx="816" cy="3792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5" name="直接连接符 104">
            <a:extLst>
              <a:ext uri="{FF2B5EF4-FFF2-40B4-BE49-F238E27FC236}">
                <a16:creationId xmlns:a16="http://schemas.microsoft.com/office/drawing/2014/main" id="{4C5CD9FB-A680-4F54-8AD6-4B7132E9F691}"/>
              </a:ext>
            </a:extLst>
          </p:cNvPr>
          <p:cNvCxnSpPr>
            <a:cxnSpLocks/>
          </p:cNvCxnSpPr>
          <p:nvPr/>
        </p:nvCxnSpPr>
        <p:spPr>
          <a:xfrm flipH="1">
            <a:off x="5921411" y="2887118"/>
            <a:ext cx="168553" cy="66122"/>
          </a:xfrm>
          <a:prstGeom prst="line">
            <a:avLst/>
          </a:prstGeom>
        </p:spPr>
        <p:style>
          <a:lnRef idx="2">
            <a:schemeClr val="dk1"/>
          </a:lnRef>
          <a:fillRef idx="0">
            <a:schemeClr val="dk1"/>
          </a:fillRef>
          <a:effectRef idx="1">
            <a:schemeClr val="dk1"/>
          </a:effectRef>
          <a:fontRef idx="minor">
            <a:schemeClr val="tx1"/>
          </a:fontRef>
        </p:style>
      </p:cxnSp>
      <p:cxnSp>
        <p:nvCxnSpPr>
          <p:cNvPr id="106" name="直接箭头连接符 105">
            <a:extLst>
              <a:ext uri="{FF2B5EF4-FFF2-40B4-BE49-F238E27FC236}">
                <a16:creationId xmlns:a16="http://schemas.microsoft.com/office/drawing/2014/main" id="{2D535E9E-80ED-4951-AC02-A090DDDF660E}"/>
              </a:ext>
            </a:extLst>
          </p:cNvPr>
          <p:cNvCxnSpPr>
            <a:cxnSpLocks/>
          </p:cNvCxnSpPr>
          <p:nvPr/>
        </p:nvCxnSpPr>
        <p:spPr>
          <a:xfrm>
            <a:off x="3004661" y="2824884"/>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7" name="直接箭头连接符 106">
            <a:extLst>
              <a:ext uri="{FF2B5EF4-FFF2-40B4-BE49-F238E27FC236}">
                <a16:creationId xmlns:a16="http://schemas.microsoft.com/office/drawing/2014/main" id="{BD236884-3201-490E-ACFF-3E1AAACFFA85}"/>
              </a:ext>
            </a:extLst>
          </p:cNvPr>
          <p:cNvCxnSpPr>
            <a:cxnSpLocks/>
          </p:cNvCxnSpPr>
          <p:nvPr/>
        </p:nvCxnSpPr>
        <p:spPr>
          <a:xfrm flipH="1">
            <a:off x="4012366" y="2824884"/>
            <a:ext cx="4612"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8" name="直接箭头连接符 107">
            <a:extLst>
              <a:ext uri="{FF2B5EF4-FFF2-40B4-BE49-F238E27FC236}">
                <a16:creationId xmlns:a16="http://schemas.microsoft.com/office/drawing/2014/main" id="{CE008197-FE05-4E9F-AB36-F719780AA2A7}"/>
              </a:ext>
            </a:extLst>
          </p:cNvPr>
          <p:cNvCxnSpPr>
            <a:cxnSpLocks/>
          </p:cNvCxnSpPr>
          <p:nvPr/>
        </p:nvCxnSpPr>
        <p:spPr>
          <a:xfrm>
            <a:off x="6018568" y="2824883"/>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9" name="直接箭头连接符 108">
            <a:extLst>
              <a:ext uri="{FF2B5EF4-FFF2-40B4-BE49-F238E27FC236}">
                <a16:creationId xmlns:a16="http://schemas.microsoft.com/office/drawing/2014/main" id="{B58CEA71-3801-44E5-8082-F53F16A5FDFF}"/>
              </a:ext>
            </a:extLst>
          </p:cNvPr>
          <p:cNvCxnSpPr>
            <a:cxnSpLocks/>
          </p:cNvCxnSpPr>
          <p:nvPr/>
        </p:nvCxnSpPr>
        <p:spPr>
          <a:xfrm>
            <a:off x="5020067" y="2824883"/>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0" name="直接箭头连接符 109">
            <a:extLst>
              <a:ext uri="{FF2B5EF4-FFF2-40B4-BE49-F238E27FC236}">
                <a16:creationId xmlns:a16="http://schemas.microsoft.com/office/drawing/2014/main" id="{0144BF30-FD57-4D34-AB25-EBB8B192EFBD}"/>
              </a:ext>
            </a:extLst>
          </p:cNvPr>
          <p:cNvCxnSpPr>
            <a:cxnSpLocks/>
          </p:cNvCxnSpPr>
          <p:nvPr/>
        </p:nvCxnSpPr>
        <p:spPr>
          <a:xfrm>
            <a:off x="3019958" y="3440888"/>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1" name="直接箭头连接符 110">
            <a:extLst>
              <a:ext uri="{FF2B5EF4-FFF2-40B4-BE49-F238E27FC236}">
                <a16:creationId xmlns:a16="http://schemas.microsoft.com/office/drawing/2014/main" id="{E1FD58BE-B73C-4A21-BE0A-8F4C374191E5}"/>
              </a:ext>
            </a:extLst>
          </p:cNvPr>
          <p:cNvCxnSpPr>
            <a:cxnSpLocks/>
          </p:cNvCxnSpPr>
          <p:nvPr/>
        </p:nvCxnSpPr>
        <p:spPr>
          <a:xfrm flipH="1">
            <a:off x="4027662" y="3440888"/>
            <a:ext cx="4612"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2" name="直接箭头连接符 111">
            <a:extLst>
              <a:ext uri="{FF2B5EF4-FFF2-40B4-BE49-F238E27FC236}">
                <a16:creationId xmlns:a16="http://schemas.microsoft.com/office/drawing/2014/main" id="{FCF25A23-AF9F-42DB-9559-C47D98AF05C2}"/>
              </a:ext>
            </a:extLst>
          </p:cNvPr>
          <p:cNvCxnSpPr>
            <a:cxnSpLocks/>
          </p:cNvCxnSpPr>
          <p:nvPr/>
        </p:nvCxnSpPr>
        <p:spPr>
          <a:xfrm>
            <a:off x="6033865" y="3440887"/>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3" name="直接箭头连接符 112">
            <a:extLst>
              <a:ext uri="{FF2B5EF4-FFF2-40B4-BE49-F238E27FC236}">
                <a16:creationId xmlns:a16="http://schemas.microsoft.com/office/drawing/2014/main" id="{8D1B7836-BF18-4203-BD30-5F5962CD89AE}"/>
              </a:ext>
            </a:extLst>
          </p:cNvPr>
          <p:cNvCxnSpPr>
            <a:cxnSpLocks/>
          </p:cNvCxnSpPr>
          <p:nvPr/>
        </p:nvCxnSpPr>
        <p:spPr>
          <a:xfrm>
            <a:off x="5035364" y="3440887"/>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29E6DDCF-6B3A-4281-B739-9F0B2AA09970}"/>
                  </a:ext>
                </a:extLst>
              </p:cNvPr>
              <p:cNvSpPr txBox="1"/>
              <p:nvPr/>
            </p:nvSpPr>
            <p:spPr>
              <a:xfrm>
                <a:off x="2598354" y="3466055"/>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𝑎</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14" name="文本框 113">
                <a:extLst>
                  <a:ext uri="{FF2B5EF4-FFF2-40B4-BE49-F238E27FC236}">
                    <a16:creationId xmlns:a16="http://schemas.microsoft.com/office/drawing/2014/main" id="{29E6DDCF-6B3A-4281-B739-9F0B2AA09970}"/>
                  </a:ext>
                </a:extLst>
              </p:cNvPr>
              <p:cNvSpPr txBox="1">
                <a:spLocks noRot="1" noChangeAspect="1" noMove="1" noResize="1" noEditPoints="1" noAdjustHandles="1" noChangeArrowheads="1" noChangeShapeType="1" noTextEdit="1"/>
              </p:cNvSpPr>
              <p:nvPr/>
            </p:nvSpPr>
            <p:spPr>
              <a:xfrm>
                <a:off x="2598354" y="3466055"/>
                <a:ext cx="403601" cy="241142"/>
              </a:xfrm>
              <a:prstGeom prst="rect">
                <a:avLst/>
              </a:prstGeom>
              <a:blipFill>
                <a:blip r:embed="rId8"/>
                <a:stretch>
                  <a:fillRect b="-10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B8FBBD07-1ABD-4EC9-9F8A-EA3497173931}"/>
                  </a:ext>
                </a:extLst>
              </p:cNvPr>
              <p:cNvSpPr txBox="1"/>
              <p:nvPr/>
            </p:nvSpPr>
            <p:spPr>
              <a:xfrm>
                <a:off x="3629757" y="3469386"/>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𝑏</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15" name="文本框 114">
                <a:extLst>
                  <a:ext uri="{FF2B5EF4-FFF2-40B4-BE49-F238E27FC236}">
                    <a16:creationId xmlns:a16="http://schemas.microsoft.com/office/drawing/2014/main" id="{B8FBBD07-1ABD-4EC9-9F8A-EA3497173931}"/>
                  </a:ext>
                </a:extLst>
              </p:cNvPr>
              <p:cNvSpPr txBox="1">
                <a:spLocks noRot="1" noChangeAspect="1" noMove="1" noResize="1" noEditPoints="1" noAdjustHandles="1" noChangeArrowheads="1" noChangeShapeType="1" noTextEdit="1"/>
              </p:cNvSpPr>
              <p:nvPr/>
            </p:nvSpPr>
            <p:spPr>
              <a:xfrm>
                <a:off x="3629757" y="3469386"/>
                <a:ext cx="403601" cy="241142"/>
              </a:xfrm>
              <a:prstGeom prst="rect">
                <a:avLst/>
              </a:prstGeom>
              <a:blipFill>
                <a:blip r:embed="rId9"/>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文本框 1097">
                <a:extLst>
                  <a:ext uri="{FF2B5EF4-FFF2-40B4-BE49-F238E27FC236}">
                    <a16:creationId xmlns:a16="http://schemas.microsoft.com/office/drawing/2014/main" id="{54495820-7396-4167-8B8D-5678036D3127}"/>
                  </a:ext>
                </a:extLst>
              </p:cNvPr>
              <p:cNvSpPr txBox="1"/>
              <p:nvPr/>
            </p:nvSpPr>
            <p:spPr>
              <a:xfrm>
                <a:off x="4637460" y="3467980"/>
                <a:ext cx="403601" cy="24114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𝑐</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16" name="文本框 1097">
                <a:extLst>
                  <a:ext uri="{FF2B5EF4-FFF2-40B4-BE49-F238E27FC236}">
                    <a16:creationId xmlns:a16="http://schemas.microsoft.com/office/drawing/2014/main" id="{54495820-7396-4167-8B8D-5678036D3127}"/>
                  </a:ext>
                </a:extLst>
              </p:cNvPr>
              <p:cNvSpPr txBox="1">
                <a:spLocks noRot="1" noChangeAspect="1" noMove="1" noResize="1" noEditPoints="1" noAdjustHandles="1" noChangeArrowheads="1" noChangeShapeType="1" noTextEdit="1"/>
              </p:cNvSpPr>
              <p:nvPr/>
            </p:nvSpPr>
            <p:spPr>
              <a:xfrm>
                <a:off x="4637460" y="3467980"/>
                <a:ext cx="403601" cy="241142"/>
              </a:xfrm>
              <a:prstGeom prst="rect">
                <a:avLst/>
              </a:prstGeom>
              <a:blipFill>
                <a:blip r:embed="rId10"/>
                <a:stretch>
                  <a:fillRect b="-10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097">
                <a:extLst>
                  <a:ext uri="{FF2B5EF4-FFF2-40B4-BE49-F238E27FC236}">
                    <a16:creationId xmlns:a16="http://schemas.microsoft.com/office/drawing/2014/main" id="{AE8AC915-BAEF-42EA-B21F-6E05B77EE900}"/>
                  </a:ext>
                </a:extLst>
              </p:cNvPr>
              <p:cNvSpPr txBox="1"/>
              <p:nvPr/>
            </p:nvSpPr>
            <p:spPr>
              <a:xfrm>
                <a:off x="5637930" y="3469485"/>
                <a:ext cx="403601" cy="2416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17" name="文本框 1097">
                <a:extLst>
                  <a:ext uri="{FF2B5EF4-FFF2-40B4-BE49-F238E27FC236}">
                    <a16:creationId xmlns:a16="http://schemas.microsoft.com/office/drawing/2014/main" id="{AE8AC915-BAEF-42EA-B21F-6E05B77EE900}"/>
                  </a:ext>
                </a:extLst>
              </p:cNvPr>
              <p:cNvSpPr txBox="1">
                <a:spLocks noRot="1" noChangeAspect="1" noMove="1" noResize="1" noEditPoints="1" noAdjustHandles="1" noChangeArrowheads="1" noChangeShapeType="1" noTextEdit="1"/>
              </p:cNvSpPr>
              <p:nvPr/>
            </p:nvSpPr>
            <p:spPr>
              <a:xfrm>
                <a:off x="5637930" y="3469485"/>
                <a:ext cx="403601" cy="241695"/>
              </a:xfrm>
              <a:prstGeom prst="rect">
                <a:avLst/>
              </a:prstGeom>
              <a:blipFill>
                <a:blip r:embed="rId11"/>
                <a:stretch>
                  <a:fillRect b="-15000"/>
                </a:stretch>
              </a:blipFill>
            </p:spPr>
            <p:txBody>
              <a:bodyPr/>
              <a:lstStyle/>
              <a:p>
                <a:r>
                  <a:rPr lang="zh-CN" altLang="en-US">
                    <a:noFill/>
                  </a:rPr>
                  <a:t> </a:t>
                </a:r>
              </a:p>
            </p:txBody>
          </p:sp>
        </mc:Fallback>
      </mc:AlternateContent>
      <p:cxnSp>
        <p:nvCxnSpPr>
          <p:cNvPr id="118" name="直接箭头连接符 117">
            <a:extLst>
              <a:ext uri="{FF2B5EF4-FFF2-40B4-BE49-F238E27FC236}">
                <a16:creationId xmlns:a16="http://schemas.microsoft.com/office/drawing/2014/main" id="{41B66BCB-39A7-4A5F-BAB0-51A8F526C7C0}"/>
              </a:ext>
            </a:extLst>
          </p:cNvPr>
          <p:cNvCxnSpPr>
            <a:cxnSpLocks/>
          </p:cNvCxnSpPr>
          <p:nvPr/>
        </p:nvCxnSpPr>
        <p:spPr>
          <a:xfrm>
            <a:off x="3011792" y="4042051"/>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9" name="直接箭头连接符 118">
            <a:extLst>
              <a:ext uri="{FF2B5EF4-FFF2-40B4-BE49-F238E27FC236}">
                <a16:creationId xmlns:a16="http://schemas.microsoft.com/office/drawing/2014/main" id="{6C6CBDDF-A88D-4616-A4C6-7A2B92CD1780}"/>
              </a:ext>
            </a:extLst>
          </p:cNvPr>
          <p:cNvCxnSpPr>
            <a:cxnSpLocks/>
          </p:cNvCxnSpPr>
          <p:nvPr/>
        </p:nvCxnSpPr>
        <p:spPr>
          <a:xfrm flipH="1">
            <a:off x="4019497" y="4042051"/>
            <a:ext cx="4612"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0" name="直接箭头连接符 119">
            <a:extLst>
              <a:ext uri="{FF2B5EF4-FFF2-40B4-BE49-F238E27FC236}">
                <a16:creationId xmlns:a16="http://schemas.microsoft.com/office/drawing/2014/main" id="{A7BCFB1F-22C2-44AC-86C5-FD10F3EAD178}"/>
              </a:ext>
            </a:extLst>
          </p:cNvPr>
          <p:cNvCxnSpPr>
            <a:cxnSpLocks/>
          </p:cNvCxnSpPr>
          <p:nvPr/>
        </p:nvCxnSpPr>
        <p:spPr>
          <a:xfrm>
            <a:off x="6025699" y="4042050"/>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1" name="直接箭头连接符 120">
            <a:extLst>
              <a:ext uri="{FF2B5EF4-FFF2-40B4-BE49-F238E27FC236}">
                <a16:creationId xmlns:a16="http://schemas.microsoft.com/office/drawing/2014/main" id="{8B714B90-BDFA-4038-9FDB-35F50065247C}"/>
              </a:ext>
            </a:extLst>
          </p:cNvPr>
          <p:cNvCxnSpPr>
            <a:cxnSpLocks/>
          </p:cNvCxnSpPr>
          <p:nvPr/>
        </p:nvCxnSpPr>
        <p:spPr>
          <a:xfrm>
            <a:off x="5027198" y="4042050"/>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2" name="直接箭头连接符 121">
            <a:extLst>
              <a:ext uri="{FF2B5EF4-FFF2-40B4-BE49-F238E27FC236}">
                <a16:creationId xmlns:a16="http://schemas.microsoft.com/office/drawing/2014/main" id="{197204CD-4F37-44CA-9C13-C60FF0E1EB5C}"/>
              </a:ext>
            </a:extLst>
          </p:cNvPr>
          <p:cNvCxnSpPr>
            <a:cxnSpLocks/>
          </p:cNvCxnSpPr>
          <p:nvPr/>
        </p:nvCxnSpPr>
        <p:spPr>
          <a:xfrm>
            <a:off x="3019958" y="4645653"/>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3" name="直接箭头连接符 122">
            <a:extLst>
              <a:ext uri="{FF2B5EF4-FFF2-40B4-BE49-F238E27FC236}">
                <a16:creationId xmlns:a16="http://schemas.microsoft.com/office/drawing/2014/main" id="{298132EB-CCEB-403F-8402-4913FFD3F77E}"/>
              </a:ext>
            </a:extLst>
          </p:cNvPr>
          <p:cNvCxnSpPr>
            <a:cxnSpLocks/>
          </p:cNvCxnSpPr>
          <p:nvPr/>
        </p:nvCxnSpPr>
        <p:spPr>
          <a:xfrm flipH="1">
            <a:off x="4027662" y="4645653"/>
            <a:ext cx="4612"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4" name="直接箭头连接符 123">
            <a:extLst>
              <a:ext uri="{FF2B5EF4-FFF2-40B4-BE49-F238E27FC236}">
                <a16:creationId xmlns:a16="http://schemas.microsoft.com/office/drawing/2014/main" id="{DA61AA6C-A08D-4EB6-95C4-42B37C4B3BE1}"/>
              </a:ext>
            </a:extLst>
          </p:cNvPr>
          <p:cNvCxnSpPr>
            <a:cxnSpLocks/>
          </p:cNvCxnSpPr>
          <p:nvPr/>
        </p:nvCxnSpPr>
        <p:spPr>
          <a:xfrm>
            <a:off x="6033865" y="4645653"/>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5" name="直接箭头连接符 124">
            <a:extLst>
              <a:ext uri="{FF2B5EF4-FFF2-40B4-BE49-F238E27FC236}">
                <a16:creationId xmlns:a16="http://schemas.microsoft.com/office/drawing/2014/main" id="{2E012018-C33F-490A-BE9B-508D72A89601}"/>
              </a:ext>
            </a:extLst>
          </p:cNvPr>
          <p:cNvCxnSpPr>
            <a:cxnSpLocks/>
          </p:cNvCxnSpPr>
          <p:nvPr/>
        </p:nvCxnSpPr>
        <p:spPr>
          <a:xfrm>
            <a:off x="5035364" y="4645653"/>
            <a:ext cx="0"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8C7F0E41-ACD2-409C-A707-4101FA9CBE5C}"/>
                  </a:ext>
                </a:extLst>
              </p:cNvPr>
              <p:cNvSpPr txBox="1"/>
              <p:nvPr/>
            </p:nvSpPr>
            <p:spPr>
              <a:xfrm>
                <a:off x="5955229" y="2758249"/>
                <a:ext cx="622823"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32 </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26" name="文本框 125">
                <a:extLst>
                  <a:ext uri="{FF2B5EF4-FFF2-40B4-BE49-F238E27FC236}">
                    <a16:creationId xmlns:a16="http://schemas.microsoft.com/office/drawing/2014/main" id="{8C7F0E41-ACD2-409C-A707-4101FA9CBE5C}"/>
                  </a:ext>
                </a:extLst>
              </p:cNvPr>
              <p:cNvSpPr txBox="1">
                <a:spLocks noRot="1" noChangeAspect="1" noMove="1" noResize="1" noEditPoints="1" noAdjustHandles="1" noChangeArrowheads="1" noChangeShapeType="1" noTextEdit="1"/>
              </p:cNvSpPr>
              <p:nvPr/>
            </p:nvSpPr>
            <p:spPr>
              <a:xfrm>
                <a:off x="5955229" y="2758249"/>
                <a:ext cx="622823" cy="241142"/>
              </a:xfrm>
              <a:prstGeom prst="rect">
                <a:avLst/>
              </a:prstGeom>
              <a:blipFill>
                <a:blip r:embed="rId12"/>
                <a:stretch>
                  <a:fillRect b="-15000"/>
                </a:stretch>
              </a:blipFill>
            </p:spPr>
            <p:txBody>
              <a:bodyPr/>
              <a:lstStyle/>
              <a:p>
                <a:r>
                  <a:rPr lang="zh-CN" altLang="en-US">
                    <a:noFill/>
                  </a:rPr>
                  <a:t> </a:t>
                </a:r>
              </a:p>
            </p:txBody>
          </p:sp>
        </mc:Fallback>
      </mc:AlternateContent>
      <p:cxnSp>
        <p:nvCxnSpPr>
          <p:cNvPr id="127" name="直接连接符 126">
            <a:extLst>
              <a:ext uri="{FF2B5EF4-FFF2-40B4-BE49-F238E27FC236}">
                <a16:creationId xmlns:a16="http://schemas.microsoft.com/office/drawing/2014/main" id="{80FF33DE-FA51-49B8-AFB4-B368A9081D8B}"/>
              </a:ext>
            </a:extLst>
          </p:cNvPr>
          <p:cNvCxnSpPr>
            <a:cxnSpLocks/>
          </p:cNvCxnSpPr>
          <p:nvPr/>
        </p:nvCxnSpPr>
        <p:spPr>
          <a:xfrm flipH="1">
            <a:off x="3011792" y="2824883"/>
            <a:ext cx="3021573" cy="0"/>
          </a:xfrm>
          <a:prstGeom prst="line">
            <a:avLst/>
          </a:prstGeom>
        </p:spPr>
        <p:style>
          <a:lnRef idx="2">
            <a:schemeClr val="dk1"/>
          </a:lnRef>
          <a:fillRef idx="0">
            <a:schemeClr val="dk1"/>
          </a:fillRef>
          <a:effectRef idx="1">
            <a:schemeClr val="dk1"/>
          </a:effectRef>
          <a:fontRef idx="minor">
            <a:schemeClr val="tx1"/>
          </a:fontRef>
        </p:style>
      </p:cxnSp>
      <p:cxnSp>
        <p:nvCxnSpPr>
          <p:cNvPr id="128" name="直接连接符 127">
            <a:extLst>
              <a:ext uri="{FF2B5EF4-FFF2-40B4-BE49-F238E27FC236}">
                <a16:creationId xmlns:a16="http://schemas.microsoft.com/office/drawing/2014/main" id="{455F8D25-44D9-4955-8AD5-CF5CC27E8FC9}"/>
              </a:ext>
            </a:extLst>
          </p:cNvPr>
          <p:cNvCxnSpPr>
            <a:cxnSpLocks/>
          </p:cNvCxnSpPr>
          <p:nvPr/>
        </p:nvCxnSpPr>
        <p:spPr>
          <a:xfrm flipV="1">
            <a:off x="4513996" y="2387294"/>
            <a:ext cx="0" cy="437589"/>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BCDEA83D-3CC4-4B63-951E-77AACBEB3E96}"/>
                  </a:ext>
                </a:extLst>
              </p:cNvPr>
              <p:cNvSpPr txBox="1"/>
              <p:nvPr/>
            </p:nvSpPr>
            <p:spPr>
              <a:xfrm>
                <a:off x="3705011" y="6204692"/>
                <a:ext cx="1160393" cy="35753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𝐶</m:t>
                      </m:r>
                      <m:sSub>
                        <m:sSubPr>
                          <m:ctrlPr>
                            <a:rPr kumimoji="0" lang="en-US" altLang="zh-CN" sz="1600" b="0" i="1" u="none" strike="noStrike" kern="1200" cap="none" spc="0" normalizeH="0" baseline="0" noProof="0" dirty="0" err="1" smtClean="0">
                              <a:ln>
                                <a:noFill/>
                              </a:ln>
                              <a:solidFill>
                                <a:prstClr val="black"/>
                              </a:solidFill>
                              <a:effectLst/>
                              <a:uLnTx/>
                              <a:uFillTx/>
                              <a:latin typeface="Cambria Math" panose="02040503050406030204" pitchFamily="18" charset="0"/>
                            </a:rPr>
                          </m:ctrlPr>
                        </m:sSubPr>
                        <m:e>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𝑉</m:t>
                          </m:r>
                        </m:e>
                        <m:sub>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𝑞</m:t>
                          </m:r>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+1</m:t>
                          </m:r>
                        </m:sub>
                      </m:sSub>
                    </m:oMath>
                  </m:oMathPara>
                </a14:m>
                <a:endParaRPr kumimoji="0" lang="en-US" altLang="zh-CN" sz="16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29" name="文本框 128">
                <a:extLst>
                  <a:ext uri="{FF2B5EF4-FFF2-40B4-BE49-F238E27FC236}">
                    <a16:creationId xmlns:a16="http://schemas.microsoft.com/office/drawing/2014/main" id="{BCDEA83D-3CC4-4B63-951E-77AACBEB3E96}"/>
                  </a:ext>
                </a:extLst>
              </p:cNvPr>
              <p:cNvSpPr txBox="1">
                <a:spLocks noRot="1" noChangeAspect="1" noMove="1" noResize="1" noEditPoints="1" noAdjustHandles="1" noChangeArrowheads="1" noChangeShapeType="1" noTextEdit="1"/>
              </p:cNvSpPr>
              <p:nvPr/>
            </p:nvSpPr>
            <p:spPr>
              <a:xfrm>
                <a:off x="3705011" y="6204692"/>
                <a:ext cx="1160393" cy="357534"/>
              </a:xfrm>
              <a:prstGeom prst="rect">
                <a:avLst/>
              </a:prstGeom>
              <a:blipFill>
                <a:blip r:embed="rId13"/>
                <a:stretch>
                  <a:fillRect b="-3448"/>
                </a:stretch>
              </a:blipFill>
            </p:spPr>
            <p:txBody>
              <a:bodyPr/>
              <a:lstStyle/>
              <a:p>
                <a:r>
                  <a:rPr lang="zh-CN" altLang="en-US">
                    <a:noFill/>
                  </a:rPr>
                  <a:t> </a:t>
                </a:r>
              </a:p>
            </p:txBody>
          </p:sp>
        </mc:Fallback>
      </mc:AlternateContent>
      <p:cxnSp>
        <p:nvCxnSpPr>
          <p:cNvPr id="130" name="直接连接符 129">
            <a:extLst>
              <a:ext uri="{FF2B5EF4-FFF2-40B4-BE49-F238E27FC236}">
                <a16:creationId xmlns:a16="http://schemas.microsoft.com/office/drawing/2014/main" id="{0444B875-3B5E-4E55-BFCF-E07DF1B0B196}"/>
              </a:ext>
            </a:extLst>
          </p:cNvPr>
          <p:cNvCxnSpPr>
            <a:cxnSpLocks/>
          </p:cNvCxnSpPr>
          <p:nvPr/>
        </p:nvCxnSpPr>
        <p:spPr>
          <a:xfrm flipH="1">
            <a:off x="4464329" y="2533255"/>
            <a:ext cx="105101" cy="55681"/>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4A0F72CE-F9A4-4697-8702-41628094BB2A}"/>
                  </a:ext>
                </a:extLst>
              </p:cNvPr>
              <p:cNvSpPr txBox="1"/>
              <p:nvPr/>
            </p:nvSpPr>
            <p:spPr>
              <a:xfrm>
                <a:off x="4523700" y="2387294"/>
                <a:ext cx="622823"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128 </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31" name="文本框 130">
                <a:extLst>
                  <a:ext uri="{FF2B5EF4-FFF2-40B4-BE49-F238E27FC236}">
                    <a16:creationId xmlns:a16="http://schemas.microsoft.com/office/drawing/2014/main" id="{4A0F72CE-F9A4-4697-8702-41628094BB2A}"/>
                  </a:ext>
                </a:extLst>
              </p:cNvPr>
              <p:cNvSpPr txBox="1">
                <a:spLocks noRot="1" noChangeAspect="1" noMove="1" noResize="1" noEditPoints="1" noAdjustHandles="1" noChangeArrowheads="1" noChangeShapeType="1" noTextEdit="1"/>
              </p:cNvSpPr>
              <p:nvPr/>
            </p:nvSpPr>
            <p:spPr>
              <a:xfrm>
                <a:off x="4523700" y="2387294"/>
                <a:ext cx="622823" cy="241142"/>
              </a:xfrm>
              <a:prstGeom prst="rect">
                <a:avLst/>
              </a:prstGeom>
              <a:blipFill>
                <a:blip r:embed="rId14"/>
                <a:stretch>
                  <a:fillRect b="-15385"/>
                </a:stretch>
              </a:blipFill>
            </p:spPr>
            <p:txBody>
              <a:bodyPr/>
              <a:lstStyle/>
              <a:p>
                <a:r>
                  <a:rPr lang="zh-CN" altLang="en-US">
                    <a:noFill/>
                  </a:rPr>
                  <a:t> </a:t>
                </a:r>
              </a:p>
            </p:txBody>
          </p:sp>
        </mc:Fallback>
      </mc:AlternateContent>
      <p:cxnSp>
        <p:nvCxnSpPr>
          <p:cNvPr id="132" name="直接箭头连接符 131">
            <a:extLst>
              <a:ext uri="{FF2B5EF4-FFF2-40B4-BE49-F238E27FC236}">
                <a16:creationId xmlns:a16="http://schemas.microsoft.com/office/drawing/2014/main" id="{88440570-220D-46F0-97FE-F6451494B022}"/>
              </a:ext>
            </a:extLst>
          </p:cNvPr>
          <p:cNvCxnSpPr>
            <a:cxnSpLocks/>
            <a:stCxn id="84" idx="2"/>
          </p:cNvCxnSpPr>
          <p:nvPr/>
        </p:nvCxnSpPr>
        <p:spPr>
          <a:xfrm>
            <a:off x="3060028" y="5820636"/>
            <a:ext cx="2459" cy="1997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3" name="直接箭头连接符 132">
            <a:extLst>
              <a:ext uri="{FF2B5EF4-FFF2-40B4-BE49-F238E27FC236}">
                <a16:creationId xmlns:a16="http://schemas.microsoft.com/office/drawing/2014/main" id="{B15967E7-CBC8-48E4-B0A6-AFBC3343CD2E}"/>
              </a:ext>
            </a:extLst>
          </p:cNvPr>
          <p:cNvCxnSpPr>
            <a:cxnSpLocks/>
            <a:stCxn id="85" idx="2"/>
          </p:cNvCxnSpPr>
          <p:nvPr/>
        </p:nvCxnSpPr>
        <p:spPr>
          <a:xfrm>
            <a:off x="4043537" y="5820636"/>
            <a:ext cx="0" cy="2109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4" name="直接箭头连接符 133">
            <a:extLst>
              <a:ext uri="{FF2B5EF4-FFF2-40B4-BE49-F238E27FC236}">
                <a16:creationId xmlns:a16="http://schemas.microsoft.com/office/drawing/2014/main" id="{5C519E73-F656-41C0-BE4B-8E538245A775}"/>
              </a:ext>
            </a:extLst>
          </p:cNvPr>
          <p:cNvCxnSpPr>
            <a:cxnSpLocks/>
            <a:stCxn id="87" idx="2"/>
          </p:cNvCxnSpPr>
          <p:nvPr/>
        </p:nvCxnSpPr>
        <p:spPr>
          <a:xfrm>
            <a:off x="6063313" y="5820589"/>
            <a:ext cx="4362" cy="2037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5" name="直接箭头连接符 134">
            <a:extLst>
              <a:ext uri="{FF2B5EF4-FFF2-40B4-BE49-F238E27FC236}">
                <a16:creationId xmlns:a16="http://schemas.microsoft.com/office/drawing/2014/main" id="{D097F3FF-BBC3-40C6-BE48-21A313E9905D}"/>
              </a:ext>
            </a:extLst>
          </p:cNvPr>
          <p:cNvCxnSpPr>
            <a:cxnSpLocks/>
            <a:stCxn id="86" idx="2"/>
          </p:cNvCxnSpPr>
          <p:nvPr/>
        </p:nvCxnSpPr>
        <p:spPr>
          <a:xfrm>
            <a:off x="5017744" y="5820635"/>
            <a:ext cx="0" cy="1997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6" name="直接连接符 135">
            <a:extLst>
              <a:ext uri="{FF2B5EF4-FFF2-40B4-BE49-F238E27FC236}">
                <a16:creationId xmlns:a16="http://schemas.microsoft.com/office/drawing/2014/main" id="{0B980443-F082-4A50-BE6A-24CA1CB3761D}"/>
              </a:ext>
            </a:extLst>
          </p:cNvPr>
          <p:cNvCxnSpPr>
            <a:cxnSpLocks/>
          </p:cNvCxnSpPr>
          <p:nvPr/>
        </p:nvCxnSpPr>
        <p:spPr>
          <a:xfrm>
            <a:off x="3062487" y="6020411"/>
            <a:ext cx="3000826" cy="0"/>
          </a:xfrm>
          <a:prstGeom prst="line">
            <a:avLst/>
          </a:prstGeom>
        </p:spPr>
        <p:style>
          <a:lnRef idx="2">
            <a:schemeClr val="dk1"/>
          </a:lnRef>
          <a:fillRef idx="0">
            <a:schemeClr val="dk1"/>
          </a:fillRef>
          <a:effectRef idx="1">
            <a:schemeClr val="dk1"/>
          </a:effectRef>
          <a:fontRef idx="minor">
            <a:schemeClr val="tx1"/>
          </a:fontRef>
        </p:style>
      </p:cxnSp>
      <p:cxnSp>
        <p:nvCxnSpPr>
          <p:cNvPr id="137" name="直接连接符 136">
            <a:extLst>
              <a:ext uri="{FF2B5EF4-FFF2-40B4-BE49-F238E27FC236}">
                <a16:creationId xmlns:a16="http://schemas.microsoft.com/office/drawing/2014/main" id="{F9EAC5B9-AFEB-453E-A827-1BBFD6AE82A6}"/>
              </a:ext>
            </a:extLst>
          </p:cNvPr>
          <p:cNvCxnSpPr>
            <a:cxnSpLocks/>
          </p:cNvCxnSpPr>
          <p:nvPr/>
        </p:nvCxnSpPr>
        <p:spPr>
          <a:xfrm flipH="1">
            <a:off x="4464329" y="6139081"/>
            <a:ext cx="184762" cy="114145"/>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C1D4795A-6294-4E6E-9E3C-AACAD56E3358}"/>
                  </a:ext>
                </a:extLst>
              </p:cNvPr>
              <p:cNvSpPr txBox="1"/>
              <p:nvPr/>
            </p:nvSpPr>
            <p:spPr>
              <a:xfrm>
                <a:off x="4733114" y="6058295"/>
                <a:ext cx="622823"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128 </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38" name="文本框 137">
                <a:extLst>
                  <a:ext uri="{FF2B5EF4-FFF2-40B4-BE49-F238E27FC236}">
                    <a16:creationId xmlns:a16="http://schemas.microsoft.com/office/drawing/2014/main" id="{C1D4795A-6294-4E6E-9E3C-AACAD56E3358}"/>
                  </a:ext>
                </a:extLst>
              </p:cNvPr>
              <p:cNvSpPr txBox="1">
                <a:spLocks noRot="1" noChangeAspect="1" noMove="1" noResize="1" noEditPoints="1" noAdjustHandles="1" noChangeArrowheads="1" noChangeShapeType="1" noTextEdit="1"/>
              </p:cNvSpPr>
              <p:nvPr/>
            </p:nvSpPr>
            <p:spPr>
              <a:xfrm>
                <a:off x="4733114" y="6058295"/>
                <a:ext cx="622823" cy="241142"/>
              </a:xfrm>
              <a:prstGeom prst="rect">
                <a:avLst/>
              </a:prstGeom>
              <a:blipFill>
                <a:blip r:embed="rId15"/>
                <a:stretch>
                  <a:fillRect b="-15385"/>
                </a:stretch>
              </a:blipFill>
            </p:spPr>
            <p:txBody>
              <a:bodyPr/>
              <a:lstStyle/>
              <a:p>
                <a:r>
                  <a:rPr lang="zh-CN" altLang="en-US">
                    <a:noFill/>
                  </a:rPr>
                  <a:t> </a:t>
                </a:r>
              </a:p>
            </p:txBody>
          </p:sp>
        </mc:Fallback>
      </mc:AlternateContent>
      <p:cxnSp>
        <p:nvCxnSpPr>
          <p:cNvPr id="139" name="连接符: 肘形 138">
            <a:extLst>
              <a:ext uri="{FF2B5EF4-FFF2-40B4-BE49-F238E27FC236}">
                <a16:creationId xmlns:a16="http://schemas.microsoft.com/office/drawing/2014/main" id="{CD15ADB4-6A61-4769-8391-E85DD3D62C3E}"/>
              </a:ext>
            </a:extLst>
          </p:cNvPr>
          <p:cNvCxnSpPr>
            <a:cxnSpLocks/>
          </p:cNvCxnSpPr>
          <p:nvPr/>
        </p:nvCxnSpPr>
        <p:spPr>
          <a:xfrm rot="10800000" flipV="1">
            <a:off x="3248184" y="5306404"/>
            <a:ext cx="3541643" cy="319299"/>
          </a:xfrm>
          <a:prstGeom prst="bentConnector3">
            <a:avLst>
              <a:gd name="adj1" fmla="val 100023"/>
            </a:avLst>
          </a:prstGeom>
          <a:ln>
            <a:tailEnd type="triangle"/>
          </a:ln>
        </p:spPr>
        <p:style>
          <a:lnRef idx="2">
            <a:schemeClr val="dk1"/>
          </a:lnRef>
          <a:fillRef idx="0">
            <a:schemeClr val="dk1"/>
          </a:fillRef>
          <a:effectRef idx="1">
            <a:schemeClr val="dk1"/>
          </a:effectRef>
          <a:fontRef idx="minor">
            <a:schemeClr val="tx1"/>
          </a:fontRef>
        </p:style>
      </p:cxnSp>
      <p:cxnSp>
        <p:nvCxnSpPr>
          <p:cNvPr id="140" name="连接符: 肘形 139">
            <a:extLst>
              <a:ext uri="{FF2B5EF4-FFF2-40B4-BE49-F238E27FC236}">
                <a16:creationId xmlns:a16="http://schemas.microsoft.com/office/drawing/2014/main" id="{39E85DB5-DF50-484A-B2B3-03C5B8B9ED5F}"/>
              </a:ext>
            </a:extLst>
          </p:cNvPr>
          <p:cNvCxnSpPr>
            <a:cxnSpLocks/>
          </p:cNvCxnSpPr>
          <p:nvPr/>
        </p:nvCxnSpPr>
        <p:spPr>
          <a:xfrm rot="10800000" flipV="1">
            <a:off x="4187827" y="5355186"/>
            <a:ext cx="2601997" cy="268323"/>
          </a:xfrm>
          <a:prstGeom prst="bentConnector3">
            <a:avLst>
              <a:gd name="adj1" fmla="val 99907"/>
            </a:avLst>
          </a:prstGeom>
          <a:ln>
            <a:tailEnd type="triangle"/>
          </a:ln>
        </p:spPr>
        <p:style>
          <a:lnRef idx="2">
            <a:schemeClr val="dk1"/>
          </a:lnRef>
          <a:fillRef idx="0">
            <a:schemeClr val="dk1"/>
          </a:fillRef>
          <a:effectRef idx="1">
            <a:schemeClr val="dk1"/>
          </a:effectRef>
          <a:fontRef idx="minor">
            <a:schemeClr val="tx1"/>
          </a:fontRef>
        </p:style>
      </p:cxnSp>
      <p:cxnSp>
        <p:nvCxnSpPr>
          <p:cNvPr id="141" name="直接连接符 140">
            <a:extLst>
              <a:ext uri="{FF2B5EF4-FFF2-40B4-BE49-F238E27FC236}">
                <a16:creationId xmlns:a16="http://schemas.microsoft.com/office/drawing/2014/main" id="{7BCC1670-4FF1-4335-B6F9-A840FFC0B538}"/>
              </a:ext>
            </a:extLst>
          </p:cNvPr>
          <p:cNvCxnSpPr>
            <a:cxnSpLocks/>
          </p:cNvCxnSpPr>
          <p:nvPr/>
        </p:nvCxnSpPr>
        <p:spPr>
          <a:xfrm flipV="1">
            <a:off x="6789820" y="5306404"/>
            <a:ext cx="0" cy="190172"/>
          </a:xfrm>
          <a:prstGeom prst="line">
            <a:avLst/>
          </a:prstGeom>
        </p:spPr>
        <p:style>
          <a:lnRef idx="2">
            <a:schemeClr val="dk1"/>
          </a:lnRef>
          <a:fillRef idx="0">
            <a:schemeClr val="dk1"/>
          </a:fillRef>
          <a:effectRef idx="1">
            <a:schemeClr val="dk1"/>
          </a:effectRef>
          <a:fontRef idx="minor">
            <a:schemeClr val="tx1"/>
          </a:fontRef>
        </p:style>
      </p:cxnSp>
      <p:cxnSp>
        <p:nvCxnSpPr>
          <p:cNvPr id="142" name="连接符: 肘形 141">
            <a:extLst>
              <a:ext uri="{FF2B5EF4-FFF2-40B4-BE49-F238E27FC236}">
                <a16:creationId xmlns:a16="http://schemas.microsoft.com/office/drawing/2014/main" id="{A6710D75-F717-4815-AD38-9F963B45B704}"/>
              </a:ext>
            </a:extLst>
          </p:cNvPr>
          <p:cNvCxnSpPr>
            <a:cxnSpLocks/>
          </p:cNvCxnSpPr>
          <p:nvPr/>
        </p:nvCxnSpPr>
        <p:spPr>
          <a:xfrm rot="10800000" flipV="1">
            <a:off x="5203826" y="5436091"/>
            <a:ext cx="1584874" cy="200155"/>
          </a:xfrm>
          <a:prstGeom prst="bentConnector3">
            <a:avLst>
              <a:gd name="adj1" fmla="val 100083"/>
            </a:avLst>
          </a:prstGeom>
          <a:ln>
            <a:tailEnd type="triangle"/>
          </a:ln>
        </p:spPr>
        <p:style>
          <a:lnRef idx="2">
            <a:schemeClr val="dk1"/>
          </a:lnRef>
          <a:fillRef idx="0">
            <a:schemeClr val="dk1"/>
          </a:fillRef>
          <a:effectRef idx="1">
            <a:schemeClr val="dk1"/>
          </a:effectRef>
          <a:fontRef idx="minor">
            <a:schemeClr val="tx1"/>
          </a:fontRef>
        </p:style>
      </p:cxnSp>
      <p:cxnSp>
        <p:nvCxnSpPr>
          <p:cNvPr id="143" name="连接符: 肘形 142">
            <a:extLst>
              <a:ext uri="{FF2B5EF4-FFF2-40B4-BE49-F238E27FC236}">
                <a16:creationId xmlns:a16="http://schemas.microsoft.com/office/drawing/2014/main" id="{0FB47851-8215-4158-AD15-6123EEDE6F4B}"/>
              </a:ext>
            </a:extLst>
          </p:cNvPr>
          <p:cNvCxnSpPr>
            <a:cxnSpLocks/>
          </p:cNvCxnSpPr>
          <p:nvPr/>
        </p:nvCxnSpPr>
        <p:spPr>
          <a:xfrm rot="10800000" flipV="1">
            <a:off x="6224902" y="5496575"/>
            <a:ext cx="563799" cy="136532"/>
          </a:xfrm>
          <a:prstGeom prst="bentConnector3">
            <a:avLst>
              <a:gd name="adj1" fmla="val 101246"/>
            </a:avLst>
          </a:prstGeom>
          <a:ln>
            <a:tailEnd type="triangle"/>
          </a:ln>
        </p:spPr>
        <p:style>
          <a:lnRef idx="2">
            <a:schemeClr val="dk1"/>
          </a:lnRef>
          <a:fillRef idx="0">
            <a:schemeClr val="dk1"/>
          </a:fillRef>
          <a:effectRef idx="1">
            <a:schemeClr val="dk1"/>
          </a:effectRef>
          <a:fontRef idx="minor">
            <a:schemeClr val="tx1"/>
          </a:fontRef>
        </p:style>
      </p:cxnSp>
      <p:cxnSp>
        <p:nvCxnSpPr>
          <p:cNvPr id="144" name="直接连接符 143">
            <a:extLst>
              <a:ext uri="{FF2B5EF4-FFF2-40B4-BE49-F238E27FC236}">
                <a16:creationId xmlns:a16="http://schemas.microsoft.com/office/drawing/2014/main" id="{1FA630E3-954E-46C5-9A46-27D4B7E16FC2}"/>
              </a:ext>
            </a:extLst>
          </p:cNvPr>
          <p:cNvCxnSpPr>
            <a:cxnSpLocks/>
          </p:cNvCxnSpPr>
          <p:nvPr/>
        </p:nvCxnSpPr>
        <p:spPr>
          <a:xfrm flipH="1">
            <a:off x="6798295" y="5401490"/>
            <a:ext cx="103231"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5" name="文本框 144">
                <a:extLst>
                  <a:ext uri="{FF2B5EF4-FFF2-40B4-BE49-F238E27FC236}">
                    <a16:creationId xmlns:a16="http://schemas.microsoft.com/office/drawing/2014/main" id="{83700796-E3DE-48B7-B1DC-F90F68A0C25B}"/>
                  </a:ext>
                </a:extLst>
              </p:cNvPr>
              <p:cNvSpPr txBox="1"/>
              <p:nvPr/>
            </p:nvSpPr>
            <p:spPr>
              <a:xfrm>
                <a:off x="6522873" y="5543548"/>
                <a:ext cx="798713"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mod</m:t>
                      </m:r>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 </m:t>
                      </m:r>
                      <m:sSup>
                        <m:sSupPr>
                          <m:ctrlPr>
                            <a:rPr kumimoji="0" lang="en-US" altLang="zh-CN" sz="1400" b="0" i="1"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ctrlPr>
                        </m:sSupPr>
                        <m:e>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2</m:t>
                          </m:r>
                        </m:e>
                        <m:sup>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32</m:t>
                          </m:r>
                        </m:sup>
                      </m:sSup>
                    </m:oMath>
                  </m:oMathPara>
                </a14:m>
                <a:endParaRPr kumimoji="0" lang="en-US" altLang="zh-CN" sz="1400" b="0" u="none" strike="noStrike" kern="1200" cap="none" spc="0" normalizeH="0" baseline="0" noProof="0" dirty="0">
                  <a:ln>
                    <a:noFill/>
                  </a:ln>
                  <a:solidFill>
                    <a:schemeClr val="tx1"/>
                  </a:solidFill>
                  <a:effectLst/>
                  <a:uLnTx/>
                  <a:uFillTx/>
                  <a:latin typeface="Arial"/>
                  <a:ea typeface="微软雅黑"/>
                  <a:cs typeface="+mn-cs"/>
                </a:endParaRPr>
              </a:p>
            </p:txBody>
          </p:sp>
        </mc:Choice>
        <mc:Fallback xmlns="">
          <p:sp>
            <p:nvSpPr>
              <p:cNvPr id="145" name="文本框 144">
                <a:extLst>
                  <a:ext uri="{FF2B5EF4-FFF2-40B4-BE49-F238E27FC236}">
                    <a16:creationId xmlns:a16="http://schemas.microsoft.com/office/drawing/2014/main" id="{83700796-E3DE-48B7-B1DC-F90F68A0C25B}"/>
                  </a:ext>
                </a:extLst>
              </p:cNvPr>
              <p:cNvSpPr txBox="1">
                <a:spLocks noRot="1" noChangeAspect="1" noMove="1" noResize="1" noEditPoints="1" noAdjustHandles="1" noChangeArrowheads="1" noChangeShapeType="1" noTextEdit="1"/>
              </p:cNvSpPr>
              <p:nvPr/>
            </p:nvSpPr>
            <p:spPr>
              <a:xfrm>
                <a:off x="6522873" y="5543548"/>
                <a:ext cx="798713" cy="307777"/>
              </a:xfrm>
              <a:prstGeom prst="rect">
                <a:avLst/>
              </a:prstGeom>
              <a:blipFill>
                <a:blip r:embed="rId16"/>
                <a:stretch>
                  <a:fillRect/>
                </a:stretch>
              </a:blipFill>
            </p:spPr>
            <p:txBody>
              <a:bodyPr/>
              <a:lstStyle/>
              <a:p>
                <a:r>
                  <a:rPr lang="zh-CN" altLang="en-US">
                    <a:noFill/>
                  </a:rPr>
                  <a:t> </a:t>
                </a:r>
              </a:p>
            </p:txBody>
          </p:sp>
        </mc:Fallback>
      </mc:AlternateContent>
      <p:cxnSp>
        <p:nvCxnSpPr>
          <p:cNvPr id="146" name="连接符: 肘形 145">
            <a:extLst>
              <a:ext uri="{FF2B5EF4-FFF2-40B4-BE49-F238E27FC236}">
                <a16:creationId xmlns:a16="http://schemas.microsoft.com/office/drawing/2014/main" id="{A638667B-12FD-42E1-AFF9-1E7F0E5B39A0}"/>
              </a:ext>
            </a:extLst>
          </p:cNvPr>
          <p:cNvCxnSpPr/>
          <p:nvPr/>
        </p:nvCxnSpPr>
        <p:spPr>
          <a:xfrm rot="16200000" flipH="1">
            <a:off x="4306756" y="2806720"/>
            <a:ext cx="2802011" cy="2387530"/>
          </a:xfrm>
          <a:prstGeom prst="bentConnector3">
            <a:avLst>
              <a:gd name="adj1" fmla="val 2567"/>
            </a:avLst>
          </a:prstGeom>
        </p:spPr>
        <p:style>
          <a:lnRef idx="2">
            <a:schemeClr val="dk1"/>
          </a:lnRef>
          <a:fillRef idx="0">
            <a:schemeClr val="dk1"/>
          </a:fillRef>
          <a:effectRef idx="1">
            <a:schemeClr val="dk1"/>
          </a:effectRef>
          <a:fontRef idx="minor">
            <a:schemeClr val="tx1"/>
          </a:fontRef>
        </p:style>
      </p:cxnSp>
      <p:cxnSp>
        <p:nvCxnSpPr>
          <p:cNvPr id="147" name="直接箭头连接符 146">
            <a:extLst>
              <a:ext uri="{FF2B5EF4-FFF2-40B4-BE49-F238E27FC236}">
                <a16:creationId xmlns:a16="http://schemas.microsoft.com/office/drawing/2014/main" id="{AFD78ADC-E385-43E2-9276-D9E7F74F0945}"/>
              </a:ext>
            </a:extLst>
          </p:cNvPr>
          <p:cNvCxnSpPr>
            <a:cxnSpLocks/>
          </p:cNvCxnSpPr>
          <p:nvPr/>
        </p:nvCxnSpPr>
        <p:spPr>
          <a:xfrm flipH="1">
            <a:off x="4569429" y="6024370"/>
            <a:ext cx="4612" cy="295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3B63D987-2F4A-4DD5-8267-2976E0023AEF}"/>
                  </a:ext>
                </a:extLst>
              </p:cNvPr>
              <p:cNvSpPr txBox="1"/>
              <p:nvPr/>
            </p:nvSpPr>
            <p:spPr>
              <a:xfrm>
                <a:off x="3659960" y="2362273"/>
                <a:ext cx="1160393" cy="35753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𝐶</m:t>
                      </m:r>
                      <m:sSub>
                        <m:sSubPr>
                          <m:ctrlPr>
                            <a:rPr kumimoji="0" lang="en-US" altLang="zh-CN" sz="1600" b="0" i="1" u="none" strike="noStrike" kern="1200" cap="none" spc="0" normalizeH="0" baseline="0" noProof="0" dirty="0" err="1" smtClean="0">
                              <a:ln>
                                <a:noFill/>
                              </a:ln>
                              <a:solidFill>
                                <a:prstClr val="black"/>
                              </a:solidFill>
                              <a:effectLst/>
                              <a:uLnTx/>
                              <a:uFillTx/>
                              <a:latin typeface="Cambria Math" panose="02040503050406030204" pitchFamily="18" charset="0"/>
                            </a:rPr>
                          </m:ctrlPr>
                        </m:sSubPr>
                        <m:e>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𝑉</m:t>
                          </m:r>
                        </m:e>
                        <m:sub>
                          <m:r>
                            <a:rPr kumimoji="0" lang="en-US" altLang="zh-CN" sz="1600" b="0" i="1" u="none" strike="noStrike" kern="1200" cap="none" spc="0" normalizeH="0" baseline="0" noProof="0" dirty="0" smtClean="0">
                              <a:ln>
                                <a:noFill/>
                              </a:ln>
                              <a:solidFill>
                                <a:prstClr val="black"/>
                              </a:solidFill>
                              <a:effectLst/>
                              <a:uLnTx/>
                              <a:uFillTx/>
                              <a:latin typeface="Cambria Math" panose="02040503050406030204" pitchFamily="18" charset="0"/>
                            </a:rPr>
                            <m:t>𝑞</m:t>
                          </m:r>
                        </m:sub>
                      </m:sSub>
                    </m:oMath>
                  </m:oMathPara>
                </a14:m>
                <a:endParaRPr kumimoji="0" lang="en-US" altLang="zh-CN" sz="16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48" name="文本框 147">
                <a:extLst>
                  <a:ext uri="{FF2B5EF4-FFF2-40B4-BE49-F238E27FC236}">
                    <a16:creationId xmlns:a16="http://schemas.microsoft.com/office/drawing/2014/main" id="{3B63D987-2F4A-4DD5-8267-2976E0023AEF}"/>
                  </a:ext>
                </a:extLst>
              </p:cNvPr>
              <p:cNvSpPr txBox="1">
                <a:spLocks noRot="1" noChangeAspect="1" noMove="1" noResize="1" noEditPoints="1" noAdjustHandles="1" noChangeArrowheads="1" noChangeShapeType="1" noTextEdit="1"/>
              </p:cNvSpPr>
              <p:nvPr/>
            </p:nvSpPr>
            <p:spPr>
              <a:xfrm>
                <a:off x="3659960" y="2362273"/>
                <a:ext cx="1160393" cy="357534"/>
              </a:xfrm>
              <a:prstGeom prst="rect">
                <a:avLst/>
              </a:prstGeom>
              <a:blipFill>
                <a:blip r:embed="rId17"/>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 name="文本框 148">
                <a:extLst>
                  <a:ext uri="{FF2B5EF4-FFF2-40B4-BE49-F238E27FC236}">
                    <a16:creationId xmlns:a16="http://schemas.microsoft.com/office/drawing/2014/main" id="{DAFB1A56-3696-41C7-91E9-4F9AB60C0C0B}"/>
                  </a:ext>
                </a:extLst>
              </p:cNvPr>
              <p:cNvSpPr txBox="1"/>
              <p:nvPr/>
            </p:nvSpPr>
            <p:spPr>
              <a:xfrm>
                <a:off x="2613608" y="4074007"/>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𝑎</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49" name="文本框 148">
                <a:extLst>
                  <a:ext uri="{FF2B5EF4-FFF2-40B4-BE49-F238E27FC236}">
                    <a16:creationId xmlns:a16="http://schemas.microsoft.com/office/drawing/2014/main" id="{DAFB1A56-3696-41C7-91E9-4F9AB60C0C0B}"/>
                  </a:ext>
                </a:extLst>
              </p:cNvPr>
              <p:cNvSpPr txBox="1">
                <a:spLocks noRot="1" noChangeAspect="1" noMove="1" noResize="1" noEditPoints="1" noAdjustHandles="1" noChangeArrowheads="1" noChangeShapeType="1" noTextEdit="1"/>
              </p:cNvSpPr>
              <p:nvPr/>
            </p:nvSpPr>
            <p:spPr>
              <a:xfrm>
                <a:off x="2613608" y="4074007"/>
                <a:ext cx="403601" cy="241142"/>
              </a:xfrm>
              <a:prstGeom prst="rect">
                <a:avLst/>
              </a:prstGeom>
              <a:blipFill>
                <a:blip r:embed="rId18"/>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0" name="文本框 149">
                <a:extLst>
                  <a:ext uri="{FF2B5EF4-FFF2-40B4-BE49-F238E27FC236}">
                    <a16:creationId xmlns:a16="http://schemas.microsoft.com/office/drawing/2014/main" id="{CC767439-8B3A-4941-A0AC-BBB9A13249F5}"/>
                  </a:ext>
                </a:extLst>
              </p:cNvPr>
              <p:cNvSpPr txBox="1"/>
              <p:nvPr/>
            </p:nvSpPr>
            <p:spPr>
              <a:xfrm>
                <a:off x="3645011" y="4077338"/>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𝑏</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0" name="文本框 149">
                <a:extLst>
                  <a:ext uri="{FF2B5EF4-FFF2-40B4-BE49-F238E27FC236}">
                    <a16:creationId xmlns:a16="http://schemas.microsoft.com/office/drawing/2014/main" id="{CC767439-8B3A-4941-A0AC-BBB9A13249F5}"/>
                  </a:ext>
                </a:extLst>
              </p:cNvPr>
              <p:cNvSpPr txBox="1">
                <a:spLocks noRot="1" noChangeAspect="1" noMove="1" noResize="1" noEditPoints="1" noAdjustHandles="1" noChangeArrowheads="1" noChangeShapeType="1" noTextEdit="1"/>
              </p:cNvSpPr>
              <p:nvPr/>
            </p:nvSpPr>
            <p:spPr>
              <a:xfrm>
                <a:off x="3645011" y="4077338"/>
                <a:ext cx="403601" cy="241142"/>
              </a:xfrm>
              <a:prstGeom prst="rect">
                <a:avLst/>
              </a:prstGeom>
              <a:blipFill>
                <a:blip r:embed="rId19"/>
                <a:stretch>
                  <a:fillRect b="-17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1" name="文本框 1097">
                <a:extLst>
                  <a:ext uri="{FF2B5EF4-FFF2-40B4-BE49-F238E27FC236}">
                    <a16:creationId xmlns:a16="http://schemas.microsoft.com/office/drawing/2014/main" id="{1331D056-B4CF-4F8A-B538-7685B0C8DA33}"/>
                  </a:ext>
                </a:extLst>
              </p:cNvPr>
              <p:cNvSpPr txBox="1"/>
              <p:nvPr/>
            </p:nvSpPr>
            <p:spPr>
              <a:xfrm>
                <a:off x="4652714" y="4075931"/>
                <a:ext cx="403601" cy="24114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𝑐</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1" name="文本框 1097">
                <a:extLst>
                  <a:ext uri="{FF2B5EF4-FFF2-40B4-BE49-F238E27FC236}">
                    <a16:creationId xmlns:a16="http://schemas.microsoft.com/office/drawing/2014/main" id="{1331D056-B4CF-4F8A-B538-7685B0C8DA33}"/>
                  </a:ext>
                </a:extLst>
              </p:cNvPr>
              <p:cNvSpPr txBox="1">
                <a:spLocks noRot="1" noChangeAspect="1" noMove="1" noResize="1" noEditPoints="1" noAdjustHandles="1" noChangeArrowheads="1" noChangeShapeType="1" noTextEdit="1"/>
              </p:cNvSpPr>
              <p:nvPr/>
            </p:nvSpPr>
            <p:spPr>
              <a:xfrm>
                <a:off x="4652714" y="4075931"/>
                <a:ext cx="403601" cy="241142"/>
              </a:xfrm>
              <a:prstGeom prst="rect">
                <a:avLst/>
              </a:prstGeom>
              <a:blipFill>
                <a:blip r:embed="rId10"/>
                <a:stretch>
                  <a:fillRect b="-10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2" name="文本框 1097">
                <a:extLst>
                  <a:ext uri="{FF2B5EF4-FFF2-40B4-BE49-F238E27FC236}">
                    <a16:creationId xmlns:a16="http://schemas.microsoft.com/office/drawing/2014/main" id="{8B693EC2-5944-4615-9BC8-7087B5F757AC}"/>
                  </a:ext>
                </a:extLst>
              </p:cNvPr>
              <p:cNvSpPr txBox="1"/>
              <p:nvPr/>
            </p:nvSpPr>
            <p:spPr>
              <a:xfrm>
                <a:off x="5653184" y="4077437"/>
                <a:ext cx="403601" cy="2416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2" name="文本框 1097">
                <a:extLst>
                  <a:ext uri="{FF2B5EF4-FFF2-40B4-BE49-F238E27FC236}">
                    <a16:creationId xmlns:a16="http://schemas.microsoft.com/office/drawing/2014/main" id="{8B693EC2-5944-4615-9BC8-7087B5F757AC}"/>
                  </a:ext>
                </a:extLst>
              </p:cNvPr>
              <p:cNvSpPr txBox="1">
                <a:spLocks noRot="1" noChangeAspect="1" noMove="1" noResize="1" noEditPoints="1" noAdjustHandles="1" noChangeArrowheads="1" noChangeShapeType="1" noTextEdit="1"/>
              </p:cNvSpPr>
              <p:nvPr/>
            </p:nvSpPr>
            <p:spPr>
              <a:xfrm>
                <a:off x="5653184" y="4077437"/>
                <a:ext cx="403601" cy="241695"/>
              </a:xfrm>
              <a:prstGeom prst="rect">
                <a:avLst/>
              </a:prstGeom>
              <a:blipFill>
                <a:blip r:embed="rId20"/>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a:extLst>
                  <a:ext uri="{FF2B5EF4-FFF2-40B4-BE49-F238E27FC236}">
                    <a16:creationId xmlns:a16="http://schemas.microsoft.com/office/drawing/2014/main" id="{C65C1A54-471D-416B-B129-A2C9334CCC26}"/>
                  </a:ext>
                </a:extLst>
              </p:cNvPr>
              <p:cNvSpPr txBox="1"/>
              <p:nvPr/>
            </p:nvSpPr>
            <p:spPr>
              <a:xfrm>
                <a:off x="2624498" y="4670564"/>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𝑎</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3" name="文本框 152">
                <a:extLst>
                  <a:ext uri="{FF2B5EF4-FFF2-40B4-BE49-F238E27FC236}">
                    <a16:creationId xmlns:a16="http://schemas.microsoft.com/office/drawing/2014/main" id="{C65C1A54-471D-416B-B129-A2C9334CCC26}"/>
                  </a:ext>
                </a:extLst>
              </p:cNvPr>
              <p:cNvSpPr txBox="1">
                <a:spLocks noRot="1" noChangeAspect="1" noMove="1" noResize="1" noEditPoints="1" noAdjustHandles="1" noChangeArrowheads="1" noChangeShapeType="1" noTextEdit="1"/>
              </p:cNvSpPr>
              <p:nvPr/>
            </p:nvSpPr>
            <p:spPr>
              <a:xfrm>
                <a:off x="2624498" y="4670564"/>
                <a:ext cx="403601" cy="241142"/>
              </a:xfrm>
              <a:prstGeom prst="rect">
                <a:avLst/>
              </a:prstGeom>
              <a:blipFill>
                <a:blip r:embed="rId18"/>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69A41FCA-B6A5-49A4-B494-15A08C3F28A6}"/>
                  </a:ext>
                </a:extLst>
              </p:cNvPr>
              <p:cNvSpPr txBox="1"/>
              <p:nvPr/>
            </p:nvSpPr>
            <p:spPr>
              <a:xfrm>
                <a:off x="3655901" y="4673894"/>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𝑏</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4" name="文本框 153">
                <a:extLst>
                  <a:ext uri="{FF2B5EF4-FFF2-40B4-BE49-F238E27FC236}">
                    <a16:creationId xmlns:a16="http://schemas.microsoft.com/office/drawing/2014/main" id="{69A41FCA-B6A5-49A4-B494-15A08C3F28A6}"/>
                  </a:ext>
                </a:extLst>
              </p:cNvPr>
              <p:cNvSpPr txBox="1">
                <a:spLocks noRot="1" noChangeAspect="1" noMove="1" noResize="1" noEditPoints="1" noAdjustHandles="1" noChangeArrowheads="1" noChangeShapeType="1" noTextEdit="1"/>
              </p:cNvSpPr>
              <p:nvPr/>
            </p:nvSpPr>
            <p:spPr>
              <a:xfrm>
                <a:off x="3655901" y="4673894"/>
                <a:ext cx="403601" cy="241142"/>
              </a:xfrm>
              <a:prstGeom prst="rect">
                <a:avLst/>
              </a:prstGeom>
              <a:blipFill>
                <a:blip r:embed="rId19"/>
                <a:stretch>
                  <a:fillRect b="-17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5" name="文本框 1097">
                <a:extLst>
                  <a:ext uri="{FF2B5EF4-FFF2-40B4-BE49-F238E27FC236}">
                    <a16:creationId xmlns:a16="http://schemas.microsoft.com/office/drawing/2014/main" id="{A4D11A10-E79A-4497-AEE9-783A3BBFAED3}"/>
                  </a:ext>
                </a:extLst>
              </p:cNvPr>
              <p:cNvSpPr txBox="1"/>
              <p:nvPr/>
            </p:nvSpPr>
            <p:spPr>
              <a:xfrm>
                <a:off x="4663604" y="4672488"/>
                <a:ext cx="403601" cy="24114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𝑐</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5" name="文本框 1097">
                <a:extLst>
                  <a:ext uri="{FF2B5EF4-FFF2-40B4-BE49-F238E27FC236}">
                    <a16:creationId xmlns:a16="http://schemas.microsoft.com/office/drawing/2014/main" id="{A4D11A10-E79A-4497-AEE9-783A3BBFAED3}"/>
                  </a:ext>
                </a:extLst>
              </p:cNvPr>
              <p:cNvSpPr txBox="1">
                <a:spLocks noRot="1" noChangeAspect="1" noMove="1" noResize="1" noEditPoints="1" noAdjustHandles="1" noChangeArrowheads="1" noChangeShapeType="1" noTextEdit="1"/>
              </p:cNvSpPr>
              <p:nvPr/>
            </p:nvSpPr>
            <p:spPr>
              <a:xfrm>
                <a:off x="4663604" y="4672488"/>
                <a:ext cx="403601" cy="241142"/>
              </a:xfrm>
              <a:prstGeom prst="rect">
                <a:avLst/>
              </a:prstGeom>
              <a:blipFill>
                <a:blip r:embed="rId21"/>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文本框 1097">
                <a:extLst>
                  <a:ext uri="{FF2B5EF4-FFF2-40B4-BE49-F238E27FC236}">
                    <a16:creationId xmlns:a16="http://schemas.microsoft.com/office/drawing/2014/main" id="{5DA7650F-49DB-44B5-A5F5-9D1E3548BB56}"/>
                  </a:ext>
                </a:extLst>
              </p:cNvPr>
              <p:cNvSpPr txBox="1"/>
              <p:nvPr/>
            </p:nvSpPr>
            <p:spPr>
              <a:xfrm>
                <a:off x="5664074" y="4673994"/>
                <a:ext cx="403601" cy="2416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6" name="文本框 1097">
                <a:extLst>
                  <a:ext uri="{FF2B5EF4-FFF2-40B4-BE49-F238E27FC236}">
                    <a16:creationId xmlns:a16="http://schemas.microsoft.com/office/drawing/2014/main" id="{5DA7650F-49DB-44B5-A5F5-9D1E3548BB56}"/>
                  </a:ext>
                </a:extLst>
              </p:cNvPr>
              <p:cNvSpPr txBox="1">
                <a:spLocks noRot="1" noChangeAspect="1" noMove="1" noResize="1" noEditPoints="1" noAdjustHandles="1" noChangeArrowheads="1" noChangeShapeType="1" noTextEdit="1"/>
              </p:cNvSpPr>
              <p:nvPr/>
            </p:nvSpPr>
            <p:spPr>
              <a:xfrm>
                <a:off x="5664074" y="4673994"/>
                <a:ext cx="403601" cy="241695"/>
              </a:xfrm>
              <a:prstGeom prst="rect">
                <a:avLst/>
              </a:prstGeom>
              <a:blipFill>
                <a:blip r:embed="rId22"/>
                <a:stretch>
                  <a:fillRect b="-17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14430ADE-0639-444D-87C1-D2BF4AC89A98}"/>
                  </a:ext>
                </a:extLst>
              </p:cNvPr>
              <p:cNvSpPr txBox="1"/>
              <p:nvPr/>
            </p:nvSpPr>
            <p:spPr>
              <a:xfrm>
                <a:off x="2571990" y="2858624"/>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𝑎</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7" name="文本框 156">
                <a:extLst>
                  <a:ext uri="{FF2B5EF4-FFF2-40B4-BE49-F238E27FC236}">
                    <a16:creationId xmlns:a16="http://schemas.microsoft.com/office/drawing/2014/main" id="{14430ADE-0639-444D-87C1-D2BF4AC89A98}"/>
                  </a:ext>
                </a:extLst>
              </p:cNvPr>
              <p:cNvSpPr txBox="1">
                <a:spLocks noRot="1" noChangeAspect="1" noMove="1" noResize="1" noEditPoints="1" noAdjustHandles="1" noChangeArrowheads="1" noChangeShapeType="1" noTextEdit="1"/>
              </p:cNvSpPr>
              <p:nvPr/>
            </p:nvSpPr>
            <p:spPr>
              <a:xfrm>
                <a:off x="2571990" y="2858624"/>
                <a:ext cx="403601" cy="241142"/>
              </a:xfrm>
              <a:prstGeom prst="rect">
                <a:avLst/>
              </a:prstGeom>
              <a:blipFill>
                <a:blip r:embed="rId8"/>
                <a:stretch>
                  <a:fillRect b="-10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30AD4420-B071-4D29-8A9F-A967735A8DFB}"/>
                  </a:ext>
                </a:extLst>
              </p:cNvPr>
              <p:cNvSpPr txBox="1"/>
              <p:nvPr/>
            </p:nvSpPr>
            <p:spPr>
              <a:xfrm>
                <a:off x="3603393" y="2861954"/>
                <a:ext cx="403601" cy="24114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𝑏</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8" name="文本框 157">
                <a:extLst>
                  <a:ext uri="{FF2B5EF4-FFF2-40B4-BE49-F238E27FC236}">
                    <a16:creationId xmlns:a16="http://schemas.microsoft.com/office/drawing/2014/main" id="{30AD4420-B071-4D29-8A9F-A967735A8DFB}"/>
                  </a:ext>
                </a:extLst>
              </p:cNvPr>
              <p:cNvSpPr txBox="1">
                <a:spLocks noRot="1" noChangeAspect="1" noMove="1" noResize="1" noEditPoints="1" noAdjustHandles="1" noChangeArrowheads="1" noChangeShapeType="1" noTextEdit="1"/>
              </p:cNvSpPr>
              <p:nvPr/>
            </p:nvSpPr>
            <p:spPr>
              <a:xfrm>
                <a:off x="3603393" y="2861954"/>
                <a:ext cx="403601" cy="241142"/>
              </a:xfrm>
              <a:prstGeom prst="rect">
                <a:avLst/>
              </a:prstGeom>
              <a:blipFill>
                <a:blip r:embed="rId23"/>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9" name="文本框 1097">
                <a:extLst>
                  <a:ext uri="{FF2B5EF4-FFF2-40B4-BE49-F238E27FC236}">
                    <a16:creationId xmlns:a16="http://schemas.microsoft.com/office/drawing/2014/main" id="{BAA6A43E-32D5-4ADB-868D-76A9E03ED935}"/>
                  </a:ext>
                </a:extLst>
              </p:cNvPr>
              <p:cNvSpPr txBox="1"/>
              <p:nvPr/>
            </p:nvSpPr>
            <p:spPr>
              <a:xfrm>
                <a:off x="4611096" y="2860548"/>
                <a:ext cx="403601" cy="24114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𝑐</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59" name="文本框 1097">
                <a:extLst>
                  <a:ext uri="{FF2B5EF4-FFF2-40B4-BE49-F238E27FC236}">
                    <a16:creationId xmlns:a16="http://schemas.microsoft.com/office/drawing/2014/main" id="{BAA6A43E-32D5-4ADB-868D-76A9E03ED935}"/>
                  </a:ext>
                </a:extLst>
              </p:cNvPr>
              <p:cNvSpPr txBox="1">
                <a:spLocks noRot="1" noChangeAspect="1" noMove="1" noResize="1" noEditPoints="1" noAdjustHandles="1" noChangeArrowheads="1" noChangeShapeType="1" noTextEdit="1"/>
              </p:cNvSpPr>
              <p:nvPr/>
            </p:nvSpPr>
            <p:spPr>
              <a:xfrm>
                <a:off x="4611096" y="2860548"/>
                <a:ext cx="403601" cy="241142"/>
              </a:xfrm>
              <a:prstGeom prst="rect">
                <a:avLst/>
              </a:prstGeom>
              <a:blipFill>
                <a:blip r:embed="rId24"/>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0" name="文本框 1097">
                <a:extLst>
                  <a:ext uri="{FF2B5EF4-FFF2-40B4-BE49-F238E27FC236}">
                    <a16:creationId xmlns:a16="http://schemas.microsoft.com/office/drawing/2014/main" id="{4F42A5A9-1775-405F-9DF6-4A5F4F903871}"/>
                  </a:ext>
                </a:extLst>
              </p:cNvPr>
              <p:cNvSpPr txBox="1"/>
              <p:nvPr/>
            </p:nvSpPr>
            <p:spPr>
              <a:xfrm>
                <a:off x="5611566" y="2862054"/>
                <a:ext cx="403601" cy="2416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60" name="文本框 1097">
                <a:extLst>
                  <a:ext uri="{FF2B5EF4-FFF2-40B4-BE49-F238E27FC236}">
                    <a16:creationId xmlns:a16="http://schemas.microsoft.com/office/drawing/2014/main" id="{4F42A5A9-1775-405F-9DF6-4A5F4F903871}"/>
                  </a:ext>
                </a:extLst>
              </p:cNvPr>
              <p:cNvSpPr txBox="1">
                <a:spLocks noRot="1" noChangeAspect="1" noMove="1" noResize="1" noEditPoints="1" noAdjustHandles="1" noChangeArrowheads="1" noChangeShapeType="1" noTextEdit="1"/>
              </p:cNvSpPr>
              <p:nvPr/>
            </p:nvSpPr>
            <p:spPr>
              <a:xfrm>
                <a:off x="5611566" y="2862054"/>
                <a:ext cx="403601" cy="241695"/>
              </a:xfrm>
              <a:prstGeom prst="rect">
                <a:avLst/>
              </a:prstGeom>
              <a:blipFill>
                <a:blip r:embed="rId11"/>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1A9A3539-F697-4B90-89A1-D9BBFCC0735F}"/>
                  </a:ext>
                </a:extLst>
              </p:cNvPr>
              <p:cNvSpPr txBox="1"/>
              <p:nvPr/>
            </p:nvSpPr>
            <p:spPr>
              <a:xfrm>
                <a:off x="299056" y="1557124"/>
                <a:ext cx="8493405" cy="728789"/>
              </a:xfrm>
              <a:prstGeom prst="rect">
                <a:avLst/>
              </a:prstGeom>
              <a:noFill/>
            </p:spPr>
            <p:txBody>
              <a:bodyPr wrap="square" rtlCol="0">
                <a:spAutoFit/>
              </a:bodyPr>
              <a:lstStyle/>
              <a:p>
                <a:pPr>
                  <a:lnSpc>
                    <a:spcPct val="120000"/>
                  </a:lnSpc>
                  <a:defRPr/>
                </a:pPr>
                <a:r>
                  <a:rPr lang="zh-CN" altLang="en-US" dirty="0">
                    <a:latin typeface="Times New Roman" panose="02020603050405020304" pitchFamily="18" charset="0"/>
                    <a:cs typeface="Times New Roman" panose="02020603050405020304" pitchFamily="18" charset="0"/>
                  </a:rPr>
                  <a:t>第</a:t>
                </a:r>
                <a:r>
                  <a:rPr lang="zh-CN" altLang="en-US" sz="1800" dirty="0">
                    <a:latin typeface="Times New Roman" panose="02020603050405020304" pitchFamily="18" charset="0"/>
                    <a:cs typeface="Times New Roman" panose="02020603050405020304" pitchFamily="18" charset="0"/>
                  </a:rPr>
                  <a:t>四轮的输出值</a:t>
                </a:r>
                <a14:m>
                  <m:oMath xmlns:m="http://schemas.openxmlformats.org/officeDocument/2006/math">
                    <m:r>
                      <a:rPr lang="en-US" altLang="zh-CN" sz="1800" b="0" i="0" dirty="0" smtClean="0">
                        <a:latin typeface="Cambria Math" panose="02040503050406030204" pitchFamily="18" charset="0"/>
                        <a:cs typeface="Times New Roman" panose="02020603050405020304" pitchFamily="18" charset="0"/>
                      </a:rPr>
                      <m:t> </m:t>
                    </m:r>
                    <m:r>
                      <a:rPr lang="zh-CN" altLang="en-US" sz="1800" i="1" dirty="0" smtClean="0">
                        <a:latin typeface="Cambria Math" panose="02040503050406030204" pitchFamily="18" charset="0"/>
                        <a:cs typeface="Times New Roman" panose="02020603050405020304" pitchFamily="18" charset="0"/>
                      </a:rPr>
                      <m:t>𝑎</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𝑏</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𝑐</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𝑑</m:t>
                    </m:r>
                    <m:r>
                      <a:rPr lang="zh-CN" altLang="en-US" sz="1800" i="1" dirty="0" smtClean="0">
                        <a:latin typeface="Cambria Math" panose="02040503050406030204" pitchFamily="18" charset="0"/>
                        <a:cs typeface="Times New Roman" panose="02020603050405020304" pitchFamily="18" charset="0"/>
                      </a:rPr>
                      <m:t> </m:t>
                    </m:r>
                  </m:oMath>
                </a14:m>
                <a:r>
                  <a:rPr lang="zh-CN" altLang="en-US" sz="1800" dirty="0">
                    <a:latin typeface="Times New Roman" panose="02020603050405020304" pitchFamily="18" charset="0"/>
                    <a:cs typeface="Times New Roman" panose="02020603050405020304" pitchFamily="18" charset="0"/>
                  </a:rPr>
                  <a:t>再与第一轮的输入值每个字按模 </a:t>
                </a:r>
                <a14:m>
                  <m:oMath xmlns:m="http://schemas.openxmlformats.org/officeDocument/2006/math">
                    <m:sSup>
                      <m:sSupPr>
                        <m:ctrlPr>
                          <a:rPr lang="en-US" altLang="zh-CN" sz="1800" b="0" i="1" smtClean="0">
                            <a:latin typeface="Cambria Math" panose="02040503050406030204" pitchFamily="18" charset="0"/>
                            <a:cs typeface="Times New Roman" panose="02020603050405020304" pitchFamily="18" charset="0"/>
                          </a:rPr>
                        </m:ctrlPr>
                      </m:sSupPr>
                      <m:e>
                        <m:r>
                          <a:rPr lang="en-US" altLang="zh-CN" sz="1800" b="0" i="1" smtClean="0">
                            <a:latin typeface="Cambria Math" panose="02040503050406030204" pitchFamily="18" charset="0"/>
                            <a:cs typeface="Times New Roman" panose="02020603050405020304" pitchFamily="18" charset="0"/>
                          </a:rPr>
                          <m:t>2</m:t>
                        </m:r>
                      </m:e>
                      <m:sup>
                        <m:r>
                          <a:rPr lang="en-US" altLang="zh-CN" sz="1800" b="0" i="1" smtClean="0">
                            <a:latin typeface="Cambria Math" panose="02040503050406030204" pitchFamily="18" charset="0"/>
                            <a:cs typeface="Times New Roman" panose="02020603050405020304" pitchFamily="18" charset="0"/>
                          </a:rPr>
                          <m:t>32</m:t>
                        </m:r>
                      </m:sup>
                    </m:sSup>
                  </m:oMath>
                </a14:m>
                <a:r>
                  <a:rPr lang="zh-CN" altLang="en-US" sz="1800" dirty="0">
                    <a:latin typeface="Times New Roman" panose="02020603050405020304" pitchFamily="18" charset="0"/>
                    <a:cs typeface="Times New Roman" panose="02020603050405020304" pitchFamily="18" charset="0"/>
                  </a:rPr>
                  <a:t> 相加，即为消息的第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𝑞</m:t>
                    </m:r>
                  </m:oMath>
                </a14:m>
                <a:r>
                  <a:rPr lang="zh-CN" altLang="en-US" sz="1800" dirty="0">
                    <a:latin typeface="Times New Roman" panose="02020603050405020304" pitchFamily="18" charset="0"/>
                    <a:cs typeface="Times New Roman" panose="02020603050405020304" pitchFamily="18" charset="0"/>
                  </a:rPr>
                  <a:t> 个 </a:t>
                </a:r>
                <a:r>
                  <a:rPr lang="en-US" altLang="zh-CN" dirty="0">
                    <a:latin typeface="Times New Roman" panose="02020603050405020304" pitchFamily="18" charset="0"/>
                    <a:cs typeface="Times New Roman" panose="02020603050405020304" pitchFamily="18" charset="0"/>
                  </a:rPr>
                  <a:t>512bits </a:t>
                </a:r>
                <a:r>
                  <a:rPr lang="zh-CN" altLang="en-US" dirty="0">
                    <a:latin typeface="Times New Roman" panose="02020603050405020304" pitchFamily="18" charset="0"/>
                    <a:cs typeface="Times New Roman" panose="02020603050405020304" pitchFamily="18" charset="0"/>
                  </a:rPr>
                  <a:t>分组经过压缩函数的输出</a:t>
                </a:r>
              </a:p>
            </p:txBody>
          </p:sp>
        </mc:Choice>
        <mc:Fallback xmlns="">
          <p:sp>
            <p:nvSpPr>
              <p:cNvPr id="82" name="文本框 81">
                <a:extLst>
                  <a:ext uri="{FF2B5EF4-FFF2-40B4-BE49-F238E27FC236}">
                    <a16:creationId xmlns:a16="http://schemas.microsoft.com/office/drawing/2014/main" id="{1A9A3539-F697-4B90-89A1-D9BBFCC0735F}"/>
                  </a:ext>
                </a:extLst>
              </p:cNvPr>
              <p:cNvSpPr txBox="1">
                <a:spLocks noRot="1" noChangeAspect="1" noMove="1" noResize="1" noEditPoints="1" noAdjustHandles="1" noChangeArrowheads="1" noChangeShapeType="1" noTextEdit="1"/>
              </p:cNvSpPr>
              <p:nvPr/>
            </p:nvSpPr>
            <p:spPr>
              <a:xfrm>
                <a:off x="299056" y="1557124"/>
                <a:ext cx="8493405" cy="728789"/>
              </a:xfrm>
              <a:prstGeom prst="rect">
                <a:avLst/>
              </a:prstGeom>
              <a:blipFill>
                <a:blip r:embed="rId25"/>
                <a:stretch>
                  <a:fillRect l="-574"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DE835315-B518-443D-B0DB-8438848ED3A4}"/>
                  </a:ext>
                </a:extLst>
              </p:cNvPr>
              <p:cNvSpPr txBox="1"/>
              <p:nvPr/>
            </p:nvSpPr>
            <p:spPr>
              <a:xfrm>
                <a:off x="1504670" y="2838808"/>
                <a:ext cx="62282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400" dirty="0" smtClean="0">
                          <a:solidFill>
                            <a:prstClr val="black"/>
                          </a:solidFill>
                          <a:latin typeface="Cambria Math" panose="02040503050406030204" pitchFamily="18" charset="0"/>
                        </a:rPr>
                        <m:t>5</m:t>
                      </m:r>
                      <m:r>
                        <a:rPr lang="en-US" altLang="zh-CN" sz="1400" b="0" i="0" dirty="0" smtClean="0">
                          <a:solidFill>
                            <a:prstClr val="black"/>
                          </a:solidFill>
                          <a:latin typeface="Cambria Math" panose="02040503050406030204" pitchFamily="18" charset="0"/>
                        </a:rPr>
                        <m:t>1</m:t>
                      </m:r>
                      <m:r>
                        <a:rPr kumimoji="0" lang="en-US" altLang="zh-CN" sz="14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2 </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61" name="文本框 160">
                <a:extLst>
                  <a:ext uri="{FF2B5EF4-FFF2-40B4-BE49-F238E27FC236}">
                    <a16:creationId xmlns:a16="http://schemas.microsoft.com/office/drawing/2014/main" id="{DE835315-B518-443D-B0DB-8438848ED3A4}"/>
                  </a:ext>
                </a:extLst>
              </p:cNvPr>
              <p:cNvSpPr txBox="1">
                <a:spLocks noRot="1" noChangeAspect="1" noMove="1" noResize="1" noEditPoints="1" noAdjustHandles="1" noChangeArrowheads="1" noChangeShapeType="1" noTextEdit="1"/>
              </p:cNvSpPr>
              <p:nvPr/>
            </p:nvSpPr>
            <p:spPr>
              <a:xfrm>
                <a:off x="1504670" y="2838808"/>
                <a:ext cx="622823" cy="307777"/>
              </a:xfrm>
              <a:prstGeom prst="rect">
                <a:avLst/>
              </a:prstGeom>
              <a:blipFill>
                <a:blip r:embed="rId26"/>
                <a:stretch>
                  <a:fillRect/>
                </a:stretch>
              </a:blipFill>
            </p:spPr>
            <p:txBody>
              <a:bodyPr/>
              <a:lstStyle/>
              <a:p>
                <a:r>
                  <a:rPr lang="zh-CN" altLang="en-US">
                    <a:noFill/>
                  </a:rPr>
                  <a:t> </a:t>
                </a:r>
              </a:p>
            </p:txBody>
          </p:sp>
        </mc:Fallback>
      </mc:AlternateContent>
      <p:cxnSp>
        <p:nvCxnSpPr>
          <p:cNvPr id="162" name="直接连接符 161">
            <a:extLst>
              <a:ext uri="{FF2B5EF4-FFF2-40B4-BE49-F238E27FC236}">
                <a16:creationId xmlns:a16="http://schemas.microsoft.com/office/drawing/2014/main" id="{7B0BD377-FFC6-4DB1-89AB-97DE432111B1}"/>
              </a:ext>
            </a:extLst>
          </p:cNvPr>
          <p:cNvCxnSpPr>
            <a:cxnSpLocks/>
            <a:stCxn id="161" idx="1"/>
          </p:cNvCxnSpPr>
          <p:nvPr/>
        </p:nvCxnSpPr>
        <p:spPr>
          <a:xfrm flipH="1">
            <a:off x="1433276" y="2992697"/>
            <a:ext cx="71394" cy="3439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29297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50</a:t>
            </a:fld>
            <a:endParaRPr lang="zh-CN" altLang="en-US">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(4)   </a:t>
            </a:r>
            <a:r>
              <a:rPr lang="zh-CN" altLang="en-US" sz="2400" b="1" dirty="0">
                <a:solidFill>
                  <a:srgbClr val="0000FF"/>
                </a:solidFill>
                <a:latin typeface="Times New Roman" panose="02020603050405020304" pitchFamily="18" charset="0"/>
                <a:cs typeface="Times New Roman" panose="02020603050405020304" pitchFamily="18" charset="0"/>
              </a:rPr>
              <a:t>输出</a:t>
            </a:r>
            <a:r>
              <a:rPr lang="en-US" altLang="zh-CN" sz="2400" b="1" dirty="0">
                <a:solidFill>
                  <a:srgbClr val="0000FF"/>
                </a:solidFill>
                <a:latin typeface="Times New Roman" panose="02020603050405020304" pitchFamily="18" charset="0"/>
                <a:cs typeface="Times New Roman" panose="02020603050405020304" pitchFamily="18" charset="0"/>
              </a:rPr>
              <a:t>MD5 </a:t>
            </a:r>
            <a:r>
              <a:rPr lang="zh-CN" altLang="en-US" sz="2400" b="1" dirty="0">
                <a:solidFill>
                  <a:srgbClr val="0000FF"/>
                </a:solidFill>
                <a:latin typeface="Times New Roman" panose="02020603050405020304" pitchFamily="18" charset="0"/>
                <a:cs typeface="Times New Roman" panose="02020603050405020304" pitchFamily="18" charset="0"/>
              </a:rPr>
              <a:t>值</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527785"/>
                <a:ext cx="8381107" cy="430182"/>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级联最后输出的 </a:t>
                </a: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分组，形成</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dirty="0" smtClean="0">
                        <a:latin typeface="Cambria Math" panose="02040503050406030204" pitchFamily="18" charset="0"/>
                        <a:cs typeface="Times New Roman" panose="02020603050405020304" pitchFamily="18" charset="0"/>
                      </a:rPr>
                      <m:t>1</m:t>
                    </m:r>
                    <m:r>
                      <a:rPr lang="en-US" altLang="zh-CN" sz="2000" b="0" i="0" dirty="0" smtClean="0">
                        <a:latin typeface="Cambria Math" panose="02040503050406030204" pitchFamily="18" charset="0"/>
                        <a:cs typeface="Times New Roman" panose="02020603050405020304" pitchFamily="18" charset="0"/>
                      </a:rPr>
                      <m:t>28 </m:t>
                    </m:r>
                    <m:r>
                      <m:rPr>
                        <m:sty m:val="p"/>
                      </m:rPr>
                      <a:rPr lang="en-US" altLang="zh-CN" sz="2000" dirty="0">
                        <a:latin typeface="Cambria Math" panose="02040503050406030204" pitchFamily="18" charset="0"/>
                        <a:cs typeface="Times New Roman" panose="02020603050405020304" pitchFamily="18" charset="0"/>
                      </a:rPr>
                      <m:t>bits</m:t>
                    </m:r>
                  </m:oMath>
                </a14:m>
                <a:r>
                  <a:rPr lang="zh-CN" altLang="en-US" sz="2000" dirty="0">
                    <a:latin typeface="Times New Roman" panose="02020603050405020304" pitchFamily="18" charset="0"/>
                    <a:cs typeface="Times New Roman" panose="02020603050405020304" pitchFamily="18" charset="0"/>
                  </a:rPr>
                  <a:t> 的 </a:t>
                </a: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值</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527785"/>
                <a:ext cx="8381107" cy="430182"/>
              </a:xfrm>
              <a:prstGeom prst="rect">
                <a:avLst/>
              </a:prstGeom>
              <a:blipFill>
                <a:blip r:embed="rId3"/>
                <a:stretch>
                  <a:fillRect l="-727" t="-1429" b="-25714"/>
                </a:stretch>
              </a:blipFill>
            </p:spPr>
            <p:txBody>
              <a:bodyPr/>
              <a:lstStyle/>
              <a:p>
                <a:r>
                  <a:rPr lang="zh-CN" altLang="en-US">
                    <a:noFill/>
                  </a:rPr>
                  <a:t> </a:t>
                </a:r>
              </a:p>
            </p:txBody>
          </p:sp>
        </mc:Fallback>
      </mc:AlternateContent>
      <p:sp>
        <p:nvSpPr>
          <p:cNvPr id="242" name="矩形 241">
            <a:extLst>
              <a:ext uri="{FF2B5EF4-FFF2-40B4-BE49-F238E27FC236}">
                <a16:creationId xmlns:a16="http://schemas.microsoft.com/office/drawing/2014/main" id="{6BC6ED4A-64E0-4D67-BA61-D680DC618B43}"/>
              </a:ext>
            </a:extLst>
          </p:cNvPr>
          <p:cNvSpPr/>
          <p:nvPr/>
        </p:nvSpPr>
        <p:spPr>
          <a:xfrm>
            <a:off x="1800408" y="2578587"/>
            <a:ext cx="2871683" cy="395866"/>
          </a:xfrm>
          <a:prstGeom prst="rect">
            <a:avLst/>
          </a:prstGeom>
          <a:solidFill>
            <a:schemeClr val="accent5">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dirty="0">
                <a:solidFill>
                  <a:schemeClr val="tx1"/>
                </a:solidFill>
              </a:rPr>
              <a:t>消息</a:t>
            </a:r>
          </a:p>
        </p:txBody>
      </p:sp>
      <p:cxnSp>
        <p:nvCxnSpPr>
          <p:cNvPr id="243" name="直接箭头连接符 242">
            <a:extLst>
              <a:ext uri="{FF2B5EF4-FFF2-40B4-BE49-F238E27FC236}">
                <a16:creationId xmlns:a16="http://schemas.microsoft.com/office/drawing/2014/main" id="{8693940A-7619-4A28-9DCC-57727B2E5AC9}"/>
              </a:ext>
            </a:extLst>
          </p:cNvPr>
          <p:cNvCxnSpPr>
            <a:cxnSpLocks/>
          </p:cNvCxnSpPr>
          <p:nvPr/>
        </p:nvCxnSpPr>
        <p:spPr>
          <a:xfrm>
            <a:off x="1800408" y="2428715"/>
            <a:ext cx="287168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44" name="文本框 243">
                <a:extLst>
                  <a:ext uri="{FF2B5EF4-FFF2-40B4-BE49-F238E27FC236}">
                    <a16:creationId xmlns:a16="http://schemas.microsoft.com/office/drawing/2014/main" id="{418459A4-53C0-4778-AF24-631971B32D23}"/>
                  </a:ext>
                </a:extLst>
              </p:cNvPr>
              <p:cNvSpPr txBox="1"/>
              <p:nvPr/>
            </p:nvSpPr>
            <p:spPr>
              <a:xfrm>
                <a:off x="2771187" y="2051165"/>
                <a:ext cx="1279037" cy="3728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𝐿</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44" name="文本框 243">
                <a:extLst>
                  <a:ext uri="{FF2B5EF4-FFF2-40B4-BE49-F238E27FC236}">
                    <a16:creationId xmlns:a16="http://schemas.microsoft.com/office/drawing/2014/main" xmlns:a14="http://schemas.microsoft.com/office/drawing/2010/main" xmlns="" id="{418459A4-53C0-4778-AF24-631971B32D23}"/>
                  </a:ext>
                </a:extLst>
              </p:cNvPr>
              <p:cNvSpPr txBox="1">
                <a:spLocks noRot="1" noChangeAspect="1" noMove="1" noResize="1" noEditPoints="1" noAdjustHandles="1" noChangeArrowheads="1" noChangeShapeType="1" noTextEdit="1"/>
              </p:cNvSpPr>
              <p:nvPr/>
            </p:nvSpPr>
            <p:spPr>
              <a:xfrm>
                <a:off x="2771187" y="2051165"/>
                <a:ext cx="1279037" cy="372803"/>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 name="矩形 244">
                <a:extLst>
                  <a:ext uri="{FF2B5EF4-FFF2-40B4-BE49-F238E27FC236}">
                    <a16:creationId xmlns:a16="http://schemas.microsoft.com/office/drawing/2014/main" id="{1622B2F1-FB45-4B7E-99EE-8846AA507591}"/>
                  </a:ext>
                </a:extLst>
              </p:cNvPr>
              <p:cNvSpPr/>
              <p:nvPr/>
            </p:nvSpPr>
            <p:spPr>
              <a:xfrm>
                <a:off x="4672093" y="2578587"/>
                <a:ext cx="1872341" cy="395866"/>
              </a:xfrm>
              <a:prstGeom prst="rect">
                <a:avLst/>
              </a:prstGeom>
              <a:solidFill>
                <a:schemeClr val="accent5">
                  <a:lumMod val="60000"/>
                  <a:lumOff val="4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cs typeface="Times New Roman" panose="02020603050405020304" pitchFamily="18" charset="0"/>
                        </a:rPr>
                        <m:t>100...00</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45" name="矩形 244">
                <a:extLst>
                  <a:ext uri="{FF2B5EF4-FFF2-40B4-BE49-F238E27FC236}">
                    <a16:creationId xmlns:a16="http://schemas.microsoft.com/office/drawing/2014/main" id="{1622B2F1-FB45-4B7E-99EE-8846AA507591}"/>
                  </a:ext>
                </a:extLst>
              </p:cNvPr>
              <p:cNvSpPr>
                <a:spLocks noRot="1" noChangeAspect="1" noMove="1" noResize="1" noEditPoints="1" noAdjustHandles="1" noChangeArrowheads="1" noChangeShapeType="1" noTextEdit="1"/>
              </p:cNvSpPr>
              <p:nvPr/>
            </p:nvSpPr>
            <p:spPr>
              <a:xfrm>
                <a:off x="4672093" y="2578587"/>
                <a:ext cx="1872341" cy="395866"/>
              </a:xfrm>
              <a:prstGeom prst="rect">
                <a:avLst/>
              </a:prstGeom>
              <a:blipFill>
                <a:blip r:embed="rId5"/>
                <a:stretch>
                  <a:fillRect/>
                </a:stretch>
              </a:blipFill>
              <a:ln w="12700">
                <a:solidFill>
                  <a:schemeClr val="tx1"/>
                </a:solidFill>
              </a:ln>
            </p:spPr>
            <p:txBody>
              <a:bodyPr/>
              <a:lstStyle/>
              <a:p>
                <a:r>
                  <a:rPr lang="zh-CN" altLang="en-US">
                    <a:noFill/>
                  </a:rPr>
                  <a:t> </a:t>
                </a:r>
              </a:p>
            </p:txBody>
          </p:sp>
        </mc:Fallback>
      </mc:AlternateContent>
      <p:sp>
        <p:nvSpPr>
          <p:cNvPr id="247" name="矩形 246">
            <a:extLst>
              <a:ext uri="{FF2B5EF4-FFF2-40B4-BE49-F238E27FC236}">
                <a16:creationId xmlns:a16="http://schemas.microsoft.com/office/drawing/2014/main" id="{8BB93ABC-5F7F-4346-B73F-F28A895D9E8B}"/>
              </a:ext>
            </a:extLst>
          </p:cNvPr>
          <p:cNvSpPr/>
          <p:nvPr/>
        </p:nvSpPr>
        <p:spPr>
          <a:xfrm>
            <a:off x="6544431" y="2578587"/>
            <a:ext cx="456810" cy="395866"/>
          </a:xfrm>
          <a:prstGeom prst="rect">
            <a:avLst/>
          </a:prstGeom>
          <a:solidFill>
            <a:schemeClr val="accent5">
              <a:lumMod val="20000"/>
              <a:lumOff val="8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249" name="箭头: 下 248">
            <a:extLst>
              <a:ext uri="{FF2B5EF4-FFF2-40B4-BE49-F238E27FC236}">
                <a16:creationId xmlns:a16="http://schemas.microsoft.com/office/drawing/2014/main" id="{1359F28C-38EE-4533-A56B-9BF23E4BAB28}"/>
              </a:ext>
            </a:extLst>
          </p:cNvPr>
          <p:cNvSpPr/>
          <p:nvPr/>
        </p:nvSpPr>
        <p:spPr>
          <a:xfrm>
            <a:off x="4089220" y="3516964"/>
            <a:ext cx="427613" cy="572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698F6749-2F5F-4D82-958E-F6BEAA9DE006}"/>
                  </a:ext>
                </a:extLst>
              </p:cNvPr>
              <p:cNvSpPr/>
              <p:nvPr/>
            </p:nvSpPr>
            <p:spPr>
              <a:xfrm>
                <a:off x="1958818" y="4628188"/>
                <a:ext cx="1494400"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0</m:t>
                          </m:r>
                        </m:sub>
                      </m:sSub>
                    </m:oMath>
                  </m:oMathPara>
                </a14:m>
                <a:endParaRPr lang="en-US" altLang="zh-CN" b="0" dirty="0">
                  <a:solidFill>
                    <a:schemeClr val="tx1"/>
                  </a:solidFill>
                </a:endParaRPr>
              </a:p>
            </p:txBody>
          </p:sp>
        </mc:Choice>
        <mc:Fallback xmlns="">
          <p:sp>
            <p:nvSpPr>
              <p:cNvPr id="250" name="矩形 249">
                <a:extLst>
                  <a:ext uri="{FF2B5EF4-FFF2-40B4-BE49-F238E27FC236}">
                    <a16:creationId xmlns:a16="http://schemas.microsoft.com/office/drawing/2014/main" id="{698F6749-2F5F-4D82-958E-F6BEAA9DE006}"/>
                  </a:ext>
                </a:extLst>
              </p:cNvPr>
              <p:cNvSpPr>
                <a:spLocks noRot="1" noChangeAspect="1" noMove="1" noResize="1" noEditPoints="1" noAdjustHandles="1" noChangeArrowheads="1" noChangeShapeType="1" noTextEdit="1"/>
              </p:cNvSpPr>
              <p:nvPr/>
            </p:nvSpPr>
            <p:spPr>
              <a:xfrm>
                <a:off x="1958818" y="4628188"/>
                <a:ext cx="1494400" cy="395866"/>
              </a:xfrm>
              <a:prstGeom prst="rect">
                <a:avLst/>
              </a:prstGeom>
              <a:blipFill>
                <a:blip r:embed="rId6"/>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96DC108E-02E3-4DAB-88D7-F3379C68B9B8}"/>
                  </a:ext>
                </a:extLst>
              </p:cNvPr>
              <p:cNvSpPr/>
              <p:nvPr/>
            </p:nvSpPr>
            <p:spPr>
              <a:xfrm>
                <a:off x="3453221" y="4628188"/>
                <a:ext cx="1494402"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51" name="矩形 250">
                <a:extLst>
                  <a:ext uri="{FF2B5EF4-FFF2-40B4-BE49-F238E27FC236}">
                    <a16:creationId xmlns:a16="http://schemas.microsoft.com/office/drawing/2014/main" id="{96DC108E-02E3-4DAB-88D7-F3379C68B9B8}"/>
                  </a:ext>
                </a:extLst>
              </p:cNvPr>
              <p:cNvSpPr>
                <a:spLocks noRot="1" noChangeAspect="1" noMove="1" noResize="1" noEditPoints="1" noAdjustHandles="1" noChangeArrowheads="1" noChangeShapeType="1" noTextEdit="1"/>
              </p:cNvSpPr>
              <p:nvPr/>
            </p:nvSpPr>
            <p:spPr>
              <a:xfrm>
                <a:off x="3453221" y="4628188"/>
                <a:ext cx="1494402" cy="395866"/>
              </a:xfrm>
              <a:prstGeom prst="rect">
                <a:avLst/>
              </a:prstGeom>
              <a:blipFill>
                <a:blip r:embed="rId7"/>
                <a:stretch>
                  <a:fillRect/>
                </a:stretch>
              </a:blipFill>
              <a:ln w="12700">
                <a:solidFill>
                  <a:schemeClr val="tx1"/>
                </a:solidFill>
              </a:ln>
            </p:spPr>
            <p:txBody>
              <a:bodyPr/>
              <a:lstStyle/>
              <a:p>
                <a:r>
                  <a:rPr lang="zh-CN" altLang="en-US">
                    <a:noFill/>
                  </a:rPr>
                  <a:t> </a:t>
                </a:r>
              </a:p>
            </p:txBody>
          </p:sp>
        </mc:Fallback>
      </mc:AlternateContent>
      <p:sp>
        <p:nvSpPr>
          <p:cNvPr id="252" name="矩形 251">
            <a:extLst>
              <a:ext uri="{FF2B5EF4-FFF2-40B4-BE49-F238E27FC236}">
                <a16:creationId xmlns:a16="http://schemas.microsoft.com/office/drawing/2014/main" id="{DD46BE5D-F3DD-4975-A477-73EB0EE0F6F1}"/>
              </a:ext>
            </a:extLst>
          </p:cNvPr>
          <p:cNvSpPr/>
          <p:nvPr/>
        </p:nvSpPr>
        <p:spPr>
          <a:xfrm>
            <a:off x="4947623" y="4628188"/>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3" name="直接箭头连接符 252">
            <a:extLst>
              <a:ext uri="{FF2B5EF4-FFF2-40B4-BE49-F238E27FC236}">
                <a16:creationId xmlns:a16="http://schemas.microsoft.com/office/drawing/2014/main" id="{7F665085-A72E-4E58-846E-0B603F5A19A9}"/>
              </a:ext>
            </a:extLst>
          </p:cNvPr>
          <p:cNvCxnSpPr>
            <a:cxnSpLocks/>
          </p:cNvCxnSpPr>
          <p:nvPr/>
        </p:nvCxnSpPr>
        <p:spPr>
          <a:xfrm>
            <a:off x="1958818" y="4511037"/>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4" name="文本框 253">
                <a:extLst>
                  <a:ext uri="{FF2B5EF4-FFF2-40B4-BE49-F238E27FC236}">
                    <a16:creationId xmlns:a16="http://schemas.microsoft.com/office/drawing/2014/main" id="{49E11B04-BE1B-46EE-939C-7782A57E8798}"/>
                  </a:ext>
                </a:extLst>
              </p:cNvPr>
              <p:cNvSpPr txBox="1"/>
              <p:nvPr/>
            </p:nvSpPr>
            <p:spPr>
              <a:xfrm>
                <a:off x="2056286" y="4176070"/>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4" name="文本框 253">
                <a:extLst>
                  <a:ext uri="{FF2B5EF4-FFF2-40B4-BE49-F238E27FC236}">
                    <a16:creationId xmlns:a16="http://schemas.microsoft.com/office/drawing/2014/main" id="{49E11B04-BE1B-46EE-939C-7782A57E8798}"/>
                  </a:ext>
                </a:extLst>
              </p:cNvPr>
              <p:cNvSpPr txBox="1">
                <a:spLocks noRot="1" noChangeAspect="1" noMove="1" noResize="1" noEditPoints="1" noAdjustHandles="1" noChangeArrowheads="1" noChangeShapeType="1" noTextEdit="1"/>
              </p:cNvSpPr>
              <p:nvPr/>
            </p:nvSpPr>
            <p:spPr>
              <a:xfrm>
                <a:off x="2056286" y="4176070"/>
                <a:ext cx="1279036" cy="369332"/>
              </a:xfrm>
              <a:prstGeom prst="rect">
                <a:avLst/>
              </a:prstGeom>
              <a:blipFill>
                <a:blip r:embed="rId8"/>
                <a:stretch>
                  <a:fillRect/>
                </a:stretch>
              </a:blipFill>
            </p:spPr>
            <p:txBody>
              <a:bodyPr/>
              <a:lstStyle/>
              <a:p>
                <a:r>
                  <a:rPr lang="zh-CN" altLang="en-US">
                    <a:noFill/>
                  </a:rPr>
                  <a:t> </a:t>
                </a:r>
              </a:p>
            </p:txBody>
          </p:sp>
        </mc:Fallback>
      </mc:AlternateContent>
      <p:cxnSp>
        <p:nvCxnSpPr>
          <p:cNvPr id="255" name="直接箭头连接符 254">
            <a:extLst>
              <a:ext uri="{FF2B5EF4-FFF2-40B4-BE49-F238E27FC236}">
                <a16:creationId xmlns:a16="http://schemas.microsoft.com/office/drawing/2014/main" id="{9DAC82B8-7D2B-4A9D-B08F-ABBAD2A25479}"/>
              </a:ext>
            </a:extLst>
          </p:cNvPr>
          <p:cNvCxnSpPr>
            <a:cxnSpLocks/>
          </p:cNvCxnSpPr>
          <p:nvPr/>
        </p:nvCxnSpPr>
        <p:spPr>
          <a:xfrm>
            <a:off x="3440454" y="4509316"/>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32D08DD5-4DB6-466F-90B0-A5BB5502242B}"/>
                  </a:ext>
                </a:extLst>
              </p:cNvPr>
              <p:cNvSpPr txBox="1"/>
              <p:nvPr/>
            </p:nvSpPr>
            <p:spPr>
              <a:xfrm>
                <a:off x="3537923" y="4174349"/>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6" name="文本框 255">
                <a:extLst>
                  <a:ext uri="{FF2B5EF4-FFF2-40B4-BE49-F238E27FC236}">
                    <a16:creationId xmlns:a16="http://schemas.microsoft.com/office/drawing/2014/main" id="{32D08DD5-4DB6-466F-90B0-A5BB5502242B}"/>
                  </a:ext>
                </a:extLst>
              </p:cNvPr>
              <p:cNvSpPr txBox="1">
                <a:spLocks noRot="1" noChangeAspect="1" noMove="1" noResize="1" noEditPoints="1" noAdjustHandles="1" noChangeArrowheads="1" noChangeShapeType="1" noTextEdit="1"/>
              </p:cNvSpPr>
              <p:nvPr/>
            </p:nvSpPr>
            <p:spPr>
              <a:xfrm>
                <a:off x="3537923" y="4174349"/>
                <a:ext cx="1279036"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7" name="矩形 256">
                <a:extLst>
                  <a:ext uri="{FF2B5EF4-FFF2-40B4-BE49-F238E27FC236}">
                    <a16:creationId xmlns:a16="http://schemas.microsoft.com/office/drawing/2014/main" id="{27BE3475-CA25-4BF1-B8C6-02FDD98DA6C8}"/>
                  </a:ext>
                </a:extLst>
              </p:cNvPr>
              <p:cNvSpPr/>
              <p:nvPr/>
            </p:nvSpPr>
            <p:spPr>
              <a:xfrm>
                <a:off x="5519605" y="4626021"/>
                <a:ext cx="1481636"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m:rPr>
                              <m:sty m:val="p"/>
                            </m:rPr>
                            <a:rPr lang="en-US" altLang="zh-CN" i="0" dirty="0">
                              <a:solidFill>
                                <a:schemeClr val="tx1"/>
                              </a:solidFill>
                              <a:latin typeface="Cambria Math" panose="02040503050406030204" pitchFamily="18" charset="0"/>
                            </a:rPr>
                            <m:t>N</m:t>
                          </m:r>
                          <m:r>
                            <a:rPr lang="en-US" altLang="zh-CN" i="0" dirty="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57" name="矩形 256">
                <a:extLst>
                  <a:ext uri="{FF2B5EF4-FFF2-40B4-BE49-F238E27FC236}">
                    <a16:creationId xmlns:a16="http://schemas.microsoft.com/office/drawing/2014/main" id="{27BE3475-CA25-4BF1-B8C6-02FDD98DA6C8}"/>
                  </a:ext>
                </a:extLst>
              </p:cNvPr>
              <p:cNvSpPr>
                <a:spLocks noRot="1" noChangeAspect="1" noMove="1" noResize="1" noEditPoints="1" noAdjustHandles="1" noChangeArrowheads="1" noChangeShapeType="1" noTextEdit="1"/>
              </p:cNvSpPr>
              <p:nvPr/>
            </p:nvSpPr>
            <p:spPr>
              <a:xfrm>
                <a:off x="5519605" y="4626021"/>
                <a:ext cx="1481636" cy="395866"/>
              </a:xfrm>
              <a:prstGeom prst="rect">
                <a:avLst/>
              </a:prstGeom>
              <a:blipFill>
                <a:blip r:embed="rId10"/>
                <a:stretch>
                  <a:fillRect/>
                </a:stretch>
              </a:blipFill>
              <a:ln w="12700">
                <a:solidFill>
                  <a:schemeClr val="tx1"/>
                </a:solidFill>
              </a:ln>
            </p:spPr>
            <p:txBody>
              <a:bodyPr/>
              <a:lstStyle/>
              <a:p>
                <a:r>
                  <a:rPr lang="zh-CN" altLang="en-US">
                    <a:noFill/>
                  </a:rPr>
                  <a:t> </a:t>
                </a:r>
              </a:p>
            </p:txBody>
          </p:sp>
        </mc:Fallback>
      </mc:AlternateContent>
      <p:cxnSp>
        <p:nvCxnSpPr>
          <p:cNvPr id="258" name="直接箭头连接符 257">
            <a:extLst>
              <a:ext uri="{FF2B5EF4-FFF2-40B4-BE49-F238E27FC236}">
                <a16:creationId xmlns:a16="http://schemas.microsoft.com/office/drawing/2014/main" id="{1724E1A1-6AA8-4372-B000-E777C7223AE1}"/>
              </a:ext>
            </a:extLst>
          </p:cNvPr>
          <p:cNvCxnSpPr>
            <a:cxnSpLocks/>
          </p:cNvCxnSpPr>
          <p:nvPr/>
        </p:nvCxnSpPr>
        <p:spPr>
          <a:xfrm>
            <a:off x="5499191" y="4509316"/>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9E1735C4-8804-4080-A633-E8ACBBE6A822}"/>
                  </a:ext>
                </a:extLst>
              </p:cNvPr>
              <p:cNvSpPr txBox="1"/>
              <p:nvPr/>
            </p:nvSpPr>
            <p:spPr>
              <a:xfrm>
                <a:off x="5596659" y="4174349"/>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9" name="文本框 258">
                <a:extLst>
                  <a:ext uri="{FF2B5EF4-FFF2-40B4-BE49-F238E27FC236}">
                    <a16:creationId xmlns:a16="http://schemas.microsoft.com/office/drawing/2014/main" id="{9E1735C4-8804-4080-A633-E8ACBBE6A822}"/>
                  </a:ext>
                </a:extLst>
              </p:cNvPr>
              <p:cNvSpPr txBox="1">
                <a:spLocks noRot="1" noChangeAspect="1" noMove="1" noResize="1" noEditPoints="1" noAdjustHandles="1" noChangeArrowheads="1" noChangeShapeType="1" noTextEdit="1"/>
              </p:cNvSpPr>
              <p:nvPr/>
            </p:nvSpPr>
            <p:spPr>
              <a:xfrm>
                <a:off x="5596659" y="4174349"/>
                <a:ext cx="1279036" cy="369332"/>
              </a:xfrm>
              <a:prstGeom prst="rect">
                <a:avLst/>
              </a:prstGeom>
              <a:blipFill>
                <a:blip r:embed="rId11"/>
                <a:stretch>
                  <a:fillRect/>
                </a:stretch>
              </a:blipFill>
            </p:spPr>
            <p:txBody>
              <a:bodyPr/>
              <a:lstStyle/>
              <a:p>
                <a:r>
                  <a:rPr lang="zh-CN" altLang="en-US">
                    <a:noFill/>
                  </a:rPr>
                  <a:t> </a:t>
                </a:r>
              </a:p>
            </p:txBody>
          </p:sp>
        </mc:Fallback>
      </mc:AlternateContent>
      <p:cxnSp>
        <p:nvCxnSpPr>
          <p:cNvPr id="260" name="直接箭头连接符 259">
            <a:extLst>
              <a:ext uri="{FF2B5EF4-FFF2-40B4-BE49-F238E27FC236}">
                <a16:creationId xmlns:a16="http://schemas.microsoft.com/office/drawing/2014/main" id="{9C32DC0E-2053-4739-99B9-223E0CD7FF92}"/>
              </a:ext>
            </a:extLst>
          </p:cNvPr>
          <p:cNvCxnSpPr>
            <a:cxnSpLocks/>
            <a:stCxn id="250" idx="2"/>
            <a:endCxn id="269" idx="0"/>
          </p:cNvCxnSpPr>
          <p:nvPr/>
        </p:nvCxnSpPr>
        <p:spPr>
          <a:xfrm flipH="1">
            <a:off x="2705062" y="5024054"/>
            <a:ext cx="956" cy="6740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2" name="直接箭头连接符 261">
            <a:extLst>
              <a:ext uri="{FF2B5EF4-FFF2-40B4-BE49-F238E27FC236}">
                <a16:creationId xmlns:a16="http://schemas.microsoft.com/office/drawing/2014/main" id="{1E73AB4E-851B-4350-B2A9-13CA649ABBE6}"/>
              </a:ext>
            </a:extLst>
          </p:cNvPr>
          <p:cNvCxnSpPr>
            <a:cxnSpLocks/>
            <a:stCxn id="251" idx="2"/>
            <a:endCxn id="276" idx="0"/>
          </p:cNvCxnSpPr>
          <p:nvPr/>
        </p:nvCxnSpPr>
        <p:spPr>
          <a:xfrm>
            <a:off x="4200422" y="5024054"/>
            <a:ext cx="6178" cy="670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4" name="直接箭头连接符 263">
            <a:extLst>
              <a:ext uri="{FF2B5EF4-FFF2-40B4-BE49-F238E27FC236}">
                <a16:creationId xmlns:a16="http://schemas.microsoft.com/office/drawing/2014/main" id="{DBAB480A-96AE-4FFB-9BC1-076502185A65}"/>
              </a:ext>
            </a:extLst>
          </p:cNvPr>
          <p:cNvCxnSpPr>
            <a:cxnSpLocks/>
            <a:stCxn id="257" idx="2"/>
            <a:endCxn id="277" idx="0"/>
          </p:cNvCxnSpPr>
          <p:nvPr/>
        </p:nvCxnSpPr>
        <p:spPr>
          <a:xfrm>
            <a:off x="6260423" y="5021887"/>
            <a:ext cx="17481" cy="6765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9" name="矩形 268">
                <a:extLst>
                  <a:ext uri="{FF2B5EF4-FFF2-40B4-BE49-F238E27FC236}">
                    <a16:creationId xmlns:a16="http://schemas.microsoft.com/office/drawing/2014/main" id="{91CE2E41-4D19-4FB5-AEC9-0C55596E862D}"/>
                  </a:ext>
                </a:extLst>
              </p:cNvPr>
              <p:cNvSpPr/>
              <p:nvPr/>
            </p:nvSpPr>
            <p:spPr>
              <a:xfrm>
                <a:off x="2336070" y="5698103"/>
                <a:ext cx="737984"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dirty="0">
                  <a:solidFill>
                    <a:schemeClr val="bg1"/>
                  </a:solidFill>
                </a:endParaRPr>
              </a:p>
            </p:txBody>
          </p:sp>
        </mc:Choice>
        <mc:Fallback xmlns="">
          <p:sp>
            <p:nvSpPr>
              <p:cNvPr id="269" name="矩形 268">
                <a:extLst>
                  <a:ext uri="{FF2B5EF4-FFF2-40B4-BE49-F238E27FC236}">
                    <a16:creationId xmlns:a16="http://schemas.microsoft.com/office/drawing/2014/main" id="{91CE2E41-4D19-4FB5-AEC9-0C55596E862D}"/>
                  </a:ext>
                </a:extLst>
              </p:cNvPr>
              <p:cNvSpPr>
                <a:spLocks noRot="1" noChangeAspect="1" noMove="1" noResize="1" noEditPoints="1" noAdjustHandles="1" noChangeArrowheads="1" noChangeShapeType="1" noTextEdit="1"/>
              </p:cNvSpPr>
              <p:nvPr/>
            </p:nvSpPr>
            <p:spPr>
              <a:xfrm>
                <a:off x="2336070" y="5698103"/>
                <a:ext cx="737984" cy="395866"/>
              </a:xfrm>
              <a:prstGeom prst="rect">
                <a:avLst/>
              </a:prstGeom>
              <a:blipFill>
                <a:blip r:embed="rId15"/>
                <a:stretch>
                  <a:fillRect b="-8955"/>
                </a:stretch>
              </a:blipFill>
              <a:ln>
                <a:headEnd type="none" w="med" len="med"/>
                <a:tailEnd type="none" w="med" len="med"/>
              </a:ln>
            </p:spPr>
            <p:txBody>
              <a:bodyPr/>
              <a:lstStyle/>
              <a:p>
                <a:r>
                  <a:rPr lang="zh-CN" altLang="en-US">
                    <a:noFill/>
                  </a:rPr>
                  <a:t> </a:t>
                </a:r>
              </a:p>
            </p:txBody>
          </p:sp>
        </mc:Fallback>
      </mc:AlternateContent>
      <p:cxnSp>
        <p:nvCxnSpPr>
          <p:cNvPr id="270" name="直接箭头连接符 269">
            <a:extLst>
              <a:ext uri="{FF2B5EF4-FFF2-40B4-BE49-F238E27FC236}">
                <a16:creationId xmlns:a16="http://schemas.microsoft.com/office/drawing/2014/main" id="{5261C443-E182-4C08-BDB9-652A17944EC4}"/>
              </a:ext>
            </a:extLst>
          </p:cNvPr>
          <p:cNvCxnSpPr>
            <a:cxnSpLocks/>
            <a:endCxn id="269" idx="1"/>
          </p:cNvCxnSpPr>
          <p:nvPr/>
        </p:nvCxnSpPr>
        <p:spPr>
          <a:xfrm>
            <a:off x="1415054" y="5896036"/>
            <a:ext cx="92101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1" name="直接连接符 270">
            <a:extLst>
              <a:ext uri="{FF2B5EF4-FFF2-40B4-BE49-F238E27FC236}">
                <a16:creationId xmlns:a16="http://schemas.microsoft.com/office/drawing/2014/main" id="{2ADDC384-7315-4103-B1F4-8D8993306CB9}"/>
              </a:ext>
            </a:extLst>
          </p:cNvPr>
          <p:cNvCxnSpPr>
            <a:cxnSpLocks/>
          </p:cNvCxnSpPr>
          <p:nvPr/>
        </p:nvCxnSpPr>
        <p:spPr>
          <a:xfrm>
            <a:off x="1758737" y="5835974"/>
            <a:ext cx="76631" cy="14553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2" name="文本框 271">
                <a:extLst>
                  <a:ext uri="{FF2B5EF4-FFF2-40B4-BE49-F238E27FC236}">
                    <a16:creationId xmlns:a16="http://schemas.microsoft.com/office/drawing/2014/main" id="{91D1C033-48B6-426D-91A6-AC6726B59AD9}"/>
                  </a:ext>
                </a:extLst>
              </p:cNvPr>
              <p:cNvSpPr txBox="1"/>
              <p:nvPr/>
            </p:nvSpPr>
            <p:spPr>
              <a:xfrm>
                <a:off x="461586" y="5705687"/>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cs typeface="Times New Roman" panose="02020603050405020304" pitchFamily="18" charset="0"/>
                        </a:rPr>
                        <m:t>𝑎</m:t>
                      </m:r>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𝑏</m:t>
                      </m:r>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𝑐</m:t>
                      </m:r>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𝑑</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72" name="文本框 271">
                <a:extLst>
                  <a:ext uri="{FF2B5EF4-FFF2-40B4-BE49-F238E27FC236}">
                    <a16:creationId xmlns:a16="http://schemas.microsoft.com/office/drawing/2014/main" id="{91D1C033-48B6-426D-91A6-AC6726B59AD9}"/>
                  </a:ext>
                </a:extLst>
              </p:cNvPr>
              <p:cNvSpPr txBox="1">
                <a:spLocks noRot="1" noChangeAspect="1" noMove="1" noResize="1" noEditPoints="1" noAdjustHandles="1" noChangeArrowheads="1" noChangeShapeType="1" noTextEdit="1"/>
              </p:cNvSpPr>
              <p:nvPr/>
            </p:nvSpPr>
            <p:spPr>
              <a:xfrm>
                <a:off x="461586" y="5705687"/>
                <a:ext cx="686503" cy="369332"/>
              </a:xfrm>
              <a:prstGeom prst="rect">
                <a:avLst/>
              </a:prstGeom>
              <a:blipFill>
                <a:blip r:embed="rId16"/>
                <a:stretch>
                  <a:fillRect r="-3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3" name="文本框 272">
                <a:extLst>
                  <a:ext uri="{FF2B5EF4-FFF2-40B4-BE49-F238E27FC236}">
                    <a16:creationId xmlns:a16="http://schemas.microsoft.com/office/drawing/2014/main" id="{7AFE6AF4-3D42-45AD-9160-83D2D134EDD6}"/>
                  </a:ext>
                </a:extLst>
              </p:cNvPr>
              <p:cNvSpPr txBox="1"/>
              <p:nvPr/>
            </p:nvSpPr>
            <p:spPr>
              <a:xfrm>
                <a:off x="1423547" y="5498150"/>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128</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73" name="文本框 272">
                <a:extLst>
                  <a:ext uri="{FF2B5EF4-FFF2-40B4-BE49-F238E27FC236}">
                    <a16:creationId xmlns:a16="http://schemas.microsoft.com/office/drawing/2014/main" id="{7AFE6AF4-3D42-45AD-9160-83D2D134EDD6}"/>
                  </a:ext>
                </a:extLst>
              </p:cNvPr>
              <p:cNvSpPr txBox="1">
                <a:spLocks noRot="1" noChangeAspect="1" noMove="1" noResize="1" noEditPoints="1" noAdjustHandles="1" noChangeArrowheads="1" noChangeShapeType="1" noTextEdit="1"/>
              </p:cNvSpPr>
              <p:nvPr/>
            </p:nvSpPr>
            <p:spPr>
              <a:xfrm>
                <a:off x="1423547" y="5498150"/>
                <a:ext cx="686503" cy="338554"/>
              </a:xfrm>
              <a:prstGeom prst="rect">
                <a:avLst/>
              </a:prstGeom>
              <a:blipFill>
                <a:blip r:embed="rId17"/>
                <a:stretch>
                  <a:fillRect/>
                </a:stretch>
              </a:blipFill>
            </p:spPr>
            <p:txBody>
              <a:bodyPr/>
              <a:lstStyle/>
              <a:p>
                <a:r>
                  <a:rPr lang="zh-CN" altLang="en-US">
                    <a:noFill/>
                  </a:rPr>
                  <a:t> </a:t>
                </a:r>
              </a:p>
            </p:txBody>
          </p:sp>
        </mc:Fallback>
      </mc:AlternateContent>
      <p:cxnSp>
        <p:nvCxnSpPr>
          <p:cNvPr id="274" name="直接箭头连接符 273">
            <a:extLst>
              <a:ext uri="{FF2B5EF4-FFF2-40B4-BE49-F238E27FC236}">
                <a16:creationId xmlns:a16="http://schemas.microsoft.com/office/drawing/2014/main" id="{08CBF504-FA9E-4C94-8CC6-AD0201286B8E}"/>
              </a:ext>
            </a:extLst>
          </p:cNvPr>
          <p:cNvCxnSpPr>
            <a:cxnSpLocks/>
            <a:stCxn id="269" idx="3"/>
            <a:endCxn id="276" idx="1"/>
          </p:cNvCxnSpPr>
          <p:nvPr/>
        </p:nvCxnSpPr>
        <p:spPr>
          <a:xfrm flipV="1">
            <a:off x="3074054" y="5892060"/>
            <a:ext cx="774682"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5" name="直接连接符 274">
            <a:extLst>
              <a:ext uri="{FF2B5EF4-FFF2-40B4-BE49-F238E27FC236}">
                <a16:creationId xmlns:a16="http://schemas.microsoft.com/office/drawing/2014/main" id="{2F895FE4-3AA6-4BB7-B637-496EE1E4FC00}"/>
              </a:ext>
            </a:extLst>
          </p:cNvPr>
          <p:cNvCxnSpPr>
            <a:cxnSpLocks/>
          </p:cNvCxnSpPr>
          <p:nvPr/>
        </p:nvCxnSpPr>
        <p:spPr>
          <a:xfrm>
            <a:off x="3433859" y="5835976"/>
            <a:ext cx="104064" cy="145528"/>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6" name="矩形 275">
                <a:extLst>
                  <a:ext uri="{FF2B5EF4-FFF2-40B4-BE49-F238E27FC236}">
                    <a16:creationId xmlns:a16="http://schemas.microsoft.com/office/drawing/2014/main" id="{8B4894C7-0240-4A0B-B0CF-BC08315A4B49}"/>
                  </a:ext>
                </a:extLst>
              </p:cNvPr>
              <p:cNvSpPr/>
              <p:nvPr/>
            </p:nvSpPr>
            <p:spPr>
              <a:xfrm>
                <a:off x="3848736" y="5694127"/>
                <a:ext cx="715728"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i="1" dirty="0">
                  <a:solidFill>
                    <a:schemeClr val="bg1"/>
                  </a:solidFill>
                </a:endParaRPr>
              </a:p>
            </p:txBody>
          </p:sp>
        </mc:Choice>
        <mc:Fallback xmlns="">
          <p:sp>
            <p:nvSpPr>
              <p:cNvPr id="276" name="矩形 275">
                <a:extLst>
                  <a:ext uri="{FF2B5EF4-FFF2-40B4-BE49-F238E27FC236}">
                    <a16:creationId xmlns:a16="http://schemas.microsoft.com/office/drawing/2014/main" id="{8B4894C7-0240-4A0B-B0CF-BC08315A4B49}"/>
                  </a:ext>
                </a:extLst>
              </p:cNvPr>
              <p:cNvSpPr>
                <a:spLocks noRot="1" noChangeAspect="1" noMove="1" noResize="1" noEditPoints="1" noAdjustHandles="1" noChangeArrowheads="1" noChangeShapeType="1" noTextEdit="1"/>
              </p:cNvSpPr>
              <p:nvPr/>
            </p:nvSpPr>
            <p:spPr>
              <a:xfrm>
                <a:off x="3848736" y="5694127"/>
                <a:ext cx="715728" cy="395866"/>
              </a:xfrm>
              <a:prstGeom prst="rect">
                <a:avLst/>
              </a:prstGeom>
              <a:blipFill>
                <a:blip r:embed="rId18"/>
                <a:stretch>
                  <a:fillRect b="-8955"/>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7" name="矩形 276">
                <a:extLst>
                  <a:ext uri="{FF2B5EF4-FFF2-40B4-BE49-F238E27FC236}">
                    <a16:creationId xmlns:a16="http://schemas.microsoft.com/office/drawing/2014/main" id="{9EE734CC-72AE-4AFC-911C-06F6058615E4}"/>
                  </a:ext>
                </a:extLst>
              </p:cNvPr>
              <p:cNvSpPr/>
              <p:nvPr/>
            </p:nvSpPr>
            <p:spPr>
              <a:xfrm>
                <a:off x="5924369" y="5698422"/>
                <a:ext cx="707069"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i="1" dirty="0">
                  <a:solidFill>
                    <a:schemeClr val="bg1"/>
                  </a:solidFill>
                </a:endParaRPr>
              </a:p>
            </p:txBody>
          </p:sp>
        </mc:Choice>
        <mc:Fallback xmlns="">
          <p:sp>
            <p:nvSpPr>
              <p:cNvPr id="277" name="矩形 276">
                <a:extLst>
                  <a:ext uri="{FF2B5EF4-FFF2-40B4-BE49-F238E27FC236}">
                    <a16:creationId xmlns:a16="http://schemas.microsoft.com/office/drawing/2014/main" id="{9EE734CC-72AE-4AFC-911C-06F6058615E4}"/>
                  </a:ext>
                </a:extLst>
              </p:cNvPr>
              <p:cNvSpPr>
                <a:spLocks noRot="1" noChangeAspect="1" noMove="1" noResize="1" noEditPoints="1" noAdjustHandles="1" noChangeArrowheads="1" noChangeShapeType="1" noTextEdit="1"/>
              </p:cNvSpPr>
              <p:nvPr/>
            </p:nvSpPr>
            <p:spPr>
              <a:xfrm>
                <a:off x="5924369" y="5698422"/>
                <a:ext cx="707069" cy="395866"/>
              </a:xfrm>
              <a:prstGeom prst="rect">
                <a:avLst/>
              </a:prstGeom>
              <a:blipFill>
                <a:blip r:embed="rId19"/>
                <a:stretch>
                  <a:fillRect b="-8955"/>
                </a:stretch>
              </a:blipFill>
              <a:ln>
                <a:headEnd type="none" w="med" len="med"/>
                <a:tailEnd type="none" w="med" len="med"/>
              </a:ln>
            </p:spPr>
            <p:txBody>
              <a:bodyPr/>
              <a:lstStyle/>
              <a:p>
                <a:r>
                  <a:rPr lang="zh-CN" altLang="en-US">
                    <a:noFill/>
                  </a:rPr>
                  <a:t> </a:t>
                </a:r>
              </a:p>
            </p:txBody>
          </p:sp>
        </mc:Fallback>
      </mc:AlternateContent>
      <p:cxnSp>
        <p:nvCxnSpPr>
          <p:cNvPr id="278" name="直接箭头连接符 277">
            <a:extLst>
              <a:ext uri="{FF2B5EF4-FFF2-40B4-BE49-F238E27FC236}">
                <a16:creationId xmlns:a16="http://schemas.microsoft.com/office/drawing/2014/main" id="{4138AB7B-C7CC-48E9-8498-FFB312EB5B92}"/>
              </a:ext>
            </a:extLst>
          </p:cNvPr>
          <p:cNvCxnSpPr>
            <a:cxnSpLocks/>
          </p:cNvCxnSpPr>
          <p:nvPr/>
        </p:nvCxnSpPr>
        <p:spPr>
          <a:xfrm flipV="1">
            <a:off x="5234235" y="5882128"/>
            <a:ext cx="651085"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9" name="直接连接符 278">
            <a:extLst>
              <a:ext uri="{FF2B5EF4-FFF2-40B4-BE49-F238E27FC236}">
                <a16:creationId xmlns:a16="http://schemas.microsoft.com/office/drawing/2014/main" id="{3246AEB4-A245-4B7D-9882-C5686D52F44B}"/>
              </a:ext>
            </a:extLst>
          </p:cNvPr>
          <p:cNvCxnSpPr>
            <a:cxnSpLocks/>
          </p:cNvCxnSpPr>
          <p:nvPr/>
        </p:nvCxnSpPr>
        <p:spPr>
          <a:xfrm>
            <a:off x="5429210" y="5833118"/>
            <a:ext cx="89564" cy="90094"/>
          </a:xfrm>
          <a:prstGeom prst="line">
            <a:avLst/>
          </a:prstGeom>
        </p:spPr>
        <p:style>
          <a:lnRef idx="2">
            <a:schemeClr val="dk1"/>
          </a:lnRef>
          <a:fillRef idx="0">
            <a:schemeClr val="dk1"/>
          </a:fillRef>
          <a:effectRef idx="1">
            <a:schemeClr val="dk1"/>
          </a:effectRef>
          <a:fontRef idx="minor">
            <a:schemeClr val="tx1"/>
          </a:fontRef>
        </p:style>
      </p:cxnSp>
      <p:sp>
        <p:nvSpPr>
          <p:cNvPr id="280" name="矩形 279">
            <a:extLst>
              <a:ext uri="{FF2B5EF4-FFF2-40B4-BE49-F238E27FC236}">
                <a16:creationId xmlns:a16="http://schemas.microsoft.com/office/drawing/2014/main" id="{96D9D4E2-ADFC-41C7-8166-31DB4EBFECBC}"/>
              </a:ext>
            </a:extLst>
          </p:cNvPr>
          <p:cNvSpPr/>
          <p:nvPr/>
        </p:nvSpPr>
        <p:spPr>
          <a:xfrm>
            <a:off x="4683700" y="5678626"/>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1" name="文本框 280">
                <a:extLst>
                  <a:ext uri="{FF2B5EF4-FFF2-40B4-BE49-F238E27FC236}">
                    <a16:creationId xmlns:a16="http://schemas.microsoft.com/office/drawing/2014/main" id="{87829160-04C3-40D3-85DA-04D1C5054445}"/>
                  </a:ext>
                </a:extLst>
              </p:cNvPr>
              <p:cNvSpPr txBox="1"/>
              <p:nvPr/>
            </p:nvSpPr>
            <p:spPr>
              <a:xfrm>
                <a:off x="3088453" y="5448011"/>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128</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1" name="文本框 280">
                <a:extLst>
                  <a:ext uri="{FF2B5EF4-FFF2-40B4-BE49-F238E27FC236}">
                    <a16:creationId xmlns:a16="http://schemas.microsoft.com/office/drawing/2014/main" id="{87829160-04C3-40D3-85DA-04D1C5054445}"/>
                  </a:ext>
                </a:extLst>
              </p:cNvPr>
              <p:cNvSpPr txBox="1">
                <a:spLocks noRot="1" noChangeAspect="1" noMove="1" noResize="1" noEditPoints="1" noAdjustHandles="1" noChangeArrowheads="1" noChangeShapeType="1" noTextEdit="1"/>
              </p:cNvSpPr>
              <p:nvPr/>
            </p:nvSpPr>
            <p:spPr>
              <a:xfrm>
                <a:off x="3088453" y="5448011"/>
                <a:ext cx="686503" cy="338554"/>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2" name="文本框 281">
                <a:extLst>
                  <a:ext uri="{FF2B5EF4-FFF2-40B4-BE49-F238E27FC236}">
                    <a16:creationId xmlns:a16="http://schemas.microsoft.com/office/drawing/2014/main" id="{E60A11FF-3BFE-4140-9F25-2AD798CA95FF}"/>
                  </a:ext>
                </a:extLst>
              </p:cNvPr>
              <p:cNvSpPr txBox="1"/>
              <p:nvPr/>
            </p:nvSpPr>
            <p:spPr>
              <a:xfrm>
                <a:off x="5125333" y="5548055"/>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128</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2" name="文本框 281">
                <a:extLst>
                  <a:ext uri="{FF2B5EF4-FFF2-40B4-BE49-F238E27FC236}">
                    <a16:creationId xmlns:a16="http://schemas.microsoft.com/office/drawing/2014/main" id="{E60A11FF-3BFE-4140-9F25-2AD798CA95FF}"/>
                  </a:ext>
                </a:extLst>
              </p:cNvPr>
              <p:cNvSpPr txBox="1">
                <a:spLocks noRot="1" noChangeAspect="1" noMove="1" noResize="1" noEditPoints="1" noAdjustHandles="1" noChangeArrowheads="1" noChangeShapeType="1" noTextEdit="1"/>
              </p:cNvSpPr>
              <p:nvPr/>
            </p:nvSpPr>
            <p:spPr>
              <a:xfrm>
                <a:off x="5125333" y="5548055"/>
                <a:ext cx="686503" cy="338554"/>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 name="文本框 282">
                <a:extLst>
                  <a:ext uri="{FF2B5EF4-FFF2-40B4-BE49-F238E27FC236}">
                    <a16:creationId xmlns:a16="http://schemas.microsoft.com/office/drawing/2014/main" id="{E651828A-F8DA-4120-B564-F6E92AF9B187}"/>
                  </a:ext>
                </a:extLst>
              </p:cNvPr>
              <p:cNvSpPr txBox="1"/>
              <p:nvPr/>
            </p:nvSpPr>
            <p:spPr>
              <a:xfrm>
                <a:off x="3110037" y="6036796"/>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dirty="0" smtClean="0">
                              <a:latin typeface="Cambria Math" panose="02040503050406030204" pitchFamily="18" charset="0"/>
                            </a:rPr>
                            <m:t>C</m:t>
                          </m:r>
                          <m:r>
                            <m:rPr>
                              <m:sty m:val="p"/>
                            </m:rPr>
                            <a:rPr lang="en-US" altLang="zh-CN" b="0" i="0" dirty="0" smtClean="0">
                              <a:latin typeface="Cambria Math" panose="02040503050406030204" pitchFamily="18" charset="0"/>
                            </a:rPr>
                            <m:t>V</m:t>
                          </m:r>
                        </m:e>
                        <m:sub>
                          <m:r>
                            <a:rPr lang="en-US" altLang="zh-CN" b="0" i="0" dirty="0" smtClean="0">
                              <a:latin typeface="Cambria Math" panose="02040503050406030204" pitchFamily="18" charset="0"/>
                            </a:rPr>
                            <m:t>1</m:t>
                          </m:r>
                        </m:sub>
                      </m:sSub>
                    </m:oMath>
                  </m:oMathPara>
                </a14:m>
                <a:endParaRPr lang="en-US" altLang="zh-CN" b="0" dirty="0">
                  <a:latin typeface="Times New Roman" panose="02020603050405020304" pitchFamily="18" charset="0"/>
                </a:endParaRPr>
              </a:p>
            </p:txBody>
          </p:sp>
        </mc:Choice>
        <mc:Fallback xmlns="">
          <p:sp>
            <p:nvSpPr>
              <p:cNvPr id="283" name="文本框 282">
                <a:extLst>
                  <a:ext uri="{FF2B5EF4-FFF2-40B4-BE49-F238E27FC236}">
                    <a16:creationId xmlns:a16="http://schemas.microsoft.com/office/drawing/2014/main" id="{E651828A-F8DA-4120-B564-F6E92AF9B187}"/>
                  </a:ext>
                </a:extLst>
              </p:cNvPr>
              <p:cNvSpPr txBox="1">
                <a:spLocks noRot="1" noChangeAspect="1" noMove="1" noResize="1" noEditPoints="1" noAdjustHandles="1" noChangeArrowheads="1" noChangeShapeType="1" noTextEdit="1"/>
              </p:cNvSpPr>
              <p:nvPr/>
            </p:nvSpPr>
            <p:spPr>
              <a:xfrm>
                <a:off x="3110037" y="6036796"/>
                <a:ext cx="686503"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4" name="文本框 283">
                <a:extLst>
                  <a:ext uri="{FF2B5EF4-FFF2-40B4-BE49-F238E27FC236}">
                    <a16:creationId xmlns:a16="http://schemas.microsoft.com/office/drawing/2014/main" id="{97B14BD5-7D25-4935-BE39-B62545D5EC76}"/>
                  </a:ext>
                </a:extLst>
              </p:cNvPr>
              <p:cNvSpPr txBox="1"/>
              <p:nvPr/>
            </p:nvSpPr>
            <p:spPr>
              <a:xfrm>
                <a:off x="5026202" y="6032463"/>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dirty="0" smtClean="0">
                              <a:latin typeface="Cambria Math" panose="02040503050406030204" pitchFamily="18" charset="0"/>
                            </a:rPr>
                            <m:t>C</m:t>
                          </m:r>
                          <m:r>
                            <m:rPr>
                              <m:sty m:val="p"/>
                            </m:rPr>
                            <a:rPr lang="en-US" altLang="zh-CN" b="0" i="0" dirty="0" smtClean="0">
                              <a:latin typeface="Cambria Math" panose="02040503050406030204" pitchFamily="18" charset="0"/>
                            </a:rPr>
                            <m:t>V</m:t>
                          </m:r>
                        </m:e>
                        <m:sub>
                          <m:r>
                            <m:rPr>
                              <m:sty m:val="p"/>
                            </m:rPr>
                            <a:rPr lang="en-US" altLang="zh-CN" b="0" i="0" dirty="0" smtClean="0">
                              <a:latin typeface="Cambria Math" panose="02040503050406030204" pitchFamily="18" charset="0"/>
                            </a:rPr>
                            <m:t>N</m:t>
                          </m:r>
                          <m:r>
                            <a:rPr lang="en-US" altLang="zh-CN" b="0" i="0" dirty="0" smtClean="0">
                              <a:latin typeface="Cambria Math" panose="02040503050406030204" pitchFamily="18" charset="0"/>
                            </a:rPr>
                            <m:t>−1</m:t>
                          </m:r>
                        </m:sub>
                      </m:sSub>
                    </m:oMath>
                  </m:oMathPara>
                </a14:m>
                <a:endParaRPr lang="en-US" altLang="zh-CN" b="0" dirty="0">
                  <a:latin typeface="Times New Roman" panose="02020603050405020304" pitchFamily="18" charset="0"/>
                </a:endParaRPr>
              </a:p>
            </p:txBody>
          </p:sp>
        </mc:Choice>
        <mc:Fallback xmlns="">
          <p:sp>
            <p:nvSpPr>
              <p:cNvPr id="284" name="文本框 283">
                <a:extLst>
                  <a:ext uri="{FF2B5EF4-FFF2-40B4-BE49-F238E27FC236}">
                    <a16:creationId xmlns:a16="http://schemas.microsoft.com/office/drawing/2014/main" id="{97B14BD5-7D25-4935-BE39-B62545D5EC76}"/>
                  </a:ext>
                </a:extLst>
              </p:cNvPr>
              <p:cNvSpPr txBox="1">
                <a:spLocks noRot="1" noChangeAspect="1" noMove="1" noResize="1" noEditPoints="1" noAdjustHandles="1" noChangeArrowheads="1" noChangeShapeType="1" noTextEdit="1"/>
              </p:cNvSpPr>
              <p:nvPr/>
            </p:nvSpPr>
            <p:spPr>
              <a:xfrm>
                <a:off x="5026202" y="6032463"/>
                <a:ext cx="686503" cy="369332"/>
              </a:xfrm>
              <a:prstGeom prst="rect">
                <a:avLst/>
              </a:prstGeom>
              <a:blipFill>
                <a:blip r:embed="rId23"/>
                <a:stretch>
                  <a:fillRect r="-8929" b="-1667"/>
                </a:stretch>
              </a:blipFill>
            </p:spPr>
            <p:txBody>
              <a:bodyPr/>
              <a:lstStyle/>
              <a:p>
                <a:r>
                  <a:rPr lang="zh-CN" altLang="en-US">
                    <a:noFill/>
                  </a:rPr>
                  <a:t> </a:t>
                </a:r>
              </a:p>
            </p:txBody>
          </p:sp>
        </mc:Fallback>
      </mc:AlternateContent>
      <p:cxnSp>
        <p:nvCxnSpPr>
          <p:cNvPr id="285" name="直接连接符 284">
            <a:extLst>
              <a:ext uri="{FF2B5EF4-FFF2-40B4-BE49-F238E27FC236}">
                <a16:creationId xmlns:a16="http://schemas.microsoft.com/office/drawing/2014/main" id="{37C62531-2B89-4890-B6B8-9BE3C725C21C}"/>
              </a:ext>
            </a:extLst>
          </p:cNvPr>
          <p:cNvCxnSpPr>
            <a:cxnSpLocks/>
            <a:endCxn id="286" idx="2"/>
          </p:cNvCxnSpPr>
          <p:nvPr/>
        </p:nvCxnSpPr>
        <p:spPr>
          <a:xfrm>
            <a:off x="6946305" y="5828585"/>
            <a:ext cx="80162" cy="45285"/>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6" name="文本框 285">
                <a:extLst>
                  <a:ext uri="{FF2B5EF4-FFF2-40B4-BE49-F238E27FC236}">
                    <a16:creationId xmlns:a16="http://schemas.microsoft.com/office/drawing/2014/main" id="{A9732EC4-CE93-4FC5-807A-32EC869951E6}"/>
                  </a:ext>
                </a:extLst>
              </p:cNvPr>
              <p:cNvSpPr txBox="1"/>
              <p:nvPr/>
            </p:nvSpPr>
            <p:spPr>
              <a:xfrm>
                <a:off x="6683215" y="5535316"/>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128</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6" name="文本框 285">
                <a:extLst>
                  <a:ext uri="{FF2B5EF4-FFF2-40B4-BE49-F238E27FC236}">
                    <a16:creationId xmlns:a16="http://schemas.microsoft.com/office/drawing/2014/main" id="{A9732EC4-CE93-4FC5-807A-32EC869951E6}"/>
                  </a:ext>
                </a:extLst>
              </p:cNvPr>
              <p:cNvSpPr txBox="1">
                <a:spLocks noRot="1" noChangeAspect="1" noMove="1" noResize="1" noEditPoints="1" noAdjustHandles="1" noChangeArrowheads="1" noChangeShapeType="1" noTextEdit="1"/>
              </p:cNvSpPr>
              <p:nvPr/>
            </p:nvSpPr>
            <p:spPr>
              <a:xfrm>
                <a:off x="6683215" y="5535316"/>
                <a:ext cx="686503" cy="338554"/>
              </a:xfrm>
              <a:prstGeom prst="rect">
                <a:avLst/>
              </a:prstGeom>
              <a:blipFill>
                <a:blip r:embed="rId24"/>
                <a:stretch>
                  <a:fillRect/>
                </a:stretch>
              </a:blipFill>
            </p:spPr>
            <p:txBody>
              <a:bodyPr/>
              <a:lstStyle/>
              <a:p>
                <a:r>
                  <a:rPr lang="zh-CN" altLang="en-US">
                    <a:noFill/>
                  </a:rPr>
                  <a:t> </a:t>
                </a:r>
              </a:p>
            </p:txBody>
          </p:sp>
        </mc:Fallback>
      </mc:AlternateContent>
      <p:sp>
        <p:nvSpPr>
          <p:cNvPr id="287" name="文本框 286">
            <a:extLst>
              <a:ext uri="{FF2B5EF4-FFF2-40B4-BE49-F238E27FC236}">
                <a16:creationId xmlns:a16="http://schemas.microsoft.com/office/drawing/2014/main" id="{7E9C5AA6-D016-42A0-9869-6E1965A13639}"/>
              </a:ext>
            </a:extLst>
          </p:cNvPr>
          <p:cNvSpPr txBox="1"/>
          <p:nvPr/>
        </p:nvSpPr>
        <p:spPr>
          <a:xfrm>
            <a:off x="7331315" y="5695390"/>
            <a:ext cx="1542873" cy="38297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MD5 </a:t>
            </a:r>
            <a:r>
              <a:rPr lang="zh-CN" altLang="en-US" dirty="0">
                <a:latin typeface="Times New Roman" panose="02020603050405020304" pitchFamily="18" charset="0"/>
                <a:cs typeface="Times New Roman" panose="02020603050405020304" pitchFamily="18" charset="0"/>
              </a:rPr>
              <a:t>值</a:t>
            </a:r>
          </a:p>
        </p:txBody>
      </p:sp>
      <p:cxnSp>
        <p:nvCxnSpPr>
          <p:cNvPr id="288" name="直接箭头连接符 287">
            <a:extLst>
              <a:ext uri="{FF2B5EF4-FFF2-40B4-BE49-F238E27FC236}">
                <a16:creationId xmlns:a16="http://schemas.microsoft.com/office/drawing/2014/main" id="{DCEAA8D7-ADC3-4881-B5CC-5D4D1C148BCA}"/>
              </a:ext>
            </a:extLst>
          </p:cNvPr>
          <p:cNvCxnSpPr>
            <a:cxnSpLocks/>
          </p:cNvCxnSpPr>
          <p:nvPr/>
        </p:nvCxnSpPr>
        <p:spPr>
          <a:xfrm flipV="1">
            <a:off x="6705896" y="5869894"/>
            <a:ext cx="602738"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9" name="直接箭头连接符 288">
            <a:extLst>
              <a:ext uri="{FF2B5EF4-FFF2-40B4-BE49-F238E27FC236}">
                <a16:creationId xmlns:a16="http://schemas.microsoft.com/office/drawing/2014/main" id="{D5F12CDC-FF9E-4C51-9E72-41725622EC61}"/>
              </a:ext>
            </a:extLst>
          </p:cNvPr>
          <p:cNvCxnSpPr>
            <a:cxnSpLocks/>
          </p:cNvCxnSpPr>
          <p:nvPr/>
        </p:nvCxnSpPr>
        <p:spPr>
          <a:xfrm>
            <a:off x="1792758" y="3380922"/>
            <a:ext cx="520083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90" name="文本框 289">
                <a:extLst>
                  <a:ext uri="{FF2B5EF4-FFF2-40B4-BE49-F238E27FC236}">
                    <a16:creationId xmlns:a16="http://schemas.microsoft.com/office/drawing/2014/main" id="{0A4A49C0-46CB-450C-A0F7-915A05D2F003}"/>
                  </a:ext>
                </a:extLst>
              </p:cNvPr>
              <p:cNvSpPr txBox="1"/>
              <p:nvPr/>
            </p:nvSpPr>
            <p:spPr>
              <a:xfrm>
                <a:off x="3697970" y="3003308"/>
                <a:ext cx="1439291" cy="369332"/>
              </a:xfrm>
              <a:prstGeom prst="rect">
                <a:avLst/>
              </a:prstGeom>
              <a:noFill/>
            </p:spPr>
            <p:txBody>
              <a:bodyPr wrap="none" rtlCol="0">
                <a:spAutoFit/>
              </a:bodyPr>
              <a:lstStyle/>
              <a:p>
                <a14:m>
                  <m:oMath xmlns:m="http://schemas.openxmlformats.org/officeDocument/2006/math">
                    <m:r>
                      <m:rPr>
                        <m:sty m:val="p"/>
                      </m:rPr>
                      <a:rPr lang="en-US" altLang="zh-CN" i="0" dirty="0" smtClean="0">
                        <a:latin typeface="Cambria Math" panose="02040503050406030204" pitchFamily="18" charset="0"/>
                      </a:rPr>
                      <m:t>N</m:t>
                    </m:r>
                    <m:r>
                      <a:rPr lang="en-US" altLang="zh-CN" i="0" dirty="0" smtClean="0">
                        <a:latin typeface="Cambria Math" panose="02040503050406030204" pitchFamily="18" charset="0"/>
                      </a:rPr>
                      <m:t>∗512</m:t>
                    </m:r>
                  </m:oMath>
                </a14:m>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bits</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90" name="文本框 289">
                <a:extLst>
                  <a:ext uri="{FF2B5EF4-FFF2-40B4-BE49-F238E27FC236}">
                    <a16:creationId xmlns:a16="http://schemas.microsoft.com/office/drawing/2014/main" id="{0A4A49C0-46CB-450C-A0F7-915A05D2F003}"/>
                  </a:ext>
                </a:extLst>
              </p:cNvPr>
              <p:cNvSpPr txBox="1">
                <a:spLocks noRot="1" noChangeAspect="1" noMove="1" noResize="1" noEditPoints="1" noAdjustHandles="1" noChangeArrowheads="1" noChangeShapeType="1" noTextEdit="1"/>
              </p:cNvSpPr>
              <p:nvPr/>
            </p:nvSpPr>
            <p:spPr>
              <a:xfrm>
                <a:off x="3697970" y="3003308"/>
                <a:ext cx="1439291" cy="369332"/>
              </a:xfrm>
              <a:prstGeom prst="rect">
                <a:avLst/>
              </a:prstGeom>
              <a:blipFill>
                <a:blip r:embed="rId25"/>
                <a:stretch>
                  <a:fillRect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6846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51</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3.3 MD5 </a:t>
            </a:r>
            <a:r>
              <a:rPr lang="zh-CN" altLang="en-US" sz="2400" b="1" dirty="0">
                <a:solidFill>
                  <a:srgbClr val="FF0000"/>
                </a:solidFill>
                <a:latin typeface="Times New Roman" panose="02020603050405020304" pitchFamily="18" charset="0"/>
                <a:cs typeface="Times New Roman" panose="02020603050405020304" pitchFamily="18" charset="0"/>
              </a:rPr>
              <a:t>与 </a:t>
            </a:r>
            <a:r>
              <a:rPr lang="en-US" altLang="zh-CN" sz="2400" b="1" dirty="0">
                <a:solidFill>
                  <a:srgbClr val="FF0000"/>
                </a:solidFill>
                <a:latin typeface="Times New Roman" panose="02020603050405020304" pitchFamily="18" charset="0"/>
                <a:cs typeface="Times New Roman" panose="02020603050405020304" pitchFamily="18" charset="0"/>
              </a:rPr>
              <a:t>MD4 </a:t>
            </a:r>
            <a:r>
              <a:rPr lang="zh-CN" altLang="en-US" sz="2400" b="1" dirty="0">
                <a:solidFill>
                  <a:srgbClr val="FF0000"/>
                </a:solidFill>
                <a:latin typeface="Times New Roman" panose="02020603050405020304" pitchFamily="18" charset="0"/>
                <a:cs typeface="Times New Roman" panose="02020603050405020304" pitchFamily="18" charset="0"/>
              </a:rPr>
              <a:t>的构造差别</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C1FCDB2-5B04-098B-64DF-890E69C2B296}"/>
                  </a:ext>
                </a:extLst>
              </p:cNvPr>
              <p:cNvSpPr txBox="1"/>
              <p:nvPr/>
            </p:nvSpPr>
            <p:spPr>
              <a:xfrm>
                <a:off x="312517" y="1640536"/>
                <a:ext cx="8479945" cy="4502002"/>
              </a:xfrm>
              <a:prstGeom prst="rect">
                <a:avLst/>
              </a:prstGeom>
              <a:noFill/>
            </p:spPr>
            <p:txBody>
              <a:bodyPr wrap="square" rtlCol="0">
                <a:spAutoFit/>
              </a:bodyPr>
              <a:lstStyle/>
              <a:p>
                <a:pPr marL="457200" indent="-457200">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MD5</a:t>
                </a:r>
                <a:r>
                  <a:rPr lang="zh-CN" altLang="en-US" sz="2000" dirty="0">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四轮</a:t>
                </a:r>
                <a:r>
                  <a:rPr lang="zh-CN" altLang="en-US" sz="2000" dirty="0">
                    <a:latin typeface="Times New Roman" panose="02020603050405020304" pitchFamily="18" charset="0"/>
                    <a:cs typeface="Times New Roman" panose="02020603050405020304" pitchFamily="18" charset="0"/>
                  </a:rPr>
                  <a:t>，每轮 </a:t>
                </a:r>
                <a:r>
                  <a:rPr lang="en-US" altLang="zh-CN" sz="2000" dirty="0">
                    <a:latin typeface="Times New Roman" panose="02020603050405020304" pitchFamily="18" charset="0"/>
                    <a:cs typeface="Times New Roman" panose="02020603050405020304" pitchFamily="18" charset="0"/>
                  </a:rPr>
                  <a:t>16 </a:t>
                </a:r>
                <a:r>
                  <a:rPr lang="zh-CN" altLang="en-US" sz="2000" dirty="0">
                    <a:latin typeface="Times New Roman" panose="02020603050405020304" pitchFamily="18" charset="0"/>
                    <a:cs typeface="Times New Roman" panose="02020603050405020304" pitchFamily="18" charset="0"/>
                  </a:rPr>
                  <a:t>步</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MD4</a:t>
                </a:r>
                <a:r>
                  <a:rPr lang="zh-CN" altLang="en-US" sz="2000" dirty="0">
                    <a:latin typeface="Times New Roman" panose="02020603050405020304" pitchFamily="18" charset="0"/>
                    <a:cs typeface="Times New Roman" panose="02020603050405020304" pitchFamily="18" charset="0"/>
                  </a:rPr>
                  <a:t>，三轮，每轮 </a:t>
                </a:r>
                <a:r>
                  <a:rPr lang="en-US" altLang="zh-CN" sz="2000" dirty="0">
                    <a:latin typeface="Times New Roman" panose="02020603050405020304" pitchFamily="18" charset="0"/>
                    <a:cs typeface="Times New Roman" panose="02020603050405020304" pitchFamily="18" charset="0"/>
                  </a:rPr>
                  <a:t>16 </a:t>
                </a:r>
                <a:r>
                  <a:rPr lang="zh-CN" altLang="en-US" sz="2000" dirty="0">
                    <a:latin typeface="Times New Roman" panose="02020603050405020304" pitchFamily="18" charset="0"/>
                    <a:cs typeface="Times New Roman" panose="02020603050405020304" pitchFamily="18" charset="0"/>
                  </a:rPr>
                  <a:t>步</a:t>
                </a:r>
                <a:endParaRPr lang="en-US" altLang="zh-CN" sz="20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在 </a:t>
                </a:r>
                <a:r>
                  <a:rPr lang="en-US" altLang="zh-CN" sz="2000" dirty="0">
                    <a:latin typeface="Times New Roman" panose="02020603050405020304" pitchFamily="18" charset="0"/>
                    <a:cs typeface="Times New Roman" panose="02020603050405020304" pitchFamily="18" charset="0"/>
                  </a:rPr>
                  <a:t>64 </a:t>
                </a:r>
                <a:r>
                  <a:rPr lang="zh-CN" altLang="en-US" sz="2000" dirty="0">
                    <a:latin typeface="Times New Roman" panose="02020603050405020304" pitchFamily="18" charset="0"/>
                    <a:cs typeface="Times New Roman" panose="02020603050405020304" pitchFamily="18" charset="0"/>
                  </a:rPr>
                  <a:t>步中都用</a:t>
                </a:r>
                <a:r>
                  <a:rPr lang="zh-CN" altLang="en-US" sz="2000" dirty="0">
                    <a:solidFill>
                      <a:srgbClr val="0000FF"/>
                    </a:solidFill>
                    <a:latin typeface="Times New Roman" panose="02020603050405020304" pitchFamily="18" charset="0"/>
                    <a:cs typeface="Times New Roman" panose="02020603050405020304" pitchFamily="18" charset="0"/>
                  </a:rPr>
                  <a:t>不同的加常数 </a:t>
                </a:r>
                <a14:m>
                  <m:oMath xmlns:m="http://schemas.openxmlformats.org/officeDocument/2006/math">
                    <m:sSub>
                      <m:sSubPr>
                        <m:ctrlPr>
                          <a:rPr lang="en-US" altLang="zh-CN" sz="2000" i="1" dirty="0" smtClean="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𝑡</m:t>
                        </m:r>
                      </m:e>
                      <m:sub>
                        <m:r>
                          <a:rPr lang="en-US" altLang="zh-CN" sz="2000" i="1" dirty="0">
                            <a:solidFill>
                              <a:srgbClr val="0000FF"/>
                            </a:solidFill>
                            <a:latin typeface="Cambria Math" panose="02040503050406030204" pitchFamily="18" charset="0"/>
                          </a:rPr>
                          <m:t>𝑖</m:t>
                        </m:r>
                      </m:sub>
                    </m:sSub>
                  </m:oMath>
                </a14:m>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MD4 </a:t>
                </a:r>
                <a:r>
                  <a:rPr lang="zh-CN" altLang="en-US" sz="2000" dirty="0">
                    <a:latin typeface="Times New Roman" panose="02020603050405020304" pitchFamily="18" charset="0"/>
                    <a:cs typeface="Times New Roman" panose="02020603050405020304" pitchFamily="18" charset="0"/>
                  </a:rPr>
                  <a:t>第一轮中不用加常数，第二轮每一步用同一个加常数，另外一个加常数用于第三轮中每一步</a:t>
                </a:r>
                <a:endParaRPr lang="en-US" altLang="zh-CN" sz="20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采用 </a:t>
                </a:r>
                <a:r>
                  <a:rPr lang="en-US" altLang="zh-CN" sz="2000" dirty="0">
                    <a:solidFill>
                      <a:srgbClr val="0000FF"/>
                    </a:solidFill>
                    <a:latin typeface="Times New Roman" panose="02020603050405020304" pitchFamily="18" charset="0"/>
                    <a:cs typeface="Times New Roman" panose="02020603050405020304" pitchFamily="18" charset="0"/>
                  </a:rPr>
                  <a:t>4 </a:t>
                </a:r>
                <a:r>
                  <a:rPr lang="zh-CN" altLang="en-US" sz="2000" dirty="0">
                    <a:solidFill>
                      <a:srgbClr val="0000FF"/>
                    </a:solidFill>
                    <a:latin typeface="Times New Roman" panose="02020603050405020304" pitchFamily="18" charset="0"/>
                    <a:cs typeface="Times New Roman" panose="02020603050405020304" pitchFamily="18" charset="0"/>
                  </a:rPr>
                  <a:t>个基本逻辑函数</a:t>
                </a:r>
                <a:r>
                  <a:rPr lang="zh-CN" altLang="en-US" sz="2000" dirty="0">
                    <a:latin typeface="Times New Roman" panose="02020603050405020304" pitchFamily="18" charset="0"/>
                    <a:cs typeface="Times New Roman" panose="02020603050405020304" pitchFamily="18" charset="0"/>
                  </a:rPr>
                  <a:t>，每轮一个</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MD4 </a:t>
                </a:r>
                <a:r>
                  <a:rPr lang="zh-CN" altLang="en-US" sz="2000" dirty="0">
                    <a:latin typeface="Times New Roman" panose="02020603050405020304" pitchFamily="18" charset="0"/>
                    <a:cs typeface="Times New Roman" panose="02020603050405020304" pitchFamily="18" charset="0"/>
                  </a:rPr>
                  <a:t>采用 </a:t>
                </a:r>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个基本逻辑函数，每轮一个</a:t>
                </a:r>
                <a:endParaRPr lang="en-US" altLang="zh-CN" sz="20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MD5 </a:t>
                </a:r>
                <a:r>
                  <a:rPr lang="zh-CN" altLang="en-US" sz="2000" dirty="0">
                    <a:solidFill>
                      <a:srgbClr val="0000FF"/>
                    </a:solidFill>
                    <a:latin typeface="Times New Roman" panose="02020603050405020304" pitchFamily="18" charset="0"/>
                    <a:cs typeface="Times New Roman" panose="02020603050405020304" pitchFamily="18" charset="0"/>
                  </a:rPr>
                  <a:t>每一步都与前一步的结果相加</a:t>
                </a:r>
                <a:r>
                  <a:rPr lang="zh-CN" altLang="en-US" sz="2000" dirty="0">
                    <a:latin typeface="Times New Roman" panose="02020603050405020304" pitchFamily="18" charset="0"/>
                    <a:cs typeface="Times New Roman" panose="02020603050405020304" pitchFamily="18" charset="0"/>
                  </a:rPr>
                  <a:t>，可加快雪崩</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MD4 </a:t>
                </a:r>
                <a:r>
                  <a:rPr lang="zh-CN" altLang="en-US" sz="2000" dirty="0">
                    <a:latin typeface="Times New Roman" panose="02020603050405020304" pitchFamily="18" charset="0"/>
                    <a:cs typeface="Times New Roman" panose="02020603050405020304" pitchFamily="18" charset="0"/>
                  </a:rPr>
                  <a:t>最后才相加运算</a:t>
                </a:r>
                <a:endParaRPr lang="en-US" altLang="zh-CN" sz="2000" dirty="0">
                  <a:solidFill>
                    <a:srgbClr val="FF0000"/>
                  </a:solidFill>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2000" dirty="0">
                    <a:solidFill>
                      <a:srgbClr val="FF0000"/>
                    </a:solidFill>
                    <a:latin typeface="Times New Roman" panose="02020603050405020304" pitchFamily="18" charset="0"/>
                    <a:cs typeface="Times New Roman" panose="02020603050405020304" pitchFamily="18" charset="0"/>
                  </a:rPr>
                  <a:t>总体来说，</a:t>
                </a:r>
                <a:r>
                  <a:rPr lang="en-US" altLang="zh-CN" sz="2000" dirty="0">
                    <a:solidFill>
                      <a:srgbClr val="FF0000"/>
                    </a:solidFill>
                    <a:latin typeface="Times New Roman" panose="02020603050405020304" pitchFamily="18" charset="0"/>
                    <a:cs typeface="Times New Roman" panose="02020603050405020304" pitchFamily="18" charset="0"/>
                  </a:rPr>
                  <a:t>MD5 </a:t>
                </a:r>
                <a:r>
                  <a:rPr lang="zh-CN" altLang="en-US" sz="2000" dirty="0">
                    <a:solidFill>
                      <a:srgbClr val="FF0000"/>
                    </a:solidFill>
                    <a:latin typeface="Times New Roman" panose="02020603050405020304" pitchFamily="18" charset="0"/>
                    <a:cs typeface="Times New Roman" panose="02020603050405020304" pitchFamily="18" charset="0"/>
                  </a:rPr>
                  <a:t>较 </a:t>
                </a:r>
                <a:r>
                  <a:rPr lang="en-US" altLang="zh-CN" sz="2000" dirty="0">
                    <a:solidFill>
                      <a:srgbClr val="FF0000"/>
                    </a:solidFill>
                    <a:latin typeface="Times New Roman" panose="02020603050405020304" pitchFamily="18" charset="0"/>
                    <a:cs typeface="Times New Roman" panose="02020603050405020304" pitchFamily="18" charset="0"/>
                  </a:rPr>
                  <a:t>MD4 </a:t>
                </a:r>
                <a:r>
                  <a:rPr lang="zh-CN" altLang="en-US" sz="2000" dirty="0">
                    <a:solidFill>
                      <a:srgbClr val="FF0000"/>
                    </a:solidFill>
                    <a:latin typeface="Times New Roman" panose="02020603050405020304" pitchFamily="18" charset="0"/>
                    <a:cs typeface="Times New Roman" panose="02020603050405020304" pitchFamily="18" charset="0"/>
                  </a:rPr>
                  <a:t>复杂，且较慢，但安全性较高</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xmlns:a14="http://schemas.microsoft.com/office/drawing/2010/main" xmlns="" id="{1C1FCDB2-5B04-098B-64DF-890E69C2B296}"/>
                  </a:ext>
                </a:extLst>
              </p:cNvPr>
              <p:cNvSpPr txBox="1">
                <a:spLocks noRot="1" noChangeAspect="1" noMove="1" noResize="1" noEditPoints="1" noAdjustHandles="1" noChangeArrowheads="1" noChangeShapeType="1" noTextEdit="1"/>
              </p:cNvSpPr>
              <p:nvPr/>
            </p:nvSpPr>
            <p:spPr>
              <a:xfrm>
                <a:off x="312517" y="1640536"/>
                <a:ext cx="8479945" cy="4502002"/>
              </a:xfrm>
              <a:prstGeom prst="rect">
                <a:avLst/>
              </a:prstGeom>
              <a:blipFill rotWithShape="0">
                <a:blip r:embed="rId3"/>
                <a:stretch>
                  <a:fillRect l="-7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87494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MD5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52</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3.4 MD5</a:t>
            </a:r>
            <a:r>
              <a:rPr lang="zh-CN" altLang="en-US" sz="2400" b="1" dirty="0">
                <a:solidFill>
                  <a:srgbClr val="FF0000"/>
                </a:solidFill>
                <a:latin typeface="Times New Roman" panose="02020603050405020304" pitchFamily="18" charset="0"/>
                <a:cs typeface="Times New Roman" panose="02020603050405020304" pitchFamily="18" charset="0"/>
              </a:rPr>
              <a:t>的安全性</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C1FCDB2-5B04-098B-64DF-890E69C2B296}"/>
                  </a:ext>
                </a:extLst>
              </p:cNvPr>
              <p:cNvSpPr txBox="1"/>
              <p:nvPr/>
            </p:nvSpPr>
            <p:spPr>
              <a:xfrm>
                <a:off x="312517" y="1480765"/>
                <a:ext cx="8479945" cy="4877233"/>
              </a:xfrm>
              <a:prstGeom prst="rect">
                <a:avLst/>
              </a:prstGeom>
              <a:noFill/>
            </p:spPr>
            <p:txBody>
              <a:bodyPr wrap="square" rtlCol="0">
                <a:spAutoFit/>
              </a:bodyPr>
              <a:lstStyle/>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纯强力攻击</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寻找具有给定哈希值的消息的计算困难性为 </a:t>
                </a:r>
                <a14:m>
                  <m:oMath xmlns:m="http://schemas.openxmlformats.org/officeDocument/2006/math">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2</m:t>
                        </m:r>
                      </m:e>
                      <m:sup>
                        <m:r>
                          <a:rPr lang="en-US" altLang="zh-CN" sz="2000" i="1" dirty="0" smtClean="0">
                            <a:solidFill>
                              <a:srgbClr val="0000FF"/>
                            </a:solidFill>
                            <a:latin typeface="Cambria Math" panose="02040503050406030204" pitchFamily="18" charset="0"/>
                            <a:cs typeface="Times New Roman" panose="02020603050405020304" pitchFamily="18" charset="0"/>
                          </a:rPr>
                          <m:t>128</m:t>
                        </m:r>
                      </m:sup>
                    </m:sSup>
                  </m:oMath>
                </a14:m>
                <a:r>
                  <a:rPr lang="zh-CN" altLang="en-US" sz="2000" dirty="0">
                    <a:latin typeface="Times New Roman" panose="02020603050405020304" pitchFamily="18" charset="0"/>
                    <a:cs typeface="Times New Roman" panose="02020603050405020304" pitchFamily="18" charset="0"/>
                  </a:rPr>
                  <a:t>，用每秒可试验 </a:t>
                </a:r>
                <a:r>
                  <a:rPr lang="en-US" altLang="zh-CN" sz="2000" dirty="0">
                    <a:latin typeface="Times New Roman" panose="02020603050405020304" pitchFamily="18" charset="0"/>
                    <a:cs typeface="Times New Roman" panose="02020603050405020304" pitchFamily="18" charset="0"/>
                  </a:rPr>
                  <a:t>1000 000 000 </a:t>
                </a:r>
                <a:r>
                  <a:rPr lang="zh-CN" altLang="en-US" sz="2000" dirty="0">
                    <a:latin typeface="Times New Roman" panose="02020603050405020304" pitchFamily="18" charset="0"/>
                    <a:cs typeface="Times New Roman" panose="02020603050405020304" pitchFamily="18" charset="0"/>
                  </a:rPr>
                  <a:t>个消息的计算机需时</a:t>
                </a:r>
                <a14:m>
                  <m:oMath xmlns:m="http://schemas.openxmlformats.org/officeDocument/2006/math">
                    <m:r>
                      <a:rPr lang="en-US" altLang="zh-CN" sz="2000" b="0" i="0" dirty="0" smtClean="0">
                        <a:solidFill>
                          <a:srgbClr val="0000FF"/>
                        </a:solidFill>
                        <a:latin typeface="Cambria Math" panose="02040503050406030204" pitchFamily="18" charset="0"/>
                        <a:cs typeface="Times New Roman" panose="02020603050405020304" pitchFamily="18" charset="0"/>
                      </a:rPr>
                      <m:t> </m:t>
                    </m:r>
                    <m:r>
                      <a:rPr lang="en-US" altLang="zh-CN" sz="2000" i="1" dirty="0" smtClean="0">
                        <a:solidFill>
                          <a:srgbClr val="0000FF"/>
                        </a:solidFill>
                        <a:latin typeface="Cambria Math" panose="02040503050406030204" pitchFamily="18" charset="0"/>
                        <a:cs typeface="Times New Roman" panose="02020603050405020304" pitchFamily="18" charset="0"/>
                      </a:rPr>
                      <m:t>1.07×</m:t>
                    </m:r>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10</m:t>
                        </m:r>
                      </m:e>
                      <m:sup>
                        <m:r>
                          <a:rPr lang="en-US" altLang="zh-CN" sz="2000" i="1" dirty="0" smtClean="0">
                            <a:solidFill>
                              <a:srgbClr val="0000FF"/>
                            </a:solidFill>
                            <a:latin typeface="Cambria Math" panose="02040503050406030204" pitchFamily="18" charset="0"/>
                            <a:cs typeface="Times New Roman" panose="02020603050405020304" pitchFamily="18" charset="0"/>
                          </a:rPr>
                          <m:t>22</m:t>
                        </m:r>
                      </m:sup>
                    </m:sSup>
                  </m:oMath>
                </a14:m>
                <a:r>
                  <a:rPr lang="zh-CN" altLang="en-US" sz="2000" dirty="0">
                    <a:latin typeface="Times New Roman" panose="02020603050405020304" pitchFamily="18" charset="0"/>
                    <a:cs typeface="Times New Roman" panose="02020603050405020304" pitchFamily="18" charset="0"/>
                  </a:rPr>
                  <a:t> 年。</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生日攻击</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寻找有相同哈希值的两个消息需要试验 </a:t>
                </a:r>
                <a14:m>
                  <m:oMath xmlns:m="http://schemas.openxmlformats.org/officeDocument/2006/math">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2</m:t>
                        </m:r>
                      </m:e>
                      <m:sup>
                        <m:r>
                          <a:rPr lang="en-US" altLang="zh-CN" sz="2000" b="0" i="1" dirty="0" smtClean="0">
                            <a:solidFill>
                              <a:srgbClr val="0000FF"/>
                            </a:solidFill>
                            <a:latin typeface="Cambria Math" panose="02040503050406030204" pitchFamily="18" charset="0"/>
                            <a:cs typeface="Times New Roman" panose="02020603050405020304" pitchFamily="18" charset="0"/>
                          </a:rPr>
                          <m:t>64</m:t>
                        </m:r>
                      </m:sup>
                    </m:sSup>
                  </m:oMath>
                </a14:m>
                <a:r>
                  <a:rPr lang="zh-CN" altLang="en-US" sz="2000" dirty="0">
                    <a:latin typeface="Times New Roman" panose="02020603050405020304" pitchFamily="18" charset="0"/>
                    <a:cs typeface="Times New Roman" panose="02020603050405020304" pitchFamily="18" charset="0"/>
                  </a:rPr>
                  <a:t> 个消息，用每秒可试验 </a:t>
                </a:r>
                <a:r>
                  <a:rPr lang="en-US" altLang="zh-CN" sz="2000" dirty="0">
                    <a:latin typeface="Times New Roman" panose="02020603050405020304" pitchFamily="18" charset="0"/>
                    <a:cs typeface="Times New Roman" panose="02020603050405020304" pitchFamily="18" charset="0"/>
                  </a:rPr>
                  <a:t>1000 000 000 </a:t>
                </a:r>
                <a:r>
                  <a:rPr lang="zh-CN" altLang="en-US" sz="2000" dirty="0">
                    <a:latin typeface="Times New Roman" panose="02020603050405020304" pitchFamily="18" charset="0"/>
                    <a:cs typeface="Times New Roman" panose="02020603050405020304" pitchFamily="18" charset="0"/>
                  </a:rPr>
                  <a:t>个消息的计算机需时 </a:t>
                </a:r>
                <a:r>
                  <a:rPr lang="en-US" altLang="zh-CN" sz="2000" dirty="0">
                    <a:solidFill>
                      <a:srgbClr val="0000FF"/>
                    </a:solidFill>
                    <a:latin typeface="Times New Roman" panose="02020603050405020304" pitchFamily="18" charset="0"/>
                    <a:cs typeface="Times New Roman" panose="02020603050405020304" pitchFamily="18" charset="0"/>
                  </a:rPr>
                  <a:t>585 </a:t>
                </a:r>
                <a:r>
                  <a:rPr lang="zh-CN" altLang="en-US" sz="2000" dirty="0">
                    <a:latin typeface="Times New Roman" panose="02020603050405020304" pitchFamily="18" charset="0"/>
                    <a:cs typeface="Times New Roman" panose="02020603050405020304" pitchFamily="18" charset="0"/>
                  </a:rPr>
                  <a:t>年。</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差分攻击</a:t>
                </a:r>
                <a:r>
                  <a:rPr lang="zh-CN" altLang="en-US" sz="2000" b="1"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Berson</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证明，对</a:t>
                </a:r>
                <a:r>
                  <a:rPr lang="zh-CN" altLang="en-US" sz="2000" dirty="0">
                    <a:solidFill>
                      <a:srgbClr val="0000FF"/>
                    </a:solidFill>
                    <a:latin typeface="Times New Roman" panose="02020603050405020304" pitchFamily="18" charset="0"/>
                    <a:cs typeface="Times New Roman" panose="02020603050405020304" pitchFamily="18" charset="0"/>
                  </a:rPr>
                  <a:t>单轮</a:t>
                </a:r>
                <a:r>
                  <a:rPr lang="zh-CN" altLang="en-US" sz="2000" dirty="0">
                    <a:latin typeface="Times New Roman" panose="02020603050405020304" pitchFamily="18" charset="0"/>
                    <a:cs typeface="Times New Roman" panose="02020603050405020304" pitchFamily="18" charset="0"/>
                  </a:rPr>
                  <a:t>的 </a:t>
                </a: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算法，利用差分分析，可以在合理时间内找出碰撞的两条消息。</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en-US" altLang="zh-CN" dirty="0">
                    <a:solidFill>
                      <a:srgbClr val="0000FF"/>
                    </a:solidFill>
                    <a:latin typeface="Times New Roman" panose="02020603050405020304" pitchFamily="18" charset="0"/>
                    <a:cs typeface="Times New Roman" panose="02020603050405020304" pitchFamily="18" charset="0"/>
                  </a:rPr>
                  <a:t>2004 </a:t>
                </a:r>
                <a:r>
                  <a:rPr lang="zh-CN" altLang="en-US" dirty="0">
                    <a:solidFill>
                      <a:srgbClr val="0000FF"/>
                    </a:solidFill>
                    <a:latin typeface="Times New Roman" panose="02020603050405020304" pitchFamily="18" charset="0"/>
                    <a:cs typeface="Times New Roman" panose="02020603050405020304" pitchFamily="18" charset="0"/>
                  </a:rPr>
                  <a:t>年 </a:t>
                </a:r>
                <a:r>
                  <a:rPr lang="en-US" altLang="zh-CN" dirty="0">
                    <a:solidFill>
                      <a:srgbClr val="0000FF"/>
                    </a:solidFill>
                    <a:latin typeface="Times New Roman" panose="02020603050405020304" pitchFamily="18" charset="0"/>
                    <a:cs typeface="Times New Roman" panose="02020603050405020304" pitchFamily="18" charset="0"/>
                  </a:rPr>
                  <a:t>8 </a:t>
                </a:r>
                <a:r>
                  <a:rPr lang="zh-CN" altLang="en-US" dirty="0">
                    <a:solidFill>
                      <a:srgbClr val="0000FF"/>
                    </a:solidFill>
                    <a:latin typeface="Times New Roman" panose="02020603050405020304" pitchFamily="18" charset="0"/>
                    <a:cs typeface="Times New Roman" panose="02020603050405020304" pitchFamily="18" charset="0"/>
                  </a:rPr>
                  <a:t>月 </a:t>
                </a:r>
                <a:r>
                  <a:rPr lang="en-US" altLang="zh-CN" dirty="0">
                    <a:solidFill>
                      <a:srgbClr val="0000FF"/>
                    </a:solidFill>
                    <a:latin typeface="Times New Roman" panose="02020603050405020304" pitchFamily="18" charset="0"/>
                    <a:cs typeface="Times New Roman" panose="02020603050405020304" pitchFamily="18" charset="0"/>
                  </a:rPr>
                  <a:t>17 </a:t>
                </a:r>
                <a:r>
                  <a:rPr lang="zh-CN" altLang="en-US" dirty="0">
                    <a:solidFill>
                      <a:srgbClr val="0000FF"/>
                    </a:solidFill>
                    <a:latin typeface="Times New Roman" panose="02020603050405020304" pitchFamily="18" charset="0"/>
                    <a:cs typeface="Times New Roman" panose="02020603050405020304" pitchFamily="18" charset="0"/>
                  </a:rPr>
                  <a:t>日</a:t>
                </a:r>
                <a:r>
                  <a:rPr lang="zh-CN" altLang="en-US" dirty="0">
                    <a:latin typeface="Times New Roman" panose="02020603050405020304" pitchFamily="18" charset="0"/>
                    <a:cs typeface="Times New Roman" panose="02020603050405020304" pitchFamily="18" charset="0"/>
                  </a:rPr>
                  <a:t>，在美国加州圣巴巴拉召开的美密会 </a:t>
                </a:r>
                <a:r>
                  <a:rPr lang="en-US" altLang="zh-CN" dirty="0">
                    <a:latin typeface="Times New Roman" panose="02020603050405020304" pitchFamily="18" charset="0"/>
                    <a:cs typeface="Times New Roman" panose="02020603050405020304" pitchFamily="18" charset="0"/>
                  </a:rPr>
                  <a:t>(Crypto2004)</a:t>
                </a:r>
                <a:r>
                  <a:rPr lang="zh-CN" altLang="en-US" dirty="0">
                    <a:latin typeface="Times New Roman" panose="02020603050405020304" pitchFamily="18" charset="0"/>
                    <a:cs typeface="Times New Roman" panose="02020603050405020304" pitchFamily="18" charset="0"/>
                  </a:rPr>
                  <a:t>上，中国学者</a:t>
                </a:r>
                <a:r>
                  <a:rPr lang="zh-CN" altLang="en-US" dirty="0">
                    <a:solidFill>
                      <a:srgbClr val="0000FF"/>
                    </a:solidFill>
                    <a:latin typeface="Times New Roman" panose="02020603050405020304" pitchFamily="18" charset="0"/>
                    <a:cs typeface="Times New Roman" panose="02020603050405020304" pitchFamily="18" charset="0"/>
                  </a:rPr>
                  <a:t>王小云</a:t>
                </a:r>
                <a:r>
                  <a:rPr lang="zh-CN" altLang="en-US" dirty="0">
                    <a:latin typeface="Times New Roman" panose="02020603050405020304" pitchFamily="18" charset="0"/>
                    <a:cs typeface="Times New Roman" panose="02020603050405020304" pitchFamily="18" charset="0"/>
                  </a:rPr>
                  <a:t>、冯登国、来学嘉、于红波 </a:t>
                </a:r>
                <a:r>
                  <a:rPr lang="en-US" altLang="zh-CN" dirty="0">
                    <a:latin typeface="Times New Roman" panose="02020603050405020304" pitchFamily="18" charset="0"/>
                    <a:cs typeface="Times New Roman" panose="02020603050405020304" pitchFamily="18" charset="0"/>
                  </a:rPr>
                  <a:t>4 </a:t>
                </a:r>
                <a:r>
                  <a:rPr lang="zh-CN" altLang="en-US" dirty="0">
                    <a:latin typeface="Times New Roman" panose="02020603050405020304" pitchFamily="18" charset="0"/>
                    <a:cs typeface="Times New Roman" panose="02020603050405020304" pitchFamily="18" charset="0"/>
                  </a:rPr>
                  <a:t>位学者宣布，利用差分分析，只需 </a:t>
                </a:r>
                <a:r>
                  <a:rPr lang="en-US" altLang="zh-CN" dirty="0">
                    <a:solidFill>
                      <a:srgbClr val="0000FF"/>
                    </a:solidFill>
                    <a:latin typeface="Times New Roman" panose="02020603050405020304" pitchFamily="18" charset="0"/>
                    <a:cs typeface="Times New Roman" panose="02020603050405020304" pitchFamily="18" charset="0"/>
                  </a:rPr>
                  <a:t>1 </a:t>
                </a:r>
                <a:r>
                  <a:rPr lang="zh-CN" altLang="en-US" dirty="0">
                    <a:solidFill>
                      <a:srgbClr val="0000FF"/>
                    </a:solidFill>
                    <a:latin typeface="Times New Roman" panose="02020603050405020304" pitchFamily="18" charset="0"/>
                    <a:cs typeface="Times New Roman" panose="02020603050405020304" pitchFamily="18" charset="0"/>
                  </a:rPr>
                  <a:t>小时</a:t>
                </a:r>
                <a:r>
                  <a:rPr lang="zh-CN" altLang="en-US" dirty="0">
                    <a:latin typeface="Times New Roman" panose="02020603050405020304" pitchFamily="18" charset="0"/>
                    <a:cs typeface="Times New Roman" panose="02020603050405020304" pitchFamily="18" charset="0"/>
                  </a:rPr>
                  <a:t>就可找出 </a:t>
                </a:r>
                <a:r>
                  <a:rPr lang="en-US" altLang="zh-CN" dirty="0">
                    <a:latin typeface="Times New Roman" panose="02020603050405020304" pitchFamily="18" charset="0"/>
                    <a:cs typeface="Times New Roman" panose="02020603050405020304" pitchFamily="18" charset="0"/>
                  </a:rPr>
                  <a:t>MD5 </a:t>
                </a:r>
                <a:r>
                  <a:rPr lang="zh-CN" altLang="en-US" dirty="0">
                    <a:latin typeface="Times New Roman" panose="02020603050405020304" pitchFamily="18" charset="0"/>
                    <a:cs typeface="Times New Roman" panose="02020603050405020304" pitchFamily="18" charset="0"/>
                  </a:rPr>
                  <a:t>的碰撞。</a:t>
                </a:r>
                <a:endParaRPr lang="en-US" altLang="zh-CN"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zh-CN" altLang="en-US" b="0" i="0" dirty="0">
                    <a:solidFill>
                      <a:srgbClr val="333333"/>
                    </a:solidFill>
                    <a:effectLst/>
                    <a:latin typeface="Times New Roman" panose="02020603050405020304" pitchFamily="18" charset="0"/>
                    <a:cs typeface="Times New Roman" panose="02020603050405020304" pitchFamily="18" charset="0"/>
                  </a:rPr>
                  <a:t>因此不适用于强安全性场景，如数字签名等。</a:t>
                </a:r>
                <a:endParaRPr lang="en-US" altLang="zh-CN" b="0" i="0" dirty="0">
                  <a:solidFill>
                    <a:srgbClr val="333333"/>
                  </a:solidFill>
                  <a:effectLst/>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b="0" i="0" dirty="0">
                    <a:solidFill>
                      <a:srgbClr val="333333"/>
                    </a:solidFill>
                    <a:effectLst/>
                    <a:latin typeface="Times New Roman" panose="02020603050405020304" pitchFamily="18" charset="0"/>
                    <a:cs typeface="Times New Roman" panose="02020603050405020304" pitchFamily="18" charset="0"/>
                  </a:rPr>
                  <a:t>MD5 </a:t>
                </a:r>
                <a:r>
                  <a:rPr lang="zh-CN" altLang="en-US" sz="2000" dirty="0">
                    <a:solidFill>
                      <a:srgbClr val="333333"/>
                    </a:solidFill>
                    <a:latin typeface="Times New Roman" panose="02020603050405020304" pitchFamily="18" charset="0"/>
                    <a:cs typeface="Times New Roman" panose="02020603050405020304" pitchFamily="18" charset="0"/>
                  </a:rPr>
                  <a:t>凭借其</a:t>
                </a:r>
                <a:r>
                  <a:rPr lang="zh-CN" altLang="en-US" sz="2000" b="0" i="0" dirty="0">
                    <a:solidFill>
                      <a:srgbClr val="333333"/>
                    </a:solidFill>
                    <a:effectLst/>
                    <a:latin typeface="Times New Roman" panose="02020603050405020304" pitchFamily="18" charset="0"/>
                    <a:cs typeface="Times New Roman" panose="02020603050405020304" pitchFamily="18" charset="0"/>
                  </a:rPr>
                  <a:t>普遍、稳定、快速的特点，仍然广泛应用于普通数据的加密保护领域</a:t>
                </a:r>
                <a:r>
                  <a:rPr lang="zh-CN" altLang="en-US" sz="2000" b="0" i="0" baseline="30000" dirty="0">
                    <a:solidFill>
                      <a:srgbClr val="3366CC"/>
                    </a:solidFill>
                    <a:effectLst/>
                    <a:latin typeface="Times New Roman" panose="02020603050405020304" pitchFamily="18" charset="0"/>
                    <a:cs typeface="Times New Roman" panose="02020603050405020304" pitchFamily="18" charset="0"/>
                  </a:rPr>
                  <a:t> </a:t>
                </a:r>
                <a:r>
                  <a:rPr lang="zh-CN" altLang="en-US" sz="2000" b="0" i="0" dirty="0">
                    <a:solidFill>
                      <a:srgbClr val="333333"/>
                    </a:solidFill>
                    <a:effectLst/>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 xmlns:a16="http://schemas.microsoft.com/office/drawing/2014/main" xmlns:a14="http://schemas.microsoft.com/office/drawing/2010/main" id="{1C1FCDB2-5B04-098B-64DF-890E69C2B296}"/>
                  </a:ext>
                </a:extLst>
              </p:cNvPr>
              <p:cNvSpPr txBox="1">
                <a:spLocks noRot="1" noChangeAspect="1" noMove="1" noResize="1" noEditPoints="1" noAdjustHandles="1" noChangeArrowheads="1" noChangeShapeType="1" noTextEdit="1"/>
              </p:cNvSpPr>
              <p:nvPr/>
            </p:nvSpPr>
            <p:spPr>
              <a:xfrm>
                <a:off x="312517" y="1480765"/>
                <a:ext cx="8479945" cy="4877233"/>
              </a:xfrm>
              <a:prstGeom prst="rect">
                <a:avLst/>
              </a:prstGeom>
              <a:blipFill rotWithShape="0">
                <a:blip r:embed="rId3"/>
                <a:stretch>
                  <a:fillRect l="-647" t="-125" r="-33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952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53</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4.1 SHA </a:t>
            </a:r>
            <a:r>
              <a:rPr lang="zh-CN" altLang="en-US" sz="2400" b="1" dirty="0">
                <a:solidFill>
                  <a:srgbClr val="FF0000"/>
                </a:solidFill>
                <a:latin typeface="Times New Roman" panose="02020603050405020304" pitchFamily="18" charset="0"/>
                <a:cs typeface="Times New Roman" panose="02020603050405020304" pitchFamily="18" charset="0"/>
              </a:rPr>
              <a:t>系列算法的发展历史</a:t>
            </a:r>
            <a:endParaRPr lang="zh-CN" altLang="en-US" sz="2400" b="1" dirty="0">
              <a:solidFill>
                <a:srgbClr val="FF0000"/>
              </a:solidFill>
              <a:latin typeface="+mn-ea"/>
            </a:endParaRPr>
          </a:p>
        </p:txBody>
      </p:sp>
      <p:sp>
        <p:nvSpPr>
          <p:cNvPr id="4" name="文本框 3">
            <a:extLst>
              <a:ext uri="{FF2B5EF4-FFF2-40B4-BE49-F238E27FC236}">
                <a16:creationId xmlns:a16="http://schemas.microsoft.com/office/drawing/2014/main" id="{64CAF960-E897-5A2B-CB0F-1A7BBC613A2E}"/>
              </a:ext>
            </a:extLst>
          </p:cNvPr>
          <p:cNvSpPr txBox="1"/>
          <p:nvPr/>
        </p:nvSpPr>
        <p:spPr>
          <a:xfrm>
            <a:off x="312517" y="2717238"/>
            <a:ext cx="8479945" cy="3862083"/>
          </a:xfrm>
          <a:prstGeom prst="rect">
            <a:avLst/>
          </a:prstGeom>
          <a:noFill/>
        </p:spPr>
        <p:txBody>
          <a:bodyPr wrap="square" rtlCol="0">
            <a:spAutoFit/>
          </a:bodyPr>
          <a:lstStyle/>
          <a:p>
            <a:pPr marL="342900" indent="-342900" algn="just">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SHA-0  (1993</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gn="just">
              <a:lnSpc>
                <a:spcPct val="120000"/>
              </a:lnSpc>
              <a:spcBef>
                <a:spcPts val="600"/>
              </a:spcBef>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安全散列标准 </a:t>
            </a:r>
            <a:r>
              <a:rPr lang="en-US" altLang="zh-CN" sz="1600" dirty="0">
                <a:latin typeface="Times New Roman" panose="02020603050405020304" pitchFamily="18" charset="0"/>
                <a:cs typeface="Times New Roman" panose="02020603050405020304" pitchFamily="18" charset="0"/>
              </a:rPr>
              <a:t>(Secure Hash Standard)</a:t>
            </a:r>
            <a:r>
              <a:rPr lang="zh-CN" altLang="en-US" sz="1600" dirty="0">
                <a:latin typeface="Times New Roman" panose="02020603050405020304" pitchFamily="18" charset="0"/>
                <a:cs typeface="Times New Roman" panose="02020603050405020304" pitchFamily="18" charset="0"/>
              </a:rPr>
              <a:t>，因为安全性问题而被 </a:t>
            </a:r>
            <a:r>
              <a:rPr lang="en-US" altLang="zh-CN" sz="1600" dirty="0">
                <a:latin typeface="Times New Roman" panose="02020603050405020304" pitchFamily="18" charset="0"/>
                <a:cs typeface="Times New Roman" panose="02020603050405020304" pitchFamily="18" charset="0"/>
              </a:rPr>
              <a:t>NSA </a:t>
            </a:r>
            <a:r>
              <a:rPr lang="zh-CN" altLang="en-US" sz="1600" dirty="0">
                <a:latin typeface="Times New Roman" panose="02020603050405020304" pitchFamily="18" charset="0"/>
                <a:cs typeface="Times New Roman" panose="02020603050405020304" pitchFamily="18" charset="0"/>
              </a:rPr>
              <a:t>撤回</a:t>
            </a:r>
            <a:endParaRPr lang="en-US" altLang="zh-CN" sz="16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SHA-1</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(1995</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gn="just">
              <a:lnSpc>
                <a:spcPct val="120000"/>
              </a:lnSpc>
              <a:spcBef>
                <a:spcPts val="600"/>
              </a:spcBef>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与 </a:t>
            </a:r>
            <a:r>
              <a:rPr lang="en-US" altLang="zh-CN" sz="1600" dirty="0">
                <a:latin typeface="Times New Roman" panose="02020603050405020304" pitchFamily="18" charset="0"/>
                <a:cs typeface="Times New Roman" panose="02020603050405020304" pitchFamily="18" charset="0"/>
              </a:rPr>
              <a:t>MD4 </a:t>
            </a:r>
            <a:r>
              <a:rPr lang="zh-CN" altLang="en-US" sz="1600" dirty="0">
                <a:latin typeface="Times New Roman" panose="02020603050405020304" pitchFamily="18" charset="0"/>
                <a:cs typeface="Times New Roman" panose="02020603050405020304" pitchFamily="18" charset="0"/>
              </a:rPr>
              <a:t>相比，增加了扩展变换，将前一轮的输出加到下一轮</a:t>
            </a:r>
            <a:endParaRPr lang="en-US" altLang="zh-CN" sz="16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产生一个 </a:t>
            </a:r>
            <a:r>
              <a:rPr lang="en-US" altLang="zh-CN" sz="1600" dirty="0">
                <a:latin typeface="Times New Roman" panose="02020603050405020304" pitchFamily="18" charset="0"/>
                <a:cs typeface="Times New Roman" panose="02020603050405020304" pitchFamily="18" charset="0"/>
              </a:rPr>
              <a:t>160 </a:t>
            </a:r>
            <a:r>
              <a:rPr lang="zh-CN" altLang="en-US" sz="1600" dirty="0">
                <a:latin typeface="Times New Roman" panose="02020603050405020304" pitchFamily="18" charset="0"/>
                <a:cs typeface="Times New Roman" panose="02020603050405020304" pitchFamily="18" charset="0"/>
              </a:rPr>
              <a:t>位的哈希值</a:t>
            </a:r>
            <a:endParaRPr lang="zh-CN" altLang="en-US"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SHA-2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(2002</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gn="just">
              <a:lnSpc>
                <a:spcPct val="120000"/>
              </a:lnSpc>
              <a:spcBef>
                <a:spcPts val="600"/>
              </a:spcBef>
              <a:buFont typeface="Wingdings" panose="05000000000000000000" pitchFamily="2" charset="2"/>
              <a:buChar char="Ø"/>
            </a:pPr>
            <a:r>
              <a:rPr lang="en-US" altLang="zh-CN" sz="1600" dirty="0">
                <a:latin typeface="Times New Roman" panose="02020603050405020304" pitchFamily="18" charset="0"/>
                <a:cs typeface="Times New Roman" panose="02020603050405020304" pitchFamily="18" charset="0"/>
              </a:rPr>
              <a:t>SHA-224</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SHA-256</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SHA-384</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SHA-512</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SHA-512/224</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SHA-512/256</a:t>
            </a:r>
          </a:p>
          <a:p>
            <a:pPr marL="800100" lvl="1" indent="-342900" algn="just">
              <a:lnSpc>
                <a:spcPct val="120000"/>
              </a:lnSpc>
              <a:spcBef>
                <a:spcPts val="600"/>
              </a:spcBef>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增加了</a:t>
            </a:r>
            <a:r>
              <a:rPr lang="en-US" altLang="zh-CN" sz="1600" dirty="0">
                <a:latin typeface="Times New Roman" panose="02020603050405020304" pitchFamily="18" charset="0"/>
                <a:cs typeface="Times New Roman" panose="02020603050405020304" pitchFamily="18" charset="0"/>
              </a:rPr>
              <a:t>SHA</a:t>
            </a:r>
            <a:r>
              <a:rPr lang="zh-CN" altLang="en-US" sz="1600" dirty="0">
                <a:latin typeface="Times New Roman" panose="02020603050405020304" pitchFamily="18" charset="0"/>
                <a:cs typeface="Times New Roman" panose="02020603050405020304" pitchFamily="18" charset="0"/>
              </a:rPr>
              <a:t>的额外版本，细节与</a:t>
            </a:r>
            <a:r>
              <a:rPr lang="en-US" altLang="zh-CN" sz="1600" dirty="0">
                <a:latin typeface="Times New Roman" panose="02020603050405020304" pitchFamily="18" charset="0"/>
                <a:cs typeface="Times New Roman" panose="02020603050405020304" pitchFamily="18" charset="0"/>
              </a:rPr>
              <a:t>SHA-1</a:t>
            </a:r>
            <a:r>
              <a:rPr lang="zh-CN" altLang="en-US" sz="1600" dirty="0">
                <a:latin typeface="Times New Roman" panose="02020603050405020304" pitchFamily="18" charset="0"/>
                <a:cs typeface="Times New Roman" panose="02020603050405020304" pitchFamily="18" charset="0"/>
              </a:rPr>
              <a:t>相似，但是安全级别更高</a:t>
            </a:r>
            <a:endParaRPr lang="en-US" altLang="zh-CN" sz="160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SHA-3  (2015</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a:t>
            </a:r>
          </a:p>
          <a:p>
            <a:pPr marL="800100" lvl="1" indent="-342900" algn="just">
              <a:lnSpc>
                <a:spcPct val="120000"/>
              </a:lnSpc>
              <a:spcBef>
                <a:spcPts val="600"/>
              </a:spcBef>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由于对</a:t>
            </a:r>
            <a:r>
              <a:rPr lang="en-US" altLang="zh-CN" sz="1600" dirty="0">
                <a:latin typeface="Times New Roman" panose="02020603050405020304" pitchFamily="18" charset="0"/>
                <a:cs typeface="Times New Roman" panose="02020603050405020304" pitchFamily="18" charset="0"/>
              </a:rPr>
              <a:t> MD5 </a:t>
            </a:r>
            <a:r>
              <a:rPr lang="zh-CN" altLang="en-US" sz="1600" dirty="0">
                <a:latin typeface="Times New Roman" panose="02020603050405020304" pitchFamily="18" charset="0"/>
                <a:cs typeface="Times New Roman" panose="02020603050405020304" pitchFamily="18" charset="0"/>
              </a:rPr>
              <a:t>出现成功的破解，以及对</a:t>
            </a:r>
            <a:r>
              <a:rPr lang="en-US" altLang="zh-CN" sz="1600" dirty="0">
                <a:latin typeface="Times New Roman" panose="02020603050405020304" pitchFamily="18" charset="0"/>
                <a:cs typeface="Times New Roman" panose="02020603050405020304" pitchFamily="18" charset="0"/>
              </a:rPr>
              <a:t> SHA-0 </a:t>
            </a:r>
            <a:r>
              <a:rPr lang="zh-CN" altLang="en-US"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 SHA-1 </a:t>
            </a:r>
            <a:r>
              <a:rPr lang="zh-CN" altLang="en-US" sz="1600" dirty="0">
                <a:latin typeface="Times New Roman" panose="02020603050405020304" pitchFamily="18" charset="0"/>
                <a:cs typeface="Times New Roman" panose="02020603050405020304" pitchFamily="18" charset="0"/>
              </a:rPr>
              <a:t>出现理论上破解方法</a:t>
            </a:r>
            <a:endParaRPr lang="en-US" altLang="zh-CN" sz="16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DAB4BA9C-2BDD-4893-ADA7-128AA3E00CA7}"/>
              </a:ext>
            </a:extLst>
          </p:cNvPr>
          <p:cNvSpPr txBox="1"/>
          <p:nvPr/>
        </p:nvSpPr>
        <p:spPr>
          <a:xfrm>
            <a:off x="312517" y="1468412"/>
            <a:ext cx="6709256" cy="1168846"/>
          </a:xfrm>
          <a:prstGeom prst="rect">
            <a:avLst/>
          </a:prstGeom>
          <a:noFill/>
        </p:spPr>
        <p:txBody>
          <a:bodyPr wrap="square" rtlCol="0">
            <a:spAutoFit/>
          </a:bodyPr>
          <a:lstStyle/>
          <a:p>
            <a:pPr algn="just">
              <a:lnSpc>
                <a:spcPct val="120000"/>
              </a:lnSpc>
              <a:spcBef>
                <a:spcPts val="600"/>
              </a:spcBef>
            </a:pPr>
            <a:r>
              <a:rPr lang="en-US" altLang="zh-CN" sz="2000" b="0" i="0" dirty="0">
                <a:solidFill>
                  <a:srgbClr val="333333"/>
                </a:solidFill>
                <a:effectLst/>
                <a:latin typeface="Times New Roman" panose="02020603050405020304" pitchFamily="18" charset="0"/>
                <a:cs typeface="Times New Roman" panose="02020603050405020304" pitchFamily="18" charset="0"/>
              </a:rPr>
              <a:t>SHA </a:t>
            </a:r>
            <a:r>
              <a:rPr lang="zh-CN" altLang="en-US" sz="2000" b="0" i="0" dirty="0">
                <a:solidFill>
                  <a:srgbClr val="333333"/>
                </a:solidFill>
                <a:effectLst/>
                <a:latin typeface="Times New Roman" panose="02020603050405020304" pitchFamily="18" charset="0"/>
                <a:cs typeface="Times New Roman" panose="02020603050405020304" pitchFamily="18" charset="0"/>
              </a:rPr>
              <a:t>安全哈希</a:t>
            </a:r>
            <a:r>
              <a:rPr lang="zh-CN" altLang="en-US" sz="2000" dirty="0">
                <a:solidFill>
                  <a:srgbClr val="333333"/>
                </a:solidFill>
                <a:latin typeface="Times New Roman" panose="02020603050405020304" pitchFamily="18" charset="0"/>
                <a:cs typeface="Times New Roman" panose="02020603050405020304" pitchFamily="18" charset="0"/>
              </a:rPr>
              <a:t>算法 </a:t>
            </a:r>
            <a:r>
              <a:rPr lang="en-US" altLang="zh-CN" sz="2000" dirty="0">
                <a:solidFill>
                  <a:srgbClr val="333333"/>
                </a:solidFill>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Secure Hash Algorithm)</a:t>
            </a:r>
            <a:r>
              <a:rPr lang="zh-CN" altLang="en-US" sz="2000" dirty="0">
                <a:latin typeface="Times New Roman" panose="02020603050405020304" pitchFamily="18" charset="0"/>
                <a:cs typeface="Times New Roman" panose="02020603050405020304" pitchFamily="18" charset="0"/>
              </a:rPr>
              <a:t> </a:t>
            </a:r>
            <a:r>
              <a:rPr lang="zh-CN" altLang="en-US" sz="2000" dirty="0">
                <a:solidFill>
                  <a:srgbClr val="333333"/>
                </a:solidFill>
                <a:latin typeface="Times New Roman" panose="02020603050405020304" pitchFamily="18" charset="0"/>
                <a:cs typeface="Times New Roman" panose="02020603050405020304" pitchFamily="18" charset="0"/>
              </a:rPr>
              <a:t>由美国国家安全局 </a:t>
            </a:r>
            <a:r>
              <a:rPr lang="en-US" altLang="zh-CN" sz="2000" dirty="0">
                <a:solidFill>
                  <a:srgbClr val="333333"/>
                </a:solidFill>
                <a:latin typeface="Times New Roman" panose="02020603050405020304" pitchFamily="18" charset="0"/>
                <a:cs typeface="Times New Roman" panose="02020603050405020304" pitchFamily="18" charset="0"/>
              </a:rPr>
              <a:t>(NSA)</a:t>
            </a:r>
            <a:r>
              <a:rPr lang="zh-CN" altLang="en-US" sz="2000" dirty="0">
                <a:solidFill>
                  <a:srgbClr val="333333"/>
                </a:solidFill>
                <a:latin typeface="Times New Roman" panose="02020603050405020304" pitchFamily="18" charset="0"/>
                <a:cs typeface="Times New Roman" panose="02020603050405020304" pitchFamily="18" charset="0"/>
              </a:rPr>
              <a:t> 设计，并由</a:t>
            </a:r>
            <a:r>
              <a:rPr lang="zh-CN" altLang="en-US" sz="2000" dirty="0">
                <a:latin typeface="Times New Roman" panose="02020603050405020304" pitchFamily="18" charset="0"/>
                <a:cs typeface="Times New Roman" panose="02020603050405020304" pitchFamily="18" charset="0"/>
              </a:rPr>
              <a:t>美国国家标准技术研究院 </a:t>
            </a:r>
            <a:r>
              <a:rPr lang="en-US" altLang="zh-CN" sz="2000" dirty="0">
                <a:latin typeface="Times New Roman" panose="02020603050405020304" pitchFamily="18" charset="0"/>
                <a:cs typeface="Times New Roman" panose="02020603050405020304" pitchFamily="18" charset="0"/>
              </a:rPr>
              <a:t>(NIST) </a:t>
            </a:r>
            <a:r>
              <a:rPr lang="zh-CN" altLang="en-US" sz="2000" dirty="0">
                <a:solidFill>
                  <a:srgbClr val="333333"/>
                </a:solidFill>
                <a:latin typeface="Times New Roman" panose="02020603050405020304" pitchFamily="18" charset="0"/>
                <a:cs typeface="Times New Roman" panose="02020603050405020304" pitchFamily="18" charset="0"/>
              </a:rPr>
              <a:t>发布为联邦数据处理标准 </a:t>
            </a:r>
            <a:r>
              <a:rPr lang="en-US" altLang="zh-CN" sz="2000" dirty="0">
                <a:solidFill>
                  <a:srgbClr val="333333"/>
                </a:solidFill>
                <a:latin typeface="Times New Roman" panose="02020603050405020304" pitchFamily="18" charset="0"/>
                <a:cs typeface="Times New Roman" panose="02020603050405020304" pitchFamily="18" charset="0"/>
              </a:rPr>
              <a:t>(FIPS)</a:t>
            </a:r>
            <a:r>
              <a:rPr lang="zh-CN" altLang="en-US" sz="2000" dirty="0">
                <a:solidFill>
                  <a:srgbClr val="333333"/>
                </a:solidFill>
                <a:latin typeface="Times New Roman" panose="02020603050405020304" pitchFamily="18" charset="0"/>
                <a:cs typeface="Times New Roman" panose="02020603050405020304" pitchFamily="18" charset="0"/>
              </a:rPr>
              <a:t>。</a:t>
            </a:r>
            <a:endParaRPr lang="en-US" altLang="zh-CN" sz="2000" b="0" i="0" dirty="0">
              <a:solidFill>
                <a:srgbClr val="333333"/>
              </a:solidFill>
              <a:effectLst/>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221B7958-2233-408D-B38A-A8FF67013D1A}"/>
              </a:ext>
            </a:extLst>
          </p:cNvPr>
          <p:cNvSpPr txBox="1"/>
          <p:nvPr/>
        </p:nvSpPr>
        <p:spPr>
          <a:xfrm>
            <a:off x="7178466" y="2500192"/>
            <a:ext cx="1840259" cy="276999"/>
          </a:xfrm>
          <a:prstGeom prst="rect">
            <a:avLst/>
          </a:prstGeom>
          <a:noFill/>
        </p:spPr>
        <p:txBody>
          <a:bodyPr wrap="square">
            <a:spAutoFit/>
          </a:bodyPr>
          <a:lstStyle/>
          <a:p>
            <a:r>
              <a:rPr lang="en-US" altLang="zh-CN" sz="1200" b="0" i="0" dirty="0">
                <a:solidFill>
                  <a:srgbClr val="333333"/>
                </a:solidFill>
                <a:effectLst/>
                <a:latin typeface="Times New Roman" panose="02020603050405020304" pitchFamily="18" charset="0"/>
                <a:cs typeface="Times New Roman" panose="02020603050405020304" pitchFamily="18" charset="0"/>
              </a:rPr>
              <a:t>National Security Agency</a:t>
            </a:r>
            <a:endParaRPr lang="zh-CN" altLang="en-US" sz="1200" dirty="0">
              <a:latin typeface="Times New Roman" panose="02020603050405020304" pitchFamily="18" charset="0"/>
              <a:cs typeface="Times New Roman" panose="02020603050405020304" pitchFamily="18" charset="0"/>
            </a:endParaRPr>
          </a:p>
        </p:txBody>
      </p:sp>
      <p:pic>
        <p:nvPicPr>
          <p:cNvPr id="11" name="Picture 2" descr="美国国家安全局">
            <a:extLst>
              <a:ext uri="{FF2B5EF4-FFF2-40B4-BE49-F238E27FC236}">
                <a16:creationId xmlns:a16="http://schemas.microsoft.com/office/drawing/2014/main" id="{FB300340-746C-4A5A-856C-50ED3C87D3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9834" y="1199072"/>
            <a:ext cx="1319107" cy="1319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426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表格 33">
                <a:extLst>
                  <a:ext uri="{FF2B5EF4-FFF2-40B4-BE49-F238E27FC236}">
                    <a16:creationId xmlns:a16="http://schemas.microsoft.com/office/drawing/2014/main" id="{95D78EF1-086E-48F4-9549-4497B8DF3FF1}"/>
                  </a:ext>
                </a:extLst>
              </p:cNvPr>
              <p:cNvGraphicFramePr>
                <a:graphicFrameLocks noGrp="1"/>
              </p:cNvGraphicFramePr>
              <p:nvPr>
                <p:extLst>
                  <p:ext uri="{D42A27DB-BD31-4B8C-83A1-F6EECF244321}">
                    <p14:modId xmlns:p14="http://schemas.microsoft.com/office/powerpoint/2010/main" val="1274348234"/>
                  </p:ext>
                </p:extLst>
              </p:nvPr>
            </p:nvGraphicFramePr>
            <p:xfrm>
              <a:off x="457708" y="1457143"/>
              <a:ext cx="8271252" cy="5273040"/>
            </p:xfrm>
            <a:graphic>
              <a:graphicData uri="http://schemas.openxmlformats.org/drawingml/2006/table">
                <a:tbl>
                  <a:tblPr firstRow="1" bandRow="1">
                    <a:tableStyleId>{22838BEF-8BB2-4498-84A7-C5851F593DF1}</a:tableStyleId>
                  </a:tblPr>
                  <a:tblGrid>
                    <a:gridCol w="844269">
                      <a:extLst>
                        <a:ext uri="{9D8B030D-6E8A-4147-A177-3AD203B41FA5}">
                          <a16:colId xmlns:a16="http://schemas.microsoft.com/office/drawing/2014/main" val="443853919"/>
                        </a:ext>
                      </a:extLst>
                    </a:gridCol>
                    <a:gridCol w="1482166">
                      <a:extLst>
                        <a:ext uri="{9D8B030D-6E8A-4147-A177-3AD203B41FA5}">
                          <a16:colId xmlns:a16="http://schemas.microsoft.com/office/drawing/2014/main" val="992950837"/>
                        </a:ext>
                      </a:extLst>
                    </a:gridCol>
                    <a:gridCol w="1166884">
                      <a:extLst>
                        <a:ext uri="{9D8B030D-6E8A-4147-A177-3AD203B41FA5}">
                          <a16:colId xmlns:a16="http://schemas.microsoft.com/office/drawing/2014/main" val="2937041617"/>
                        </a:ext>
                      </a:extLst>
                    </a:gridCol>
                    <a:gridCol w="1166883">
                      <a:extLst>
                        <a:ext uri="{9D8B030D-6E8A-4147-A177-3AD203B41FA5}">
                          <a16:colId xmlns:a16="http://schemas.microsoft.com/office/drawing/2014/main" val="144259974"/>
                        </a:ext>
                      </a:extLst>
                    </a:gridCol>
                    <a:gridCol w="1798000">
                      <a:extLst>
                        <a:ext uri="{9D8B030D-6E8A-4147-A177-3AD203B41FA5}">
                          <a16:colId xmlns:a16="http://schemas.microsoft.com/office/drawing/2014/main" val="3635477239"/>
                        </a:ext>
                      </a:extLst>
                    </a:gridCol>
                    <a:gridCol w="1106424">
                      <a:extLst>
                        <a:ext uri="{9D8B030D-6E8A-4147-A177-3AD203B41FA5}">
                          <a16:colId xmlns:a16="http://schemas.microsoft.com/office/drawing/2014/main" val="3160258444"/>
                        </a:ext>
                      </a:extLst>
                    </a:gridCol>
                    <a:gridCol w="706626">
                      <a:extLst>
                        <a:ext uri="{9D8B030D-6E8A-4147-A177-3AD203B41FA5}">
                          <a16:colId xmlns:a16="http://schemas.microsoft.com/office/drawing/2014/main" val="4229826906"/>
                        </a:ext>
                      </a:extLst>
                    </a:gridCol>
                  </a:tblGrid>
                  <a:tr h="556435">
                    <a:tc gridSpan="2">
                      <a:txBody>
                        <a:bodyPr/>
                        <a:lstStyle/>
                        <a:p>
                          <a:pPr algn="ctr"/>
                          <a:r>
                            <a:rPr lang="zh-CN" altLang="en-US" sz="1600" b="1" i="0" kern="1200" dirty="0">
                              <a:solidFill>
                                <a:schemeClr val="bg1"/>
                              </a:solidFill>
                              <a:effectLst/>
                              <a:latin typeface="Times New Roman" panose="02020603050405020304" pitchFamily="18" charset="0"/>
                              <a:ea typeface="+mn-ea"/>
                              <a:cs typeface="Times New Roman" panose="02020603050405020304" pitchFamily="18" charset="0"/>
                            </a:rPr>
                            <a:t>算法和变体</a:t>
                          </a:r>
                          <a:endParaRPr lang="zh-CN" altLang="en-US" sz="160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h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bg1"/>
                              </a:solidFill>
                              <a:latin typeface="Times New Roman" panose="02020603050405020304" pitchFamily="18" charset="0"/>
                              <a:cs typeface="Times New Roman" panose="02020603050405020304" pitchFamily="18" charset="0"/>
                            </a:rPr>
                            <a:t>消息长度</a:t>
                          </a:r>
                          <a:endParaRPr lang="en-US" altLang="zh-CN" sz="1600" dirty="0">
                            <a:solidFill>
                              <a:schemeClr val="bg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dirty="0" smtClean="0">
                                    <a:solidFill>
                                      <a:schemeClr val="bg1"/>
                                    </a:solidFill>
                                    <a:latin typeface="Cambria Math" panose="02040503050406030204" pitchFamily="18" charset="0"/>
                                  </a:rPr>
                                  <m:t>bits</m:t>
                                </m:r>
                              </m:oMath>
                            </m:oMathPara>
                          </a14:m>
                          <a:endParaRPr lang="zh-CN" altLang="en-US" sz="1600" i="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bg1"/>
                              </a:solidFill>
                              <a:latin typeface="Times New Roman" panose="02020603050405020304" pitchFamily="18" charset="0"/>
                              <a:cs typeface="Times New Roman" panose="02020603050405020304" pitchFamily="18" charset="0"/>
                            </a:rPr>
                            <a:t>分组长度</a:t>
                          </a:r>
                          <a:endParaRPr lang="en-US" altLang="zh-CN" sz="1600" dirty="0">
                            <a:solidFill>
                              <a:schemeClr val="bg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dirty="0" smtClean="0">
                                    <a:solidFill>
                                      <a:schemeClr val="bg1"/>
                                    </a:solidFill>
                                    <a:latin typeface="Cambria Math" panose="02040503050406030204" pitchFamily="18" charset="0"/>
                                  </a:rPr>
                                  <m:t>bits</m:t>
                                </m:r>
                              </m:oMath>
                            </m:oMathPara>
                          </a14:m>
                          <a:endParaRPr lang="zh-CN" altLang="en-US" sz="160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bg1"/>
                              </a:solidFill>
                              <a:effectLst/>
                              <a:latin typeface="Times New Roman" panose="02020603050405020304" pitchFamily="18" charset="0"/>
                              <a:cs typeface="Times New Roman" panose="02020603050405020304" pitchFamily="18" charset="0"/>
                            </a:rPr>
                            <a:t>中继散列值长度</a:t>
                          </a:r>
                          <a:endParaRPr lang="en-US" altLang="zh-CN" sz="1600" b="1" kern="1200" dirty="0">
                            <a:solidFill>
                              <a:schemeClr val="bg1"/>
                            </a:solidFill>
                            <a:effectLst/>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dirty="0" smtClean="0">
                                    <a:solidFill>
                                      <a:schemeClr val="bg1"/>
                                    </a:solidFill>
                                    <a:latin typeface="Cambria Math" panose="02040503050406030204" pitchFamily="18" charset="0"/>
                                  </a:rPr>
                                  <m:t>bits</m:t>
                                </m:r>
                              </m:oMath>
                            </m:oMathPara>
                          </a14:m>
                          <a:endParaRPr lang="zh-CN" altLang="en-US" sz="1600" i="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bg1"/>
                              </a:solidFill>
                              <a:latin typeface="Times New Roman" panose="02020603050405020304" pitchFamily="18" charset="0"/>
                              <a:cs typeface="Times New Roman" panose="02020603050405020304" pitchFamily="18" charset="0"/>
                            </a:rPr>
                            <a:t>输出长度</a:t>
                          </a:r>
                          <a:endParaRPr lang="en-US" altLang="zh-CN" sz="1600" dirty="0">
                            <a:solidFill>
                              <a:schemeClr val="bg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dirty="0" smtClean="0">
                                    <a:solidFill>
                                      <a:schemeClr val="bg1"/>
                                    </a:solidFill>
                                    <a:latin typeface="Cambria Math" panose="02040503050406030204" pitchFamily="18" charset="0"/>
                                  </a:rPr>
                                  <m:t>bits</m:t>
                                </m:r>
                              </m:oMath>
                            </m:oMathPara>
                          </a14:m>
                          <a:endParaRPr lang="zh-CN" altLang="en-US" sz="1600" i="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bg1"/>
                              </a:solidFill>
                              <a:latin typeface="Times New Roman" panose="02020603050405020304" pitchFamily="18" charset="0"/>
                              <a:cs typeface="Times New Roman" panose="02020603050405020304" pitchFamily="18" charset="0"/>
                            </a:rPr>
                            <a:t>循环次数</a:t>
                          </a:r>
                        </a:p>
                      </a:txBody>
                      <a:tcPr anchor="ctr" anchorCtr="1">
                        <a:solidFill>
                          <a:schemeClr val="accent1"/>
                        </a:solidFill>
                      </a:tcPr>
                    </a:tc>
                    <a:extLst>
                      <a:ext uri="{0D108BD9-81ED-4DB2-BD59-A6C34878D82A}">
                        <a16:rowId xmlns:a16="http://schemas.microsoft.com/office/drawing/2014/main" val="1885644185"/>
                      </a:ext>
                    </a:extLst>
                  </a:tr>
                  <a:tr h="32214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SHA-0</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SHA-0</a:t>
                          </a:r>
                          <a:endParaRPr lang="zh-CN" altLang="en-US" sz="1800" dirty="0">
                            <a:latin typeface="Times New Roman" panose="02020603050405020304" pitchFamily="18" charset="0"/>
                            <a:cs typeface="Times New Roman" panose="02020603050405020304" pitchFamily="18" charset="0"/>
                          </a:endParaRPr>
                        </a:p>
                      </a:txBody>
                      <a:tcPr anchor="ctr" anchorCtr="1"/>
                    </a:tc>
                    <a:tc rowSpan="2">
                      <a:txBody>
                        <a:bodyPr/>
                        <a:lstStyle/>
                        <a:p>
                          <a:pPr algn="ctr"/>
                          <a14:m>
                            <m:oMathPara xmlns:m="http://schemas.openxmlformats.org/officeDocument/2006/math">
                              <m:oMathParaPr>
                                <m:jc m:val="centerGroup"/>
                              </m:oMathParaPr>
                              <m:oMath xmlns:m="http://schemas.openxmlformats.org/officeDocument/2006/math">
                                <m:r>
                                  <a:rPr lang="en-US" altLang="zh-CN" sz="1600" smtClean="0">
                                    <a:latin typeface="Cambria Math" panose="02040503050406030204" pitchFamily="18" charset="0"/>
                                  </a:rPr>
                                  <m:t>&lt;</m:t>
                                </m:r>
                                <m:sSup>
                                  <m:sSupPr>
                                    <m:ctrlPr>
                                      <a:rPr lang="en-US" altLang="zh-CN" sz="1600" b="0" i="1" smtClean="0">
                                        <a:latin typeface="Cambria Math" panose="02040503050406030204" pitchFamily="18" charset="0"/>
                                      </a:rPr>
                                    </m:ctrlPr>
                                  </m:sSupPr>
                                  <m:e>
                                    <m:r>
                                      <a:rPr lang="en-US" altLang="zh-CN" sz="1600" b="0" smtClean="0">
                                        <a:latin typeface="Cambria Math" panose="02040503050406030204" pitchFamily="18" charset="0"/>
                                      </a:rPr>
                                      <m:t>2</m:t>
                                    </m:r>
                                  </m:e>
                                  <m:sup>
                                    <m:r>
                                      <a:rPr lang="en-US" altLang="zh-CN" sz="1600" b="0" smtClean="0">
                                        <a:latin typeface="Cambria Math" panose="02040503050406030204" pitchFamily="18" charset="0"/>
                                      </a:rPr>
                                      <m:t>64</m:t>
                                    </m:r>
                                  </m:sup>
                                </m:sSup>
                              </m:oMath>
                            </m:oMathPara>
                          </a14:m>
                          <a:endParaRPr lang="en-US" altLang="zh-CN" sz="1600" b="0" dirty="0">
                            <a:latin typeface="Times New Roman" panose="02020603050405020304" pitchFamily="18" charset="0"/>
                          </a:endParaRPr>
                        </a:p>
                      </a:txBody>
                      <a:tcPr anchor="ctr"/>
                    </a:tc>
                    <a:tc rowSpan="2">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160</a:t>
                          </a:r>
                          <a:r>
                            <a:rPr lang="zh-CN" altLang="en-US" sz="1600" b="0" kern="1200" dirty="0">
                              <a:solidFill>
                                <a:schemeClr val="dk1"/>
                              </a:solidFill>
                              <a:effectLst/>
                              <a:latin typeface="Times New Roman" panose="02020603050405020304" pitchFamily="18" charset="0"/>
                              <a:cs typeface="Times New Roman" panose="02020603050405020304" pitchFamily="18" charset="0"/>
                            </a:rPr>
                            <a:t> </a:t>
                          </a:r>
                          <a:r>
                            <a:rPr lang="en-US" altLang="zh-CN" sz="1600" b="0" kern="1200" dirty="0">
                              <a:solidFill>
                                <a:schemeClr val="dk1"/>
                              </a:solidFill>
                              <a:effectLst/>
                              <a:latin typeface="Times New Roman" panose="02020603050405020304" pitchFamily="18" charset="0"/>
                              <a:cs typeface="Times New Roman" panose="02020603050405020304" pitchFamily="18" charset="0"/>
                            </a:rPr>
                            <a:t>(5 × 32)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160</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en-US" altLang="zh-CN" sz="1600" dirty="0">
                              <a:latin typeface="Times New Roman" panose="02020603050405020304" pitchFamily="18" charset="0"/>
                              <a:cs typeface="Times New Roman" panose="02020603050405020304" pitchFamily="18" charset="0"/>
                            </a:rPr>
                            <a:t>80</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61514488"/>
                      </a:ext>
                    </a:extLst>
                  </a:tr>
                  <a:tr h="32214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SHA-1</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SHA-1</a:t>
                          </a:r>
                          <a:endParaRPr lang="zh-CN" altLang="en-US" sz="18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m:oMathPara xmlns:m="http://schemas.openxmlformats.org/officeDocument/2006/math">
                              <m:oMathParaPr>
                                <m:jc m:val="centerGroup"/>
                              </m:oMathParaPr>
                              <m:oMath xmlns:m="http://schemas.openxmlformats.org/officeDocument/2006/math">
                                <m:r>
                                  <a:rPr lang="en-US" altLang="zh-CN" sz="1600" smtClean="0">
                                    <a:latin typeface="Cambria Math" panose="02040503050406030204" pitchFamily="18" charset="0"/>
                                  </a:rPr>
                                  <m:t>&lt;</m:t>
                                </m:r>
                                <m:sSup>
                                  <m:sSupPr>
                                    <m:ctrlPr>
                                      <a:rPr lang="en-US" altLang="zh-CN" sz="1600" b="0" i="1" smtClean="0">
                                        <a:latin typeface="Cambria Math" panose="02040503050406030204" pitchFamily="18" charset="0"/>
                                      </a:rPr>
                                    </m:ctrlPr>
                                  </m:sSupPr>
                                  <m:e>
                                    <m:r>
                                      <a:rPr lang="en-US" altLang="zh-CN" sz="1600" b="0" smtClean="0">
                                        <a:latin typeface="Cambria Math" panose="02040503050406030204" pitchFamily="18" charset="0"/>
                                      </a:rPr>
                                      <m:t>2</m:t>
                                    </m:r>
                                  </m:e>
                                  <m:sup>
                                    <m:r>
                                      <a:rPr lang="en-US" altLang="zh-CN" sz="1600" b="0" smtClean="0">
                                        <a:latin typeface="Cambria Math" panose="02040503050406030204" pitchFamily="18" charset="0"/>
                                      </a:rPr>
                                      <m:t>64</m:t>
                                    </m:r>
                                  </m:sup>
                                </m:sSup>
                              </m:oMath>
                            </m:oMathPara>
                          </a14:m>
                          <a:endParaRPr lang="en-US" altLang="zh-CN" sz="1600" b="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160</a:t>
                          </a:r>
                          <a:r>
                            <a:rPr lang="zh-CN" altLang="en-US" sz="1600" b="0" kern="1200" dirty="0">
                              <a:solidFill>
                                <a:schemeClr val="dk1"/>
                              </a:solidFill>
                              <a:effectLst/>
                              <a:latin typeface="Times New Roman" panose="02020603050405020304" pitchFamily="18" charset="0"/>
                              <a:cs typeface="Times New Roman" panose="02020603050405020304" pitchFamily="18" charset="0"/>
                            </a:rPr>
                            <a:t> </a:t>
                          </a:r>
                          <a:r>
                            <a:rPr lang="en-US" altLang="zh-CN" sz="1600" b="0" kern="1200" dirty="0">
                              <a:solidFill>
                                <a:schemeClr val="dk1"/>
                              </a:solidFill>
                              <a:effectLst/>
                              <a:latin typeface="Times New Roman" panose="02020603050405020304" pitchFamily="18" charset="0"/>
                              <a:cs typeface="Times New Roman" panose="02020603050405020304" pitchFamily="18" charset="0"/>
                            </a:rPr>
                            <a:t>(5 × 32)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160</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600" dirty="0">
                              <a:latin typeface="Times New Roman" panose="02020603050405020304" pitchFamily="18" charset="0"/>
                              <a:cs typeface="Times New Roman" panose="02020603050405020304" pitchFamily="18" charset="0"/>
                            </a:rPr>
                            <a:t>80</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6063242"/>
                      </a:ext>
                    </a:extLst>
                  </a:tr>
                  <a:tr h="322147">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SHA-2</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14:m>
                            <m:oMathPara xmlns:m="http://schemas.openxmlformats.org/officeDocument/2006/math">
                              <m:oMathParaPr>
                                <m:jc m:val="centerGroup"/>
                              </m:oMathParaPr>
                              <m:oMath xmlns:m="http://schemas.openxmlformats.org/officeDocument/2006/math">
                                <m:r>
                                  <a:rPr lang="en-US" altLang="zh-CN" sz="1600" smtClean="0">
                                    <a:latin typeface="Cambria Math" panose="02040503050406030204" pitchFamily="18" charset="0"/>
                                  </a:rPr>
                                  <m:t>&lt;</m:t>
                                </m:r>
                                <m:sSup>
                                  <m:sSupPr>
                                    <m:ctrlPr>
                                      <a:rPr lang="en-US" altLang="zh-CN" sz="1600" b="0" i="1" smtClean="0">
                                        <a:latin typeface="Cambria Math" panose="02040503050406030204" pitchFamily="18" charset="0"/>
                                      </a:rPr>
                                    </m:ctrlPr>
                                  </m:sSupPr>
                                  <m:e>
                                    <m:r>
                                      <a:rPr lang="en-US" altLang="zh-CN" sz="1600" b="0" smtClean="0">
                                        <a:latin typeface="Cambria Math" panose="02040503050406030204" pitchFamily="18" charset="0"/>
                                      </a:rPr>
                                      <m:t>2</m:t>
                                    </m:r>
                                  </m:e>
                                  <m:sup>
                                    <m:r>
                                      <a:rPr lang="en-US" altLang="zh-CN" sz="1600" b="0" smtClean="0">
                                        <a:latin typeface="Cambria Math" panose="02040503050406030204" pitchFamily="18" charset="0"/>
                                      </a:rPr>
                                      <m:t>64</m:t>
                                    </m:r>
                                  </m:sup>
                                </m:sSup>
                              </m:oMath>
                            </m:oMathPara>
                          </a14:m>
                          <a:endParaRPr lang="en-US" altLang="zh-CN" sz="16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rowSpan="2">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256</a:t>
                          </a:r>
                          <a:br>
                            <a:rPr lang="zh-CN" altLang="en-US" sz="1600" dirty="0">
                              <a:latin typeface="Times New Roman" panose="02020603050405020304" pitchFamily="18" charset="0"/>
                              <a:cs typeface="Times New Roman" panose="02020603050405020304" pitchFamily="18" charset="0"/>
                            </a:rPr>
                          </a:br>
                          <a:r>
                            <a:rPr lang="en-US" altLang="zh-CN" sz="1600" b="0" kern="1200" dirty="0">
                              <a:solidFill>
                                <a:schemeClr val="dk1"/>
                              </a:solidFill>
                              <a:effectLst/>
                              <a:latin typeface="Times New Roman" panose="02020603050405020304" pitchFamily="18" charset="0"/>
                              <a:cs typeface="Times New Roman" panose="02020603050405020304" pitchFamily="18" charset="0"/>
                            </a:rPr>
                            <a:t>(8 × 32)</a:t>
                          </a:r>
                          <a:endParaRPr lang="zh-CN"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en-US" altLang="zh-CN" sz="1600" dirty="0">
                              <a:latin typeface="Times New Roman" panose="02020603050405020304" pitchFamily="18" charset="0"/>
                              <a:cs typeface="Times New Roman" panose="02020603050405020304" pitchFamily="18" charset="0"/>
                            </a:rPr>
                            <a:t>64</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682307"/>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rPr>
                                  <m:t>&lt;</m:t>
                                </m:r>
                                <m:sSup>
                                  <m:sSupPr>
                                    <m:ctrlPr>
                                      <a:rPr lang="en-US" altLang="zh-CN" sz="2000" b="0" i="1" smtClean="0">
                                        <a:latin typeface="Cambria Math" panose="02040503050406030204" pitchFamily="18" charset="0"/>
                                      </a:rPr>
                                    </m:ctrlPr>
                                  </m:sSupPr>
                                  <m:e>
                                    <m:r>
                                      <a:rPr lang="en-US" altLang="zh-CN" sz="2000" b="0" smtClean="0">
                                        <a:latin typeface="Cambria Math" panose="02040503050406030204" pitchFamily="18" charset="0"/>
                                      </a:rPr>
                                      <m:t>2</m:t>
                                    </m:r>
                                  </m:e>
                                  <m:sup>
                                    <m:r>
                                      <a:rPr lang="en-US" altLang="zh-CN" sz="2000" b="0" smtClean="0">
                                        <a:latin typeface="Cambria Math" panose="02040503050406030204" pitchFamily="18" charset="0"/>
                                      </a:rPr>
                                      <m:t>64</m:t>
                                    </m:r>
                                  </m:sup>
                                </m:sSup>
                              </m:oMath>
                            </m:oMathPara>
                          </a14:m>
                          <a:endParaRPr lang="en-US" altLang="zh-CN" sz="2000" b="0" dirty="0">
                            <a:latin typeface="Times New Roman" panose="02020603050405020304" pitchFamily="18" charset="0"/>
                            <a:ea typeface="Cambria Math" panose="02040503050406030204" pitchFamily="18" charset="0"/>
                            <a:cs typeface="Times New Roman" panose="02020603050405020304" pitchFamily="18" charset="0"/>
                          </a:endParaRPr>
                        </a:p>
                      </a:txBody>
                      <a:tcPr/>
                    </a:tc>
                    <a:tc vMerge="1">
                      <a:txBody>
                        <a:bodyPr/>
                        <a:lstStyle/>
                        <a:p>
                          <a:pPr algn="ctr"/>
                          <a:r>
                            <a:rPr lang="en-US" altLang="zh-CN" sz="1800" dirty="0">
                              <a:latin typeface="Times New Roman" panose="02020603050405020304" pitchFamily="18" charset="0"/>
                              <a:cs typeface="Times New Roman" panose="02020603050405020304" pitchFamily="18" charset="0"/>
                            </a:rPr>
                            <a:t>512</a:t>
                          </a: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800" dirty="0">
                              <a:latin typeface="Times New Roman" panose="02020603050405020304" pitchFamily="18" charset="0"/>
                              <a:cs typeface="Times New Roman" panose="02020603050405020304" pitchFamily="18" charset="0"/>
                            </a:rPr>
                            <a:t>32</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800" dirty="0">
                              <a:latin typeface="Times New Roman" panose="02020603050405020304" pitchFamily="18" charset="0"/>
                              <a:cs typeface="Times New Roman" panose="02020603050405020304" pitchFamily="18" charset="0"/>
                            </a:rPr>
                            <a:t>64</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5758258"/>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SHA-384</a:t>
                          </a:r>
                          <a:endParaRPr lang="zh-CN" altLang="en-US" sz="1600" dirty="0">
                            <a:latin typeface="Times New Roman" panose="02020603050405020304" pitchFamily="18" charset="0"/>
                            <a:cs typeface="Times New Roman" panose="02020603050405020304" pitchFamily="18" charset="0"/>
                          </a:endParaRPr>
                        </a:p>
                      </a:txBody>
                      <a:tcPr anchor="ctr" anchorCtr="1"/>
                    </a:tc>
                    <a:tc rowSpan="4">
                      <a:txBody>
                        <a:bodyPr/>
                        <a:lstStyle/>
                        <a:p>
                          <a:pPr algn="ctr"/>
                          <a14:m>
                            <m:oMathPara xmlns:m="http://schemas.openxmlformats.org/officeDocument/2006/math">
                              <m:oMathParaPr>
                                <m:jc m:val="centerGroup"/>
                              </m:oMathParaPr>
                              <m:oMath xmlns:m="http://schemas.openxmlformats.org/officeDocument/2006/math">
                                <m:r>
                                  <a:rPr lang="en-US" altLang="zh-CN" sz="1600" smtClean="0">
                                    <a:latin typeface="Cambria Math" panose="02040503050406030204" pitchFamily="18" charset="0"/>
                                  </a:rPr>
                                  <m:t>&lt;</m:t>
                                </m:r>
                                <m:sSup>
                                  <m:sSupPr>
                                    <m:ctrlPr>
                                      <a:rPr lang="en-US" altLang="zh-CN" sz="1600" b="0" i="1" smtClean="0">
                                        <a:latin typeface="Cambria Math" panose="02040503050406030204" pitchFamily="18" charset="0"/>
                                      </a:rPr>
                                    </m:ctrlPr>
                                  </m:sSupPr>
                                  <m:e>
                                    <m:r>
                                      <a:rPr lang="en-US" altLang="zh-CN" sz="1600" b="0" smtClean="0">
                                        <a:latin typeface="Cambria Math" panose="02040503050406030204" pitchFamily="18" charset="0"/>
                                      </a:rPr>
                                      <m:t>2</m:t>
                                    </m:r>
                                  </m:e>
                                  <m:sup>
                                    <m:r>
                                      <a:rPr lang="en-US" altLang="zh-CN" sz="1600" b="0" smtClean="0">
                                        <a:latin typeface="Cambria Math" panose="02040503050406030204" pitchFamily="18" charset="0"/>
                                      </a:rPr>
                                      <m:t>128</m:t>
                                    </m:r>
                                  </m:sup>
                                </m:sSup>
                              </m:oMath>
                            </m:oMathPara>
                          </a14:m>
                          <a:endParaRPr lang="en-US" altLang="zh-CN" sz="16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rowSpan="4">
                      <a:txBody>
                        <a:bodyPr/>
                        <a:lstStyle/>
                        <a:p>
                          <a:pPr algn="ctr"/>
                          <a:r>
                            <a:rPr lang="en-US" altLang="zh-CN" sz="1600" dirty="0">
                              <a:latin typeface="Times New Roman" panose="02020603050405020304" pitchFamily="18" charset="0"/>
                              <a:cs typeface="Times New Roman" panose="02020603050405020304" pitchFamily="18" charset="0"/>
                            </a:rPr>
                            <a:t>1024</a:t>
                          </a:r>
                          <a:endParaRPr lang="zh-CN" altLang="en-US" sz="1600"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512</a:t>
                          </a:r>
                          <a:br>
                            <a:rPr lang="zh-CN" altLang="en-US" sz="1600" dirty="0">
                              <a:latin typeface="Times New Roman" panose="02020603050405020304" pitchFamily="18" charset="0"/>
                              <a:cs typeface="Times New Roman" panose="02020603050405020304" pitchFamily="18" charset="0"/>
                            </a:rPr>
                          </a:br>
                          <a:r>
                            <a:rPr lang="en-US" altLang="zh-CN" sz="1600" b="0" kern="1200" dirty="0">
                              <a:solidFill>
                                <a:schemeClr val="dk1"/>
                              </a:solidFill>
                              <a:effectLst/>
                              <a:latin typeface="Times New Roman" panose="02020603050405020304" pitchFamily="18" charset="0"/>
                              <a:cs typeface="Times New Roman" panose="02020603050405020304" pitchFamily="18" charset="0"/>
                            </a:rPr>
                            <a:t>(8 × 64)</a:t>
                          </a:r>
                          <a:endParaRPr lang="zh-CN"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384</a:t>
                          </a:r>
                          <a:endParaRPr lang="zh-CN" altLang="en-US" sz="1600" dirty="0">
                            <a:latin typeface="Times New Roman" panose="02020603050405020304" pitchFamily="18" charset="0"/>
                            <a:cs typeface="Times New Roman" panose="02020603050405020304" pitchFamily="18" charset="0"/>
                          </a:endParaRPr>
                        </a:p>
                      </a:txBody>
                      <a:tcPr anchor="ctr" anchorCtr="1"/>
                    </a:tc>
                    <a:tc rowSpan="4">
                      <a:txBody>
                        <a:bodyPr/>
                        <a:lstStyle/>
                        <a:p>
                          <a:pPr algn="ctr"/>
                          <a:r>
                            <a:rPr lang="en-US" altLang="zh-CN" sz="1600" dirty="0">
                              <a:latin typeface="Times New Roman" panose="02020603050405020304" pitchFamily="18" charset="0"/>
                              <a:cs typeface="Times New Roman" panose="02020603050405020304" pitchFamily="18" charset="0"/>
                            </a:rPr>
                            <a:t>80</a:t>
                          </a:r>
                        </a:p>
                      </a:txBody>
                      <a:tcPr anchor="ctr"/>
                    </a:tc>
                    <a:extLst>
                      <a:ext uri="{0D108BD9-81ED-4DB2-BD59-A6C34878D82A}">
                        <a16:rowId xmlns:a16="http://schemas.microsoft.com/office/drawing/2014/main" val="3456606509"/>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m:oMathPara xmlns:m="http://schemas.openxmlformats.org/officeDocument/2006/math">
                              <m:oMathParaPr>
                                <m:jc m:val="centerGroup"/>
                              </m:oMathParaPr>
                              <m:oMath xmlns:m="http://schemas.openxmlformats.org/officeDocument/2006/math">
                                <m:r>
                                  <a:rPr lang="en-US" altLang="zh-CN" sz="1800" smtClean="0">
                                    <a:latin typeface="Cambria Math" panose="02040503050406030204" pitchFamily="18" charset="0"/>
                                  </a:rPr>
                                  <m:t>&lt;</m:t>
                                </m:r>
                                <m:sSup>
                                  <m:sSupPr>
                                    <m:ctrlPr>
                                      <a:rPr lang="en-US" altLang="zh-CN" sz="1800" b="0" i="1" smtClean="0">
                                        <a:latin typeface="Cambria Math" panose="02040503050406030204" pitchFamily="18" charset="0"/>
                                      </a:rPr>
                                    </m:ctrlPr>
                                  </m:sSupPr>
                                  <m:e>
                                    <m:r>
                                      <a:rPr lang="en-US" altLang="zh-CN" sz="1800" b="0" smtClean="0">
                                        <a:latin typeface="Cambria Math" panose="02040503050406030204" pitchFamily="18" charset="0"/>
                                      </a:rPr>
                                      <m:t>2</m:t>
                                    </m:r>
                                  </m:e>
                                  <m:sup>
                                    <m:r>
                                      <a:rPr lang="en-US" altLang="zh-CN" sz="1800" b="0" smtClean="0">
                                        <a:latin typeface="Cambria Math" panose="02040503050406030204" pitchFamily="18" charset="0"/>
                                      </a:rPr>
                                      <m:t>128</m:t>
                                    </m:r>
                                  </m:sup>
                                </m:sSup>
                              </m:oMath>
                            </m:oMathPara>
                          </a14:m>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r>
                            <a:rPr lang="en-US" altLang="zh-CN" sz="1800" dirty="0">
                              <a:latin typeface="Times New Roman" panose="02020603050405020304" pitchFamily="18" charset="0"/>
                              <a:cs typeface="Times New Roman" panose="02020603050405020304" pitchFamily="18" charset="0"/>
                            </a:rPr>
                            <a:t>1024</a:t>
                          </a: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64</a:t>
                          </a: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800" dirty="0">
                              <a:latin typeface="Times New Roman" panose="02020603050405020304" pitchFamily="18" charset="0"/>
                              <a:cs typeface="Times New Roman" panose="02020603050405020304" pitchFamily="18" charset="0"/>
                            </a:rPr>
                            <a:t>80</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19279550"/>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SHA-512/224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1362867"/>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58062829"/>
                      </a:ext>
                    </a:extLst>
                  </a:tr>
                  <a:tr h="322147">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SHA-3</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SHA3-224</a:t>
                          </a:r>
                          <a:endParaRPr lang="zh-CN" altLang="en-US" sz="1600" i="0" dirty="0">
                            <a:latin typeface="Times New Roman" panose="02020603050405020304" pitchFamily="18" charset="0"/>
                            <a:cs typeface="Times New Roman" panose="02020603050405020304" pitchFamily="18" charset="0"/>
                          </a:endParaRPr>
                        </a:p>
                      </a:txBody>
                      <a:tcPr anchor="ctr" anchorCtr="1"/>
                    </a:tc>
                    <a:tc rowSpan="6">
                      <a:txBody>
                        <a:bodyPr/>
                        <a:lstStyle/>
                        <a:p>
                          <a:pPr algn="ctr"/>
                          <a:r>
                            <a:rPr lang="zh-CN" altLang="en-US" sz="1600" b="0" dirty="0">
                              <a:latin typeface="Times New Roman" panose="02020603050405020304" pitchFamily="18" charset="0"/>
                              <a:ea typeface="+mn-ea"/>
                              <a:cs typeface="Times New Roman" panose="02020603050405020304" pitchFamily="18" charset="0"/>
                            </a:rPr>
                            <a:t>无界</a:t>
                          </a:r>
                          <a:endParaRPr lang="en-US" altLang="zh-CN" sz="1600" b="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1152</a:t>
                          </a:r>
                          <a:endParaRPr lang="zh-CN" altLang="en-US" sz="1600" dirty="0">
                            <a:latin typeface="Times New Roman" panose="02020603050405020304" pitchFamily="18" charset="0"/>
                            <a:cs typeface="Times New Roman" panose="02020603050405020304" pitchFamily="18" charset="0"/>
                          </a:endParaRPr>
                        </a:p>
                      </a:txBody>
                      <a:tcPr anchor="ct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1600</a:t>
                          </a:r>
                          <a:br>
                            <a:rPr lang="zh-CN" altLang="en-US" sz="1600" dirty="0">
                              <a:latin typeface="Times New Roman" panose="02020603050405020304" pitchFamily="18" charset="0"/>
                              <a:cs typeface="Times New Roman" panose="02020603050405020304" pitchFamily="18" charset="0"/>
                            </a:rPr>
                          </a:b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(5 × 5 × 64)</a:t>
                          </a: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6">
                      <a:txBody>
                        <a:bodyPr/>
                        <a:lstStyle/>
                        <a:p>
                          <a:pPr algn="ctr"/>
                          <a:r>
                            <a:rPr lang="en-US" altLang="zh-CN" sz="1600" dirty="0">
                              <a:latin typeface="Times New Roman" panose="02020603050405020304" pitchFamily="18" charset="0"/>
                              <a:cs typeface="Times New Roman" panose="02020603050405020304" pitchFamily="18" charset="0"/>
                            </a:rPr>
                            <a:t>24</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69283063"/>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SHA3-256</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1088</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88483867"/>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SHA3-384</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832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384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90595753"/>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SHA3-512</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576</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96998634"/>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SHAKE128</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1344</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zh-CN" altLang="en-US" sz="1600" dirty="0">
                              <a:latin typeface="Times New Roman" panose="02020603050405020304" pitchFamily="18" charset="0"/>
                              <a:cs typeface="Times New Roman" panose="02020603050405020304" pitchFamily="18" charset="0"/>
                            </a:rPr>
                            <a:t>任意</a:t>
                          </a: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72222147"/>
                      </a:ext>
                    </a:extLst>
                  </a:tr>
                  <a:tr h="3221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SHAKE256</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1088</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306579"/>
                      </a:ext>
                    </a:extLst>
                  </a:tr>
                </a:tbl>
              </a:graphicData>
            </a:graphic>
          </p:graphicFrame>
        </mc:Choice>
        <mc:Fallback xmlns="">
          <p:graphicFrame>
            <p:nvGraphicFramePr>
              <p:cNvPr id="8" name="表格 33">
                <a:extLst>
                  <a:ext uri="{FF2B5EF4-FFF2-40B4-BE49-F238E27FC236}">
                    <a16:creationId xmlns:a16="http://schemas.microsoft.com/office/drawing/2014/main" id="{95D78EF1-086E-48F4-9549-4497B8DF3FF1}"/>
                  </a:ext>
                </a:extLst>
              </p:cNvPr>
              <p:cNvGraphicFramePr>
                <a:graphicFrameLocks noGrp="1"/>
              </p:cNvGraphicFramePr>
              <p:nvPr>
                <p:extLst>
                  <p:ext uri="{D42A27DB-BD31-4B8C-83A1-F6EECF244321}">
                    <p14:modId xmlns:p14="http://schemas.microsoft.com/office/powerpoint/2010/main" val="1274348234"/>
                  </p:ext>
                </p:extLst>
              </p:nvPr>
            </p:nvGraphicFramePr>
            <p:xfrm>
              <a:off x="457708" y="1457143"/>
              <a:ext cx="8271252" cy="5273040"/>
            </p:xfrm>
            <a:graphic>
              <a:graphicData uri="http://schemas.openxmlformats.org/drawingml/2006/table">
                <a:tbl>
                  <a:tblPr firstRow="1" bandRow="1">
                    <a:tableStyleId>{22838BEF-8BB2-4498-84A7-C5851F593DF1}</a:tableStyleId>
                  </a:tblPr>
                  <a:tblGrid>
                    <a:gridCol w="844269">
                      <a:extLst>
                        <a:ext uri="{9D8B030D-6E8A-4147-A177-3AD203B41FA5}">
                          <a16:colId xmlns:a16="http://schemas.microsoft.com/office/drawing/2014/main" val="443853919"/>
                        </a:ext>
                      </a:extLst>
                    </a:gridCol>
                    <a:gridCol w="1482166">
                      <a:extLst>
                        <a:ext uri="{9D8B030D-6E8A-4147-A177-3AD203B41FA5}">
                          <a16:colId xmlns:a16="http://schemas.microsoft.com/office/drawing/2014/main" val="992950837"/>
                        </a:ext>
                      </a:extLst>
                    </a:gridCol>
                    <a:gridCol w="1166884">
                      <a:extLst>
                        <a:ext uri="{9D8B030D-6E8A-4147-A177-3AD203B41FA5}">
                          <a16:colId xmlns:a16="http://schemas.microsoft.com/office/drawing/2014/main" val="2937041617"/>
                        </a:ext>
                      </a:extLst>
                    </a:gridCol>
                    <a:gridCol w="1166883">
                      <a:extLst>
                        <a:ext uri="{9D8B030D-6E8A-4147-A177-3AD203B41FA5}">
                          <a16:colId xmlns:a16="http://schemas.microsoft.com/office/drawing/2014/main" val="144259974"/>
                        </a:ext>
                      </a:extLst>
                    </a:gridCol>
                    <a:gridCol w="1798000">
                      <a:extLst>
                        <a:ext uri="{9D8B030D-6E8A-4147-A177-3AD203B41FA5}">
                          <a16:colId xmlns:a16="http://schemas.microsoft.com/office/drawing/2014/main" val="3635477239"/>
                        </a:ext>
                      </a:extLst>
                    </a:gridCol>
                    <a:gridCol w="1106424">
                      <a:extLst>
                        <a:ext uri="{9D8B030D-6E8A-4147-A177-3AD203B41FA5}">
                          <a16:colId xmlns:a16="http://schemas.microsoft.com/office/drawing/2014/main" val="3160258444"/>
                        </a:ext>
                      </a:extLst>
                    </a:gridCol>
                    <a:gridCol w="706626">
                      <a:extLst>
                        <a:ext uri="{9D8B030D-6E8A-4147-A177-3AD203B41FA5}">
                          <a16:colId xmlns:a16="http://schemas.microsoft.com/office/drawing/2014/main" val="4229826906"/>
                        </a:ext>
                      </a:extLst>
                    </a:gridCol>
                  </a:tblGrid>
                  <a:tr h="579120">
                    <a:tc gridSpan="2">
                      <a:txBody>
                        <a:bodyPr/>
                        <a:lstStyle/>
                        <a:p>
                          <a:pPr algn="ctr"/>
                          <a:r>
                            <a:rPr lang="zh-CN" altLang="en-US" sz="1600" b="1" i="0" kern="1200" dirty="0">
                              <a:solidFill>
                                <a:schemeClr val="bg1"/>
                              </a:solidFill>
                              <a:effectLst/>
                              <a:latin typeface="Times New Roman" panose="02020603050405020304" pitchFamily="18" charset="0"/>
                              <a:ea typeface="+mn-ea"/>
                              <a:cs typeface="Times New Roman" panose="02020603050405020304" pitchFamily="18" charset="0"/>
                            </a:rPr>
                            <a:t>算法和变体</a:t>
                          </a:r>
                          <a:endParaRPr lang="zh-CN" altLang="en-US" sz="1600" dirty="0">
                            <a:solidFill>
                              <a:schemeClr val="bg1"/>
                            </a:solidFill>
                            <a:latin typeface="Times New Roman" panose="02020603050405020304" pitchFamily="18" charset="0"/>
                            <a:cs typeface="Times New Roman" panose="02020603050405020304" pitchFamily="18" charset="0"/>
                          </a:endParaRPr>
                        </a:p>
                      </a:txBody>
                      <a:tcPr anchor="ctr" anchorCtr="1">
                        <a:solidFill>
                          <a:schemeClr val="accent1"/>
                        </a:solidFill>
                      </a:tcPr>
                    </a:tc>
                    <a:tc h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zh-CN"/>
                        </a:p>
                      </a:txBody>
                      <a:tcPr anchor="ctr" anchorCtr="1">
                        <a:blipFill>
                          <a:blip r:embed="rId3"/>
                          <a:stretch>
                            <a:fillRect l="-200524" t="-3158" r="-411518" b="-824211"/>
                          </a:stretch>
                        </a:blipFill>
                      </a:tcPr>
                    </a:tc>
                    <a:tc>
                      <a:txBody>
                        <a:bodyPr/>
                        <a:lstStyle/>
                        <a:p>
                          <a:endParaRPr lang="zh-CN"/>
                        </a:p>
                      </a:txBody>
                      <a:tcPr anchor="ctr" anchorCtr="1">
                        <a:blipFill>
                          <a:blip r:embed="rId3"/>
                          <a:stretch>
                            <a:fillRect l="-298958" t="-3158" r="-309375" b="-824211"/>
                          </a:stretch>
                        </a:blipFill>
                      </a:tcPr>
                    </a:tc>
                    <a:tc>
                      <a:txBody>
                        <a:bodyPr/>
                        <a:lstStyle/>
                        <a:p>
                          <a:endParaRPr lang="zh-CN"/>
                        </a:p>
                      </a:txBody>
                      <a:tcPr anchor="ctr" anchorCtr="1">
                        <a:blipFill>
                          <a:blip r:embed="rId3"/>
                          <a:stretch>
                            <a:fillRect l="-259661" t="-3158" r="-101356" b="-824211"/>
                          </a:stretch>
                        </a:blipFill>
                      </a:tcPr>
                    </a:tc>
                    <a:tc>
                      <a:txBody>
                        <a:bodyPr/>
                        <a:lstStyle/>
                        <a:p>
                          <a:endParaRPr lang="zh-CN"/>
                        </a:p>
                      </a:txBody>
                      <a:tcPr anchor="ctr" anchorCtr="1">
                        <a:blipFill>
                          <a:blip r:embed="rId3"/>
                          <a:stretch>
                            <a:fillRect l="-586188" t="-3158" r="-65193" b="-82421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bg1"/>
                              </a:solidFill>
                              <a:latin typeface="Times New Roman" panose="02020603050405020304" pitchFamily="18" charset="0"/>
                              <a:cs typeface="Times New Roman" panose="02020603050405020304" pitchFamily="18" charset="0"/>
                            </a:rPr>
                            <a:t>循环次数</a:t>
                          </a:r>
                        </a:p>
                      </a:txBody>
                      <a:tcPr anchor="ctr" anchorCtr="1">
                        <a:solidFill>
                          <a:schemeClr val="accent1"/>
                        </a:solidFill>
                      </a:tcPr>
                    </a:tc>
                    <a:extLst>
                      <a:ext uri="{0D108BD9-81ED-4DB2-BD59-A6C34878D82A}">
                        <a16:rowId xmlns:a16="http://schemas.microsoft.com/office/drawing/2014/main" val="1885644185"/>
                      </a:ext>
                    </a:extLst>
                  </a:tr>
                  <a:tr h="33528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SHA-0</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SHA-0</a:t>
                          </a:r>
                          <a:endParaRPr lang="zh-CN" altLang="en-US" sz="1800" dirty="0">
                            <a:latin typeface="Times New Roman" panose="02020603050405020304" pitchFamily="18" charset="0"/>
                            <a:cs typeface="Times New Roman" panose="02020603050405020304" pitchFamily="18" charset="0"/>
                          </a:endParaRPr>
                        </a:p>
                      </a:txBody>
                      <a:tcPr anchor="ctr" anchorCtr="1"/>
                    </a:tc>
                    <a:tc rowSpan="2">
                      <a:txBody>
                        <a:bodyPr/>
                        <a:lstStyle/>
                        <a:p>
                          <a:endParaRPr lang="zh-CN"/>
                        </a:p>
                      </a:txBody>
                      <a:tcPr anchor="ctr">
                        <a:blipFill>
                          <a:blip r:embed="rId3"/>
                          <a:stretch>
                            <a:fillRect l="-200524" t="-89091" r="-411518" b="-611818"/>
                          </a:stretch>
                        </a:blipFill>
                      </a:tcPr>
                    </a:tc>
                    <a:tc rowSpan="2">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160</a:t>
                          </a:r>
                          <a:r>
                            <a:rPr lang="zh-CN" altLang="en-US" sz="1600" b="0" kern="1200" dirty="0">
                              <a:solidFill>
                                <a:schemeClr val="dk1"/>
                              </a:solidFill>
                              <a:effectLst/>
                              <a:latin typeface="Times New Roman" panose="02020603050405020304" pitchFamily="18" charset="0"/>
                              <a:cs typeface="Times New Roman" panose="02020603050405020304" pitchFamily="18" charset="0"/>
                            </a:rPr>
                            <a:t> </a:t>
                          </a:r>
                          <a:r>
                            <a:rPr lang="en-US" altLang="zh-CN" sz="1600" b="0" kern="1200" dirty="0">
                              <a:solidFill>
                                <a:schemeClr val="dk1"/>
                              </a:solidFill>
                              <a:effectLst/>
                              <a:latin typeface="Times New Roman" panose="02020603050405020304" pitchFamily="18" charset="0"/>
                              <a:cs typeface="Times New Roman" panose="02020603050405020304" pitchFamily="18" charset="0"/>
                            </a:rPr>
                            <a:t>(5 × 32)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160</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en-US" altLang="zh-CN" sz="1600" dirty="0">
                              <a:latin typeface="Times New Roman" panose="02020603050405020304" pitchFamily="18" charset="0"/>
                              <a:cs typeface="Times New Roman" panose="02020603050405020304" pitchFamily="18" charset="0"/>
                            </a:rPr>
                            <a:t>80</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61514488"/>
                      </a:ext>
                    </a:extLst>
                  </a:tr>
                  <a:tr h="33528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SHA-1</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SHA-1</a:t>
                          </a:r>
                          <a:endParaRPr lang="zh-CN" altLang="en-US" sz="18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xmlns:a14="http://schemas.microsoft.com/office/drawing/2010/main">
                            <m:oMathPara xmlns:m="http://schemas.openxmlformats.org/officeDocument/2006/math">
                              <m:oMathParaPr>
                                <m:jc m:val="centerGroup"/>
                              </m:oMathParaPr>
                              <m:oMath xmlns:m="http://schemas.openxmlformats.org/officeDocument/2006/math">
                                <m:r>
                                  <a:rPr lang="en-US" altLang="zh-CN" sz="1600" smtClean="0">
                                    <a:latin typeface="Cambria Math" panose="02040503050406030204" pitchFamily="18" charset="0"/>
                                  </a:rPr>
                                  <m:t>&lt;</m:t>
                                </m:r>
                                <m:sSup>
                                  <m:sSupPr>
                                    <m:ctrlPr>
                                      <a:rPr lang="en-US" altLang="zh-CN" sz="1600" b="0" i="1" smtClean="0">
                                        <a:latin typeface="Cambria Math" panose="02040503050406030204" pitchFamily="18" charset="0"/>
                                      </a:rPr>
                                    </m:ctrlPr>
                                  </m:sSupPr>
                                  <m:e>
                                    <m:r>
                                      <a:rPr lang="en-US" altLang="zh-CN" sz="1600" b="0" smtClean="0">
                                        <a:latin typeface="Cambria Math" panose="02040503050406030204" pitchFamily="18" charset="0"/>
                                      </a:rPr>
                                      <m:t>2</m:t>
                                    </m:r>
                                  </m:e>
                                  <m:sup>
                                    <m:r>
                                      <a:rPr lang="en-US" altLang="zh-CN" sz="1600" b="0" smtClean="0">
                                        <a:latin typeface="Cambria Math" panose="02040503050406030204" pitchFamily="18" charset="0"/>
                                      </a:rPr>
                                      <m:t>64</m:t>
                                    </m:r>
                                  </m:sup>
                                </m:sSup>
                              </m:oMath>
                            </m:oMathPara>
                          </a14:m>
                          <a:endParaRPr lang="en-US" altLang="zh-CN" sz="1600" b="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160</a:t>
                          </a:r>
                          <a:r>
                            <a:rPr lang="zh-CN" altLang="en-US" sz="1600" b="0" kern="1200" dirty="0">
                              <a:solidFill>
                                <a:schemeClr val="dk1"/>
                              </a:solidFill>
                              <a:effectLst/>
                              <a:latin typeface="Times New Roman" panose="02020603050405020304" pitchFamily="18" charset="0"/>
                              <a:cs typeface="Times New Roman" panose="02020603050405020304" pitchFamily="18" charset="0"/>
                            </a:rPr>
                            <a:t> </a:t>
                          </a:r>
                          <a:r>
                            <a:rPr lang="en-US" altLang="zh-CN" sz="1600" b="0" kern="1200" dirty="0">
                              <a:solidFill>
                                <a:schemeClr val="dk1"/>
                              </a:solidFill>
                              <a:effectLst/>
                              <a:latin typeface="Times New Roman" panose="02020603050405020304" pitchFamily="18" charset="0"/>
                              <a:cs typeface="Times New Roman" panose="02020603050405020304" pitchFamily="18" charset="0"/>
                            </a:rPr>
                            <a:t>(5 × 32)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160</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600" dirty="0">
                              <a:latin typeface="Times New Roman" panose="02020603050405020304" pitchFamily="18" charset="0"/>
                              <a:cs typeface="Times New Roman" panose="02020603050405020304" pitchFamily="18" charset="0"/>
                            </a:rPr>
                            <a:t>80</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6063242"/>
                      </a:ext>
                    </a:extLst>
                  </a:tr>
                  <a:tr h="33528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SHA-2</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endParaRPr lang="zh-CN"/>
                        </a:p>
                      </a:txBody>
                      <a:tcPr anchor="ctr">
                        <a:blipFill>
                          <a:blip r:embed="rId3"/>
                          <a:stretch>
                            <a:fillRect l="-200524" t="-189091" r="-411518" b="-511818"/>
                          </a:stretch>
                        </a:blipFill>
                      </a:tcPr>
                    </a:tc>
                    <a:tc rowSpan="2">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256</a:t>
                          </a:r>
                          <a:br>
                            <a:rPr lang="zh-CN" altLang="en-US" sz="1600" dirty="0">
                              <a:latin typeface="Times New Roman" panose="02020603050405020304" pitchFamily="18" charset="0"/>
                              <a:cs typeface="Times New Roman" panose="02020603050405020304" pitchFamily="18" charset="0"/>
                            </a:rPr>
                          </a:br>
                          <a:r>
                            <a:rPr lang="en-US" altLang="zh-CN" sz="1600" b="0" kern="1200" dirty="0">
                              <a:solidFill>
                                <a:schemeClr val="dk1"/>
                              </a:solidFill>
                              <a:effectLst/>
                              <a:latin typeface="Times New Roman" panose="02020603050405020304" pitchFamily="18" charset="0"/>
                              <a:cs typeface="Times New Roman" panose="02020603050405020304" pitchFamily="18" charset="0"/>
                            </a:rPr>
                            <a:t>(8 × 32)</a:t>
                          </a:r>
                          <a:endParaRPr lang="zh-CN"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en-US" altLang="zh-CN" sz="1600" dirty="0">
                              <a:latin typeface="Times New Roman" panose="02020603050405020304" pitchFamily="18" charset="0"/>
                              <a:cs typeface="Times New Roman" panose="02020603050405020304" pitchFamily="18" charset="0"/>
                            </a:rPr>
                            <a:t>64</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682307"/>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xmlns:a14="http://schemas.microsoft.com/office/drawing/2010/main">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rPr>
                                  <m:t>&lt;</m:t>
                                </m:r>
                                <m:sSup>
                                  <m:sSupPr>
                                    <m:ctrlPr>
                                      <a:rPr lang="en-US" altLang="zh-CN" sz="2000" b="0" i="1" smtClean="0">
                                        <a:latin typeface="Cambria Math" panose="02040503050406030204" pitchFamily="18" charset="0"/>
                                      </a:rPr>
                                    </m:ctrlPr>
                                  </m:sSupPr>
                                  <m:e>
                                    <m:r>
                                      <a:rPr lang="en-US" altLang="zh-CN" sz="2000" b="0" smtClean="0">
                                        <a:latin typeface="Cambria Math" panose="02040503050406030204" pitchFamily="18" charset="0"/>
                                      </a:rPr>
                                      <m:t>2</m:t>
                                    </m:r>
                                  </m:e>
                                  <m:sup>
                                    <m:r>
                                      <a:rPr lang="en-US" altLang="zh-CN" sz="2000" b="0" smtClean="0">
                                        <a:latin typeface="Cambria Math" panose="02040503050406030204" pitchFamily="18" charset="0"/>
                                      </a:rPr>
                                      <m:t>64</m:t>
                                    </m:r>
                                  </m:sup>
                                </m:sSup>
                              </m:oMath>
                            </m:oMathPara>
                          </a14:m>
                          <a:endParaRPr lang="en-US" altLang="zh-CN" sz="2000" b="0" dirty="0">
                            <a:latin typeface="Times New Roman" panose="02020603050405020304" pitchFamily="18" charset="0"/>
                            <a:ea typeface="Cambria Math" panose="02040503050406030204" pitchFamily="18" charset="0"/>
                            <a:cs typeface="Times New Roman" panose="02020603050405020304" pitchFamily="18" charset="0"/>
                          </a:endParaRPr>
                        </a:p>
                      </a:txBody>
                      <a:tcPr/>
                    </a:tc>
                    <a:tc vMerge="1">
                      <a:txBody>
                        <a:bodyPr/>
                        <a:lstStyle/>
                        <a:p>
                          <a:pPr algn="ctr"/>
                          <a:r>
                            <a:rPr lang="en-US" altLang="zh-CN" sz="1800" dirty="0">
                              <a:latin typeface="Times New Roman" panose="02020603050405020304" pitchFamily="18" charset="0"/>
                              <a:cs typeface="Times New Roman" panose="02020603050405020304" pitchFamily="18" charset="0"/>
                            </a:rPr>
                            <a:t>512</a:t>
                          </a: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algn="ctr"/>
                          <a:r>
                            <a:rPr lang="en-US" altLang="zh-CN" sz="1800" dirty="0">
                              <a:latin typeface="Times New Roman" panose="02020603050405020304" pitchFamily="18" charset="0"/>
                              <a:cs typeface="Times New Roman" panose="02020603050405020304" pitchFamily="18" charset="0"/>
                            </a:rPr>
                            <a:t>32</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800" dirty="0">
                              <a:latin typeface="Times New Roman" panose="02020603050405020304" pitchFamily="18" charset="0"/>
                              <a:cs typeface="Times New Roman" panose="02020603050405020304" pitchFamily="18" charset="0"/>
                            </a:rPr>
                            <a:t>64</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5758258"/>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SHA-384</a:t>
                          </a:r>
                          <a:endParaRPr lang="zh-CN" altLang="en-US" sz="1600" dirty="0">
                            <a:latin typeface="Times New Roman" panose="02020603050405020304" pitchFamily="18" charset="0"/>
                            <a:cs typeface="Times New Roman" panose="02020603050405020304" pitchFamily="18" charset="0"/>
                          </a:endParaRPr>
                        </a:p>
                      </a:txBody>
                      <a:tcPr anchor="ctr" anchorCtr="1"/>
                    </a:tc>
                    <a:tc rowSpan="4">
                      <a:txBody>
                        <a:bodyPr/>
                        <a:lstStyle/>
                        <a:p>
                          <a:endParaRPr lang="zh-CN"/>
                        </a:p>
                      </a:txBody>
                      <a:tcPr anchor="ctr">
                        <a:blipFill>
                          <a:blip r:embed="rId3"/>
                          <a:stretch>
                            <a:fillRect l="-200524" t="-143891" r="-411518" b="-154751"/>
                          </a:stretch>
                        </a:blipFill>
                      </a:tcPr>
                    </a:tc>
                    <a:tc rowSpan="4">
                      <a:txBody>
                        <a:bodyPr/>
                        <a:lstStyle/>
                        <a:p>
                          <a:pPr algn="ctr"/>
                          <a:r>
                            <a:rPr lang="en-US" altLang="zh-CN" sz="1600" dirty="0">
                              <a:latin typeface="Times New Roman" panose="02020603050405020304" pitchFamily="18" charset="0"/>
                              <a:cs typeface="Times New Roman" panose="02020603050405020304" pitchFamily="18" charset="0"/>
                            </a:rPr>
                            <a:t>1024</a:t>
                          </a:r>
                          <a:endParaRPr lang="zh-CN" altLang="en-US" sz="1600"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altLang="zh-CN" sz="1600" b="0" kern="1200" dirty="0">
                              <a:solidFill>
                                <a:schemeClr val="dk1"/>
                              </a:solidFill>
                              <a:effectLst/>
                              <a:latin typeface="Times New Roman" panose="02020603050405020304" pitchFamily="18" charset="0"/>
                              <a:cs typeface="Times New Roman" panose="02020603050405020304" pitchFamily="18" charset="0"/>
                            </a:rPr>
                            <a:t>512</a:t>
                          </a:r>
                          <a:br>
                            <a:rPr lang="zh-CN" altLang="en-US" sz="1600" dirty="0">
                              <a:latin typeface="Times New Roman" panose="02020603050405020304" pitchFamily="18" charset="0"/>
                              <a:cs typeface="Times New Roman" panose="02020603050405020304" pitchFamily="18" charset="0"/>
                            </a:rPr>
                          </a:br>
                          <a:r>
                            <a:rPr lang="en-US" altLang="zh-CN" sz="1600" b="0" kern="1200" dirty="0">
                              <a:solidFill>
                                <a:schemeClr val="dk1"/>
                              </a:solidFill>
                              <a:effectLst/>
                              <a:latin typeface="Times New Roman" panose="02020603050405020304" pitchFamily="18" charset="0"/>
                              <a:cs typeface="Times New Roman" panose="02020603050405020304" pitchFamily="18" charset="0"/>
                            </a:rPr>
                            <a:t>(8 × 64)</a:t>
                          </a:r>
                          <a:endParaRPr lang="zh-CN"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cs typeface="Times New Roman" panose="02020603050405020304" pitchFamily="18" charset="0"/>
                            </a:rPr>
                            <a:t>384</a:t>
                          </a:r>
                          <a:endParaRPr lang="zh-CN" altLang="en-US" sz="1600" dirty="0">
                            <a:latin typeface="Times New Roman" panose="02020603050405020304" pitchFamily="18" charset="0"/>
                            <a:cs typeface="Times New Roman" panose="02020603050405020304" pitchFamily="18" charset="0"/>
                          </a:endParaRPr>
                        </a:p>
                      </a:txBody>
                      <a:tcPr anchor="ctr" anchorCtr="1"/>
                    </a:tc>
                    <a:tc rowSpan="4">
                      <a:txBody>
                        <a:bodyPr/>
                        <a:lstStyle/>
                        <a:p>
                          <a:pPr algn="ctr"/>
                          <a:r>
                            <a:rPr lang="en-US" altLang="zh-CN" sz="1600" dirty="0">
                              <a:latin typeface="Times New Roman" panose="02020603050405020304" pitchFamily="18" charset="0"/>
                              <a:cs typeface="Times New Roman" panose="02020603050405020304" pitchFamily="18" charset="0"/>
                            </a:rPr>
                            <a:t>80</a:t>
                          </a:r>
                        </a:p>
                      </a:txBody>
                      <a:tcPr anchor="ctr"/>
                    </a:tc>
                    <a:extLst>
                      <a:ext uri="{0D108BD9-81ED-4DB2-BD59-A6C34878D82A}">
                        <a16:rowId xmlns:a16="http://schemas.microsoft.com/office/drawing/2014/main" val="3456606509"/>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14:m xmlns:a14="http://schemas.microsoft.com/office/drawing/2010/main">
                            <m:oMathPara xmlns:m="http://schemas.openxmlformats.org/officeDocument/2006/math">
                              <m:oMathParaPr>
                                <m:jc m:val="centerGroup"/>
                              </m:oMathParaPr>
                              <m:oMath xmlns:m="http://schemas.openxmlformats.org/officeDocument/2006/math">
                                <m:r>
                                  <a:rPr lang="en-US" altLang="zh-CN" sz="1800" smtClean="0">
                                    <a:latin typeface="Cambria Math" panose="02040503050406030204" pitchFamily="18" charset="0"/>
                                  </a:rPr>
                                  <m:t>&lt;</m:t>
                                </m:r>
                                <m:sSup>
                                  <m:sSupPr>
                                    <m:ctrlPr>
                                      <a:rPr lang="en-US" altLang="zh-CN" sz="1800" b="0" i="1" smtClean="0">
                                        <a:latin typeface="Cambria Math" panose="02040503050406030204" pitchFamily="18" charset="0"/>
                                      </a:rPr>
                                    </m:ctrlPr>
                                  </m:sSupPr>
                                  <m:e>
                                    <m:r>
                                      <a:rPr lang="en-US" altLang="zh-CN" sz="1800" b="0" smtClean="0">
                                        <a:latin typeface="Cambria Math" panose="02040503050406030204" pitchFamily="18" charset="0"/>
                                      </a:rPr>
                                      <m:t>2</m:t>
                                    </m:r>
                                  </m:e>
                                  <m:sup>
                                    <m:r>
                                      <a:rPr lang="en-US" altLang="zh-CN" sz="1800" b="0" smtClean="0">
                                        <a:latin typeface="Cambria Math" panose="02040503050406030204" pitchFamily="18" charset="0"/>
                                      </a:rPr>
                                      <m:t>128</m:t>
                                    </m:r>
                                  </m:sup>
                                </m:sSup>
                              </m:oMath>
                            </m:oMathPara>
                          </a14:m>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r>
                            <a:rPr lang="en-US" altLang="zh-CN" sz="1800" dirty="0">
                              <a:latin typeface="Times New Roman" panose="02020603050405020304" pitchFamily="18" charset="0"/>
                              <a:cs typeface="Times New Roman" panose="02020603050405020304" pitchFamily="18" charset="0"/>
                            </a:rPr>
                            <a:t>1024</a:t>
                          </a: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64</a:t>
                          </a: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r>
                            <a:rPr lang="en-US" altLang="zh-CN" sz="1800" dirty="0">
                              <a:latin typeface="Times New Roman" panose="02020603050405020304" pitchFamily="18" charset="0"/>
                              <a:cs typeface="Times New Roman" panose="02020603050405020304" pitchFamily="18" charset="0"/>
                            </a:rPr>
                            <a:t>80</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19279550"/>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SHA-512/224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1362867"/>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Times New Roman" panose="02020603050405020304" pitchFamily="18" charset="0"/>
                              <a:cs typeface="Times New Roman" panose="02020603050405020304" pitchFamily="18" charset="0"/>
                            </a:rPr>
                            <a:t>SHA-512/256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800" b="0" dirty="0">
                            <a:latin typeface="Times New Roman" panose="02020603050405020304" pitchFamily="18" charset="0"/>
                            <a:ea typeface="Cambria Math" panose="02040503050406030204" pitchFamily="18" charset="0"/>
                            <a:cs typeface="Times New Roman" panose="02020603050405020304" pitchFamily="18" charset="0"/>
                          </a:endParaRPr>
                        </a:p>
                      </a:txBody>
                      <a:tcPr anchor="ctr"/>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58062829"/>
                      </a:ext>
                    </a:extLst>
                  </a:tr>
                  <a:tr h="33528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rgbClr val="0000FF"/>
                              </a:solidFill>
                              <a:latin typeface="Times New Roman" panose="02020603050405020304" pitchFamily="18" charset="0"/>
                              <a:cs typeface="Times New Roman" panose="02020603050405020304" pitchFamily="18" charset="0"/>
                            </a:rPr>
                            <a:t>SHA-3</a:t>
                          </a:r>
                          <a:endParaRPr lang="zh-CN" altLang="en-US" sz="1600" b="1" dirty="0">
                            <a:solidFill>
                              <a:srgbClr val="0000FF"/>
                            </a:solidFill>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SHA3-224</a:t>
                          </a:r>
                          <a:endParaRPr lang="zh-CN" altLang="en-US" sz="1600" i="0" dirty="0">
                            <a:latin typeface="Times New Roman" panose="02020603050405020304" pitchFamily="18" charset="0"/>
                            <a:cs typeface="Times New Roman" panose="02020603050405020304" pitchFamily="18" charset="0"/>
                          </a:endParaRPr>
                        </a:p>
                      </a:txBody>
                      <a:tcPr anchor="ctr" anchorCtr="1"/>
                    </a:tc>
                    <a:tc rowSpan="6">
                      <a:txBody>
                        <a:bodyPr/>
                        <a:lstStyle/>
                        <a:p>
                          <a:pPr algn="ctr"/>
                          <a:r>
                            <a:rPr lang="zh-CN" altLang="en-US" sz="1600" b="0" dirty="0">
                              <a:latin typeface="Times New Roman" panose="02020603050405020304" pitchFamily="18" charset="0"/>
                              <a:ea typeface="+mn-ea"/>
                              <a:cs typeface="Times New Roman" panose="02020603050405020304" pitchFamily="18" charset="0"/>
                            </a:rPr>
                            <a:t>无界</a:t>
                          </a:r>
                          <a:endParaRPr lang="en-US" altLang="zh-CN" sz="1600" b="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1152</a:t>
                          </a:r>
                          <a:endParaRPr lang="zh-CN" altLang="en-US" sz="1600" dirty="0">
                            <a:latin typeface="Times New Roman" panose="02020603050405020304" pitchFamily="18" charset="0"/>
                            <a:cs typeface="Times New Roman" panose="02020603050405020304" pitchFamily="18" charset="0"/>
                          </a:endParaRPr>
                        </a:p>
                      </a:txBody>
                      <a:tcPr anchor="ct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1600</a:t>
                          </a:r>
                          <a:br>
                            <a:rPr lang="zh-CN" altLang="en-US" sz="1600" dirty="0">
                              <a:latin typeface="Times New Roman" panose="02020603050405020304" pitchFamily="18" charset="0"/>
                              <a:cs typeface="Times New Roman" panose="02020603050405020304" pitchFamily="18" charset="0"/>
                            </a:rPr>
                          </a:b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(5 × 5 × 64)</a:t>
                          </a: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224</a:t>
                          </a:r>
                          <a:endParaRPr lang="zh-CN" altLang="en-US" sz="1600" dirty="0">
                            <a:latin typeface="Times New Roman" panose="02020603050405020304" pitchFamily="18" charset="0"/>
                            <a:cs typeface="Times New Roman" panose="02020603050405020304" pitchFamily="18" charset="0"/>
                          </a:endParaRPr>
                        </a:p>
                      </a:txBody>
                      <a:tcPr anchor="ctr" anchorCtr="1"/>
                    </a:tc>
                    <a:tc rowSpan="6">
                      <a:txBody>
                        <a:bodyPr/>
                        <a:lstStyle/>
                        <a:p>
                          <a:pPr algn="ctr"/>
                          <a:r>
                            <a:rPr lang="en-US" altLang="zh-CN" sz="1600" dirty="0">
                              <a:latin typeface="Times New Roman" panose="02020603050405020304" pitchFamily="18" charset="0"/>
                              <a:cs typeface="Times New Roman" panose="02020603050405020304" pitchFamily="18" charset="0"/>
                            </a:rPr>
                            <a:t>24</a:t>
                          </a: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69283063"/>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SHA3-256</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1088</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256</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88483867"/>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SHA3-384</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832</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384</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90595753"/>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SHA3-512</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576</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altLang="zh-CN" sz="1600" dirty="0">
                              <a:latin typeface="Times New Roman" panose="02020603050405020304" pitchFamily="18" charset="0"/>
                              <a:cs typeface="Times New Roman" panose="02020603050405020304" pitchFamily="18" charset="0"/>
                            </a:rPr>
                            <a:t>512</a:t>
                          </a: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96998634"/>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SHAKE128</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1344</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rowSpan="2">
                      <a:txBody>
                        <a:bodyPr/>
                        <a:lstStyle/>
                        <a:p>
                          <a:pPr algn="ctr"/>
                          <a:r>
                            <a:rPr lang="zh-CN" altLang="en-US" sz="1600" dirty="0">
                              <a:latin typeface="Times New Roman" panose="02020603050405020304" pitchFamily="18" charset="0"/>
                              <a:cs typeface="Times New Roman" panose="02020603050405020304" pitchFamily="18" charset="0"/>
                            </a:rPr>
                            <a:t>任意</a:t>
                          </a: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72222147"/>
                      </a:ext>
                    </a:extLst>
                  </a:tr>
                  <a:tr h="33528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SHAKE256</a:t>
                          </a:r>
                          <a:endParaRPr lang="zh-CN" altLang="en-US" sz="1600" i="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en-US" altLang="zh-CN" sz="1600" b="0" dirty="0">
                            <a:latin typeface="+mn-ea"/>
                            <a:ea typeface="+mn-ea"/>
                            <a:cs typeface="Times New Roman" panose="02020603050405020304" pitchFamily="18" charset="0"/>
                          </a:endParaRPr>
                        </a:p>
                      </a:txBody>
                      <a:tcPr anchor="ctr"/>
                    </a:tc>
                    <a:tc>
                      <a:txBody>
                        <a:bodyPr/>
                        <a:lstStyle/>
                        <a:p>
                          <a:pPr algn="ctr"/>
                          <a:r>
                            <a:rPr lang="en-US" altLang="zh-CN" sz="1600" b="0" i="0" kern="1200" dirty="0">
                              <a:solidFill>
                                <a:schemeClr val="dk1"/>
                              </a:solidFill>
                              <a:effectLst/>
                              <a:latin typeface="Times New Roman" panose="02020603050405020304" pitchFamily="18" charset="0"/>
                              <a:ea typeface="+mn-ea"/>
                              <a:cs typeface="Times New Roman" panose="02020603050405020304" pitchFamily="18" charset="0"/>
                            </a:rPr>
                            <a:t>1088</a:t>
                          </a:r>
                          <a:endParaRPr lang="zh-CN" altLang="en-US" sz="1600" dirty="0">
                            <a:latin typeface="Times New Roman" panose="02020603050405020304" pitchFamily="18" charset="0"/>
                            <a:cs typeface="Times New Roman" panose="02020603050405020304" pitchFamily="18"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nchorCtr="1"/>
                    </a:tc>
                    <a:tc vMerge="1">
                      <a:txBody>
                        <a:bodyPr/>
                        <a:lstStyle/>
                        <a:p>
                          <a:pPr algn="ctr"/>
                          <a:endParaRPr lang="zh-CN"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306579"/>
                      </a:ext>
                    </a:extLst>
                  </a:tr>
                </a:tbl>
              </a:graphicData>
            </a:graphic>
          </p:graphicFrame>
        </mc:Fallback>
      </mc:AlternateContent>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54</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4.2 </a:t>
            </a:r>
            <a:r>
              <a:rPr lang="zh-CN" altLang="en-US" sz="2400" b="1" dirty="0">
                <a:solidFill>
                  <a:srgbClr val="FF0000"/>
                </a:solidFill>
                <a:latin typeface="Times New Roman" panose="02020603050405020304" pitchFamily="18" charset="0"/>
                <a:cs typeface="Times New Roman" panose="02020603050405020304" pitchFamily="18" charset="0"/>
              </a:rPr>
              <a:t>不同</a:t>
            </a:r>
            <a:r>
              <a:rPr lang="en-US" altLang="zh-CN" sz="2400" b="1" dirty="0">
                <a:solidFill>
                  <a:srgbClr val="FF0000"/>
                </a:solidFill>
                <a:latin typeface="Times New Roman" panose="02020603050405020304" pitchFamily="18" charset="0"/>
                <a:cs typeface="Times New Roman" panose="02020603050405020304" pitchFamily="18" charset="0"/>
              </a:rPr>
              <a:t>SHA</a:t>
            </a:r>
            <a:r>
              <a:rPr lang="zh-CN" altLang="en-US" sz="2400" b="1" dirty="0">
                <a:solidFill>
                  <a:srgbClr val="FF0000"/>
                </a:solidFill>
                <a:latin typeface="Times New Roman" panose="02020603050405020304" pitchFamily="18" charset="0"/>
                <a:cs typeface="Times New Roman" panose="02020603050405020304" pitchFamily="18" charset="0"/>
              </a:rPr>
              <a:t>函数对比</a:t>
            </a:r>
            <a:endParaRPr lang="zh-CN" altLang="en-US" sz="2400" b="1" dirty="0">
              <a:solidFill>
                <a:srgbClr val="FF0000"/>
              </a:solidFill>
              <a:latin typeface="+mn-ea"/>
            </a:endParaRPr>
          </a:p>
        </p:txBody>
      </p:sp>
    </p:spTree>
    <p:extLst>
      <p:ext uri="{BB962C8B-B14F-4D97-AF65-F5344CB8AC3E}">
        <p14:creationId xmlns:p14="http://schemas.microsoft.com/office/powerpoint/2010/main" val="1641562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55</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4.3 SHA-1</a:t>
            </a:r>
            <a:r>
              <a:rPr lang="zh-CN" altLang="en-US" sz="2400" b="1" dirty="0">
                <a:solidFill>
                  <a:srgbClr val="FF0000"/>
                </a:solidFill>
                <a:latin typeface="Times New Roman" panose="02020603050405020304" pitchFamily="18" charset="0"/>
                <a:cs typeface="Times New Roman" panose="02020603050405020304" pitchFamily="18" charset="0"/>
              </a:rPr>
              <a:t>的算法流程</a:t>
            </a:r>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1A4562FF-C948-4598-8BD1-2CC2B6C9BEF4}"/>
                  </a:ext>
                </a:extLst>
              </p:cNvPr>
              <p:cNvSpPr txBox="1"/>
              <p:nvPr/>
            </p:nvSpPr>
            <p:spPr>
              <a:xfrm>
                <a:off x="299056" y="1659479"/>
                <a:ext cx="8479945" cy="4385816"/>
              </a:xfrm>
              <a:prstGeom prst="rect">
                <a:avLst/>
              </a:prstGeom>
              <a:noFill/>
            </p:spPr>
            <p:txBody>
              <a:bodyPr wrap="square" rtlCol="0">
                <a:spAutoFit/>
              </a:bodyPr>
              <a:lstStyle/>
              <a:p>
                <a:pPr algn="just">
                  <a:lnSpc>
                    <a:spcPct val="120000"/>
                  </a:lnSpc>
                  <a:spcBef>
                    <a:spcPts val="600"/>
                  </a:spcBef>
                  <a:spcAft>
                    <a:spcPts val="600"/>
                  </a:spcAft>
                </a:pPr>
                <a:r>
                  <a:rPr lang="en-US" altLang="zh-CN" sz="2000" dirty="0">
                    <a:latin typeface="Times New Roman" panose="02020603050405020304" pitchFamily="18" charset="0"/>
                    <a:cs typeface="Times New Roman" panose="02020603050405020304" pitchFamily="18" charset="0"/>
                  </a:rPr>
                  <a:t>SHA-1</a:t>
                </a:r>
                <a:r>
                  <a:rPr lang="zh-CN" altLang="en-US" sz="2000" dirty="0">
                    <a:latin typeface="Times New Roman" panose="02020603050405020304" pitchFamily="18" charset="0"/>
                    <a:cs typeface="Times New Roman" panose="02020603050405020304" pitchFamily="18" charset="0"/>
                  </a:rPr>
                  <a:t>算法输入任意长的消息，将其映射至 </a:t>
                </a:r>
                <a:r>
                  <a:rPr lang="en-US" altLang="zh-CN" sz="2000" dirty="0">
                    <a:solidFill>
                      <a:srgbClr val="0000FF"/>
                    </a:solidFill>
                    <a:latin typeface="Times New Roman" panose="02020603050405020304" pitchFamily="18" charset="0"/>
                    <a:cs typeface="Times New Roman" panose="02020603050405020304" pitchFamily="18" charset="0"/>
                  </a:rPr>
                  <a:t>160 </a:t>
                </a:r>
                <a:r>
                  <a:rPr lang="zh-CN" altLang="en-US" sz="2000" dirty="0">
                    <a:solidFill>
                      <a:srgbClr val="0000FF"/>
                    </a:solidFill>
                    <a:latin typeface="Times New Roman" panose="02020603050405020304" pitchFamily="18" charset="0"/>
                    <a:cs typeface="Times New Roman" panose="02020603050405020304" pitchFamily="18" charset="0"/>
                  </a:rPr>
                  <a:t>位</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(20 </a:t>
                </a:r>
                <a:r>
                  <a:rPr lang="zh-CN" altLang="en-US" sz="2000" dirty="0">
                    <a:latin typeface="Times New Roman" panose="02020603050405020304" pitchFamily="18" charset="0"/>
                    <a:cs typeface="Times New Roman" panose="02020603050405020304" pitchFamily="18" charset="0"/>
                  </a:rPr>
                  <a:t>字节</a:t>
                </a:r>
                <a:r>
                  <a:rPr lang="en-US" altLang="zh-CN" sz="2000" dirty="0">
                    <a:latin typeface="Times New Roman" panose="02020603050405020304" pitchFamily="18" charset="0"/>
                    <a:cs typeface="Times New Roman" panose="02020603050405020304" pitchFamily="18" charset="0"/>
                  </a:rPr>
                  <a:t>) </a:t>
                </a:r>
                <a:r>
                  <a:rPr lang="zh-CN" altLang="en-US" sz="2000" dirty="0">
                    <a:solidFill>
                      <a:srgbClr val="333333"/>
                    </a:solidFill>
                    <a:latin typeface="Times New Roman" panose="02020603050405020304" pitchFamily="18" charset="0"/>
                    <a:cs typeface="Times New Roman" panose="02020603050405020304" pitchFamily="18" charset="0"/>
                  </a:rPr>
                  <a:t>的哈希值</a:t>
                </a:r>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solidFill>
                    <a:srgbClr val="333333"/>
                  </a:solidFill>
                  <a:latin typeface="Times New Roman" panose="02020603050405020304" pitchFamily="18" charset="0"/>
                  <a:cs typeface="Times New Roman" panose="02020603050405020304" pitchFamily="18" charset="0"/>
                </a:endParaRPr>
              </a:p>
              <a:p>
                <a:pPr algn="just">
                  <a:lnSpc>
                    <a:spcPct val="130000"/>
                  </a:lnSpc>
                  <a:spcBef>
                    <a:spcPts val="600"/>
                  </a:spcBef>
                </a:pPr>
                <a:r>
                  <a:rPr lang="en-US" altLang="zh-CN" sz="2000" b="1" dirty="0">
                    <a:solidFill>
                      <a:srgbClr val="333333"/>
                    </a:solidFill>
                    <a:latin typeface="Times New Roman" panose="02020603050405020304" pitchFamily="18" charset="0"/>
                    <a:cs typeface="Times New Roman" panose="02020603050405020304" pitchFamily="18" charset="0"/>
                  </a:rPr>
                  <a:t>SHA-1</a:t>
                </a:r>
                <a:r>
                  <a:rPr lang="zh-CN" altLang="en-US" sz="2000" b="1" dirty="0">
                    <a:latin typeface="Times New Roman" panose="02020603050405020304" pitchFamily="18" charset="0"/>
                    <a:cs typeface="Times New Roman" panose="02020603050405020304" pitchFamily="18" charset="0"/>
                  </a:rPr>
                  <a:t>基本思想</a:t>
                </a:r>
                <a:r>
                  <a:rPr lang="zh-CN" altLang="en-US" sz="2000" dirty="0">
                    <a:latin typeface="Times New Roman" panose="02020603050405020304" pitchFamily="18" charset="0"/>
                    <a:cs typeface="Times New Roman" panose="02020603050405020304" pitchFamily="18" charset="0"/>
                  </a:rPr>
                  <a:t>：以</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512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位分组来处理输入的信息，每个分组再划分为</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16</m:t>
                    </m:r>
                  </m:oMath>
                </a14:m>
                <a:r>
                  <a:rPr lang="zh-CN" altLang="en-US" sz="20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位子分组，经过一系列处理后，算法输出五个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位分组，将这五个</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32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位分组级联后生成一个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160</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位哈希值。</a:t>
                </a:r>
                <a:endParaRPr lang="en-US" altLang="zh-CN" sz="2000" dirty="0">
                  <a:latin typeface="Times New Roman" panose="02020603050405020304" pitchFamily="18" charset="0"/>
                  <a:cs typeface="Times New Roman" panose="02020603050405020304" pitchFamily="18" charset="0"/>
                </a:endParaRPr>
              </a:p>
              <a:p>
                <a:pPr algn="just">
                  <a:lnSpc>
                    <a:spcPct val="130000"/>
                  </a:lnSpc>
                  <a:spcBef>
                    <a:spcPts val="600"/>
                  </a:spcBef>
                  <a:spcAft>
                    <a:spcPts val="600"/>
                  </a:spcAft>
                </a:pPr>
                <a:r>
                  <a:rPr lang="en-US" altLang="zh-CN" sz="2000" dirty="0">
                    <a:latin typeface="Times New Roman" panose="02020603050405020304" pitchFamily="18" charset="0"/>
                    <a:cs typeface="Times New Roman" panose="02020603050405020304" pitchFamily="18" charset="0"/>
                  </a:rPr>
                  <a:t>SHA-1</a:t>
                </a:r>
                <a:r>
                  <a:rPr lang="en-US" altLang="zh-CN" sz="2000" b="0" i="0" dirty="0">
                    <a:solidFill>
                      <a:srgbClr val="374151"/>
                    </a:solidFill>
                    <a:effectLst/>
                    <a:latin typeface="Söhne"/>
                  </a:rPr>
                  <a:t> </a:t>
                </a:r>
                <a:r>
                  <a:rPr lang="zh-CN" altLang="en-US" sz="2000" dirty="0">
                    <a:solidFill>
                      <a:srgbClr val="374151"/>
                    </a:solidFill>
                    <a:latin typeface="Söhne"/>
                  </a:rPr>
                  <a:t>的算法流程包括：</a:t>
                </a:r>
                <a:endParaRPr lang="en-US" altLang="zh-CN" sz="2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消息填充</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初始化缓存器</a:t>
                </a: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分组循环运算</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mj-lt"/>
                  <a:buAutoNum type="arabicPeriod"/>
                </a:pPr>
                <a:r>
                  <a:rPr lang="zh-CN" altLang="en-US" sz="2000" dirty="0">
                    <a:latin typeface="Times New Roman" panose="02020603050405020304" pitchFamily="18" charset="0"/>
                    <a:cs typeface="Times New Roman" panose="02020603050405020304" pitchFamily="18" charset="0"/>
                  </a:rPr>
                  <a:t>输出 </a:t>
                </a:r>
                <a:r>
                  <a:rPr lang="en-US" altLang="zh-CN" sz="2000" dirty="0">
                    <a:latin typeface="Times New Roman" panose="02020603050405020304" pitchFamily="18" charset="0"/>
                    <a:cs typeface="Times New Roman" panose="02020603050405020304" pitchFamily="18" charset="0"/>
                  </a:rPr>
                  <a:t>SHA-1 </a:t>
                </a:r>
                <a:r>
                  <a:rPr lang="zh-CN" altLang="en-US" sz="2000" dirty="0">
                    <a:latin typeface="Times New Roman" panose="02020603050405020304" pitchFamily="18" charset="0"/>
                    <a:cs typeface="Times New Roman" panose="02020603050405020304" pitchFamily="18" charset="0"/>
                  </a:rPr>
                  <a:t>值</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53" name="文本框 52">
                <a:extLst>
                  <a:ext uri="{FF2B5EF4-FFF2-40B4-BE49-F238E27FC236}">
                    <a16:creationId xmlns:a16="http://schemas.microsoft.com/office/drawing/2014/main" xmlns:a14="http://schemas.microsoft.com/office/drawing/2010/main" xmlns="" id="{1A4562FF-C948-4598-8BD1-2CC2B6C9BEF4}"/>
                  </a:ext>
                </a:extLst>
              </p:cNvPr>
              <p:cNvSpPr txBox="1">
                <a:spLocks noRot="1" noChangeAspect="1" noMove="1" noResize="1" noEditPoints="1" noAdjustHandles="1" noChangeArrowheads="1" noChangeShapeType="1" noTextEdit="1"/>
              </p:cNvSpPr>
              <p:nvPr/>
            </p:nvSpPr>
            <p:spPr>
              <a:xfrm>
                <a:off x="299056" y="1659479"/>
                <a:ext cx="8479945" cy="4385816"/>
              </a:xfrm>
              <a:prstGeom prst="rect">
                <a:avLst/>
              </a:prstGeom>
              <a:blipFill rotWithShape="0">
                <a:blip r:embed="rId3"/>
                <a:stretch>
                  <a:fillRect l="-719" r="-791" b="-8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43820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56</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11716"/>
                <a:ext cx="8493405" cy="4115807"/>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按位填充消息</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如果长度为 </a:t>
                </a:r>
                <a:r>
                  <a:rPr lang="en-US" altLang="zh-CN" sz="2000" i="1" dirty="0">
                    <a:latin typeface="Times New Roman" panose="02020603050405020304" pitchFamily="18" charset="0"/>
                    <a:cs typeface="Times New Roman" panose="02020603050405020304" pitchFamily="18" charset="0"/>
                  </a:rPr>
                  <a:t>L </a:t>
                </a:r>
                <a:r>
                  <a:rPr lang="en-US" altLang="zh-CN" sz="2000" dirty="0">
                    <a:latin typeface="Times New Roman" panose="02020603050405020304" pitchFamily="18" charset="0"/>
                    <a:cs typeface="Times New Roman" panose="02020603050405020304" pitchFamily="18" charset="0"/>
                  </a:rPr>
                  <a:t>bits</a:t>
                </a:r>
                <a:r>
                  <a:rPr lang="zh-CN" altLang="en-US" sz="2000" dirty="0">
                    <a:latin typeface="Times New Roman" panose="02020603050405020304" pitchFamily="18" charset="0"/>
                    <a:cs typeface="Times New Roman" panose="02020603050405020304" pitchFamily="18" charset="0"/>
                  </a:rPr>
                  <a:t>的原始消息长度不满足</a:t>
                </a:r>
                <a14:m>
                  <m:oMath xmlns:m="http://schemas.openxmlformats.org/officeDocument/2006/math">
                    <m:r>
                      <a:rPr lang="en-US" altLang="zh-CN" sz="2000" i="1" dirty="0">
                        <a:solidFill>
                          <a:srgbClr val="0000FF"/>
                        </a:solidFill>
                        <a:latin typeface="Cambria Math" panose="02040503050406030204" pitchFamily="18" charset="0"/>
                        <a:cs typeface="Times New Roman" panose="02020603050405020304" pitchFamily="18" charset="0"/>
                      </a:rPr>
                      <m:t> </m:t>
                    </m:r>
                    <m:r>
                      <a:rPr lang="en-US" altLang="zh-CN" sz="2000" i="1" dirty="0">
                        <a:solidFill>
                          <a:srgbClr val="0000FF"/>
                        </a:solidFill>
                        <a:latin typeface="Cambria Math" panose="02040503050406030204" pitchFamily="18" charset="0"/>
                        <a:cs typeface="Times New Roman" panose="02020603050405020304" pitchFamily="18" charset="0"/>
                      </a:rPr>
                      <m:t>𝐿</m:t>
                    </m:r>
                    <m:r>
                      <a:rPr lang="en-US" altLang="zh-CN" sz="2000" i="1" dirty="0">
                        <a:solidFill>
                          <a:srgbClr val="0000FF"/>
                        </a:solidFill>
                        <a:latin typeface="Cambria Math" panose="02040503050406030204" pitchFamily="18" charset="0"/>
                        <a:cs typeface="Times New Roman" panose="02020603050405020304" pitchFamily="18" charset="0"/>
                      </a:rPr>
                      <m:t> </m:t>
                    </m:r>
                    <m:r>
                      <m:rPr>
                        <m:sty m:val="p"/>
                      </m:rPr>
                      <a:rPr lang="en-US" altLang="zh-CN" sz="2000" i="0" dirty="0">
                        <a:solidFill>
                          <a:srgbClr val="0000FF"/>
                        </a:solidFill>
                        <a:latin typeface="Cambria Math" panose="02040503050406030204" pitchFamily="18" charset="0"/>
                        <a:cs typeface="Times New Roman" panose="02020603050405020304" pitchFamily="18" charset="0"/>
                      </a:rPr>
                      <m:t>mod</m:t>
                    </m:r>
                    <m:r>
                      <a:rPr lang="en-US" altLang="zh-CN" sz="2000" i="1" dirty="0">
                        <a:solidFill>
                          <a:srgbClr val="0000FF"/>
                        </a:solidFill>
                        <a:latin typeface="Cambria Math" panose="02040503050406030204" pitchFamily="18" charset="0"/>
                        <a:cs typeface="Times New Roman" panose="02020603050405020304" pitchFamily="18" charset="0"/>
                      </a:rPr>
                      <m:t> 512=448</m:t>
                    </m:r>
                  </m:oMath>
                </a14:m>
                <a:r>
                  <a:rPr lang="zh-CN" altLang="en-US" sz="2000" dirty="0">
                    <a:latin typeface="Times New Roman" panose="02020603050405020304" pitchFamily="18" charset="0"/>
                    <a:cs typeface="Times New Roman" panose="02020603050405020304" pitchFamily="18" charset="0"/>
                  </a:rPr>
                  <a:t>，先填充 </a:t>
                </a:r>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1</m:t>
                    </m:r>
                    <m:r>
                      <a:rPr lang="en-US" altLang="zh-CN" sz="2000" b="0" i="1" dirty="0"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比特，再填充 </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𝑘</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0</m:t>
                    </m:r>
                    <m:r>
                      <a:rPr lang="en-US" altLang="zh-CN" sz="2000" b="0" i="1" dirty="0"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比特，直至填充后的消息长度满足 </a:t>
                </a:r>
                <a14:m>
                  <m:oMath xmlns:m="http://schemas.openxmlformats.org/officeDocument/2006/math">
                    <m:d>
                      <m:dPr>
                        <m:ctrlPr>
                          <a:rPr lang="en-US" altLang="zh-CN" sz="2000" b="0" i="1" dirty="0" smtClean="0">
                            <a:solidFill>
                              <a:srgbClr val="0000FF"/>
                            </a:solidFill>
                            <a:latin typeface="Cambria Math" panose="02040503050406030204" pitchFamily="18" charset="0"/>
                            <a:cs typeface="Times New Roman" panose="02020603050405020304" pitchFamily="18" charset="0"/>
                          </a:rPr>
                        </m:ctrlPr>
                      </m:dPr>
                      <m:e>
                        <m:r>
                          <a:rPr lang="en-US" altLang="zh-CN" sz="2000" i="1" dirty="0" smtClean="0">
                            <a:solidFill>
                              <a:srgbClr val="0000FF"/>
                            </a:solidFill>
                            <a:latin typeface="Cambria Math" panose="02040503050406030204" pitchFamily="18" charset="0"/>
                            <a:cs typeface="Times New Roman" panose="02020603050405020304" pitchFamily="18" charset="0"/>
                          </a:rPr>
                          <m:t>𝐿</m:t>
                        </m:r>
                        <m:r>
                          <a:rPr lang="en-US" altLang="zh-CN" sz="2000" i="1" dirty="0" smtClean="0">
                            <a:solidFill>
                              <a:srgbClr val="0000FF"/>
                            </a:solidFill>
                            <a:latin typeface="Cambria Math" panose="02040503050406030204" pitchFamily="18" charset="0"/>
                            <a:cs typeface="Times New Roman" panose="02020603050405020304" pitchFamily="18" charset="0"/>
                          </a:rPr>
                          <m:t>+1+</m:t>
                        </m:r>
                        <m:r>
                          <a:rPr lang="en-US" altLang="zh-CN" sz="2000" i="1" dirty="0" smtClean="0">
                            <a:solidFill>
                              <a:srgbClr val="0000FF"/>
                            </a:solidFill>
                            <a:latin typeface="Cambria Math" panose="02040503050406030204" pitchFamily="18" charset="0"/>
                            <a:cs typeface="Times New Roman" panose="02020603050405020304" pitchFamily="18" charset="0"/>
                          </a:rPr>
                          <m:t>𝑘</m:t>
                        </m:r>
                      </m:e>
                    </m:d>
                    <m:r>
                      <a:rPr lang="en-US" altLang="zh-CN" sz="2000" b="0" i="1" dirty="0" smtClean="0">
                        <a:solidFill>
                          <a:srgbClr val="0000FF"/>
                        </a:solidFill>
                        <a:latin typeface="Cambria Math" panose="02040503050406030204" pitchFamily="18" charset="0"/>
                        <a:cs typeface="Times New Roman" panose="02020603050405020304" pitchFamily="18" charset="0"/>
                      </a:rPr>
                      <m:t> </m:t>
                    </m:r>
                    <m:r>
                      <m:rPr>
                        <m:sty m:val="p"/>
                      </m:rPr>
                      <a:rPr lang="en-US" altLang="zh-CN" sz="2000" b="0" i="0" dirty="0" smtClean="0">
                        <a:solidFill>
                          <a:srgbClr val="0000FF"/>
                        </a:solidFill>
                        <a:latin typeface="Cambria Math" panose="02040503050406030204" pitchFamily="18" charset="0"/>
                        <a:cs typeface="Times New Roman" panose="02020603050405020304" pitchFamily="18" charset="0"/>
                      </a:rPr>
                      <m:t>mod</m:t>
                    </m:r>
                    <m:r>
                      <a:rPr lang="en-US" altLang="zh-CN" sz="2000" i="1" dirty="0" smtClean="0">
                        <a:solidFill>
                          <a:srgbClr val="0000FF"/>
                        </a:solidFill>
                        <a:latin typeface="Cambria Math" panose="02040503050406030204" pitchFamily="18" charset="0"/>
                        <a:cs typeface="Times New Roman" panose="02020603050405020304" pitchFamily="18" charset="0"/>
                      </a:rPr>
                      <m:t> 512=448</m:t>
                    </m:r>
                  </m:oMath>
                </a14:m>
                <a:r>
                  <a:rPr lang="zh-CN" altLang="en-US" sz="2000" dirty="0"/>
                  <a:t>，</a:t>
                </a:r>
                <a14:m>
                  <m:oMath xmlns:m="http://schemas.openxmlformats.org/officeDocument/2006/math">
                    <m:r>
                      <a:rPr lang="en-US" altLang="zh-CN" i="1" dirty="0">
                        <a:latin typeface="Cambria Math" panose="02040503050406030204" pitchFamily="18" charset="0"/>
                        <a:cs typeface="Times New Roman" panose="02020603050405020304" pitchFamily="18" charset="0"/>
                      </a:rPr>
                      <m:t>𝑘</m:t>
                    </m:r>
                  </m:oMath>
                </a14:m>
                <a:r>
                  <a:rPr lang="zh-CN" altLang="en-US" dirty="0"/>
                  <a:t> 取最小正整数。</a:t>
                </a:r>
                <a:endParaRPr lang="en-US" altLang="zh-CN" dirty="0"/>
              </a:p>
              <a:p>
                <a:pPr marL="914400" lvl="1" indent="-4572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如果原始消息长度恰好满足</a:t>
                </a:r>
                <a14:m>
                  <m:oMath xmlns:m="http://schemas.openxmlformats.org/officeDocument/2006/math">
                    <m:r>
                      <a:rPr lang="en-US" altLang="zh-CN" sz="2000" i="1" dirty="0">
                        <a:solidFill>
                          <a:srgbClr val="0000FF"/>
                        </a:solidFill>
                        <a:latin typeface="Cambria Math" panose="02040503050406030204" pitchFamily="18" charset="0"/>
                        <a:cs typeface="Times New Roman" panose="02020603050405020304" pitchFamily="18" charset="0"/>
                      </a:rPr>
                      <m:t> </m:t>
                    </m:r>
                    <m:r>
                      <a:rPr lang="en-US" altLang="zh-CN" sz="2000" b="0" i="1" dirty="0" smtClean="0">
                        <a:solidFill>
                          <a:srgbClr val="0000FF"/>
                        </a:solidFill>
                        <a:latin typeface="Cambria Math" panose="02040503050406030204" pitchFamily="18" charset="0"/>
                        <a:cs typeface="Times New Roman" panose="02020603050405020304" pitchFamily="18" charset="0"/>
                      </a:rPr>
                      <m:t>𝐿</m:t>
                    </m:r>
                    <m:r>
                      <a:rPr lang="en-US" altLang="zh-CN" sz="2000" b="0" i="1" dirty="0" smtClean="0">
                        <a:solidFill>
                          <a:srgbClr val="0000FF"/>
                        </a:solidFill>
                        <a:latin typeface="Cambria Math" panose="02040503050406030204" pitchFamily="18" charset="0"/>
                        <a:cs typeface="Times New Roman" panose="02020603050405020304" pitchFamily="18" charset="0"/>
                      </a:rPr>
                      <m:t> </m:t>
                    </m:r>
                    <m:r>
                      <m:rPr>
                        <m:sty m:val="p"/>
                      </m:rPr>
                      <a:rPr lang="en-US" altLang="zh-CN" sz="2000" i="0" dirty="0">
                        <a:solidFill>
                          <a:srgbClr val="0000FF"/>
                        </a:solidFill>
                        <a:latin typeface="Cambria Math" panose="02040503050406030204" pitchFamily="18" charset="0"/>
                        <a:cs typeface="Times New Roman" panose="02020603050405020304" pitchFamily="18" charset="0"/>
                      </a:rPr>
                      <m:t>mod</m:t>
                    </m:r>
                    <m:r>
                      <a:rPr lang="en-US" altLang="zh-CN" sz="2000" i="1" dirty="0">
                        <a:solidFill>
                          <a:srgbClr val="0000FF"/>
                        </a:solidFill>
                        <a:latin typeface="Cambria Math" panose="02040503050406030204" pitchFamily="18" charset="0"/>
                        <a:cs typeface="Times New Roman" panose="02020603050405020304" pitchFamily="18" charset="0"/>
                      </a:rPr>
                      <m:t> 512=448</m:t>
                    </m:r>
                  </m:oMath>
                </a14:m>
                <a:r>
                  <a:rPr lang="zh-CN" altLang="en-US" sz="2000" dirty="0">
                    <a:latin typeface="Times New Roman" panose="02020603050405020304" pitchFamily="18" charset="0"/>
                    <a:cs typeface="Times New Roman" panose="02020603050405020304" pitchFamily="18" charset="0"/>
                  </a:rPr>
                  <a:t>，填充</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512</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个比特。</a:t>
                </a:r>
                <a:endParaRPr lang="en-US" altLang="zh-CN" sz="2000" dirty="0">
                  <a:latin typeface="Times New Roman" panose="02020603050405020304" pitchFamily="18" charset="0"/>
                  <a:cs typeface="Times New Roman" panose="02020603050405020304" pitchFamily="18" charset="0"/>
                </a:endParaRPr>
              </a:p>
              <a:p>
                <a:pPr marL="457200" lvl="0" indent="-457200" algn="just">
                  <a:lnSpc>
                    <a:spcPct val="13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追加消息长度</a:t>
                </a:r>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defRPr/>
                </a:pPr>
                <a:r>
                  <a:rPr lang="zh-CN" altLang="en-US" sz="2000" dirty="0">
                    <a:solidFill>
                      <a:prstClr val="black"/>
                    </a:solidFill>
                    <a:latin typeface="Times New Roman" panose="02020603050405020304" pitchFamily="18" charset="0"/>
                    <a:cs typeface="Times New Roman" panose="02020603050405020304" pitchFamily="18" charset="0"/>
                  </a:rPr>
                  <a:t>将原始消息的长度 </a:t>
                </a:r>
                <a:r>
                  <a:rPr lang="en-US" altLang="zh-CN" sz="2000" i="1" dirty="0">
                    <a:latin typeface="Times New Roman" panose="02020603050405020304" pitchFamily="18" charset="0"/>
                    <a:cs typeface="Times New Roman" panose="02020603050405020304" pitchFamily="18" charset="0"/>
                  </a:rPr>
                  <a:t>L </a:t>
                </a:r>
                <a:r>
                  <a:rPr lang="zh-CN" altLang="en-US" sz="2000" dirty="0">
                    <a:solidFill>
                      <a:prstClr val="black"/>
                    </a:solidFill>
                    <a:latin typeface="Times New Roman" panose="02020603050405020304" pitchFamily="18" charset="0"/>
                    <a:cs typeface="Times New Roman" panose="02020603050405020304" pitchFamily="18" charset="0"/>
                  </a:rPr>
                  <a:t>以 </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a14:m>
                <a:r>
                  <a:rPr lang="zh-CN" altLang="en-US" sz="2000" dirty="0">
                    <a:solidFill>
                      <a:prstClr val="black"/>
                    </a:solidFill>
                    <a:latin typeface="Times New Roman" panose="02020603050405020304" pitchFamily="18" charset="0"/>
                    <a:cs typeface="Times New Roman" panose="02020603050405020304" pitchFamily="18" charset="0"/>
                  </a:rPr>
                  <a:t> 的形式追加到填充的消息末尾。</a:t>
                </a:r>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gn="just">
                  <a:lnSpc>
                    <a:spcPct val="130000"/>
                  </a:lnSpc>
                  <a:spcBef>
                    <a:spcPts val="600"/>
                  </a:spcBef>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如果 </a:t>
                </a:r>
                <a:r>
                  <a:rPr lang="en-US" altLang="zh-CN" sz="2000" i="1" dirty="0">
                    <a:latin typeface="Times New Roman" panose="02020603050405020304" pitchFamily="18" charset="0"/>
                    <a:cs typeface="Times New Roman" panose="02020603050405020304" pitchFamily="18" charset="0"/>
                  </a:rPr>
                  <a:t>L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超过 </a:t>
                </a:r>
                <a14:m>
                  <m:oMath xmlns:m="http://schemas.openxmlformats.org/officeDocument/2006/math">
                    <m: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bits</m:t>
                    </m:r>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所能表示的数据长度，只保留</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最后</a:t>
                </a:r>
                <a14:m>
                  <m:oMath xmlns:m="http://schemas.openxmlformats.org/officeDocument/2006/math">
                    <m: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m:t>
                    </m:r>
                    <m: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bits</m:t>
                    </m:r>
                    <m:r>
                      <m:rPr>
                        <m:nor/>
                      </m:rPr>
                      <a:rPr lang="zh-CN" altLang="en-US" sz="2000" dirty="0">
                        <a:solidFill>
                          <a:prstClr val="black"/>
                        </a:solidFill>
                        <a:latin typeface="Times New Roman" panose="02020603050405020304" pitchFamily="18" charset="0"/>
                        <a:cs typeface="Times New Roman" panose="02020603050405020304" pitchFamily="18" charset="0"/>
                      </a:rPr>
                      <m:t>。</m:t>
                    </m:r>
                  </m:oMath>
                </a14:m>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algn="just">
                  <a:lnSpc>
                    <a:spcPct val="130000"/>
                  </a:lnSpc>
                  <a:spcBef>
                    <a:spcPts val="600"/>
                  </a:spcBef>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最后消息</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为 </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512 </a:t>
                </a:r>
                <a14:m>
                  <m:oMath xmlns:m="http://schemas.openxmlformats.org/officeDocument/2006/math">
                    <m:r>
                      <m:rPr>
                        <m:sty m:val="p"/>
                      </m:rP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bits</m:t>
                    </m:r>
                  </m:oMath>
                </a14:m>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的整数倍</a:t>
                </a:r>
                <a:r>
                  <a:rPr lang="en-US" altLang="zh-CN" sz="2000" dirty="0">
                    <a:solidFill>
                      <a:srgbClr val="0000FF"/>
                    </a:solidFill>
                    <a:latin typeface="Times New Roman" panose="02020603050405020304" pitchFamily="18" charset="0"/>
                    <a:ea typeface="微软雅黑"/>
                    <a:cs typeface="Times New Roman" panose="02020603050405020304" pitchFamily="18" charset="0"/>
                  </a:rPr>
                  <a:t> </a:t>
                </a:r>
                <a:r>
                  <a:rPr lang="en-US" altLang="zh-CN" sz="2000" dirty="0">
                    <a:solidFill>
                      <a:schemeClr val="tx1"/>
                    </a:solidFill>
                    <a:latin typeface="Times New Roman" panose="02020603050405020304" pitchFamily="18" charset="0"/>
                    <a:ea typeface="微软雅黑"/>
                    <a:cs typeface="Times New Roman" panose="02020603050405020304" pitchFamily="18" charset="0"/>
                  </a:rPr>
                  <a:t>(</a:t>
                </a:r>
                <a14:m>
                  <m:oMath xmlns:m="http://schemas.openxmlformats.org/officeDocument/2006/math">
                    <m:r>
                      <m:rPr>
                        <m:sty m:val="p"/>
                      </m:rPr>
                      <a:rPr lang="en-US" altLang="zh-CN" sz="2000" dirty="0">
                        <a:solidFill>
                          <a:schemeClr val="tx1"/>
                        </a:solidFill>
                        <a:latin typeface="Cambria Math" panose="02040503050406030204" pitchFamily="18" charset="0"/>
                      </a:rPr>
                      <m:t>N</m:t>
                    </m:r>
                    <m:r>
                      <a:rPr lang="en-US" altLang="zh-CN" sz="2000" dirty="0">
                        <a:solidFill>
                          <a:schemeClr val="tx1"/>
                        </a:solidFill>
                        <a:latin typeface="Cambria Math" panose="02040503050406030204" pitchFamily="18" charset="0"/>
                      </a:rPr>
                      <m:t>∗512</m:t>
                    </m:r>
                  </m:oMath>
                </a14:m>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bits)</a:t>
                </a:r>
                <a:r>
                  <a:rPr lang="zh-CN" altLang="en-US" sz="2000" dirty="0">
                    <a:solidFill>
                      <a:prstClr val="black"/>
                    </a:solidFill>
                    <a:latin typeface="Times New Roman" panose="02020603050405020304" pitchFamily="18" charset="0"/>
                    <a:cs typeface="Times New Roman" panose="02020603050405020304" pitchFamily="18" charset="0"/>
                  </a:rPr>
                  <a:t> 。</a:t>
                </a: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299056" y="1611716"/>
                <a:ext cx="8493405" cy="4115807"/>
              </a:xfrm>
              <a:prstGeom prst="rect">
                <a:avLst/>
              </a:prstGeom>
              <a:blipFill rotWithShape="0">
                <a:blip r:embed="rId3"/>
                <a:stretch>
                  <a:fillRect l="-718" r="-790" b="-1627"/>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消息填充</a:t>
            </a:r>
          </a:p>
        </p:txBody>
      </p:sp>
    </p:spTree>
    <p:extLst>
      <p:ext uri="{BB962C8B-B14F-4D97-AF65-F5344CB8AC3E}">
        <p14:creationId xmlns:p14="http://schemas.microsoft.com/office/powerpoint/2010/main" val="3194137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消息填充</a:t>
            </a:r>
          </a:p>
        </p:txBody>
      </p:sp>
      <p:grpSp>
        <p:nvGrpSpPr>
          <p:cNvPr id="108" name="组合 107">
            <a:extLst>
              <a:ext uri="{FF2B5EF4-FFF2-40B4-BE49-F238E27FC236}">
                <a16:creationId xmlns:a16="http://schemas.microsoft.com/office/drawing/2014/main" id="{42080F09-C16E-4021-82D5-F133986CB07F}"/>
              </a:ext>
            </a:extLst>
          </p:cNvPr>
          <p:cNvGrpSpPr/>
          <p:nvPr/>
        </p:nvGrpSpPr>
        <p:grpSpPr>
          <a:xfrm>
            <a:off x="1718682" y="2019836"/>
            <a:ext cx="6332357" cy="3057050"/>
            <a:chOff x="1718682" y="1521691"/>
            <a:chExt cx="6332357" cy="3057050"/>
          </a:xfrm>
        </p:grpSpPr>
        <p:cxnSp>
          <p:nvCxnSpPr>
            <p:cNvPr id="59" name="直接箭头连接符 58">
              <a:extLst>
                <a:ext uri="{FF2B5EF4-FFF2-40B4-BE49-F238E27FC236}">
                  <a16:creationId xmlns:a16="http://schemas.microsoft.com/office/drawing/2014/main" id="{C0DF60A5-A31F-4F43-8B4F-E1AF36C4BEBC}"/>
                </a:ext>
              </a:extLst>
            </p:cNvPr>
            <p:cNvCxnSpPr>
              <a:cxnSpLocks/>
            </p:cNvCxnSpPr>
            <p:nvPr/>
          </p:nvCxnSpPr>
          <p:spPr>
            <a:xfrm>
              <a:off x="1718682" y="1911184"/>
              <a:ext cx="520083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15C15CCB-4FFB-4C0C-B465-A84D40401F6C}"/>
                    </a:ext>
                  </a:extLst>
                </p:cNvPr>
                <p:cNvSpPr txBox="1"/>
                <p:nvPr/>
              </p:nvSpPr>
              <p:spPr>
                <a:xfrm>
                  <a:off x="3623894" y="1521691"/>
                  <a:ext cx="1439291" cy="369332"/>
                </a:xfrm>
                <a:prstGeom prst="rect">
                  <a:avLst/>
                </a:prstGeom>
                <a:noFill/>
              </p:spPr>
              <p:txBody>
                <a:bodyPr wrap="none" rtlCol="0">
                  <a:spAutoFit/>
                </a:bodyPr>
                <a:lstStyle/>
                <a:p>
                  <a14:m>
                    <m:oMath xmlns:m="http://schemas.openxmlformats.org/officeDocument/2006/math">
                      <m:r>
                        <m:rPr>
                          <m:sty m:val="p"/>
                        </m:rPr>
                        <a:rPr lang="en-US" altLang="zh-CN" i="0" dirty="0" smtClean="0">
                          <a:latin typeface="Cambria Math" panose="02040503050406030204" pitchFamily="18" charset="0"/>
                        </a:rPr>
                        <m:t>N</m:t>
                      </m:r>
                      <m:r>
                        <a:rPr lang="en-US" altLang="zh-CN" i="0" dirty="0" smtClean="0">
                          <a:latin typeface="Cambria Math" panose="02040503050406030204" pitchFamily="18" charset="0"/>
                        </a:rPr>
                        <m:t>∗512</m:t>
                      </m:r>
                    </m:oMath>
                  </a14:m>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bits</a:t>
                  </a:r>
                  <a:endParaRPr lang="zh-CN" altLang="en-US" dirty="0">
                    <a:latin typeface="Times New Roman" panose="02020603050405020304" pitchFamily="18" charset="0"/>
                    <a:cs typeface="Times New Roman" panose="02020603050405020304" pitchFamily="18" charset="0"/>
                  </a:endParaRPr>
                </a:p>
              </p:txBody>
            </p:sp>
          </mc:Choice>
          <mc:Fallback xmlns="">
            <p:sp>
              <p:nvSpPr>
                <p:cNvPr id="60" name="文本框 59">
                  <a:extLst>
                    <a:ext uri="{FF2B5EF4-FFF2-40B4-BE49-F238E27FC236}">
                      <a16:creationId xmlns:a16="http://schemas.microsoft.com/office/drawing/2014/main" id="{15C15CCB-4FFB-4C0C-B465-A84D40401F6C}"/>
                    </a:ext>
                  </a:extLst>
                </p:cNvPr>
                <p:cNvSpPr txBox="1">
                  <a:spLocks noRot="1" noChangeAspect="1" noMove="1" noResize="1" noEditPoints="1" noAdjustHandles="1" noChangeArrowheads="1" noChangeShapeType="1" noTextEdit="1"/>
                </p:cNvSpPr>
                <p:nvPr/>
              </p:nvSpPr>
              <p:spPr>
                <a:xfrm>
                  <a:off x="3623894" y="1521691"/>
                  <a:ext cx="1439291" cy="369332"/>
                </a:xfrm>
                <a:prstGeom prst="rect">
                  <a:avLst/>
                </a:prstGeom>
                <a:blipFill>
                  <a:blip r:embed="rId3"/>
                  <a:stretch>
                    <a:fillRect t="-8197" b="-24590"/>
                  </a:stretch>
                </a:blipFill>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4C098E3E-5843-43F6-920F-C4B0914E8743}"/>
                </a:ext>
              </a:extLst>
            </p:cNvPr>
            <p:cNvSpPr/>
            <p:nvPr/>
          </p:nvSpPr>
          <p:spPr>
            <a:xfrm>
              <a:off x="1718682" y="2578599"/>
              <a:ext cx="2871683" cy="395866"/>
            </a:xfrm>
            <a:prstGeom prst="rect">
              <a:avLst/>
            </a:prstGeom>
            <a:solidFill>
              <a:schemeClr val="accent5">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dirty="0">
                  <a:solidFill>
                    <a:schemeClr val="tx1"/>
                  </a:solidFill>
                </a:rPr>
                <a:t>消息</a:t>
              </a:r>
            </a:p>
          </p:txBody>
        </p:sp>
        <p:cxnSp>
          <p:nvCxnSpPr>
            <p:cNvPr id="62" name="直接箭头连接符 61">
              <a:extLst>
                <a:ext uri="{FF2B5EF4-FFF2-40B4-BE49-F238E27FC236}">
                  <a16:creationId xmlns:a16="http://schemas.microsoft.com/office/drawing/2014/main" id="{720A61AE-A5EE-4570-B233-0E6A43CA7AB4}"/>
                </a:ext>
              </a:extLst>
            </p:cNvPr>
            <p:cNvCxnSpPr>
              <a:cxnSpLocks/>
            </p:cNvCxnSpPr>
            <p:nvPr/>
          </p:nvCxnSpPr>
          <p:spPr>
            <a:xfrm>
              <a:off x="1718682" y="2387161"/>
              <a:ext cx="287168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19A9097-2C25-4EDE-82D4-277845086A7D}"/>
                    </a:ext>
                  </a:extLst>
                </p:cNvPr>
                <p:cNvSpPr txBox="1"/>
                <p:nvPr/>
              </p:nvSpPr>
              <p:spPr>
                <a:xfrm>
                  <a:off x="2689461" y="1968045"/>
                  <a:ext cx="1279037" cy="3728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0" dirty="0" smtClean="0">
                            <a:latin typeface="Cambria Math" panose="02040503050406030204" pitchFamily="18" charset="0"/>
                          </a:rPr>
                          <m:t>L</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63" name="文本框 62">
                  <a:extLst>
                    <a:ext uri="{FF2B5EF4-FFF2-40B4-BE49-F238E27FC236}">
                      <a16:creationId xmlns:a16="http://schemas.microsoft.com/office/drawing/2014/main" id="{E19A9097-2C25-4EDE-82D4-277845086A7D}"/>
                    </a:ext>
                  </a:extLst>
                </p:cNvPr>
                <p:cNvSpPr txBox="1">
                  <a:spLocks noRot="1" noChangeAspect="1" noMove="1" noResize="1" noEditPoints="1" noAdjustHandles="1" noChangeArrowheads="1" noChangeShapeType="1" noTextEdit="1"/>
                </p:cNvSpPr>
                <p:nvPr/>
              </p:nvSpPr>
              <p:spPr>
                <a:xfrm>
                  <a:off x="2689461" y="1968045"/>
                  <a:ext cx="1279037" cy="3728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396FB21A-84D9-48AD-9676-039509945C4E}"/>
                    </a:ext>
                  </a:extLst>
                </p:cNvPr>
                <p:cNvSpPr/>
                <p:nvPr/>
              </p:nvSpPr>
              <p:spPr>
                <a:xfrm>
                  <a:off x="4590367" y="2578599"/>
                  <a:ext cx="1872341" cy="395866"/>
                </a:xfrm>
                <a:prstGeom prst="rect">
                  <a:avLst/>
                </a:prstGeom>
                <a:solidFill>
                  <a:schemeClr val="accent5">
                    <a:lumMod val="60000"/>
                    <a:lumOff val="4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cs typeface="Times New Roman" panose="02020603050405020304" pitchFamily="18" charset="0"/>
                          </a:rPr>
                          <m:t>100...00</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4" name="矩形 63">
                  <a:extLst>
                    <a:ext uri="{FF2B5EF4-FFF2-40B4-BE49-F238E27FC236}">
                      <a16:creationId xmlns:a16="http://schemas.microsoft.com/office/drawing/2014/main" id="{396FB21A-84D9-48AD-9676-039509945C4E}"/>
                    </a:ext>
                  </a:extLst>
                </p:cNvPr>
                <p:cNvSpPr>
                  <a:spLocks noRot="1" noChangeAspect="1" noMove="1" noResize="1" noEditPoints="1" noAdjustHandles="1" noChangeArrowheads="1" noChangeShapeType="1" noTextEdit="1"/>
                </p:cNvSpPr>
                <p:nvPr/>
              </p:nvSpPr>
              <p:spPr>
                <a:xfrm>
                  <a:off x="4590367" y="2578599"/>
                  <a:ext cx="1872341" cy="395866"/>
                </a:xfrm>
                <a:prstGeom prst="rect">
                  <a:avLst/>
                </a:prstGeom>
                <a:blipFill>
                  <a:blip r:embed="rId5"/>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对话气泡: 圆角矩形 64">
                  <a:extLst>
                    <a:ext uri="{FF2B5EF4-FFF2-40B4-BE49-F238E27FC236}">
                      <a16:creationId xmlns:a16="http://schemas.microsoft.com/office/drawing/2014/main" id="{96BBF0A8-5D27-4A5A-B17F-9132EE14B172}"/>
                    </a:ext>
                  </a:extLst>
                </p:cNvPr>
                <p:cNvSpPr/>
                <p:nvPr/>
              </p:nvSpPr>
              <p:spPr>
                <a:xfrm>
                  <a:off x="4730200" y="2139591"/>
                  <a:ext cx="2189316" cy="361256"/>
                </a:xfrm>
                <a:prstGeom prst="wedgeRoundRectCallout">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填充</a:t>
                  </a:r>
                  <a14:m>
                    <m:oMath xmlns:m="http://schemas.openxmlformats.org/officeDocument/2006/math">
                      <m:r>
                        <a:rPr lang="en-US" altLang="zh-CN" b="0" i="0" dirty="0" smtClean="0">
                          <a:latin typeface="Cambria Math" panose="02040503050406030204" pitchFamily="18" charset="0"/>
                        </a:rPr>
                        <m:t>1</m:t>
                      </m:r>
                      <m:r>
                        <a:rPr lang="en-US" altLang="zh-CN" i="0" dirty="0" smtClean="0">
                          <a:latin typeface="Cambria Math" panose="02040503050406030204" pitchFamily="18" charset="0"/>
                        </a:rPr>
                        <m:t>~512 </m:t>
                      </m:r>
                      <m:r>
                        <m:rPr>
                          <m:sty m:val="p"/>
                        </m:rPr>
                        <a:rPr lang="en-US" altLang="zh-CN" i="0" dirty="0" smtClean="0">
                          <a:latin typeface="Cambria Math" panose="02040503050406030204" pitchFamily="18" charset="0"/>
                        </a:rPr>
                        <m:t>bits</m:t>
                      </m:r>
                    </m:oMath>
                  </a14:m>
                  <a:endParaRPr lang="zh-CN" altLang="en-US" dirty="0"/>
                </a:p>
              </p:txBody>
            </p:sp>
          </mc:Choice>
          <mc:Fallback xmlns="">
            <p:sp>
              <p:nvSpPr>
                <p:cNvPr id="65" name="对话气泡: 圆角矩形 64">
                  <a:extLst>
                    <a:ext uri="{FF2B5EF4-FFF2-40B4-BE49-F238E27FC236}">
                      <a16:creationId xmlns:a16="http://schemas.microsoft.com/office/drawing/2014/main" id="{96BBF0A8-5D27-4A5A-B17F-9132EE14B172}"/>
                    </a:ext>
                  </a:extLst>
                </p:cNvPr>
                <p:cNvSpPr>
                  <a:spLocks noRot="1" noChangeAspect="1" noMove="1" noResize="1" noEditPoints="1" noAdjustHandles="1" noChangeArrowheads="1" noChangeShapeType="1" noTextEdit="1"/>
                </p:cNvSpPr>
                <p:nvPr/>
              </p:nvSpPr>
              <p:spPr>
                <a:xfrm>
                  <a:off x="4730200" y="2139591"/>
                  <a:ext cx="2189316" cy="361256"/>
                </a:xfrm>
                <a:prstGeom prst="wedgeRoundRectCallout">
                  <a:avLst/>
                </a:prstGeom>
                <a:blipFill>
                  <a:blip r:embed="rId6"/>
                  <a:stretch>
                    <a:fillRect t="-8955" b="-11940"/>
                  </a:stretch>
                </a:blipFill>
                <a:ln w="12700">
                  <a:noFill/>
                </a:ln>
              </p:spPr>
              <p:txBody>
                <a:bodyPr/>
                <a:lstStyle/>
                <a:p>
                  <a:r>
                    <a:rPr lang="zh-CN" altLang="en-US">
                      <a:noFill/>
                    </a:rPr>
                    <a:t> </a:t>
                  </a:r>
                </a:p>
              </p:txBody>
            </p:sp>
          </mc:Fallback>
        </mc:AlternateContent>
        <p:sp>
          <p:nvSpPr>
            <p:cNvPr id="66" name="矩形 65">
              <a:extLst>
                <a:ext uri="{FF2B5EF4-FFF2-40B4-BE49-F238E27FC236}">
                  <a16:creationId xmlns:a16="http://schemas.microsoft.com/office/drawing/2014/main" id="{82CBF2F6-B8A1-4AAA-80A7-B264BAFAE255}"/>
                </a:ext>
              </a:extLst>
            </p:cNvPr>
            <p:cNvSpPr/>
            <p:nvPr/>
          </p:nvSpPr>
          <p:spPr>
            <a:xfrm>
              <a:off x="6462705" y="2578599"/>
              <a:ext cx="456810" cy="395866"/>
            </a:xfrm>
            <a:prstGeom prst="rect">
              <a:avLst/>
            </a:prstGeom>
            <a:solidFill>
              <a:schemeClr val="accent5">
                <a:lumMod val="20000"/>
                <a:lumOff val="8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7" name="对话气泡: 圆角矩形 66">
                  <a:extLst>
                    <a:ext uri="{FF2B5EF4-FFF2-40B4-BE49-F238E27FC236}">
                      <a16:creationId xmlns:a16="http://schemas.microsoft.com/office/drawing/2014/main" id="{48B4EA2F-ADA8-432B-B873-C955FEAC8154}"/>
                    </a:ext>
                  </a:extLst>
                </p:cNvPr>
                <p:cNvSpPr/>
                <p:nvPr/>
              </p:nvSpPr>
              <p:spPr>
                <a:xfrm>
                  <a:off x="6178698" y="3141734"/>
                  <a:ext cx="1872341" cy="361255"/>
                </a:xfrm>
                <a:prstGeom prst="wedgeRoundRectCallout">
                  <a:avLst>
                    <a:gd name="adj1" fmla="val -18501"/>
                    <a:gd name="adj2" fmla="val -88654"/>
                    <a:gd name="adj3" fmla="val 16667"/>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消息长度 </a:t>
                  </a:r>
                  <a14:m>
                    <m:oMath xmlns:m="http://schemas.openxmlformats.org/officeDocument/2006/math">
                      <m:r>
                        <a:rPr lang="en-US" altLang="zh-CN" i="0" dirty="0" smtClean="0">
                          <a:latin typeface="Cambria Math" panose="02040503050406030204" pitchFamily="18" charset="0"/>
                        </a:rPr>
                        <m:t>64</m:t>
                      </m:r>
                      <m:r>
                        <a:rPr lang="en-US" altLang="zh-CN" b="0" i="0" dirty="0" smtClean="0">
                          <a:latin typeface="Cambria Math" panose="02040503050406030204" pitchFamily="18" charset="0"/>
                        </a:rPr>
                        <m:t> </m:t>
                      </m:r>
                      <m:r>
                        <m:rPr>
                          <m:sty m:val="p"/>
                        </m:rPr>
                        <a:rPr lang="en-US" altLang="zh-CN" i="0" dirty="0" smtClean="0">
                          <a:latin typeface="Cambria Math" panose="02040503050406030204" pitchFamily="18" charset="0"/>
                        </a:rPr>
                        <m:t>bits</m:t>
                      </m:r>
                    </m:oMath>
                  </a14:m>
                  <a:endParaRPr lang="en-US" altLang="zh-CN" dirty="0"/>
                </a:p>
              </p:txBody>
            </p:sp>
          </mc:Choice>
          <mc:Fallback xmlns="">
            <p:sp>
              <p:nvSpPr>
                <p:cNvPr id="67" name="对话气泡: 圆角矩形 66">
                  <a:extLst>
                    <a:ext uri="{FF2B5EF4-FFF2-40B4-BE49-F238E27FC236}">
                      <a16:creationId xmlns:a16="http://schemas.microsoft.com/office/drawing/2014/main" id="{48B4EA2F-ADA8-432B-B873-C955FEAC8154}"/>
                    </a:ext>
                  </a:extLst>
                </p:cNvPr>
                <p:cNvSpPr>
                  <a:spLocks noRot="1" noChangeAspect="1" noMove="1" noResize="1" noEditPoints="1" noAdjustHandles="1" noChangeArrowheads="1" noChangeShapeType="1" noTextEdit="1"/>
                </p:cNvSpPr>
                <p:nvPr/>
              </p:nvSpPr>
              <p:spPr>
                <a:xfrm>
                  <a:off x="6178698" y="3141734"/>
                  <a:ext cx="1872341" cy="361255"/>
                </a:xfrm>
                <a:prstGeom prst="wedgeRoundRectCallout">
                  <a:avLst>
                    <a:gd name="adj1" fmla="val -18501"/>
                    <a:gd name="adj2" fmla="val -88654"/>
                    <a:gd name="adj3" fmla="val 16667"/>
                  </a:avLst>
                </a:prstGeom>
                <a:blipFill>
                  <a:blip r:embed="rId7"/>
                  <a:stretch>
                    <a:fillRect l="-1954" b="-20732"/>
                  </a:stretch>
                </a:blipFill>
                <a:ln w="12700">
                  <a:noFill/>
                </a:ln>
              </p:spPr>
              <p:txBody>
                <a:bodyPr/>
                <a:lstStyle/>
                <a:p>
                  <a:r>
                    <a:rPr lang="zh-CN" altLang="en-US">
                      <a:noFill/>
                    </a:rPr>
                    <a:t> </a:t>
                  </a:r>
                </a:p>
              </p:txBody>
            </p:sp>
          </mc:Fallback>
        </mc:AlternateContent>
        <p:sp>
          <p:nvSpPr>
            <p:cNvPr id="68" name="箭头: 下 67">
              <a:extLst>
                <a:ext uri="{FF2B5EF4-FFF2-40B4-BE49-F238E27FC236}">
                  <a16:creationId xmlns:a16="http://schemas.microsoft.com/office/drawing/2014/main" id="{A81D979F-5B4D-434F-AFEA-AD2B2C2FE854}"/>
                </a:ext>
              </a:extLst>
            </p:cNvPr>
            <p:cNvSpPr/>
            <p:nvPr/>
          </p:nvSpPr>
          <p:spPr>
            <a:xfrm>
              <a:off x="3045987" y="3120204"/>
              <a:ext cx="427613" cy="572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270BADC3-12F9-46BF-8569-6106C8BFC294}"/>
                    </a:ext>
                  </a:extLst>
                </p:cNvPr>
                <p:cNvSpPr/>
                <p:nvPr/>
              </p:nvSpPr>
              <p:spPr>
                <a:xfrm>
                  <a:off x="1877092" y="4182875"/>
                  <a:ext cx="1494400"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0</m:t>
                            </m:r>
                          </m:sub>
                        </m:sSub>
                      </m:oMath>
                    </m:oMathPara>
                  </a14:m>
                  <a:endParaRPr lang="en-US" altLang="zh-CN" b="0" dirty="0">
                    <a:solidFill>
                      <a:schemeClr val="tx1"/>
                    </a:solidFill>
                  </a:endParaRPr>
                </a:p>
              </p:txBody>
            </p:sp>
          </mc:Choice>
          <mc:Fallback xmlns="">
            <p:sp>
              <p:nvSpPr>
                <p:cNvPr id="69" name="矩形 68">
                  <a:extLst>
                    <a:ext uri="{FF2B5EF4-FFF2-40B4-BE49-F238E27FC236}">
                      <a16:creationId xmlns:a16="http://schemas.microsoft.com/office/drawing/2014/main" id="{270BADC3-12F9-46BF-8569-6106C8BFC294}"/>
                    </a:ext>
                  </a:extLst>
                </p:cNvPr>
                <p:cNvSpPr>
                  <a:spLocks noRot="1" noChangeAspect="1" noMove="1" noResize="1" noEditPoints="1" noAdjustHandles="1" noChangeArrowheads="1" noChangeShapeType="1" noTextEdit="1"/>
                </p:cNvSpPr>
                <p:nvPr/>
              </p:nvSpPr>
              <p:spPr>
                <a:xfrm>
                  <a:off x="1877092" y="4182875"/>
                  <a:ext cx="1494400" cy="395866"/>
                </a:xfrm>
                <a:prstGeom prst="rect">
                  <a:avLst/>
                </a:prstGeom>
                <a:blipFill>
                  <a:blip r:embed="rId8"/>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24FCEBE2-4064-43D1-8E8D-F4BE0BAD11EE}"/>
                    </a:ext>
                  </a:extLst>
                </p:cNvPr>
                <p:cNvSpPr/>
                <p:nvPr/>
              </p:nvSpPr>
              <p:spPr>
                <a:xfrm>
                  <a:off x="3371495" y="4182875"/>
                  <a:ext cx="1494402"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0" name="矩形 69">
                  <a:extLst>
                    <a:ext uri="{FF2B5EF4-FFF2-40B4-BE49-F238E27FC236}">
                      <a16:creationId xmlns:a16="http://schemas.microsoft.com/office/drawing/2014/main" id="{24FCEBE2-4064-43D1-8E8D-F4BE0BAD11EE}"/>
                    </a:ext>
                  </a:extLst>
                </p:cNvPr>
                <p:cNvSpPr>
                  <a:spLocks noRot="1" noChangeAspect="1" noMove="1" noResize="1" noEditPoints="1" noAdjustHandles="1" noChangeArrowheads="1" noChangeShapeType="1" noTextEdit="1"/>
                </p:cNvSpPr>
                <p:nvPr/>
              </p:nvSpPr>
              <p:spPr>
                <a:xfrm>
                  <a:off x="3371495" y="4182875"/>
                  <a:ext cx="1494402" cy="395866"/>
                </a:xfrm>
                <a:prstGeom prst="rect">
                  <a:avLst/>
                </a:prstGeom>
                <a:blipFill>
                  <a:blip r:embed="rId9"/>
                  <a:stretch>
                    <a:fillRect/>
                  </a:stretch>
                </a:blipFill>
                <a:ln w="12700">
                  <a:solidFill>
                    <a:schemeClr val="tx1"/>
                  </a:solidFill>
                </a:ln>
              </p:spPr>
              <p:txBody>
                <a:bodyPr/>
                <a:lstStyle/>
                <a:p>
                  <a:r>
                    <a:rPr lang="zh-CN" altLang="en-US">
                      <a:noFill/>
                    </a:rPr>
                    <a:t> </a:t>
                  </a:r>
                </a:p>
              </p:txBody>
            </p:sp>
          </mc:Fallback>
        </mc:AlternateContent>
        <p:sp>
          <p:nvSpPr>
            <p:cNvPr id="71" name="矩形 70">
              <a:extLst>
                <a:ext uri="{FF2B5EF4-FFF2-40B4-BE49-F238E27FC236}">
                  <a16:creationId xmlns:a16="http://schemas.microsoft.com/office/drawing/2014/main" id="{F3EAED65-CFB5-4E04-9B9C-C7E7B27F4B45}"/>
                </a:ext>
              </a:extLst>
            </p:cNvPr>
            <p:cNvSpPr/>
            <p:nvPr/>
          </p:nvSpPr>
          <p:spPr>
            <a:xfrm>
              <a:off x="4865897" y="4182875"/>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72" name="直接箭头连接符 71">
              <a:extLst>
                <a:ext uri="{FF2B5EF4-FFF2-40B4-BE49-F238E27FC236}">
                  <a16:creationId xmlns:a16="http://schemas.microsoft.com/office/drawing/2014/main" id="{9A8A6157-2379-4565-9A6B-0C23FE50ED85}"/>
                </a:ext>
              </a:extLst>
            </p:cNvPr>
            <p:cNvCxnSpPr>
              <a:cxnSpLocks/>
            </p:cNvCxnSpPr>
            <p:nvPr/>
          </p:nvCxnSpPr>
          <p:spPr>
            <a:xfrm>
              <a:off x="1877092" y="4065724"/>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5D847B4-432B-4F8C-B4E0-E4B83B7B5402}"/>
                    </a:ext>
                  </a:extLst>
                </p:cNvPr>
                <p:cNvSpPr txBox="1"/>
                <p:nvPr/>
              </p:nvSpPr>
              <p:spPr>
                <a:xfrm>
                  <a:off x="1974560" y="3730757"/>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3" name="文本框 72">
                  <a:extLst>
                    <a:ext uri="{FF2B5EF4-FFF2-40B4-BE49-F238E27FC236}">
                      <a16:creationId xmlns:a16="http://schemas.microsoft.com/office/drawing/2014/main" id="{95D847B4-432B-4F8C-B4E0-E4B83B7B5402}"/>
                    </a:ext>
                  </a:extLst>
                </p:cNvPr>
                <p:cNvSpPr txBox="1">
                  <a:spLocks noRot="1" noChangeAspect="1" noMove="1" noResize="1" noEditPoints="1" noAdjustHandles="1" noChangeArrowheads="1" noChangeShapeType="1" noTextEdit="1"/>
                </p:cNvSpPr>
                <p:nvPr/>
              </p:nvSpPr>
              <p:spPr>
                <a:xfrm>
                  <a:off x="1974560" y="3730757"/>
                  <a:ext cx="1279036" cy="369332"/>
                </a:xfrm>
                <a:prstGeom prst="rect">
                  <a:avLst/>
                </a:prstGeom>
                <a:blipFill>
                  <a:blip r:embed="rId10"/>
                  <a:stretch>
                    <a:fillRect/>
                  </a:stretch>
                </a:blipFill>
              </p:spPr>
              <p:txBody>
                <a:bodyPr/>
                <a:lstStyle/>
                <a:p>
                  <a:r>
                    <a:rPr lang="zh-CN" altLang="en-US">
                      <a:noFill/>
                    </a:rPr>
                    <a:t> </a:t>
                  </a:r>
                </a:p>
              </p:txBody>
            </p:sp>
          </mc:Fallback>
        </mc:AlternateContent>
        <p:cxnSp>
          <p:nvCxnSpPr>
            <p:cNvPr id="74" name="直接箭头连接符 73">
              <a:extLst>
                <a:ext uri="{FF2B5EF4-FFF2-40B4-BE49-F238E27FC236}">
                  <a16:creationId xmlns:a16="http://schemas.microsoft.com/office/drawing/2014/main" id="{5316DDD3-C961-4C59-878E-D1CD08466A28}"/>
                </a:ext>
              </a:extLst>
            </p:cNvPr>
            <p:cNvCxnSpPr>
              <a:cxnSpLocks/>
            </p:cNvCxnSpPr>
            <p:nvPr/>
          </p:nvCxnSpPr>
          <p:spPr>
            <a:xfrm>
              <a:off x="3358728"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802E4E38-244D-419D-BF6D-B7ABBBCEEA59}"/>
                    </a:ext>
                  </a:extLst>
                </p:cNvPr>
                <p:cNvSpPr txBox="1"/>
                <p:nvPr/>
              </p:nvSpPr>
              <p:spPr>
                <a:xfrm>
                  <a:off x="3456197" y="3729036"/>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5" name="文本框 74">
                  <a:extLst>
                    <a:ext uri="{FF2B5EF4-FFF2-40B4-BE49-F238E27FC236}">
                      <a16:creationId xmlns:a16="http://schemas.microsoft.com/office/drawing/2014/main" id="{802E4E38-244D-419D-BF6D-B7ABBBCEEA59}"/>
                    </a:ext>
                  </a:extLst>
                </p:cNvPr>
                <p:cNvSpPr txBox="1">
                  <a:spLocks noRot="1" noChangeAspect="1" noMove="1" noResize="1" noEditPoints="1" noAdjustHandles="1" noChangeArrowheads="1" noChangeShapeType="1" noTextEdit="1"/>
                </p:cNvSpPr>
                <p:nvPr/>
              </p:nvSpPr>
              <p:spPr>
                <a:xfrm>
                  <a:off x="3456197" y="3729036"/>
                  <a:ext cx="1279036"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77BA4309-6F62-4EA4-8F30-5E2BC3439CCD}"/>
                    </a:ext>
                  </a:extLst>
                </p:cNvPr>
                <p:cNvSpPr/>
                <p:nvPr/>
              </p:nvSpPr>
              <p:spPr>
                <a:xfrm>
                  <a:off x="5437879" y="4180708"/>
                  <a:ext cx="1481636"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m:rPr>
                                <m:sty m:val="p"/>
                              </m:rPr>
                              <a:rPr lang="en-US" altLang="zh-CN" i="0" dirty="0">
                                <a:solidFill>
                                  <a:schemeClr val="tx1"/>
                                </a:solidFill>
                                <a:latin typeface="Cambria Math" panose="02040503050406030204" pitchFamily="18" charset="0"/>
                              </a:rPr>
                              <m:t>N</m:t>
                            </m:r>
                            <m:r>
                              <a:rPr lang="en-US" altLang="zh-CN" i="0" dirty="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6" name="矩形 75">
                  <a:extLst>
                    <a:ext uri="{FF2B5EF4-FFF2-40B4-BE49-F238E27FC236}">
                      <a16:creationId xmlns:a16="http://schemas.microsoft.com/office/drawing/2014/main" id="{77BA4309-6F62-4EA4-8F30-5E2BC3439CCD}"/>
                    </a:ext>
                  </a:extLst>
                </p:cNvPr>
                <p:cNvSpPr>
                  <a:spLocks noRot="1" noChangeAspect="1" noMove="1" noResize="1" noEditPoints="1" noAdjustHandles="1" noChangeArrowheads="1" noChangeShapeType="1" noTextEdit="1"/>
                </p:cNvSpPr>
                <p:nvPr/>
              </p:nvSpPr>
              <p:spPr>
                <a:xfrm>
                  <a:off x="5437879" y="4180708"/>
                  <a:ext cx="1481636" cy="395866"/>
                </a:xfrm>
                <a:prstGeom prst="rect">
                  <a:avLst/>
                </a:prstGeom>
                <a:blipFill>
                  <a:blip r:embed="rId12"/>
                  <a:stretch>
                    <a:fillRect/>
                  </a:stretch>
                </a:blipFill>
                <a:ln w="12700">
                  <a:solidFill>
                    <a:schemeClr val="tx1"/>
                  </a:solidFill>
                </a:ln>
              </p:spPr>
              <p:txBody>
                <a:bodyPr/>
                <a:lstStyle/>
                <a:p>
                  <a:r>
                    <a:rPr lang="zh-CN" altLang="en-US">
                      <a:noFill/>
                    </a:rPr>
                    <a:t> </a:t>
                  </a:r>
                </a:p>
              </p:txBody>
            </p:sp>
          </mc:Fallback>
        </mc:AlternateContent>
        <p:cxnSp>
          <p:nvCxnSpPr>
            <p:cNvPr id="77" name="直接箭头连接符 76">
              <a:extLst>
                <a:ext uri="{FF2B5EF4-FFF2-40B4-BE49-F238E27FC236}">
                  <a16:creationId xmlns:a16="http://schemas.microsoft.com/office/drawing/2014/main" id="{DC978D4F-E7B0-495E-A1E9-27C507DE0742}"/>
                </a:ext>
              </a:extLst>
            </p:cNvPr>
            <p:cNvCxnSpPr>
              <a:cxnSpLocks/>
            </p:cNvCxnSpPr>
            <p:nvPr/>
          </p:nvCxnSpPr>
          <p:spPr>
            <a:xfrm>
              <a:off x="5417465"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80C78F47-0480-47E3-A1C9-981BFA472555}"/>
                    </a:ext>
                  </a:extLst>
                </p:cNvPr>
                <p:cNvSpPr txBox="1"/>
                <p:nvPr/>
              </p:nvSpPr>
              <p:spPr>
                <a:xfrm>
                  <a:off x="5514933" y="3729036"/>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8" name="文本框 77">
                  <a:extLst>
                    <a:ext uri="{FF2B5EF4-FFF2-40B4-BE49-F238E27FC236}">
                      <a16:creationId xmlns:a16="http://schemas.microsoft.com/office/drawing/2014/main" id="{80C78F47-0480-47E3-A1C9-981BFA472555}"/>
                    </a:ext>
                  </a:extLst>
                </p:cNvPr>
                <p:cNvSpPr txBox="1">
                  <a:spLocks noRot="1" noChangeAspect="1" noMove="1" noResize="1" noEditPoints="1" noAdjustHandles="1" noChangeArrowheads="1" noChangeShapeType="1" noTextEdit="1"/>
                </p:cNvSpPr>
                <p:nvPr/>
              </p:nvSpPr>
              <p:spPr>
                <a:xfrm>
                  <a:off x="5514933" y="3729036"/>
                  <a:ext cx="1279036" cy="369332"/>
                </a:xfrm>
                <a:prstGeom prst="rect">
                  <a:avLst/>
                </a:prstGeom>
                <a:blipFill>
                  <a:blip r:embed="rId13"/>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2056999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58</a:t>
            </a:fld>
            <a:endParaRPr lang="zh-CN" altLang="en-US" dirty="0"/>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a:t>
            </a:r>
            <a:r>
              <a:rPr lang="zh-CN" altLang="en-US" sz="2400" b="1" dirty="0">
                <a:solidFill>
                  <a:srgbClr val="0000FF"/>
                </a:solidFill>
                <a:latin typeface="Times New Roman" panose="02020603050405020304" pitchFamily="18" charset="0"/>
                <a:cs typeface="Times New Roman" panose="02020603050405020304" pitchFamily="18" charset="0"/>
              </a:rPr>
              <a:t>初始化缓存器</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563946"/>
                <a:ext cx="8493405" cy="4615944"/>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设置一个</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0" dirty="0" smtClean="0">
                        <a:latin typeface="Cambria Math" panose="02040503050406030204" pitchFamily="18" charset="0"/>
                        <a:cs typeface="Times New Roman" panose="02020603050405020304" pitchFamily="18" charset="0"/>
                      </a:rPr>
                      <m:t>1</m:t>
                    </m:r>
                    <m:r>
                      <a:rPr lang="en-US" altLang="zh-CN" sz="2000" b="0" i="0" dirty="0" smtClean="0">
                        <a:latin typeface="Cambria Math" panose="02040503050406030204" pitchFamily="18" charset="0"/>
                        <a:cs typeface="Times New Roman" panose="02020603050405020304" pitchFamily="18" charset="0"/>
                      </a:rPr>
                      <m:t>60</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的缓存器，用于存放中间变量和最终结果。</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spcAft>
                    <a:spcPts val="600"/>
                  </a:spcAft>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初始化为</a:t>
                </a:r>
                <a:r>
                  <a:rPr lang="en-US" altLang="zh-CN" sz="2000" dirty="0">
                    <a:latin typeface="Times New Roman" panose="02020603050405020304" pitchFamily="18" charset="0"/>
                    <a:cs typeface="Times New Roman" panose="02020603050405020304" pitchFamily="18" charset="0"/>
                  </a:rPr>
                  <a:t> 5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的链接变量</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dirty="0">
                        <a:solidFill>
                          <a:prstClr val="black"/>
                        </a:solidFill>
                        <a:latin typeface="Cambria Math" panose="02040503050406030204" pitchFamily="18" charset="0"/>
                        <a:cs typeface="Times New Roman" panose="02020603050405020304" pitchFamily="18" charset="0"/>
                      </a:rPr>
                      <m:t>A</m:t>
                    </m:r>
                    <m:r>
                      <a:rPr lang="en-US" altLang="zh-CN" sz="2000" dirty="0">
                        <a:solidFill>
                          <a:prstClr val="black"/>
                        </a:solidFill>
                        <a:latin typeface="Cambria Math" panose="02040503050406030204" pitchFamily="18" charset="0"/>
                        <a:cs typeface="Times New Roman" panose="02020603050405020304" pitchFamily="18" charset="0"/>
                      </a:rPr>
                      <m:t>=0</m:t>
                    </m:r>
                    <m:r>
                      <m:rPr>
                        <m:sty m:val="p"/>
                      </m:rPr>
                      <a:rPr lang="en-US" altLang="zh-CN" sz="2000" dirty="0">
                        <a:solidFill>
                          <a:prstClr val="black"/>
                        </a:solidFill>
                        <a:latin typeface="Cambria Math" panose="02040503050406030204" pitchFamily="18" charset="0"/>
                        <a:cs typeface="Times New Roman" panose="02020603050405020304" pitchFamily="18" charset="0"/>
                      </a:rPr>
                      <m:t>x</m:t>
                    </m:r>
                    <m:r>
                      <a:rPr lang="en-US" altLang="zh-CN" sz="2000" dirty="0">
                        <a:solidFill>
                          <a:prstClr val="black"/>
                        </a:solidFill>
                        <a:latin typeface="Cambria Math" panose="02040503050406030204" pitchFamily="18" charset="0"/>
                        <a:cs typeface="Times New Roman" panose="02020603050405020304" pitchFamily="18" charset="0"/>
                      </a:rPr>
                      <m:t>67452301</m:t>
                    </m:r>
                  </m:oMath>
                </a14:m>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dirty="0">
                        <a:solidFill>
                          <a:prstClr val="black"/>
                        </a:solidFill>
                        <a:latin typeface="Cambria Math" panose="02040503050406030204" pitchFamily="18" charset="0"/>
                        <a:cs typeface="Times New Roman" panose="02020603050405020304" pitchFamily="18" charset="0"/>
                      </a:rPr>
                      <m:t>B</m:t>
                    </m:r>
                    <m:r>
                      <a:rPr lang="en-US" altLang="zh-CN" sz="2000" dirty="0">
                        <a:solidFill>
                          <a:prstClr val="black"/>
                        </a:solidFill>
                        <a:latin typeface="Cambria Math" panose="02040503050406030204" pitchFamily="18" charset="0"/>
                        <a:cs typeface="Times New Roman" panose="02020603050405020304" pitchFamily="18" charset="0"/>
                      </a:rPr>
                      <m:t>=0</m:t>
                    </m:r>
                    <m:r>
                      <m:rPr>
                        <m:sty m:val="p"/>
                      </m:rPr>
                      <a:rPr lang="en-US" altLang="zh-CN" sz="2000" dirty="0">
                        <a:solidFill>
                          <a:prstClr val="black"/>
                        </a:solidFill>
                        <a:latin typeface="Cambria Math" panose="02040503050406030204" pitchFamily="18" charset="0"/>
                        <a:cs typeface="Times New Roman" panose="02020603050405020304" pitchFamily="18" charset="0"/>
                      </a:rPr>
                      <m:t>xEFCDAB</m:t>
                    </m:r>
                    <m:r>
                      <a:rPr lang="en-US" altLang="zh-CN" sz="2000" dirty="0">
                        <a:solidFill>
                          <a:prstClr val="black"/>
                        </a:solidFill>
                        <a:latin typeface="Cambria Math" panose="02040503050406030204" pitchFamily="18" charset="0"/>
                        <a:cs typeface="Times New Roman" panose="02020603050405020304" pitchFamily="18" charset="0"/>
                      </a:rPr>
                      <m:t>89</m:t>
                    </m:r>
                  </m:oMath>
                </a14:m>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dirty="0">
                        <a:solidFill>
                          <a:prstClr val="black"/>
                        </a:solidFill>
                        <a:latin typeface="Cambria Math" panose="02040503050406030204" pitchFamily="18" charset="0"/>
                        <a:cs typeface="Times New Roman" panose="02020603050405020304" pitchFamily="18" charset="0"/>
                      </a:rPr>
                      <m:t>C</m:t>
                    </m:r>
                    <m:r>
                      <a:rPr lang="en-US" altLang="zh-CN" sz="2000" dirty="0">
                        <a:solidFill>
                          <a:prstClr val="black"/>
                        </a:solidFill>
                        <a:latin typeface="Cambria Math" panose="02040503050406030204" pitchFamily="18" charset="0"/>
                        <a:cs typeface="Times New Roman" panose="02020603050405020304" pitchFamily="18" charset="0"/>
                      </a:rPr>
                      <m:t>=0</m:t>
                    </m:r>
                    <m:r>
                      <m:rPr>
                        <m:sty m:val="p"/>
                      </m:rPr>
                      <a:rPr lang="en-US" altLang="zh-CN" sz="2000" dirty="0">
                        <a:solidFill>
                          <a:prstClr val="black"/>
                        </a:solidFill>
                        <a:latin typeface="Cambria Math" panose="02040503050406030204" pitchFamily="18" charset="0"/>
                        <a:cs typeface="Times New Roman" panose="02020603050405020304" pitchFamily="18" charset="0"/>
                      </a:rPr>
                      <m:t>x</m:t>
                    </m:r>
                    <m:r>
                      <a:rPr lang="en-US" altLang="zh-CN" sz="2000" dirty="0">
                        <a:solidFill>
                          <a:prstClr val="black"/>
                        </a:solidFill>
                        <a:latin typeface="Cambria Math" panose="02040503050406030204" pitchFamily="18" charset="0"/>
                        <a:cs typeface="Times New Roman" panose="02020603050405020304" pitchFamily="18" charset="0"/>
                      </a:rPr>
                      <m:t>98</m:t>
                    </m:r>
                    <m:r>
                      <m:rPr>
                        <m:sty m:val="p"/>
                      </m:rPr>
                      <a:rPr lang="en-US" altLang="zh-CN" sz="2000" dirty="0">
                        <a:solidFill>
                          <a:prstClr val="black"/>
                        </a:solidFill>
                        <a:latin typeface="Cambria Math" panose="02040503050406030204" pitchFamily="18" charset="0"/>
                        <a:cs typeface="Times New Roman" panose="02020603050405020304" pitchFamily="18" charset="0"/>
                      </a:rPr>
                      <m:t>BADCFE</m:t>
                    </m:r>
                  </m:oMath>
                </a14:m>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dirty="0">
                        <a:solidFill>
                          <a:prstClr val="black"/>
                        </a:solidFill>
                        <a:latin typeface="Cambria Math" panose="02040503050406030204" pitchFamily="18" charset="0"/>
                        <a:cs typeface="Times New Roman" panose="02020603050405020304" pitchFamily="18" charset="0"/>
                      </a:rPr>
                      <m:t>D</m:t>
                    </m:r>
                    <m:r>
                      <a:rPr lang="en-US" altLang="zh-CN" sz="2000" dirty="0">
                        <a:solidFill>
                          <a:prstClr val="black"/>
                        </a:solidFill>
                        <a:latin typeface="Cambria Math" panose="02040503050406030204" pitchFamily="18" charset="0"/>
                        <a:cs typeface="Times New Roman" panose="02020603050405020304" pitchFamily="18" charset="0"/>
                      </a:rPr>
                      <m:t>=0</m:t>
                    </m:r>
                    <m:r>
                      <m:rPr>
                        <m:sty m:val="p"/>
                      </m:rPr>
                      <a:rPr lang="en-US" altLang="zh-CN" sz="2000" dirty="0">
                        <a:solidFill>
                          <a:prstClr val="black"/>
                        </a:solidFill>
                        <a:latin typeface="Cambria Math" panose="02040503050406030204" pitchFamily="18" charset="0"/>
                        <a:cs typeface="Times New Roman" panose="02020603050405020304" pitchFamily="18" charset="0"/>
                      </a:rPr>
                      <m:t>x</m:t>
                    </m:r>
                    <m:r>
                      <a:rPr lang="en-US" altLang="zh-CN" sz="2000" dirty="0">
                        <a:solidFill>
                          <a:prstClr val="black"/>
                        </a:solidFill>
                        <a:latin typeface="Cambria Math" panose="02040503050406030204" pitchFamily="18" charset="0"/>
                        <a:cs typeface="Times New Roman" panose="02020603050405020304" pitchFamily="18" charset="0"/>
                      </a:rPr>
                      <m:t>10325476</m:t>
                    </m:r>
                  </m:oMath>
                </a14:m>
                <a:endParaRPr lang="en-US" altLang="zh-CN" sz="2000" dirty="0">
                  <a:solidFill>
                    <a:prstClr val="black"/>
                  </a:solidFill>
                  <a:latin typeface="Times New Roman" panose="02020603050405020304" pitchFamily="18" charset="0"/>
                  <a:cs typeface="Times New Roman" panose="02020603050405020304" pitchFamily="18" charset="0"/>
                </a:endParaRPr>
              </a:p>
              <a:p>
                <a:pPr marL="914400" lvl="1" indent="-457200">
                  <a:lnSpc>
                    <a:spcPct val="120000"/>
                  </a:lnSpc>
                  <a:spcBef>
                    <a:spcPts val="600"/>
                  </a:spcBef>
                  <a:spcAft>
                    <a:spcPts val="600"/>
                  </a:spcAft>
                  <a:buFont typeface="Arial" panose="020B0604020202020204" pitchFamily="34" charset="0"/>
                  <a:buChar char="•"/>
                </a:pPr>
                <a14:m>
                  <m:oMath xmlns:m="http://schemas.openxmlformats.org/officeDocument/2006/math">
                    <m:r>
                      <m:rPr>
                        <m:sty m:val="p"/>
                      </m:rPr>
                      <a:rPr lang="en-US" altLang="zh-CN" sz="2000" dirty="0">
                        <a:solidFill>
                          <a:prstClr val="black"/>
                        </a:solidFill>
                        <a:latin typeface="Cambria Math" panose="02040503050406030204" pitchFamily="18" charset="0"/>
                        <a:cs typeface="Times New Roman" panose="02020603050405020304" pitchFamily="18" charset="0"/>
                      </a:rPr>
                      <m:t>E</m:t>
                    </m:r>
                    <m:r>
                      <a:rPr lang="en-US" altLang="zh-CN" sz="2000" dirty="0">
                        <a:solidFill>
                          <a:prstClr val="black"/>
                        </a:solidFill>
                        <a:latin typeface="Cambria Math" panose="02040503050406030204" pitchFamily="18" charset="0"/>
                        <a:cs typeface="Times New Roman" panose="02020603050405020304" pitchFamily="18" charset="0"/>
                      </a:rPr>
                      <m:t>=0</m:t>
                    </m:r>
                    <m:r>
                      <m:rPr>
                        <m:sty m:val="p"/>
                      </m:rPr>
                      <a:rPr lang="en-US" altLang="zh-CN" sz="2000" dirty="0">
                        <a:solidFill>
                          <a:prstClr val="black"/>
                        </a:solidFill>
                        <a:latin typeface="Cambria Math" panose="02040503050406030204" pitchFamily="18" charset="0"/>
                        <a:cs typeface="Times New Roman" panose="02020603050405020304" pitchFamily="18" charset="0"/>
                      </a:rPr>
                      <m:t>xC</m:t>
                    </m:r>
                    <m:r>
                      <a:rPr lang="en-US" altLang="zh-CN" sz="2000" dirty="0">
                        <a:solidFill>
                          <a:prstClr val="black"/>
                        </a:solidFill>
                        <a:latin typeface="Cambria Math" panose="02040503050406030204" pitchFamily="18" charset="0"/>
                        <a:cs typeface="Times New Roman" panose="02020603050405020304" pitchFamily="18" charset="0"/>
                      </a:rPr>
                      <m:t>3</m:t>
                    </m:r>
                    <m:r>
                      <m:rPr>
                        <m:sty m:val="p"/>
                      </m:rPr>
                      <a:rPr lang="en-US" altLang="zh-CN" sz="2000" dirty="0">
                        <a:solidFill>
                          <a:prstClr val="black"/>
                        </a:solidFill>
                        <a:latin typeface="Cambria Math" panose="02040503050406030204" pitchFamily="18" charset="0"/>
                        <a:cs typeface="Times New Roman" panose="02020603050405020304" pitchFamily="18" charset="0"/>
                      </a:rPr>
                      <m:t>D</m:t>
                    </m:r>
                    <m:r>
                      <a:rPr lang="en-US" altLang="zh-CN" sz="2000" dirty="0">
                        <a:solidFill>
                          <a:prstClr val="black"/>
                        </a:solidFill>
                        <a:latin typeface="Cambria Math" panose="02040503050406030204" pitchFamily="18" charset="0"/>
                        <a:cs typeface="Times New Roman" panose="02020603050405020304" pitchFamily="18" charset="0"/>
                      </a:rPr>
                      <m:t>2</m:t>
                    </m:r>
                    <m:r>
                      <m:rPr>
                        <m:sty m:val="p"/>
                      </m:rPr>
                      <a:rPr lang="en-US" altLang="zh-CN" sz="2000" dirty="0">
                        <a:solidFill>
                          <a:prstClr val="black"/>
                        </a:solidFill>
                        <a:latin typeface="Cambria Math" panose="02040503050406030204" pitchFamily="18" charset="0"/>
                        <a:cs typeface="Times New Roman" panose="02020603050405020304" pitchFamily="18" charset="0"/>
                      </a:rPr>
                      <m:t>E</m:t>
                    </m:r>
                    <m:r>
                      <a:rPr lang="en-US" altLang="zh-CN" sz="2000" dirty="0">
                        <a:solidFill>
                          <a:prstClr val="black"/>
                        </a:solidFill>
                        <a:latin typeface="Cambria Math" panose="02040503050406030204" pitchFamily="18" charset="0"/>
                        <a:cs typeface="Times New Roman" panose="02020603050405020304" pitchFamily="18" charset="0"/>
                      </a:rPr>
                      <m:t>1</m:t>
                    </m:r>
                    <m:r>
                      <m:rPr>
                        <m:sty m:val="p"/>
                      </m:rPr>
                      <a:rPr lang="en-US" altLang="zh-CN" sz="2000" dirty="0">
                        <a:solidFill>
                          <a:prstClr val="black"/>
                        </a:solidFill>
                        <a:latin typeface="Cambria Math" panose="02040503050406030204" pitchFamily="18" charset="0"/>
                        <a:cs typeface="Times New Roman" panose="02020603050405020304" pitchFamily="18" charset="0"/>
                      </a:rPr>
                      <m:t>F</m:t>
                    </m:r>
                    <m:r>
                      <a:rPr lang="en-US" altLang="zh-CN" sz="2000" dirty="0">
                        <a:solidFill>
                          <a:prstClr val="black"/>
                        </a:solidFill>
                        <a:latin typeface="Cambria Math" panose="02040503050406030204" pitchFamily="18" charset="0"/>
                        <a:cs typeface="Times New Roman" panose="02020603050405020304" pitchFamily="18" charset="0"/>
                      </a:rPr>
                      <m:t>0</m:t>
                    </m:r>
                  </m:oMath>
                </a14:m>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spcAft>
                    <a:spcPts val="600"/>
                  </a:spcAft>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将五个链接变量分别赋值到中间变量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𝑎</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𝑏</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𝑐</m:t>
                    </m:r>
                    <m:r>
                      <a:rPr lang="en-US" altLang="zh-CN" sz="2000" i="1"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𝑑</m:t>
                    </m:r>
                    <m:r>
                      <a:rPr lang="en-US" altLang="zh-CN" sz="2000" b="0" i="1" dirty="0" smtClean="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𝑒</m:t>
                    </m:r>
                  </m:oMath>
                </a14:m>
                <a:r>
                  <a:rPr lang="zh-CN" altLang="en-US" sz="2000" dirty="0">
                    <a:latin typeface="Times New Roman" panose="02020603050405020304" pitchFamily="18" charset="0"/>
                    <a:cs typeface="Times New Roman" panose="02020603050405020304" pitchFamily="18" charset="0"/>
                  </a:rPr>
                  <a:t> 中</a:t>
                </a:r>
                <a:r>
                  <a:rPr lang="en-US" altLang="zh-CN" sz="2000" dirty="0">
                    <a:latin typeface="Times New Roman" panose="02020603050405020304" pitchFamily="18" charset="0"/>
                    <a:cs typeface="Times New Roman" panose="02020603050405020304" pitchFamily="18" charset="0"/>
                  </a:rPr>
                  <a:t> </a:t>
                </a:r>
              </a:p>
              <a:p>
                <a:pPr marL="342900" marR="0" lvl="0" indent="-342900" algn="just" defTabSz="457200" rtl="0" eaLnBrk="1" fontAlgn="auto" latinLnBrk="0" hangingPunct="1">
                  <a:lnSpc>
                    <a:spcPct val="120000"/>
                  </a:lnSpc>
                  <a:spcBef>
                    <a:spcPts val="600"/>
                  </a:spcBef>
                  <a:spcAft>
                    <a:spcPts val="60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将填充完的消息划分为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512bits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分组</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，依次进入循环运算</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563946"/>
                <a:ext cx="8493405" cy="4615944"/>
              </a:xfrm>
              <a:prstGeom prst="rect">
                <a:avLst/>
              </a:prstGeom>
              <a:blipFill>
                <a:blip r:embed="rId3"/>
                <a:stretch>
                  <a:fillRect l="-646" t="-132" b="-14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2843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59</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488703"/>
                <a:ext cx="8493405" cy="5086521"/>
              </a:xfrm>
              <a:prstGeom prst="rect">
                <a:avLst/>
              </a:prstGeom>
              <a:noFill/>
            </p:spPr>
            <p:txBody>
              <a:bodyPr wrap="square" rtlCol="0">
                <a:spAutoFit/>
              </a:bodyPr>
              <a:lstStyle/>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将</a:t>
                </a:r>
                <a:r>
                  <a:rPr lang="en-US" altLang="zh-CN" sz="2000" dirty="0">
                    <a:latin typeface="Times New Roman" panose="02020603050405020304" pitchFamily="18" charset="0"/>
                    <a:cs typeface="Times New Roman" panose="02020603050405020304" pitchFamily="18" charset="0"/>
                  </a:rPr>
                  <a:t>512bits </a:t>
                </a:r>
                <a:r>
                  <a:rPr lang="zh-CN" altLang="en-US" sz="2000" dirty="0">
                    <a:latin typeface="Times New Roman" panose="02020603050405020304" pitchFamily="18" charset="0"/>
                    <a:cs typeface="Times New Roman" panose="02020603050405020304" pitchFamily="18" charset="0"/>
                  </a:rPr>
                  <a:t>分组消息 </a:t>
                </a:r>
                <a:r>
                  <a:rPr lang="en-US" altLang="zh-CN"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16</m:t>
                    </m:r>
                    <m:r>
                      <a:rPr lang="en-US" altLang="zh-CN" sz="2000" i="1"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000" dirty="0" smtClean="0">
                        <a:solidFill>
                          <a:schemeClr val="tx1"/>
                        </a:solidFill>
                        <a:latin typeface="Times New Roman" panose="02020603050405020304" pitchFamily="18" charset="0"/>
                        <a:cs typeface="Times New Roman" panose="02020603050405020304" pitchFamily="18" charset="0"/>
                      </a:rPr>
                      <m:t>32</m:t>
                    </m:r>
                    <m:r>
                      <m:rPr>
                        <m:nor/>
                      </m:rPr>
                      <a:rPr lang="en-US" altLang="zh-CN" sz="2000" dirty="0" smtClean="0">
                        <a:solidFill>
                          <a:schemeClr val="tx1"/>
                        </a:solidFill>
                        <a:latin typeface="Times New Roman" panose="02020603050405020304" pitchFamily="18" charset="0"/>
                        <a:cs typeface="Times New Roman" panose="02020603050405020304" pitchFamily="18" charset="0"/>
                      </a:rPr>
                      <m:t>bits</m:t>
                    </m:r>
                  </m:oMath>
                </a14:m>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扩展为 </a:t>
                </a:r>
                <a14:m>
                  <m:oMath xmlns:m="http://schemas.openxmlformats.org/officeDocument/2006/math">
                    <m:r>
                      <a:rPr lang="en-US" altLang="zh-CN" sz="2000" i="1" dirty="0" smtClean="0">
                        <a:solidFill>
                          <a:srgbClr val="FF0000"/>
                        </a:solidFill>
                        <a:latin typeface="Cambria Math" panose="02040503050406030204" pitchFamily="18" charset="0"/>
                        <a:cs typeface="Times New Roman" panose="02020603050405020304" pitchFamily="18" charset="0"/>
                      </a:rPr>
                      <m:t>8</m:t>
                    </m:r>
                    <m:r>
                      <a:rPr lang="en-US" altLang="zh-CN" sz="2000" b="0" i="1" dirty="0" smtClean="0">
                        <a:solidFill>
                          <a:srgbClr val="FF0000"/>
                        </a:solidFill>
                        <a:latin typeface="Cambria Math" panose="02040503050406030204" pitchFamily="18" charset="0"/>
                        <a:cs typeface="Times New Roman" panose="02020603050405020304" pitchFamily="18" charset="0"/>
                      </a:rPr>
                      <m:t>0</m:t>
                    </m:r>
                    <m:r>
                      <a:rPr lang="en-US" altLang="zh-CN" sz="20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000" dirty="0">
                        <a:solidFill>
                          <a:srgbClr val="FF0000"/>
                        </a:solidFill>
                        <a:latin typeface="Times New Roman" panose="02020603050405020304" pitchFamily="18" charset="0"/>
                        <a:cs typeface="Times New Roman" panose="02020603050405020304" pitchFamily="18" charset="0"/>
                      </a:rPr>
                      <m:t>32</m:t>
                    </m:r>
                    <m:r>
                      <m:rPr>
                        <m:nor/>
                      </m:rPr>
                      <a:rPr lang="en-US" altLang="zh-CN" sz="2000" dirty="0">
                        <a:solidFill>
                          <a:srgbClr val="FF0000"/>
                        </a:solidFill>
                        <a:latin typeface="Times New Roman" panose="020206030504050203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p>
              <a:p>
                <a:pPr marL="800100" lvl="1" indent="-342900" algn="just">
                  <a:lnSpc>
                    <a:spcPct val="120000"/>
                  </a:lnSpc>
                  <a:spcBef>
                    <a:spcPts val="3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先分为 </a:t>
                </a:r>
                <a:r>
                  <a:rPr lang="en-US" altLang="zh-CN" dirty="0">
                    <a:solidFill>
                      <a:srgbClr val="0000FF"/>
                    </a:solidFill>
                    <a:latin typeface="Times New Roman" panose="02020603050405020304" pitchFamily="18" charset="0"/>
                    <a:cs typeface="Times New Roman" panose="02020603050405020304" pitchFamily="18" charset="0"/>
                  </a:rPr>
                  <a:t>16 </a:t>
                </a:r>
                <a:r>
                  <a:rPr lang="zh-CN" altLang="en-US" dirty="0">
                    <a:solidFill>
                      <a:srgbClr val="0000FF"/>
                    </a:solidFill>
                    <a:latin typeface="Times New Roman" panose="02020603050405020304" pitchFamily="18" charset="0"/>
                    <a:cs typeface="Times New Roman" panose="02020603050405020304" pitchFamily="18" charset="0"/>
                  </a:rPr>
                  <a:t>个 </a:t>
                </a:r>
                <a:r>
                  <a:rPr lang="en-US" altLang="zh-CN" dirty="0">
                    <a:solidFill>
                      <a:srgbClr val="0000FF"/>
                    </a:solidFill>
                    <a:latin typeface="Times New Roman" panose="02020603050405020304" pitchFamily="18" charset="0"/>
                    <a:cs typeface="Times New Roman" panose="02020603050405020304" pitchFamily="18" charset="0"/>
                  </a:rPr>
                  <a:t>32bits </a:t>
                </a:r>
                <a:r>
                  <a:rPr lang="zh-CN" altLang="en-US" dirty="0">
                    <a:solidFill>
                      <a:srgbClr val="0000FF"/>
                    </a:solidFill>
                    <a:latin typeface="Times New Roman" panose="02020603050405020304" pitchFamily="18" charset="0"/>
                    <a:cs typeface="Times New Roman" panose="02020603050405020304" pitchFamily="18" charset="0"/>
                  </a:rPr>
                  <a:t>的字</a:t>
                </a:r>
                <a14:m>
                  <m:oMath xmlns:m="http://schemas.openxmlformats.org/officeDocument/2006/math">
                    <m:r>
                      <a:rPr lang="en-US" altLang="zh-CN" b="0" i="0" dirty="0" smtClean="0">
                        <a:solidFill>
                          <a:schemeClr val="tx1"/>
                        </a:solidFill>
                        <a:latin typeface="Cambria Math" panose="02040503050406030204" pitchFamily="18" charset="0"/>
                        <a:cs typeface="Times New Roman" panose="02020603050405020304" pitchFamily="18" charset="0"/>
                      </a:rPr>
                      <m:t> </m:t>
                    </m:r>
                    <m:sSub>
                      <m:sSubPr>
                        <m:ctrlPr>
                          <a:rPr lang="en-US" altLang="zh-CN" b="0" i="1" dirty="0" smtClean="0">
                            <a:solidFill>
                              <a:schemeClr val="tx1"/>
                            </a:solidFill>
                            <a:latin typeface="Cambria Math" panose="02040503050406030204" pitchFamily="18" charset="0"/>
                            <a:cs typeface="Times New Roman" panose="02020603050405020304" pitchFamily="18" charset="0"/>
                          </a:rPr>
                        </m:ctrlPr>
                      </m:sSubPr>
                      <m:e>
                        <m:r>
                          <a:rPr lang="en-US" altLang="zh-CN" b="0" i="1" dirty="0" smtClean="0">
                            <a:solidFill>
                              <a:schemeClr val="tx1"/>
                            </a:solidFill>
                            <a:latin typeface="Cambria Math" panose="02040503050406030204" pitchFamily="18" charset="0"/>
                            <a:cs typeface="Times New Roman" panose="02020603050405020304" pitchFamily="18" charset="0"/>
                          </a:rPr>
                          <m:t>𝑀</m:t>
                        </m:r>
                      </m:e>
                      <m:sub>
                        <m:r>
                          <a:rPr lang="en-US" altLang="zh-CN" b="0" i="1" dirty="0" smtClean="0">
                            <a:solidFill>
                              <a:schemeClr val="tx1"/>
                            </a:solidFill>
                            <a:latin typeface="Cambria Math" panose="02040503050406030204" pitchFamily="18" charset="0"/>
                            <a:cs typeface="Times New Roman" panose="02020603050405020304" pitchFamily="18" charset="0"/>
                          </a:rPr>
                          <m:t>𝑡</m:t>
                        </m:r>
                      </m:sub>
                    </m:sSub>
                    <m:d>
                      <m:dPr>
                        <m:ctrlPr>
                          <a:rPr lang="en-US" altLang="zh-CN" b="0" i="1" dirty="0" smtClean="0">
                            <a:solidFill>
                              <a:schemeClr val="tx1"/>
                            </a:solidFill>
                            <a:latin typeface="Cambria Math" panose="02040503050406030204" pitchFamily="18" charset="0"/>
                            <a:cs typeface="Times New Roman" panose="02020603050405020304" pitchFamily="18" charset="0"/>
                          </a:rPr>
                        </m:ctrlPr>
                      </m:dPr>
                      <m:e>
                        <m:r>
                          <a:rPr lang="en-US" altLang="zh-CN" b="0" i="1" dirty="0" smtClean="0">
                            <a:solidFill>
                              <a:schemeClr val="tx1"/>
                            </a:solidFill>
                            <a:latin typeface="Cambria Math" panose="02040503050406030204" pitchFamily="18" charset="0"/>
                            <a:cs typeface="Times New Roman" panose="02020603050405020304" pitchFamily="18" charset="0"/>
                          </a:rPr>
                          <m:t>0</m:t>
                        </m:r>
                        <m:r>
                          <a:rPr lang="en-US" altLang="zh-C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ea typeface="Cambria Math" panose="02040503050406030204" pitchFamily="18" charset="0"/>
                            <a:cs typeface="Times New Roman" panose="02020603050405020304" pitchFamily="18" charset="0"/>
                          </a:rPr>
                          <m:t>16</m:t>
                        </m:r>
                      </m:e>
                    </m:d>
                  </m:oMath>
                </a14:m>
                <a:endParaRPr lang="en-US" altLang="zh-CN" b="0" dirty="0">
                  <a:solidFill>
                    <a:schemeClr val="tx1"/>
                  </a:solidFill>
                  <a:latin typeface="Times New Roman" panose="02020603050405020304" pitchFamily="18" charset="0"/>
                  <a:cs typeface="Times New Roman" panose="02020603050405020304" pitchFamily="18" charset="0"/>
                </a:endParaRPr>
              </a:p>
              <a:p>
                <a:pPr marL="800100" lvl="1" indent="-342900" algn="just">
                  <a:lnSpc>
                    <a:spcPct val="120000"/>
                  </a:lnSpc>
                  <a:spcBef>
                    <a:spcPts val="300"/>
                  </a:spcBef>
                  <a:buFont typeface="Wingdings" panose="05000000000000000000" pitchFamily="2" charset="2"/>
                  <a:buChar char="Ø"/>
                </a:pPr>
                <a:r>
                  <a:rPr lang="zh-CN" altLang="en-US" b="0" dirty="0">
                    <a:latin typeface="Times New Roman" panose="02020603050405020304" pitchFamily="18" charset="0"/>
                    <a:cs typeface="Times New Roman" panose="02020603050405020304" pitchFamily="18" charset="0"/>
                  </a:rPr>
                  <a:t>对每个字执行扩展操作，将 </a:t>
                </a:r>
                <a:r>
                  <a:rPr lang="en-US" altLang="zh-CN" b="0" dirty="0">
                    <a:latin typeface="Times New Roman" panose="02020603050405020304" pitchFamily="18" charset="0"/>
                    <a:cs typeface="Times New Roman" panose="02020603050405020304" pitchFamily="18" charset="0"/>
                  </a:rPr>
                  <a:t>16 </a:t>
                </a:r>
                <a:r>
                  <a:rPr lang="zh-CN" altLang="en-US" b="0" dirty="0">
                    <a:latin typeface="Times New Roman" panose="02020603050405020304" pitchFamily="18" charset="0"/>
                    <a:cs typeface="Times New Roman" panose="02020603050405020304" pitchFamily="18" charset="0"/>
                  </a:rPr>
                  <a:t>个字扩展到 </a:t>
                </a:r>
                <a:r>
                  <a:rPr lang="en-US" altLang="zh-CN" b="0" dirty="0">
                    <a:solidFill>
                      <a:srgbClr val="0000FF"/>
                    </a:solidFill>
                    <a:latin typeface="Times New Roman" panose="02020603050405020304" pitchFamily="18" charset="0"/>
                    <a:cs typeface="Times New Roman" panose="02020603050405020304" pitchFamily="18" charset="0"/>
                  </a:rPr>
                  <a:t>80 </a:t>
                </a:r>
                <a:r>
                  <a:rPr lang="zh-CN" altLang="en-US" b="0" dirty="0">
                    <a:solidFill>
                      <a:srgbClr val="0000FF"/>
                    </a:solidFill>
                    <a:latin typeface="Times New Roman" panose="02020603050405020304" pitchFamily="18" charset="0"/>
                    <a:cs typeface="Times New Roman" panose="02020603050405020304" pitchFamily="18" charset="0"/>
                  </a:rPr>
                  <a:t>个字 </a:t>
                </a:r>
                <a14:m>
                  <m:oMath xmlns:m="http://schemas.openxmlformats.org/officeDocument/2006/math">
                    <m:sSub>
                      <m:sSubPr>
                        <m:ctrlPr>
                          <a:rPr lang="en-US" altLang="zh-CN" b="0" i="1" dirty="0" smtClean="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panose="02040503050406030204" pitchFamily="18" charset="0"/>
                            <a:cs typeface="Times New Roman" panose="02020603050405020304" pitchFamily="18" charset="0"/>
                          </a:rPr>
                          <m:t>𝑊</m:t>
                        </m:r>
                      </m:e>
                      <m:sub>
                        <m:r>
                          <a:rPr lang="en-US" altLang="zh-CN" b="0" i="1" dirty="0" smtClean="0">
                            <a:solidFill>
                              <a:srgbClr val="0000FF"/>
                            </a:solidFill>
                            <a:latin typeface="Cambria Math" panose="02040503050406030204" pitchFamily="18" charset="0"/>
                            <a:cs typeface="Times New Roman" panose="02020603050405020304" pitchFamily="18" charset="0"/>
                          </a:rPr>
                          <m:t>𝑡</m:t>
                        </m:r>
                      </m:sub>
                    </m:sSub>
                    <m:r>
                      <a:rPr lang="en-US" altLang="zh-CN" b="0" i="1" dirty="0" smtClean="0">
                        <a:solidFill>
                          <a:srgbClr val="0000FF"/>
                        </a:solidFill>
                        <a:latin typeface="Cambria Math" panose="02040503050406030204" pitchFamily="18" charset="0"/>
                        <a:cs typeface="Times New Roman" panose="02020603050405020304" pitchFamily="18" charset="0"/>
                      </a:rPr>
                      <m:t> </m:t>
                    </m:r>
                    <m:d>
                      <m:dPr>
                        <m:ctrlPr>
                          <a:rPr lang="en-US" altLang="zh-CN" i="1" dirty="0">
                            <a:solidFill>
                              <a:srgbClr val="0000FF"/>
                            </a:solidFill>
                            <a:latin typeface="Cambria Math" panose="02040503050406030204" pitchFamily="18" charset="0"/>
                            <a:cs typeface="Times New Roman" panose="02020603050405020304" pitchFamily="18" charset="0"/>
                          </a:rPr>
                        </m:ctrlPr>
                      </m:dPr>
                      <m:e>
                        <m:r>
                          <a:rPr lang="en-US" altLang="zh-CN" i="1" dirty="0">
                            <a:solidFill>
                              <a:srgbClr val="0000FF"/>
                            </a:solidFill>
                            <a:latin typeface="Cambria Math" panose="02040503050406030204" pitchFamily="18" charset="0"/>
                            <a:cs typeface="Times New Roman" panose="02020603050405020304" pitchFamily="18" charset="0"/>
                          </a:rPr>
                          <m:t>0</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≤79</m:t>
                        </m:r>
                      </m:e>
                    </m:d>
                  </m:oMath>
                </a14:m>
                <a:r>
                  <a:rPr lang="zh-CN" altLang="en-US"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每 </a:t>
                </a:r>
                <a:r>
                  <a:rPr lang="en-US" altLang="zh-CN" sz="2000" dirty="0">
                    <a:solidFill>
                      <a:srgbClr val="0000FF"/>
                    </a:solidFill>
                    <a:latin typeface="Times New Roman" panose="02020603050405020304" pitchFamily="18" charset="0"/>
                    <a:cs typeface="Times New Roman" panose="02020603050405020304" pitchFamily="18" charset="0"/>
                  </a:rPr>
                  <a:t>20 </a:t>
                </a:r>
                <a:r>
                  <a:rPr lang="zh-CN" altLang="en-US" sz="2000" dirty="0">
                    <a:solidFill>
                      <a:srgbClr val="0000FF"/>
                    </a:solidFill>
                    <a:latin typeface="Times New Roman" panose="02020603050405020304" pitchFamily="18" charset="0"/>
                    <a:cs typeface="Times New Roman" panose="02020603050405020304" pitchFamily="18" charset="0"/>
                  </a:rPr>
                  <a:t>个字</a:t>
                </a:r>
                <a:r>
                  <a:rPr lang="zh-CN" altLang="en-US" sz="2000" dirty="0">
                    <a:latin typeface="Times New Roman" panose="02020603050405020304" pitchFamily="18" charset="0"/>
                    <a:cs typeface="Times New Roman" panose="02020603050405020304" pitchFamily="18" charset="0"/>
                  </a:rPr>
                  <a:t>参与</a:t>
                </a:r>
                <a14:m>
                  <m:oMath xmlns:m="http://schemas.openxmlformats.org/officeDocument/2006/math">
                    <m:r>
                      <a:rPr lang="en-US" altLang="zh-CN" sz="2000" dirty="0">
                        <a:latin typeface="Cambria Math" panose="02040503050406030204" pitchFamily="18" charset="0"/>
                        <a:cs typeface="Times New Roman" panose="02020603050405020304" pitchFamily="18" charset="0"/>
                      </a:rPr>
                      <m:t> </m:t>
                    </m:r>
                    <m:r>
                      <a:rPr lang="en-US" altLang="zh-CN" sz="2000" i="1" dirty="0">
                        <a:latin typeface="Cambria Math" panose="02040503050406030204" pitchFamily="18" charset="0"/>
                        <a:cs typeface="Times New Roman" panose="02020603050405020304" pitchFamily="18" charset="0"/>
                      </a:rPr>
                      <m:t>4</m:t>
                    </m:r>
                    <m:r>
                      <a:rPr lang="en-US" altLang="zh-CN" sz="2000" b="0" i="0"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轮运算，每轮使用逻辑函数不同，分别为</a:t>
                </a:r>
                <a:endParaRPr lang="en-US" altLang="zh-CN" sz="2000" dirty="0">
                  <a:latin typeface="Times New Roman" panose="02020603050405020304" pitchFamily="18" charset="0"/>
                  <a:cs typeface="Times New Roman" panose="02020603050405020304" pitchFamily="18" charset="0"/>
                </a:endParaRPr>
              </a:p>
              <a:p>
                <a:pPr marL="742950" lvl="1" indent="-285750" algn="just">
                  <a:lnSpc>
                    <a:spcPct val="120000"/>
                  </a:lnSpc>
                  <a:spcBef>
                    <a:spcPts val="300"/>
                  </a:spcBef>
                  <a:buFont typeface="Wingdings" panose="05000000000000000000" pitchFamily="2" charset="2"/>
                  <a:buChar char="Ø"/>
                </a:pPr>
                <a14:m>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𝑓</m:t>
                        </m:r>
                      </m:e>
                      <m:sub>
                        <m:r>
                          <a:rPr lang="en-US" altLang="zh-CN" b="0" i="1" smtClean="0">
                            <a:latin typeface="Cambria Math" panose="02040503050406030204" pitchFamily="18" charset="0"/>
                            <a:cs typeface="Times New Roman" panose="02020603050405020304" pitchFamily="18" charset="0"/>
                          </a:rPr>
                          <m:t>1</m:t>
                        </m:r>
                      </m:sub>
                    </m:sSub>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𝑦</m:t>
                        </m:r>
                      </m:e>
                    </m:d>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𝑥</m:t>
                            </m:r>
                          </m:e>
                        </m:d>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oMath>
                </a14:m>
                <a:r>
                  <a:rPr lang="en-US" altLang="zh-CN" i="1" dirty="0">
                    <a:latin typeface="Cambria Math" panose="02040503050406030204" pitchFamily="18" charset="0"/>
                    <a:cs typeface="Times New Roman" panose="02020603050405020304" pitchFamily="18" charset="0"/>
                  </a:rPr>
                  <a:t>             </a:t>
                </a:r>
                <a14:m>
                  <m:oMath xmlns:m="http://schemas.openxmlformats.org/officeDocument/2006/math">
                    <m:r>
                      <a:rPr lang="en-US" altLang="zh-CN" i="1" dirty="0">
                        <a:latin typeface="Cambria Math" panose="02040503050406030204" pitchFamily="18" charset="0"/>
                        <a:cs typeface="Times New Roman" panose="02020603050405020304" pitchFamily="18" charset="0"/>
                      </a:rPr>
                      <m:t> </m:t>
                    </m:r>
                  </m:oMath>
                </a14:m>
                <a:r>
                  <a:rPr lang="en-US" altLang="zh-CN" dirty="0">
                    <a:latin typeface="Cambria Math" panose="02040503050406030204" pitchFamily="18" charset="0"/>
                    <a:cs typeface="Times New Roman" panose="02020603050405020304" pitchFamily="18" charset="0"/>
                  </a:rPr>
                  <a:t>   (</a:t>
                </a:r>
                <a:r>
                  <a:rPr lang="zh-CN" altLang="en-US" dirty="0">
                    <a:latin typeface="Cambria Math" panose="02040503050406030204" pitchFamily="18" charset="0"/>
                    <a:cs typeface="Times New Roman" panose="02020603050405020304" pitchFamily="18" charset="0"/>
                  </a:rPr>
                  <a:t>第一轮，</a:t>
                </a:r>
                <a14:m>
                  <m:oMath xmlns:m="http://schemas.openxmlformats.org/officeDocument/2006/math">
                    <m:r>
                      <a:rPr lang="de-DE" altLang="zh-CN" i="1" dirty="0">
                        <a:latin typeface="Cambria Math" panose="02040503050406030204" pitchFamily="18" charset="0"/>
                      </a:rPr>
                      <m:t>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19</m:t>
                    </m:r>
                  </m:oMath>
                </a14:m>
                <a:r>
                  <a:rPr lang="en-US" altLang="zh-CN" dirty="0">
                    <a:latin typeface="Cambria Math" panose="02040503050406030204" pitchFamily="18" charset="0"/>
                    <a:cs typeface="Times New Roman" panose="02020603050405020304" pitchFamily="18" charset="0"/>
                  </a:rPr>
                  <a:t>)</a:t>
                </a:r>
              </a:p>
              <a:p>
                <a:pPr marL="742950" lvl="1" indent="-285750" algn="just">
                  <a:lnSpc>
                    <a:spcPct val="120000"/>
                  </a:lnSpc>
                  <a:spcBef>
                    <a:spcPts val="600"/>
                  </a:spcBef>
                  <a:buFont typeface="Wingdings" panose="05000000000000000000" pitchFamily="2" charset="2"/>
                  <a:buChar char="Ø"/>
                </a:pP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𝑓</m:t>
                        </m:r>
                      </m:e>
                      <m:sub>
                        <m:r>
                          <a:rPr lang="en-US" altLang="zh-CN" b="0" i="1" smtClean="0">
                            <a:latin typeface="Cambria Math" panose="02040503050406030204" pitchFamily="18" charset="0"/>
                            <a:cs typeface="Times New Roman" panose="02020603050405020304" pitchFamily="18" charset="0"/>
                          </a:rPr>
                          <m:t>2</m:t>
                        </m:r>
                      </m:sub>
                    </m:sSub>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𝑧</m:t>
                    </m:r>
                    <m:r>
                      <a:rPr lang="en-US" altLang="zh-CN" i="1">
                        <a:latin typeface="Cambria Math" panose="02040503050406030204" pitchFamily="18" charset="0"/>
                        <a:cs typeface="Times New Roman" panose="02020603050405020304" pitchFamily="18" charset="0"/>
                      </a:rPr>
                      <m:t>,</m:t>
                    </m:r>
                  </m:oMath>
                </a14:m>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cs typeface="Times New Roman" panose="02020603050405020304" pitchFamily="18" charset="0"/>
                  </a:rPr>
                  <a:t>(</a:t>
                </a:r>
                <a:r>
                  <a:rPr lang="zh-CN" altLang="en-US" dirty="0">
                    <a:latin typeface="Cambria Math" panose="02040503050406030204" pitchFamily="18" charset="0"/>
                    <a:cs typeface="Times New Roman" panose="02020603050405020304" pitchFamily="18" charset="0"/>
                  </a:rPr>
                  <a:t>第二轮，</a:t>
                </a:r>
                <a14:m>
                  <m:oMath xmlns:m="http://schemas.openxmlformats.org/officeDocument/2006/math">
                    <m:r>
                      <a:rPr lang="de-DE" altLang="zh-CN" i="1" dirty="0">
                        <a:latin typeface="Cambria Math" panose="02040503050406030204" pitchFamily="18" charset="0"/>
                      </a:rPr>
                      <m:t>20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39</m:t>
                    </m:r>
                  </m:oMath>
                </a14:m>
                <a:r>
                  <a:rPr lang="zh-CN" altLang="en-US" dirty="0">
                    <a:latin typeface="Cambria Math" panose="02040503050406030204" pitchFamily="18" charset="0"/>
                    <a:cs typeface="Times New Roman" panose="02020603050405020304" pitchFamily="18" charset="0"/>
                  </a:rPr>
                  <a:t>）</a:t>
                </a:r>
                <a:endParaRPr lang="en-US" altLang="zh-CN" i="1" dirty="0">
                  <a:latin typeface="Cambria Math" panose="02040503050406030204" pitchFamily="18" charset="0"/>
                  <a:cs typeface="Times New Roman" panose="02020603050405020304" pitchFamily="18" charset="0"/>
                </a:endParaRPr>
              </a:p>
              <a:p>
                <a:pPr marL="742950" lvl="1" indent="-285750" algn="just">
                  <a:lnSpc>
                    <a:spcPct val="120000"/>
                  </a:lnSpc>
                  <a:spcBef>
                    <a:spcPts val="600"/>
                  </a:spcBef>
                  <a:buFont typeface="Wingdings" panose="05000000000000000000" pitchFamily="2" charset="2"/>
                  <a:buChar char="Ø"/>
                </a:pP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𝑓</m:t>
                        </m:r>
                      </m:e>
                      <m:sub>
                        <m:r>
                          <a:rPr lang="en-US" altLang="zh-CN" b="0" i="1" smtClean="0">
                            <a:latin typeface="Cambria Math" panose="02040503050406030204" pitchFamily="18" charset="0"/>
                            <a:cs typeface="Times New Roman" panose="02020603050405020304" pitchFamily="18" charset="0"/>
                          </a:rPr>
                          <m:t>3</m:t>
                        </m:r>
                      </m:sub>
                    </m:sSub>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𝑦</m:t>
                        </m:r>
                      </m:e>
                    </m:d>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 </m:t>
                    </m:r>
                  </m:oMath>
                </a14:m>
                <a:r>
                  <a:rPr lang="en-US" altLang="zh-CN" dirty="0">
                    <a:latin typeface="Cambria Math" panose="02040503050406030204" pitchFamily="18" charset="0"/>
                    <a:cs typeface="Times New Roman" panose="02020603050405020304" pitchFamily="18" charset="0"/>
                  </a:rPr>
                  <a:t>      (</a:t>
                </a:r>
                <a:r>
                  <a:rPr lang="zh-CN" altLang="en-US" dirty="0">
                    <a:latin typeface="Cambria Math" panose="02040503050406030204" pitchFamily="18" charset="0"/>
                    <a:cs typeface="Times New Roman" panose="02020603050405020304" pitchFamily="18" charset="0"/>
                  </a:rPr>
                  <a:t>第三轮，</a:t>
                </a:r>
                <a14:m>
                  <m:oMath xmlns:m="http://schemas.openxmlformats.org/officeDocument/2006/math">
                    <m:r>
                      <a:rPr lang="de-DE" altLang="zh-CN" i="1" dirty="0">
                        <a:latin typeface="Cambria Math" panose="02040503050406030204" pitchFamily="18" charset="0"/>
                      </a:rPr>
                      <m:t>40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59</m:t>
                    </m:r>
                  </m:oMath>
                </a14:m>
                <a:r>
                  <a:rPr lang="zh-CN" altLang="en-US" dirty="0">
                    <a:latin typeface="Cambria Math" panose="02040503050406030204" pitchFamily="18" charset="0"/>
                    <a:cs typeface="Times New Roman" panose="02020603050405020304" pitchFamily="18" charset="0"/>
                  </a:rPr>
                  <a:t>）</a:t>
                </a:r>
                <a:endParaRPr lang="en-US" altLang="zh-CN" i="1" dirty="0">
                  <a:latin typeface="Cambria Math" panose="02040503050406030204" pitchFamily="18" charset="0"/>
                  <a:cs typeface="Times New Roman" panose="02020603050405020304" pitchFamily="18" charset="0"/>
                </a:endParaRPr>
              </a:p>
              <a:p>
                <a:pPr marL="742950" lvl="1" indent="-285750" algn="just">
                  <a:lnSpc>
                    <a:spcPct val="120000"/>
                  </a:lnSpc>
                  <a:spcBef>
                    <a:spcPts val="600"/>
                  </a:spcBef>
                  <a:buFont typeface="Wingdings" panose="05000000000000000000" pitchFamily="2" charset="2"/>
                  <a:buChar char="Ø"/>
                </a:pP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𝑓</m:t>
                        </m:r>
                      </m:e>
                      <m:sub>
                        <m:r>
                          <a:rPr lang="en-US" altLang="zh-CN" b="0" i="1" smtClean="0">
                            <a:latin typeface="Cambria Math" panose="02040503050406030204" pitchFamily="18" charset="0"/>
                            <a:cs typeface="Times New Roman" panose="02020603050405020304" pitchFamily="18" charset="0"/>
                          </a:rPr>
                          <m:t>4</m:t>
                        </m:r>
                      </m:sub>
                    </m:sSub>
                    <m:r>
                      <a:rPr lang="en-US" altLang="zh-CN" i="1">
                        <a:latin typeface="Cambria Math" panose="02040503050406030204" pitchFamily="18" charset="0"/>
                        <a:cs typeface="Times New Roman" panose="02020603050405020304" pitchFamily="18" charset="0"/>
                      </a:rPr>
                      <m:t> </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𝑧</m:t>
                        </m:r>
                      </m:e>
                    </m:d>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𝑥</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𝑦</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𝑧</m:t>
                    </m:r>
                    <m:r>
                      <a:rPr lang="en-US" altLang="zh-CN" i="1">
                        <a:latin typeface="Cambria Math" panose="02040503050406030204" pitchFamily="18" charset="0"/>
                        <a:cs typeface="Times New Roman" panose="02020603050405020304" pitchFamily="18" charset="0"/>
                      </a:rPr>
                      <m:t>,</m:t>
                    </m:r>
                  </m:oMath>
                </a14:m>
                <a:r>
                  <a:rPr lang="zh-CN" altLang="en-US" dirty="0">
                    <a:latin typeface="Cambria Math" panose="02040503050406030204" pitchFamily="18" charset="0"/>
                    <a:cs typeface="Times New Roman" panose="02020603050405020304" pitchFamily="18" charset="0"/>
                  </a:rPr>
                  <a:t>                                   </a:t>
                </a:r>
                <a:r>
                  <a:rPr lang="en-US" altLang="zh-CN" dirty="0">
                    <a:latin typeface="Cambria Math" panose="02040503050406030204" pitchFamily="18" charset="0"/>
                    <a:cs typeface="Times New Roman" panose="02020603050405020304" pitchFamily="18" charset="0"/>
                  </a:rPr>
                  <a:t>(</a:t>
                </a:r>
                <a:r>
                  <a:rPr lang="zh-CN" altLang="en-US" dirty="0">
                    <a:latin typeface="Cambria Math" panose="02040503050406030204" pitchFamily="18" charset="0"/>
                    <a:cs typeface="Times New Roman" panose="02020603050405020304" pitchFamily="18" charset="0"/>
                  </a:rPr>
                  <a:t>第四轮，</a:t>
                </a:r>
                <a14:m>
                  <m:oMath xmlns:m="http://schemas.openxmlformats.org/officeDocument/2006/math">
                    <m:r>
                      <a:rPr lang="de-DE" altLang="zh-CN" i="1" dirty="0">
                        <a:latin typeface="Cambria Math" panose="02040503050406030204" pitchFamily="18" charset="0"/>
                      </a:rPr>
                      <m:t>60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79</m:t>
                    </m:r>
                  </m:oMath>
                </a14:m>
                <a:r>
                  <a:rPr lang="en-US" altLang="zh-CN" dirty="0">
                    <a:latin typeface="Cambria Math" panose="02040503050406030204" pitchFamily="18" charset="0"/>
                    <a:cs typeface="Times New Roman" panose="02020603050405020304" pitchFamily="18" charset="0"/>
                  </a:rPr>
                  <a:t>)</a:t>
                </a:r>
                <a:endParaRPr kumimoji="0" lang="en-US" altLang="zh-CN" b="0" i="1"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每轮又要进行 </a:t>
                </a:r>
                <a:r>
                  <a:rPr lang="en-US" altLang="zh-CN" sz="2000" dirty="0">
                    <a:latin typeface="Times New Roman" panose="02020603050405020304" pitchFamily="18" charset="0"/>
                    <a:cs typeface="Times New Roman" panose="02020603050405020304" pitchFamily="18" charset="0"/>
                  </a:rPr>
                  <a:t>20 </a:t>
                </a:r>
                <a:r>
                  <a:rPr lang="zh-CN" altLang="en-US" sz="2000" dirty="0">
                    <a:latin typeface="Times New Roman" panose="02020603050405020304" pitchFamily="18" charset="0"/>
                    <a:cs typeface="Times New Roman" panose="02020603050405020304" pitchFamily="18" charset="0"/>
                  </a:rPr>
                  <a:t>步迭代运算，四轮总共 </a:t>
                </a:r>
                <a:r>
                  <a:rPr lang="en-US" altLang="zh-CN" sz="2000" dirty="0">
                    <a:solidFill>
                      <a:srgbClr val="0000FF"/>
                    </a:solidFill>
                    <a:latin typeface="Times New Roman" panose="02020603050405020304" pitchFamily="18" charset="0"/>
                    <a:cs typeface="Times New Roman" panose="02020603050405020304" pitchFamily="18" charset="0"/>
                  </a:rPr>
                  <a:t>80 </a:t>
                </a:r>
                <a:r>
                  <a:rPr lang="zh-CN" altLang="en-US" sz="2000" dirty="0">
                    <a:solidFill>
                      <a:srgbClr val="0000FF"/>
                    </a:solidFill>
                    <a:latin typeface="Times New Roman" panose="02020603050405020304" pitchFamily="18" charset="0"/>
                    <a:cs typeface="Times New Roman" panose="02020603050405020304" pitchFamily="18" charset="0"/>
                  </a:rPr>
                  <a:t>步</a:t>
                </a:r>
                <a:r>
                  <a:rPr lang="zh-CN" altLang="en-US" sz="2000" dirty="0">
                    <a:latin typeface="Times New Roman" panose="02020603050405020304" pitchFamily="18" charset="0"/>
                    <a:cs typeface="Times New Roman" panose="02020603050405020304" pitchFamily="18" charset="0"/>
                  </a:rPr>
                  <a:t>迭代</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3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以第一轮为例，每个字 </a:t>
                </a:r>
                <a14:m>
                  <m:oMath xmlns:m="http://schemas.openxmlformats.org/officeDocument/2006/math">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m:rPr>
                            <m:sty m:val="p"/>
                          </m:rPr>
                          <a:rPr lang="en-US" altLang="zh-CN" i="1" dirty="0">
                            <a:solidFill>
                              <a:srgbClr val="0000FF"/>
                            </a:solidFill>
                            <a:latin typeface="Cambria Math" panose="02040503050406030204" pitchFamily="18" charset="0"/>
                            <a:cs typeface="Times New Roman" panose="02020603050405020304" pitchFamily="18" charset="0"/>
                          </a:rPr>
                          <m:t>W</m:t>
                        </m:r>
                      </m:e>
                      <m:sub>
                        <m:r>
                          <a:rPr lang="en-US" altLang="zh-CN" i="1" dirty="0">
                            <a:solidFill>
                              <a:srgbClr val="0000FF"/>
                            </a:solidFill>
                            <a:latin typeface="Cambria Math" panose="02040503050406030204" pitchFamily="18" charset="0"/>
                            <a:cs typeface="Times New Roman" panose="02020603050405020304" pitchFamily="18" charset="0"/>
                          </a:rPr>
                          <m:t>𝑡</m:t>
                        </m:r>
                      </m:sub>
                    </m:sSub>
                    <m:r>
                      <a:rPr lang="en-US" altLang="zh-CN" b="0" i="1" dirty="0" smtClean="0">
                        <a:solidFill>
                          <a:srgbClr val="0000FF"/>
                        </a:solidFill>
                        <a:latin typeface="Cambria Math" panose="02040503050406030204" pitchFamily="18" charset="0"/>
                        <a:cs typeface="Times New Roman" panose="02020603050405020304" pitchFamily="18" charset="0"/>
                      </a:rPr>
                      <m:t> </m:t>
                    </m:r>
                    <m:d>
                      <m:dPr>
                        <m:ctrlPr>
                          <a:rPr lang="en-US" altLang="zh-CN" i="1" dirty="0">
                            <a:solidFill>
                              <a:srgbClr val="0000FF"/>
                            </a:solidFill>
                            <a:latin typeface="Cambria Math" panose="02040503050406030204" pitchFamily="18" charset="0"/>
                            <a:cs typeface="Times New Roman" panose="02020603050405020304" pitchFamily="18" charset="0"/>
                          </a:rPr>
                        </m:ctrlPr>
                      </m:dPr>
                      <m:e>
                        <m:r>
                          <a:rPr lang="en-US" altLang="zh-CN" i="1" dirty="0">
                            <a:solidFill>
                              <a:srgbClr val="0000FF"/>
                            </a:solidFill>
                            <a:latin typeface="Cambria Math" panose="02040503050406030204" pitchFamily="18" charset="0"/>
                            <a:cs typeface="Times New Roman" panose="02020603050405020304" pitchFamily="18" charset="0"/>
                          </a:rPr>
                          <m:t>0</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≤19</m:t>
                        </m:r>
                      </m:e>
                    </m:d>
                  </m:oMath>
                </a14:m>
                <a:r>
                  <a:rPr lang="zh-CN" altLang="en-US" dirty="0">
                    <a:latin typeface="Times New Roman" panose="02020603050405020304" pitchFamily="18" charset="0"/>
                    <a:cs typeface="Times New Roman" panose="02020603050405020304" pitchFamily="18" charset="0"/>
                  </a:rPr>
                  <a:t> 参与一步迭代，都执行逻辑函数 </a:t>
                </a: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𝑓</m:t>
                        </m:r>
                      </m:e>
                      <m:sub>
                        <m:r>
                          <a:rPr lang="en-US" altLang="zh-CN" i="1">
                            <a:latin typeface="Cambria Math" panose="02040503050406030204" pitchFamily="18" charset="0"/>
                            <a:cs typeface="Times New Roman" panose="02020603050405020304" pitchFamily="18" charset="0"/>
                          </a:rPr>
                          <m:t>1</m:t>
                        </m:r>
                      </m:sub>
                    </m:sSub>
                  </m:oMath>
                </a14:m>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每步迭代生成的 </a:t>
                </a:r>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32</m:t>
                    </m:r>
                    <m:r>
                      <m:rPr>
                        <m:sty m:val="p"/>
                      </m:rPr>
                      <a:rPr lang="en-US" altLang="zh-CN" i="0" dirty="0" smtClean="0">
                        <a:latin typeface="Cambria Math" panose="02040503050406030204" pitchFamily="18" charset="0"/>
                        <a:cs typeface="Times New Roman" panose="02020603050405020304" pitchFamily="18" charset="0"/>
                      </a:rPr>
                      <m:t>bits</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的中间变量</a:t>
                </a:r>
                <a14:m>
                  <m:oMath xmlns:m="http://schemas.openxmlformats.org/officeDocument/2006/math">
                    <m:r>
                      <a:rPr lang="en-US" altLang="zh-CN" b="0" i="0" dirty="0" smtClean="0">
                        <a:latin typeface="Cambria Math" panose="02040503050406030204" pitchFamily="18" charset="0"/>
                        <a:cs typeface="Times New Roman" panose="02020603050405020304" pitchFamily="18" charset="0"/>
                      </a:rPr>
                      <m:t> </m:t>
                    </m:r>
                    <m:r>
                      <a:rPr lang="en-US" altLang="zh-CN" i="1" dirty="0" smtClean="0">
                        <a:latin typeface="Cambria Math" panose="02040503050406030204" pitchFamily="18" charset="0"/>
                        <a:cs typeface="Times New Roman" panose="02020603050405020304" pitchFamily="18" charset="0"/>
                      </a:rPr>
                      <m:t>𝑎</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𝑏</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𝑐</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𝑑</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𝑒</m:t>
                    </m:r>
                    <m:r>
                      <a:rPr lang="en-US" altLang="zh-CN" b="0" i="1" dirty="0" smtClean="0">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作为下一步迭代的输入</a:t>
                </a:r>
                <a:endParaRPr lang="en-US" altLang="zh-CN"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每轮运算生成的</a:t>
                </a:r>
                <a:r>
                  <a:rPr lang="en-US" altLang="zh-CN" sz="2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r>
                      <a:rPr lang="en-US" altLang="zh-CN" sz="2000" b="0" i="0"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的中间变量</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𝑎</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𝑏</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𝑐</m:t>
                    </m:r>
                    <m:r>
                      <a:rPr lang="en-US" altLang="zh-CN" sz="200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𝑑</m:t>
                    </m:r>
                    <m:r>
                      <a:rPr lang="en-US" altLang="zh-CN" sz="2000" b="0" i="1" dirty="0" smtClean="0">
                        <a:latin typeface="Cambria Math" panose="02040503050406030204" pitchFamily="18" charset="0"/>
                        <a:cs typeface="Times New Roman" panose="02020603050405020304" pitchFamily="18" charset="0"/>
                      </a:rPr>
                      <m:t>,</m:t>
                    </m:r>
                    <m:r>
                      <a:rPr lang="en-US" altLang="zh-CN" sz="2000" b="0" i="1" dirty="0" smtClean="0">
                        <a:latin typeface="Cambria Math" panose="02040503050406030204" pitchFamily="18" charset="0"/>
                        <a:cs typeface="Times New Roman" panose="02020603050405020304" pitchFamily="18" charset="0"/>
                      </a:rPr>
                      <m:t>𝑒</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作为下一轮运算的输入</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299056" y="1488703"/>
                <a:ext cx="8493405" cy="5086521"/>
              </a:xfrm>
              <a:prstGeom prst="rect">
                <a:avLst/>
              </a:prstGeom>
              <a:blipFill rotWithShape="0">
                <a:blip r:embed="rId3"/>
                <a:stretch>
                  <a:fillRect l="-646" r="-287"/>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spTree>
    <p:extLst>
      <p:ext uri="{BB962C8B-B14F-4D97-AF65-F5344CB8AC3E}">
        <p14:creationId xmlns:p14="http://schemas.microsoft.com/office/powerpoint/2010/main" val="3983699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60</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8" y="1468412"/>
                <a:ext cx="8479944" cy="444674"/>
              </a:xfrm>
              <a:prstGeom prst="rect">
                <a:avLst/>
              </a:prstGeom>
              <a:noFill/>
            </p:spPr>
            <p:txBody>
              <a:bodyPr wrap="square" rtlCol="0">
                <a:spAutoFit/>
              </a:bodyPr>
              <a:lstStyle/>
              <a:p>
                <a:pPr marL="457200" indent="-4572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消息扩展，生成字</a:t>
                </a:r>
                <a14:m>
                  <m:oMath xmlns:m="http://schemas.openxmlformats.org/officeDocument/2006/math">
                    <m:sSub>
                      <m:sSubPr>
                        <m:ctrlPr>
                          <a:rPr lang="en-US" altLang="zh-CN" sz="2000" b="0" i="1" dirty="0" smtClean="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𝑊</m:t>
                        </m:r>
                      </m:e>
                      <m:sub>
                        <m:r>
                          <a:rPr lang="en-US" altLang="zh-CN" sz="2000" b="0" i="1" dirty="0" smtClean="0">
                            <a:latin typeface="Cambria Math" panose="02040503050406030204" pitchFamily="18" charset="0"/>
                            <a:cs typeface="Times New Roman" panose="02020603050405020304" pitchFamily="18" charset="0"/>
                          </a:rPr>
                          <m:t>𝑡</m:t>
                        </m:r>
                      </m:sub>
                    </m:sSub>
                  </m:oMath>
                </a14:m>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8" y="1468412"/>
                <a:ext cx="8479944" cy="444674"/>
              </a:xfrm>
              <a:prstGeom prst="rect">
                <a:avLst/>
              </a:prstGeom>
              <a:blipFill>
                <a:blip r:embed="rId3"/>
                <a:stretch>
                  <a:fillRect l="-647" t="-1370" b="-20548"/>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56E8FC5D-BEF4-4994-9F30-8156A1A3854F}"/>
              </a:ext>
            </a:extLst>
          </p:cNvPr>
          <p:cNvGrpSpPr/>
          <p:nvPr/>
        </p:nvGrpSpPr>
        <p:grpSpPr>
          <a:xfrm>
            <a:off x="648163" y="2939647"/>
            <a:ext cx="8226025" cy="3033391"/>
            <a:chOff x="648163" y="2939647"/>
            <a:chExt cx="8226025" cy="3033391"/>
          </a:xfrm>
        </p:grpSpPr>
        <mc:AlternateContent xmlns:mc="http://schemas.openxmlformats.org/markup-compatibility/2006" xmlns:a14="http://schemas.microsoft.com/office/drawing/2010/main">
          <mc:Choice Requires="a14">
            <p:sp>
              <p:nvSpPr>
                <p:cNvPr id="55" name="矩形 54">
                  <a:extLst>
                    <a:ext uri="{FF2B5EF4-FFF2-40B4-BE49-F238E27FC236}">
                      <a16:creationId xmlns:a16="http://schemas.microsoft.com/office/drawing/2014/main" id="{EFCB1856-716A-476B-A807-2F1997E63662}"/>
                    </a:ext>
                  </a:extLst>
                </p:cNvPr>
                <p:cNvSpPr/>
                <p:nvPr/>
              </p:nvSpPr>
              <p:spPr>
                <a:xfrm>
                  <a:off x="648163" y="3405685"/>
                  <a:ext cx="1887466" cy="392180"/>
                </a:xfrm>
                <a:prstGeom prst="rect">
                  <a:avLst/>
                </a:prstGeom>
                <a:solidFill>
                  <a:srgbClr val="B4C7E7"/>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𝑀</m:t>
                            </m:r>
                          </m:e>
                          <m:sub>
                            <m:r>
                              <a:rPr lang="en-US" altLang="zh-CN" b="0" i="1" dirty="0" smtClean="0">
                                <a:solidFill>
                                  <a:schemeClr val="tx1"/>
                                </a:solidFill>
                                <a:latin typeface="Cambria Math" panose="02040503050406030204" pitchFamily="18" charset="0"/>
                              </a:rPr>
                              <m:t>𝑖</m:t>
                            </m:r>
                          </m:sub>
                        </m:sSub>
                      </m:oMath>
                    </m:oMathPara>
                  </a14:m>
                  <a:endParaRPr lang="en-US" altLang="zh-CN" b="0" i="1" dirty="0">
                    <a:solidFill>
                      <a:schemeClr val="tx1"/>
                    </a:solidFill>
                  </a:endParaRPr>
                </a:p>
              </p:txBody>
            </p:sp>
          </mc:Choice>
          <mc:Fallback xmlns="">
            <p:sp>
              <p:nvSpPr>
                <p:cNvPr id="55" name="矩形 54">
                  <a:extLst>
                    <a:ext uri="{FF2B5EF4-FFF2-40B4-BE49-F238E27FC236}">
                      <a16:creationId xmlns:a16="http://schemas.microsoft.com/office/drawing/2014/main" id="{EFCB1856-716A-476B-A807-2F1997E63662}"/>
                    </a:ext>
                  </a:extLst>
                </p:cNvPr>
                <p:cNvSpPr>
                  <a:spLocks noRot="1" noChangeAspect="1" noMove="1" noResize="1" noEditPoints="1" noAdjustHandles="1" noChangeArrowheads="1" noChangeShapeType="1" noTextEdit="1"/>
                </p:cNvSpPr>
                <p:nvPr/>
              </p:nvSpPr>
              <p:spPr>
                <a:xfrm>
                  <a:off x="648163" y="3405685"/>
                  <a:ext cx="1887466" cy="392180"/>
                </a:xfrm>
                <a:prstGeom prst="rect">
                  <a:avLst/>
                </a:prstGeom>
                <a:blipFill>
                  <a:blip r:embed="rId4"/>
                  <a:stretch>
                    <a:fillRect/>
                  </a:stretch>
                </a:blipFill>
                <a:ln w="12700">
                  <a:solidFill>
                    <a:schemeClr val="tx1"/>
                  </a:solidFill>
                </a:ln>
              </p:spPr>
              <p:txBody>
                <a:bodyPr/>
                <a:lstStyle/>
                <a:p>
                  <a:r>
                    <a:rPr lang="zh-CN" altLang="en-US">
                      <a:noFill/>
                    </a:rPr>
                    <a:t> </a:t>
                  </a:r>
                </a:p>
              </p:txBody>
            </p:sp>
          </mc:Fallback>
        </mc:AlternateContent>
        <p:cxnSp>
          <p:nvCxnSpPr>
            <p:cNvPr id="56" name="直接箭头连接符 55">
              <a:extLst>
                <a:ext uri="{FF2B5EF4-FFF2-40B4-BE49-F238E27FC236}">
                  <a16:creationId xmlns:a16="http://schemas.microsoft.com/office/drawing/2014/main" id="{E5B93FD3-5618-4C96-B9B2-176448E48932}"/>
                </a:ext>
              </a:extLst>
            </p:cNvPr>
            <p:cNvCxnSpPr>
              <a:cxnSpLocks/>
            </p:cNvCxnSpPr>
            <p:nvPr/>
          </p:nvCxnSpPr>
          <p:spPr>
            <a:xfrm>
              <a:off x="648163" y="3289625"/>
              <a:ext cx="1782828"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895134E6-4D65-4811-B643-C94D3F0EE6AA}"/>
                    </a:ext>
                  </a:extLst>
                </p:cNvPr>
                <p:cNvSpPr txBox="1"/>
                <p:nvPr/>
              </p:nvSpPr>
              <p:spPr>
                <a:xfrm>
                  <a:off x="776628" y="2939647"/>
                  <a:ext cx="152589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0" dirty="0" smtClean="0">
                            <a:latin typeface="Cambria Math" panose="02040503050406030204" pitchFamily="18" charset="0"/>
                          </a:rPr>
                          <m:t>512</m:t>
                        </m:r>
                        <m:r>
                          <a:rPr lang="en-US" altLang="zh-CN" sz="1400" i="0" dirty="0" smtClean="0">
                            <a:latin typeface="Cambria Math" panose="02040503050406030204" pitchFamily="18" charset="0"/>
                            <a:cs typeface="Times New Roman" panose="02020603050405020304" pitchFamily="18" charset="0"/>
                          </a:rPr>
                          <m:t> </m:t>
                        </m:r>
                        <m:r>
                          <m:rPr>
                            <m:sty m:val="p"/>
                          </m:rPr>
                          <a:rPr lang="en-US" altLang="zh-CN" sz="1400" i="0" dirty="0" smtClean="0">
                            <a:latin typeface="Cambria Math" panose="02040503050406030204" pitchFamily="18" charset="0"/>
                            <a:cs typeface="Times New Roman" panose="02020603050405020304" pitchFamily="18" charset="0"/>
                          </a:rPr>
                          <m:t>bits</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57" name="文本框 56">
                  <a:extLst>
                    <a:ext uri="{FF2B5EF4-FFF2-40B4-BE49-F238E27FC236}">
                      <a16:creationId xmlns:a16="http://schemas.microsoft.com/office/drawing/2014/main" id="{895134E6-4D65-4811-B643-C94D3F0EE6AA}"/>
                    </a:ext>
                  </a:extLst>
                </p:cNvPr>
                <p:cNvSpPr txBox="1">
                  <a:spLocks noRot="1" noChangeAspect="1" noMove="1" noResize="1" noEditPoints="1" noAdjustHandles="1" noChangeArrowheads="1" noChangeShapeType="1" noTextEdit="1"/>
                </p:cNvSpPr>
                <p:nvPr/>
              </p:nvSpPr>
              <p:spPr>
                <a:xfrm>
                  <a:off x="776628" y="2939647"/>
                  <a:ext cx="1525898" cy="307777"/>
                </a:xfrm>
                <a:prstGeom prst="rect">
                  <a:avLst/>
                </a:prstGeom>
                <a:blipFill>
                  <a:blip r:embed="rId5"/>
                  <a:stretch>
                    <a:fillRect/>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63B31CC5-EB21-4665-96B2-A6C0E4410DBE}"/>
                </a:ext>
              </a:extLst>
            </p:cNvPr>
            <p:cNvCxnSpPr>
              <a:cxnSpLocks/>
              <a:endCxn id="61" idx="0"/>
            </p:cNvCxnSpPr>
            <p:nvPr/>
          </p:nvCxnSpPr>
          <p:spPr>
            <a:xfrm>
              <a:off x="906162" y="3797865"/>
              <a:ext cx="0" cy="17297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63A64D68-C13B-489F-A629-3A613EE98C61}"/>
                    </a:ext>
                  </a:extLst>
                </p:cNvPr>
                <p:cNvSpPr/>
                <p:nvPr/>
              </p:nvSpPr>
              <p:spPr>
                <a:xfrm>
                  <a:off x="648163" y="5527610"/>
                  <a:ext cx="515997" cy="392180"/>
                </a:xfrm>
                <a:prstGeom prst="rect">
                  <a:avLst/>
                </a:prstGeom>
                <a:solidFill>
                  <a:srgbClr val="B4C7E7"/>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0</m:t>
                            </m:r>
                          </m:sub>
                        </m:sSub>
                      </m:oMath>
                    </m:oMathPara>
                  </a14:m>
                  <a:endParaRPr lang="en-US" altLang="zh-CN" b="0" i="1" dirty="0">
                    <a:solidFill>
                      <a:schemeClr val="tx1"/>
                    </a:solidFill>
                  </a:endParaRPr>
                </a:p>
              </p:txBody>
            </p:sp>
          </mc:Choice>
          <mc:Fallback xmlns="">
            <p:sp>
              <p:nvSpPr>
                <p:cNvPr id="61" name="矩形 60">
                  <a:extLst>
                    <a:ext uri="{FF2B5EF4-FFF2-40B4-BE49-F238E27FC236}">
                      <a16:creationId xmlns:a16="http://schemas.microsoft.com/office/drawing/2014/main" id="{63A64D68-C13B-489F-A629-3A613EE98C61}"/>
                    </a:ext>
                  </a:extLst>
                </p:cNvPr>
                <p:cNvSpPr>
                  <a:spLocks noRot="1" noChangeAspect="1" noMove="1" noResize="1" noEditPoints="1" noAdjustHandles="1" noChangeArrowheads="1" noChangeShapeType="1" noTextEdit="1"/>
                </p:cNvSpPr>
                <p:nvPr/>
              </p:nvSpPr>
              <p:spPr>
                <a:xfrm>
                  <a:off x="648163" y="5527610"/>
                  <a:ext cx="515997" cy="392180"/>
                </a:xfrm>
                <a:prstGeom prst="rect">
                  <a:avLst/>
                </a:prstGeom>
                <a:blipFill>
                  <a:blip r:embed="rId6"/>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064175A2-94BC-4747-BBE8-6A6337EF9AC4}"/>
                    </a:ext>
                  </a:extLst>
                </p:cNvPr>
                <p:cNvSpPr/>
                <p:nvPr/>
              </p:nvSpPr>
              <p:spPr>
                <a:xfrm>
                  <a:off x="1164162" y="5527610"/>
                  <a:ext cx="515997" cy="392180"/>
                </a:xfrm>
                <a:prstGeom prst="rect">
                  <a:avLst/>
                </a:prstGeom>
                <a:solidFill>
                  <a:srgbClr val="B4C7E7"/>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2" name="矩形 61">
                  <a:extLst>
                    <a:ext uri="{FF2B5EF4-FFF2-40B4-BE49-F238E27FC236}">
                      <a16:creationId xmlns:a16="http://schemas.microsoft.com/office/drawing/2014/main" id="{064175A2-94BC-4747-BBE8-6A6337EF9AC4}"/>
                    </a:ext>
                  </a:extLst>
                </p:cNvPr>
                <p:cNvSpPr>
                  <a:spLocks noRot="1" noChangeAspect="1" noMove="1" noResize="1" noEditPoints="1" noAdjustHandles="1" noChangeArrowheads="1" noChangeShapeType="1" noTextEdit="1"/>
                </p:cNvSpPr>
                <p:nvPr/>
              </p:nvSpPr>
              <p:spPr>
                <a:xfrm>
                  <a:off x="1164162" y="5527610"/>
                  <a:ext cx="515997" cy="392180"/>
                </a:xfrm>
                <a:prstGeom prst="rect">
                  <a:avLst/>
                </a:prstGeom>
                <a:blipFill>
                  <a:blip r:embed="rId7"/>
                  <a:stretch>
                    <a:fillRect/>
                  </a:stretch>
                </a:blipFill>
                <a:ln w="12700">
                  <a:solidFill>
                    <a:schemeClr val="tx1"/>
                  </a:solidFill>
                </a:ln>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D60291BA-CF71-4C5C-89BE-61B8923E8EC7}"/>
                </a:ext>
              </a:extLst>
            </p:cNvPr>
            <p:cNvSpPr/>
            <p:nvPr/>
          </p:nvSpPr>
          <p:spPr>
            <a:xfrm>
              <a:off x="1680159" y="5525463"/>
              <a:ext cx="339476" cy="392180"/>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CF68D96B-D064-4A4D-B70F-70CFEFC6BFB6}"/>
                    </a:ext>
                  </a:extLst>
                </p:cNvPr>
                <p:cNvSpPr/>
                <p:nvPr/>
              </p:nvSpPr>
              <p:spPr>
                <a:xfrm>
                  <a:off x="2019633" y="5523316"/>
                  <a:ext cx="515997" cy="392180"/>
                </a:xfrm>
                <a:prstGeom prst="rect">
                  <a:avLst/>
                </a:prstGeom>
                <a:solidFill>
                  <a:srgbClr val="B4C7E7"/>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15</m:t>
                            </m:r>
                          </m:sub>
                        </m:sSub>
                      </m:oMath>
                    </m:oMathPara>
                  </a14:m>
                  <a:endParaRPr lang="en-US" altLang="zh-CN" b="0" i="1" dirty="0">
                    <a:solidFill>
                      <a:schemeClr val="tx1"/>
                    </a:solidFill>
                  </a:endParaRPr>
                </a:p>
              </p:txBody>
            </p:sp>
          </mc:Choice>
          <mc:Fallback xmlns="">
            <p:sp>
              <p:nvSpPr>
                <p:cNvPr id="65" name="矩形 64">
                  <a:extLst>
                    <a:ext uri="{FF2B5EF4-FFF2-40B4-BE49-F238E27FC236}">
                      <a16:creationId xmlns:a16="http://schemas.microsoft.com/office/drawing/2014/main" id="{CF68D96B-D064-4A4D-B70F-70CFEFC6BFB6}"/>
                    </a:ext>
                  </a:extLst>
                </p:cNvPr>
                <p:cNvSpPr>
                  <a:spLocks noRot="1" noChangeAspect="1" noMove="1" noResize="1" noEditPoints="1" noAdjustHandles="1" noChangeArrowheads="1" noChangeShapeType="1" noTextEdit="1"/>
                </p:cNvSpPr>
                <p:nvPr/>
              </p:nvSpPr>
              <p:spPr>
                <a:xfrm>
                  <a:off x="2019633" y="5523316"/>
                  <a:ext cx="515997" cy="392180"/>
                </a:xfrm>
                <a:prstGeom prst="rect">
                  <a:avLst/>
                </a:prstGeom>
                <a:blipFill>
                  <a:blip r:embed="rId8"/>
                  <a:stretch>
                    <a:fillRect l="-3448"/>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7397DE52-087F-484D-AEEB-F0B07A987E84}"/>
                    </a:ext>
                  </a:extLst>
                </p:cNvPr>
                <p:cNvSpPr/>
                <p:nvPr/>
              </p:nvSpPr>
              <p:spPr>
                <a:xfrm>
                  <a:off x="2535632" y="5523316"/>
                  <a:ext cx="515997" cy="392180"/>
                </a:xfrm>
                <a:prstGeom prst="rect">
                  <a:avLst/>
                </a:prstGeom>
                <a:solidFill>
                  <a:srgbClr val="B4C7E7"/>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16</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6" name="矩形 65">
                  <a:extLst>
                    <a:ext uri="{FF2B5EF4-FFF2-40B4-BE49-F238E27FC236}">
                      <a16:creationId xmlns:a16="http://schemas.microsoft.com/office/drawing/2014/main" id="{7397DE52-087F-484D-AEEB-F0B07A987E84}"/>
                    </a:ext>
                  </a:extLst>
                </p:cNvPr>
                <p:cNvSpPr>
                  <a:spLocks noRot="1" noChangeAspect="1" noMove="1" noResize="1" noEditPoints="1" noAdjustHandles="1" noChangeArrowheads="1" noChangeShapeType="1" noTextEdit="1"/>
                </p:cNvSpPr>
                <p:nvPr/>
              </p:nvSpPr>
              <p:spPr>
                <a:xfrm>
                  <a:off x="2535632" y="5523316"/>
                  <a:ext cx="515997" cy="392180"/>
                </a:xfrm>
                <a:prstGeom prst="rect">
                  <a:avLst/>
                </a:prstGeom>
                <a:blipFill>
                  <a:blip r:embed="rId9"/>
                  <a:stretch>
                    <a:fillRect l="-6897"/>
                  </a:stretch>
                </a:blipFill>
                <a:ln w="12700">
                  <a:solidFill>
                    <a:schemeClr val="tx1"/>
                  </a:solidFill>
                </a:ln>
              </p:spPr>
              <p:txBody>
                <a:bodyPr/>
                <a:lstStyle/>
                <a:p>
                  <a:r>
                    <a:rPr lang="zh-CN" altLang="en-US">
                      <a:noFill/>
                    </a:rPr>
                    <a:t> </a:t>
                  </a:r>
                </a:p>
              </p:txBody>
            </p:sp>
          </mc:Fallback>
        </mc:AlternateContent>
        <p:cxnSp>
          <p:nvCxnSpPr>
            <p:cNvPr id="67" name="直接箭头连接符 66">
              <a:extLst>
                <a:ext uri="{FF2B5EF4-FFF2-40B4-BE49-F238E27FC236}">
                  <a16:creationId xmlns:a16="http://schemas.microsoft.com/office/drawing/2014/main" id="{8280B0B1-4C6D-439C-BD0C-6CA7C5E06415}"/>
                </a:ext>
              </a:extLst>
            </p:cNvPr>
            <p:cNvCxnSpPr>
              <a:cxnSpLocks/>
              <a:endCxn id="62" idx="0"/>
            </p:cNvCxnSpPr>
            <p:nvPr/>
          </p:nvCxnSpPr>
          <p:spPr>
            <a:xfrm>
              <a:off x="1422160" y="3797865"/>
              <a:ext cx="1" cy="17297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直接箭头连接符 69">
              <a:extLst>
                <a:ext uri="{FF2B5EF4-FFF2-40B4-BE49-F238E27FC236}">
                  <a16:creationId xmlns:a16="http://schemas.microsoft.com/office/drawing/2014/main" id="{D28B983A-ED3D-422F-ADD8-509BF1322C18}"/>
                </a:ext>
              </a:extLst>
            </p:cNvPr>
            <p:cNvCxnSpPr>
              <a:cxnSpLocks/>
              <a:endCxn id="65" idx="0"/>
            </p:cNvCxnSpPr>
            <p:nvPr/>
          </p:nvCxnSpPr>
          <p:spPr>
            <a:xfrm>
              <a:off x="2269142" y="3797865"/>
              <a:ext cx="8490" cy="17254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A7044C14-ACE9-4E51-9961-35448B8495DD}"/>
                    </a:ext>
                  </a:extLst>
                </p:cNvPr>
                <p:cNvSpPr/>
                <p:nvPr/>
              </p:nvSpPr>
              <p:spPr>
                <a:xfrm>
                  <a:off x="3456921" y="4767134"/>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zh-CN" altLang="en-US"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74" name="矩形 73">
                  <a:extLst>
                    <a:ext uri="{FF2B5EF4-FFF2-40B4-BE49-F238E27FC236}">
                      <a16:creationId xmlns:a16="http://schemas.microsoft.com/office/drawing/2014/main" xmlns:a14="http://schemas.microsoft.com/office/drawing/2010/main" xmlns="" id="{A7044C14-ACE9-4E51-9961-35448B8495DD}"/>
                    </a:ext>
                  </a:extLst>
                </p:cNvPr>
                <p:cNvSpPr>
                  <a:spLocks noRot="1" noChangeAspect="1" noMove="1" noResize="1" noEditPoints="1" noAdjustHandles="1" noChangeArrowheads="1" noChangeShapeType="1" noTextEdit="1"/>
                </p:cNvSpPr>
                <p:nvPr/>
              </p:nvSpPr>
              <p:spPr>
                <a:xfrm>
                  <a:off x="3456921" y="4767134"/>
                  <a:ext cx="906053" cy="392180"/>
                </a:xfrm>
                <a:prstGeom prst="rect">
                  <a:avLst/>
                </a:prstGeom>
                <a:blipFill rotWithShape="0">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1DB666CB-926B-4085-810A-B02C186E195C}"/>
                    </a:ext>
                  </a:extLst>
                </p:cNvPr>
                <p:cNvSpPr txBox="1"/>
                <p:nvPr/>
              </p:nvSpPr>
              <p:spPr>
                <a:xfrm>
                  <a:off x="3139076" y="3171830"/>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0</m:t>
                            </m:r>
                          </m:sub>
                        </m:sSub>
                      </m:oMath>
                    </m:oMathPara>
                  </a14:m>
                  <a:endParaRPr lang="zh-CN" altLang="en-US" sz="1600" dirty="0">
                    <a:solidFill>
                      <a:schemeClr val="tx1"/>
                    </a:solidFill>
                  </a:endParaRPr>
                </a:p>
              </p:txBody>
            </p:sp>
          </mc:Choice>
          <mc:Fallback xmlns="">
            <p:sp>
              <p:nvSpPr>
                <p:cNvPr id="75" name="文本框 74">
                  <a:extLst>
                    <a:ext uri="{FF2B5EF4-FFF2-40B4-BE49-F238E27FC236}">
                      <a16:creationId xmlns:a16="http://schemas.microsoft.com/office/drawing/2014/main" id="{1DB666CB-926B-4085-810A-B02C186E195C}"/>
                    </a:ext>
                  </a:extLst>
                </p:cNvPr>
                <p:cNvSpPr txBox="1">
                  <a:spLocks noRot="1" noChangeAspect="1" noMove="1" noResize="1" noEditPoints="1" noAdjustHandles="1" noChangeArrowheads="1" noChangeShapeType="1" noTextEdit="1"/>
                </p:cNvSpPr>
                <p:nvPr/>
              </p:nvSpPr>
              <p:spPr>
                <a:xfrm>
                  <a:off x="3139076" y="3171830"/>
                  <a:ext cx="441051" cy="33855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3D046D76-4494-4CAD-9BEE-E79167810BD1}"/>
                    </a:ext>
                  </a:extLst>
                </p:cNvPr>
                <p:cNvSpPr txBox="1"/>
                <p:nvPr/>
              </p:nvSpPr>
              <p:spPr>
                <a:xfrm>
                  <a:off x="3468897" y="3171830"/>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2</m:t>
                            </m:r>
                          </m:sub>
                        </m:sSub>
                      </m:oMath>
                    </m:oMathPara>
                  </a14:m>
                  <a:endParaRPr lang="zh-CN" altLang="en-US" sz="1600" dirty="0">
                    <a:solidFill>
                      <a:schemeClr val="tx1"/>
                    </a:solidFill>
                  </a:endParaRPr>
                </a:p>
              </p:txBody>
            </p:sp>
          </mc:Choice>
          <mc:Fallback xmlns="">
            <p:sp>
              <p:nvSpPr>
                <p:cNvPr id="77" name="文本框 76">
                  <a:extLst>
                    <a:ext uri="{FF2B5EF4-FFF2-40B4-BE49-F238E27FC236}">
                      <a16:creationId xmlns:a16="http://schemas.microsoft.com/office/drawing/2014/main" id="{3D046D76-4494-4CAD-9BEE-E79167810BD1}"/>
                    </a:ext>
                  </a:extLst>
                </p:cNvPr>
                <p:cNvSpPr txBox="1">
                  <a:spLocks noRot="1" noChangeAspect="1" noMove="1" noResize="1" noEditPoints="1" noAdjustHandles="1" noChangeArrowheads="1" noChangeShapeType="1" noTextEdit="1"/>
                </p:cNvSpPr>
                <p:nvPr/>
              </p:nvSpPr>
              <p:spPr>
                <a:xfrm>
                  <a:off x="3468897" y="3171830"/>
                  <a:ext cx="441051" cy="33855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B1AAD856-1EFF-44BC-9B75-BA93D3C75E77}"/>
                    </a:ext>
                  </a:extLst>
                </p:cNvPr>
                <p:cNvSpPr txBox="1"/>
                <p:nvPr/>
              </p:nvSpPr>
              <p:spPr>
                <a:xfrm>
                  <a:off x="3786048" y="3171830"/>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8</m:t>
                            </m:r>
                          </m:sub>
                        </m:sSub>
                      </m:oMath>
                    </m:oMathPara>
                  </a14:m>
                  <a:endParaRPr lang="zh-CN" altLang="en-US" sz="1600" dirty="0">
                    <a:solidFill>
                      <a:schemeClr val="tx1"/>
                    </a:solidFill>
                  </a:endParaRPr>
                </a:p>
              </p:txBody>
            </p:sp>
          </mc:Choice>
          <mc:Fallback xmlns="">
            <p:sp>
              <p:nvSpPr>
                <p:cNvPr id="79" name="文本框 78">
                  <a:extLst>
                    <a:ext uri="{FF2B5EF4-FFF2-40B4-BE49-F238E27FC236}">
                      <a16:creationId xmlns:a16="http://schemas.microsoft.com/office/drawing/2014/main" id="{B1AAD856-1EFF-44BC-9B75-BA93D3C75E77}"/>
                    </a:ext>
                  </a:extLst>
                </p:cNvPr>
                <p:cNvSpPr txBox="1">
                  <a:spLocks noRot="1" noChangeAspect="1" noMove="1" noResize="1" noEditPoints="1" noAdjustHandles="1" noChangeArrowheads="1" noChangeShapeType="1" noTextEdit="1"/>
                </p:cNvSpPr>
                <p:nvPr/>
              </p:nvSpPr>
              <p:spPr>
                <a:xfrm>
                  <a:off x="3786048" y="3171830"/>
                  <a:ext cx="441051" cy="33855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9664B66B-5A3F-4407-9935-0E66BCF6DFC4}"/>
                    </a:ext>
                  </a:extLst>
                </p:cNvPr>
                <p:cNvSpPr txBox="1"/>
                <p:nvPr/>
              </p:nvSpPr>
              <p:spPr>
                <a:xfrm>
                  <a:off x="4108952" y="3171830"/>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13</m:t>
                            </m:r>
                          </m:sub>
                        </m:sSub>
                      </m:oMath>
                    </m:oMathPara>
                  </a14:m>
                  <a:endParaRPr lang="zh-CN" altLang="en-US" sz="1600" dirty="0">
                    <a:solidFill>
                      <a:schemeClr val="tx1"/>
                    </a:solidFill>
                  </a:endParaRPr>
                </a:p>
              </p:txBody>
            </p:sp>
          </mc:Choice>
          <mc:Fallback xmlns="">
            <p:sp>
              <p:nvSpPr>
                <p:cNvPr id="80" name="文本框 79">
                  <a:extLst>
                    <a:ext uri="{FF2B5EF4-FFF2-40B4-BE49-F238E27FC236}">
                      <a16:creationId xmlns:a16="http://schemas.microsoft.com/office/drawing/2014/main" id="{9664B66B-5A3F-4407-9935-0E66BCF6DFC4}"/>
                    </a:ext>
                  </a:extLst>
                </p:cNvPr>
                <p:cNvSpPr txBox="1">
                  <a:spLocks noRot="1" noChangeAspect="1" noMove="1" noResize="1" noEditPoints="1" noAdjustHandles="1" noChangeArrowheads="1" noChangeShapeType="1" noTextEdit="1"/>
                </p:cNvSpPr>
                <p:nvPr/>
              </p:nvSpPr>
              <p:spPr>
                <a:xfrm>
                  <a:off x="4108952" y="3171830"/>
                  <a:ext cx="441051" cy="338554"/>
                </a:xfrm>
                <a:prstGeom prst="rect">
                  <a:avLst/>
                </a:prstGeom>
                <a:blipFill>
                  <a:blip r:embed="rId14"/>
                  <a:stretch>
                    <a:fillRect r="-6944"/>
                  </a:stretch>
                </a:blipFill>
              </p:spPr>
              <p:txBody>
                <a:bodyPr/>
                <a:lstStyle/>
                <a:p>
                  <a:r>
                    <a:rPr lang="zh-CN" altLang="en-US">
                      <a:noFill/>
                    </a:rPr>
                    <a:t> </a:t>
                  </a:r>
                </a:p>
              </p:txBody>
            </p:sp>
          </mc:Fallback>
        </mc:AlternateContent>
        <p:sp>
          <p:nvSpPr>
            <p:cNvPr id="81" name="流程图: 或者 80">
              <a:extLst>
                <a:ext uri="{FF2B5EF4-FFF2-40B4-BE49-F238E27FC236}">
                  <a16:creationId xmlns:a16="http://schemas.microsoft.com/office/drawing/2014/main" id="{2A549E2A-AD43-48C3-B8E8-6D94403A9872}"/>
                </a:ext>
              </a:extLst>
            </p:cNvPr>
            <p:cNvSpPr/>
            <p:nvPr/>
          </p:nvSpPr>
          <p:spPr>
            <a:xfrm>
              <a:off x="3713748" y="40561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箭头连接符 86">
              <a:extLst>
                <a:ext uri="{FF2B5EF4-FFF2-40B4-BE49-F238E27FC236}">
                  <a16:creationId xmlns:a16="http://schemas.microsoft.com/office/drawing/2014/main" id="{791B00E4-247D-4AA7-A44E-1C86D9980EA2}"/>
                </a:ext>
              </a:extLst>
            </p:cNvPr>
            <p:cNvCxnSpPr>
              <a:cxnSpLocks/>
              <a:stCxn id="75" idx="2"/>
              <a:endCxn id="81" idx="1"/>
            </p:cNvCxnSpPr>
            <p:nvPr/>
          </p:nvCxnSpPr>
          <p:spPr>
            <a:xfrm>
              <a:off x="3359602" y="3510384"/>
              <a:ext cx="411612" cy="6031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0" name="直接箭头连接符 89">
              <a:extLst>
                <a:ext uri="{FF2B5EF4-FFF2-40B4-BE49-F238E27FC236}">
                  <a16:creationId xmlns:a16="http://schemas.microsoft.com/office/drawing/2014/main" id="{8DB44F24-AF5F-4046-8729-D60AD09B33F5}"/>
                </a:ext>
              </a:extLst>
            </p:cNvPr>
            <p:cNvCxnSpPr>
              <a:cxnSpLocks/>
              <a:stCxn id="77" idx="2"/>
              <a:endCxn id="81" idx="0"/>
            </p:cNvCxnSpPr>
            <p:nvPr/>
          </p:nvCxnSpPr>
          <p:spPr>
            <a:xfrm>
              <a:off x="3689423" y="3510384"/>
              <a:ext cx="220525" cy="5457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3" name="直接箭头连接符 92">
              <a:extLst>
                <a:ext uri="{FF2B5EF4-FFF2-40B4-BE49-F238E27FC236}">
                  <a16:creationId xmlns:a16="http://schemas.microsoft.com/office/drawing/2014/main" id="{6A4EE1A6-AD80-49C3-B0C5-B067CF0DD6EE}"/>
                </a:ext>
              </a:extLst>
            </p:cNvPr>
            <p:cNvCxnSpPr>
              <a:cxnSpLocks/>
              <a:stCxn id="79" idx="2"/>
              <a:endCxn id="81" idx="0"/>
            </p:cNvCxnSpPr>
            <p:nvPr/>
          </p:nvCxnSpPr>
          <p:spPr>
            <a:xfrm flipH="1">
              <a:off x="3909948" y="3510384"/>
              <a:ext cx="96626" cy="5457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6" name="直接箭头连接符 95">
              <a:extLst>
                <a:ext uri="{FF2B5EF4-FFF2-40B4-BE49-F238E27FC236}">
                  <a16:creationId xmlns:a16="http://schemas.microsoft.com/office/drawing/2014/main" id="{E2C7E7A7-96CE-4204-9FB7-033B4A1AC392}"/>
                </a:ext>
              </a:extLst>
            </p:cNvPr>
            <p:cNvCxnSpPr>
              <a:cxnSpLocks/>
              <a:stCxn id="80" idx="2"/>
              <a:endCxn id="81" idx="7"/>
            </p:cNvCxnSpPr>
            <p:nvPr/>
          </p:nvCxnSpPr>
          <p:spPr>
            <a:xfrm flipH="1">
              <a:off x="4048682" y="3510384"/>
              <a:ext cx="280796" cy="6031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1" name="直接箭头连接符 100">
              <a:extLst>
                <a:ext uri="{FF2B5EF4-FFF2-40B4-BE49-F238E27FC236}">
                  <a16:creationId xmlns:a16="http://schemas.microsoft.com/office/drawing/2014/main" id="{25C43A25-23E0-4600-98EE-36178375CFCE}"/>
                </a:ext>
              </a:extLst>
            </p:cNvPr>
            <p:cNvCxnSpPr>
              <a:cxnSpLocks/>
              <a:stCxn id="81" idx="4"/>
              <a:endCxn id="74" idx="0"/>
            </p:cNvCxnSpPr>
            <p:nvPr/>
          </p:nvCxnSpPr>
          <p:spPr>
            <a:xfrm>
              <a:off x="3909948" y="4448283"/>
              <a:ext cx="0" cy="318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4" name="连接符: 肘形 103">
              <a:extLst>
                <a:ext uri="{FF2B5EF4-FFF2-40B4-BE49-F238E27FC236}">
                  <a16:creationId xmlns:a16="http://schemas.microsoft.com/office/drawing/2014/main" id="{B70FB066-F5E9-470C-9059-635018A6BC81}"/>
                </a:ext>
              </a:extLst>
            </p:cNvPr>
            <p:cNvCxnSpPr>
              <a:cxnSpLocks/>
              <a:stCxn id="74" idx="2"/>
              <a:endCxn id="66" idx="0"/>
            </p:cNvCxnSpPr>
            <p:nvPr/>
          </p:nvCxnSpPr>
          <p:spPr>
            <a:xfrm rot="5400000">
              <a:off x="3169789" y="4783157"/>
              <a:ext cx="364002" cy="111631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矩形 106">
                  <a:extLst>
                    <a:ext uri="{FF2B5EF4-FFF2-40B4-BE49-F238E27FC236}">
                      <a16:creationId xmlns:a16="http://schemas.microsoft.com/office/drawing/2014/main" id="{5D629D6A-EA84-4AE8-A532-D38709A243BC}"/>
                    </a:ext>
                  </a:extLst>
                </p:cNvPr>
                <p:cNvSpPr/>
                <p:nvPr/>
              </p:nvSpPr>
              <p:spPr>
                <a:xfrm>
                  <a:off x="4584122" y="5523316"/>
                  <a:ext cx="515997" cy="392180"/>
                </a:xfrm>
                <a:prstGeom prst="rect">
                  <a:avLst/>
                </a:prstGeom>
                <a:solidFill>
                  <a:srgbClr val="B4C7E7"/>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𝑡</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7" name="矩形 106">
                  <a:extLst>
                    <a:ext uri="{FF2B5EF4-FFF2-40B4-BE49-F238E27FC236}">
                      <a16:creationId xmlns:a16="http://schemas.microsoft.com/office/drawing/2014/main" id="{5D629D6A-EA84-4AE8-A532-D38709A243BC}"/>
                    </a:ext>
                  </a:extLst>
                </p:cNvPr>
                <p:cNvSpPr>
                  <a:spLocks noRot="1" noChangeAspect="1" noMove="1" noResize="1" noEditPoints="1" noAdjustHandles="1" noChangeArrowheads="1" noChangeShapeType="1" noTextEdit="1"/>
                </p:cNvSpPr>
                <p:nvPr/>
              </p:nvSpPr>
              <p:spPr>
                <a:xfrm>
                  <a:off x="4584122" y="5523316"/>
                  <a:ext cx="515997" cy="392180"/>
                </a:xfrm>
                <a:prstGeom prst="rect">
                  <a:avLst/>
                </a:prstGeom>
                <a:blipFill>
                  <a:blip r:embed="rId15"/>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矩形 108">
                  <a:extLst>
                    <a:ext uri="{FF2B5EF4-FFF2-40B4-BE49-F238E27FC236}">
                      <a16:creationId xmlns:a16="http://schemas.microsoft.com/office/drawing/2014/main" id="{A86C119B-6B96-4743-9C3C-4EA1A565A6F7}"/>
                    </a:ext>
                  </a:extLst>
                </p:cNvPr>
                <p:cNvSpPr/>
                <p:nvPr/>
              </p:nvSpPr>
              <p:spPr>
                <a:xfrm>
                  <a:off x="5505411" y="4767134"/>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zh-CN" altLang="en-US"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09" name="矩形 108">
                  <a:extLst>
                    <a:ext uri="{FF2B5EF4-FFF2-40B4-BE49-F238E27FC236}">
                      <a16:creationId xmlns:a16="http://schemas.microsoft.com/office/drawing/2014/main" xmlns:a14="http://schemas.microsoft.com/office/drawing/2010/main" xmlns="" id="{A86C119B-6B96-4743-9C3C-4EA1A565A6F7}"/>
                    </a:ext>
                  </a:extLst>
                </p:cNvPr>
                <p:cNvSpPr>
                  <a:spLocks noRot="1" noChangeAspect="1" noMove="1" noResize="1" noEditPoints="1" noAdjustHandles="1" noChangeArrowheads="1" noChangeShapeType="1" noTextEdit="1"/>
                </p:cNvSpPr>
                <p:nvPr/>
              </p:nvSpPr>
              <p:spPr>
                <a:xfrm>
                  <a:off x="5505411" y="4767134"/>
                  <a:ext cx="906053" cy="392180"/>
                </a:xfrm>
                <a:prstGeom prst="rect">
                  <a:avLst/>
                </a:prstGeom>
                <a:blipFill rotWithShape="0">
                  <a:blip r:embed="rId1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A3C145FB-7620-41E5-995B-88FC8F9723E8}"/>
                    </a:ext>
                  </a:extLst>
                </p:cNvPr>
                <p:cNvSpPr txBox="1"/>
                <p:nvPr/>
              </p:nvSpPr>
              <p:spPr>
                <a:xfrm>
                  <a:off x="4973958" y="3189427"/>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𝑡</m:t>
                            </m:r>
                            <m:r>
                              <a:rPr lang="en-US" altLang="zh-CN" sz="1600" b="0" i="1" dirty="0" smtClean="0">
                                <a:solidFill>
                                  <a:schemeClr val="tx1"/>
                                </a:solidFill>
                                <a:latin typeface="Cambria Math" panose="02040503050406030204" pitchFamily="18" charset="0"/>
                              </a:rPr>
                              <m:t>−16</m:t>
                            </m:r>
                          </m:sub>
                        </m:sSub>
                      </m:oMath>
                    </m:oMathPara>
                  </a14:m>
                  <a:endParaRPr lang="zh-CN" altLang="en-US" sz="1600" dirty="0">
                    <a:solidFill>
                      <a:schemeClr val="tx1"/>
                    </a:solidFill>
                  </a:endParaRPr>
                </a:p>
              </p:txBody>
            </p:sp>
          </mc:Choice>
          <mc:Fallback xmlns="">
            <p:sp>
              <p:nvSpPr>
                <p:cNvPr id="113" name="文本框 112">
                  <a:extLst>
                    <a:ext uri="{FF2B5EF4-FFF2-40B4-BE49-F238E27FC236}">
                      <a16:creationId xmlns:a16="http://schemas.microsoft.com/office/drawing/2014/main" id="{A3C145FB-7620-41E5-995B-88FC8F9723E8}"/>
                    </a:ext>
                  </a:extLst>
                </p:cNvPr>
                <p:cNvSpPr txBox="1">
                  <a:spLocks noRot="1" noChangeAspect="1" noMove="1" noResize="1" noEditPoints="1" noAdjustHandles="1" noChangeArrowheads="1" noChangeShapeType="1" noTextEdit="1"/>
                </p:cNvSpPr>
                <p:nvPr/>
              </p:nvSpPr>
              <p:spPr>
                <a:xfrm>
                  <a:off x="4973958" y="3189427"/>
                  <a:ext cx="441051" cy="338554"/>
                </a:xfrm>
                <a:prstGeom prst="rect">
                  <a:avLst/>
                </a:prstGeom>
                <a:blipFill>
                  <a:blip r:embed="rId17"/>
                  <a:stretch>
                    <a:fillRect r="-486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7CE93CB4-1D65-4203-A50D-A7C478B625C9}"/>
                    </a:ext>
                  </a:extLst>
                </p:cNvPr>
                <p:cNvSpPr txBox="1"/>
                <p:nvPr/>
              </p:nvSpPr>
              <p:spPr>
                <a:xfrm>
                  <a:off x="5517387" y="3171830"/>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𝑡</m:t>
                            </m:r>
                            <m:r>
                              <a:rPr lang="en-US" altLang="zh-CN" sz="1600" b="0" i="1" dirty="0" smtClean="0">
                                <a:solidFill>
                                  <a:schemeClr val="tx1"/>
                                </a:solidFill>
                                <a:latin typeface="Cambria Math" panose="02040503050406030204" pitchFamily="18" charset="0"/>
                              </a:rPr>
                              <m:t>−14</m:t>
                            </m:r>
                          </m:sub>
                        </m:sSub>
                      </m:oMath>
                    </m:oMathPara>
                  </a14:m>
                  <a:endParaRPr lang="zh-CN" altLang="en-US" sz="1600" dirty="0">
                    <a:solidFill>
                      <a:schemeClr val="tx1"/>
                    </a:solidFill>
                  </a:endParaRPr>
                </a:p>
              </p:txBody>
            </p:sp>
          </mc:Choice>
          <mc:Fallback xmlns="">
            <p:sp>
              <p:nvSpPr>
                <p:cNvPr id="114" name="文本框 113">
                  <a:extLst>
                    <a:ext uri="{FF2B5EF4-FFF2-40B4-BE49-F238E27FC236}">
                      <a16:creationId xmlns:a16="http://schemas.microsoft.com/office/drawing/2014/main" id="{7CE93CB4-1D65-4203-A50D-A7C478B625C9}"/>
                    </a:ext>
                  </a:extLst>
                </p:cNvPr>
                <p:cNvSpPr txBox="1">
                  <a:spLocks noRot="1" noChangeAspect="1" noMove="1" noResize="1" noEditPoints="1" noAdjustHandles="1" noChangeArrowheads="1" noChangeShapeType="1" noTextEdit="1"/>
                </p:cNvSpPr>
                <p:nvPr/>
              </p:nvSpPr>
              <p:spPr>
                <a:xfrm>
                  <a:off x="5517387" y="3171830"/>
                  <a:ext cx="441051" cy="338554"/>
                </a:xfrm>
                <a:prstGeom prst="rect">
                  <a:avLst/>
                </a:prstGeom>
                <a:blipFill>
                  <a:blip r:embed="rId18"/>
                  <a:stretch>
                    <a:fillRect r="-486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9022B74B-94EF-44EC-8815-D92834CE1A30}"/>
                    </a:ext>
                  </a:extLst>
                </p:cNvPr>
                <p:cNvSpPr txBox="1"/>
                <p:nvPr/>
              </p:nvSpPr>
              <p:spPr>
                <a:xfrm>
                  <a:off x="6098909" y="3172932"/>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𝑡</m:t>
                            </m:r>
                            <m:r>
                              <a:rPr lang="en-US" altLang="zh-CN" sz="1600" b="0" i="1" dirty="0" smtClean="0">
                                <a:solidFill>
                                  <a:schemeClr val="tx1"/>
                                </a:solidFill>
                                <a:latin typeface="Cambria Math" panose="02040503050406030204" pitchFamily="18" charset="0"/>
                              </a:rPr>
                              <m:t>−8</m:t>
                            </m:r>
                          </m:sub>
                        </m:sSub>
                      </m:oMath>
                    </m:oMathPara>
                  </a14:m>
                  <a:endParaRPr lang="zh-CN" altLang="en-US" sz="1600" dirty="0">
                    <a:solidFill>
                      <a:schemeClr val="tx1"/>
                    </a:solidFill>
                  </a:endParaRPr>
                </a:p>
              </p:txBody>
            </p:sp>
          </mc:Choice>
          <mc:Fallback xmlns="">
            <p:sp>
              <p:nvSpPr>
                <p:cNvPr id="117" name="文本框 116">
                  <a:extLst>
                    <a:ext uri="{FF2B5EF4-FFF2-40B4-BE49-F238E27FC236}">
                      <a16:creationId xmlns:a16="http://schemas.microsoft.com/office/drawing/2014/main" id="{9022B74B-94EF-44EC-8815-D92834CE1A30}"/>
                    </a:ext>
                  </a:extLst>
                </p:cNvPr>
                <p:cNvSpPr txBox="1">
                  <a:spLocks noRot="1" noChangeAspect="1" noMove="1" noResize="1" noEditPoints="1" noAdjustHandles="1" noChangeArrowheads="1" noChangeShapeType="1" noTextEdit="1"/>
                </p:cNvSpPr>
                <p:nvPr/>
              </p:nvSpPr>
              <p:spPr>
                <a:xfrm>
                  <a:off x="6098909" y="3172932"/>
                  <a:ext cx="441051" cy="338554"/>
                </a:xfrm>
                <a:prstGeom prst="rect">
                  <a:avLst/>
                </a:prstGeom>
                <a:blipFill>
                  <a:blip r:embed="rId19"/>
                  <a:stretch>
                    <a:fillRect r="-27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653A2988-EA38-43D4-9D99-44C1DBD09EFE}"/>
                    </a:ext>
                  </a:extLst>
                </p:cNvPr>
                <p:cNvSpPr txBox="1"/>
                <p:nvPr/>
              </p:nvSpPr>
              <p:spPr>
                <a:xfrm>
                  <a:off x="6558424" y="3183254"/>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𝑡</m:t>
                            </m:r>
                            <m:r>
                              <a:rPr lang="en-US" altLang="zh-CN" sz="1600" b="0" i="1" dirty="0" smtClean="0">
                                <a:solidFill>
                                  <a:schemeClr val="tx1"/>
                                </a:solidFill>
                                <a:latin typeface="Cambria Math" panose="02040503050406030204" pitchFamily="18" charset="0"/>
                              </a:rPr>
                              <m:t>−3</m:t>
                            </m:r>
                          </m:sub>
                        </m:sSub>
                      </m:oMath>
                    </m:oMathPara>
                  </a14:m>
                  <a:endParaRPr lang="zh-CN" altLang="en-US" sz="1600" dirty="0">
                    <a:solidFill>
                      <a:schemeClr val="tx1"/>
                    </a:solidFill>
                  </a:endParaRPr>
                </a:p>
              </p:txBody>
            </p:sp>
          </mc:Choice>
          <mc:Fallback xmlns="">
            <p:sp>
              <p:nvSpPr>
                <p:cNvPr id="119" name="文本框 118">
                  <a:extLst>
                    <a:ext uri="{FF2B5EF4-FFF2-40B4-BE49-F238E27FC236}">
                      <a16:creationId xmlns:a16="http://schemas.microsoft.com/office/drawing/2014/main" id="{653A2988-EA38-43D4-9D99-44C1DBD09EFE}"/>
                    </a:ext>
                  </a:extLst>
                </p:cNvPr>
                <p:cNvSpPr txBox="1">
                  <a:spLocks noRot="1" noChangeAspect="1" noMove="1" noResize="1" noEditPoints="1" noAdjustHandles="1" noChangeArrowheads="1" noChangeShapeType="1" noTextEdit="1"/>
                </p:cNvSpPr>
                <p:nvPr/>
              </p:nvSpPr>
              <p:spPr>
                <a:xfrm>
                  <a:off x="6558424" y="3183254"/>
                  <a:ext cx="441051" cy="338554"/>
                </a:xfrm>
                <a:prstGeom prst="rect">
                  <a:avLst/>
                </a:prstGeom>
                <a:blipFill>
                  <a:blip r:embed="rId20"/>
                  <a:stretch>
                    <a:fillRect r="-29167"/>
                  </a:stretch>
                </a:blipFill>
              </p:spPr>
              <p:txBody>
                <a:bodyPr/>
                <a:lstStyle/>
                <a:p>
                  <a:r>
                    <a:rPr lang="zh-CN" altLang="en-US">
                      <a:noFill/>
                    </a:rPr>
                    <a:t> </a:t>
                  </a:r>
                </a:p>
              </p:txBody>
            </p:sp>
          </mc:Fallback>
        </mc:AlternateContent>
        <p:sp>
          <p:nvSpPr>
            <p:cNvPr id="120" name="流程图: 或者 119">
              <a:extLst>
                <a:ext uri="{FF2B5EF4-FFF2-40B4-BE49-F238E27FC236}">
                  <a16:creationId xmlns:a16="http://schemas.microsoft.com/office/drawing/2014/main" id="{7EBFEDCA-7BB1-43E2-A4A2-335B93EC053A}"/>
                </a:ext>
              </a:extLst>
            </p:cNvPr>
            <p:cNvSpPr/>
            <p:nvPr/>
          </p:nvSpPr>
          <p:spPr>
            <a:xfrm>
              <a:off x="5762238" y="40561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 name="直接箭头连接符 120">
              <a:extLst>
                <a:ext uri="{FF2B5EF4-FFF2-40B4-BE49-F238E27FC236}">
                  <a16:creationId xmlns:a16="http://schemas.microsoft.com/office/drawing/2014/main" id="{A6E10282-EBDA-4356-B236-F1C2AB30BDC6}"/>
                </a:ext>
              </a:extLst>
            </p:cNvPr>
            <p:cNvCxnSpPr>
              <a:cxnSpLocks/>
              <a:stCxn id="113" idx="2"/>
              <a:endCxn id="120" idx="1"/>
            </p:cNvCxnSpPr>
            <p:nvPr/>
          </p:nvCxnSpPr>
          <p:spPr>
            <a:xfrm>
              <a:off x="5194484" y="3527981"/>
              <a:ext cx="625220" cy="5855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2" name="直接箭头连接符 121">
              <a:extLst>
                <a:ext uri="{FF2B5EF4-FFF2-40B4-BE49-F238E27FC236}">
                  <a16:creationId xmlns:a16="http://schemas.microsoft.com/office/drawing/2014/main" id="{F3A7848E-A94F-476F-965F-BD9C5E87A2D8}"/>
                </a:ext>
              </a:extLst>
            </p:cNvPr>
            <p:cNvCxnSpPr>
              <a:cxnSpLocks/>
              <a:stCxn id="114" idx="2"/>
              <a:endCxn id="120" idx="0"/>
            </p:cNvCxnSpPr>
            <p:nvPr/>
          </p:nvCxnSpPr>
          <p:spPr>
            <a:xfrm>
              <a:off x="5737913" y="3510384"/>
              <a:ext cx="220525" cy="5457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3" name="直接箭头连接符 122">
              <a:extLst>
                <a:ext uri="{FF2B5EF4-FFF2-40B4-BE49-F238E27FC236}">
                  <a16:creationId xmlns:a16="http://schemas.microsoft.com/office/drawing/2014/main" id="{37B9E458-3B90-4698-9EDF-340CE7D7CDC9}"/>
                </a:ext>
              </a:extLst>
            </p:cNvPr>
            <p:cNvCxnSpPr>
              <a:cxnSpLocks/>
              <a:stCxn id="117" idx="2"/>
              <a:endCxn id="120" idx="0"/>
            </p:cNvCxnSpPr>
            <p:nvPr/>
          </p:nvCxnSpPr>
          <p:spPr>
            <a:xfrm flipH="1">
              <a:off x="5958438" y="3511486"/>
              <a:ext cx="360997" cy="5446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5" name="直接箭头连接符 124">
              <a:extLst>
                <a:ext uri="{FF2B5EF4-FFF2-40B4-BE49-F238E27FC236}">
                  <a16:creationId xmlns:a16="http://schemas.microsoft.com/office/drawing/2014/main" id="{46E3C6ED-717A-4BCC-8CC8-63F71B28F4C9}"/>
                </a:ext>
              </a:extLst>
            </p:cNvPr>
            <p:cNvCxnSpPr>
              <a:cxnSpLocks/>
              <a:stCxn id="119" idx="2"/>
              <a:endCxn id="120" idx="7"/>
            </p:cNvCxnSpPr>
            <p:nvPr/>
          </p:nvCxnSpPr>
          <p:spPr>
            <a:xfrm flipH="1">
              <a:off x="6097172" y="3521808"/>
              <a:ext cx="681778" cy="5917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6" name="直接箭头连接符 125">
              <a:extLst>
                <a:ext uri="{FF2B5EF4-FFF2-40B4-BE49-F238E27FC236}">
                  <a16:creationId xmlns:a16="http://schemas.microsoft.com/office/drawing/2014/main" id="{B589823D-96FB-439F-BE88-E14F93D76B39}"/>
                </a:ext>
              </a:extLst>
            </p:cNvPr>
            <p:cNvCxnSpPr>
              <a:cxnSpLocks/>
              <a:stCxn id="120" idx="4"/>
              <a:endCxn id="109" idx="0"/>
            </p:cNvCxnSpPr>
            <p:nvPr/>
          </p:nvCxnSpPr>
          <p:spPr>
            <a:xfrm>
              <a:off x="5958438" y="4448283"/>
              <a:ext cx="0" cy="318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7" name="连接符: 肘形 126">
              <a:extLst>
                <a:ext uri="{FF2B5EF4-FFF2-40B4-BE49-F238E27FC236}">
                  <a16:creationId xmlns:a16="http://schemas.microsoft.com/office/drawing/2014/main" id="{D814766C-A4A8-4751-9A58-1E12F68E09F0}"/>
                </a:ext>
              </a:extLst>
            </p:cNvPr>
            <p:cNvCxnSpPr>
              <a:cxnSpLocks/>
              <a:stCxn id="109" idx="2"/>
              <a:endCxn id="107" idx="0"/>
            </p:cNvCxnSpPr>
            <p:nvPr/>
          </p:nvCxnSpPr>
          <p:spPr>
            <a:xfrm rot="5400000">
              <a:off x="5218279" y="4783157"/>
              <a:ext cx="364002" cy="111631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6055A3BD-9053-4ECD-BA85-4CB368EF437B}"/>
                </a:ext>
              </a:extLst>
            </p:cNvPr>
            <p:cNvSpPr/>
            <p:nvPr/>
          </p:nvSpPr>
          <p:spPr>
            <a:xfrm>
              <a:off x="3641919" y="5580858"/>
              <a:ext cx="339476" cy="392180"/>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29" name="矩形 128">
              <a:extLst>
                <a:ext uri="{FF2B5EF4-FFF2-40B4-BE49-F238E27FC236}">
                  <a16:creationId xmlns:a16="http://schemas.microsoft.com/office/drawing/2014/main" id="{7285055F-CCC1-4529-B5F3-9E3287F465EF}"/>
                </a:ext>
              </a:extLst>
            </p:cNvPr>
            <p:cNvSpPr/>
            <p:nvPr/>
          </p:nvSpPr>
          <p:spPr>
            <a:xfrm>
              <a:off x="4634081" y="3160406"/>
              <a:ext cx="339476" cy="392180"/>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cs typeface="Times New Roman" panose="02020603050405020304" pitchFamily="18" charset="0"/>
                </a:rPr>
                <a:t>…</a:t>
              </a:r>
              <a:endParaRPr lang="zh-CN" altLang="en-US" sz="16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2" name="矩形 131">
                  <a:extLst>
                    <a:ext uri="{FF2B5EF4-FFF2-40B4-BE49-F238E27FC236}">
                      <a16:creationId xmlns:a16="http://schemas.microsoft.com/office/drawing/2014/main" id="{9263218A-2FC6-468F-8637-5159EE3A383A}"/>
                    </a:ext>
                  </a:extLst>
                </p:cNvPr>
                <p:cNvSpPr/>
                <p:nvPr/>
              </p:nvSpPr>
              <p:spPr>
                <a:xfrm>
                  <a:off x="6651089" y="5523316"/>
                  <a:ext cx="515997" cy="392180"/>
                </a:xfrm>
                <a:prstGeom prst="rect">
                  <a:avLst/>
                </a:prstGeom>
                <a:solidFill>
                  <a:srgbClr val="B4C7E7"/>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79</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32" name="矩形 131">
                  <a:extLst>
                    <a:ext uri="{FF2B5EF4-FFF2-40B4-BE49-F238E27FC236}">
                      <a16:creationId xmlns:a16="http://schemas.microsoft.com/office/drawing/2014/main" id="{9263218A-2FC6-468F-8637-5159EE3A383A}"/>
                    </a:ext>
                  </a:extLst>
                </p:cNvPr>
                <p:cNvSpPr>
                  <a:spLocks noRot="1" noChangeAspect="1" noMove="1" noResize="1" noEditPoints="1" noAdjustHandles="1" noChangeArrowheads="1" noChangeShapeType="1" noTextEdit="1"/>
                </p:cNvSpPr>
                <p:nvPr/>
              </p:nvSpPr>
              <p:spPr>
                <a:xfrm>
                  <a:off x="6651089" y="5523316"/>
                  <a:ext cx="515997" cy="392180"/>
                </a:xfrm>
                <a:prstGeom prst="rect">
                  <a:avLst/>
                </a:prstGeom>
                <a:blipFill>
                  <a:blip r:embed="rId21"/>
                  <a:stretch>
                    <a:fillRect l="-6897"/>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矩形 132">
                  <a:extLst>
                    <a:ext uri="{FF2B5EF4-FFF2-40B4-BE49-F238E27FC236}">
                      <a16:creationId xmlns:a16="http://schemas.microsoft.com/office/drawing/2014/main" id="{6F26C354-3DF3-47E4-BAD4-1DE1E682F35E}"/>
                    </a:ext>
                  </a:extLst>
                </p:cNvPr>
                <p:cNvSpPr/>
                <p:nvPr/>
              </p:nvSpPr>
              <p:spPr>
                <a:xfrm>
                  <a:off x="7572378" y="4767134"/>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m:t>
                        </m:r>
                        <m: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&lt;&lt;</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zh-CN" altLang="en-US"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3" name="矩形 132">
                  <a:extLst>
                    <a:ext uri="{FF2B5EF4-FFF2-40B4-BE49-F238E27FC236}">
                      <a16:creationId xmlns:a16="http://schemas.microsoft.com/office/drawing/2014/main" xmlns:a14="http://schemas.microsoft.com/office/drawing/2010/main" xmlns="" id="{6F26C354-3DF3-47E4-BAD4-1DE1E682F35E}"/>
                    </a:ext>
                  </a:extLst>
                </p:cNvPr>
                <p:cNvSpPr>
                  <a:spLocks noRot="1" noChangeAspect="1" noMove="1" noResize="1" noEditPoints="1" noAdjustHandles="1" noChangeArrowheads="1" noChangeShapeType="1" noTextEdit="1"/>
                </p:cNvSpPr>
                <p:nvPr/>
              </p:nvSpPr>
              <p:spPr>
                <a:xfrm>
                  <a:off x="7572378" y="4767134"/>
                  <a:ext cx="906053" cy="392180"/>
                </a:xfrm>
                <a:prstGeom prst="rect">
                  <a:avLst/>
                </a:prstGeom>
                <a:blipFill rotWithShape="0">
                  <a:blip r:embed="rId22"/>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文本框 133">
                  <a:extLst>
                    <a:ext uri="{FF2B5EF4-FFF2-40B4-BE49-F238E27FC236}">
                      <a16:creationId xmlns:a16="http://schemas.microsoft.com/office/drawing/2014/main" id="{B688757B-BE2D-4763-9D82-2E12A190BB71}"/>
                    </a:ext>
                  </a:extLst>
                </p:cNvPr>
                <p:cNvSpPr txBox="1"/>
                <p:nvPr/>
              </p:nvSpPr>
              <p:spPr>
                <a:xfrm>
                  <a:off x="7363160" y="3169166"/>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63</m:t>
                            </m:r>
                          </m:sub>
                        </m:sSub>
                      </m:oMath>
                    </m:oMathPara>
                  </a14:m>
                  <a:endParaRPr lang="zh-CN" altLang="en-US" sz="1600" dirty="0">
                    <a:solidFill>
                      <a:schemeClr val="tx1"/>
                    </a:solidFill>
                  </a:endParaRPr>
                </a:p>
              </p:txBody>
            </p:sp>
          </mc:Choice>
          <mc:Fallback xmlns="">
            <p:sp>
              <p:nvSpPr>
                <p:cNvPr id="134" name="文本框 133">
                  <a:extLst>
                    <a:ext uri="{FF2B5EF4-FFF2-40B4-BE49-F238E27FC236}">
                      <a16:creationId xmlns:a16="http://schemas.microsoft.com/office/drawing/2014/main" id="{B688757B-BE2D-4763-9D82-2E12A190BB71}"/>
                    </a:ext>
                  </a:extLst>
                </p:cNvPr>
                <p:cNvSpPr txBox="1">
                  <a:spLocks noRot="1" noChangeAspect="1" noMove="1" noResize="1" noEditPoints="1" noAdjustHandles="1" noChangeArrowheads="1" noChangeShapeType="1" noTextEdit="1"/>
                </p:cNvSpPr>
                <p:nvPr/>
              </p:nvSpPr>
              <p:spPr>
                <a:xfrm>
                  <a:off x="7363160" y="3169166"/>
                  <a:ext cx="441051" cy="338554"/>
                </a:xfrm>
                <a:prstGeom prst="rect">
                  <a:avLst/>
                </a:prstGeom>
                <a:blipFill>
                  <a:blip r:embed="rId23"/>
                  <a:stretch>
                    <a:fillRect r="-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2C3A47F0-D260-44EF-A3AC-5C31FD0E0737}"/>
                    </a:ext>
                  </a:extLst>
                </p:cNvPr>
                <p:cNvSpPr txBox="1"/>
                <p:nvPr/>
              </p:nvSpPr>
              <p:spPr>
                <a:xfrm>
                  <a:off x="7721364" y="3183254"/>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65</m:t>
                            </m:r>
                          </m:sub>
                        </m:sSub>
                      </m:oMath>
                    </m:oMathPara>
                  </a14:m>
                  <a:endParaRPr lang="zh-CN" altLang="en-US" sz="1600" dirty="0">
                    <a:solidFill>
                      <a:schemeClr val="tx1"/>
                    </a:solidFill>
                  </a:endParaRPr>
                </a:p>
              </p:txBody>
            </p:sp>
          </mc:Choice>
          <mc:Fallback xmlns="">
            <p:sp>
              <p:nvSpPr>
                <p:cNvPr id="135" name="文本框 134">
                  <a:extLst>
                    <a:ext uri="{FF2B5EF4-FFF2-40B4-BE49-F238E27FC236}">
                      <a16:creationId xmlns:a16="http://schemas.microsoft.com/office/drawing/2014/main" id="{2C3A47F0-D260-44EF-A3AC-5C31FD0E0737}"/>
                    </a:ext>
                  </a:extLst>
                </p:cNvPr>
                <p:cNvSpPr txBox="1">
                  <a:spLocks noRot="1" noChangeAspect="1" noMove="1" noResize="1" noEditPoints="1" noAdjustHandles="1" noChangeArrowheads="1" noChangeShapeType="1" noTextEdit="1"/>
                </p:cNvSpPr>
                <p:nvPr/>
              </p:nvSpPr>
              <p:spPr>
                <a:xfrm>
                  <a:off x="7721364" y="3183254"/>
                  <a:ext cx="441051" cy="338554"/>
                </a:xfrm>
                <a:prstGeom prst="rect">
                  <a:avLst/>
                </a:prstGeom>
                <a:blipFill>
                  <a:blip r:embed="rId24"/>
                  <a:stretch>
                    <a:fillRect r="-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8849EA6F-745A-40D7-8E8C-2649920BE2F7}"/>
                    </a:ext>
                  </a:extLst>
                </p:cNvPr>
                <p:cNvSpPr txBox="1"/>
                <p:nvPr/>
              </p:nvSpPr>
              <p:spPr>
                <a:xfrm>
                  <a:off x="8089899" y="3184085"/>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71</m:t>
                            </m:r>
                          </m:sub>
                        </m:sSub>
                      </m:oMath>
                    </m:oMathPara>
                  </a14:m>
                  <a:endParaRPr lang="zh-CN" altLang="en-US" sz="1600" dirty="0">
                    <a:solidFill>
                      <a:schemeClr val="tx1"/>
                    </a:solidFill>
                  </a:endParaRPr>
                </a:p>
              </p:txBody>
            </p:sp>
          </mc:Choice>
          <mc:Fallback xmlns="">
            <p:sp>
              <p:nvSpPr>
                <p:cNvPr id="136" name="文本框 135">
                  <a:extLst>
                    <a:ext uri="{FF2B5EF4-FFF2-40B4-BE49-F238E27FC236}">
                      <a16:creationId xmlns:a16="http://schemas.microsoft.com/office/drawing/2014/main" id="{8849EA6F-745A-40D7-8E8C-2649920BE2F7}"/>
                    </a:ext>
                  </a:extLst>
                </p:cNvPr>
                <p:cNvSpPr txBox="1">
                  <a:spLocks noRot="1" noChangeAspect="1" noMove="1" noResize="1" noEditPoints="1" noAdjustHandles="1" noChangeArrowheads="1" noChangeShapeType="1" noTextEdit="1"/>
                </p:cNvSpPr>
                <p:nvPr/>
              </p:nvSpPr>
              <p:spPr>
                <a:xfrm>
                  <a:off x="8089899" y="3184085"/>
                  <a:ext cx="441051" cy="338554"/>
                </a:xfrm>
                <a:prstGeom prst="rect">
                  <a:avLst/>
                </a:prstGeom>
                <a:blipFill>
                  <a:blip r:embed="rId25"/>
                  <a:stretch>
                    <a:fillRect r="-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D80E400E-C949-4733-96B0-BE4D08940148}"/>
                    </a:ext>
                  </a:extLst>
                </p:cNvPr>
                <p:cNvSpPr txBox="1"/>
                <p:nvPr/>
              </p:nvSpPr>
              <p:spPr>
                <a:xfrm>
                  <a:off x="8433137" y="3189427"/>
                  <a:ext cx="441051"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i="1" dirty="0" smtClean="0">
                                <a:solidFill>
                                  <a:schemeClr val="tx1"/>
                                </a:solidFill>
                                <a:effectLst/>
                                <a:latin typeface="Cambria Math" panose="02040503050406030204" pitchFamily="18" charset="0"/>
                              </a:rPr>
                            </m:ctrlPr>
                          </m:sSubPr>
                          <m:e>
                            <m:r>
                              <a:rPr lang="en-US" altLang="zh-CN" sz="1600" b="0" i="1" dirty="0" smtClean="0">
                                <a:solidFill>
                                  <a:schemeClr val="tx1"/>
                                </a:solidFill>
                                <a:effectLst/>
                                <a:latin typeface="Cambria Math" panose="02040503050406030204" pitchFamily="18" charset="0"/>
                              </a:rPr>
                              <m:t>𝑊</m:t>
                            </m:r>
                          </m:e>
                          <m:sub>
                            <m:r>
                              <a:rPr lang="en-US" altLang="zh-CN" sz="1600" b="0" i="1" dirty="0" smtClean="0">
                                <a:solidFill>
                                  <a:schemeClr val="tx1"/>
                                </a:solidFill>
                                <a:latin typeface="Cambria Math" panose="02040503050406030204" pitchFamily="18" charset="0"/>
                              </a:rPr>
                              <m:t>76</m:t>
                            </m:r>
                          </m:sub>
                        </m:sSub>
                      </m:oMath>
                    </m:oMathPara>
                  </a14:m>
                  <a:endParaRPr lang="zh-CN" altLang="en-US" sz="1600" dirty="0">
                    <a:solidFill>
                      <a:schemeClr val="tx1"/>
                    </a:solidFill>
                  </a:endParaRPr>
                </a:p>
              </p:txBody>
            </p:sp>
          </mc:Choice>
          <mc:Fallback xmlns="">
            <p:sp>
              <p:nvSpPr>
                <p:cNvPr id="137" name="文本框 136">
                  <a:extLst>
                    <a:ext uri="{FF2B5EF4-FFF2-40B4-BE49-F238E27FC236}">
                      <a16:creationId xmlns:a16="http://schemas.microsoft.com/office/drawing/2014/main" id="{D80E400E-C949-4733-96B0-BE4D08940148}"/>
                    </a:ext>
                  </a:extLst>
                </p:cNvPr>
                <p:cNvSpPr txBox="1">
                  <a:spLocks noRot="1" noChangeAspect="1" noMove="1" noResize="1" noEditPoints="1" noAdjustHandles="1" noChangeArrowheads="1" noChangeShapeType="1" noTextEdit="1"/>
                </p:cNvSpPr>
                <p:nvPr/>
              </p:nvSpPr>
              <p:spPr>
                <a:xfrm>
                  <a:off x="8433137" y="3189427"/>
                  <a:ext cx="441051" cy="338554"/>
                </a:xfrm>
                <a:prstGeom prst="rect">
                  <a:avLst/>
                </a:prstGeom>
                <a:blipFill>
                  <a:blip r:embed="rId26"/>
                  <a:stretch>
                    <a:fillRect r="-6849"/>
                  </a:stretch>
                </a:blipFill>
              </p:spPr>
              <p:txBody>
                <a:bodyPr/>
                <a:lstStyle/>
                <a:p>
                  <a:r>
                    <a:rPr lang="zh-CN" altLang="en-US">
                      <a:noFill/>
                    </a:rPr>
                    <a:t> </a:t>
                  </a:r>
                </a:p>
              </p:txBody>
            </p:sp>
          </mc:Fallback>
        </mc:AlternateContent>
        <p:sp>
          <p:nvSpPr>
            <p:cNvPr id="138" name="流程图: 或者 137">
              <a:extLst>
                <a:ext uri="{FF2B5EF4-FFF2-40B4-BE49-F238E27FC236}">
                  <a16:creationId xmlns:a16="http://schemas.microsoft.com/office/drawing/2014/main" id="{95E797F8-F4E2-41F1-BD9E-2D27CD773FC4}"/>
                </a:ext>
              </a:extLst>
            </p:cNvPr>
            <p:cNvSpPr/>
            <p:nvPr/>
          </p:nvSpPr>
          <p:spPr>
            <a:xfrm>
              <a:off x="7829205" y="40561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a:extLst>
                <a:ext uri="{FF2B5EF4-FFF2-40B4-BE49-F238E27FC236}">
                  <a16:creationId xmlns:a16="http://schemas.microsoft.com/office/drawing/2014/main" id="{104178F1-4EEF-400B-A149-C5BC5C38294C}"/>
                </a:ext>
              </a:extLst>
            </p:cNvPr>
            <p:cNvCxnSpPr>
              <a:cxnSpLocks/>
              <a:stCxn id="134" idx="2"/>
              <a:endCxn id="138" idx="1"/>
            </p:cNvCxnSpPr>
            <p:nvPr/>
          </p:nvCxnSpPr>
          <p:spPr>
            <a:xfrm>
              <a:off x="7583686" y="3507720"/>
              <a:ext cx="302985" cy="6058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0" name="直接箭头连接符 139">
              <a:extLst>
                <a:ext uri="{FF2B5EF4-FFF2-40B4-BE49-F238E27FC236}">
                  <a16:creationId xmlns:a16="http://schemas.microsoft.com/office/drawing/2014/main" id="{8625B82A-1715-4B66-AB2F-845CAB995869}"/>
                </a:ext>
              </a:extLst>
            </p:cNvPr>
            <p:cNvCxnSpPr>
              <a:cxnSpLocks/>
              <a:stCxn id="135" idx="2"/>
              <a:endCxn id="138" idx="0"/>
            </p:cNvCxnSpPr>
            <p:nvPr/>
          </p:nvCxnSpPr>
          <p:spPr>
            <a:xfrm>
              <a:off x="7941890" y="3521808"/>
              <a:ext cx="83515" cy="5342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4" name="直接箭头连接符 143">
              <a:extLst>
                <a:ext uri="{FF2B5EF4-FFF2-40B4-BE49-F238E27FC236}">
                  <a16:creationId xmlns:a16="http://schemas.microsoft.com/office/drawing/2014/main" id="{381A8BF1-8AC0-46BE-933F-13E88551F53F}"/>
                </a:ext>
              </a:extLst>
            </p:cNvPr>
            <p:cNvCxnSpPr>
              <a:cxnSpLocks/>
              <a:stCxn id="136" idx="2"/>
              <a:endCxn id="138" idx="0"/>
            </p:cNvCxnSpPr>
            <p:nvPr/>
          </p:nvCxnSpPr>
          <p:spPr>
            <a:xfrm flipH="1">
              <a:off x="8025405" y="3522639"/>
              <a:ext cx="285020" cy="5334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5" name="直接箭头连接符 144">
              <a:extLst>
                <a:ext uri="{FF2B5EF4-FFF2-40B4-BE49-F238E27FC236}">
                  <a16:creationId xmlns:a16="http://schemas.microsoft.com/office/drawing/2014/main" id="{B9B2974E-F2DB-4730-ADAF-90B22746D94D}"/>
                </a:ext>
              </a:extLst>
            </p:cNvPr>
            <p:cNvCxnSpPr>
              <a:cxnSpLocks/>
              <a:stCxn id="137" idx="2"/>
              <a:endCxn id="138" idx="7"/>
            </p:cNvCxnSpPr>
            <p:nvPr/>
          </p:nvCxnSpPr>
          <p:spPr>
            <a:xfrm flipH="1">
              <a:off x="8164139" y="3527981"/>
              <a:ext cx="489524" cy="5855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6" name="直接箭头连接符 145">
              <a:extLst>
                <a:ext uri="{FF2B5EF4-FFF2-40B4-BE49-F238E27FC236}">
                  <a16:creationId xmlns:a16="http://schemas.microsoft.com/office/drawing/2014/main" id="{62862289-667B-4FCD-A7CB-D2B6F6F3AAC4}"/>
                </a:ext>
              </a:extLst>
            </p:cNvPr>
            <p:cNvCxnSpPr>
              <a:cxnSpLocks/>
              <a:stCxn id="138" idx="4"/>
              <a:endCxn id="133" idx="0"/>
            </p:cNvCxnSpPr>
            <p:nvPr/>
          </p:nvCxnSpPr>
          <p:spPr>
            <a:xfrm>
              <a:off x="8025405" y="4448283"/>
              <a:ext cx="0" cy="318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7" name="连接符: 肘形 146">
              <a:extLst>
                <a:ext uri="{FF2B5EF4-FFF2-40B4-BE49-F238E27FC236}">
                  <a16:creationId xmlns:a16="http://schemas.microsoft.com/office/drawing/2014/main" id="{3FA14830-BC81-4F5A-A7A5-B772F5F67D80}"/>
                </a:ext>
              </a:extLst>
            </p:cNvPr>
            <p:cNvCxnSpPr>
              <a:cxnSpLocks/>
              <a:stCxn id="133" idx="2"/>
              <a:endCxn id="132" idx="0"/>
            </p:cNvCxnSpPr>
            <p:nvPr/>
          </p:nvCxnSpPr>
          <p:spPr>
            <a:xfrm rot="5400000">
              <a:off x="7285246" y="4783157"/>
              <a:ext cx="364002" cy="111631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矩形 147">
              <a:extLst>
                <a:ext uri="{FF2B5EF4-FFF2-40B4-BE49-F238E27FC236}">
                  <a16:creationId xmlns:a16="http://schemas.microsoft.com/office/drawing/2014/main" id="{32EE979B-2877-4C21-8346-E343706095AA}"/>
                </a:ext>
              </a:extLst>
            </p:cNvPr>
            <p:cNvSpPr/>
            <p:nvPr/>
          </p:nvSpPr>
          <p:spPr>
            <a:xfrm>
              <a:off x="5708886" y="5580858"/>
              <a:ext cx="339476" cy="392180"/>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49" name="矩形 148">
              <a:extLst>
                <a:ext uri="{FF2B5EF4-FFF2-40B4-BE49-F238E27FC236}">
                  <a16:creationId xmlns:a16="http://schemas.microsoft.com/office/drawing/2014/main" id="{C4F70DA5-9108-4412-AFE4-04BED3591345}"/>
                </a:ext>
              </a:extLst>
            </p:cNvPr>
            <p:cNvSpPr/>
            <p:nvPr/>
          </p:nvSpPr>
          <p:spPr>
            <a:xfrm>
              <a:off x="7108849" y="3157561"/>
              <a:ext cx="339476" cy="392180"/>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cs typeface="Times New Roman" panose="02020603050405020304" pitchFamily="18" charset="0"/>
                </a:rPr>
                <a:t>…</a:t>
              </a:r>
              <a:endParaRPr lang="zh-CN" altLang="en-US" sz="1600" dirty="0">
                <a:solidFill>
                  <a:schemeClr val="tx1"/>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502B3443-F8FD-495F-BCCD-AD5ED3B15856}"/>
                  </a:ext>
                </a:extLst>
              </p:cNvPr>
              <p:cNvSpPr txBox="1"/>
              <p:nvPr/>
            </p:nvSpPr>
            <p:spPr>
              <a:xfrm>
                <a:off x="776629" y="1987750"/>
                <a:ext cx="6390458" cy="708271"/>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𝑊</m:t>
                        </m:r>
                      </m:e>
                      <m:sub>
                        <m:r>
                          <a:rPr lang="zh-CN" altLang="en-US" i="1" dirty="0" smtClean="0">
                            <a:latin typeface="Cambria Math" panose="02040503050406030204" pitchFamily="18" charset="0"/>
                          </a:rPr>
                          <m:t>𝑡</m:t>
                        </m:r>
                      </m:sub>
                    </m:sSub>
                    <m:r>
                      <a:rPr lang="zh-CN" altLang="en-US"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𝑀</m:t>
                        </m:r>
                      </m:e>
                      <m:sub>
                        <m:r>
                          <a:rPr lang="en-US" altLang="zh-CN" i="1" dirty="0">
                            <a:latin typeface="Cambria Math" panose="02040503050406030204" pitchFamily="18" charset="0"/>
                          </a:rPr>
                          <m:t>𝑡</m:t>
                        </m:r>
                      </m:sub>
                    </m:sSub>
                    <m:r>
                      <a:rPr lang="zh-CN" altLang="en-US" i="1" dirty="0" smtClean="0">
                        <a:latin typeface="Cambria Math" panose="02040503050406030204" pitchFamily="18" charset="0"/>
                      </a:rPr>
                      <m:t>,</m:t>
                    </m:r>
                    <m:r>
                      <a:rPr lang="en-US" altLang="zh-CN" b="0" i="1" dirty="0" smtClean="0">
                        <a:latin typeface="Cambria Math" panose="02040503050406030204" pitchFamily="18" charset="0"/>
                      </a:rPr>
                      <m:t>                                                                        </m:t>
                    </m:r>
                    <m:r>
                      <a:rPr lang="en-US" altLang="zh-CN" i="1" dirty="0">
                        <a:latin typeface="Cambria Math" panose="02040503050406030204" pitchFamily="18" charset="0"/>
                        <a:cs typeface="Times New Roman" panose="02020603050405020304" pitchFamily="18" charset="0"/>
                      </a:rPr>
                      <m:t>0</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≤15 </m:t>
                    </m:r>
                  </m:oMath>
                </a14:m>
                <a:endParaRPr lang="en-US" altLang="zh-CN"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𝑊</m:t>
                        </m:r>
                      </m:e>
                      <m:sub>
                        <m:r>
                          <a:rPr lang="zh-CN" altLang="en-US" i="1" dirty="0" smtClean="0">
                            <a:latin typeface="Cambria Math" panose="02040503050406030204" pitchFamily="18" charset="0"/>
                          </a:rPr>
                          <m:t>𝑡</m:t>
                        </m:r>
                      </m:sub>
                    </m:sSub>
                    <m:r>
                      <a:rPr lang="zh-CN" altLang="en-US" i="1" dirty="0" smtClean="0">
                        <a:latin typeface="Cambria Math" panose="02040503050406030204" pitchFamily="18" charset="0"/>
                      </a:rPr>
                      <m:t>=</m:t>
                    </m:r>
                    <m:sSup>
                      <m:sSupPr>
                        <m:ctrlPr>
                          <a:rPr lang="zh-CN" altLang="en-US" i="1" dirty="0" smtClean="0">
                            <a:solidFill>
                              <a:srgbClr val="FF0000"/>
                            </a:solidFill>
                            <a:latin typeface="Cambria Math" panose="02040503050406030204" pitchFamily="18" charset="0"/>
                          </a:rPr>
                        </m:ctrlPr>
                      </m:sSupPr>
                      <m:e>
                        <m:r>
                          <a:rPr lang="en-US" altLang="zh-CN" b="0" i="1" dirty="0" smtClean="0">
                            <a:solidFill>
                              <a:srgbClr val="FF0000"/>
                            </a:solidFill>
                            <a:latin typeface="Cambria Math" panose="02040503050406030204" pitchFamily="18" charset="0"/>
                          </a:rPr>
                          <m:t>𝑆</m:t>
                        </m:r>
                      </m:e>
                      <m:sup>
                        <m:r>
                          <a:rPr lang="zh-CN" altLang="en-US" i="1" dirty="0" smtClean="0">
                            <a:solidFill>
                              <a:srgbClr val="FF0000"/>
                            </a:solidFill>
                            <a:latin typeface="Cambria Math" panose="02040503050406030204" pitchFamily="18" charset="0"/>
                          </a:rPr>
                          <m:t>1</m:t>
                        </m:r>
                      </m:sup>
                    </m:sSup>
                    <m:d>
                      <m:dPr>
                        <m:begChr m:val=""/>
                        <m:ctrlPr>
                          <a:rPr lang="zh-CN" altLang="en-US" i="1" dirty="0">
                            <a:latin typeface="Cambria Math" panose="02040503050406030204" pitchFamily="18" charset="0"/>
                          </a:rPr>
                        </m:ctrlPr>
                      </m:dPr>
                      <m:e>
                        <m:d>
                          <m:dPr>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𝑊</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−3</m:t>
                                </m:r>
                              </m:sub>
                            </m:sSub>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𝑊</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−8</m:t>
                                </m:r>
                              </m:sub>
                            </m:sSub>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𝑊</m:t>
                                </m:r>
                              </m:e>
                              <m:sub>
                                <m:r>
                                  <a:rPr lang="zh-CN" altLang="en-US" i="1" dirty="0">
                                    <a:latin typeface="Cambria Math" panose="02040503050406030204" pitchFamily="18" charset="0"/>
                                  </a:rPr>
                                  <m:t>𝑡</m:t>
                                </m:r>
                                <m:r>
                                  <a:rPr lang="zh-CN" altLang="en-US" i="1" dirty="0">
                                    <a:latin typeface="Cambria Math" panose="02040503050406030204" pitchFamily="18" charset="0"/>
                                  </a:rPr>
                                  <m:t>−14</m:t>
                                </m:r>
                              </m:sub>
                            </m:sSub>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𝑊</m:t>
                                </m:r>
                              </m:e>
                              <m:sub>
                                <m:r>
                                  <a:rPr lang="zh-CN" altLang="en-US" i="1" dirty="0">
                                    <a:latin typeface="Cambria Math" panose="02040503050406030204" pitchFamily="18" charset="0"/>
                                  </a:rPr>
                                  <m:t>𝑡</m:t>
                                </m:r>
                                <m:r>
                                  <a:rPr lang="zh-CN" altLang="en-US" i="1" dirty="0">
                                    <a:latin typeface="Cambria Math" panose="02040503050406030204" pitchFamily="18" charset="0"/>
                                  </a:rPr>
                                  <m:t>−16</m:t>
                                </m:r>
                              </m:sub>
                            </m:sSub>
                          </m:e>
                        </m:d>
                      </m:e>
                    </m:d>
                    <m:r>
                      <a:rPr lang="zh-CN" altLang="en-US" i="1" dirty="0" smtClean="0">
                        <a:latin typeface="Cambria Math" panose="02040503050406030204" pitchFamily="18" charset="0"/>
                      </a:rPr>
                      <m:t>,</m:t>
                    </m:r>
                    <m:r>
                      <a:rPr lang="en-US" altLang="zh-CN" b="0" i="1" dirty="0" smtClean="0">
                        <a:latin typeface="Cambria Math" panose="02040503050406030204" pitchFamily="18" charset="0"/>
                      </a:rPr>
                      <m:t>      16</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≤79</m:t>
                    </m:r>
                  </m:oMath>
                </a14:m>
                <a:endParaRPr lang="zh-CN" altLang="en-US" dirty="0"/>
              </a:p>
            </p:txBody>
          </p:sp>
        </mc:Choice>
        <mc:Fallback xmlns="">
          <p:sp>
            <p:nvSpPr>
              <p:cNvPr id="158" name="文本框 157">
                <a:extLst>
                  <a:ext uri="{FF2B5EF4-FFF2-40B4-BE49-F238E27FC236}">
                    <a16:creationId xmlns:a16="http://schemas.microsoft.com/office/drawing/2014/main" xmlns:a14="http://schemas.microsoft.com/office/drawing/2010/main" xmlns="" id="{502B3443-F8FD-495F-BCCD-AD5ED3B15856}"/>
                  </a:ext>
                </a:extLst>
              </p:cNvPr>
              <p:cNvSpPr txBox="1">
                <a:spLocks noRot="1" noChangeAspect="1" noMove="1" noResize="1" noEditPoints="1" noAdjustHandles="1" noChangeArrowheads="1" noChangeShapeType="1" noTextEdit="1"/>
              </p:cNvSpPr>
              <p:nvPr/>
            </p:nvSpPr>
            <p:spPr>
              <a:xfrm>
                <a:off x="776629" y="1987750"/>
                <a:ext cx="6390458" cy="708271"/>
              </a:xfrm>
              <a:prstGeom prst="rect">
                <a:avLst/>
              </a:prstGeom>
              <a:blipFill rotWithShape="0">
                <a:blip r:embed="rId27"/>
                <a:stretch>
                  <a:fillRect l="-572" t="-50000" b="-128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94390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61</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32028" y="1535876"/>
                <a:ext cx="8479944" cy="3924151"/>
              </a:xfrm>
              <a:prstGeom prst="rect">
                <a:avLst/>
              </a:prstGeom>
              <a:noFill/>
            </p:spPr>
            <p:txBody>
              <a:bodyPr wrap="square" rtlCol="0">
                <a:spAutoFit/>
              </a:bodyPr>
              <a:lstStyle/>
              <a:p>
                <a:pPr marL="342900" indent="-342900">
                  <a:lnSpc>
                    <a:spcPct val="120000"/>
                  </a:lnSpc>
                  <a:spcBef>
                    <a:spcPts val="600"/>
                  </a:spcBef>
                  <a:spcAft>
                    <a:spcPts val="600"/>
                  </a:spcAft>
                  <a:buFont typeface="Wingdings" panose="05000000000000000000" pitchFamily="2" charset="2"/>
                  <a:buChar char="l"/>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第一轮的一步迭代将 </a:t>
                </a:r>
                <a14:m>
                  <m:oMath xmlns:m="http://schemas.openxmlformats.org/officeDocument/2006/math">
                    <m:r>
                      <a:rPr lang="zh-CN" altLang="en-US" sz="2000" i="1" dirty="0" smtClean="0">
                        <a:solidFill>
                          <a:prstClr val="black"/>
                        </a:solidFill>
                        <a:latin typeface="Cambria Math" panose="02040503050406030204" pitchFamily="18" charset="0"/>
                        <a:ea typeface="微软雅黑"/>
                        <a:cs typeface="Times New Roman" panose="02020603050405020304" pitchFamily="18" charset="0"/>
                      </a:rPr>
                      <m:t>𝑎</m:t>
                    </m:r>
                    <m:r>
                      <a:rPr lang="en-US" altLang="zh-CN" sz="2000" i="1" dirty="0" smtClean="0">
                        <a:solidFill>
                          <a:prstClr val="black"/>
                        </a:solidFill>
                        <a:latin typeface="Cambria Math" panose="02040503050406030204" pitchFamily="18" charset="0"/>
                        <a:ea typeface="微软雅黑"/>
                        <a:cs typeface="Times New Roman" panose="02020603050405020304" pitchFamily="18" charset="0"/>
                      </a:rPr>
                      <m:t>,</m:t>
                    </m:r>
                    <m:r>
                      <a:rPr lang="zh-CN" altLang="en-US" sz="2000" i="1" dirty="0" smtClean="0">
                        <a:solidFill>
                          <a:prstClr val="black"/>
                        </a:solidFill>
                        <a:latin typeface="Cambria Math" panose="02040503050406030204" pitchFamily="18" charset="0"/>
                        <a:ea typeface="微软雅黑"/>
                        <a:cs typeface="Times New Roman" panose="02020603050405020304" pitchFamily="18" charset="0"/>
                      </a:rPr>
                      <m:t>𝑏</m:t>
                    </m:r>
                    <m:r>
                      <a:rPr lang="en-US" altLang="zh-CN" sz="2000" i="1" dirty="0" smtClean="0">
                        <a:solidFill>
                          <a:prstClr val="black"/>
                        </a:solidFill>
                        <a:latin typeface="Cambria Math" panose="02040503050406030204" pitchFamily="18" charset="0"/>
                        <a:ea typeface="微软雅黑"/>
                        <a:cs typeface="Times New Roman" panose="02020603050405020304" pitchFamily="18" charset="0"/>
                      </a:rPr>
                      <m:t>,</m:t>
                    </m:r>
                    <m:r>
                      <a:rPr lang="zh-CN" altLang="en-US" sz="2000" i="1" dirty="0" smtClean="0">
                        <a:solidFill>
                          <a:prstClr val="black"/>
                        </a:solidFill>
                        <a:latin typeface="Cambria Math" panose="02040503050406030204" pitchFamily="18" charset="0"/>
                        <a:ea typeface="微软雅黑"/>
                        <a:cs typeface="Times New Roman" panose="02020603050405020304" pitchFamily="18" charset="0"/>
                      </a:rPr>
                      <m:t>𝑐</m:t>
                    </m:r>
                    <m:r>
                      <a:rPr lang="en-US" altLang="zh-CN" sz="2000" i="1" dirty="0" smtClean="0">
                        <a:solidFill>
                          <a:prstClr val="black"/>
                        </a:solidFill>
                        <a:latin typeface="Cambria Math" panose="02040503050406030204" pitchFamily="18" charset="0"/>
                        <a:ea typeface="微软雅黑"/>
                        <a:cs typeface="Times New Roman" panose="02020603050405020304" pitchFamily="18" charset="0"/>
                      </a:rPr>
                      <m:t>,</m:t>
                    </m:r>
                    <m:r>
                      <a:rPr lang="zh-CN" altLang="en-US" sz="2000" i="1" dirty="0" smtClean="0">
                        <a:solidFill>
                          <a:prstClr val="black"/>
                        </a:solidFill>
                        <a:latin typeface="Cambria Math" panose="02040503050406030204" pitchFamily="18" charset="0"/>
                        <a:ea typeface="微软雅黑"/>
                        <a:cs typeface="Times New Roman" panose="02020603050405020304" pitchFamily="18" charset="0"/>
                      </a:rPr>
                      <m:t>𝑑</m:t>
                    </m:r>
                    <m:r>
                      <a:rPr lang="en-US" altLang="zh-CN" sz="2000" b="0" i="1" dirty="0" smtClean="0">
                        <a:solidFill>
                          <a:prstClr val="black"/>
                        </a:solidFill>
                        <a:latin typeface="Cambria Math" panose="02040503050406030204" pitchFamily="18" charset="0"/>
                        <a:ea typeface="微软雅黑"/>
                        <a:cs typeface="Times New Roman" panose="02020603050405020304" pitchFamily="18" charset="0"/>
                      </a:rPr>
                      <m:t>,</m:t>
                    </m:r>
                    <m:r>
                      <a:rPr lang="en-US" altLang="zh-CN" sz="2000" b="0" i="1" dirty="0" smtClean="0">
                        <a:solidFill>
                          <a:prstClr val="black"/>
                        </a:solidFill>
                        <a:latin typeface="Cambria Math" panose="02040503050406030204" pitchFamily="18" charset="0"/>
                        <a:ea typeface="微软雅黑"/>
                        <a:cs typeface="Times New Roman" panose="02020603050405020304" pitchFamily="18" charset="0"/>
                      </a:rPr>
                      <m:t>𝑒</m:t>
                    </m:r>
                    <m:r>
                      <a:rPr lang="zh-CN" altLang="en-US" sz="2000" i="1" dirty="0" smtClean="0">
                        <a:solidFill>
                          <a:prstClr val="black"/>
                        </a:solidFill>
                        <a:latin typeface="Cambria Math" panose="02040503050406030204" pitchFamily="18" charset="0"/>
                        <a:ea typeface="微软雅黑"/>
                        <a:cs typeface="Times New Roman" panose="02020603050405020304" pitchFamily="18" charset="0"/>
                      </a:rPr>
                      <m:t> </m:t>
                    </m:r>
                  </m:oMath>
                </a14:m>
                <a:r>
                  <a:rPr lang="zh-CN" altLang="en-US" sz="2000" dirty="0">
                    <a:solidFill>
                      <a:prstClr val="black"/>
                    </a:solidFill>
                    <a:latin typeface="Times New Roman" panose="02020603050405020304" pitchFamily="18" charset="0"/>
                    <a:ea typeface="微软雅黑"/>
                    <a:cs typeface="Times New Roman" panose="02020603050405020304" pitchFamily="18" charset="0"/>
                  </a:rPr>
                  <a:t>五个缓冲区的字做如下运算</a:t>
                </a: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742950" lvl="1" indent="-285750">
                  <a:lnSpc>
                    <a:spcPct val="120000"/>
                  </a:lnSpc>
                  <a:spcBef>
                    <a:spcPts val="600"/>
                  </a:spcBef>
                  <a:buFont typeface="Wingdings" panose="05000000000000000000" pitchFamily="2" charset="2"/>
                  <a:buChar char="Ø"/>
                  <a:defRPr/>
                </a:pPr>
                <a14:m>
                  <m:oMath xmlns:m="http://schemas.openxmlformats.org/officeDocument/2006/math">
                    <m:r>
                      <a:rPr lang="en-US" altLang="zh-CN" i="1" dirty="0" smtClean="0">
                        <a:solidFill>
                          <a:schemeClr val="tx1"/>
                        </a:solidFill>
                        <a:latin typeface="Cambria Math" panose="02040503050406030204" pitchFamily="18" charset="0"/>
                      </a:rPr>
                      <m:t>𝑎</m:t>
                    </m:r>
                    <m:r>
                      <a:rPr lang="en-US" altLang="zh-CN" i="1" dirty="0">
                        <a:solidFill>
                          <a:srgbClr val="0000FF"/>
                        </a:solidFill>
                        <a:latin typeface="Cambria Math" panose="02040503050406030204" pitchFamily="18" charset="0"/>
                      </a:rPr>
                      <m:t>←</m:t>
                    </m:r>
                    <m:r>
                      <a:rPr lang="en-US" altLang="zh-CN" i="1" dirty="0">
                        <a:solidFill>
                          <a:srgbClr val="0000FF"/>
                        </a:solidFill>
                        <a:latin typeface="Cambria Math" panose="02040503050406030204" pitchFamily="18" charset="0"/>
                      </a:rPr>
                      <m:t>𝑒</m:t>
                    </m:r>
                    <m:r>
                      <a:rPr lang="en-US" altLang="zh-CN" i="1" dirty="0">
                        <a:solidFill>
                          <a:srgbClr val="0000FF"/>
                        </a:solidFill>
                        <a:latin typeface="Cambria Math" panose="02040503050406030204" pitchFamily="18" charset="0"/>
                      </a:rPr>
                      <m:t>+</m:t>
                    </m:r>
                    <m:sSub>
                      <m:sSubPr>
                        <m:ctrlPr>
                          <a:rPr lang="en-US" altLang="zh-CN" i="1" dirty="0">
                            <a:solidFill>
                              <a:srgbClr val="0000FF"/>
                            </a:solidFill>
                            <a:latin typeface="Cambria Math" panose="02040503050406030204" pitchFamily="18" charset="0"/>
                          </a:rPr>
                        </m:ctrlPr>
                      </m:sSubPr>
                      <m:e>
                        <m:r>
                          <a:rPr lang="en-US" altLang="zh-CN" i="1" dirty="0">
                            <a:solidFill>
                              <a:srgbClr val="0000FF"/>
                            </a:solidFill>
                            <a:latin typeface="Cambria Math" panose="02040503050406030204" pitchFamily="18" charset="0"/>
                          </a:rPr>
                          <m:t>𝑓</m:t>
                        </m:r>
                      </m:e>
                      <m:sub>
                        <m:r>
                          <a:rPr lang="en-US" altLang="zh-CN" i="1" dirty="0">
                            <a:solidFill>
                              <a:srgbClr val="0000FF"/>
                            </a:solidFill>
                            <a:latin typeface="Cambria Math" panose="02040503050406030204" pitchFamily="18" charset="0"/>
                          </a:rPr>
                          <m:t>1</m:t>
                        </m:r>
                      </m:sub>
                    </m:sSub>
                    <m:d>
                      <m:dPr>
                        <m:ctrlPr>
                          <a:rPr lang="en-US" altLang="zh-CN" i="1" dirty="0">
                            <a:solidFill>
                              <a:srgbClr val="0000FF"/>
                            </a:solidFill>
                            <a:latin typeface="Cambria Math" panose="02040503050406030204" pitchFamily="18" charset="0"/>
                          </a:rPr>
                        </m:ctrlPr>
                      </m:dPr>
                      <m:e>
                        <m:r>
                          <a:rPr lang="en-US" altLang="zh-CN" i="1" dirty="0">
                            <a:solidFill>
                              <a:srgbClr val="0000FF"/>
                            </a:solidFill>
                            <a:latin typeface="Cambria Math" panose="02040503050406030204" pitchFamily="18" charset="0"/>
                          </a:rPr>
                          <m:t>𝑏</m:t>
                        </m:r>
                        <m:r>
                          <a:rPr lang="en-US" altLang="zh-CN" i="1" dirty="0">
                            <a:solidFill>
                              <a:srgbClr val="0000FF"/>
                            </a:solidFill>
                            <a:latin typeface="Cambria Math" panose="02040503050406030204" pitchFamily="18" charset="0"/>
                          </a:rPr>
                          <m:t>, </m:t>
                        </m:r>
                        <m:r>
                          <a:rPr lang="en-US" altLang="zh-CN" i="1" dirty="0">
                            <a:solidFill>
                              <a:srgbClr val="0000FF"/>
                            </a:solidFill>
                            <a:latin typeface="Cambria Math" panose="02040503050406030204" pitchFamily="18" charset="0"/>
                          </a:rPr>
                          <m:t>𝑐</m:t>
                        </m:r>
                        <m:r>
                          <a:rPr lang="en-US" altLang="zh-CN" i="1" dirty="0">
                            <a:solidFill>
                              <a:srgbClr val="0000FF"/>
                            </a:solidFill>
                            <a:latin typeface="Cambria Math" panose="02040503050406030204" pitchFamily="18" charset="0"/>
                          </a:rPr>
                          <m:t>, </m:t>
                        </m:r>
                        <m:r>
                          <a:rPr lang="en-US" altLang="zh-CN" i="1" dirty="0">
                            <a:solidFill>
                              <a:srgbClr val="0000FF"/>
                            </a:solidFill>
                            <a:latin typeface="Cambria Math" panose="02040503050406030204" pitchFamily="18" charset="0"/>
                          </a:rPr>
                          <m:t>𝑑</m:t>
                        </m:r>
                      </m:e>
                    </m:d>
                    <m:r>
                      <a:rPr lang="en-US" altLang="zh-CN" i="1" dirty="0">
                        <a:solidFill>
                          <a:srgbClr val="0000FF"/>
                        </a:solidFill>
                        <a:latin typeface="Cambria Math" panose="02040503050406030204" pitchFamily="18" charset="0"/>
                      </a:rPr>
                      <m:t>+(</m:t>
                    </m:r>
                    <m:r>
                      <a:rPr lang="en-US" altLang="zh-CN" i="1" dirty="0">
                        <a:solidFill>
                          <a:srgbClr val="0000FF"/>
                        </a:solidFill>
                        <a:latin typeface="Cambria Math" panose="02040503050406030204" pitchFamily="18" charset="0"/>
                      </a:rPr>
                      <m:t>𝑎</m:t>
                    </m:r>
                    <m:r>
                      <a:rPr lang="en-US" altLang="zh-CN"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lang="en-US" altLang="zh-CN" i="1" dirty="0">
                        <a:solidFill>
                          <a:srgbClr val="0000FF"/>
                        </a:solidFill>
                        <a:latin typeface="Cambria Math" panose="02040503050406030204" pitchFamily="18" charset="0"/>
                      </a:rPr>
                      <m:t>5)+</m:t>
                    </m:r>
                    <m:sSub>
                      <m:sSubPr>
                        <m:ctrlPr>
                          <a:rPr lang="en-US" altLang="zh-CN" i="1" dirty="0">
                            <a:solidFill>
                              <a:srgbClr val="0000FF"/>
                            </a:solidFill>
                            <a:latin typeface="Cambria Math" panose="02040503050406030204" pitchFamily="18" charset="0"/>
                          </a:rPr>
                        </m:ctrlPr>
                      </m:sSubPr>
                      <m:e>
                        <m:r>
                          <a:rPr lang="en-US" altLang="zh-CN" i="1" dirty="0">
                            <a:solidFill>
                              <a:srgbClr val="0000FF"/>
                            </a:solidFill>
                            <a:latin typeface="Cambria Math" panose="02040503050406030204" pitchFamily="18" charset="0"/>
                          </a:rPr>
                          <m:t>𝑊</m:t>
                        </m:r>
                      </m:e>
                      <m:sub>
                        <m:r>
                          <a:rPr lang="en-US" altLang="zh-CN" i="1" dirty="0">
                            <a:solidFill>
                              <a:srgbClr val="0000FF"/>
                            </a:solidFill>
                            <a:latin typeface="Cambria Math" panose="02040503050406030204" pitchFamily="18" charset="0"/>
                          </a:rPr>
                          <m:t>𝑡</m:t>
                        </m:r>
                      </m:sub>
                    </m:sSub>
                    <m:r>
                      <a:rPr lang="en-US" altLang="zh-CN" i="1" dirty="0">
                        <a:solidFill>
                          <a:srgbClr val="0000FF"/>
                        </a:solidFill>
                        <a:latin typeface="Cambria Math" panose="02040503050406030204" pitchFamily="18" charset="0"/>
                      </a:rPr>
                      <m:t>+</m:t>
                    </m:r>
                    <m:sSub>
                      <m:sSubPr>
                        <m:ctrlPr>
                          <a:rPr lang="en-US" altLang="zh-CN" i="1" dirty="0">
                            <a:solidFill>
                              <a:srgbClr val="0000FF"/>
                            </a:solidFill>
                            <a:latin typeface="Cambria Math" panose="02040503050406030204" pitchFamily="18" charset="0"/>
                          </a:rPr>
                        </m:ctrlPr>
                      </m:sSubPr>
                      <m:e>
                        <m:r>
                          <a:rPr lang="en-US" altLang="zh-CN" i="1" dirty="0">
                            <a:solidFill>
                              <a:srgbClr val="0000FF"/>
                            </a:solidFill>
                            <a:latin typeface="Cambria Math" panose="02040503050406030204" pitchFamily="18" charset="0"/>
                          </a:rPr>
                          <m:t>𝐾</m:t>
                        </m:r>
                      </m:e>
                      <m:sub>
                        <m:r>
                          <a:rPr lang="en-US" altLang="zh-CN" i="1" dirty="0">
                            <a:solidFill>
                              <a:srgbClr val="0000FF"/>
                            </a:solidFill>
                            <a:latin typeface="Cambria Math" panose="02040503050406030204" pitchFamily="18" charset="0"/>
                          </a:rPr>
                          <m:t>𝑡</m:t>
                        </m:r>
                      </m:sub>
                    </m:sSub>
                    <m:r>
                      <a:rPr lang="en-US" altLang="zh-CN" i="1" dirty="0">
                        <a:solidFill>
                          <a:srgbClr val="0000FF"/>
                        </a:solidFill>
                        <a:latin typeface="Cambria Math" panose="02040503050406030204" pitchFamily="18" charset="0"/>
                      </a:rPr>
                      <m:t>)</m:t>
                    </m:r>
                  </m:oMath>
                </a14:m>
                <a:endParaRPr kumimoji="0" lang="en-US" altLang="zh-CN" b="0" i="1" u="none" strike="noStrike" kern="1200" cap="none" spc="0" normalizeH="0" baseline="0" noProof="0" dirty="0">
                  <a:ln>
                    <a:noFill/>
                  </a:ln>
                  <a:solidFill>
                    <a:schemeClr val="tx1"/>
                  </a:solidFill>
                  <a:effectLst/>
                  <a:uLnTx/>
                  <a:uFillTx/>
                  <a:latin typeface="Cambria Math" panose="02040503050406030204" pitchFamily="18" charset="0"/>
                  <a:cs typeface="+mn-cs"/>
                </a:endParaRPr>
              </a:p>
              <a:p>
                <a:pPr marL="742950" lvl="1" indent="-285750">
                  <a:lnSpc>
                    <a:spcPct val="120000"/>
                  </a:lnSpc>
                  <a:spcBef>
                    <a:spcPts val="600"/>
                  </a:spcBef>
                  <a:buFont typeface="Wingdings" panose="05000000000000000000" pitchFamily="2" charset="2"/>
                  <a:buChar char="Ø"/>
                  <a:defRPr/>
                </a:pPr>
                <a14:m>
                  <m:oMath xmlns:m="http://schemas.openxmlformats.org/officeDocument/2006/math">
                    <m:r>
                      <a:rPr kumimoji="0" lang="en-US" altLang="zh-CN" b="0" i="1" u="none" strike="noStrike" kern="1200" cap="none" spc="0" normalizeH="0" baseline="0" noProof="0" smtClean="0">
                        <a:ln>
                          <a:noFill/>
                        </a:ln>
                        <a:solidFill>
                          <a:schemeClr val="tx1"/>
                        </a:solidFill>
                        <a:effectLst/>
                        <a:uLnTx/>
                        <a:uFillTx/>
                        <a:latin typeface="Cambria Math" panose="02040503050406030204" pitchFamily="18" charset="0"/>
                        <a:cs typeface="+mn-cs"/>
                      </a:rPr>
                      <m:t>𝑒</m:t>
                    </m:r>
                    <m:r>
                      <a:rPr lang="en-US" altLang="zh-CN" i="1" dirty="0">
                        <a:solidFill>
                          <a:schemeClr val="tx1"/>
                        </a:solidFill>
                        <a:latin typeface="Cambria Math" panose="02040503050406030204" pitchFamily="18" charset="0"/>
                      </a:rPr>
                      <m:t>←</m:t>
                    </m:r>
                    <m:r>
                      <a:rPr kumimoji="0" lang="en-US" altLang="zh-CN"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𝑑</m:t>
                    </m:r>
                  </m:oMath>
                </a14:m>
                <a:endParaRPr kumimoji="0" lang="en-US" altLang="zh-CN" b="0" i="1" u="none" strike="noStrike" kern="1200" cap="none" spc="0" normalizeH="0" baseline="0" noProof="0" dirty="0">
                  <a:ln>
                    <a:noFill/>
                  </a:ln>
                  <a:solidFill>
                    <a:srgbClr val="0000FF"/>
                  </a:solidFill>
                  <a:effectLst/>
                  <a:uLnTx/>
                  <a:uFillTx/>
                  <a:latin typeface="Cambria Math" panose="02040503050406030204" pitchFamily="18" charset="0"/>
                  <a:cs typeface="+mn-cs"/>
                </a:endParaRPr>
              </a:p>
              <a:p>
                <a:pPr marL="742950" lvl="1" indent="-285750">
                  <a:lnSpc>
                    <a:spcPct val="120000"/>
                  </a:lnSpc>
                  <a:spcBef>
                    <a:spcPts val="600"/>
                  </a:spcBef>
                  <a:buFont typeface="Wingdings" panose="05000000000000000000" pitchFamily="2" charset="2"/>
                  <a:buChar char="Ø"/>
                  <a:defRPr/>
                </a:pPr>
                <a14:m>
                  <m:oMath xmlns:m="http://schemas.openxmlformats.org/officeDocument/2006/math">
                    <m:r>
                      <a:rPr lang="en-US" altLang="zh-CN" i="1">
                        <a:latin typeface="Cambria Math" panose="02040503050406030204" pitchFamily="18" charset="0"/>
                      </a:rPr>
                      <m:t>𝑑</m:t>
                    </m:r>
                    <m:r>
                      <a:rPr lang="en-US" altLang="zh-CN" i="1" dirty="0">
                        <a:latin typeface="Cambria Math" panose="02040503050406030204" pitchFamily="18" charset="0"/>
                      </a:rPr>
                      <m:t>←</m:t>
                    </m:r>
                    <m:r>
                      <a:rPr lang="en-US" altLang="zh-CN" i="1" smtClean="0">
                        <a:solidFill>
                          <a:srgbClr val="0000FF"/>
                        </a:solidFill>
                        <a:latin typeface="Cambria Math" panose="02040503050406030204" pitchFamily="18" charset="0"/>
                      </a:rPr>
                      <m:t>𝑐</m:t>
                    </m:r>
                  </m:oMath>
                </a14:m>
                <a:endParaRPr lang="en-US" altLang="zh-CN" i="1" dirty="0">
                  <a:solidFill>
                    <a:srgbClr val="0000FF"/>
                  </a:solidFill>
                  <a:latin typeface="Cambria Math" panose="02040503050406030204" pitchFamily="18" charset="0"/>
                </a:endParaRPr>
              </a:p>
              <a:p>
                <a:pPr marL="742950" lvl="1" indent="-285750">
                  <a:lnSpc>
                    <a:spcPct val="120000"/>
                  </a:lnSpc>
                  <a:spcBef>
                    <a:spcPts val="600"/>
                  </a:spcBef>
                  <a:buFont typeface="Wingdings" panose="05000000000000000000" pitchFamily="2" charset="2"/>
                  <a:buChar char="Ø"/>
                  <a:defRPr/>
                </a:pPr>
                <a14:m>
                  <m:oMath xmlns:m="http://schemas.openxmlformats.org/officeDocument/2006/math">
                    <m:r>
                      <a:rPr lang="en-US" altLang="zh-CN" i="1" smtClean="0">
                        <a:solidFill>
                          <a:schemeClr val="tx1"/>
                        </a:solidFill>
                        <a:latin typeface="Cambria Math" panose="02040503050406030204" pitchFamily="18" charset="0"/>
                        <a:cs typeface="Times New Roman" panose="02020603050405020304" pitchFamily="18" charset="0"/>
                      </a:rPr>
                      <m:t>𝑐</m:t>
                    </m:r>
                    <m:r>
                      <a:rPr lang="en-US" altLang="zh-CN" i="1" dirty="0" smtClean="0">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cs typeface="Times New Roman" panose="02020603050405020304" pitchFamily="18" charset="0"/>
                      </a:rPr>
                      <m:t>𝑏</m:t>
                    </m:r>
                    <m:r>
                      <a:rPr lang="en-US" altLang="zh-CN"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&lt;&lt;&lt;30</m:t>
                    </m:r>
                  </m:oMath>
                </a14:m>
                <a:endParaRPr lang="en-US" altLang="zh-CN" dirty="0">
                  <a:solidFill>
                    <a:srgbClr val="0000FF"/>
                  </a:solidFill>
                  <a:latin typeface="Times New Roman" panose="02020603050405020304" pitchFamily="18" charset="0"/>
                  <a:cs typeface="Times New Roman" panose="02020603050405020304" pitchFamily="18" charset="0"/>
                </a:endParaRPr>
              </a:p>
              <a:p>
                <a:pPr marL="742950" lvl="1" indent="-285750">
                  <a:lnSpc>
                    <a:spcPct val="120000"/>
                  </a:lnSpc>
                  <a:spcBef>
                    <a:spcPts val="600"/>
                  </a:spcBef>
                  <a:buFont typeface="Wingdings" panose="05000000000000000000" pitchFamily="2" charset="2"/>
                  <a:buChar char="Ø"/>
                  <a:defRPr/>
                </a:pPr>
                <a14:m>
                  <m:oMath xmlns:m="http://schemas.openxmlformats.org/officeDocument/2006/math">
                    <m:r>
                      <a:rPr lang="en-US" altLang="zh-CN" i="1">
                        <a:latin typeface="Cambria Math" panose="02040503050406030204" pitchFamily="18" charset="0"/>
                        <a:cs typeface="Times New Roman" panose="02020603050405020304" pitchFamily="18" charset="0"/>
                      </a:rPr>
                      <m:t>𝑏</m:t>
                    </m:r>
                    <m:r>
                      <a:rPr lang="en-US" altLang="zh-CN" i="1" dirty="0">
                        <a:latin typeface="Cambria Math" panose="02040503050406030204" pitchFamily="18" charset="0"/>
                      </a:rPr>
                      <m:t>←</m:t>
                    </m:r>
                    <m:r>
                      <a:rPr lang="en-US" altLang="zh-CN" i="1" smtClean="0">
                        <a:solidFill>
                          <a:srgbClr val="0000FF"/>
                        </a:solidFill>
                        <a:latin typeface="Cambria Math" panose="02040503050406030204" pitchFamily="18" charset="0"/>
                        <a:cs typeface="Times New Roman" panose="02020603050405020304" pitchFamily="18" charset="0"/>
                      </a:rPr>
                      <m:t>𝑎</m:t>
                    </m:r>
                  </m:oMath>
                </a14:m>
                <a:endParaRPr lang="en-US" altLang="zh-CN" dirty="0">
                  <a:solidFill>
                    <a:srgbClr val="0000FF"/>
                  </a:solidFill>
                  <a:latin typeface="Times New Roman" panose="02020603050405020304" pitchFamily="18" charset="0"/>
                  <a:cs typeface="Times New Roman" panose="02020603050405020304" pitchFamily="18" charset="0"/>
                </a:endParaRPr>
              </a:p>
              <a:p>
                <a:pPr marL="342900" indent="-342900">
                  <a:lnSpc>
                    <a:spcPct val="120000"/>
                  </a:lnSpc>
                  <a:spcBef>
                    <a:spcPts val="600"/>
                  </a:spcBef>
                  <a:buFont typeface="Wingdings" panose="05000000000000000000" pitchFamily="2" charset="2"/>
                  <a:buChar char="l"/>
                  <a:defRPr/>
                </a:pPr>
                <a:r>
                  <a:rPr lang="zh-CN" altLang="en-US" sz="2000" noProof="0" dirty="0">
                    <a:latin typeface="Cambria Math" panose="02040503050406030204" pitchFamily="18" charset="0"/>
                  </a:rPr>
                  <a:t>第一轮如上运行 </a:t>
                </a:r>
                <a:r>
                  <a:rPr lang="en-US" altLang="zh-CN" sz="2000" dirty="0">
                    <a:latin typeface="Cambria Math" panose="02040503050406030204" pitchFamily="18" charset="0"/>
                  </a:rPr>
                  <a:t>20</a:t>
                </a:r>
                <a:r>
                  <a:rPr lang="en-US" altLang="zh-CN" sz="2000" noProof="0" dirty="0">
                    <a:latin typeface="Cambria Math" panose="02040503050406030204" pitchFamily="18" charset="0"/>
                  </a:rPr>
                  <a:t> </a:t>
                </a:r>
                <a:r>
                  <a:rPr lang="zh-CN" altLang="en-US" sz="2000" noProof="0" dirty="0">
                    <a:latin typeface="Cambria Math" panose="02040503050406030204" pitchFamily="18" charset="0"/>
                  </a:rPr>
                  <a:t>步迭代，其中每步迭代中</a:t>
                </a:r>
                <a:endParaRPr lang="en-US" altLang="zh-CN" sz="2000" i="1"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𝑊</m:t>
                        </m:r>
                      </m:e>
                      <m:sub>
                        <m:r>
                          <a:rPr lang="en-US" altLang="zh-CN" sz="2000" b="0" i="1" dirty="0" smtClean="0">
                            <a:solidFill>
                              <a:schemeClr val="tx1"/>
                            </a:solidFill>
                            <a:latin typeface="Cambria Math" panose="02040503050406030204" pitchFamily="18" charset="0"/>
                          </a:rPr>
                          <m:t>𝑡</m:t>
                        </m:r>
                      </m:sub>
                    </m:sSub>
                    <m:r>
                      <a:rPr lang="en-US" altLang="zh-CN" sz="2000" b="0" i="1" dirty="0" smtClean="0">
                        <a:solidFill>
                          <a:schemeClr val="tx1"/>
                        </a:solidFill>
                        <a:latin typeface="Cambria Math" panose="02040503050406030204" pitchFamily="18" charset="0"/>
                      </a:rPr>
                      <m:t> </m:t>
                    </m:r>
                  </m:oMath>
                </a14:m>
                <a:r>
                  <a:rPr lang="zh-CN" altLang="en-US" sz="2000" dirty="0">
                    <a:latin typeface="Times New Roman" panose="02020603050405020304" pitchFamily="18" charset="0"/>
                    <a:cs typeface="Times New Roman" panose="02020603050405020304" pitchFamily="18" charset="0"/>
                  </a:rPr>
                  <a:t>是扩展后消息的第</a:t>
                </a:r>
                <a14:m>
                  <m:oMath xmlns:m="http://schemas.openxmlformats.org/officeDocument/2006/math">
                    <m:r>
                      <a:rPr lang="en-US" altLang="zh-CN" sz="2000" b="0" i="0" smtClean="0">
                        <a:latin typeface="Cambria Math" panose="02040503050406030204" pitchFamily="18" charset="0"/>
                        <a:cs typeface="Times New Roman" panose="02020603050405020304" pitchFamily="18" charset="0"/>
                      </a:rPr>
                      <m:t> </m:t>
                    </m:r>
                    <m:r>
                      <a:rPr lang="en-US" altLang="zh-CN" sz="2000" b="0" i="1" smtClean="0">
                        <a:latin typeface="Cambria Math" panose="02040503050406030204" pitchFamily="18" charset="0"/>
                        <a:cs typeface="Times New Roman" panose="02020603050405020304" pitchFamily="18" charset="0"/>
                      </a:rPr>
                      <m:t>𝑡</m:t>
                    </m:r>
                    <m:r>
                      <a:rPr lang="en-US" altLang="zh-CN" sz="2000" b="0" i="1"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1" dirty="0">
                        <a:latin typeface="Cambria Math" panose="02040503050406030204" pitchFamily="18" charset="0"/>
                        <a:cs typeface="Times New Roman" panose="02020603050405020304" pitchFamily="18" charset="0"/>
                      </a:rPr>
                      <m:t>32</m:t>
                    </m:r>
                    <m:r>
                      <m:rPr>
                        <m:sty m:val="p"/>
                      </m:rPr>
                      <a:rPr lang="en-US" altLang="zh-CN" sz="2000" dirty="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字，</a:t>
                </a:r>
                <a14:m>
                  <m:oMath xmlns:m="http://schemas.openxmlformats.org/officeDocument/2006/math">
                    <m:r>
                      <a:rPr lang="de-DE" altLang="zh-CN" sz="2000" i="1" dirty="0">
                        <a:latin typeface="Cambria Math" panose="02040503050406030204" pitchFamily="18" charset="0"/>
                      </a:rPr>
                      <m:t>0</m:t>
                    </m:r>
                    <m:r>
                      <a:rPr lang="en-US" altLang="zh-CN" sz="2000" i="1" dirty="0">
                        <a:latin typeface="Cambria Math" panose="02040503050406030204" pitchFamily="18" charset="0"/>
                      </a:rPr>
                      <m:t>≤</m:t>
                    </m:r>
                    <m:r>
                      <a:rPr lang="de-DE" altLang="zh-CN" sz="2000" i="1" dirty="0">
                        <a:latin typeface="Cambria Math" panose="02040503050406030204" pitchFamily="18" charset="0"/>
                      </a:rPr>
                      <m:t>𝑡</m:t>
                    </m:r>
                    <m:r>
                      <a:rPr lang="en-US" altLang="zh-CN" sz="2000" i="1" dirty="0">
                        <a:latin typeface="Cambria Math" panose="02040503050406030204" pitchFamily="18" charset="0"/>
                      </a:rPr>
                      <m:t>≤</m:t>
                    </m:r>
                    <m:r>
                      <a:rPr lang="de-DE" altLang="zh-CN" sz="2000" i="1" dirty="0">
                        <a:latin typeface="Cambria Math" panose="02040503050406030204" pitchFamily="18" charset="0"/>
                      </a:rPr>
                      <m:t>19</m:t>
                    </m:r>
                  </m:oMath>
                </a14:m>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𝐾</m:t>
                        </m:r>
                      </m:e>
                      <m:sub>
                        <m:r>
                          <a:rPr lang="en-US" altLang="zh-CN" sz="2000" i="1" dirty="0">
                            <a:solidFill>
                              <a:prstClr val="black"/>
                            </a:solidFill>
                            <a:latin typeface="Cambria Math" panose="02040503050406030204" pitchFamily="18" charset="0"/>
                          </a:rPr>
                          <m:t>𝑡</m:t>
                        </m:r>
                      </m:sub>
                    </m:sSub>
                  </m:oMath>
                </a14:m>
                <a:r>
                  <a:rPr kumimoji="0" lang="zh-CN" altLang="en-US" sz="2000" b="0" u="none" strike="noStrike" kern="1200" cap="none" spc="0" normalizeH="0" baseline="0" noProof="0" dirty="0">
                    <a:ln>
                      <a:noFill/>
                    </a:ln>
                    <a:solidFill>
                      <a:prstClr val="black"/>
                    </a:solidFill>
                    <a:effectLst/>
                    <a:uLnTx/>
                    <a:uFillTx/>
                    <a:latin typeface="Cambria Math" panose="02040503050406030204" pitchFamily="18" charset="0"/>
                    <a:ea typeface="微软雅黑"/>
                    <a:cs typeface="Times New Roman" panose="02020603050405020304" pitchFamily="18" charset="0"/>
                  </a:rPr>
                  <a:t>为常数，</a:t>
                </a:r>
                <a:r>
                  <a:rPr lang="zh-CN" altLang="en-US" sz="2000" noProof="0" dirty="0">
                    <a:solidFill>
                      <a:prstClr val="black"/>
                    </a:solidFill>
                    <a:latin typeface="Cambria Math" panose="02040503050406030204" pitchFamily="18" charset="0"/>
                    <a:ea typeface="微软雅黑"/>
                    <a:cs typeface="Times New Roman" panose="02020603050405020304" pitchFamily="18" charset="0"/>
                  </a:rPr>
                  <a:t>在</a:t>
                </a:r>
                <a:r>
                  <a:rPr lang="zh-CN" altLang="en-US" sz="2000" dirty="0">
                    <a:latin typeface="Cambria Math" panose="02040503050406030204" pitchFamily="18" charset="0"/>
                  </a:rPr>
                  <a:t>第一轮中</a:t>
                </a:r>
                <a14:m>
                  <m:oMath xmlns:m="http://schemas.openxmlformats.org/officeDocument/2006/math">
                    <m:sSub>
                      <m:sSubPr>
                        <m:ctrlPr>
                          <a:rPr lang="en-US" altLang="zh-CN" sz="2000" i="1" dirty="0">
                            <a:latin typeface="Cambria Math" panose="02040503050406030204" pitchFamily="18" charset="0"/>
                          </a:rPr>
                        </m:ctrlPr>
                      </m:sSubPr>
                      <m:e>
                        <m:r>
                          <a:rPr lang="de-DE" altLang="zh-CN" sz="2000" i="1" dirty="0">
                            <a:latin typeface="Cambria Math" panose="02040503050406030204" pitchFamily="18" charset="0"/>
                          </a:rPr>
                          <m:t>𝐾</m:t>
                        </m:r>
                      </m:e>
                      <m:sub>
                        <m:r>
                          <a:rPr lang="de-DE" altLang="zh-CN" sz="2000" i="1" dirty="0">
                            <a:latin typeface="Cambria Math" panose="02040503050406030204" pitchFamily="18" charset="0"/>
                          </a:rPr>
                          <m:t>𝑡</m:t>
                        </m:r>
                      </m:sub>
                    </m:sSub>
                    <m:r>
                      <a:rPr lang="de-DE" altLang="zh-CN" sz="2000" i="1" dirty="0">
                        <a:latin typeface="Cambria Math" panose="02040503050406030204" pitchFamily="18" charset="0"/>
                      </a:rPr>
                      <m:t>=</m:t>
                    </m:r>
                    <m:r>
                      <a:rPr lang="de-DE" altLang="zh-CN" sz="2000" dirty="0">
                        <a:latin typeface="Cambria Math" panose="02040503050406030204" pitchFamily="18" charset="0"/>
                      </a:rPr>
                      <m:t>0</m:t>
                    </m:r>
                    <m:r>
                      <m:rPr>
                        <m:sty m:val="p"/>
                      </m:rPr>
                      <a:rPr lang="en-US" altLang="zh-CN" sz="2000" dirty="0">
                        <a:latin typeface="Cambria Math" panose="02040503050406030204" pitchFamily="18" charset="0"/>
                      </a:rPr>
                      <m:t>x</m:t>
                    </m:r>
                    <m:r>
                      <a:rPr lang="de-DE" altLang="zh-CN" sz="2000" dirty="0">
                        <a:latin typeface="Cambria Math" panose="02040503050406030204" pitchFamily="18" charset="0"/>
                      </a:rPr>
                      <m:t>5</m:t>
                    </m:r>
                    <m:r>
                      <m:rPr>
                        <m:sty m:val="p"/>
                      </m:rPr>
                      <a:rPr lang="de-DE" altLang="zh-CN" sz="2000" dirty="0">
                        <a:latin typeface="Cambria Math" panose="02040503050406030204" pitchFamily="18" charset="0"/>
                      </a:rPr>
                      <m:t>A</m:t>
                    </m:r>
                    <m:r>
                      <a:rPr lang="de-DE" altLang="zh-CN" sz="2000" dirty="0">
                        <a:latin typeface="Cambria Math" panose="02040503050406030204" pitchFamily="18" charset="0"/>
                      </a:rPr>
                      <m:t>827999  </m:t>
                    </m:r>
                    <m:r>
                      <a:rPr lang="de-DE" altLang="zh-CN" sz="2000" i="1" dirty="0">
                        <a:latin typeface="Cambria Math" panose="02040503050406030204" pitchFamily="18" charset="0"/>
                      </a:rPr>
                      <m:t>(0</m:t>
                    </m:r>
                    <m:r>
                      <a:rPr lang="en-US" altLang="zh-CN" sz="2000" i="1" dirty="0">
                        <a:latin typeface="Cambria Math" panose="02040503050406030204" pitchFamily="18" charset="0"/>
                      </a:rPr>
                      <m:t>≤</m:t>
                    </m:r>
                    <m:r>
                      <a:rPr lang="de-DE" altLang="zh-CN" sz="2000" i="1" dirty="0">
                        <a:latin typeface="Cambria Math" panose="02040503050406030204" pitchFamily="18" charset="0"/>
                      </a:rPr>
                      <m:t>𝑡</m:t>
                    </m:r>
                    <m:r>
                      <a:rPr lang="en-US" altLang="zh-CN" sz="2000" i="1" dirty="0">
                        <a:latin typeface="Cambria Math" panose="02040503050406030204" pitchFamily="18" charset="0"/>
                      </a:rPr>
                      <m:t>≤</m:t>
                    </m:r>
                    <m:r>
                      <a:rPr lang="de-DE" altLang="zh-CN" sz="2000" i="1" dirty="0">
                        <a:latin typeface="Cambria Math" panose="02040503050406030204" pitchFamily="18" charset="0"/>
                      </a:rPr>
                      <m:t>19)</m:t>
                    </m:r>
                  </m:oMath>
                </a14:m>
                <a:endParaRPr lang="en-US" altLang="zh-CN" sz="2000" b="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 xmlns:a16="http://schemas.microsoft.com/office/drawing/2014/main"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32028" y="1535876"/>
                <a:ext cx="8479944" cy="3924151"/>
              </a:xfrm>
              <a:prstGeom prst="rect">
                <a:avLst/>
              </a:prstGeom>
              <a:blipFill rotWithShape="0">
                <a:blip r:embed="rId3"/>
                <a:stretch>
                  <a:fillRect l="-647" t="-155" b="-10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84706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62</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grpSp>
        <p:nvGrpSpPr>
          <p:cNvPr id="26" name="组合 25">
            <a:extLst>
              <a:ext uri="{FF2B5EF4-FFF2-40B4-BE49-F238E27FC236}">
                <a16:creationId xmlns:a16="http://schemas.microsoft.com/office/drawing/2014/main" id="{8C994FCC-AC74-438A-B645-817311A32EE0}"/>
              </a:ext>
            </a:extLst>
          </p:cNvPr>
          <p:cNvGrpSpPr/>
          <p:nvPr/>
        </p:nvGrpSpPr>
        <p:grpSpPr>
          <a:xfrm>
            <a:off x="1199072" y="1987306"/>
            <a:ext cx="6893533" cy="3392621"/>
            <a:chOff x="851419" y="2694150"/>
            <a:chExt cx="6857842" cy="3392621"/>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ED0A63B-5769-44D0-9896-F9418A2109E6}"/>
                    </a:ext>
                  </a:extLst>
                </p:cNvPr>
                <p:cNvSpPr/>
                <p:nvPr/>
              </p:nvSpPr>
              <p:spPr>
                <a:xfrm>
                  <a:off x="851420" y="327440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851420" y="3274407"/>
                  <a:ext cx="659230" cy="392180"/>
                </a:xfrm>
                <a:prstGeom prst="rect">
                  <a:avLst/>
                </a:prstGeom>
                <a:blipFill>
                  <a:blip r:embed="rId3"/>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83712F-73C2-41E1-944D-748919379163}"/>
                    </a:ext>
                  </a:extLst>
                </p:cNvPr>
                <p:cNvSpPr/>
                <p:nvPr/>
              </p:nvSpPr>
              <p:spPr>
                <a:xfrm>
                  <a:off x="851420" y="366658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851420" y="3666587"/>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95344C1-E330-4311-8301-532F616074B6}"/>
                    </a:ext>
                  </a:extLst>
                </p:cNvPr>
                <p:cNvSpPr/>
                <p:nvPr/>
              </p:nvSpPr>
              <p:spPr>
                <a:xfrm>
                  <a:off x="851420" y="405876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851420" y="4058767"/>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71099A2-F5D2-4D2C-BFED-5C3E6C09E51A}"/>
                    </a:ext>
                  </a:extLst>
                </p:cNvPr>
                <p:cNvSpPr/>
                <p:nvPr/>
              </p:nvSpPr>
              <p:spPr>
                <a:xfrm>
                  <a:off x="851420" y="445094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851420" y="4450947"/>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p:sp>
          <p:nvSpPr>
            <p:cNvPr id="4" name="流程图: 或者 3">
              <a:extLst>
                <a:ext uri="{FF2B5EF4-FFF2-40B4-BE49-F238E27FC236}">
                  <a16:creationId xmlns:a16="http://schemas.microsoft.com/office/drawing/2014/main" id="{0DF44410-B37A-40D2-81C8-4ACB894A6406}"/>
                </a:ext>
              </a:extLst>
            </p:cNvPr>
            <p:cNvSpPr/>
            <p:nvPr/>
          </p:nvSpPr>
          <p:spPr>
            <a:xfrm>
              <a:off x="2018779" y="327440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566E1AAD-833A-410E-B999-5ECD7A2DBB34}"/>
                </a:ext>
              </a:extLst>
            </p:cNvPr>
            <p:cNvCxnSpPr>
              <a:cxnSpLocks/>
              <a:stCxn id="8" idx="3"/>
              <a:endCxn id="4" idx="2"/>
            </p:cNvCxnSpPr>
            <p:nvPr/>
          </p:nvCxnSpPr>
          <p:spPr>
            <a:xfrm>
              <a:off x="1510650" y="3470497"/>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4" name="流程图: 或者 13">
              <a:extLst>
                <a:ext uri="{FF2B5EF4-FFF2-40B4-BE49-F238E27FC236}">
                  <a16:creationId xmlns:a16="http://schemas.microsoft.com/office/drawing/2014/main" id="{F174C252-2BF4-4B53-9223-E48D6DA8F9FC}"/>
                </a:ext>
              </a:extLst>
            </p:cNvPr>
            <p:cNvSpPr/>
            <p:nvPr/>
          </p:nvSpPr>
          <p:spPr>
            <a:xfrm>
              <a:off x="3247539" y="326869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9E5E886B-50ED-4836-B5CF-4227A90E3634}"/>
                </a:ext>
              </a:extLst>
            </p:cNvPr>
            <p:cNvCxnSpPr>
              <a:cxnSpLocks/>
              <a:stCxn id="4" idx="6"/>
              <a:endCxn id="14" idx="2"/>
            </p:cNvCxnSpPr>
            <p:nvPr/>
          </p:nvCxnSpPr>
          <p:spPr>
            <a:xfrm flipV="1">
              <a:off x="2411179" y="3464787"/>
              <a:ext cx="836360"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BF794E53-00E7-4716-AC9B-E61338B123CC}"/>
                </a:ext>
              </a:extLst>
            </p:cNvPr>
            <p:cNvSpPr/>
            <p:nvPr/>
          </p:nvSpPr>
          <p:spPr>
            <a:xfrm>
              <a:off x="4535812" y="32557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443A69C2-4D99-49F0-8FE8-C0BACEDC7CD6}"/>
                </a:ext>
              </a:extLst>
            </p:cNvPr>
            <p:cNvCxnSpPr>
              <a:cxnSpLocks/>
              <a:stCxn id="14" idx="6"/>
              <a:endCxn id="20" idx="2"/>
            </p:cNvCxnSpPr>
            <p:nvPr/>
          </p:nvCxnSpPr>
          <p:spPr>
            <a:xfrm flipV="1">
              <a:off x="3639939" y="3451793"/>
              <a:ext cx="895873" cy="1299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983C4BDE-46AB-4077-B223-EE6240C17862}"/>
                </a:ext>
              </a:extLst>
            </p:cNvPr>
            <p:cNvCxnSpPr>
              <a:cxnSpLocks/>
              <a:stCxn id="20" idx="6"/>
              <a:endCxn id="33" idx="2"/>
            </p:cNvCxnSpPr>
            <p:nvPr/>
          </p:nvCxnSpPr>
          <p:spPr>
            <a:xfrm flipV="1">
              <a:off x="4928212" y="3449363"/>
              <a:ext cx="558480" cy="24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33" name="流程图: 或者 32">
              <a:extLst>
                <a:ext uri="{FF2B5EF4-FFF2-40B4-BE49-F238E27FC236}">
                  <a16:creationId xmlns:a16="http://schemas.microsoft.com/office/drawing/2014/main" id="{17335A67-EACD-458C-AADA-5B161C5DECA4}"/>
                </a:ext>
              </a:extLst>
            </p:cNvPr>
            <p:cNvSpPr/>
            <p:nvPr/>
          </p:nvSpPr>
          <p:spPr>
            <a:xfrm>
              <a:off x="5486692" y="325327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171AB742-84FF-4DF9-AD30-368E8CCB1A1C}"/>
                    </a:ext>
                  </a:extLst>
                </p:cNvPr>
                <p:cNvSpPr/>
                <p:nvPr/>
              </p:nvSpPr>
              <p:spPr>
                <a:xfrm>
                  <a:off x="7050031" y="326869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050031" y="3268697"/>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E39CFEC-B2E4-4FD9-87F0-F12DCB08068D}"/>
                    </a:ext>
                  </a:extLst>
                </p:cNvPr>
                <p:cNvSpPr/>
                <p:nvPr/>
              </p:nvSpPr>
              <p:spPr>
                <a:xfrm>
                  <a:off x="7050031" y="366087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050031" y="3660877"/>
                  <a:ext cx="659230" cy="392180"/>
                </a:xfrm>
                <a:prstGeom prst="rect">
                  <a:avLst/>
                </a:prstGeom>
                <a:blipFill>
                  <a:blip r:embed="rId8"/>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AC91102-39CE-43DA-8FEB-1CB6BDDD3E5A}"/>
                    </a:ext>
                  </a:extLst>
                </p:cNvPr>
                <p:cNvSpPr/>
                <p:nvPr/>
              </p:nvSpPr>
              <p:spPr>
                <a:xfrm>
                  <a:off x="7050031" y="405305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050031" y="4053057"/>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D8EDBEA5-5971-4F15-8C40-E0AA2CB8F772}"/>
                    </a:ext>
                  </a:extLst>
                </p:cNvPr>
                <p:cNvSpPr/>
                <p:nvPr/>
              </p:nvSpPr>
              <p:spPr>
                <a:xfrm>
                  <a:off x="7050031" y="444523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050031" y="4445237"/>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EAA66C8B-9528-423E-9DDB-946BA23FC243}"/>
                </a:ext>
              </a:extLst>
            </p:cNvPr>
            <p:cNvCxnSpPr>
              <a:cxnSpLocks/>
              <a:endCxn id="36" idx="1"/>
            </p:cNvCxnSpPr>
            <p:nvPr/>
          </p:nvCxnSpPr>
          <p:spPr>
            <a:xfrm flipV="1">
              <a:off x="6538322" y="3464787"/>
              <a:ext cx="511709" cy="3744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直接箭头连接符 42">
              <a:extLst>
                <a:ext uri="{FF2B5EF4-FFF2-40B4-BE49-F238E27FC236}">
                  <a16:creationId xmlns:a16="http://schemas.microsoft.com/office/drawing/2014/main" id="{01705B3D-6BD5-4466-A81B-FB52D8371B47}"/>
                </a:ext>
              </a:extLst>
            </p:cNvPr>
            <p:cNvCxnSpPr>
              <a:cxnSpLocks/>
              <a:endCxn id="37" idx="1"/>
            </p:cNvCxnSpPr>
            <p:nvPr/>
          </p:nvCxnSpPr>
          <p:spPr>
            <a:xfrm flipV="1">
              <a:off x="6525622" y="3856967"/>
              <a:ext cx="524409" cy="377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接箭头连接符 45">
              <a:extLst>
                <a:ext uri="{FF2B5EF4-FFF2-40B4-BE49-F238E27FC236}">
                  <a16:creationId xmlns:a16="http://schemas.microsoft.com/office/drawing/2014/main" id="{CE2BE79D-BE01-4507-8B12-0F6D84048D5C}"/>
                </a:ext>
              </a:extLst>
            </p:cNvPr>
            <p:cNvCxnSpPr>
              <a:cxnSpLocks/>
              <a:endCxn id="38" idx="1"/>
            </p:cNvCxnSpPr>
            <p:nvPr/>
          </p:nvCxnSpPr>
          <p:spPr>
            <a:xfrm flipV="1">
              <a:off x="6519272" y="4249147"/>
              <a:ext cx="530759" cy="3921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直接箭头连接符 48">
              <a:extLst>
                <a:ext uri="{FF2B5EF4-FFF2-40B4-BE49-F238E27FC236}">
                  <a16:creationId xmlns:a16="http://schemas.microsoft.com/office/drawing/2014/main" id="{EFBDE949-6829-4F2E-9DEE-3C8BF3DA6BF2}"/>
                </a:ext>
              </a:extLst>
            </p:cNvPr>
            <p:cNvCxnSpPr>
              <a:cxnSpLocks/>
              <a:endCxn id="51" idx="1"/>
            </p:cNvCxnSpPr>
            <p:nvPr/>
          </p:nvCxnSpPr>
          <p:spPr>
            <a:xfrm>
              <a:off x="6512902" y="3457670"/>
              <a:ext cx="537129" cy="15758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直接箭头连接符 51">
              <a:extLst>
                <a:ext uri="{FF2B5EF4-FFF2-40B4-BE49-F238E27FC236}">
                  <a16:creationId xmlns:a16="http://schemas.microsoft.com/office/drawing/2014/main" id="{FB452F92-522D-477B-A5E0-F70EBB269641}"/>
                </a:ext>
              </a:extLst>
            </p:cNvPr>
            <p:cNvCxnSpPr>
              <a:cxnSpLocks/>
              <a:stCxn id="33" idx="6"/>
            </p:cNvCxnSpPr>
            <p:nvPr/>
          </p:nvCxnSpPr>
          <p:spPr>
            <a:xfrm>
              <a:off x="5879092" y="3449363"/>
              <a:ext cx="640180" cy="425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0" name="直接箭头连接符 59">
              <a:extLst>
                <a:ext uri="{FF2B5EF4-FFF2-40B4-BE49-F238E27FC236}">
                  <a16:creationId xmlns:a16="http://schemas.microsoft.com/office/drawing/2014/main" id="{57FA8043-6EB5-4B0C-A0F1-F3541E5CD329}"/>
                </a:ext>
              </a:extLst>
            </p:cNvPr>
            <p:cNvCxnSpPr>
              <a:cxnSpLocks/>
              <a:stCxn id="9" idx="3"/>
            </p:cNvCxnSpPr>
            <p:nvPr/>
          </p:nvCxnSpPr>
          <p:spPr>
            <a:xfrm flipV="1">
              <a:off x="1510650" y="3842161"/>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6" name="直接箭头连接符 75">
              <a:extLst>
                <a:ext uri="{FF2B5EF4-FFF2-40B4-BE49-F238E27FC236}">
                  <a16:creationId xmlns:a16="http://schemas.microsoft.com/office/drawing/2014/main" id="{047AA163-B390-4BD3-B3EB-1AF00A9AC67E}"/>
                </a:ext>
              </a:extLst>
            </p:cNvPr>
            <p:cNvCxnSpPr>
              <a:cxnSpLocks/>
              <a:stCxn id="10" idx="3"/>
            </p:cNvCxnSpPr>
            <p:nvPr/>
          </p:nvCxnSpPr>
          <p:spPr>
            <a:xfrm flipV="1">
              <a:off x="1510650" y="4235680"/>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8" name="直接箭头连接符 77">
              <a:extLst>
                <a:ext uri="{FF2B5EF4-FFF2-40B4-BE49-F238E27FC236}">
                  <a16:creationId xmlns:a16="http://schemas.microsoft.com/office/drawing/2014/main" id="{B554FDAF-2039-4ED4-8D59-C2C10A8397FC}"/>
                </a:ext>
              </a:extLst>
            </p:cNvPr>
            <p:cNvCxnSpPr>
              <a:cxnSpLocks/>
              <a:endCxn id="54" idx="1"/>
            </p:cNvCxnSpPr>
            <p:nvPr/>
          </p:nvCxnSpPr>
          <p:spPr>
            <a:xfrm flipV="1">
              <a:off x="1505374" y="4646734"/>
              <a:ext cx="3050370" cy="1770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10" name="连接符: 肘形 109">
              <a:extLst>
                <a:ext uri="{FF2B5EF4-FFF2-40B4-BE49-F238E27FC236}">
                  <a16:creationId xmlns:a16="http://schemas.microsoft.com/office/drawing/2014/main" id="{50E74F85-A332-418E-B154-751F656D5B8E}"/>
                </a:ext>
              </a:extLst>
            </p:cNvPr>
            <p:cNvCxnSpPr>
              <a:cxnSpLocks/>
              <a:stCxn id="9" idx="1"/>
              <a:endCxn id="111" idx="1"/>
            </p:cNvCxnSpPr>
            <p:nvPr/>
          </p:nvCxnSpPr>
          <p:spPr>
            <a:xfrm rot="10800000" flipH="1" flipV="1">
              <a:off x="851420" y="3862677"/>
              <a:ext cx="653954" cy="2027894"/>
            </a:xfrm>
            <a:prstGeom prst="bentConnector3">
              <a:avLst>
                <a:gd name="adj1" fmla="val -34957"/>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矩形: 圆角 110">
                  <a:extLst>
                    <a:ext uri="{FF2B5EF4-FFF2-40B4-BE49-F238E27FC236}">
                      <a16:creationId xmlns:a16="http://schemas.microsoft.com/office/drawing/2014/main" id="{D133FAD3-C7D8-47D3-B4BF-DD248AEA40C3}"/>
                    </a:ext>
                  </a:extLst>
                </p:cNvPr>
                <p:cNvSpPr/>
                <p:nvPr/>
              </p:nvSpPr>
              <p:spPr>
                <a:xfrm>
                  <a:off x="1505374" y="5694371"/>
                  <a:ext cx="1409316"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a:solidFill>
                        <a:srgbClr val="0000FF"/>
                      </a:solidFill>
                    </a:rPr>
                    <a:t>逻辑函数</a:t>
                  </a:r>
                  <a14:m>
                    <m:oMath xmlns:m="http://schemas.openxmlformats.org/officeDocument/2006/math">
                      <m:r>
                        <a:rPr lang="en-US" altLang="zh-CN" b="0" i="1" smtClean="0">
                          <a:solidFill>
                            <a:srgbClr val="0000FF"/>
                          </a:solidFill>
                          <a:latin typeface="Cambria Math" panose="02040503050406030204" pitchFamily="18" charset="0"/>
                        </a:rPr>
                        <m:t> </m:t>
                      </m:r>
                      <m:sSub>
                        <m:sSubPr>
                          <m:ctrlPr>
                            <a:rPr lang="en-US" altLang="zh-CN" b="0" i="1" smtClean="0">
                              <a:solidFill>
                                <a:srgbClr val="0000FF"/>
                              </a:solidFill>
                              <a:latin typeface="Cambria Math" panose="02040503050406030204" pitchFamily="18" charset="0"/>
                            </a:rPr>
                          </m:ctrlPr>
                        </m:sSubPr>
                        <m:e>
                          <m:r>
                            <a:rPr lang="en-US" altLang="zh-CN" b="0" i="1" smtClean="0">
                              <a:solidFill>
                                <a:srgbClr val="0000FF"/>
                              </a:solidFill>
                              <a:latin typeface="Cambria Math" panose="02040503050406030204" pitchFamily="18" charset="0"/>
                            </a:rPr>
                            <m:t>𝑓</m:t>
                          </m:r>
                        </m:e>
                        <m:sub>
                          <m:r>
                            <a:rPr lang="en-US" altLang="zh-CN" b="0" i="1" smtClean="0">
                              <a:solidFill>
                                <a:srgbClr val="0000FF"/>
                              </a:solidFill>
                              <a:latin typeface="Cambria Math" panose="02040503050406030204" pitchFamily="18" charset="0"/>
                            </a:rPr>
                            <m:t>1</m:t>
                          </m:r>
                        </m:sub>
                      </m:sSub>
                    </m:oMath>
                  </a14:m>
                  <a:endParaRPr lang="zh-CN" altLang="en-US" dirty="0">
                    <a:solidFill>
                      <a:srgbClr val="0000FF"/>
                    </a:solidFill>
                  </a:endParaRPr>
                </a:p>
              </p:txBody>
            </p:sp>
          </mc:Choice>
          <mc:Fallback xmlns="">
            <p:sp>
              <p:nvSpPr>
                <p:cNvPr id="111" name="矩形: 圆角 110">
                  <a:extLst>
                    <a:ext uri="{FF2B5EF4-FFF2-40B4-BE49-F238E27FC236}">
                      <a16:creationId xmlns:a16="http://schemas.microsoft.com/office/drawing/2014/main" id="{D133FAD3-C7D8-47D3-B4BF-DD248AEA40C3}"/>
                    </a:ext>
                  </a:extLst>
                </p:cNvPr>
                <p:cNvSpPr>
                  <a:spLocks noRot="1" noChangeAspect="1" noMove="1" noResize="1" noEditPoints="1" noAdjustHandles="1" noChangeArrowheads="1" noChangeShapeType="1" noTextEdit="1"/>
                </p:cNvSpPr>
                <p:nvPr/>
              </p:nvSpPr>
              <p:spPr>
                <a:xfrm>
                  <a:off x="1505374" y="5694371"/>
                  <a:ext cx="1409316" cy="392400"/>
                </a:xfrm>
                <a:prstGeom prst="roundRect">
                  <a:avLst/>
                </a:prstGeom>
                <a:blipFill>
                  <a:blip r:embed="rId11"/>
                  <a:stretch>
                    <a:fillRect l="-1288" t="-2985" b="-17910"/>
                  </a:stretch>
                </a:blipFill>
                <a:ln w="12700">
                  <a:solidFill>
                    <a:srgbClr val="2A2A2A"/>
                  </a:solidFill>
                </a:ln>
              </p:spPr>
              <p:txBody>
                <a:bodyPr/>
                <a:lstStyle/>
                <a:p>
                  <a:r>
                    <a:rPr lang="zh-CN" altLang="en-US">
                      <a:noFill/>
                    </a:rPr>
                    <a:t> </a:t>
                  </a:r>
                </a:p>
              </p:txBody>
            </p:sp>
          </mc:Fallback>
        </mc:AlternateContent>
        <p:cxnSp>
          <p:nvCxnSpPr>
            <p:cNvPr id="115" name="连接符: 肘形 114">
              <a:extLst>
                <a:ext uri="{FF2B5EF4-FFF2-40B4-BE49-F238E27FC236}">
                  <a16:creationId xmlns:a16="http://schemas.microsoft.com/office/drawing/2014/main" id="{427E9DE4-D4F4-44A9-8DD7-B427FE0E21BA}"/>
                </a:ext>
              </a:extLst>
            </p:cNvPr>
            <p:cNvCxnSpPr>
              <a:cxnSpLocks/>
              <a:stCxn id="10" idx="1"/>
              <a:endCxn id="111" idx="1"/>
            </p:cNvCxnSpPr>
            <p:nvPr/>
          </p:nvCxnSpPr>
          <p:spPr>
            <a:xfrm rot="10800000" flipH="1" flipV="1">
              <a:off x="851420" y="4254857"/>
              <a:ext cx="653954" cy="1635714"/>
            </a:xfrm>
            <a:prstGeom prst="bentConnector3">
              <a:avLst>
                <a:gd name="adj1" fmla="val -34957"/>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连接符: 肘形 117">
              <a:extLst>
                <a:ext uri="{FF2B5EF4-FFF2-40B4-BE49-F238E27FC236}">
                  <a16:creationId xmlns:a16="http://schemas.microsoft.com/office/drawing/2014/main" id="{4D92A3B0-9766-4F97-B9C2-E8DE9EB9E345}"/>
                </a:ext>
              </a:extLst>
            </p:cNvPr>
            <p:cNvCxnSpPr>
              <a:cxnSpLocks/>
              <a:stCxn id="11" idx="1"/>
              <a:endCxn id="111" idx="1"/>
            </p:cNvCxnSpPr>
            <p:nvPr/>
          </p:nvCxnSpPr>
          <p:spPr>
            <a:xfrm rot="10800000" flipH="1" flipV="1">
              <a:off x="851420" y="4647037"/>
              <a:ext cx="653954" cy="1243534"/>
            </a:xfrm>
            <a:prstGeom prst="bentConnector3">
              <a:avLst>
                <a:gd name="adj1" fmla="val -34957"/>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3F01390B-000F-4B1F-938F-CD9B657310ED}"/>
                </a:ext>
              </a:extLst>
            </p:cNvPr>
            <p:cNvCxnSpPr>
              <a:cxnSpLocks/>
              <a:stCxn id="111" idx="0"/>
              <a:endCxn id="4" idx="4"/>
            </p:cNvCxnSpPr>
            <p:nvPr/>
          </p:nvCxnSpPr>
          <p:spPr>
            <a:xfrm flipV="1">
              <a:off x="2210032" y="3666587"/>
              <a:ext cx="4947" cy="202778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DAC2DAD2-D9D2-4951-851B-A8D0808B036C}"/>
                    </a:ext>
                  </a:extLst>
                </p:cNvPr>
                <p:cNvSpPr txBox="1"/>
                <p:nvPr/>
              </p:nvSpPr>
              <p:spPr>
                <a:xfrm>
                  <a:off x="4516775" y="2704432"/>
                  <a:ext cx="45428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𝑊</m:t>
                            </m:r>
                          </m:e>
                          <m:sub>
                            <m:r>
                              <a:rPr lang="en-US" altLang="zh-CN" b="0" i="1" dirty="0" smtClean="0">
                                <a:solidFill>
                                  <a:schemeClr val="tx1"/>
                                </a:solidFill>
                                <a:latin typeface="Cambria Math" panose="02040503050406030204" pitchFamily="18" charset="0"/>
                              </a:rPr>
                              <m:t>𝑡</m:t>
                            </m:r>
                          </m:sub>
                        </m:sSub>
                      </m:oMath>
                    </m:oMathPara>
                  </a14:m>
                  <a:endParaRPr lang="zh-CN" altLang="en-US" dirty="0">
                    <a:solidFill>
                      <a:schemeClr val="tx1"/>
                    </a:solidFill>
                  </a:endParaRPr>
                </a:p>
              </p:txBody>
            </p:sp>
          </mc:Choice>
          <mc:Fallback xmlns="">
            <p:sp>
              <p:nvSpPr>
                <p:cNvPr id="141" name="文本框 140">
                  <a:extLst>
                    <a:ext uri="{FF2B5EF4-FFF2-40B4-BE49-F238E27FC236}">
                      <a16:creationId xmlns:a16="http://schemas.microsoft.com/office/drawing/2014/main" id="{DAC2DAD2-D9D2-4951-851B-A8D0808B036C}"/>
                    </a:ext>
                  </a:extLst>
                </p:cNvPr>
                <p:cNvSpPr txBox="1">
                  <a:spLocks noRot="1" noChangeAspect="1" noMove="1" noResize="1" noEditPoints="1" noAdjustHandles="1" noChangeArrowheads="1" noChangeShapeType="1" noTextEdit="1"/>
                </p:cNvSpPr>
                <p:nvPr/>
              </p:nvSpPr>
              <p:spPr>
                <a:xfrm>
                  <a:off x="4516775" y="2704432"/>
                  <a:ext cx="454284" cy="369332"/>
                </a:xfrm>
                <a:prstGeom prst="rect">
                  <a:avLst/>
                </a:prstGeom>
                <a:blipFill>
                  <a:blip r:embed="rId12"/>
                  <a:stretch>
                    <a:fillRect/>
                  </a:stretch>
                </a:blipFill>
              </p:spPr>
              <p:txBody>
                <a:bodyPr/>
                <a:lstStyle/>
                <a:p>
                  <a:r>
                    <a:rPr lang="zh-CN" altLang="en-US">
                      <a:noFill/>
                    </a:rPr>
                    <a:t> </a:t>
                  </a:r>
                </a:p>
              </p:txBody>
            </p:sp>
          </mc:Fallback>
        </mc:AlternateContent>
        <p:cxnSp>
          <p:nvCxnSpPr>
            <p:cNvPr id="142" name="直接箭头连接符 141">
              <a:extLst>
                <a:ext uri="{FF2B5EF4-FFF2-40B4-BE49-F238E27FC236}">
                  <a16:creationId xmlns:a16="http://schemas.microsoft.com/office/drawing/2014/main" id="{CA452595-0DDC-4BA7-BFA9-60CCFBA2B42A}"/>
                </a:ext>
              </a:extLst>
            </p:cNvPr>
            <p:cNvCxnSpPr>
              <a:cxnSpLocks/>
              <a:stCxn id="141" idx="2"/>
              <a:endCxn id="20" idx="0"/>
            </p:cNvCxnSpPr>
            <p:nvPr/>
          </p:nvCxnSpPr>
          <p:spPr>
            <a:xfrm flipH="1">
              <a:off x="4732012" y="3073764"/>
              <a:ext cx="11905" cy="181939"/>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AB2C34C9-E03F-4062-BDBA-FBB33FE5A7CE}"/>
                    </a:ext>
                  </a:extLst>
                </p:cNvPr>
                <p:cNvSpPr txBox="1"/>
                <p:nvPr/>
              </p:nvSpPr>
              <p:spPr>
                <a:xfrm>
                  <a:off x="5336682" y="2694150"/>
                  <a:ext cx="69241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solidFill>
                                  <a:schemeClr val="tx1"/>
                                </a:solidFill>
                                <a:effectLst/>
                                <a:latin typeface="Cambria Math" panose="02040503050406030204" pitchFamily="18" charset="0"/>
                              </a:rPr>
                            </m:ctrlPr>
                          </m:sSubPr>
                          <m:e>
                            <m:r>
                              <a:rPr lang="en-US" altLang="zh-CN" sz="1800" b="0" i="1" dirty="0" smtClean="0">
                                <a:solidFill>
                                  <a:schemeClr val="tx1"/>
                                </a:solidFill>
                                <a:effectLst/>
                                <a:latin typeface="Cambria Math" panose="02040503050406030204" pitchFamily="18" charset="0"/>
                              </a:rPr>
                              <m:t>𝐾</m:t>
                            </m:r>
                          </m:e>
                          <m:sub>
                            <m:r>
                              <a:rPr lang="en-US" altLang="zh-CN" sz="1800" b="0" i="1" dirty="0" smtClean="0">
                                <a:solidFill>
                                  <a:schemeClr val="tx1"/>
                                </a:solidFill>
                                <a:effectLst/>
                                <a:latin typeface="Cambria Math" panose="02040503050406030204" pitchFamily="18" charset="0"/>
                              </a:rPr>
                              <m:t>𝑡</m:t>
                            </m:r>
                          </m:sub>
                        </m:sSub>
                      </m:oMath>
                    </m:oMathPara>
                  </a14:m>
                  <a:endParaRPr lang="zh-CN" altLang="en-US" dirty="0">
                    <a:solidFill>
                      <a:schemeClr val="tx1"/>
                    </a:solidFill>
                  </a:endParaRPr>
                </a:p>
              </p:txBody>
            </p:sp>
          </mc:Choice>
          <mc:Fallback xmlns="">
            <p:sp>
              <p:nvSpPr>
                <p:cNvPr id="143" name="文本框 142">
                  <a:extLst>
                    <a:ext uri="{FF2B5EF4-FFF2-40B4-BE49-F238E27FC236}">
                      <a16:creationId xmlns:a16="http://schemas.microsoft.com/office/drawing/2014/main" id="{AB2C34C9-E03F-4062-BDBA-FBB33FE5A7CE}"/>
                    </a:ext>
                  </a:extLst>
                </p:cNvPr>
                <p:cNvSpPr txBox="1">
                  <a:spLocks noRot="1" noChangeAspect="1" noMove="1" noResize="1" noEditPoints="1" noAdjustHandles="1" noChangeArrowheads="1" noChangeShapeType="1" noTextEdit="1"/>
                </p:cNvSpPr>
                <p:nvPr/>
              </p:nvSpPr>
              <p:spPr>
                <a:xfrm>
                  <a:off x="5336682" y="2694150"/>
                  <a:ext cx="692419" cy="369332"/>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B805291E-D2D4-48D3-9BDD-612BD7B7905E}"/>
                    </a:ext>
                  </a:extLst>
                </p:cNvPr>
                <p:cNvSpPr/>
                <p:nvPr/>
              </p:nvSpPr>
              <p:spPr>
                <a:xfrm>
                  <a:off x="851420"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7" name="矩形 46">
                  <a:extLst>
                    <a:ext uri="{FF2B5EF4-FFF2-40B4-BE49-F238E27FC236}">
                      <a16:creationId xmlns:a16="http://schemas.microsoft.com/office/drawing/2014/main" id="{B805291E-D2D4-48D3-9BDD-612BD7B7905E}"/>
                    </a:ext>
                  </a:extLst>
                </p:cNvPr>
                <p:cNvSpPr>
                  <a:spLocks noRot="1" noChangeAspect="1" noMove="1" noResize="1" noEditPoints="1" noAdjustHandles="1" noChangeArrowheads="1" noChangeShapeType="1" noTextEdit="1"/>
                </p:cNvSpPr>
                <p:nvPr/>
              </p:nvSpPr>
              <p:spPr>
                <a:xfrm>
                  <a:off x="851420" y="4837417"/>
                  <a:ext cx="659230" cy="392180"/>
                </a:xfrm>
                <a:prstGeom prst="rect">
                  <a:avLst/>
                </a:prstGeom>
                <a:blipFill>
                  <a:blip r:embed="rId1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EE5DA41B-1E97-4FC1-80CF-221DC08970D6}"/>
                    </a:ext>
                  </a:extLst>
                </p:cNvPr>
                <p:cNvSpPr/>
                <p:nvPr/>
              </p:nvSpPr>
              <p:spPr>
                <a:xfrm>
                  <a:off x="7050031"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1" name="矩形 50">
                  <a:extLst>
                    <a:ext uri="{FF2B5EF4-FFF2-40B4-BE49-F238E27FC236}">
                      <a16:creationId xmlns:a16="http://schemas.microsoft.com/office/drawing/2014/main" id="{EE5DA41B-1E97-4FC1-80CF-221DC08970D6}"/>
                    </a:ext>
                  </a:extLst>
                </p:cNvPr>
                <p:cNvSpPr>
                  <a:spLocks noRot="1" noChangeAspect="1" noMove="1" noResize="1" noEditPoints="1" noAdjustHandles="1" noChangeArrowheads="1" noChangeShapeType="1" noTextEdit="1"/>
                </p:cNvSpPr>
                <p:nvPr/>
              </p:nvSpPr>
              <p:spPr>
                <a:xfrm>
                  <a:off x="7050031" y="4837417"/>
                  <a:ext cx="659230" cy="392180"/>
                </a:xfrm>
                <a:prstGeom prst="rect">
                  <a:avLst/>
                </a:prstGeom>
                <a:blipFill>
                  <a:blip r:embed="rId1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DF8FA538-1B6E-42A9-B5F1-1587FE98B2B5}"/>
                    </a:ext>
                  </a:extLst>
                </p:cNvPr>
                <p:cNvSpPr/>
                <p:nvPr/>
              </p:nvSpPr>
              <p:spPr>
                <a:xfrm>
                  <a:off x="2997017" y="5252405"/>
                  <a:ext cx="90605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&lt;&lt;&lt;5</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3" name="矩形 52">
                  <a:extLst>
                    <a:ext uri="{FF2B5EF4-FFF2-40B4-BE49-F238E27FC236}">
                      <a16:creationId xmlns:a16="http://schemas.microsoft.com/office/drawing/2014/main" id="{DF8FA538-1B6E-42A9-B5F1-1587FE98B2B5}"/>
                    </a:ext>
                  </a:extLst>
                </p:cNvPr>
                <p:cNvSpPr>
                  <a:spLocks noRot="1" noChangeAspect="1" noMove="1" noResize="1" noEditPoints="1" noAdjustHandles="1" noChangeArrowheads="1" noChangeShapeType="1" noTextEdit="1"/>
                </p:cNvSpPr>
                <p:nvPr/>
              </p:nvSpPr>
              <p:spPr>
                <a:xfrm>
                  <a:off x="2997017" y="5252405"/>
                  <a:ext cx="906053" cy="392180"/>
                </a:xfrm>
                <a:prstGeom prst="rect">
                  <a:avLst/>
                </a:prstGeom>
                <a:blipFill>
                  <a:blip r:embed="rId1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a:extLst>
                    <a:ext uri="{FF2B5EF4-FFF2-40B4-BE49-F238E27FC236}">
                      <a16:creationId xmlns:a16="http://schemas.microsoft.com/office/drawing/2014/main" id="{40C70201-5420-4F97-86B1-B53196A035A7}"/>
                    </a:ext>
                  </a:extLst>
                </p:cNvPr>
                <p:cNvSpPr/>
                <p:nvPr/>
              </p:nvSpPr>
              <p:spPr>
                <a:xfrm>
                  <a:off x="4555744" y="4450644"/>
                  <a:ext cx="1066773"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&lt;&lt;&lt;3</m:t>
                        </m:r>
                        <m:r>
                          <a:rPr lang="en-US" altLang="zh-C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4" name="矩形 53">
                  <a:extLst>
                    <a:ext uri="{FF2B5EF4-FFF2-40B4-BE49-F238E27FC236}">
                      <a16:creationId xmlns:a16="http://schemas.microsoft.com/office/drawing/2014/main" id="{40C70201-5420-4F97-86B1-B53196A035A7}"/>
                    </a:ext>
                  </a:extLst>
                </p:cNvPr>
                <p:cNvSpPr>
                  <a:spLocks noRot="1" noChangeAspect="1" noMove="1" noResize="1" noEditPoints="1" noAdjustHandles="1" noChangeArrowheads="1" noChangeShapeType="1" noTextEdit="1"/>
                </p:cNvSpPr>
                <p:nvPr/>
              </p:nvSpPr>
              <p:spPr>
                <a:xfrm>
                  <a:off x="4555744" y="4450644"/>
                  <a:ext cx="1066773" cy="392180"/>
                </a:xfrm>
                <a:prstGeom prst="rect">
                  <a:avLst/>
                </a:prstGeom>
                <a:blipFill>
                  <a:blip r:embed="rId17"/>
                  <a:stretch>
                    <a:fillRect/>
                  </a:stretch>
                </a:blipFill>
                <a:ln w="9525">
                  <a:solidFill>
                    <a:schemeClr val="tx1"/>
                  </a:solidFill>
                </a:ln>
              </p:spPr>
              <p:txBody>
                <a:bodyPr/>
                <a:lstStyle/>
                <a:p>
                  <a:r>
                    <a:rPr lang="zh-CN" altLang="en-US">
                      <a:noFill/>
                    </a:rPr>
                    <a:t> </a:t>
                  </a:r>
                </a:p>
              </p:txBody>
            </p:sp>
          </mc:Fallback>
        </mc:AlternateContent>
        <p:cxnSp>
          <p:nvCxnSpPr>
            <p:cNvPr id="58" name="直接箭头连接符 57">
              <a:extLst>
                <a:ext uri="{FF2B5EF4-FFF2-40B4-BE49-F238E27FC236}">
                  <a16:creationId xmlns:a16="http://schemas.microsoft.com/office/drawing/2014/main" id="{C7EE5339-BCAF-4E62-9E63-F7671E08333A}"/>
                </a:ext>
              </a:extLst>
            </p:cNvPr>
            <p:cNvCxnSpPr>
              <a:cxnSpLocks/>
              <a:stCxn id="53" idx="0"/>
              <a:endCxn id="14" idx="4"/>
            </p:cNvCxnSpPr>
            <p:nvPr/>
          </p:nvCxnSpPr>
          <p:spPr>
            <a:xfrm flipH="1" flipV="1">
              <a:off x="3443739" y="3660877"/>
              <a:ext cx="6305" cy="15915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82" name="直接箭头连接符 81">
              <a:extLst>
                <a:ext uri="{FF2B5EF4-FFF2-40B4-BE49-F238E27FC236}">
                  <a16:creationId xmlns:a16="http://schemas.microsoft.com/office/drawing/2014/main" id="{DCA0A928-2EE0-4F52-91B6-1755EC378275}"/>
                </a:ext>
              </a:extLst>
            </p:cNvPr>
            <p:cNvCxnSpPr>
              <a:cxnSpLocks/>
              <a:endCxn id="33" idx="0"/>
            </p:cNvCxnSpPr>
            <p:nvPr/>
          </p:nvCxnSpPr>
          <p:spPr>
            <a:xfrm>
              <a:off x="5682892" y="3080030"/>
              <a:ext cx="0" cy="173243"/>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94" name="直接箭头连接符 93">
              <a:extLst>
                <a:ext uri="{FF2B5EF4-FFF2-40B4-BE49-F238E27FC236}">
                  <a16:creationId xmlns:a16="http://schemas.microsoft.com/office/drawing/2014/main" id="{E68CCBDD-047F-47AE-BF5D-D2808783233C}"/>
                </a:ext>
              </a:extLst>
            </p:cNvPr>
            <p:cNvCxnSpPr>
              <a:cxnSpLocks/>
              <a:stCxn id="54" idx="3"/>
            </p:cNvCxnSpPr>
            <p:nvPr/>
          </p:nvCxnSpPr>
          <p:spPr>
            <a:xfrm flipV="1">
              <a:off x="5622517" y="4634439"/>
              <a:ext cx="896755" cy="1229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8" name="直接箭头连接符 97">
              <a:extLst>
                <a:ext uri="{FF2B5EF4-FFF2-40B4-BE49-F238E27FC236}">
                  <a16:creationId xmlns:a16="http://schemas.microsoft.com/office/drawing/2014/main" id="{90B3ABC4-BABF-4138-871E-D1905DB0E7FA}"/>
                </a:ext>
              </a:extLst>
            </p:cNvPr>
            <p:cNvCxnSpPr>
              <a:cxnSpLocks/>
              <a:stCxn id="47" idx="3"/>
            </p:cNvCxnSpPr>
            <p:nvPr/>
          </p:nvCxnSpPr>
          <p:spPr>
            <a:xfrm>
              <a:off x="1510650" y="5033507"/>
              <a:ext cx="5014972" cy="1081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8" name="直接箭头连接符 107">
              <a:extLst>
                <a:ext uri="{FF2B5EF4-FFF2-40B4-BE49-F238E27FC236}">
                  <a16:creationId xmlns:a16="http://schemas.microsoft.com/office/drawing/2014/main" id="{01794CAD-9EE0-4648-AD26-7437A0C59036}"/>
                </a:ext>
              </a:extLst>
            </p:cNvPr>
            <p:cNvCxnSpPr>
              <a:cxnSpLocks/>
              <a:endCxn id="39" idx="1"/>
            </p:cNvCxnSpPr>
            <p:nvPr/>
          </p:nvCxnSpPr>
          <p:spPr>
            <a:xfrm flipV="1">
              <a:off x="6519272" y="4641327"/>
              <a:ext cx="530759" cy="4029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2" name="连接符: 肘形 111">
              <a:extLst>
                <a:ext uri="{FF2B5EF4-FFF2-40B4-BE49-F238E27FC236}">
                  <a16:creationId xmlns:a16="http://schemas.microsoft.com/office/drawing/2014/main" id="{96901ECB-6C49-4A94-A525-5409B0545A18}"/>
                </a:ext>
              </a:extLst>
            </p:cNvPr>
            <p:cNvCxnSpPr>
              <a:cxnSpLocks/>
              <a:stCxn id="47" idx="1"/>
              <a:endCxn id="53" idx="1"/>
            </p:cNvCxnSpPr>
            <p:nvPr/>
          </p:nvCxnSpPr>
          <p:spPr>
            <a:xfrm rot="10800000" flipH="1" flipV="1">
              <a:off x="851419" y="5033507"/>
              <a:ext cx="2145597" cy="414988"/>
            </a:xfrm>
            <a:prstGeom prst="bentConnector3">
              <a:avLst>
                <a:gd name="adj1" fmla="val -10654"/>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grpSp>
      <p:sp>
        <p:nvSpPr>
          <p:cNvPr id="48" name="文本框 47">
            <a:extLst>
              <a:ext uri="{FF2B5EF4-FFF2-40B4-BE49-F238E27FC236}">
                <a16:creationId xmlns:a16="http://schemas.microsoft.com/office/drawing/2014/main" id="{0D862788-4D7D-43AA-A83F-AADF8BE33806}"/>
              </a:ext>
            </a:extLst>
          </p:cNvPr>
          <p:cNvSpPr txBox="1"/>
          <p:nvPr/>
        </p:nvSpPr>
        <p:spPr>
          <a:xfrm>
            <a:off x="299056" y="1557124"/>
            <a:ext cx="8493405" cy="430182"/>
          </a:xfrm>
          <a:prstGeom prst="rect">
            <a:avLst/>
          </a:prstGeom>
          <a:noFill/>
        </p:spPr>
        <p:txBody>
          <a:bodyPr wrap="square" rtlCol="0">
            <a:spAutoFit/>
          </a:bodyPr>
          <a:lstStyle/>
          <a:p>
            <a:pPr marL="0" marR="0" lvl="0" indent="0" defTabSz="457200" rtl="0" eaLnBrk="1" fontAlgn="auto" latinLnBrk="0" hangingPunct="1">
              <a:lnSpc>
                <a:spcPct val="120000"/>
              </a:lnSpc>
              <a:spcAft>
                <a:spcPts val="0"/>
              </a:spcAft>
              <a:buClrTx/>
              <a:buSzTx/>
              <a:buFontTx/>
              <a:buNone/>
              <a:tabLst/>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第一轮的一步</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迭代示意图</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3472183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63</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32028" y="1535876"/>
                <a:ext cx="8479944" cy="2095958"/>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第二轮迭代运算与第一轮相同，但是使用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sSub>
                      <m:sSubPr>
                        <m:ctrlPr>
                          <a:rPr lang="en-US" altLang="zh-CN" sz="2000" b="0" i="1" smtClean="0">
                            <a:solidFill>
                              <a:srgbClr val="0000FF"/>
                            </a:solidFill>
                            <a:latin typeface="Cambria Math" panose="02040503050406030204" pitchFamily="18" charset="0"/>
                            <a:cs typeface="Times New Roman" panose="02020603050405020304" pitchFamily="18" charset="0"/>
                          </a:rPr>
                        </m:ctrlPr>
                      </m:sSubPr>
                      <m:e>
                        <m:r>
                          <a:rPr lang="en-US" altLang="zh-CN" sz="2000" b="0" i="1" smtClean="0">
                            <a:solidFill>
                              <a:srgbClr val="0000FF"/>
                            </a:solidFill>
                            <a:latin typeface="Cambria Math" panose="02040503050406030204" pitchFamily="18" charset="0"/>
                            <a:cs typeface="Times New Roman" panose="02020603050405020304" pitchFamily="18" charset="0"/>
                          </a:rPr>
                          <m:t>𝑓</m:t>
                        </m:r>
                      </m:e>
                      <m:sub>
                        <m:r>
                          <a:rPr lang="en-US" altLang="zh-CN" sz="2000" b="0" i="1" smtClean="0">
                            <a:solidFill>
                              <a:srgbClr val="0000FF"/>
                            </a:solidFill>
                            <a:latin typeface="Cambria Math" panose="02040503050406030204" pitchFamily="18" charset="0"/>
                            <a:cs typeface="Times New Roman" panose="02020603050405020304" pitchFamily="18" charset="0"/>
                          </a:rPr>
                          <m:t>2</m:t>
                        </m:r>
                      </m:sub>
                    </m:sSub>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panose="02040503050406030204" pitchFamily="18" charset="0"/>
                        </a:rPr>
                        <m:t>𝑎</m:t>
                      </m:r>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𝑒</m:t>
                      </m:r>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𝑓</m:t>
                          </m:r>
                        </m:e>
                        <m:sub>
                          <m:r>
                            <a:rPr lang="en-US" altLang="zh-CN" sz="2000" b="0" i="1" dirty="0" smtClean="0">
                              <a:solidFill>
                                <a:srgbClr val="0000FF"/>
                              </a:solidFill>
                              <a:latin typeface="Cambria Math" panose="02040503050406030204" pitchFamily="18" charset="0"/>
                            </a:rPr>
                            <m:t>2</m:t>
                          </m:r>
                        </m:sub>
                      </m:sSub>
                      <m:d>
                        <m:dPr>
                          <m:ctrlPr>
                            <a:rPr lang="en-US" altLang="zh-CN" sz="2000" i="1" dirty="0">
                              <a:solidFill>
                                <a:srgbClr val="0000FF"/>
                              </a:solidFill>
                              <a:latin typeface="Cambria Math" panose="02040503050406030204" pitchFamily="18" charset="0"/>
                            </a:rPr>
                          </m:ctrlPr>
                        </m:dPr>
                        <m:e>
                          <m:r>
                            <a:rPr lang="en-US" altLang="zh-CN" sz="2000" i="1" dirty="0">
                              <a:solidFill>
                                <a:srgbClr val="0000FF"/>
                              </a:solidFill>
                              <a:latin typeface="Cambria Math" panose="02040503050406030204" pitchFamily="18" charset="0"/>
                            </a:rPr>
                            <m:t>𝑏</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𝑐</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𝑑</m:t>
                          </m:r>
                        </m:e>
                      </m:d>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𝑎</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lang="en-US" altLang="zh-CN" sz="2000" i="1" dirty="0">
                          <a:solidFill>
                            <a:srgbClr val="0000FF"/>
                          </a:solidFill>
                          <a:latin typeface="Cambria Math" panose="02040503050406030204" pitchFamily="18" charset="0"/>
                        </a:rPr>
                        <m:t>5)+</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𝑊</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𝐾</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oMath>
                  </m:oMathPara>
                </a14:m>
                <a:endParaRPr lang="en-US" altLang="zh-CN" sz="2000" dirty="0">
                  <a:solidFill>
                    <a:srgbClr val="0000FF"/>
                  </a:solidFill>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第二轮同样运行 </a:t>
                </a:r>
                <a:r>
                  <a:rPr lang="en-US" altLang="zh-CN" sz="2000" dirty="0">
                    <a:latin typeface="Cambria Math" panose="02040503050406030204" pitchFamily="18" charset="0"/>
                  </a:rPr>
                  <a:t>20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𝑊</m:t>
                        </m:r>
                      </m:e>
                      <m:sub>
                        <m:r>
                          <a:rPr lang="en-US" altLang="zh-CN" i="1" dirty="0">
                            <a:latin typeface="Cambria Math" panose="02040503050406030204" pitchFamily="18" charset="0"/>
                          </a:rPr>
                          <m:t>𝑡</m:t>
                        </m:r>
                      </m:sub>
                    </m:sSub>
                    <m:r>
                      <a:rPr lang="en-US" altLang="zh-CN" i="1" dirty="0">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是扩展后消息的第</a:t>
                </a:r>
                <a14:m>
                  <m:oMath xmlns:m="http://schemas.openxmlformats.org/officeDocument/2006/math">
                    <m:r>
                      <a:rPr lang="en-US" altLang="zh-CN">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𝑡</m:t>
                    </m:r>
                    <m:r>
                      <a:rPr lang="en-US" altLang="zh-CN" i="1">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字，</a:t>
                </a:r>
                <a14:m>
                  <m:oMath xmlns:m="http://schemas.openxmlformats.org/officeDocument/2006/math">
                    <m:r>
                      <a:rPr lang="de-DE" altLang="zh-CN" i="1" dirty="0">
                        <a:latin typeface="Cambria Math" panose="02040503050406030204" pitchFamily="18" charset="0"/>
                      </a:rPr>
                      <m:t>20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39</m:t>
                    </m:r>
                  </m:oMath>
                </a14:m>
                <a:endParaRPr lang="en-US" altLang="zh-CN" dirty="0">
                  <a:solidFill>
                    <a:prstClr val="black"/>
                  </a:solidFill>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a:solidFill>
                              <a:prstClr val="black"/>
                            </a:solidFill>
                            <a:latin typeface="Cambria Math" panose="02040503050406030204" pitchFamily="18" charset="0"/>
                          </a:rPr>
                        </m:ctrlPr>
                      </m:sSubPr>
                      <m:e>
                        <m:r>
                          <a:rPr lang="en-US" altLang="zh-CN" i="1" dirty="0">
                            <a:solidFill>
                              <a:prstClr val="black"/>
                            </a:solidFill>
                            <a:latin typeface="Cambria Math" panose="02040503050406030204" pitchFamily="18" charset="0"/>
                          </a:rPr>
                          <m:t>𝐾</m:t>
                        </m:r>
                      </m:e>
                      <m:sub>
                        <m:r>
                          <a:rPr lang="en-US" altLang="zh-CN" i="1" dirty="0">
                            <a:solidFill>
                              <a:prstClr val="black"/>
                            </a:solidFill>
                            <a:latin typeface="Cambria Math" panose="02040503050406030204" pitchFamily="18" charset="0"/>
                          </a:rPr>
                          <m:t>𝑡</m:t>
                        </m:r>
                      </m:sub>
                    </m:sSub>
                  </m:oMath>
                </a14:m>
                <a:r>
                  <a:rPr lang="zh-CN" altLang="en-US" dirty="0">
                    <a:solidFill>
                      <a:prstClr val="black"/>
                    </a:solidFill>
                    <a:latin typeface="Cambria Math" panose="02040503050406030204" pitchFamily="18" charset="0"/>
                    <a:cs typeface="Times New Roman" panose="02020603050405020304" pitchFamily="18" charset="0"/>
                  </a:rPr>
                  <a:t>为常数，在</a:t>
                </a:r>
                <a:r>
                  <a:rPr lang="zh-CN" altLang="en-US" dirty="0">
                    <a:latin typeface="Cambria Math" panose="02040503050406030204" pitchFamily="18" charset="0"/>
                  </a:rPr>
                  <a:t>第二轮中 </a:t>
                </a:r>
                <a14:m>
                  <m:oMath xmlns:m="http://schemas.openxmlformats.org/officeDocument/2006/math">
                    <m:sSub>
                      <m:sSubPr>
                        <m:ctrlPr>
                          <a:rPr lang="en-US" altLang="zh-CN" i="1" dirty="0">
                            <a:latin typeface="Cambria Math" panose="02040503050406030204" pitchFamily="18" charset="0"/>
                          </a:rPr>
                        </m:ctrlPr>
                      </m:sSubPr>
                      <m:e>
                        <m:r>
                          <a:rPr lang="de-DE" altLang="zh-CN" i="1" dirty="0">
                            <a:latin typeface="Cambria Math" panose="02040503050406030204" pitchFamily="18" charset="0"/>
                          </a:rPr>
                          <m:t>𝐾</m:t>
                        </m:r>
                      </m:e>
                      <m:sub>
                        <m:r>
                          <a:rPr lang="de-DE" altLang="zh-CN" i="1" dirty="0">
                            <a:latin typeface="Cambria Math" panose="02040503050406030204" pitchFamily="18" charset="0"/>
                          </a:rPr>
                          <m:t>𝑡</m:t>
                        </m:r>
                      </m:sub>
                    </m:sSub>
                    <m:r>
                      <a:rPr lang="de-DE" altLang="zh-CN" i="1" dirty="0">
                        <a:latin typeface="Cambria Math" panose="02040503050406030204" pitchFamily="18" charset="0"/>
                      </a:rPr>
                      <m:t>=</m:t>
                    </m:r>
                    <m:r>
                      <a:rPr lang="de-DE" altLang="zh-CN" dirty="0">
                        <a:latin typeface="Cambria Math" panose="02040503050406030204" pitchFamily="18" charset="0"/>
                      </a:rPr>
                      <m:t>0</m:t>
                    </m:r>
                    <m:r>
                      <m:rPr>
                        <m:sty m:val="p"/>
                      </m:rPr>
                      <a:rPr lang="en-US" altLang="zh-CN" dirty="0">
                        <a:latin typeface="Cambria Math" panose="02040503050406030204" pitchFamily="18" charset="0"/>
                      </a:rPr>
                      <m:t>x</m:t>
                    </m:r>
                    <m:r>
                      <a:rPr lang="de-DE" altLang="zh-CN" dirty="0">
                        <a:latin typeface="Cambria Math" panose="02040503050406030204" pitchFamily="18" charset="0"/>
                      </a:rPr>
                      <m:t>6</m:t>
                    </m:r>
                    <m:r>
                      <m:rPr>
                        <m:sty m:val="p"/>
                      </m:rPr>
                      <a:rPr lang="de-DE" altLang="zh-CN" dirty="0">
                        <a:latin typeface="Cambria Math" panose="02040503050406030204" pitchFamily="18" charset="0"/>
                      </a:rPr>
                      <m:t>ED</m:t>
                    </m:r>
                    <m:r>
                      <a:rPr lang="de-DE" altLang="zh-CN" dirty="0">
                        <a:latin typeface="Cambria Math" panose="02040503050406030204" pitchFamily="18" charset="0"/>
                      </a:rPr>
                      <m:t>9</m:t>
                    </m:r>
                    <m:r>
                      <m:rPr>
                        <m:sty m:val="p"/>
                      </m:rPr>
                      <a:rPr lang="de-DE" altLang="zh-CN" dirty="0">
                        <a:latin typeface="Cambria Math" panose="02040503050406030204" pitchFamily="18" charset="0"/>
                      </a:rPr>
                      <m:t>EBA</m:t>
                    </m:r>
                    <m:r>
                      <a:rPr lang="de-DE" altLang="zh-CN" dirty="0">
                        <a:latin typeface="Cambria Math" panose="02040503050406030204" pitchFamily="18" charset="0"/>
                      </a:rPr>
                      <m:t>1 </m:t>
                    </m:r>
                    <m:r>
                      <a:rPr lang="de-DE" altLang="zh-CN" i="1" dirty="0">
                        <a:latin typeface="Cambria Math" panose="02040503050406030204" pitchFamily="18" charset="0"/>
                      </a:rPr>
                      <m:t>(20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39)</m:t>
                    </m:r>
                  </m:oMath>
                </a14:m>
                <a:endParaRPr lang="de-DE" altLang="zh-CN" dirty="0">
                  <a:latin typeface="-apple-system"/>
                </a:endParaRPr>
              </a:p>
            </p:txBody>
          </p:sp>
        </mc:Choice>
        <mc:Fallback xmlns="">
          <p:sp>
            <p:nvSpPr>
              <p:cNvPr id="7" name="文本框 6">
                <a:extLst>
                  <a:ext uri="{FF2B5EF4-FFF2-40B4-BE49-F238E27FC236}">
                    <a16:creationId xmlns:a16="http://schemas.microsoft.com/office/drawing/2014/main" xmlns=""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32028" y="1535876"/>
                <a:ext cx="8479944" cy="2095958"/>
              </a:xfrm>
              <a:prstGeom prst="rect">
                <a:avLst/>
              </a:prstGeom>
              <a:blipFill rotWithShape="0">
                <a:blip r:embed="rId3"/>
                <a:stretch>
                  <a:fillRect l="-647" t="-291" b="-2326"/>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C57956DB-47F7-432C-B439-02B827A167D5}"/>
              </a:ext>
            </a:extLst>
          </p:cNvPr>
          <p:cNvGrpSpPr>
            <a:grpSpLocks noChangeAspect="1"/>
          </p:cNvGrpSpPr>
          <p:nvPr/>
        </p:nvGrpSpPr>
        <p:grpSpPr>
          <a:xfrm>
            <a:off x="1588932" y="3615256"/>
            <a:ext cx="5966136" cy="2850549"/>
            <a:chOff x="851420" y="2694150"/>
            <a:chExt cx="6857841" cy="3392621"/>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FEB6BBC-BFBD-4BEB-B4D6-3EEBC041C5F2}"/>
                    </a:ext>
                  </a:extLst>
                </p:cNvPr>
                <p:cNvSpPr/>
                <p:nvPr/>
              </p:nvSpPr>
              <p:spPr>
                <a:xfrm>
                  <a:off x="851420" y="327440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851420" y="3274407"/>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CC8AE78-38D9-4B0F-9B72-52375AC4AB2D}"/>
                    </a:ext>
                  </a:extLst>
                </p:cNvPr>
                <p:cNvSpPr/>
                <p:nvPr/>
              </p:nvSpPr>
              <p:spPr>
                <a:xfrm>
                  <a:off x="851420" y="366658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851420" y="3666587"/>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AA3F6FF-4839-495C-A921-FF800D6431DC}"/>
                    </a:ext>
                  </a:extLst>
                </p:cNvPr>
                <p:cNvSpPr/>
                <p:nvPr/>
              </p:nvSpPr>
              <p:spPr>
                <a:xfrm>
                  <a:off x="851420" y="405876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851420" y="4058767"/>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20F42762-4D1F-46F7-AD5E-C6457A916A8B}"/>
                    </a:ext>
                  </a:extLst>
                </p:cNvPr>
                <p:cNvSpPr/>
                <p:nvPr/>
              </p:nvSpPr>
              <p:spPr>
                <a:xfrm>
                  <a:off x="851420" y="445094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851420" y="4450947"/>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13" name="流程图: 或者 12">
              <a:extLst>
                <a:ext uri="{FF2B5EF4-FFF2-40B4-BE49-F238E27FC236}">
                  <a16:creationId xmlns:a16="http://schemas.microsoft.com/office/drawing/2014/main" id="{720BE980-E7D5-415C-B0AB-CDEA4483B0FF}"/>
                </a:ext>
              </a:extLst>
            </p:cNvPr>
            <p:cNvSpPr/>
            <p:nvPr/>
          </p:nvSpPr>
          <p:spPr>
            <a:xfrm>
              <a:off x="2018779" y="327440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4" name="直接箭头连接符 13">
              <a:extLst>
                <a:ext uri="{FF2B5EF4-FFF2-40B4-BE49-F238E27FC236}">
                  <a16:creationId xmlns:a16="http://schemas.microsoft.com/office/drawing/2014/main" id="{BC252E21-B19A-4876-940C-77F184926AAA}"/>
                </a:ext>
              </a:extLst>
            </p:cNvPr>
            <p:cNvCxnSpPr>
              <a:cxnSpLocks/>
              <a:stCxn id="9" idx="3"/>
              <a:endCxn id="13" idx="2"/>
            </p:cNvCxnSpPr>
            <p:nvPr/>
          </p:nvCxnSpPr>
          <p:spPr>
            <a:xfrm>
              <a:off x="1510650" y="3470497"/>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5" name="流程图: 或者 14">
              <a:extLst>
                <a:ext uri="{FF2B5EF4-FFF2-40B4-BE49-F238E27FC236}">
                  <a16:creationId xmlns:a16="http://schemas.microsoft.com/office/drawing/2014/main" id="{E1162793-59E8-475B-8FCE-86B9BF92AC97}"/>
                </a:ext>
              </a:extLst>
            </p:cNvPr>
            <p:cNvSpPr/>
            <p:nvPr/>
          </p:nvSpPr>
          <p:spPr>
            <a:xfrm>
              <a:off x="3247539" y="326869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6" name="直接箭头连接符 15">
              <a:extLst>
                <a:ext uri="{FF2B5EF4-FFF2-40B4-BE49-F238E27FC236}">
                  <a16:creationId xmlns:a16="http://schemas.microsoft.com/office/drawing/2014/main" id="{C6F68FA3-7E79-4725-80F0-44415C89E0FC}"/>
                </a:ext>
              </a:extLst>
            </p:cNvPr>
            <p:cNvCxnSpPr>
              <a:cxnSpLocks/>
              <a:stCxn id="13" idx="6"/>
              <a:endCxn id="15" idx="2"/>
            </p:cNvCxnSpPr>
            <p:nvPr/>
          </p:nvCxnSpPr>
          <p:spPr>
            <a:xfrm flipV="1">
              <a:off x="2411179" y="3464787"/>
              <a:ext cx="836360"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7" name="流程图: 或者 16">
              <a:extLst>
                <a:ext uri="{FF2B5EF4-FFF2-40B4-BE49-F238E27FC236}">
                  <a16:creationId xmlns:a16="http://schemas.microsoft.com/office/drawing/2014/main" id="{1CF37929-830B-41AD-9502-A4A41AE4237D}"/>
                </a:ext>
              </a:extLst>
            </p:cNvPr>
            <p:cNvSpPr/>
            <p:nvPr/>
          </p:nvSpPr>
          <p:spPr>
            <a:xfrm>
              <a:off x="4535812" y="32557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8" name="直接箭头连接符 17">
              <a:extLst>
                <a:ext uri="{FF2B5EF4-FFF2-40B4-BE49-F238E27FC236}">
                  <a16:creationId xmlns:a16="http://schemas.microsoft.com/office/drawing/2014/main" id="{04C616F5-B323-4F87-B746-537F9AA66C0D}"/>
                </a:ext>
              </a:extLst>
            </p:cNvPr>
            <p:cNvCxnSpPr>
              <a:cxnSpLocks/>
              <a:stCxn id="15" idx="6"/>
              <a:endCxn id="17" idx="2"/>
            </p:cNvCxnSpPr>
            <p:nvPr/>
          </p:nvCxnSpPr>
          <p:spPr>
            <a:xfrm flipV="1">
              <a:off x="3639939" y="3451793"/>
              <a:ext cx="895873" cy="1299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F2743F91-9364-49B7-A1D2-E4BE3671EE18}"/>
                </a:ext>
              </a:extLst>
            </p:cNvPr>
            <p:cNvCxnSpPr>
              <a:cxnSpLocks/>
              <a:stCxn id="17" idx="6"/>
              <a:endCxn id="20" idx="2"/>
            </p:cNvCxnSpPr>
            <p:nvPr/>
          </p:nvCxnSpPr>
          <p:spPr>
            <a:xfrm flipV="1">
              <a:off x="4928212" y="3449363"/>
              <a:ext cx="558480" cy="24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2BC3DF78-4C00-48A8-B506-63BE1026F1C5}"/>
                </a:ext>
              </a:extLst>
            </p:cNvPr>
            <p:cNvSpPr/>
            <p:nvPr/>
          </p:nvSpPr>
          <p:spPr>
            <a:xfrm>
              <a:off x="5486692" y="325327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5186EF7-DA77-4C77-9A1F-88D9BF40CDF9}"/>
                    </a:ext>
                  </a:extLst>
                </p:cNvPr>
                <p:cNvSpPr/>
                <p:nvPr/>
              </p:nvSpPr>
              <p:spPr>
                <a:xfrm>
                  <a:off x="7050031" y="326869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050031" y="3268697"/>
                  <a:ext cx="659230" cy="392180"/>
                </a:xfrm>
                <a:prstGeom prst="rect">
                  <a:avLst/>
                </a:prstGeom>
                <a:blipFill>
                  <a:blip r:embed="rId8"/>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848D062-39CF-4305-899A-52C5E3228D08}"/>
                    </a:ext>
                  </a:extLst>
                </p:cNvPr>
                <p:cNvSpPr/>
                <p:nvPr/>
              </p:nvSpPr>
              <p:spPr>
                <a:xfrm>
                  <a:off x="7050031" y="366087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050031" y="3660877"/>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1FE8EA6-3A47-43DE-B14F-EBB943761AEF}"/>
                    </a:ext>
                  </a:extLst>
                </p:cNvPr>
                <p:cNvSpPr/>
                <p:nvPr/>
              </p:nvSpPr>
              <p:spPr>
                <a:xfrm>
                  <a:off x="7050031" y="405305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050031" y="4053057"/>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7A6332E-F5CD-4798-922F-2392E04D62A7}"/>
                    </a:ext>
                  </a:extLst>
                </p:cNvPr>
                <p:cNvSpPr/>
                <p:nvPr/>
              </p:nvSpPr>
              <p:spPr>
                <a:xfrm>
                  <a:off x="7050031" y="444523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050031" y="4445237"/>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7BDBD32A-C604-42EE-9C03-AE5F0570EDB9}"/>
                </a:ext>
              </a:extLst>
            </p:cNvPr>
            <p:cNvCxnSpPr>
              <a:cxnSpLocks/>
              <a:endCxn id="21" idx="1"/>
            </p:cNvCxnSpPr>
            <p:nvPr/>
          </p:nvCxnSpPr>
          <p:spPr>
            <a:xfrm flipV="1">
              <a:off x="6538322" y="3464787"/>
              <a:ext cx="511709" cy="3744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直接箭头连接符 25">
              <a:extLst>
                <a:ext uri="{FF2B5EF4-FFF2-40B4-BE49-F238E27FC236}">
                  <a16:creationId xmlns:a16="http://schemas.microsoft.com/office/drawing/2014/main" id="{18FF16F5-3FA3-44BD-ABDF-59243E68CD1A}"/>
                </a:ext>
              </a:extLst>
            </p:cNvPr>
            <p:cNvCxnSpPr>
              <a:cxnSpLocks/>
              <a:endCxn id="22" idx="1"/>
            </p:cNvCxnSpPr>
            <p:nvPr/>
          </p:nvCxnSpPr>
          <p:spPr>
            <a:xfrm flipV="1">
              <a:off x="6525622" y="3856967"/>
              <a:ext cx="524409" cy="377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28BAD78C-DCFF-4688-8FE5-66CB16A11397}"/>
                </a:ext>
              </a:extLst>
            </p:cNvPr>
            <p:cNvCxnSpPr>
              <a:cxnSpLocks/>
              <a:endCxn id="23" idx="1"/>
            </p:cNvCxnSpPr>
            <p:nvPr/>
          </p:nvCxnSpPr>
          <p:spPr>
            <a:xfrm flipV="1">
              <a:off x="6519272" y="4249147"/>
              <a:ext cx="530759" cy="3921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1B059365-D2F5-4C50-9966-DD264D11839D}"/>
                </a:ext>
              </a:extLst>
            </p:cNvPr>
            <p:cNvCxnSpPr>
              <a:cxnSpLocks/>
              <a:endCxn id="42" idx="1"/>
            </p:cNvCxnSpPr>
            <p:nvPr/>
          </p:nvCxnSpPr>
          <p:spPr>
            <a:xfrm>
              <a:off x="6512902" y="3457670"/>
              <a:ext cx="537129" cy="15758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0A93F7F-74C7-4AC6-82BA-AF255FE0F7CF}"/>
                </a:ext>
              </a:extLst>
            </p:cNvPr>
            <p:cNvCxnSpPr>
              <a:cxnSpLocks/>
              <a:stCxn id="20" idx="6"/>
            </p:cNvCxnSpPr>
            <p:nvPr/>
          </p:nvCxnSpPr>
          <p:spPr>
            <a:xfrm>
              <a:off x="5879092" y="3449363"/>
              <a:ext cx="640180" cy="425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直接箭头连接符 29">
              <a:extLst>
                <a:ext uri="{FF2B5EF4-FFF2-40B4-BE49-F238E27FC236}">
                  <a16:creationId xmlns:a16="http://schemas.microsoft.com/office/drawing/2014/main" id="{E997530F-62D6-449D-99B9-B066F14BC95A}"/>
                </a:ext>
              </a:extLst>
            </p:cNvPr>
            <p:cNvCxnSpPr>
              <a:cxnSpLocks/>
              <a:stCxn id="10" idx="3"/>
            </p:cNvCxnSpPr>
            <p:nvPr/>
          </p:nvCxnSpPr>
          <p:spPr>
            <a:xfrm flipV="1">
              <a:off x="1510650" y="3842161"/>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772BB9E3-051F-4952-A264-8AA26CE2F536}"/>
                </a:ext>
              </a:extLst>
            </p:cNvPr>
            <p:cNvCxnSpPr>
              <a:cxnSpLocks/>
              <a:stCxn id="11" idx="3"/>
            </p:cNvCxnSpPr>
            <p:nvPr/>
          </p:nvCxnSpPr>
          <p:spPr>
            <a:xfrm flipV="1">
              <a:off x="1510650" y="4235680"/>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EE4C50AE-F4A6-4803-98D0-82446F1BD0A5}"/>
                </a:ext>
              </a:extLst>
            </p:cNvPr>
            <p:cNvCxnSpPr>
              <a:cxnSpLocks/>
              <a:endCxn id="44" idx="1"/>
            </p:cNvCxnSpPr>
            <p:nvPr/>
          </p:nvCxnSpPr>
          <p:spPr>
            <a:xfrm flipV="1">
              <a:off x="1505374" y="4646734"/>
              <a:ext cx="3050370" cy="1770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连接符: 肘形 32">
              <a:extLst>
                <a:ext uri="{FF2B5EF4-FFF2-40B4-BE49-F238E27FC236}">
                  <a16:creationId xmlns:a16="http://schemas.microsoft.com/office/drawing/2014/main" id="{324D88DA-E540-45D2-9345-5A2D6D5A1C6F}"/>
                </a:ext>
              </a:extLst>
            </p:cNvPr>
            <p:cNvCxnSpPr>
              <a:cxnSpLocks/>
              <a:stCxn id="10" idx="1"/>
              <a:endCxn id="34" idx="1"/>
            </p:cNvCxnSpPr>
            <p:nvPr/>
          </p:nvCxnSpPr>
          <p:spPr>
            <a:xfrm rot="10800000" flipH="1" flipV="1">
              <a:off x="851420" y="3862676"/>
              <a:ext cx="573664" cy="202789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81E588F6-DBF5-4D0F-91E6-B521C594A325}"/>
                    </a:ext>
                  </a:extLst>
                </p:cNvPr>
                <p:cNvSpPr/>
                <p:nvPr/>
              </p:nvSpPr>
              <p:spPr>
                <a:xfrm>
                  <a:off x="1425084" y="5694371"/>
                  <a:ext cx="1568973"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700" dirty="0">
                      <a:solidFill>
                        <a:srgbClr val="0000FF"/>
                      </a:solidFill>
                    </a:rPr>
                    <a:t>逻辑函数</a:t>
                  </a:r>
                  <a14:m>
                    <m:oMath xmlns:m="http://schemas.openxmlformats.org/officeDocument/2006/math">
                      <m:r>
                        <a:rPr lang="en-US" altLang="zh-CN" sz="1700" b="0" i="1" smtClean="0">
                          <a:solidFill>
                            <a:srgbClr val="0000FF"/>
                          </a:solidFill>
                          <a:latin typeface="Cambria Math" panose="02040503050406030204" pitchFamily="18" charset="0"/>
                        </a:rPr>
                        <m:t> </m:t>
                      </m:r>
                      <m:sSub>
                        <m:sSubPr>
                          <m:ctrlPr>
                            <a:rPr lang="en-US" altLang="zh-CN" sz="1700" b="0" i="1" smtClean="0">
                              <a:solidFill>
                                <a:srgbClr val="0000FF"/>
                              </a:solidFill>
                              <a:latin typeface="Cambria Math" panose="02040503050406030204" pitchFamily="18" charset="0"/>
                            </a:rPr>
                          </m:ctrlPr>
                        </m:sSubPr>
                        <m:e>
                          <m:r>
                            <a:rPr lang="en-US" altLang="zh-CN" sz="1700" b="0" i="1" smtClean="0">
                              <a:solidFill>
                                <a:srgbClr val="0000FF"/>
                              </a:solidFill>
                              <a:latin typeface="Cambria Math" panose="02040503050406030204" pitchFamily="18" charset="0"/>
                            </a:rPr>
                            <m:t>𝑓</m:t>
                          </m:r>
                        </m:e>
                        <m:sub>
                          <m:r>
                            <a:rPr lang="en-US" altLang="zh-CN" sz="1700" b="0" i="1" smtClean="0">
                              <a:solidFill>
                                <a:srgbClr val="0000FF"/>
                              </a:solidFill>
                              <a:latin typeface="Cambria Math" panose="02040503050406030204" pitchFamily="18" charset="0"/>
                            </a:rPr>
                            <m:t>2</m:t>
                          </m:r>
                        </m:sub>
                      </m:sSub>
                    </m:oMath>
                  </a14:m>
                  <a:endParaRPr lang="zh-CN" altLang="en-US" sz="1700" dirty="0">
                    <a:solidFill>
                      <a:srgbClr val="0000FF"/>
                    </a:solidFill>
                  </a:endParaRPr>
                </a:p>
              </p:txBody>
            </p:sp>
          </mc:Choice>
          <mc:Fallback xmlns="">
            <p:sp>
              <p:nvSpPr>
                <p:cNvPr id="34" name="矩形: 圆角 33">
                  <a:extLst>
                    <a:ext uri="{FF2B5EF4-FFF2-40B4-BE49-F238E27FC236}">
                      <a16:creationId xmlns:a16="http://schemas.microsoft.com/office/drawing/2014/main" id="{81E588F6-DBF5-4D0F-91E6-B521C594A325}"/>
                    </a:ext>
                  </a:extLst>
                </p:cNvPr>
                <p:cNvSpPr>
                  <a:spLocks noRot="1" noChangeAspect="1" noMove="1" noResize="1" noEditPoints="1" noAdjustHandles="1" noChangeArrowheads="1" noChangeShapeType="1" noTextEdit="1"/>
                </p:cNvSpPr>
                <p:nvPr/>
              </p:nvSpPr>
              <p:spPr>
                <a:xfrm>
                  <a:off x="1425084" y="5694371"/>
                  <a:ext cx="1568973" cy="392400"/>
                </a:xfrm>
                <a:prstGeom prst="roundRect">
                  <a:avLst/>
                </a:prstGeom>
                <a:blipFill>
                  <a:blip r:embed="rId12"/>
                  <a:stretch>
                    <a:fillRect t="-8929" b="-25000"/>
                  </a:stretch>
                </a:blipFill>
                <a:ln w="12700">
                  <a:solidFill>
                    <a:srgbClr val="2A2A2A"/>
                  </a:solidFill>
                </a:ln>
              </p:spPr>
              <p:txBody>
                <a:bodyPr/>
                <a:lstStyle/>
                <a:p>
                  <a:r>
                    <a:rPr lang="zh-CN" altLang="en-US">
                      <a:noFill/>
                    </a:rPr>
                    <a:t> </a:t>
                  </a:r>
                </a:p>
              </p:txBody>
            </p:sp>
          </mc:Fallback>
        </mc:AlternateContent>
        <p:cxnSp>
          <p:nvCxnSpPr>
            <p:cNvPr id="35" name="连接符: 肘形 34">
              <a:extLst>
                <a:ext uri="{FF2B5EF4-FFF2-40B4-BE49-F238E27FC236}">
                  <a16:creationId xmlns:a16="http://schemas.microsoft.com/office/drawing/2014/main" id="{D4736826-B59C-460C-93E8-B574BFB1DBCB}"/>
                </a:ext>
              </a:extLst>
            </p:cNvPr>
            <p:cNvCxnSpPr>
              <a:cxnSpLocks/>
              <a:stCxn id="11" idx="1"/>
              <a:endCxn id="34" idx="1"/>
            </p:cNvCxnSpPr>
            <p:nvPr/>
          </p:nvCxnSpPr>
          <p:spPr>
            <a:xfrm rot="10800000" flipH="1" flipV="1">
              <a:off x="851420" y="4254856"/>
              <a:ext cx="573664" cy="163571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0240CE5D-E746-4CC8-8AF2-C368FFE547ED}"/>
                </a:ext>
              </a:extLst>
            </p:cNvPr>
            <p:cNvCxnSpPr>
              <a:cxnSpLocks/>
              <a:stCxn id="12" idx="1"/>
              <a:endCxn id="34" idx="1"/>
            </p:cNvCxnSpPr>
            <p:nvPr/>
          </p:nvCxnSpPr>
          <p:spPr>
            <a:xfrm rot="10800000" flipH="1" flipV="1">
              <a:off x="851420" y="4647036"/>
              <a:ext cx="573664" cy="124353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DD7564EE-684A-49D6-99DD-0F7C47285378}"/>
                </a:ext>
              </a:extLst>
            </p:cNvPr>
            <p:cNvCxnSpPr>
              <a:cxnSpLocks/>
              <a:stCxn id="34" idx="0"/>
              <a:endCxn id="13" idx="4"/>
            </p:cNvCxnSpPr>
            <p:nvPr/>
          </p:nvCxnSpPr>
          <p:spPr>
            <a:xfrm flipV="1">
              <a:off x="2209570" y="3666587"/>
              <a:ext cx="5409" cy="202778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C1A5126-75FB-4AF6-85C0-522283F286DF}"/>
                    </a:ext>
                  </a:extLst>
                </p:cNvPr>
                <p:cNvSpPr txBox="1"/>
                <p:nvPr/>
              </p:nvSpPr>
              <p:spPr>
                <a:xfrm>
                  <a:off x="4516775" y="2704432"/>
                  <a:ext cx="454284"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𝑊</m:t>
                            </m:r>
                          </m:e>
                          <m:sub>
                            <m:r>
                              <a:rPr lang="en-US" altLang="zh-CN" sz="1700" b="0" i="1" dirty="0" smtClean="0">
                                <a:solidFill>
                                  <a:schemeClr val="tx1"/>
                                </a:solidFill>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38" name="文本框 37">
                  <a:extLst>
                    <a:ext uri="{FF2B5EF4-FFF2-40B4-BE49-F238E27FC236}">
                      <a16:creationId xmlns:a16="http://schemas.microsoft.com/office/drawing/2014/main" id="{1C1A5126-75FB-4AF6-85C0-522283F286DF}"/>
                    </a:ext>
                  </a:extLst>
                </p:cNvPr>
                <p:cNvSpPr txBox="1">
                  <a:spLocks noRot="1" noChangeAspect="1" noMove="1" noResize="1" noEditPoints="1" noAdjustHandles="1" noChangeArrowheads="1" noChangeShapeType="1" noTextEdit="1"/>
                </p:cNvSpPr>
                <p:nvPr/>
              </p:nvSpPr>
              <p:spPr>
                <a:xfrm>
                  <a:off x="4516775" y="2704432"/>
                  <a:ext cx="454284" cy="353943"/>
                </a:xfrm>
                <a:prstGeom prst="rect">
                  <a:avLst/>
                </a:prstGeom>
                <a:blipFill>
                  <a:blip r:embed="rId13"/>
                  <a:stretch>
                    <a:fillRect b="-16327"/>
                  </a:stretch>
                </a:blipFill>
              </p:spPr>
              <p:txBody>
                <a:bodyPr/>
                <a:lstStyle/>
                <a:p>
                  <a:r>
                    <a:rPr lang="zh-CN" altLang="en-US">
                      <a:noFill/>
                    </a:rPr>
                    <a:t> </a:t>
                  </a:r>
                </a:p>
              </p:txBody>
            </p:sp>
          </mc:Fallback>
        </mc:AlternateContent>
        <p:cxnSp>
          <p:nvCxnSpPr>
            <p:cNvPr id="39" name="直接箭头连接符 38">
              <a:extLst>
                <a:ext uri="{FF2B5EF4-FFF2-40B4-BE49-F238E27FC236}">
                  <a16:creationId xmlns:a16="http://schemas.microsoft.com/office/drawing/2014/main" id="{900B5EC2-9EA7-44EC-8320-9E95133305D9}"/>
                </a:ext>
              </a:extLst>
            </p:cNvPr>
            <p:cNvCxnSpPr>
              <a:cxnSpLocks/>
              <a:stCxn id="38" idx="2"/>
              <a:endCxn id="17" idx="0"/>
            </p:cNvCxnSpPr>
            <p:nvPr/>
          </p:nvCxnSpPr>
          <p:spPr>
            <a:xfrm flipH="1">
              <a:off x="4732012" y="3058375"/>
              <a:ext cx="11905" cy="1973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D9A7D6B-5F53-4925-B956-215BCC91D69A}"/>
                    </a:ext>
                  </a:extLst>
                </p:cNvPr>
                <p:cNvSpPr txBox="1"/>
                <p:nvPr/>
              </p:nvSpPr>
              <p:spPr>
                <a:xfrm>
                  <a:off x="5336682" y="2694150"/>
                  <a:ext cx="692419"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𝐾</m:t>
                            </m:r>
                          </m:e>
                          <m:sub>
                            <m:r>
                              <a:rPr lang="en-US" altLang="zh-CN" sz="1700" b="0" i="1" dirty="0" smtClean="0">
                                <a:solidFill>
                                  <a:schemeClr val="tx1"/>
                                </a:solidFill>
                                <a:effectLst/>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40" name="文本框 39">
                  <a:extLst>
                    <a:ext uri="{FF2B5EF4-FFF2-40B4-BE49-F238E27FC236}">
                      <a16:creationId xmlns:a16="http://schemas.microsoft.com/office/drawing/2014/main" id="{BD9A7D6B-5F53-4925-B956-215BCC91D69A}"/>
                    </a:ext>
                  </a:extLst>
                </p:cNvPr>
                <p:cNvSpPr txBox="1">
                  <a:spLocks noRot="1" noChangeAspect="1" noMove="1" noResize="1" noEditPoints="1" noAdjustHandles="1" noChangeArrowheads="1" noChangeShapeType="1" noTextEdit="1"/>
                </p:cNvSpPr>
                <p:nvPr/>
              </p:nvSpPr>
              <p:spPr>
                <a:xfrm>
                  <a:off x="5336682" y="2694150"/>
                  <a:ext cx="692419" cy="353943"/>
                </a:xfrm>
                <a:prstGeom prst="rect">
                  <a:avLst/>
                </a:prstGeom>
                <a:blipFill>
                  <a:blip r:embed="rId14"/>
                  <a:stretch>
                    <a:fillRect b="-163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C6E1A0A-C8A8-4DE3-A6A5-DD3D5C16DEBE}"/>
                    </a:ext>
                  </a:extLst>
                </p:cNvPr>
                <p:cNvSpPr/>
                <p:nvPr/>
              </p:nvSpPr>
              <p:spPr>
                <a:xfrm>
                  <a:off x="851420"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7" name="矩形 46">
                  <a:extLst>
                    <a:ext uri="{FF2B5EF4-FFF2-40B4-BE49-F238E27FC236}">
                      <a16:creationId xmlns:a16="http://schemas.microsoft.com/office/drawing/2014/main" id="{B805291E-D2D4-48D3-9BDD-612BD7B7905E}"/>
                    </a:ext>
                  </a:extLst>
                </p:cNvPr>
                <p:cNvSpPr>
                  <a:spLocks noRot="1" noChangeAspect="1" noMove="1" noResize="1" noEditPoints="1" noAdjustHandles="1" noChangeArrowheads="1" noChangeShapeType="1" noTextEdit="1"/>
                </p:cNvSpPr>
                <p:nvPr/>
              </p:nvSpPr>
              <p:spPr>
                <a:xfrm>
                  <a:off x="851420" y="4837417"/>
                  <a:ext cx="659230" cy="392180"/>
                </a:xfrm>
                <a:prstGeom prst="rect">
                  <a:avLst/>
                </a:prstGeom>
                <a:blipFill>
                  <a:blip r:embed="rId1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F6C64BD8-B4B7-457B-BDB5-F5ADB4162004}"/>
                    </a:ext>
                  </a:extLst>
                </p:cNvPr>
                <p:cNvSpPr/>
                <p:nvPr/>
              </p:nvSpPr>
              <p:spPr>
                <a:xfrm>
                  <a:off x="7050031"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1" name="矩形 50">
                  <a:extLst>
                    <a:ext uri="{FF2B5EF4-FFF2-40B4-BE49-F238E27FC236}">
                      <a16:creationId xmlns:a16="http://schemas.microsoft.com/office/drawing/2014/main" id="{EE5DA41B-1E97-4FC1-80CF-221DC08970D6}"/>
                    </a:ext>
                  </a:extLst>
                </p:cNvPr>
                <p:cNvSpPr>
                  <a:spLocks noRot="1" noChangeAspect="1" noMove="1" noResize="1" noEditPoints="1" noAdjustHandles="1" noChangeArrowheads="1" noChangeShapeType="1" noTextEdit="1"/>
                </p:cNvSpPr>
                <p:nvPr/>
              </p:nvSpPr>
              <p:spPr>
                <a:xfrm>
                  <a:off x="7050031" y="4837417"/>
                  <a:ext cx="659230" cy="392180"/>
                </a:xfrm>
                <a:prstGeom prst="rect">
                  <a:avLst/>
                </a:prstGeom>
                <a:blipFill>
                  <a:blip r:embed="rId1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459B4152-3891-451B-AAFF-003A9760C29F}"/>
                    </a:ext>
                  </a:extLst>
                </p:cNvPr>
                <p:cNvSpPr/>
                <p:nvPr/>
              </p:nvSpPr>
              <p:spPr>
                <a:xfrm>
                  <a:off x="2862673" y="5252405"/>
                  <a:ext cx="1179452"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&lt;&lt;&lt;5</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3" name="矩形 42">
                  <a:extLst>
                    <a:ext uri="{FF2B5EF4-FFF2-40B4-BE49-F238E27FC236}">
                      <a16:creationId xmlns:a16="http://schemas.microsoft.com/office/drawing/2014/main" id="{459B4152-3891-451B-AAFF-003A9760C29F}"/>
                    </a:ext>
                  </a:extLst>
                </p:cNvPr>
                <p:cNvSpPr>
                  <a:spLocks noRot="1" noChangeAspect="1" noMove="1" noResize="1" noEditPoints="1" noAdjustHandles="1" noChangeArrowheads="1" noChangeShapeType="1" noTextEdit="1"/>
                </p:cNvSpPr>
                <p:nvPr/>
              </p:nvSpPr>
              <p:spPr>
                <a:xfrm>
                  <a:off x="2862673" y="5252405"/>
                  <a:ext cx="1179452" cy="392180"/>
                </a:xfrm>
                <a:prstGeom prst="rect">
                  <a:avLst/>
                </a:prstGeom>
                <a:blipFill>
                  <a:blip r:embed="rId17"/>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D4BB3C54-B31A-4869-AA47-D80A82C5ABD9}"/>
                    </a:ext>
                  </a:extLst>
                </p:cNvPr>
                <p:cNvSpPr/>
                <p:nvPr/>
              </p:nvSpPr>
              <p:spPr>
                <a:xfrm>
                  <a:off x="4555743" y="4450644"/>
                  <a:ext cx="1252918"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&lt;&lt;&lt;3</m:t>
                        </m:r>
                        <m:r>
                          <a:rPr lang="en-US" altLang="zh-CN" sz="17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4" name="矩形 43">
                  <a:extLst>
                    <a:ext uri="{FF2B5EF4-FFF2-40B4-BE49-F238E27FC236}">
                      <a16:creationId xmlns:a16="http://schemas.microsoft.com/office/drawing/2014/main" id="{D4BB3C54-B31A-4869-AA47-D80A82C5ABD9}"/>
                    </a:ext>
                  </a:extLst>
                </p:cNvPr>
                <p:cNvSpPr>
                  <a:spLocks noRot="1" noChangeAspect="1" noMove="1" noResize="1" noEditPoints="1" noAdjustHandles="1" noChangeArrowheads="1" noChangeShapeType="1" noTextEdit="1"/>
                </p:cNvSpPr>
                <p:nvPr/>
              </p:nvSpPr>
              <p:spPr>
                <a:xfrm>
                  <a:off x="4555743" y="4450644"/>
                  <a:ext cx="1252918" cy="392180"/>
                </a:xfrm>
                <a:prstGeom prst="rect">
                  <a:avLst/>
                </a:prstGeom>
                <a:blipFill>
                  <a:blip r:embed="rId18"/>
                  <a:stretch>
                    <a:fillRect/>
                  </a:stretch>
                </a:blipFill>
                <a:ln w="9525">
                  <a:solidFill>
                    <a:schemeClr val="tx1"/>
                  </a:solidFill>
                </a:ln>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97F63602-668E-4117-862F-A322F3C6B43C}"/>
                </a:ext>
              </a:extLst>
            </p:cNvPr>
            <p:cNvCxnSpPr>
              <a:cxnSpLocks/>
              <a:stCxn id="43" idx="0"/>
              <a:endCxn id="15" idx="4"/>
            </p:cNvCxnSpPr>
            <p:nvPr/>
          </p:nvCxnSpPr>
          <p:spPr>
            <a:xfrm flipH="1" flipV="1">
              <a:off x="3443740" y="3660877"/>
              <a:ext cx="8660" cy="15915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FD44BE8D-E133-4BC1-B095-E976B652E530}"/>
                </a:ext>
              </a:extLst>
            </p:cNvPr>
            <p:cNvCxnSpPr>
              <a:cxnSpLocks/>
              <a:endCxn id="20" idx="0"/>
            </p:cNvCxnSpPr>
            <p:nvPr/>
          </p:nvCxnSpPr>
          <p:spPr>
            <a:xfrm>
              <a:off x="5682892" y="3080030"/>
              <a:ext cx="0" cy="173243"/>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直接箭头连接符 46">
              <a:extLst>
                <a:ext uri="{FF2B5EF4-FFF2-40B4-BE49-F238E27FC236}">
                  <a16:creationId xmlns:a16="http://schemas.microsoft.com/office/drawing/2014/main" id="{EAD174B5-68A8-448C-A67C-252491C207DF}"/>
                </a:ext>
              </a:extLst>
            </p:cNvPr>
            <p:cNvCxnSpPr>
              <a:cxnSpLocks/>
              <a:stCxn id="44" idx="3"/>
            </p:cNvCxnSpPr>
            <p:nvPr/>
          </p:nvCxnSpPr>
          <p:spPr>
            <a:xfrm flipV="1">
              <a:off x="5808662" y="4634439"/>
              <a:ext cx="710611" cy="1229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8" name="直接箭头连接符 47">
              <a:extLst>
                <a:ext uri="{FF2B5EF4-FFF2-40B4-BE49-F238E27FC236}">
                  <a16:creationId xmlns:a16="http://schemas.microsoft.com/office/drawing/2014/main" id="{AD17342C-67F6-41EB-A0CE-BFBD645D0E41}"/>
                </a:ext>
              </a:extLst>
            </p:cNvPr>
            <p:cNvCxnSpPr>
              <a:cxnSpLocks/>
              <a:stCxn id="41" idx="3"/>
            </p:cNvCxnSpPr>
            <p:nvPr/>
          </p:nvCxnSpPr>
          <p:spPr>
            <a:xfrm>
              <a:off x="1510650" y="5033507"/>
              <a:ext cx="5014972" cy="1081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9" name="直接箭头连接符 48">
              <a:extLst>
                <a:ext uri="{FF2B5EF4-FFF2-40B4-BE49-F238E27FC236}">
                  <a16:creationId xmlns:a16="http://schemas.microsoft.com/office/drawing/2014/main" id="{65E45D23-3A7B-4817-B43C-BB53EDAD6726}"/>
                </a:ext>
              </a:extLst>
            </p:cNvPr>
            <p:cNvCxnSpPr>
              <a:cxnSpLocks/>
              <a:endCxn id="24" idx="1"/>
            </p:cNvCxnSpPr>
            <p:nvPr/>
          </p:nvCxnSpPr>
          <p:spPr>
            <a:xfrm flipV="1">
              <a:off x="6519272" y="4641327"/>
              <a:ext cx="530759" cy="4029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连接符: 肘形 49">
              <a:extLst>
                <a:ext uri="{FF2B5EF4-FFF2-40B4-BE49-F238E27FC236}">
                  <a16:creationId xmlns:a16="http://schemas.microsoft.com/office/drawing/2014/main" id="{FA3E66B1-7E0C-4D8C-AB5B-F80402A7BEA2}"/>
                </a:ext>
              </a:extLst>
            </p:cNvPr>
            <p:cNvCxnSpPr>
              <a:cxnSpLocks/>
              <a:stCxn id="41" idx="1"/>
              <a:endCxn id="43" idx="1"/>
            </p:cNvCxnSpPr>
            <p:nvPr/>
          </p:nvCxnSpPr>
          <p:spPr>
            <a:xfrm rot="10800000" flipH="1" flipV="1">
              <a:off x="851420" y="5033507"/>
              <a:ext cx="2011253" cy="414988"/>
            </a:xfrm>
            <a:prstGeom prst="bentConnector3">
              <a:avLst>
                <a:gd name="adj1" fmla="val -1306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3760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64</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32028" y="1535876"/>
                <a:ext cx="8479944" cy="2107500"/>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第三轮迭代运算使用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sSub>
                      <m:sSubPr>
                        <m:ctrlPr>
                          <a:rPr lang="en-US" altLang="zh-CN" sz="2000" b="0" i="1" smtClean="0">
                            <a:solidFill>
                              <a:srgbClr val="0000FF"/>
                            </a:solidFill>
                            <a:latin typeface="Cambria Math" panose="02040503050406030204" pitchFamily="18" charset="0"/>
                            <a:cs typeface="Times New Roman" panose="02020603050405020304" pitchFamily="18" charset="0"/>
                          </a:rPr>
                        </m:ctrlPr>
                      </m:sSubPr>
                      <m:e>
                        <m:r>
                          <a:rPr lang="en-US" altLang="zh-CN" sz="2000" b="0" i="1" smtClean="0">
                            <a:solidFill>
                              <a:srgbClr val="0000FF"/>
                            </a:solidFill>
                            <a:latin typeface="Cambria Math" panose="02040503050406030204" pitchFamily="18" charset="0"/>
                            <a:cs typeface="Times New Roman" panose="02020603050405020304" pitchFamily="18" charset="0"/>
                          </a:rPr>
                          <m:t>𝑓</m:t>
                        </m:r>
                      </m:e>
                      <m:sub>
                        <m:r>
                          <a:rPr lang="en-US" altLang="zh-CN" sz="2000" b="0" i="1" smtClean="0">
                            <a:solidFill>
                              <a:srgbClr val="0000FF"/>
                            </a:solidFill>
                            <a:latin typeface="Cambria Math" panose="02040503050406030204" pitchFamily="18" charset="0"/>
                            <a:cs typeface="Times New Roman" panose="02020603050405020304" pitchFamily="18" charset="0"/>
                          </a:rPr>
                          <m:t>3</m:t>
                        </m:r>
                      </m:sub>
                    </m:sSub>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panose="02040503050406030204" pitchFamily="18" charset="0"/>
                        </a:rPr>
                        <m:t>𝑎</m:t>
                      </m:r>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𝑒</m:t>
                      </m:r>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𝑓</m:t>
                          </m:r>
                        </m:e>
                        <m:sub>
                          <m:r>
                            <a:rPr lang="en-US" altLang="zh-CN" sz="2000" b="0" i="1" dirty="0" smtClean="0">
                              <a:solidFill>
                                <a:srgbClr val="0000FF"/>
                              </a:solidFill>
                              <a:latin typeface="Cambria Math" panose="02040503050406030204" pitchFamily="18" charset="0"/>
                            </a:rPr>
                            <m:t>3</m:t>
                          </m:r>
                        </m:sub>
                      </m:sSub>
                      <m:d>
                        <m:dPr>
                          <m:ctrlPr>
                            <a:rPr lang="en-US" altLang="zh-CN" sz="2000" i="1" dirty="0">
                              <a:solidFill>
                                <a:srgbClr val="0000FF"/>
                              </a:solidFill>
                              <a:latin typeface="Cambria Math" panose="02040503050406030204" pitchFamily="18" charset="0"/>
                            </a:rPr>
                          </m:ctrlPr>
                        </m:dPr>
                        <m:e>
                          <m:r>
                            <a:rPr lang="en-US" altLang="zh-CN" sz="2000" i="1" dirty="0">
                              <a:solidFill>
                                <a:srgbClr val="0000FF"/>
                              </a:solidFill>
                              <a:latin typeface="Cambria Math" panose="02040503050406030204" pitchFamily="18" charset="0"/>
                            </a:rPr>
                            <m:t>𝑏</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𝑐</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𝑑</m:t>
                          </m:r>
                        </m:e>
                      </m:d>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𝑎</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lang="en-US" altLang="zh-CN" sz="2000" i="1" dirty="0">
                          <a:solidFill>
                            <a:srgbClr val="0000FF"/>
                          </a:solidFill>
                          <a:latin typeface="Cambria Math" panose="02040503050406030204" pitchFamily="18" charset="0"/>
                        </a:rPr>
                        <m:t>5)+</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𝑊</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𝐾</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oMath>
                  </m:oMathPara>
                </a14:m>
                <a:endParaRPr lang="en-US" altLang="zh-CN" sz="2000" dirty="0">
                  <a:solidFill>
                    <a:srgbClr val="0000FF"/>
                  </a:solidFill>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第三轮同样运行 </a:t>
                </a:r>
                <a:r>
                  <a:rPr lang="en-US" altLang="zh-CN" sz="2000" dirty="0">
                    <a:latin typeface="Cambria Math" panose="02040503050406030204" pitchFamily="18" charset="0"/>
                  </a:rPr>
                  <a:t>20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𝑊</m:t>
                        </m:r>
                      </m:e>
                      <m:sub>
                        <m:r>
                          <a:rPr lang="en-US" altLang="zh-CN" i="1" dirty="0">
                            <a:latin typeface="Cambria Math" panose="02040503050406030204" pitchFamily="18" charset="0"/>
                          </a:rPr>
                          <m:t>𝑡</m:t>
                        </m:r>
                      </m:sub>
                    </m:sSub>
                    <m:r>
                      <a:rPr lang="en-US" altLang="zh-CN" i="1" dirty="0">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是扩展后消息的第</a:t>
                </a:r>
                <a14:m>
                  <m:oMath xmlns:m="http://schemas.openxmlformats.org/officeDocument/2006/math">
                    <m:r>
                      <a:rPr lang="en-US" altLang="zh-CN">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𝑡</m:t>
                    </m:r>
                    <m:r>
                      <a:rPr lang="en-US" altLang="zh-CN" i="1">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字，</a:t>
                </a:r>
                <a14:m>
                  <m:oMath xmlns:m="http://schemas.openxmlformats.org/officeDocument/2006/math">
                    <m:r>
                      <a:rPr lang="de-DE" altLang="zh-CN" i="1" dirty="0">
                        <a:latin typeface="Cambria Math" panose="02040503050406030204" pitchFamily="18" charset="0"/>
                      </a:rPr>
                      <m:t>40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59</m:t>
                    </m:r>
                  </m:oMath>
                </a14:m>
                <a:endParaRPr lang="en-US" altLang="zh-CN" dirty="0">
                  <a:solidFill>
                    <a:prstClr val="black"/>
                  </a:solidFill>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a:solidFill>
                              <a:prstClr val="black"/>
                            </a:solidFill>
                            <a:latin typeface="Cambria Math" panose="02040503050406030204" pitchFamily="18" charset="0"/>
                          </a:rPr>
                        </m:ctrlPr>
                      </m:sSubPr>
                      <m:e>
                        <m:r>
                          <a:rPr lang="en-US" altLang="zh-CN" i="1" dirty="0">
                            <a:solidFill>
                              <a:prstClr val="black"/>
                            </a:solidFill>
                            <a:latin typeface="Cambria Math" panose="02040503050406030204" pitchFamily="18" charset="0"/>
                          </a:rPr>
                          <m:t>𝐾</m:t>
                        </m:r>
                      </m:e>
                      <m:sub>
                        <m:r>
                          <a:rPr lang="en-US" altLang="zh-CN" i="1" dirty="0">
                            <a:solidFill>
                              <a:prstClr val="black"/>
                            </a:solidFill>
                            <a:latin typeface="Cambria Math" panose="02040503050406030204" pitchFamily="18" charset="0"/>
                          </a:rPr>
                          <m:t>𝑡</m:t>
                        </m:r>
                      </m:sub>
                    </m:sSub>
                  </m:oMath>
                </a14:m>
                <a:r>
                  <a:rPr lang="zh-CN" altLang="en-US" dirty="0">
                    <a:solidFill>
                      <a:prstClr val="black"/>
                    </a:solidFill>
                    <a:latin typeface="Cambria Math" panose="02040503050406030204" pitchFamily="18" charset="0"/>
                    <a:cs typeface="Times New Roman" panose="02020603050405020304" pitchFamily="18" charset="0"/>
                  </a:rPr>
                  <a:t>为常数，在</a:t>
                </a:r>
                <a:r>
                  <a:rPr lang="zh-CN" altLang="en-US" dirty="0">
                    <a:latin typeface="Cambria Math" panose="02040503050406030204" pitchFamily="18" charset="0"/>
                  </a:rPr>
                  <a:t>第三轮中 </a:t>
                </a:r>
                <a14:m>
                  <m:oMath xmlns:m="http://schemas.openxmlformats.org/officeDocument/2006/math">
                    <m:sSub>
                      <m:sSubPr>
                        <m:ctrlPr>
                          <a:rPr lang="en-US" altLang="zh-CN" i="1" dirty="0">
                            <a:latin typeface="Cambria Math" panose="02040503050406030204" pitchFamily="18" charset="0"/>
                          </a:rPr>
                        </m:ctrlPr>
                      </m:sSubPr>
                      <m:e>
                        <m:r>
                          <a:rPr lang="de-DE" altLang="zh-CN" i="1" dirty="0">
                            <a:latin typeface="Cambria Math" panose="02040503050406030204" pitchFamily="18" charset="0"/>
                          </a:rPr>
                          <m:t>𝐾</m:t>
                        </m:r>
                      </m:e>
                      <m:sub>
                        <m:r>
                          <a:rPr lang="de-DE" altLang="zh-CN" i="1" dirty="0">
                            <a:latin typeface="Cambria Math" panose="02040503050406030204" pitchFamily="18" charset="0"/>
                          </a:rPr>
                          <m:t>𝑡</m:t>
                        </m:r>
                      </m:sub>
                    </m:sSub>
                    <m:r>
                      <a:rPr lang="de-DE" altLang="zh-CN" i="1" dirty="0">
                        <a:latin typeface="Cambria Math" panose="02040503050406030204" pitchFamily="18" charset="0"/>
                      </a:rPr>
                      <m:t>=</m:t>
                    </m:r>
                    <m:r>
                      <a:rPr lang="de-DE" altLang="zh-CN" dirty="0">
                        <a:latin typeface="Cambria Math" panose="02040503050406030204" pitchFamily="18" charset="0"/>
                      </a:rPr>
                      <m:t>0</m:t>
                    </m:r>
                    <m:r>
                      <m:rPr>
                        <m:sty m:val="p"/>
                      </m:rPr>
                      <a:rPr lang="en-US" altLang="zh-CN" dirty="0">
                        <a:latin typeface="Cambria Math" panose="02040503050406030204" pitchFamily="18" charset="0"/>
                      </a:rPr>
                      <m:t>x</m:t>
                    </m:r>
                    <m:r>
                      <a:rPr lang="de-DE" altLang="zh-CN" dirty="0">
                        <a:latin typeface="Cambria Math" panose="02040503050406030204" pitchFamily="18" charset="0"/>
                      </a:rPr>
                      <m:t>8</m:t>
                    </m:r>
                    <m:r>
                      <m:rPr>
                        <m:sty m:val="p"/>
                      </m:rPr>
                      <a:rPr lang="de-DE" altLang="zh-CN" dirty="0">
                        <a:latin typeface="Cambria Math" panose="02040503050406030204" pitchFamily="18" charset="0"/>
                      </a:rPr>
                      <m:t>F</m:t>
                    </m:r>
                    <m:r>
                      <a:rPr lang="de-DE" altLang="zh-CN" dirty="0">
                        <a:latin typeface="Cambria Math" panose="02040503050406030204" pitchFamily="18" charset="0"/>
                      </a:rPr>
                      <m:t>1</m:t>
                    </m:r>
                    <m:r>
                      <m:rPr>
                        <m:sty m:val="p"/>
                      </m:rPr>
                      <a:rPr lang="de-DE" altLang="zh-CN" dirty="0">
                        <a:latin typeface="Cambria Math" panose="02040503050406030204" pitchFamily="18" charset="0"/>
                      </a:rPr>
                      <m:t>BBCDC</m:t>
                    </m:r>
                    <m:r>
                      <a:rPr lang="de-DE" altLang="zh-CN" dirty="0">
                        <a:latin typeface="Cambria Math" panose="02040503050406030204" pitchFamily="18" charset="0"/>
                      </a:rPr>
                      <m:t> </m:t>
                    </m:r>
                    <m:r>
                      <a:rPr lang="de-DE" altLang="zh-CN" i="1" dirty="0">
                        <a:latin typeface="Cambria Math" panose="02040503050406030204" pitchFamily="18" charset="0"/>
                      </a:rPr>
                      <m:t>(40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59)</m:t>
                    </m:r>
                  </m:oMath>
                </a14:m>
                <a:endParaRPr lang="de-DE" altLang="zh-CN" dirty="0">
                  <a:latin typeface="-apple-system"/>
                </a:endParaRPr>
              </a:p>
            </p:txBody>
          </p:sp>
        </mc:Choice>
        <mc:Fallback xmlns="">
          <p:sp>
            <p:nvSpPr>
              <p:cNvPr id="7" name="文本框 6">
                <a:extLst>
                  <a:ext uri="{FF2B5EF4-FFF2-40B4-BE49-F238E27FC236}">
                    <a16:creationId xmlns:a16="http://schemas.microsoft.com/office/drawing/2014/main" xmlns="" xmlns:a14="http://schemas.microsoft.com/office/drawing/2010/main" id="{0D62A5DE-B116-2098-BBCF-2C373A6B4455}"/>
                  </a:ext>
                </a:extLst>
              </p:cNvPr>
              <p:cNvSpPr txBox="1">
                <a:spLocks noRot="1" noChangeAspect="1" noMove="1" noResize="1" noEditPoints="1" noAdjustHandles="1" noChangeArrowheads="1" noChangeShapeType="1" noTextEdit="1"/>
              </p:cNvSpPr>
              <p:nvPr/>
            </p:nvSpPr>
            <p:spPr>
              <a:xfrm>
                <a:off x="332028" y="1535876"/>
                <a:ext cx="8479944" cy="2107500"/>
              </a:xfrm>
              <a:prstGeom prst="rect">
                <a:avLst/>
              </a:prstGeom>
              <a:blipFill rotWithShape="0">
                <a:blip r:embed="rId3"/>
                <a:stretch>
                  <a:fillRect l="-647" t="-289" b="-1734"/>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C57956DB-47F7-432C-B439-02B827A167D5}"/>
              </a:ext>
            </a:extLst>
          </p:cNvPr>
          <p:cNvGrpSpPr>
            <a:grpSpLocks noChangeAspect="1"/>
          </p:cNvGrpSpPr>
          <p:nvPr/>
        </p:nvGrpSpPr>
        <p:grpSpPr>
          <a:xfrm>
            <a:off x="1588932" y="3615256"/>
            <a:ext cx="5966136" cy="2850549"/>
            <a:chOff x="851420" y="2694150"/>
            <a:chExt cx="6857841" cy="3392621"/>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FEB6BBC-BFBD-4BEB-B4D6-3EEBC041C5F2}"/>
                    </a:ext>
                  </a:extLst>
                </p:cNvPr>
                <p:cNvSpPr/>
                <p:nvPr/>
              </p:nvSpPr>
              <p:spPr>
                <a:xfrm>
                  <a:off x="851420" y="327440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851420" y="3274407"/>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CC8AE78-38D9-4B0F-9B72-52375AC4AB2D}"/>
                    </a:ext>
                  </a:extLst>
                </p:cNvPr>
                <p:cNvSpPr/>
                <p:nvPr/>
              </p:nvSpPr>
              <p:spPr>
                <a:xfrm>
                  <a:off x="851420" y="366658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851420" y="3666587"/>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AA3F6FF-4839-495C-A921-FF800D6431DC}"/>
                    </a:ext>
                  </a:extLst>
                </p:cNvPr>
                <p:cNvSpPr/>
                <p:nvPr/>
              </p:nvSpPr>
              <p:spPr>
                <a:xfrm>
                  <a:off x="851420" y="405876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851420" y="4058767"/>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20F42762-4D1F-46F7-AD5E-C6457A916A8B}"/>
                    </a:ext>
                  </a:extLst>
                </p:cNvPr>
                <p:cNvSpPr/>
                <p:nvPr/>
              </p:nvSpPr>
              <p:spPr>
                <a:xfrm>
                  <a:off x="851420" y="445094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851420" y="4450947"/>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13" name="流程图: 或者 12">
              <a:extLst>
                <a:ext uri="{FF2B5EF4-FFF2-40B4-BE49-F238E27FC236}">
                  <a16:creationId xmlns:a16="http://schemas.microsoft.com/office/drawing/2014/main" id="{720BE980-E7D5-415C-B0AB-CDEA4483B0FF}"/>
                </a:ext>
              </a:extLst>
            </p:cNvPr>
            <p:cNvSpPr/>
            <p:nvPr/>
          </p:nvSpPr>
          <p:spPr>
            <a:xfrm>
              <a:off x="2018779" y="327440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4" name="直接箭头连接符 13">
              <a:extLst>
                <a:ext uri="{FF2B5EF4-FFF2-40B4-BE49-F238E27FC236}">
                  <a16:creationId xmlns:a16="http://schemas.microsoft.com/office/drawing/2014/main" id="{BC252E21-B19A-4876-940C-77F184926AAA}"/>
                </a:ext>
              </a:extLst>
            </p:cNvPr>
            <p:cNvCxnSpPr>
              <a:cxnSpLocks/>
              <a:stCxn id="9" idx="3"/>
              <a:endCxn id="13" idx="2"/>
            </p:cNvCxnSpPr>
            <p:nvPr/>
          </p:nvCxnSpPr>
          <p:spPr>
            <a:xfrm>
              <a:off x="1510650" y="3470497"/>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5" name="流程图: 或者 14">
              <a:extLst>
                <a:ext uri="{FF2B5EF4-FFF2-40B4-BE49-F238E27FC236}">
                  <a16:creationId xmlns:a16="http://schemas.microsoft.com/office/drawing/2014/main" id="{E1162793-59E8-475B-8FCE-86B9BF92AC97}"/>
                </a:ext>
              </a:extLst>
            </p:cNvPr>
            <p:cNvSpPr/>
            <p:nvPr/>
          </p:nvSpPr>
          <p:spPr>
            <a:xfrm>
              <a:off x="3247539" y="326869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6" name="直接箭头连接符 15">
              <a:extLst>
                <a:ext uri="{FF2B5EF4-FFF2-40B4-BE49-F238E27FC236}">
                  <a16:creationId xmlns:a16="http://schemas.microsoft.com/office/drawing/2014/main" id="{C6F68FA3-7E79-4725-80F0-44415C89E0FC}"/>
                </a:ext>
              </a:extLst>
            </p:cNvPr>
            <p:cNvCxnSpPr>
              <a:cxnSpLocks/>
              <a:stCxn id="13" idx="6"/>
              <a:endCxn id="15" idx="2"/>
            </p:cNvCxnSpPr>
            <p:nvPr/>
          </p:nvCxnSpPr>
          <p:spPr>
            <a:xfrm flipV="1">
              <a:off x="2411179" y="3464787"/>
              <a:ext cx="836360"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7" name="流程图: 或者 16">
              <a:extLst>
                <a:ext uri="{FF2B5EF4-FFF2-40B4-BE49-F238E27FC236}">
                  <a16:creationId xmlns:a16="http://schemas.microsoft.com/office/drawing/2014/main" id="{1CF37929-830B-41AD-9502-A4A41AE4237D}"/>
                </a:ext>
              </a:extLst>
            </p:cNvPr>
            <p:cNvSpPr/>
            <p:nvPr/>
          </p:nvSpPr>
          <p:spPr>
            <a:xfrm>
              <a:off x="4535812" y="32557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8" name="直接箭头连接符 17">
              <a:extLst>
                <a:ext uri="{FF2B5EF4-FFF2-40B4-BE49-F238E27FC236}">
                  <a16:creationId xmlns:a16="http://schemas.microsoft.com/office/drawing/2014/main" id="{04C616F5-B323-4F87-B746-537F9AA66C0D}"/>
                </a:ext>
              </a:extLst>
            </p:cNvPr>
            <p:cNvCxnSpPr>
              <a:cxnSpLocks/>
              <a:stCxn id="15" idx="6"/>
              <a:endCxn id="17" idx="2"/>
            </p:cNvCxnSpPr>
            <p:nvPr/>
          </p:nvCxnSpPr>
          <p:spPr>
            <a:xfrm flipV="1">
              <a:off x="3639939" y="3451793"/>
              <a:ext cx="895873" cy="1299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F2743F91-9364-49B7-A1D2-E4BE3671EE18}"/>
                </a:ext>
              </a:extLst>
            </p:cNvPr>
            <p:cNvCxnSpPr>
              <a:cxnSpLocks/>
              <a:stCxn id="17" idx="6"/>
              <a:endCxn id="20" idx="2"/>
            </p:cNvCxnSpPr>
            <p:nvPr/>
          </p:nvCxnSpPr>
          <p:spPr>
            <a:xfrm flipV="1">
              <a:off x="4928212" y="3449363"/>
              <a:ext cx="558480" cy="24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2BC3DF78-4C00-48A8-B506-63BE1026F1C5}"/>
                </a:ext>
              </a:extLst>
            </p:cNvPr>
            <p:cNvSpPr/>
            <p:nvPr/>
          </p:nvSpPr>
          <p:spPr>
            <a:xfrm>
              <a:off x="5486692" y="325327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5186EF7-DA77-4C77-9A1F-88D9BF40CDF9}"/>
                    </a:ext>
                  </a:extLst>
                </p:cNvPr>
                <p:cNvSpPr/>
                <p:nvPr/>
              </p:nvSpPr>
              <p:spPr>
                <a:xfrm>
                  <a:off x="7050031" y="326869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050031" y="3268697"/>
                  <a:ext cx="659230" cy="392180"/>
                </a:xfrm>
                <a:prstGeom prst="rect">
                  <a:avLst/>
                </a:prstGeom>
                <a:blipFill>
                  <a:blip r:embed="rId8"/>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848D062-39CF-4305-899A-52C5E3228D08}"/>
                    </a:ext>
                  </a:extLst>
                </p:cNvPr>
                <p:cNvSpPr/>
                <p:nvPr/>
              </p:nvSpPr>
              <p:spPr>
                <a:xfrm>
                  <a:off x="7050031" y="366087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050031" y="3660877"/>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1FE8EA6-3A47-43DE-B14F-EBB943761AEF}"/>
                    </a:ext>
                  </a:extLst>
                </p:cNvPr>
                <p:cNvSpPr/>
                <p:nvPr/>
              </p:nvSpPr>
              <p:spPr>
                <a:xfrm>
                  <a:off x="7050031" y="405305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050031" y="4053057"/>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7A6332E-F5CD-4798-922F-2392E04D62A7}"/>
                    </a:ext>
                  </a:extLst>
                </p:cNvPr>
                <p:cNvSpPr/>
                <p:nvPr/>
              </p:nvSpPr>
              <p:spPr>
                <a:xfrm>
                  <a:off x="7050031" y="444523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050031" y="4445237"/>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7BDBD32A-C604-42EE-9C03-AE5F0570EDB9}"/>
                </a:ext>
              </a:extLst>
            </p:cNvPr>
            <p:cNvCxnSpPr>
              <a:cxnSpLocks/>
              <a:endCxn id="21" idx="1"/>
            </p:cNvCxnSpPr>
            <p:nvPr/>
          </p:nvCxnSpPr>
          <p:spPr>
            <a:xfrm flipV="1">
              <a:off x="6538322" y="3464787"/>
              <a:ext cx="511709" cy="3744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直接箭头连接符 25">
              <a:extLst>
                <a:ext uri="{FF2B5EF4-FFF2-40B4-BE49-F238E27FC236}">
                  <a16:creationId xmlns:a16="http://schemas.microsoft.com/office/drawing/2014/main" id="{18FF16F5-3FA3-44BD-ABDF-59243E68CD1A}"/>
                </a:ext>
              </a:extLst>
            </p:cNvPr>
            <p:cNvCxnSpPr>
              <a:cxnSpLocks/>
              <a:endCxn id="22" idx="1"/>
            </p:cNvCxnSpPr>
            <p:nvPr/>
          </p:nvCxnSpPr>
          <p:spPr>
            <a:xfrm flipV="1">
              <a:off x="6525622" y="3856967"/>
              <a:ext cx="524409" cy="377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28BAD78C-DCFF-4688-8FE5-66CB16A11397}"/>
                </a:ext>
              </a:extLst>
            </p:cNvPr>
            <p:cNvCxnSpPr>
              <a:cxnSpLocks/>
              <a:endCxn id="23" idx="1"/>
            </p:cNvCxnSpPr>
            <p:nvPr/>
          </p:nvCxnSpPr>
          <p:spPr>
            <a:xfrm flipV="1">
              <a:off x="6519272" y="4249147"/>
              <a:ext cx="530759" cy="3921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1B059365-D2F5-4C50-9966-DD264D11839D}"/>
                </a:ext>
              </a:extLst>
            </p:cNvPr>
            <p:cNvCxnSpPr>
              <a:cxnSpLocks/>
              <a:endCxn id="42" idx="1"/>
            </p:cNvCxnSpPr>
            <p:nvPr/>
          </p:nvCxnSpPr>
          <p:spPr>
            <a:xfrm>
              <a:off x="6512902" y="3457670"/>
              <a:ext cx="537129" cy="15758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0A93F7F-74C7-4AC6-82BA-AF255FE0F7CF}"/>
                </a:ext>
              </a:extLst>
            </p:cNvPr>
            <p:cNvCxnSpPr>
              <a:cxnSpLocks/>
              <a:stCxn id="20" idx="6"/>
            </p:cNvCxnSpPr>
            <p:nvPr/>
          </p:nvCxnSpPr>
          <p:spPr>
            <a:xfrm>
              <a:off x="5879092" y="3449363"/>
              <a:ext cx="640180" cy="425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直接箭头连接符 29">
              <a:extLst>
                <a:ext uri="{FF2B5EF4-FFF2-40B4-BE49-F238E27FC236}">
                  <a16:creationId xmlns:a16="http://schemas.microsoft.com/office/drawing/2014/main" id="{E997530F-62D6-449D-99B9-B066F14BC95A}"/>
                </a:ext>
              </a:extLst>
            </p:cNvPr>
            <p:cNvCxnSpPr>
              <a:cxnSpLocks/>
              <a:stCxn id="10" idx="3"/>
            </p:cNvCxnSpPr>
            <p:nvPr/>
          </p:nvCxnSpPr>
          <p:spPr>
            <a:xfrm flipV="1">
              <a:off x="1510650" y="3842161"/>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772BB9E3-051F-4952-A264-8AA26CE2F536}"/>
                </a:ext>
              </a:extLst>
            </p:cNvPr>
            <p:cNvCxnSpPr>
              <a:cxnSpLocks/>
              <a:stCxn id="11" idx="3"/>
            </p:cNvCxnSpPr>
            <p:nvPr/>
          </p:nvCxnSpPr>
          <p:spPr>
            <a:xfrm flipV="1">
              <a:off x="1510650" y="4235680"/>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EE4C50AE-F4A6-4803-98D0-82446F1BD0A5}"/>
                </a:ext>
              </a:extLst>
            </p:cNvPr>
            <p:cNvCxnSpPr>
              <a:cxnSpLocks/>
              <a:endCxn id="44" idx="1"/>
            </p:cNvCxnSpPr>
            <p:nvPr/>
          </p:nvCxnSpPr>
          <p:spPr>
            <a:xfrm flipV="1">
              <a:off x="1505374" y="4646734"/>
              <a:ext cx="3050370" cy="1770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连接符: 肘形 32">
              <a:extLst>
                <a:ext uri="{FF2B5EF4-FFF2-40B4-BE49-F238E27FC236}">
                  <a16:creationId xmlns:a16="http://schemas.microsoft.com/office/drawing/2014/main" id="{324D88DA-E540-45D2-9345-5A2D6D5A1C6F}"/>
                </a:ext>
              </a:extLst>
            </p:cNvPr>
            <p:cNvCxnSpPr>
              <a:cxnSpLocks/>
              <a:stCxn id="10" idx="1"/>
              <a:endCxn id="34" idx="1"/>
            </p:cNvCxnSpPr>
            <p:nvPr/>
          </p:nvCxnSpPr>
          <p:spPr>
            <a:xfrm rot="10800000" flipH="1" flipV="1">
              <a:off x="851420" y="3862676"/>
              <a:ext cx="573664" cy="202789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81E588F6-DBF5-4D0F-91E6-B521C594A325}"/>
                    </a:ext>
                  </a:extLst>
                </p:cNvPr>
                <p:cNvSpPr/>
                <p:nvPr/>
              </p:nvSpPr>
              <p:spPr>
                <a:xfrm>
                  <a:off x="1425084" y="5694371"/>
                  <a:ext cx="1568973"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700" dirty="0">
                      <a:solidFill>
                        <a:srgbClr val="0000FF"/>
                      </a:solidFill>
                    </a:rPr>
                    <a:t>逻辑函数</a:t>
                  </a:r>
                  <a14:m>
                    <m:oMath xmlns:m="http://schemas.openxmlformats.org/officeDocument/2006/math">
                      <m:r>
                        <a:rPr lang="en-US" altLang="zh-CN" sz="1700" b="0" i="1" smtClean="0">
                          <a:solidFill>
                            <a:srgbClr val="0000FF"/>
                          </a:solidFill>
                          <a:latin typeface="Cambria Math" panose="02040503050406030204" pitchFamily="18" charset="0"/>
                        </a:rPr>
                        <m:t> </m:t>
                      </m:r>
                      <m:sSub>
                        <m:sSubPr>
                          <m:ctrlPr>
                            <a:rPr lang="en-US" altLang="zh-CN" sz="1700" b="0" i="1" smtClean="0">
                              <a:solidFill>
                                <a:srgbClr val="0000FF"/>
                              </a:solidFill>
                              <a:latin typeface="Cambria Math" panose="02040503050406030204" pitchFamily="18" charset="0"/>
                            </a:rPr>
                          </m:ctrlPr>
                        </m:sSubPr>
                        <m:e>
                          <m:r>
                            <a:rPr lang="en-US" altLang="zh-CN" sz="1700" b="0" i="1" smtClean="0">
                              <a:solidFill>
                                <a:srgbClr val="0000FF"/>
                              </a:solidFill>
                              <a:latin typeface="Cambria Math" panose="02040503050406030204" pitchFamily="18" charset="0"/>
                            </a:rPr>
                            <m:t>𝑓</m:t>
                          </m:r>
                        </m:e>
                        <m:sub>
                          <m:r>
                            <a:rPr lang="en-US" altLang="zh-CN" sz="1700" b="0" i="1" smtClean="0">
                              <a:solidFill>
                                <a:srgbClr val="0000FF"/>
                              </a:solidFill>
                              <a:latin typeface="Cambria Math" panose="02040503050406030204" pitchFamily="18" charset="0"/>
                            </a:rPr>
                            <m:t>3</m:t>
                          </m:r>
                        </m:sub>
                      </m:sSub>
                    </m:oMath>
                  </a14:m>
                  <a:endParaRPr lang="zh-CN" altLang="en-US" sz="1700" dirty="0">
                    <a:solidFill>
                      <a:srgbClr val="0000FF"/>
                    </a:solidFill>
                  </a:endParaRPr>
                </a:p>
              </p:txBody>
            </p:sp>
          </mc:Choice>
          <mc:Fallback xmlns="">
            <p:sp>
              <p:nvSpPr>
                <p:cNvPr id="34" name="矩形: 圆角 33">
                  <a:extLst>
                    <a:ext uri="{FF2B5EF4-FFF2-40B4-BE49-F238E27FC236}">
                      <a16:creationId xmlns:a16="http://schemas.microsoft.com/office/drawing/2014/main" id="{81E588F6-DBF5-4D0F-91E6-B521C594A325}"/>
                    </a:ext>
                  </a:extLst>
                </p:cNvPr>
                <p:cNvSpPr>
                  <a:spLocks noRot="1" noChangeAspect="1" noMove="1" noResize="1" noEditPoints="1" noAdjustHandles="1" noChangeArrowheads="1" noChangeShapeType="1" noTextEdit="1"/>
                </p:cNvSpPr>
                <p:nvPr/>
              </p:nvSpPr>
              <p:spPr>
                <a:xfrm>
                  <a:off x="1425084" y="5694371"/>
                  <a:ext cx="1568973" cy="392400"/>
                </a:xfrm>
                <a:prstGeom prst="roundRect">
                  <a:avLst/>
                </a:prstGeom>
                <a:blipFill>
                  <a:blip r:embed="rId12"/>
                  <a:stretch>
                    <a:fillRect t="-8929" b="-25000"/>
                  </a:stretch>
                </a:blipFill>
                <a:ln w="12700">
                  <a:solidFill>
                    <a:srgbClr val="2A2A2A"/>
                  </a:solidFill>
                </a:ln>
              </p:spPr>
              <p:txBody>
                <a:bodyPr/>
                <a:lstStyle/>
                <a:p>
                  <a:r>
                    <a:rPr lang="zh-CN" altLang="en-US">
                      <a:noFill/>
                    </a:rPr>
                    <a:t> </a:t>
                  </a:r>
                </a:p>
              </p:txBody>
            </p:sp>
          </mc:Fallback>
        </mc:AlternateContent>
        <p:cxnSp>
          <p:nvCxnSpPr>
            <p:cNvPr id="35" name="连接符: 肘形 34">
              <a:extLst>
                <a:ext uri="{FF2B5EF4-FFF2-40B4-BE49-F238E27FC236}">
                  <a16:creationId xmlns:a16="http://schemas.microsoft.com/office/drawing/2014/main" id="{D4736826-B59C-460C-93E8-B574BFB1DBCB}"/>
                </a:ext>
              </a:extLst>
            </p:cNvPr>
            <p:cNvCxnSpPr>
              <a:cxnSpLocks/>
              <a:stCxn id="11" idx="1"/>
              <a:endCxn id="34" idx="1"/>
            </p:cNvCxnSpPr>
            <p:nvPr/>
          </p:nvCxnSpPr>
          <p:spPr>
            <a:xfrm rot="10800000" flipH="1" flipV="1">
              <a:off x="851420" y="4254856"/>
              <a:ext cx="573664" cy="163571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0240CE5D-E746-4CC8-8AF2-C368FFE547ED}"/>
                </a:ext>
              </a:extLst>
            </p:cNvPr>
            <p:cNvCxnSpPr>
              <a:cxnSpLocks/>
              <a:stCxn id="12" idx="1"/>
              <a:endCxn id="34" idx="1"/>
            </p:cNvCxnSpPr>
            <p:nvPr/>
          </p:nvCxnSpPr>
          <p:spPr>
            <a:xfrm rot="10800000" flipH="1" flipV="1">
              <a:off x="851420" y="4647036"/>
              <a:ext cx="573664" cy="124353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DD7564EE-684A-49D6-99DD-0F7C47285378}"/>
                </a:ext>
              </a:extLst>
            </p:cNvPr>
            <p:cNvCxnSpPr>
              <a:cxnSpLocks/>
              <a:stCxn id="34" idx="0"/>
              <a:endCxn id="13" idx="4"/>
            </p:cNvCxnSpPr>
            <p:nvPr/>
          </p:nvCxnSpPr>
          <p:spPr>
            <a:xfrm flipV="1">
              <a:off x="2209570" y="3666587"/>
              <a:ext cx="5409" cy="202778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C1A5126-75FB-4AF6-85C0-522283F286DF}"/>
                    </a:ext>
                  </a:extLst>
                </p:cNvPr>
                <p:cNvSpPr txBox="1"/>
                <p:nvPr/>
              </p:nvSpPr>
              <p:spPr>
                <a:xfrm>
                  <a:off x="4516775" y="2704432"/>
                  <a:ext cx="454284"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𝑊</m:t>
                            </m:r>
                          </m:e>
                          <m:sub>
                            <m:r>
                              <a:rPr lang="en-US" altLang="zh-CN" sz="1700" b="0" i="1" dirty="0" smtClean="0">
                                <a:solidFill>
                                  <a:schemeClr val="tx1"/>
                                </a:solidFill>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38" name="文本框 37">
                  <a:extLst>
                    <a:ext uri="{FF2B5EF4-FFF2-40B4-BE49-F238E27FC236}">
                      <a16:creationId xmlns:a16="http://schemas.microsoft.com/office/drawing/2014/main" id="{1C1A5126-75FB-4AF6-85C0-522283F286DF}"/>
                    </a:ext>
                  </a:extLst>
                </p:cNvPr>
                <p:cNvSpPr txBox="1">
                  <a:spLocks noRot="1" noChangeAspect="1" noMove="1" noResize="1" noEditPoints="1" noAdjustHandles="1" noChangeArrowheads="1" noChangeShapeType="1" noTextEdit="1"/>
                </p:cNvSpPr>
                <p:nvPr/>
              </p:nvSpPr>
              <p:spPr>
                <a:xfrm>
                  <a:off x="4516775" y="2704432"/>
                  <a:ext cx="454284" cy="353943"/>
                </a:xfrm>
                <a:prstGeom prst="rect">
                  <a:avLst/>
                </a:prstGeom>
                <a:blipFill>
                  <a:blip r:embed="rId13"/>
                  <a:stretch>
                    <a:fillRect b="-16327"/>
                  </a:stretch>
                </a:blipFill>
              </p:spPr>
              <p:txBody>
                <a:bodyPr/>
                <a:lstStyle/>
                <a:p>
                  <a:r>
                    <a:rPr lang="zh-CN" altLang="en-US">
                      <a:noFill/>
                    </a:rPr>
                    <a:t> </a:t>
                  </a:r>
                </a:p>
              </p:txBody>
            </p:sp>
          </mc:Fallback>
        </mc:AlternateContent>
        <p:cxnSp>
          <p:nvCxnSpPr>
            <p:cNvPr id="39" name="直接箭头连接符 38">
              <a:extLst>
                <a:ext uri="{FF2B5EF4-FFF2-40B4-BE49-F238E27FC236}">
                  <a16:creationId xmlns:a16="http://schemas.microsoft.com/office/drawing/2014/main" id="{900B5EC2-9EA7-44EC-8320-9E95133305D9}"/>
                </a:ext>
              </a:extLst>
            </p:cNvPr>
            <p:cNvCxnSpPr>
              <a:cxnSpLocks/>
              <a:stCxn id="38" idx="2"/>
              <a:endCxn id="17" idx="0"/>
            </p:cNvCxnSpPr>
            <p:nvPr/>
          </p:nvCxnSpPr>
          <p:spPr>
            <a:xfrm flipH="1">
              <a:off x="4732012" y="3058375"/>
              <a:ext cx="11905" cy="1973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D9A7D6B-5F53-4925-B956-215BCC91D69A}"/>
                    </a:ext>
                  </a:extLst>
                </p:cNvPr>
                <p:cNvSpPr txBox="1"/>
                <p:nvPr/>
              </p:nvSpPr>
              <p:spPr>
                <a:xfrm>
                  <a:off x="5336682" y="2694150"/>
                  <a:ext cx="692419"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𝐾</m:t>
                            </m:r>
                          </m:e>
                          <m:sub>
                            <m:r>
                              <a:rPr lang="en-US" altLang="zh-CN" sz="1700" b="0" i="1" dirty="0" smtClean="0">
                                <a:solidFill>
                                  <a:schemeClr val="tx1"/>
                                </a:solidFill>
                                <a:effectLst/>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40" name="文本框 39">
                  <a:extLst>
                    <a:ext uri="{FF2B5EF4-FFF2-40B4-BE49-F238E27FC236}">
                      <a16:creationId xmlns:a16="http://schemas.microsoft.com/office/drawing/2014/main" id="{BD9A7D6B-5F53-4925-B956-215BCC91D69A}"/>
                    </a:ext>
                  </a:extLst>
                </p:cNvPr>
                <p:cNvSpPr txBox="1">
                  <a:spLocks noRot="1" noChangeAspect="1" noMove="1" noResize="1" noEditPoints="1" noAdjustHandles="1" noChangeArrowheads="1" noChangeShapeType="1" noTextEdit="1"/>
                </p:cNvSpPr>
                <p:nvPr/>
              </p:nvSpPr>
              <p:spPr>
                <a:xfrm>
                  <a:off x="5336682" y="2694150"/>
                  <a:ext cx="692419" cy="353943"/>
                </a:xfrm>
                <a:prstGeom prst="rect">
                  <a:avLst/>
                </a:prstGeom>
                <a:blipFill>
                  <a:blip r:embed="rId14"/>
                  <a:stretch>
                    <a:fillRect b="-163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C6E1A0A-C8A8-4DE3-A6A5-DD3D5C16DEBE}"/>
                    </a:ext>
                  </a:extLst>
                </p:cNvPr>
                <p:cNvSpPr/>
                <p:nvPr/>
              </p:nvSpPr>
              <p:spPr>
                <a:xfrm>
                  <a:off x="851420"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7" name="矩形 46">
                  <a:extLst>
                    <a:ext uri="{FF2B5EF4-FFF2-40B4-BE49-F238E27FC236}">
                      <a16:creationId xmlns:a16="http://schemas.microsoft.com/office/drawing/2014/main" id="{B805291E-D2D4-48D3-9BDD-612BD7B7905E}"/>
                    </a:ext>
                  </a:extLst>
                </p:cNvPr>
                <p:cNvSpPr>
                  <a:spLocks noRot="1" noChangeAspect="1" noMove="1" noResize="1" noEditPoints="1" noAdjustHandles="1" noChangeArrowheads="1" noChangeShapeType="1" noTextEdit="1"/>
                </p:cNvSpPr>
                <p:nvPr/>
              </p:nvSpPr>
              <p:spPr>
                <a:xfrm>
                  <a:off x="851420" y="4837417"/>
                  <a:ext cx="659230" cy="392180"/>
                </a:xfrm>
                <a:prstGeom prst="rect">
                  <a:avLst/>
                </a:prstGeom>
                <a:blipFill>
                  <a:blip r:embed="rId1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F6C64BD8-B4B7-457B-BDB5-F5ADB4162004}"/>
                    </a:ext>
                  </a:extLst>
                </p:cNvPr>
                <p:cNvSpPr/>
                <p:nvPr/>
              </p:nvSpPr>
              <p:spPr>
                <a:xfrm>
                  <a:off x="7050031"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1" name="矩形 50">
                  <a:extLst>
                    <a:ext uri="{FF2B5EF4-FFF2-40B4-BE49-F238E27FC236}">
                      <a16:creationId xmlns:a16="http://schemas.microsoft.com/office/drawing/2014/main" id="{EE5DA41B-1E97-4FC1-80CF-221DC08970D6}"/>
                    </a:ext>
                  </a:extLst>
                </p:cNvPr>
                <p:cNvSpPr>
                  <a:spLocks noRot="1" noChangeAspect="1" noMove="1" noResize="1" noEditPoints="1" noAdjustHandles="1" noChangeArrowheads="1" noChangeShapeType="1" noTextEdit="1"/>
                </p:cNvSpPr>
                <p:nvPr/>
              </p:nvSpPr>
              <p:spPr>
                <a:xfrm>
                  <a:off x="7050031" y="4837417"/>
                  <a:ext cx="659230" cy="392180"/>
                </a:xfrm>
                <a:prstGeom prst="rect">
                  <a:avLst/>
                </a:prstGeom>
                <a:blipFill>
                  <a:blip r:embed="rId1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459B4152-3891-451B-AAFF-003A9760C29F}"/>
                    </a:ext>
                  </a:extLst>
                </p:cNvPr>
                <p:cNvSpPr/>
                <p:nvPr/>
              </p:nvSpPr>
              <p:spPr>
                <a:xfrm>
                  <a:off x="2862673" y="5252405"/>
                  <a:ext cx="1179452"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&lt;&lt;&lt;5</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3" name="矩形 42">
                  <a:extLst>
                    <a:ext uri="{FF2B5EF4-FFF2-40B4-BE49-F238E27FC236}">
                      <a16:creationId xmlns:a16="http://schemas.microsoft.com/office/drawing/2014/main" id="{459B4152-3891-451B-AAFF-003A9760C29F}"/>
                    </a:ext>
                  </a:extLst>
                </p:cNvPr>
                <p:cNvSpPr>
                  <a:spLocks noRot="1" noChangeAspect="1" noMove="1" noResize="1" noEditPoints="1" noAdjustHandles="1" noChangeArrowheads="1" noChangeShapeType="1" noTextEdit="1"/>
                </p:cNvSpPr>
                <p:nvPr/>
              </p:nvSpPr>
              <p:spPr>
                <a:xfrm>
                  <a:off x="2862673" y="5252405"/>
                  <a:ext cx="1179452" cy="392180"/>
                </a:xfrm>
                <a:prstGeom prst="rect">
                  <a:avLst/>
                </a:prstGeom>
                <a:blipFill>
                  <a:blip r:embed="rId17"/>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D4BB3C54-B31A-4869-AA47-D80A82C5ABD9}"/>
                    </a:ext>
                  </a:extLst>
                </p:cNvPr>
                <p:cNvSpPr/>
                <p:nvPr/>
              </p:nvSpPr>
              <p:spPr>
                <a:xfrm>
                  <a:off x="4555743" y="4450644"/>
                  <a:ext cx="1252918"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&lt;&lt;&lt;3</m:t>
                        </m:r>
                        <m:r>
                          <a:rPr lang="en-US" altLang="zh-CN" sz="17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4" name="矩形 43">
                  <a:extLst>
                    <a:ext uri="{FF2B5EF4-FFF2-40B4-BE49-F238E27FC236}">
                      <a16:creationId xmlns:a16="http://schemas.microsoft.com/office/drawing/2014/main" id="{D4BB3C54-B31A-4869-AA47-D80A82C5ABD9}"/>
                    </a:ext>
                  </a:extLst>
                </p:cNvPr>
                <p:cNvSpPr>
                  <a:spLocks noRot="1" noChangeAspect="1" noMove="1" noResize="1" noEditPoints="1" noAdjustHandles="1" noChangeArrowheads="1" noChangeShapeType="1" noTextEdit="1"/>
                </p:cNvSpPr>
                <p:nvPr/>
              </p:nvSpPr>
              <p:spPr>
                <a:xfrm>
                  <a:off x="4555743" y="4450644"/>
                  <a:ext cx="1252918" cy="392180"/>
                </a:xfrm>
                <a:prstGeom prst="rect">
                  <a:avLst/>
                </a:prstGeom>
                <a:blipFill>
                  <a:blip r:embed="rId18"/>
                  <a:stretch>
                    <a:fillRect/>
                  </a:stretch>
                </a:blipFill>
                <a:ln w="9525">
                  <a:solidFill>
                    <a:schemeClr val="tx1"/>
                  </a:solidFill>
                </a:ln>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97F63602-668E-4117-862F-A322F3C6B43C}"/>
                </a:ext>
              </a:extLst>
            </p:cNvPr>
            <p:cNvCxnSpPr>
              <a:cxnSpLocks/>
              <a:stCxn id="43" idx="0"/>
              <a:endCxn id="15" idx="4"/>
            </p:cNvCxnSpPr>
            <p:nvPr/>
          </p:nvCxnSpPr>
          <p:spPr>
            <a:xfrm flipH="1" flipV="1">
              <a:off x="3443740" y="3660877"/>
              <a:ext cx="8660" cy="15915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FD44BE8D-E133-4BC1-B095-E976B652E530}"/>
                </a:ext>
              </a:extLst>
            </p:cNvPr>
            <p:cNvCxnSpPr>
              <a:cxnSpLocks/>
              <a:endCxn id="20" idx="0"/>
            </p:cNvCxnSpPr>
            <p:nvPr/>
          </p:nvCxnSpPr>
          <p:spPr>
            <a:xfrm>
              <a:off x="5682892" y="3080030"/>
              <a:ext cx="0" cy="173243"/>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直接箭头连接符 46">
              <a:extLst>
                <a:ext uri="{FF2B5EF4-FFF2-40B4-BE49-F238E27FC236}">
                  <a16:creationId xmlns:a16="http://schemas.microsoft.com/office/drawing/2014/main" id="{EAD174B5-68A8-448C-A67C-252491C207DF}"/>
                </a:ext>
              </a:extLst>
            </p:cNvPr>
            <p:cNvCxnSpPr>
              <a:cxnSpLocks/>
              <a:stCxn id="44" idx="3"/>
            </p:cNvCxnSpPr>
            <p:nvPr/>
          </p:nvCxnSpPr>
          <p:spPr>
            <a:xfrm flipV="1">
              <a:off x="5808662" y="4634439"/>
              <a:ext cx="710611" cy="1229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8" name="直接箭头连接符 47">
              <a:extLst>
                <a:ext uri="{FF2B5EF4-FFF2-40B4-BE49-F238E27FC236}">
                  <a16:creationId xmlns:a16="http://schemas.microsoft.com/office/drawing/2014/main" id="{AD17342C-67F6-41EB-A0CE-BFBD645D0E41}"/>
                </a:ext>
              </a:extLst>
            </p:cNvPr>
            <p:cNvCxnSpPr>
              <a:cxnSpLocks/>
              <a:stCxn id="41" idx="3"/>
            </p:cNvCxnSpPr>
            <p:nvPr/>
          </p:nvCxnSpPr>
          <p:spPr>
            <a:xfrm>
              <a:off x="1510650" y="5033507"/>
              <a:ext cx="5014972" cy="1081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9" name="直接箭头连接符 48">
              <a:extLst>
                <a:ext uri="{FF2B5EF4-FFF2-40B4-BE49-F238E27FC236}">
                  <a16:creationId xmlns:a16="http://schemas.microsoft.com/office/drawing/2014/main" id="{65E45D23-3A7B-4817-B43C-BB53EDAD6726}"/>
                </a:ext>
              </a:extLst>
            </p:cNvPr>
            <p:cNvCxnSpPr>
              <a:cxnSpLocks/>
              <a:endCxn id="24" idx="1"/>
            </p:cNvCxnSpPr>
            <p:nvPr/>
          </p:nvCxnSpPr>
          <p:spPr>
            <a:xfrm flipV="1">
              <a:off x="6519272" y="4641327"/>
              <a:ext cx="530759" cy="4029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连接符: 肘形 49">
              <a:extLst>
                <a:ext uri="{FF2B5EF4-FFF2-40B4-BE49-F238E27FC236}">
                  <a16:creationId xmlns:a16="http://schemas.microsoft.com/office/drawing/2014/main" id="{FA3E66B1-7E0C-4D8C-AB5B-F80402A7BEA2}"/>
                </a:ext>
              </a:extLst>
            </p:cNvPr>
            <p:cNvCxnSpPr>
              <a:cxnSpLocks/>
              <a:stCxn id="41" idx="1"/>
              <a:endCxn id="43" idx="1"/>
            </p:cNvCxnSpPr>
            <p:nvPr/>
          </p:nvCxnSpPr>
          <p:spPr>
            <a:xfrm rot="10800000" flipH="1" flipV="1">
              <a:off x="851420" y="5033507"/>
              <a:ext cx="2011253" cy="414988"/>
            </a:xfrm>
            <a:prstGeom prst="bentConnector3">
              <a:avLst>
                <a:gd name="adj1" fmla="val -1306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02363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65</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32028" y="1535876"/>
                <a:ext cx="8479944" cy="2107500"/>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defRPr/>
                </a:pPr>
                <a:r>
                  <a:rPr lang="zh-CN" altLang="en-US" sz="2000" dirty="0">
                    <a:solidFill>
                      <a:prstClr val="black"/>
                    </a:solidFill>
                    <a:latin typeface="Times New Roman" panose="02020603050405020304" pitchFamily="18" charset="0"/>
                    <a:cs typeface="Times New Roman" panose="02020603050405020304" pitchFamily="18" charset="0"/>
                  </a:rPr>
                  <a:t>第四轮迭代运算使用</a:t>
                </a:r>
                <a:r>
                  <a:rPr lang="zh-CN" altLang="en-US" sz="2000" dirty="0">
                    <a:solidFill>
                      <a:srgbClr val="0000FF"/>
                    </a:solidFill>
                    <a:latin typeface="Times New Roman" panose="02020603050405020304" pitchFamily="18" charset="0"/>
                    <a:cs typeface="Times New Roman" panose="02020603050405020304" pitchFamily="18" charset="0"/>
                  </a:rPr>
                  <a:t>逻辑函数 </a:t>
                </a:r>
                <a14:m>
                  <m:oMath xmlns:m="http://schemas.openxmlformats.org/officeDocument/2006/math">
                    <m:sSub>
                      <m:sSubPr>
                        <m:ctrlPr>
                          <a:rPr lang="en-US" altLang="zh-CN" sz="2000" b="0" i="1" smtClean="0">
                            <a:solidFill>
                              <a:srgbClr val="0000FF"/>
                            </a:solidFill>
                            <a:latin typeface="Cambria Math" panose="02040503050406030204" pitchFamily="18" charset="0"/>
                            <a:cs typeface="Times New Roman" panose="02020603050405020304" pitchFamily="18" charset="0"/>
                          </a:rPr>
                        </m:ctrlPr>
                      </m:sSubPr>
                      <m:e>
                        <m:r>
                          <a:rPr lang="en-US" altLang="zh-CN" sz="2000" b="0" i="1" smtClean="0">
                            <a:solidFill>
                              <a:srgbClr val="0000FF"/>
                            </a:solidFill>
                            <a:latin typeface="Cambria Math" panose="02040503050406030204" pitchFamily="18" charset="0"/>
                            <a:cs typeface="Times New Roman" panose="02020603050405020304" pitchFamily="18" charset="0"/>
                          </a:rPr>
                          <m:t>𝑓</m:t>
                        </m:r>
                      </m:e>
                      <m:sub>
                        <m:r>
                          <a:rPr lang="en-US" altLang="zh-CN" sz="2000" b="0" i="1" smtClean="0">
                            <a:solidFill>
                              <a:srgbClr val="0000FF"/>
                            </a:solidFill>
                            <a:latin typeface="Cambria Math" panose="02040503050406030204" pitchFamily="18" charset="0"/>
                            <a:cs typeface="Times New Roman" panose="02020603050405020304" pitchFamily="18" charset="0"/>
                          </a:rPr>
                          <m:t>4</m:t>
                        </m:r>
                      </m:sub>
                    </m:sSub>
                  </m:oMath>
                </a14:m>
                <a:r>
                  <a:rPr lang="zh-CN" altLang="en-US" sz="2000" dirty="0">
                    <a:latin typeface="Times New Roman" panose="02020603050405020304" pitchFamily="18" charset="0"/>
                    <a:cs typeface="Times New Roman" panose="02020603050405020304" pitchFamily="18" charset="0"/>
                  </a:rPr>
                  <a:t>，即</a:t>
                </a:r>
                <a:endParaRPr lang="en-US" altLang="zh-CN" sz="2000" dirty="0">
                  <a:latin typeface="Times New Roman" panose="02020603050405020304" pitchFamily="18" charset="0"/>
                  <a:cs typeface="Times New Roman" panose="02020603050405020304" pitchFamily="18" charset="0"/>
                </a:endParaRPr>
              </a:p>
              <a:p>
                <a:pPr lvl="1">
                  <a:lnSpc>
                    <a:spcPct val="120000"/>
                  </a:lnSpc>
                  <a:spcBef>
                    <a:spcPts val="600"/>
                  </a:spcBef>
                </a:pPr>
                <a14:m>
                  <m:oMathPara xmlns:m="http://schemas.openxmlformats.org/officeDocument/2006/math">
                    <m:oMathParaPr>
                      <m:jc m:val="centerGroup"/>
                    </m:oMathParaPr>
                    <m:oMath xmlns:m="http://schemas.openxmlformats.org/officeDocument/2006/math">
                      <m:r>
                        <a:rPr lang="en-US" altLang="zh-CN" sz="2000" i="1" dirty="0">
                          <a:solidFill>
                            <a:srgbClr val="0000FF"/>
                          </a:solidFill>
                          <a:latin typeface="Cambria Math" panose="02040503050406030204" pitchFamily="18" charset="0"/>
                        </a:rPr>
                        <m:t>𝑎</m:t>
                      </m:r>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𝑒</m:t>
                      </m:r>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𝑓</m:t>
                          </m:r>
                        </m:e>
                        <m:sub>
                          <m:r>
                            <a:rPr lang="en-US" altLang="zh-CN" sz="2000" b="0" i="1" dirty="0" smtClean="0">
                              <a:solidFill>
                                <a:srgbClr val="0000FF"/>
                              </a:solidFill>
                              <a:latin typeface="Cambria Math" panose="02040503050406030204" pitchFamily="18" charset="0"/>
                            </a:rPr>
                            <m:t>4</m:t>
                          </m:r>
                        </m:sub>
                      </m:sSub>
                      <m:d>
                        <m:dPr>
                          <m:ctrlPr>
                            <a:rPr lang="en-US" altLang="zh-CN" sz="2000" i="1" dirty="0">
                              <a:solidFill>
                                <a:srgbClr val="0000FF"/>
                              </a:solidFill>
                              <a:latin typeface="Cambria Math" panose="02040503050406030204" pitchFamily="18" charset="0"/>
                            </a:rPr>
                          </m:ctrlPr>
                        </m:dPr>
                        <m:e>
                          <m:r>
                            <a:rPr lang="en-US" altLang="zh-CN" sz="2000" i="1" dirty="0">
                              <a:solidFill>
                                <a:srgbClr val="0000FF"/>
                              </a:solidFill>
                              <a:latin typeface="Cambria Math" panose="02040503050406030204" pitchFamily="18" charset="0"/>
                            </a:rPr>
                            <m:t>𝑏</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𝑐</m:t>
                          </m:r>
                          <m:r>
                            <a:rPr lang="en-US" altLang="zh-CN" sz="2000" i="1" dirty="0">
                              <a:solidFill>
                                <a:srgbClr val="0000FF"/>
                              </a:solidFill>
                              <a:latin typeface="Cambria Math" panose="02040503050406030204" pitchFamily="18" charset="0"/>
                            </a:rPr>
                            <m:t>, </m:t>
                          </m:r>
                          <m:r>
                            <a:rPr lang="en-US" altLang="zh-CN" sz="2000" i="1" dirty="0">
                              <a:solidFill>
                                <a:srgbClr val="0000FF"/>
                              </a:solidFill>
                              <a:latin typeface="Cambria Math" panose="02040503050406030204" pitchFamily="18" charset="0"/>
                            </a:rPr>
                            <m:t>𝑑</m:t>
                          </m:r>
                        </m:e>
                      </m:d>
                      <m:r>
                        <a:rPr lang="en-US" altLang="zh-CN" sz="2000" i="1" dirty="0">
                          <a:solidFill>
                            <a:srgbClr val="0000FF"/>
                          </a:solidFill>
                          <a:latin typeface="Cambria Math" panose="02040503050406030204" pitchFamily="18" charset="0"/>
                        </a:rPr>
                        <m:t>+(</m:t>
                      </m:r>
                      <m:r>
                        <a:rPr lang="en-US" altLang="zh-CN" sz="2000" i="1" dirty="0">
                          <a:solidFill>
                            <a:srgbClr val="0000FF"/>
                          </a:solidFill>
                          <a:latin typeface="Cambria Math" panose="02040503050406030204" pitchFamily="18" charset="0"/>
                        </a:rPr>
                        <m:t>𝑎</m:t>
                      </m:r>
                      <m:r>
                        <a:rPr lang="en-US" altLang="zh-CN" sz="20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&lt;&lt;&lt;</m:t>
                      </m:r>
                      <m:r>
                        <a:rPr lang="en-US" altLang="zh-CN" sz="2000" i="1" dirty="0">
                          <a:solidFill>
                            <a:srgbClr val="0000FF"/>
                          </a:solidFill>
                          <a:latin typeface="Cambria Math" panose="02040503050406030204" pitchFamily="18" charset="0"/>
                        </a:rPr>
                        <m:t>5)+</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𝑊</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sSub>
                        <m:sSubPr>
                          <m:ctrlPr>
                            <a:rPr lang="en-US" altLang="zh-CN" sz="2000" i="1" dirty="0">
                              <a:solidFill>
                                <a:srgbClr val="0000FF"/>
                              </a:solidFill>
                              <a:latin typeface="Cambria Math" panose="02040503050406030204" pitchFamily="18" charset="0"/>
                            </a:rPr>
                          </m:ctrlPr>
                        </m:sSubPr>
                        <m:e>
                          <m:r>
                            <a:rPr lang="en-US" altLang="zh-CN" sz="2000" i="1" dirty="0">
                              <a:solidFill>
                                <a:srgbClr val="0000FF"/>
                              </a:solidFill>
                              <a:latin typeface="Cambria Math" panose="02040503050406030204" pitchFamily="18" charset="0"/>
                            </a:rPr>
                            <m:t>𝐾</m:t>
                          </m:r>
                        </m:e>
                        <m:sub>
                          <m:r>
                            <a:rPr lang="en-US" altLang="zh-CN" sz="2000" i="1" dirty="0">
                              <a:solidFill>
                                <a:srgbClr val="0000FF"/>
                              </a:solidFill>
                              <a:latin typeface="Cambria Math" panose="02040503050406030204" pitchFamily="18" charset="0"/>
                            </a:rPr>
                            <m:t>𝑡</m:t>
                          </m:r>
                        </m:sub>
                      </m:sSub>
                      <m:r>
                        <a:rPr lang="en-US" altLang="zh-CN" sz="2000" i="1" dirty="0">
                          <a:solidFill>
                            <a:srgbClr val="0000FF"/>
                          </a:solidFill>
                          <a:latin typeface="Cambria Math" panose="02040503050406030204" pitchFamily="18" charset="0"/>
                        </a:rPr>
                        <m:t>)</m:t>
                      </m:r>
                    </m:oMath>
                  </m:oMathPara>
                </a14:m>
                <a:endParaRPr lang="en-US" altLang="zh-CN" sz="2000" dirty="0">
                  <a:solidFill>
                    <a:srgbClr val="0000FF"/>
                  </a:solidFill>
                  <a:latin typeface="Times New Roman" panose="02020603050405020304" pitchFamily="18" charset="0"/>
                </a:endParaRPr>
              </a:p>
              <a:p>
                <a:pPr>
                  <a:lnSpc>
                    <a:spcPct val="120000"/>
                  </a:lnSpc>
                  <a:spcBef>
                    <a:spcPts val="600"/>
                  </a:spcBef>
                  <a:defRPr/>
                </a:pPr>
                <a:r>
                  <a:rPr lang="en-US" altLang="zh-CN" sz="2000" dirty="0">
                    <a:latin typeface="Cambria Math" panose="02040503050406030204" pitchFamily="18" charset="0"/>
                  </a:rPr>
                  <a:t>      </a:t>
                </a:r>
                <a:r>
                  <a:rPr lang="zh-CN" altLang="en-US" sz="2000" dirty="0">
                    <a:latin typeface="Cambria Math" panose="02040503050406030204" pitchFamily="18" charset="0"/>
                  </a:rPr>
                  <a:t>第</a:t>
                </a:r>
                <a:r>
                  <a:rPr lang="zh-CN" altLang="en-US" sz="2000" dirty="0">
                    <a:solidFill>
                      <a:prstClr val="black"/>
                    </a:solidFill>
                    <a:latin typeface="Times New Roman" panose="02020603050405020304" pitchFamily="18" charset="0"/>
                    <a:cs typeface="Times New Roman" panose="02020603050405020304" pitchFamily="18" charset="0"/>
                  </a:rPr>
                  <a:t>四</a:t>
                </a:r>
                <a:r>
                  <a:rPr lang="zh-CN" altLang="en-US" sz="2000" dirty="0">
                    <a:latin typeface="Cambria Math" panose="02040503050406030204" pitchFamily="18" charset="0"/>
                  </a:rPr>
                  <a:t>轮同样运行 </a:t>
                </a:r>
                <a:r>
                  <a:rPr lang="en-US" altLang="zh-CN" sz="2000" dirty="0">
                    <a:latin typeface="Cambria Math" panose="02040503050406030204" pitchFamily="18" charset="0"/>
                  </a:rPr>
                  <a:t>20 </a:t>
                </a:r>
                <a:r>
                  <a:rPr lang="zh-CN" altLang="en-US" sz="2000" dirty="0">
                    <a:latin typeface="Cambria Math" panose="02040503050406030204" pitchFamily="18" charset="0"/>
                  </a:rPr>
                  <a:t>步迭代，其中每步迭代中</a:t>
                </a:r>
                <a:endParaRPr lang="en-US" altLang="zh-CN" sz="2000" dirty="0">
                  <a:latin typeface="Cambria Math" panose="02040503050406030204" pitchFamily="18" charset="0"/>
                </a:endParaRPr>
              </a:p>
              <a:p>
                <a:pPr marL="800100" lvl="1" indent="-342900">
                  <a:lnSpc>
                    <a:spcPct val="120000"/>
                  </a:lnSpc>
                  <a:spcBef>
                    <a:spcPts val="600"/>
                  </a:spcBef>
                  <a:buFont typeface="Wingdings" panose="05000000000000000000" pitchFamily="2" charset="2"/>
                  <a:buChar char="Ø"/>
                  <a:defRPr/>
                </a:pP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𝑊</m:t>
                        </m:r>
                      </m:e>
                      <m:sub>
                        <m:r>
                          <a:rPr lang="en-US" altLang="zh-CN" i="1" dirty="0">
                            <a:latin typeface="Cambria Math" panose="02040503050406030204" pitchFamily="18" charset="0"/>
                          </a:rPr>
                          <m:t>𝑡</m:t>
                        </m:r>
                      </m:sub>
                    </m:sSub>
                    <m:r>
                      <a:rPr lang="en-US" altLang="zh-CN" i="1" dirty="0">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是扩展后消息的第</a:t>
                </a:r>
                <a14:m>
                  <m:oMath xmlns:m="http://schemas.openxmlformats.org/officeDocument/2006/math">
                    <m:r>
                      <a:rPr lang="en-US" altLang="zh-CN">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𝑡</m:t>
                    </m:r>
                    <m:r>
                      <a:rPr lang="en-US" altLang="zh-CN" i="1">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i="1" dirty="0">
                        <a:latin typeface="Cambria Math" panose="02040503050406030204" pitchFamily="18" charset="0"/>
                        <a:cs typeface="Times New Roman" panose="02020603050405020304" pitchFamily="18" charset="0"/>
                      </a:rPr>
                      <m:t>32</m:t>
                    </m:r>
                    <m:r>
                      <m:rPr>
                        <m:sty m:val="p"/>
                      </m:rPr>
                      <a:rPr lang="en-US" altLang="zh-CN" dirty="0">
                        <a:latin typeface="Cambria Math" panose="02040503050406030204" pitchFamily="18" charset="0"/>
                        <a:cs typeface="Times New Roman" panose="02020603050405020304" pitchFamily="18" charset="0"/>
                      </a:rPr>
                      <m:t>bits</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字，</a:t>
                </a:r>
                <a14:m>
                  <m:oMath xmlns:m="http://schemas.openxmlformats.org/officeDocument/2006/math">
                    <m:r>
                      <a:rPr lang="de-DE" altLang="zh-CN" i="1" dirty="0">
                        <a:latin typeface="Cambria Math" panose="02040503050406030204" pitchFamily="18" charset="0"/>
                      </a:rPr>
                      <m:t>60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79</m:t>
                    </m:r>
                  </m:oMath>
                </a14:m>
                <a:endParaRPr lang="en-US" altLang="zh-CN" dirty="0">
                  <a:solidFill>
                    <a:prstClr val="black"/>
                  </a:solidFill>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14:m>
                  <m:oMath xmlns:m="http://schemas.openxmlformats.org/officeDocument/2006/math">
                    <m:sSub>
                      <m:sSubPr>
                        <m:ctrlPr>
                          <a:rPr lang="en-US" altLang="zh-CN" i="1" dirty="0">
                            <a:solidFill>
                              <a:prstClr val="black"/>
                            </a:solidFill>
                            <a:latin typeface="Cambria Math" panose="02040503050406030204" pitchFamily="18" charset="0"/>
                          </a:rPr>
                        </m:ctrlPr>
                      </m:sSubPr>
                      <m:e>
                        <m:r>
                          <a:rPr lang="en-US" altLang="zh-CN" i="1" dirty="0">
                            <a:solidFill>
                              <a:prstClr val="black"/>
                            </a:solidFill>
                            <a:latin typeface="Cambria Math" panose="02040503050406030204" pitchFamily="18" charset="0"/>
                          </a:rPr>
                          <m:t>𝐾</m:t>
                        </m:r>
                      </m:e>
                      <m:sub>
                        <m:r>
                          <a:rPr lang="en-US" altLang="zh-CN" i="1" dirty="0">
                            <a:solidFill>
                              <a:prstClr val="black"/>
                            </a:solidFill>
                            <a:latin typeface="Cambria Math" panose="02040503050406030204" pitchFamily="18" charset="0"/>
                          </a:rPr>
                          <m:t>𝑡</m:t>
                        </m:r>
                      </m:sub>
                    </m:sSub>
                  </m:oMath>
                </a14:m>
                <a:r>
                  <a:rPr lang="zh-CN" altLang="en-US" dirty="0">
                    <a:solidFill>
                      <a:prstClr val="black"/>
                    </a:solidFill>
                    <a:latin typeface="Cambria Math" panose="02040503050406030204" pitchFamily="18" charset="0"/>
                    <a:cs typeface="Times New Roman" panose="02020603050405020304" pitchFamily="18" charset="0"/>
                  </a:rPr>
                  <a:t>为常数，在</a:t>
                </a:r>
                <a:r>
                  <a:rPr lang="zh-CN" altLang="en-US" dirty="0">
                    <a:latin typeface="Cambria Math" panose="02040503050406030204" pitchFamily="18" charset="0"/>
                  </a:rPr>
                  <a:t>第</a:t>
                </a:r>
                <a:r>
                  <a:rPr lang="zh-CN" altLang="en-US" dirty="0">
                    <a:solidFill>
                      <a:prstClr val="black"/>
                    </a:solidFill>
                    <a:latin typeface="Times New Roman" panose="02020603050405020304" pitchFamily="18" charset="0"/>
                    <a:cs typeface="Times New Roman" panose="02020603050405020304" pitchFamily="18" charset="0"/>
                  </a:rPr>
                  <a:t>四</a:t>
                </a:r>
                <a:r>
                  <a:rPr lang="zh-CN" altLang="en-US" dirty="0">
                    <a:latin typeface="Cambria Math" panose="02040503050406030204" pitchFamily="18" charset="0"/>
                  </a:rPr>
                  <a:t>轮中</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 </m:t>
                        </m:r>
                        <m:r>
                          <a:rPr lang="de-DE" altLang="zh-CN" i="1" dirty="0">
                            <a:latin typeface="Cambria Math" panose="02040503050406030204" pitchFamily="18" charset="0"/>
                          </a:rPr>
                          <m:t>𝐾</m:t>
                        </m:r>
                      </m:e>
                      <m:sub>
                        <m:r>
                          <a:rPr lang="de-DE" altLang="zh-CN" i="1" dirty="0">
                            <a:latin typeface="Cambria Math" panose="02040503050406030204" pitchFamily="18" charset="0"/>
                          </a:rPr>
                          <m:t>𝑡</m:t>
                        </m:r>
                      </m:sub>
                    </m:sSub>
                    <m:r>
                      <a:rPr lang="de-DE" altLang="zh-CN" i="1" dirty="0">
                        <a:latin typeface="Cambria Math" panose="02040503050406030204" pitchFamily="18" charset="0"/>
                      </a:rPr>
                      <m:t>=</m:t>
                    </m:r>
                    <m:r>
                      <a:rPr lang="de-DE" altLang="zh-CN" dirty="0">
                        <a:latin typeface="Cambria Math" panose="02040503050406030204" pitchFamily="18" charset="0"/>
                      </a:rPr>
                      <m:t>0</m:t>
                    </m:r>
                    <m:r>
                      <m:rPr>
                        <m:sty m:val="p"/>
                      </m:rPr>
                      <a:rPr lang="en-US" altLang="zh-CN" dirty="0">
                        <a:latin typeface="Cambria Math" panose="02040503050406030204" pitchFamily="18" charset="0"/>
                      </a:rPr>
                      <m:t>x</m:t>
                    </m:r>
                    <m:r>
                      <m:rPr>
                        <m:sty m:val="p"/>
                      </m:rPr>
                      <a:rPr lang="de-DE" altLang="zh-CN" dirty="0">
                        <a:latin typeface="Cambria Math" panose="02040503050406030204" pitchFamily="18" charset="0"/>
                      </a:rPr>
                      <m:t>CA</m:t>
                    </m:r>
                    <m:r>
                      <a:rPr lang="de-DE" altLang="zh-CN" dirty="0">
                        <a:latin typeface="Cambria Math" panose="02040503050406030204" pitchFamily="18" charset="0"/>
                      </a:rPr>
                      <m:t>62</m:t>
                    </m:r>
                    <m:r>
                      <m:rPr>
                        <m:sty m:val="p"/>
                      </m:rPr>
                      <a:rPr lang="de-DE" altLang="zh-CN" dirty="0">
                        <a:latin typeface="Cambria Math" panose="02040503050406030204" pitchFamily="18" charset="0"/>
                      </a:rPr>
                      <m:t>C</m:t>
                    </m:r>
                    <m:r>
                      <a:rPr lang="de-DE" altLang="zh-CN" dirty="0">
                        <a:latin typeface="Cambria Math" panose="02040503050406030204" pitchFamily="18" charset="0"/>
                      </a:rPr>
                      <m:t>1</m:t>
                    </m:r>
                    <m:r>
                      <m:rPr>
                        <m:sty m:val="p"/>
                      </m:rPr>
                      <a:rPr lang="de-DE" altLang="zh-CN" dirty="0">
                        <a:latin typeface="Cambria Math" panose="02040503050406030204" pitchFamily="18" charset="0"/>
                      </a:rPr>
                      <m:t>D</m:t>
                    </m:r>
                    <m:r>
                      <a:rPr lang="de-DE" altLang="zh-CN" dirty="0">
                        <a:latin typeface="Cambria Math" panose="02040503050406030204" pitchFamily="18" charset="0"/>
                      </a:rPr>
                      <m:t>6 </m:t>
                    </m:r>
                    <m:r>
                      <a:rPr lang="de-DE" altLang="zh-CN" i="1" dirty="0">
                        <a:latin typeface="Cambria Math" panose="02040503050406030204" pitchFamily="18" charset="0"/>
                      </a:rPr>
                      <m:t>(60</m:t>
                    </m:r>
                    <m:r>
                      <a:rPr lang="en-US" altLang="zh-CN" i="1" dirty="0">
                        <a:latin typeface="Cambria Math" panose="02040503050406030204" pitchFamily="18" charset="0"/>
                      </a:rPr>
                      <m:t>≤</m:t>
                    </m:r>
                    <m:r>
                      <a:rPr lang="de-DE" altLang="zh-CN" i="1" dirty="0">
                        <a:latin typeface="Cambria Math" panose="02040503050406030204" pitchFamily="18" charset="0"/>
                      </a:rPr>
                      <m:t>𝑡</m:t>
                    </m:r>
                    <m:r>
                      <a:rPr lang="en-US" altLang="zh-CN" i="1" dirty="0">
                        <a:latin typeface="Cambria Math" panose="02040503050406030204" pitchFamily="18" charset="0"/>
                      </a:rPr>
                      <m:t>≤</m:t>
                    </m:r>
                    <m:r>
                      <a:rPr lang="de-DE" altLang="zh-CN" i="1" dirty="0">
                        <a:latin typeface="Cambria Math" panose="02040503050406030204" pitchFamily="18" charset="0"/>
                      </a:rPr>
                      <m:t>79)</m:t>
                    </m:r>
                  </m:oMath>
                </a14:m>
                <a:endParaRPr lang="de-DE" altLang="zh-CN" dirty="0">
                  <a:latin typeface="-apple-system"/>
                </a:endParaRPr>
              </a:p>
            </p:txBody>
          </p:sp>
        </mc:Choice>
        <mc:Fallback xmlns="">
          <p:sp>
            <p:nvSpPr>
              <p:cNvPr id="7" name="文本框 6">
                <a:extLst>
                  <a:ext uri="{FF2B5EF4-FFF2-40B4-BE49-F238E27FC236}">
                    <a16:creationId xmlns:a16="http://schemas.microsoft.com/office/drawing/2014/main" xmlns:a14="http://schemas.microsoft.com/office/drawing/2010/main" xmlns="" id="{0D62A5DE-B116-2098-BBCF-2C373A6B4455}"/>
                  </a:ext>
                </a:extLst>
              </p:cNvPr>
              <p:cNvSpPr txBox="1">
                <a:spLocks noRot="1" noChangeAspect="1" noMove="1" noResize="1" noEditPoints="1" noAdjustHandles="1" noChangeArrowheads="1" noChangeShapeType="1" noTextEdit="1"/>
              </p:cNvSpPr>
              <p:nvPr/>
            </p:nvSpPr>
            <p:spPr>
              <a:xfrm>
                <a:off x="332028" y="1535876"/>
                <a:ext cx="8479944" cy="2107500"/>
              </a:xfrm>
              <a:prstGeom prst="rect">
                <a:avLst/>
              </a:prstGeom>
              <a:blipFill rotWithShape="0">
                <a:blip r:embed="rId3"/>
                <a:stretch>
                  <a:fillRect l="-647" t="-289" b="-1734"/>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C57956DB-47F7-432C-B439-02B827A167D5}"/>
              </a:ext>
            </a:extLst>
          </p:cNvPr>
          <p:cNvGrpSpPr>
            <a:grpSpLocks noChangeAspect="1"/>
          </p:cNvGrpSpPr>
          <p:nvPr/>
        </p:nvGrpSpPr>
        <p:grpSpPr>
          <a:xfrm>
            <a:off x="1588932" y="3615256"/>
            <a:ext cx="5966136" cy="2850549"/>
            <a:chOff x="851420" y="2694150"/>
            <a:chExt cx="6857841" cy="3392621"/>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FEB6BBC-BFBD-4BEB-B4D6-3EEBC041C5F2}"/>
                    </a:ext>
                  </a:extLst>
                </p:cNvPr>
                <p:cNvSpPr/>
                <p:nvPr/>
              </p:nvSpPr>
              <p:spPr>
                <a:xfrm>
                  <a:off x="851420" y="327440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CED0A63B-5769-44D0-9896-F9418A2109E6}"/>
                    </a:ext>
                  </a:extLst>
                </p:cNvPr>
                <p:cNvSpPr>
                  <a:spLocks noRot="1" noChangeAspect="1" noMove="1" noResize="1" noEditPoints="1" noAdjustHandles="1" noChangeArrowheads="1" noChangeShapeType="1" noTextEdit="1"/>
                </p:cNvSpPr>
                <p:nvPr/>
              </p:nvSpPr>
              <p:spPr>
                <a:xfrm>
                  <a:off x="851420" y="3274407"/>
                  <a:ext cx="659230" cy="392180"/>
                </a:xfrm>
                <a:prstGeom prst="rect">
                  <a:avLst/>
                </a:prstGeom>
                <a:blipFill>
                  <a:blip r:embed="rId4"/>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CC8AE78-38D9-4B0F-9B72-52375AC4AB2D}"/>
                    </a:ext>
                  </a:extLst>
                </p:cNvPr>
                <p:cNvSpPr/>
                <p:nvPr/>
              </p:nvSpPr>
              <p:spPr>
                <a:xfrm>
                  <a:off x="851420" y="366658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3712F-73C2-41E1-944D-748919379163}"/>
                    </a:ext>
                  </a:extLst>
                </p:cNvPr>
                <p:cNvSpPr>
                  <a:spLocks noRot="1" noChangeAspect="1" noMove="1" noResize="1" noEditPoints="1" noAdjustHandles="1" noChangeArrowheads="1" noChangeShapeType="1" noTextEdit="1"/>
                </p:cNvSpPr>
                <p:nvPr/>
              </p:nvSpPr>
              <p:spPr>
                <a:xfrm>
                  <a:off x="851420" y="3666587"/>
                  <a:ext cx="659230" cy="392180"/>
                </a:xfrm>
                <a:prstGeom prst="rect">
                  <a:avLst/>
                </a:prstGeom>
                <a:blipFill>
                  <a:blip r:embed="rId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AA3F6FF-4839-495C-A921-FF800D6431DC}"/>
                    </a:ext>
                  </a:extLst>
                </p:cNvPr>
                <p:cNvSpPr/>
                <p:nvPr/>
              </p:nvSpPr>
              <p:spPr>
                <a:xfrm>
                  <a:off x="851420" y="405876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95344C1-E330-4311-8301-532F616074B6}"/>
                    </a:ext>
                  </a:extLst>
                </p:cNvPr>
                <p:cNvSpPr>
                  <a:spLocks noRot="1" noChangeAspect="1" noMove="1" noResize="1" noEditPoints="1" noAdjustHandles="1" noChangeArrowheads="1" noChangeShapeType="1" noTextEdit="1"/>
                </p:cNvSpPr>
                <p:nvPr/>
              </p:nvSpPr>
              <p:spPr>
                <a:xfrm>
                  <a:off x="851420" y="4058767"/>
                  <a:ext cx="659230" cy="392180"/>
                </a:xfrm>
                <a:prstGeom prst="rect">
                  <a:avLst/>
                </a:prstGeom>
                <a:blipFill>
                  <a:blip r:embed="rId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20F42762-4D1F-46F7-AD5E-C6457A916A8B}"/>
                    </a:ext>
                  </a:extLst>
                </p:cNvPr>
                <p:cNvSpPr/>
                <p:nvPr/>
              </p:nvSpPr>
              <p:spPr>
                <a:xfrm>
                  <a:off x="851420" y="445094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71099A2-F5D2-4D2C-BFED-5C3E6C09E51A}"/>
                    </a:ext>
                  </a:extLst>
                </p:cNvPr>
                <p:cNvSpPr>
                  <a:spLocks noRot="1" noChangeAspect="1" noMove="1" noResize="1" noEditPoints="1" noAdjustHandles="1" noChangeArrowheads="1" noChangeShapeType="1" noTextEdit="1"/>
                </p:cNvSpPr>
                <p:nvPr/>
              </p:nvSpPr>
              <p:spPr>
                <a:xfrm>
                  <a:off x="851420" y="4450947"/>
                  <a:ext cx="659230" cy="392180"/>
                </a:xfrm>
                <a:prstGeom prst="rect">
                  <a:avLst/>
                </a:prstGeom>
                <a:blipFill>
                  <a:blip r:embed="rId7"/>
                  <a:stretch>
                    <a:fillRect/>
                  </a:stretch>
                </a:blipFill>
                <a:ln w="9525">
                  <a:solidFill>
                    <a:schemeClr val="tx1"/>
                  </a:solidFill>
                </a:ln>
              </p:spPr>
              <p:txBody>
                <a:bodyPr/>
                <a:lstStyle/>
                <a:p>
                  <a:r>
                    <a:rPr lang="zh-CN" altLang="en-US">
                      <a:noFill/>
                    </a:rPr>
                    <a:t> </a:t>
                  </a:r>
                </a:p>
              </p:txBody>
            </p:sp>
          </mc:Fallback>
        </mc:AlternateContent>
        <p:sp>
          <p:nvSpPr>
            <p:cNvPr id="13" name="流程图: 或者 12">
              <a:extLst>
                <a:ext uri="{FF2B5EF4-FFF2-40B4-BE49-F238E27FC236}">
                  <a16:creationId xmlns:a16="http://schemas.microsoft.com/office/drawing/2014/main" id="{720BE980-E7D5-415C-B0AB-CDEA4483B0FF}"/>
                </a:ext>
              </a:extLst>
            </p:cNvPr>
            <p:cNvSpPr/>
            <p:nvPr/>
          </p:nvSpPr>
          <p:spPr>
            <a:xfrm>
              <a:off x="2018779" y="327440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4" name="直接箭头连接符 13">
              <a:extLst>
                <a:ext uri="{FF2B5EF4-FFF2-40B4-BE49-F238E27FC236}">
                  <a16:creationId xmlns:a16="http://schemas.microsoft.com/office/drawing/2014/main" id="{BC252E21-B19A-4876-940C-77F184926AAA}"/>
                </a:ext>
              </a:extLst>
            </p:cNvPr>
            <p:cNvCxnSpPr>
              <a:cxnSpLocks/>
              <a:stCxn id="9" idx="3"/>
              <a:endCxn id="13" idx="2"/>
            </p:cNvCxnSpPr>
            <p:nvPr/>
          </p:nvCxnSpPr>
          <p:spPr>
            <a:xfrm>
              <a:off x="1510650" y="3470497"/>
              <a:ext cx="508129" cy="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5" name="流程图: 或者 14">
              <a:extLst>
                <a:ext uri="{FF2B5EF4-FFF2-40B4-BE49-F238E27FC236}">
                  <a16:creationId xmlns:a16="http://schemas.microsoft.com/office/drawing/2014/main" id="{E1162793-59E8-475B-8FCE-86B9BF92AC97}"/>
                </a:ext>
              </a:extLst>
            </p:cNvPr>
            <p:cNvSpPr/>
            <p:nvPr/>
          </p:nvSpPr>
          <p:spPr>
            <a:xfrm>
              <a:off x="3247539" y="3268697"/>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6" name="直接箭头连接符 15">
              <a:extLst>
                <a:ext uri="{FF2B5EF4-FFF2-40B4-BE49-F238E27FC236}">
                  <a16:creationId xmlns:a16="http://schemas.microsoft.com/office/drawing/2014/main" id="{C6F68FA3-7E79-4725-80F0-44415C89E0FC}"/>
                </a:ext>
              </a:extLst>
            </p:cNvPr>
            <p:cNvCxnSpPr>
              <a:cxnSpLocks/>
              <a:stCxn id="13" idx="6"/>
              <a:endCxn id="15" idx="2"/>
            </p:cNvCxnSpPr>
            <p:nvPr/>
          </p:nvCxnSpPr>
          <p:spPr>
            <a:xfrm flipV="1">
              <a:off x="2411179" y="3464787"/>
              <a:ext cx="836360" cy="571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17" name="流程图: 或者 16">
              <a:extLst>
                <a:ext uri="{FF2B5EF4-FFF2-40B4-BE49-F238E27FC236}">
                  <a16:creationId xmlns:a16="http://schemas.microsoft.com/office/drawing/2014/main" id="{1CF37929-830B-41AD-9502-A4A41AE4237D}"/>
                </a:ext>
              </a:extLst>
            </p:cNvPr>
            <p:cNvSpPr/>
            <p:nvPr/>
          </p:nvSpPr>
          <p:spPr>
            <a:xfrm>
              <a:off x="4535812" y="325570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p:cxnSp>
          <p:nvCxnSpPr>
            <p:cNvPr id="18" name="直接箭头连接符 17">
              <a:extLst>
                <a:ext uri="{FF2B5EF4-FFF2-40B4-BE49-F238E27FC236}">
                  <a16:creationId xmlns:a16="http://schemas.microsoft.com/office/drawing/2014/main" id="{04C616F5-B323-4F87-B746-537F9AA66C0D}"/>
                </a:ext>
              </a:extLst>
            </p:cNvPr>
            <p:cNvCxnSpPr>
              <a:cxnSpLocks/>
              <a:stCxn id="15" idx="6"/>
              <a:endCxn id="17" idx="2"/>
            </p:cNvCxnSpPr>
            <p:nvPr/>
          </p:nvCxnSpPr>
          <p:spPr>
            <a:xfrm flipV="1">
              <a:off x="3639939" y="3451793"/>
              <a:ext cx="895873" cy="1299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F2743F91-9364-49B7-A1D2-E4BE3671EE18}"/>
                </a:ext>
              </a:extLst>
            </p:cNvPr>
            <p:cNvCxnSpPr>
              <a:cxnSpLocks/>
              <a:stCxn id="17" idx="6"/>
              <a:endCxn id="20" idx="2"/>
            </p:cNvCxnSpPr>
            <p:nvPr/>
          </p:nvCxnSpPr>
          <p:spPr>
            <a:xfrm flipV="1">
              <a:off x="4928212" y="3449363"/>
              <a:ext cx="558480" cy="2430"/>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sp>
          <p:nvSpPr>
            <p:cNvPr id="20" name="流程图: 或者 19">
              <a:extLst>
                <a:ext uri="{FF2B5EF4-FFF2-40B4-BE49-F238E27FC236}">
                  <a16:creationId xmlns:a16="http://schemas.microsoft.com/office/drawing/2014/main" id="{2BC3DF78-4C00-48A8-B506-63BE1026F1C5}"/>
                </a:ext>
              </a:extLst>
            </p:cNvPr>
            <p:cNvSpPr/>
            <p:nvPr/>
          </p:nvSpPr>
          <p:spPr>
            <a:xfrm>
              <a:off x="5486692" y="3253273"/>
              <a:ext cx="392400" cy="392180"/>
            </a:xfrm>
            <a:prstGeom prst="flowChartOr">
              <a:avLst/>
            </a:prstGeom>
            <a:solidFill>
              <a:srgbClr val="DEEBF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5186EF7-DA77-4C77-9A1F-88D9BF40CDF9}"/>
                    </a:ext>
                  </a:extLst>
                </p:cNvPr>
                <p:cNvSpPr/>
                <p:nvPr/>
              </p:nvSpPr>
              <p:spPr>
                <a:xfrm>
                  <a:off x="7050031" y="326869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𝑒</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6" name="矩形 35">
                  <a:extLst>
                    <a:ext uri="{FF2B5EF4-FFF2-40B4-BE49-F238E27FC236}">
                      <a16:creationId xmlns:a16="http://schemas.microsoft.com/office/drawing/2014/main" id="{171AB742-84FF-4DF9-AD30-368E8CCB1A1C}"/>
                    </a:ext>
                  </a:extLst>
                </p:cNvPr>
                <p:cNvSpPr>
                  <a:spLocks noRot="1" noChangeAspect="1" noMove="1" noResize="1" noEditPoints="1" noAdjustHandles="1" noChangeArrowheads="1" noChangeShapeType="1" noTextEdit="1"/>
                </p:cNvSpPr>
                <p:nvPr/>
              </p:nvSpPr>
              <p:spPr>
                <a:xfrm>
                  <a:off x="7050031" y="3268697"/>
                  <a:ext cx="659230" cy="392180"/>
                </a:xfrm>
                <a:prstGeom prst="rect">
                  <a:avLst/>
                </a:prstGeom>
                <a:blipFill>
                  <a:blip r:embed="rId8"/>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848D062-39CF-4305-899A-52C5E3228D08}"/>
                    </a:ext>
                  </a:extLst>
                </p:cNvPr>
                <p:cNvSpPr/>
                <p:nvPr/>
              </p:nvSpPr>
              <p:spPr>
                <a:xfrm>
                  <a:off x="7050031" y="366087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𝑑</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4E39CFEC-B2E4-4FD9-87F0-F12DCB08068D}"/>
                    </a:ext>
                  </a:extLst>
                </p:cNvPr>
                <p:cNvSpPr>
                  <a:spLocks noRot="1" noChangeAspect="1" noMove="1" noResize="1" noEditPoints="1" noAdjustHandles="1" noChangeArrowheads="1" noChangeShapeType="1" noTextEdit="1"/>
                </p:cNvSpPr>
                <p:nvPr/>
              </p:nvSpPr>
              <p:spPr>
                <a:xfrm>
                  <a:off x="7050031" y="3660877"/>
                  <a:ext cx="659230" cy="392180"/>
                </a:xfrm>
                <a:prstGeom prst="rect">
                  <a:avLst/>
                </a:prstGeom>
                <a:blipFill>
                  <a:blip r:embed="rId9"/>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1FE8EA6-3A47-43DE-B14F-EBB943761AEF}"/>
                    </a:ext>
                  </a:extLst>
                </p:cNvPr>
                <p:cNvSpPr/>
                <p:nvPr/>
              </p:nvSpPr>
              <p:spPr>
                <a:xfrm>
                  <a:off x="7050031" y="405305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𝑐</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1AC91102-39CE-43DA-8FEB-1CB6BDDD3E5A}"/>
                    </a:ext>
                  </a:extLst>
                </p:cNvPr>
                <p:cNvSpPr>
                  <a:spLocks noRot="1" noChangeAspect="1" noMove="1" noResize="1" noEditPoints="1" noAdjustHandles="1" noChangeArrowheads="1" noChangeShapeType="1" noTextEdit="1"/>
                </p:cNvSpPr>
                <p:nvPr/>
              </p:nvSpPr>
              <p:spPr>
                <a:xfrm>
                  <a:off x="7050031" y="4053057"/>
                  <a:ext cx="659230" cy="392180"/>
                </a:xfrm>
                <a:prstGeom prst="rect">
                  <a:avLst/>
                </a:prstGeom>
                <a:blipFill>
                  <a:blip r:embed="rId10"/>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7A6332E-F5CD-4798-922F-2392E04D62A7}"/>
                    </a:ext>
                  </a:extLst>
                </p:cNvPr>
                <p:cNvSpPr/>
                <p:nvPr/>
              </p:nvSpPr>
              <p:spPr>
                <a:xfrm>
                  <a:off x="7050031" y="444523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𝑏</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矩形 38">
                  <a:extLst>
                    <a:ext uri="{FF2B5EF4-FFF2-40B4-BE49-F238E27FC236}">
                      <a16:creationId xmlns:a16="http://schemas.microsoft.com/office/drawing/2014/main" id="{D8EDBEA5-5971-4F15-8C40-E0AA2CB8F772}"/>
                    </a:ext>
                  </a:extLst>
                </p:cNvPr>
                <p:cNvSpPr>
                  <a:spLocks noRot="1" noChangeAspect="1" noMove="1" noResize="1" noEditPoints="1" noAdjustHandles="1" noChangeArrowheads="1" noChangeShapeType="1" noTextEdit="1"/>
                </p:cNvSpPr>
                <p:nvPr/>
              </p:nvSpPr>
              <p:spPr>
                <a:xfrm>
                  <a:off x="7050031" y="4445237"/>
                  <a:ext cx="659230" cy="392180"/>
                </a:xfrm>
                <a:prstGeom prst="rect">
                  <a:avLst/>
                </a:prstGeom>
                <a:blipFill>
                  <a:blip r:embed="rId11"/>
                  <a:stretch>
                    <a:fillRect/>
                  </a:stretch>
                </a:blipFill>
                <a:ln w="9525">
                  <a:solidFill>
                    <a:schemeClr val="tx1"/>
                  </a:solidFill>
                </a:ln>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7BDBD32A-C604-42EE-9C03-AE5F0570EDB9}"/>
                </a:ext>
              </a:extLst>
            </p:cNvPr>
            <p:cNvCxnSpPr>
              <a:cxnSpLocks/>
              <a:endCxn id="21" idx="1"/>
            </p:cNvCxnSpPr>
            <p:nvPr/>
          </p:nvCxnSpPr>
          <p:spPr>
            <a:xfrm flipV="1">
              <a:off x="6538322" y="3464787"/>
              <a:ext cx="511709" cy="3744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直接箭头连接符 25">
              <a:extLst>
                <a:ext uri="{FF2B5EF4-FFF2-40B4-BE49-F238E27FC236}">
                  <a16:creationId xmlns:a16="http://schemas.microsoft.com/office/drawing/2014/main" id="{18FF16F5-3FA3-44BD-ABDF-59243E68CD1A}"/>
                </a:ext>
              </a:extLst>
            </p:cNvPr>
            <p:cNvCxnSpPr>
              <a:cxnSpLocks/>
              <a:endCxn id="22" idx="1"/>
            </p:cNvCxnSpPr>
            <p:nvPr/>
          </p:nvCxnSpPr>
          <p:spPr>
            <a:xfrm flipV="1">
              <a:off x="6525622" y="3856967"/>
              <a:ext cx="524409" cy="377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28BAD78C-DCFF-4688-8FE5-66CB16A11397}"/>
                </a:ext>
              </a:extLst>
            </p:cNvPr>
            <p:cNvCxnSpPr>
              <a:cxnSpLocks/>
              <a:endCxn id="23" idx="1"/>
            </p:cNvCxnSpPr>
            <p:nvPr/>
          </p:nvCxnSpPr>
          <p:spPr>
            <a:xfrm flipV="1">
              <a:off x="6519272" y="4249147"/>
              <a:ext cx="530759" cy="3921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1B059365-D2F5-4C50-9966-DD264D11839D}"/>
                </a:ext>
              </a:extLst>
            </p:cNvPr>
            <p:cNvCxnSpPr>
              <a:cxnSpLocks/>
              <a:endCxn id="42" idx="1"/>
            </p:cNvCxnSpPr>
            <p:nvPr/>
          </p:nvCxnSpPr>
          <p:spPr>
            <a:xfrm>
              <a:off x="6512902" y="3457670"/>
              <a:ext cx="537129" cy="15758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0A93F7F-74C7-4AC6-82BA-AF255FE0F7CF}"/>
                </a:ext>
              </a:extLst>
            </p:cNvPr>
            <p:cNvCxnSpPr>
              <a:cxnSpLocks/>
              <a:stCxn id="20" idx="6"/>
            </p:cNvCxnSpPr>
            <p:nvPr/>
          </p:nvCxnSpPr>
          <p:spPr>
            <a:xfrm>
              <a:off x="5879092" y="3449363"/>
              <a:ext cx="640180" cy="425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直接箭头连接符 29">
              <a:extLst>
                <a:ext uri="{FF2B5EF4-FFF2-40B4-BE49-F238E27FC236}">
                  <a16:creationId xmlns:a16="http://schemas.microsoft.com/office/drawing/2014/main" id="{E997530F-62D6-449D-99B9-B066F14BC95A}"/>
                </a:ext>
              </a:extLst>
            </p:cNvPr>
            <p:cNvCxnSpPr>
              <a:cxnSpLocks/>
              <a:stCxn id="10" idx="3"/>
            </p:cNvCxnSpPr>
            <p:nvPr/>
          </p:nvCxnSpPr>
          <p:spPr>
            <a:xfrm flipV="1">
              <a:off x="1510650" y="3842161"/>
              <a:ext cx="5027672" cy="205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772BB9E3-051F-4952-A264-8AA26CE2F536}"/>
                </a:ext>
              </a:extLst>
            </p:cNvPr>
            <p:cNvCxnSpPr>
              <a:cxnSpLocks/>
              <a:stCxn id="11" idx="3"/>
            </p:cNvCxnSpPr>
            <p:nvPr/>
          </p:nvCxnSpPr>
          <p:spPr>
            <a:xfrm flipV="1">
              <a:off x="1510650" y="4235680"/>
              <a:ext cx="5014972" cy="1917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EE4C50AE-F4A6-4803-98D0-82446F1BD0A5}"/>
                </a:ext>
              </a:extLst>
            </p:cNvPr>
            <p:cNvCxnSpPr>
              <a:cxnSpLocks/>
              <a:endCxn id="44" idx="1"/>
            </p:cNvCxnSpPr>
            <p:nvPr/>
          </p:nvCxnSpPr>
          <p:spPr>
            <a:xfrm flipV="1">
              <a:off x="1505374" y="4646734"/>
              <a:ext cx="3050370" cy="1770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连接符: 肘形 32">
              <a:extLst>
                <a:ext uri="{FF2B5EF4-FFF2-40B4-BE49-F238E27FC236}">
                  <a16:creationId xmlns:a16="http://schemas.microsoft.com/office/drawing/2014/main" id="{324D88DA-E540-45D2-9345-5A2D6D5A1C6F}"/>
                </a:ext>
              </a:extLst>
            </p:cNvPr>
            <p:cNvCxnSpPr>
              <a:cxnSpLocks/>
              <a:stCxn id="10" idx="1"/>
              <a:endCxn id="34" idx="1"/>
            </p:cNvCxnSpPr>
            <p:nvPr/>
          </p:nvCxnSpPr>
          <p:spPr>
            <a:xfrm rot="10800000" flipH="1" flipV="1">
              <a:off x="851420" y="3862676"/>
              <a:ext cx="573664" cy="202789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81E588F6-DBF5-4D0F-91E6-B521C594A325}"/>
                    </a:ext>
                  </a:extLst>
                </p:cNvPr>
                <p:cNvSpPr/>
                <p:nvPr/>
              </p:nvSpPr>
              <p:spPr>
                <a:xfrm>
                  <a:off x="1425084" y="5694371"/>
                  <a:ext cx="1568973" cy="392400"/>
                </a:xfrm>
                <a:prstGeom prst="roundRect">
                  <a:avLst/>
                </a:prstGeom>
                <a:solidFill>
                  <a:srgbClr val="CC66FF">
                    <a:alpha val="50196"/>
                  </a:srgbClr>
                </a:solidFill>
                <a:ln w="12700">
                  <a:solidFill>
                    <a:srgbClr val="2A2A2A"/>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700" dirty="0">
                      <a:solidFill>
                        <a:srgbClr val="0000FF"/>
                      </a:solidFill>
                    </a:rPr>
                    <a:t>逻辑函数</a:t>
                  </a:r>
                  <a14:m>
                    <m:oMath xmlns:m="http://schemas.openxmlformats.org/officeDocument/2006/math">
                      <m:r>
                        <a:rPr lang="en-US" altLang="zh-CN" sz="1700" b="0" i="1" smtClean="0">
                          <a:solidFill>
                            <a:srgbClr val="0000FF"/>
                          </a:solidFill>
                          <a:latin typeface="Cambria Math" panose="02040503050406030204" pitchFamily="18" charset="0"/>
                        </a:rPr>
                        <m:t> </m:t>
                      </m:r>
                      <m:sSub>
                        <m:sSubPr>
                          <m:ctrlPr>
                            <a:rPr lang="en-US" altLang="zh-CN" sz="1700" b="0" i="1" smtClean="0">
                              <a:solidFill>
                                <a:srgbClr val="0000FF"/>
                              </a:solidFill>
                              <a:latin typeface="Cambria Math" panose="02040503050406030204" pitchFamily="18" charset="0"/>
                            </a:rPr>
                          </m:ctrlPr>
                        </m:sSubPr>
                        <m:e>
                          <m:r>
                            <a:rPr lang="en-US" altLang="zh-CN" sz="1700" b="0" i="1" smtClean="0">
                              <a:solidFill>
                                <a:srgbClr val="0000FF"/>
                              </a:solidFill>
                              <a:latin typeface="Cambria Math" panose="02040503050406030204" pitchFamily="18" charset="0"/>
                            </a:rPr>
                            <m:t>𝑓</m:t>
                          </m:r>
                        </m:e>
                        <m:sub>
                          <m:r>
                            <a:rPr lang="en-US" altLang="zh-CN" sz="1700" b="0" i="1" smtClean="0">
                              <a:solidFill>
                                <a:srgbClr val="0000FF"/>
                              </a:solidFill>
                              <a:latin typeface="Cambria Math" panose="02040503050406030204" pitchFamily="18" charset="0"/>
                            </a:rPr>
                            <m:t>4</m:t>
                          </m:r>
                        </m:sub>
                      </m:sSub>
                    </m:oMath>
                  </a14:m>
                  <a:endParaRPr lang="zh-CN" altLang="en-US" sz="1700" dirty="0">
                    <a:solidFill>
                      <a:srgbClr val="0000FF"/>
                    </a:solidFill>
                  </a:endParaRPr>
                </a:p>
              </p:txBody>
            </p:sp>
          </mc:Choice>
          <mc:Fallback xmlns="">
            <p:sp>
              <p:nvSpPr>
                <p:cNvPr id="34" name="矩形: 圆角 33">
                  <a:extLst>
                    <a:ext uri="{FF2B5EF4-FFF2-40B4-BE49-F238E27FC236}">
                      <a16:creationId xmlns:a16="http://schemas.microsoft.com/office/drawing/2014/main" id="{81E588F6-DBF5-4D0F-91E6-B521C594A325}"/>
                    </a:ext>
                  </a:extLst>
                </p:cNvPr>
                <p:cNvSpPr>
                  <a:spLocks noRot="1" noChangeAspect="1" noMove="1" noResize="1" noEditPoints="1" noAdjustHandles="1" noChangeArrowheads="1" noChangeShapeType="1" noTextEdit="1"/>
                </p:cNvSpPr>
                <p:nvPr/>
              </p:nvSpPr>
              <p:spPr>
                <a:xfrm>
                  <a:off x="1425084" y="5694371"/>
                  <a:ext cx="1568973" cy="392400"/>
                </a:xfrm>
                <a:prstGeom prst="roundRect">
                  <a:avLst/>
                </a:prstGeom>
                <a:blipFill>
                  <a:blip r:embed="rId12"/>
                  <a:stretch>
                    <a:fillRect t="-8929" b="-25000"/>
                  </a:stretch>
                </a:blipFill>
                <a:ln w="12700">
                  <a:solidFill>
                    <a:srgbClr val="2A2A2A"/>
                  </a:solidFill>
                </a:ln>
              </p:spPr>
              <p:txBody>
                <a:bodyPr/>
                <a:lstStyle/>
                <a:p>
                  <a:r>
                    <a:rPr lang="zh-CN" altLang="en-US">
                      <a:noFill/>
                    </a:rPr>
                    <a:t> </a:t>
                  </a:r>
                </a:p>
              </p:txBody>
            </p:sp>
          </mc:Fallback>
        </mc:AlternateContent>
        <p:cxnSp>
          <p:nvCxnSpPr>
            <p:cNvPr id="35" name="连接符: 肘形 34">
              <a:extLst>
                <a:ext uri="{FF2B5EF4-FFF2-40B4-BE49-F238E27FC236}">
                  <a16:creationId xmlns:a16="http://schemas.microsoft.com/office/drawing/2014/main" id="{D4736826-B59C-460C-93E8-B574BFB1DBCB}"/>
                </a:ext>
              </a:extLst>
            </p:cNvPr>
            <p:cNvCxnSpPr>
              <a:cxnSpLocks/>
              <a:stCxn id="11" idx="1"/>
              <a:endCxn id="34" idx="1"/>
            </p:cNvCxnSpPr>
            <p:nvPr/>
          </p:nvCxnSpPr>
          <p:spPr>
            <a:xfrm rot="10800000" flipH="1" flipV="1">
              <a:off x="851420" y="4254856"/>
              <a:ext cx="573664" cy="163571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0240CE5D-E746-4CC8-8AF2-C368FFE547ED}"/>
                </a:ext>
              </a:extLst>
            </p:cNvPr>
            <p:cNvCxnSpPr>
              <a:cxnSpLocks/>
              <a:stCxn id="12" idx="1"/>
              <a:endCxn id="34" idx="1"/>
            </p:cNvCxnSpPr>
            <p:nvPr/>
          </p:nvCxnSpPr>
          <p:spPr>
            <a:xfrm rot="10800000" flipH="1" flipV="1">
              <a:off x="851420" y="4647036"/>
              <a:ext cx="573664" cy="1243534"/>
            </a:xfrm>
            <a:prstGeom prst="bentConnector3">
              <a:avLst>
                <a:gd name="adj1" fmla="val -4580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DD7564EE-684A-49D6-99DD-0F7C47285378}"/>
                </a:ext>
              </a:extLst>
            </p:cNvPr>
            <p:cNvCxnSpPr>
              <a:cxnSpLocks/>
              <a:stCxn id="34" idx="0"/>
              <a:endCxn id="13" idx="4"/>
            </p:cNvCxnSpPr>
            <p:nvPr/>
          </p:nvCxnSpPr>
          <p:spPr>
            <a:xfrm flipV="1">
              <a:off x="2209570" y="3666587"/>
              <a:ext cx="5409" cy="2027784"/>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C1A5126-75FB-4AF6-85C0-522283F286DF}"/>
                    </a:ext>
                  </a:extLst>
                </p:cNvPr>
                <p:cNvSpPr txBox="1"/>
                <p:nvPr/>
              </p:nvSpPr>
              <p:spPr>
                <a:xfrm>
                  <a:off x="4516775" y="2704432"/>
                  <a:ext cx="454284"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𝑊</m:t>
                            </m:r>
                          </m:e>
                          <m:sub>
                            <m:r>
                              <a:rPr lang="en-US" altLang="zh-CN" sz="1700" b="0" i="1" dirty="0" smtClean="0">
                                <a:solidFill>
                                  <a:schemeClr val="tx1"/>
                                </a:solidFill>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38" name="文本框 37">
                  <a:extLst>
                    <a:ext uri="{FF2B5EF4-FFF2-40B4-BE49-F238E27FC236}">
                      <a16:creationId xmlns:a16="http://schemas.microsoft.com/office/drawing/2014/main" id="{1C1A5126-75FB-4AF6-85C0-522283F286DF}"/>
                    </a:ext>
                  </a:extLst>
                </p:cNvPr>
                <p:cNvSpPr txBox="1">
                  <a:spLocks noRot="1" noChangeAspect="1" noMove="1" noResize="1" noEditPoints="1" noAdjustHandles="1" noChangeArrowheads="1" noChangeShapeType="1" noTextEdit="1"/>
                </p:cNvSpPr>
                <p:nvPr/>
              </p:nvSpPr>
              <p:spPr>
                <a:xfrm>
                  <a:off x="4516775" y="2704432"/>
                  <a:ext cx="454284" cy="353943"/>
                </a:xfrm>
                <a:prstGeom prst="rect">
                  <a:avLst/>
                </a:prstGeom>
                <a:blipFill>
                  <a:blip r:embed="rId13"/>
                  <a:stretch>
                    <a:fillRect b="-16327"/>
                  </a:stretch>
                </a:blipFill>
              </p:spPr>
              <p:txBody>
                <a:bodyPr/>
                <a:lstStyle/>
                <a:p>
                  <a:r>
                    <a:rPr lang="zh-CN" altLang="en-US">
                      <a:noFill/>
                    </a:rPr>
                    <a:t> </a:t>
                  </a:r>
                </a:p>
              </p:txBody>
            </p:sp>
          </mc:Fallback>
        </mc:AlternateContent>
        <p:cxnSp>
          <p:nvCxnSpPr>
            <p:cNvPr id="39" name="直接箭头连接符 38">
              <a:extLst>
                <a:ext uri="{FF2B5EF4-FFF2-40B4-BE49-F238E27FC236}">
                  <a16:creationId xmlns:a16="http://schemas.microsoft.com/office/drawing/2014/main" id="{900B5EC2-9EA7-44EC-8320-9E95133305D9}"/>
                </a:ext>
              </a:extLst>
            </p:cNvPr>
            <p:cNvCxnSpPr>
              <a:cxnSpLocks/>
              <a:stCxn id="38" idx="2"/>
              <a:endCxn id="17" idx="0"/>
            </p:cNvCxnSpPr>
            <p:nvPr/>
          </p:nvCxnSpPr>
          <p:spPr>
            <a:xfrm flipH="1">
              <a:off x="4732012" y="3058375"/>
              <a:ext cx="11905" cy="1973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D9A7D6B-5F53-4925-B956-215BCC91D69A}"/>
                    </a:ext>
                  </a:extLst>
                </p:cNvPr>
                <p:cNvSpPr txBox="1"/>
                <p:nvPr/>
              </p:nvSpPr>
              <p:spPr>
                <a:xfrm>
                  <a:off x="5336682" y="2694150"/>
                  <a:ext cx="692419" cy="3539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700" i="1" dirty="0" smtClean="0">
                                <a:solidFill>
                                  <a:schemeClr val="tx1"/>
                                </a:solidFill>
                                <a:effectLst/>
                                <a:latin typeface="Cambria Math" panose="02040503050406030204" pitchFamily="18" charset="0"/>
                              </a:rPr>
                            </m:ctrlPr>
                          </m:sSubPr>
                          <m:e>
                            <m:r>
                              <a:rPr lang="en-US" altLang="zh-CN" sz="1700" b="0" i="1" dirty="0" smtClean="0">
                                <a:solidFill>
                                  <a:schemeClr val="tx1"/>
                                </a:solidFill>
                                <a:effectLst/>
                                <a:latin typeface="Cambria Math" panose="02040503050406030204" pitchFamily="18" charset="0"/>
                              </a:rPr>
                              <m:t>𝐾</m:t>
                            </m:r>
                          </m:e>
                          <m:sub>
                            <m:r>
                              <a:rPr lang="en-US" altLang="zh-CN" sz="1700" b="0" i="1" dirty="0" smtClean="0">
                                <a:solidFill>
                                  <a:schemeClr val="tx1"/>
                                </a:solidFill>
                                <a:effectLst/>
                                <a:latin typeface="Cambria Math" panose="02040503050406030204" pitchFamily="18" charset="0"/>
                              </a:rPr>
                              <m:t>𝑡</m:t>
                            </m:r>
                          </m:sub>
                        </m:sSub>
                      </m:oMath>
                    </m:oMathPara>
                  </a14:m>
                  <a:endParaRPr lang="zh-CN" altLang="en-US" sz="1700" dirty="0">
                    <a:solidFill>
                      <a:schemeClr val="tx1"/>
                    </a:solidFill>
                  </a:endParaRPr>
                </a:p>
              </p:txBody>
            </p:sp>
          </mc:Choice>
          <mc:Fallback xmlns="">
            <p:sp>
              <p:nvSpPr>
                <p:cNvPr id="40" name="文本框 39">
                  <a:extLst>
                    <a:ext uri="{FF2B5EF4-FFF2-40B4-BE49-F238E27FC236}">
                      <a16:creationId xmlns:a16="http://schemas.microsoft.com/office/drawing/2014/main" id="{BD9A7D6B-5F53-4925-B956-215BCC91D69A}"/>
                    </a:ext>
                  </a:extLst>
                </p:cNvPr>
                <p:cNvSpPr txBox="1">
                  <a:spLocks noRot="1" noChangeAspect="1" noMove="1" noResize="1" noEditPoints="1" noAdjustHandles="1" noChangeArrowheads="1" noChangeShapeType="1" noTextEdit="1"/>
                </p:cNvSpPr>
                <p:nvPr/>
              </p:nvSpPr>
              <p:spPr>
                <a:xfrm>
                  <a:off x="5336682" y="2694150"/>
                  <a:ext cx="692419" cy="353943"/>
                </a:xfrm>
                <a:prstGeom prst="rect">
                  <a:avLst/>
                </a:prstGeom>
                <a:blipFill>
                  <a:blip r:embed="rId14"/>
                  <a:stretch>
                    <a:fillRect b="-163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C6E1A0A-C8A8-4DE3-A6A5-DD3D5C16DEBE}"/>
                    </a:ext>
                  </a:extLst>
                </p:cNvPr>
                <p:cNvSpPr/>
                <p:nvPr/>
              </p:nvSpPr>
              <p:spPr>
                <a:xfrm>
                  <a:off x="851420"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dirty="0"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7" name="矩形 46">
                  <a:extLst>
                    <a:ext uri="{FF2B5EF4-FFF2-40B4-BE49-F238E27FC236}">
                      <a16:creationId xmlns:a16="http://schemas.microsoft.com/office/drawing/2014/main" id="{B805291E-D2D4-48D3-9BDD-612BD7B7905E}"/>
                    </a:ext>
                  </a:extLst>
                </p:cNvPr>
                <p:cNvSpPr>
                  <a:spLocks noRot="1" noChangeAspect="1" noMove="1" noResize="1" noEditPoints="1" noAdjustHandles="1" noChangeArrowheads="1" noChangeShapeType="1" noTextEdit="1"/>
                </p:cNvSpPr>
                <p:nvPr/>
              </p:nvSpPr>
              <p:spPr>
                <a:xfrm>
                  <a:off x="851420" y="4837417"/>
                  <a:ext cx="659230" cy="392180"/>
                </a:xfrm>
                <a:prstGeom prst="rect">
                  <a:avLst/>
                </a:prstGeom>
                <a:blipFill>
                  <a:blip r:embed="rId15"/>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F6C64BD8-B4B7-457B-BDB5-F5ADB4162004}"/>
                    </a:ext>
                  </a:extLst>
                </p:cNvPr>
                <p:cNvSpPr/>
                <p:nvPr/>
              </p:nvSpPr>
              <p:spPr>
                <a:xfrm>
                  <a:off x="7050031" y="4837417"/>
                  <a:ext cx="659230"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b="0" i="1" smtClean="0">
                            <a:solidFill>
                              <a:schemeClr val="tx1"/>
                            </a:solidFill>
                            <a:latin typeface="Cambria Math" panose="02040503050406030204" pitchFamily="18" charset="0"/>
                            <a:cs typeface="Times New Roman" panose="02020603050405020304" pitchFamily="18" charset="0"/>
                          </a:rPr>
                          <m:t>𝑎</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1" name="矩形 50">
                  <a:extLst>
                    <a:ext uri="{FF2B5EF4-FFF2-40B4-BE49-F238E27FC236}">
                      <a16:creationId xmlns:a16="http://schemas.microsoft.com/office/drawing/2014/main" id="{EE5DA41B-1E97-4FC1-80CF-221DC08970D6}"/>
                    </a:ext>
                  </a:extLst>
                </p:cNvPr>
                <p:cNvSpPr>
                  <a:spLocks noRot="1" noChangeAspect="1" noMove="1" noResize="1" noEditPoints="1" noAdjustHandles="1" noChangeArrowheads="1" noChangeShapeType="1" noTextEdit="1"/>
                </p:cNvSpPr>
                <p:nvPr/>
              </p:nvSpPr>
              <p:spPr>
                <a:xfrm>
                  <a:off x="7050031" y="4837417"/>
                  <a:ext cx="659230" cy="392180"/>
                </a:xfrm>
                <a:prstGeom prst="rect">
                  <a:avLst/>
                </a:prstGeom>
                <a:blipFill>
                  <a:blip r:embed="rId16"/>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459B4152-3891-451B-AAFF-003A9760C29F}"/>
                    </a:ext>
                  </a:extLst>
                </p:cNvPr>
                <p:cNvSpPr/>
                <p:nvPr/>
              </p:nvSpPr>
              <p:spPr>
                <a:xfrm>
                  <a:off x="2862673" y="5252405"/>
                  <a:ext cx="1179452"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&lt;&lt;&lt;5</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3" name="矩形 42">
                  <a:extLst>
                    <a:ext uri="{FF2B5EF4-FFF2-40B4-BE49-F238E27FC236}">
                      <a16:creationId xmlns:a16="http://schemas.microsoft.com/office/drawing/2014/main" id="{459B4152-3891-451B-AAFF-003A9760C29F}"/>
                    </a:ext>
                  </a:extLst>
                </p:cNvPr>
                <p:cNvSpPr>
                  <a:spLocks noRot="1" noChangeAspect="1" noMove="1" noResize="1" noEditPoints="1" noAdjustHandles="1" noChangeArrowheads="1" noChangeShapeType="1" noTextEdit="1"/>
                </p:cNvSpPr>
                <p:nvPr/>
              </p:nvSpPr>
              <p:spPr>
                <a:xfrm>
                  <a:off x="2862673" y="5252405"/>
                  <a:ext cx="1179452" cy="392180"/>
                </a:xfrm>
                <a:prstGeom prst="rect">
                  <a:avLst/>
                </a:prstGeom>
                <a:blipFill>
                  <a:blip r:embed="rId17"/>
                  <a:stretch>
                    <a:fillRect/>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D4BB3C54-B31A-4869-AA47-D80A82C5ABD9}"/>
                    </a:ext>
                  </a:extLst>
                </p:cNvPr>
                <p:cNvSpPr/>
                <p:nvPr/>
              </p:nvSpPr>
              <p:spPr>
                <a:xfrm>
                  <a:off x="4555743" y="4450644"/>
                  <a:ext cx="1252918" cy="392180"/>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7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&lt;&lt;&lt;3</m:t>
                        </m:r>
                        <m:r>
                          <a:rPr lang="en-US" altLang="zh-CN" sz="17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zh-CN" altLang="en-US" sz="17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4" name="矩形 43">
                  <a:extLst>
                    <a:ext uri="{FF2B5EF4-FFF2-40B4-BE49-F238E27FC236}">
                      <a16:creationId xmlns:a16="http://schemas.microsoft.com/office/drawing/2014/main" id="{D4BB3C54-B31A-4869-AA47-D80A82C5ABD9}"/>
                    </a:ext>
                  </a:extLst>
                </p:cNvPr>
                <p:cNvSpPr>
                  <a:spLocks noRot="1" noChangeAspect="1" noMove="1" noResize="1" noEditPoints="1" noAdjustHandles="1" noChangeArrowheads="1" noChangeShapeType="1" noTextEdit="1"/>
                </p:cNvSpPr>
                <p:nvPr/>
              </p:nvSpPr>
              <p:spPr>
                <a:xfrm>
                  <a:off x="4555743" y="4450644"/>
                  <a:ext cx="1252918" cy="392180"/>
                </a:xfrm>
                <a:prstGeom prst="rect">
                  <a:avLst/>
                </a:prstGeom>
                <a:blipFill>
                  <a:blip r:embed="rId18"/>
                  <a:stretch>
                    <a:fillRect/>
                  </a:stretch>
                </a:blipFill>
                <a:ln w="9525">
                  <a:solidFill>
                    <a:schemeClr val="tx1"/>
                  </a:solidFill>
                </a:ln>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97F63602-668E-4117-862F-A322F3C6B43C}"/>
                </a:ext>
              </a:extLst>
            </p:cNvPr>
            <p:cNvCxnSpPr>
              <a:cxnSpLocks/>
              <a:stCxn id="43" idx="0"/>
              <a:endCxn id="15" idx="4"/>
            </p:cNvCxnSpPr>
            <p:nvPr/>
          </p:nvCxnSpPr>
          <p:spPr>
            <a:xfrm flipH="1" flipV="1">
              <a:off x="3443740" y="3660877"/>
              <a:ext cx="8660" cy="1591528"/>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FD44BE8D-E133-4BC1-B095-E976B652E530}"/>
                </a:ext>
              </a:extLst>
            </p:cNvPr>
            <p:cNvCxnSpPr>
              <a:cxnSpLocks/>
              <a:endCxn id="20" idx="0"/>
            </p:cNvCxnSpPr>
            <p:nvPr/>
          </p:nvCxnSpPr>
          <p:spPr>
            <a:xfrm>
              <a:off x="5682892" y="3080030"/>
              <a:ext cx="0" cy="173243"/>
            </a:xfrm>
            <a:prstGeom prst="straightConnector1">
              <a:avLst/>
            </a:prstGeom>
            <a:ln>
              <a:solidFill>
                <a:srgbClr val="CC00C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直接箭头连接符 46">
              <a:extLst>
                <a:ext uri="{FF2B5EF4-FFF2-40B4-BE49-F238E27FC236}">
                  <a16:creationId xmlns:a16="http://schemas.microsoft.com/office/drawing/2014/main" id="{EAD174B5-68A8-448C-A67C-252491C207DF}"/>
                </a:ext>
              </a:extLst>
            </p:cNvPr>
            <p:cNvCxnSpPr>
              <a:cxnSpLocks/>
              <a:stCxn id="44" idx="3"/>
            </p:cNvCxnSpPr>
            <p:nvPr/>
          </p:nvCxnSpPr>
          <p:spPr>
            <a:xfrm flipV="1">
              <a:off x="5808662" y="4634439"/>
              <a:ext cx="710611" cy="1229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8" name="直接箭头连接符 47">
              <a:extLst>
                <a:ext uri="{FF2B5EF4-FFF2-40B4-BE49-F238E27FC236}">
                  <a16:creationId xmlns:a16="http://schemas.microsoft.com/office/drawing/2014/main" id="{AD17342C-67F6-41EB-A0CE-BFBD645D0E41}"/>
                </a:ext>
              </a:extLst>
            </p:cNvPr>
            <p:cNvCxnSpPr>
              <a:cxnSpLocks/>
              <a:stCxn id="41" idx="3"/>
            </p:cNvCxnSpPr>
            <p:nvPr/>
          </p:nvCxnSpPr>
          <p:spPr>
            <a:xfrm>
              <a:off x="1510650" y="5033507"/>
              <a:ext cx="5014972" cy="1081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9" name="直接箭头连接符 48">
              <a:extLst>
                <a:ext uri="{FF2B5EF4-FFF2-40B4-BE49-F238E27FC236}">
                  <a16:creationId xmlns:a16="http://schemas.microsoft.com/office/drawing/2014/main" id="{65E45D23-3A7B-4817-B43C-BB53EDAD6726}"/>
                </a:ext>
              </a:extLst>
            </p:cNvPr>
            <p:cNvCxnSpPr>
              <a:cxnSpLocks/>
              <a:endCxn id="24" idx="1"/>
            </p:cNvCxnSpPr>
            <p:nvPr/>
          </p:nvCxnSpPr>
          <p:spPr>
            <a:xfrm flipV="1">
              <a:off x="6519272" y="4641327"/>
              <a:ext cx="530759" cy="4029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连接符: 肘形 49">
              <a:extLst>
                <a:ext uri="{FF2B5EF4-FFF2-40B4-BE49-F238E27FC236}">
                  <a16:creationId xmlns:a16="http://schemas.microsoft.com/office/drawing/2014/main" id="{FA3E66B1-7E0C-4D8C-AB5B-F80402A7BEA2}"/>
                </a:ext>
              </a:extLst>
            </p:cNvPr>
            <p:cNvCxnSpPr>
              <a:cxnSpLocks/>
              <a:stCxn id="41" idx="1"/>
              <a:endCxn id="43" idx="1"/>
            </p:cNvCxnSpPr>
            <p:nvPr/>
          </p:nvCxnSpPr>
          <p:spPr>
            <a:xfrm rot="10800000" flipH="1" flipV="1">
              <a:off x="851420" y="5033507"/>
              <a:ext cx="2011253" cy="414988"/>
            </a:xfrm>
            <a:prstGeom prst="bentConnector3">
              <a:avLst>
                <a:gd name="adj1" fmla="val -13065"/>
              </a:avLst>
            </a:prstGeom>
            <a:ln w="12700">
              <a:solidFill>
                <a:srgbClr val="CC00CC"/>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72224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微软雅黑"/>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微软雅黑"/>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分组循环运算</a:t>
            </a:r>
          </a:p>
        </p:txBody>
      </p:sp>
      <p:sp>
        <p:nvSpPr>
          <p:cNvPr id="258" name="矩形 257">
            <a:extLst>
              <a:ext uri="{FF2B5EF4-FFF2-40B4-BE49-F238E27FC236}">
                <a16:creationId xmlns:a16="http://schemas.microsoft.com/office/drawing/2014/main" id="{0A28FA30-70DD-4658-BF7E-51A41C04AD81}"/>
              </a:ext>
            </a:extLst>
          </p:cNvPr>
          <p:cNvSpPr/>
          <p:nvPr/>
        </p:nvSpPr>
        <p:spPr>
          <a:xfrm>
            <a:off x="2692423" y="5821447"/>
            <a:ext cx="610443" cy="212098"/>
          </a:xfrm>
          <a:prstGeom prst="rect">
            <a:avLst/>
          </a:prstGeom>
          <a:solidFill>
            <a:schemeClr val="accent5">
              <a:lumMod val="20000"/>
              <a:lumOff val="80000"/>
            </a:schemeClr>
          </a:solidFill>
          <a:ln w="9525">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59" name="矩形 258">
            <a:extLst>
              <a:ext uri="{FF2B5EF4-FFF2-40B4-BE49-F238E27FC236}">
                <a16:creationId xmlns:a16="http://schemas.microsoft.com/office/drawing/2014/main" id="{061FACAB-AFD0-4960-9241-F2DD3BB137ED}"/>
              </a:ext>
            </a:extLst>
          </p:cNvPr>
          <p:cNvSpPr/>
          <p:nvPr/>
        </p:nvSpPr>
        <p:spPr>
          <a:xfrm>
            <a:off x="3623422" y="5821447"/>
            <a:ext cx="610442" cy="212099"/>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60" name="矩形 259">
            <a:extLst>
              <a:ext uri="{FF2B5EF4-FFF2-40B4-BE49-F238E27FC236}">
                <a16:creationId xmlns:a16="http://schemas.microsoft.com/office/drawing/2014/main" id="{A44480A6-128F-4950-8249-90B15F7397B2}"/>
              </a:ext>
            </a:extLst>
          </p:cNvPr>
          <p:cNvSpPr/>
          <p:nvPr/>
        </p:nvSpPr>
        <p:spPr>
          <a:xfrm>
            <a:off x="4582431" y="5821448"/>
            <a:ext cx="610442" cy="212097"/>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61" name="矩形 260">
            <a:extLst>
              <a:ext uri="{FF2B5EF4-FFF2-40B4-BE49-F238E27FC236}">
                <a16:creationId xmlns:a16="http://schemas.microsoft.com/office/drawing/2014/main" id="{73B4F559-7134-44D6-B416-1006782B8F2A}"/>
              </a:ext>
            </a:extLst>
          </p:cNvPr>
          <p:cNvSpPr/>
          <p:nvPr/>
        </p:nvSpPr>
        <p:spPr>
          <a:xfrm>
            <a:off x="6438345" y="5821448"/>
            <a:ext cx="611144" cy="211180"/>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62" name="矩形 261">
                <a:extLst>
                  <a:ext uri="{FF2B5EF4-FFF2-40B4-BE49-F238E27FC236}">
                    <a16:creationId xmlns:a16="http://schemas.microsoft.com/office/drawing/2014/main" id="{A0D0FE17-C80F-44FF-A972-DCF0BA560AAD}"/>
                  </a:ext>
                </a:extLst>
              </p:cNvPr>
              <p:cNvSpPr/>
              <p:nvPr/>
            </p:nvSpPr>
            <p:spPr>
              <a:xfrm>
                <a:off x="2471556" y="3057167"/>
                <a:ext cx="4711286" cy="339641"/>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lang="zh-CN" altLang="en-US" dirty="0">
                    <a:solidFill>
                      <a:prstClr val="white"/>
                    </a:solidFill>
                    <a:latin typeface="Times New Roman" panose="02020603050405020304" pitchFamily="18" charset="0"/>
                    <a:cs typeface="Times New Roman" panose="02020603050405020304" pitchFamily="18" charset="0"/>
                  </a:rPr>
                  <a:t>第</a:t>
                </a:r>
                <a:r>
                  <a:rPr lang="en-US" altLang="zh-CN" dirty="0">
                    <a:solidFill>
                      <a:prstClr val="white"/>
                    </a:solidFill>
                    <a:latin typeface="Times New Roman" panose="02020603050405020304" pitchFamily="18" charset="0"/>
                    <a:cs typeface="Times New Roman" panose="02020603050405020304" pitchFamily="18" charset="0"/>
                  </a:rPr>
                  <a:t>1</a:t>
                </a:r>
                <a:r>
                  <a:rPr lang="zh-CN" altLang="en-US" dirty="0">
                    <a:solidFill>
                      <a:prstClr val="white"/>
                    </a:solidFill>
                    <a:latin typeface="Times New Roman" panose="02020603050405020304" pitchFamily="18" charset="0"/>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20 </a:t>
                </a:r>
                <a:r>
                  <a:rPr lang="zh-CN" altLang="en-US" dirty="0">
                    <a:solidFill>
                      <a:prstClr val="white"/>
                    </a:solidFill>
                    <a:latin typeface="Times New Roman" panose="02020603050405020304" pitchFamily="18" charset="0"/>
                    <a:cs typeface="Times New Roman" panose="02020603050405020304" pitchFamily="18" charset="0"/>
                  </a:rPr>
                  <a:t>步 </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b="0" i="1" smtClean="0">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𝑒</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b="0" i="1" smtClean="0">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𝑓</m:t>
                        </m:r>
                      </m:e>
                      <m:sub>
                        <m:r>
                          <a:rPr lang="en-US" altLang="zh-CN" b="0" i="1" smtClean="0">
                            <a:solidFill>
                              <a:prstClr val="white"/>
                            </a:solidFill>
                            <a:latin typeface="Cambria Math" panose="02040503050406030204" pitchFamily="18" charset="0"/>
                            <a:cs typeface="Times New Roman" panose="02020603050405020304" pitchFamily="18" charset="0"/>
                          </a:rPr>
                          <m:t>1</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𝑊</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𝐾</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lang="zh-CN" altLang="en-US" dirty="0">
                  <a:solidFill>
                    <a:prstClr val="white"/>
                  </a:solidFill>
                  <a:latin typeface="Times New Roman" panose="02020603050405020304" pitchFamily="18" charset="0"/>
                  <a:cs typeface="Times New Roman" panose="02020603050405020304" pitchFamily="18" charset="0"/>
                </a:endParaRPr>
              </a:p>
            </p:txBody>
          </p:sp>
        </mc:Choice>
        <mc:Fallback xmlns="">
          <p:sp>
            <p:nvSpPr>
              <p:cNvPr id="262" name="矩形 261">
                <a:extLst>
                  <a:ext uri="{FF2B5EF4-FFF2-40B4-BE49-F238E27FC236}">
                    <a16:creationId xmlns:a16="http://schemas.microsoft.com/office/drawing/2014/main" id="{A0D0FE17-C80F-44FF-A972-DCF0BA560AAD}"/>
                  </a:ext>
                </a:extLst>
              </p:cNvPr>
              <p:cNvSpPr>
                <a:spLocks noRot="1" noChangeAspect="1" noMove="1" noResize="1" noEditPoints="1" noAdjustHandles="1" noChangeArrowheads="1" noChangeShapeType="1" noTextEdit="1"/>
              </p:cNvSpPr>
              <p:nvPr/>
            </p:nvSpPr>
            <p:spPr>
              <a:xfrm>
                <a:off x="2471556" y="3057167"/>
                <a:ext cx="4711286" cy="339641"/>
              </a:xfrm>
              <a:prstGeom prst="rect">
                <a:avLst/>
              </a:prstGeom>
              <a:blipFill>
                <a:blip r:embed="rId3"/>
                <a:stretch>
                  <a:fillRect t="-12281" b="-29825"/>
                </a:stretch>
              </a:blipFill>
              <a:ln>
                <a:headEnd type="none" w="med" len="med"/>
                <a:tailEnd type="none" w="med" len="med"/>
              </a:ln>
            </p:spPr>
            <p:txBody>
              <a:bodyPr/>
              <a:lstStyle/>
              <a:p>
                <a:r>
                  <a:rPr lang="zh-CN" altLang="en-US">
                    <a:noFill/>
                  </a:rPr>
                  <a:t> </a:t>
                </a:r>
              </a:p>
            </p:txBody>
          </p:sp>
        </mc:Fallback>
      </mc:AlternateContent>
      <p:cxnSp>
        <p:nvCxnSpPr>
          <p:cNvPr id="264" name="连接符: 肘形 263">
            <a:extLst>
              <a:ext uri="{FF2B5EF4-FFF2-40B4-BE49-F238E27FC236}">
                <a16:creationId xmlns:a16="http://schemas.microsoft.com/office/drawing/2014/main" id="{E0E10FBE-4D08-4E38-B733-38D042B1CF1A}"/>
              </a:ext>
            </a:extLst>
          </p:cNvPr>
          <p:cNvCxnSpPr>
            <a:cxnSpLocks/>
            <a:endCxn id="267" idx="1"/>
          </p:cNvCxnSpPr>
          <p:nvPr/>
        </p:nvCxnSpPr>
        <p:spPr>
          <a:xfrm rot="16200000" flipH="1">
            <a:off x="454926" y="3188235"/>
            <a:ext cx="2588272" cy="1503540"/>
          </a:xfrm>
          <a:prstGeom prst="bentConnector2">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5" name="矩形 264">
                <a:extLst>
                  <a:ext uri="{FF2B5EF4-FFF2-40B4-BE49-F238E27FC236}">
                    <a16:creationId xmlns:a16="http://schemas.microsoft.com/office/drawing/2014/main" id="{68BF0839-C31C-4695-A6AC-AD0C1CCB9700}"/>
                  </a:ext>
                </a:extLst>
              </p:cNvPr>
              <p:cNvSpPr/>
              <p:nvPr/>
            </p:nvSpPr>
            <p:spPr>
              <a:xfrm>
                <a:off x="2486193" y="3729197"/>
                <a:ext cx="4702119" cy="339641"/>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solidFill>
                      <a:prstClr val="white"/>
                    </a:solidFill>
                    <a:latin typeface="Times New Roman" panose="02020603050405020304" pitchFamily="18" charset="0"/>
                    <a:cs typeface="Times New Roman" panose="02020603050405020304" pitchFamily="18" charset="0"/>
                  </a:rPr>
                  <a:t>第</a:t>
                </a:r>
                <a:r>
                  <a:rPr lang="en-US" altLang="zh-CN" dirty="0">
                    <a:solidFill>
                      <a:prstClr val="white"/>
                    </a:solidFill>
                    <a:latin typeface="Times New Roman" panose="02020603050405020304" pitchFamily="18" charset="0"/>
                    <a:cs typeface="Times New Roman" panose="02020603050405020304" pitchFamily="18" charset="0"/>
                  </a:rPr>
                  <a:t>2</a:t>
                </a:r>
                <a:r>
                  <a:rPr lang="zh-CN" altLang="en-US" dirty="0">
                    <a:solidFill>
                      <a:prstClr val="white"/>
                    </a:solidFill>
                    <a:latin typeface="Times New Roman" panose="02020603050405020304" pitchFamily="18" charset="0"/>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20 </a:t>
                </a:r>
                <a:r>
                  <a:rPr lang="zh-CN" altLang="en-US" dirty="0">
                    <a:solidFill>
                      <a:prstClr val="white"/>
                    </a:solidFill>
                    <a:latin typeface="Times New Roman" panose="02020603050405020304" pitchFamily="18" charset="0"/>
                    <a:cs typeface="Times New Roman" panose="02020603050405020304" pitchFamily="18" charset="0"/>
                  </a:rPr>
                  <a:t>步 </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b="0" i="1" smtClean="0">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𝑒</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b="0" i="1" smtClean="0">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𝑓</m:t>
                        </m:r>
                      </m:e>
                      <m:sub>
                        <m:r>
                          <a:rPr lang="en-US" altLang="zh-CN" b="0" i="1" smtClean="0">
                            <a:solidFill>
                              <a:prstClr val="white"/>
                            </a:solidFill>
                            <a:latin typeface="Cambria Math" panose="02040503050406030204" pitchFamily="18" charset="0"/>
                            <a:cs typeface="Times New Roman" panose="02020603050405020304" pitchFamily="18" charset="0"/>
                          </a:rPr>
                          <m:t>2</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𝑊</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𝐾</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lang="zh-CN" altLang="en-US" dirty="0">
                  <a:solidFill>
                    <a:prstClr val="white"/>
                  </a:solidFill>
                  <a:latin typeface="Times New Roman" panose="02020603050405020304" pitchFamily="18" charset="0"/>
                  <a:cs typeface="Times New Roman" panose="02020603050405020304" pitchFamily="18" charset="0"/>
                </a:endParaRPr>
              </a:p>
            </p:txBody>
          </p:sp>
        </mc:Choice>
        <mc:Fallback xmlns="">
          <p:sp>
            <p:nvSpPr>
              <p:cNvPr id="265" name="矩形 264">
                <a:extLst>
                  <a:ext uri="{FF2B5EF4-FFF2-40B4-BE49-F238E27FC236}">
                    <a16:creationId xmlns:a16="http://schemas.microsoft.com/office/drawing/2014/main" id="{68BF0839-C31C-4695-A6AC-AD0C1CCB9700}"/>
                  </a:ext>
                </a:extLst>
              </p:cNvPr>
              <p:cNvSpPr>
                <a:spLocks noRot="1" noChangeAspect="1" noMove="1" noResize="1" noEditPoints="1" noAdjustHandles="1" noChangeArrowheads="1" noChangeShapeType="1" noTextEdit="1"/>
              </p:cNvSpPr>
              <p:nvPr/>
            </p:nvSpPr>
            <p:spPr>
              <a:xfrm>
                <a:off x="2486193" y="3729197"/>
                <a:ext cx="4702119" cy="339641"/>
              </a:xfrm>
              <a:prstGeom prst="rect">
                <a:avLst/>
              </a:prstGeom>
              <a:blipFill>
                <a:blip r:embed="rId4"/>
                <a:stretch>
                  <a:fillRect t="-12281" b="-31579"/>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6" name="矩形 265">
                <a:extLst>
                  <a:ext uri="{FF2B5EF4-FFF2-40B4-BE49-F238E27FC236}">
                    <a16:creationId xmlns:a16="http://schemas.microsoft.com/office/drawing/2014/main" id="{E1059A5E-7747-416F-8730-D64B2165F9B6}"/>
                  </a:ext>
                </a:extLst>
              </p:cNvPr>
              <p:cNvSpPr/>
              <p:nvPr/>
            </p:nvSpPr>
            <p:spPr>
              <a:xfrm>
                <a:off x="2509290" y="4393576"/>
                <a:ext cx="4702119" cy="339641"/>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solidFill>
                      <a:prstClr val="white"/>
                    </a:solidFill>
                    <a:latin typeface="Times New Roman" panose="02020603050405020304" pitchFamily="18" charset="0"/>
                    <a:cs typeface="Times New Roman" panose="02020603050405020304" pitchFamily="18" charset="0"/>
                  </a:rPr>
                  <a:t>第</a:t>
                </a:r>
                <a:r>
                  <a:rPr lang="en-US" altLang="zh-CN" dirty="0">
                    <a:solidFill>
                      <a:prstClr val="white"/>
                    </a:solidFill>
                    <a:latin typeface="Times New Roman" panose="02020603050405020304" pitchFamily="18" charset="0"/>
                    <a:cs typeface="Times New Roman" panose="02020603050405020304" pitchFamily="18" charset="0"/>
                  </a:rPr>
                  <a:t>3</a:t>
                </a:r>
                <a:r>
                  <a:rPr lang="zh-CN" altLang="en-US" dirty="0">
                    <a:solidFill>
                      <a:prstClr val="white"/>
                    </a:solidFill>
                    <a:latin typeface="Times New Roman" panose="02020603050405020304" pitchFamily="18" charset="0"/>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20 </a:t>
                </a:r>
                <a:r>
                  <a:rPr lang="zh-CN" altLang="en-US" dirty="0">
                    <a:solidFill>
                      <a:prstClr val="white"/>
                    </a:solidFill>
                    <a:latin typeface="Times New Roman" panose="02020603050405020304" pitchFamily="18" charset="0"/>
                    <a:cs typeface="Times New Roman" panose="02020603050405020304" pitchFamily="18" charset="0"/>
                  </a:rPr>
                  <a:t>步 </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b="0" i="1" smtClean="0">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𝑒</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b="0" i="1" smtClean="0">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𝑓</m:t>
                        </m:r>
                      </m:e>
                      <m:sub>
                        <m:r>
                          <a:rPr lang="en-US" altLang="zh-CN" b="0" i="1" smtClean="0">
                            <a:solidFill>
                              <a:prstClr val="white"/>
                            </a:solidFill>
                            <a:latin typeface="Cambria Math" panose="02040503050406030204" pitchFamily="18" charset="0"/>
                            <a:cs typeface="Times New Roman" panose="02020603050405020304" pitchFamily="18" charset="0"/>
                          </a:rPr>
                          <m:t>3</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𝑊</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𝐾</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lang="zh-CN" altLang="en-US" dirty="0">
                  <a:solidFill>
                    <a:prstClr val="white"/>
                  </a:solidFill>
                  <a:latin typeface="Times New Roman" panose="02020603050405020304" pitchFamily="18" charset="0"/>
                  <a:cs typeface="Times New Roman" panose="02020603050405020304" pitchFamily="18" charset="0"/>
                </a:endParaRPr>
              </a:p>
            </p:txBody>
          </p:sp>
        </mc:Choice>
        <mc:Fallback xmlns="">
          <p:sp>
            <p:nvSpPr>
              <p:cNvPr id="266" name="矩形 265">
                <a:extLst>
                  <a:ext uri="{FF2B5EF4-FFF2-40B4-BE49-F238E27FC236}">
                    <a16:creationId xmlns:a16="http://schemas.microsoft.com/office/drawing/2014/main" id="{E1059A5E-7747-416F-8730-D64B2165F9B6}"/>
                  </a:ext>
                </a:extLst>
              </p:cNvPr>
              <p:cNvSpPr>
                <a:spLocks noRot="1" noChangeAspect="1" noMove="1" noResize="1" noEditPoints="1" noAdjustHandles="1" noChangeArrowheads="1" noChangeShapeType="1" noTextEdit="1"/>
              </p:cNvSpPr>
              <p:nvPr/>
            </p:nvSpPr>
            <p:spPr>
              <a:xfrm>
                <a:off x="2509290" y="4393576"/>
                <a:ext cx="4702119" cy="339641"/>
              </a:xfrm>
              <a:prstGeom prst="rect">
                <a:avLst/>
              </a:prstGeom>
              <a:blipFill>
                <a:blip r:embed="rId5"/>
                <a:stretch>
                  <a:fillRect t="-12281" b="-31579"/>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7" name="矩形 266">
                <a:extLst>
                  <a:ext uri="{FF2B5EF4-FFF2-40B4-BE49-F238E27FC236}">
                    <a16:creationId xmlns:a16="http://schemas.microsoft.com/office/drawing/2014/main" id="{0D599369-870C-48D5-9E53-BA017955E64D}"/>
                  </a:ext>
                </a:extLst>
              </p:cNvPr>
              <p:cNvSpPr/>
              <p:nvPr/>
            </p:nvSpPr>
            <p:spPr>
              <a:xfrm>
                <a:off x="2500832" y="5064321"/>
                <a:ext cx="4682010" cy="339641"/>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solidFill>
                      <a:prstClr val="white"/>
                    </a:solidFill>
                    <a:latin typeface="Times New Roman" panose="02020603050405020304" pitchFamily="18" charset="0"/>
                    <a:cs typeface="Times New Roman" panose="02020603050405020304" pitchFamily="18" charset="0"/>
                  </a:rPr>
                  <a:t>第</a:t>
                </a:r>
                <a:r>
                  <a:rPr lang="en-US" altLang="zh-CN" dirty="0">
                    <a:solidFill>
                      <a:prstClr val="white"/>
                    </a:solidFill>
                    <a:latin typeface="Times New Roman" panose="02020603050405020304" pitchFamily="18" charset="0"/>
                    <a:cs typeface="Times New Roman" panose="02020603050405020304" pitchFamily="18" charset="0"/>
                  </a:rPr>
                  <a:t>4</a:t>
                </a:r>
                <a:r>
                  <a:rPr lang="zh-CN" altLang="en-US" dirty="0">
                    <a:solidFill>
                      <a:prstClr val="white"/>
                    </a:solidFill>
                    <a:latin typeface="Times New Roman" panose="02020603050405020304" pitchFamily="18" charset="0"/>
                    <a:cs typeface="Times New Roman" panose="02020603050405020304" pitchFamily="18" charset="0"/>
                  </a:rPr>
                  <a:t>轮，</a:t>
                </a:r>
                <a:r>
                  <a:rPr lang="en-US" altLang="zh-CN" dirty="0">
                    <a:solidFill>
                      <a:prstClr val="white"/>
                    </a:solidFill>
                    <a:latin typeface="Times New Roman" panose="02020603050405020304" pitchFamily="18" charset="0"/>
                    <a:cs typeface="Times New Roman" panose="02020603050405020304" pitchFamily="18" charset="0"/>
                  </a:rPr>
                  <a:t>20 </a:t>
                </a:r>
                <a:r>
                  <a:rPr lang="zh-CN" altLang="en-US" dirty="0">
                    <a:solidFill>
                      <a:prstClr val="white"/>
                    </a:solidFill>
                    <a:latin typeface="Times New Roman" panose="02020603050405020304" pitchFamily="18" charset="0"/>
                    <a:cs typeface="Times New Roman" panose="02020603050405020304" pitchFamily="18" charset="0"/>
                  </a:rPr>
                  <a:t>步 </a:t>
                </a:r>
                <a14:m>
                  <m:oMath xmlns:m="http://schemas.openxmlformats.org/officeDocument/2006/math">
                    <m:r>
                      <a:rPr lang="en-US" altLang="zh-CN" i="1">
                        <a:solidFill>
                          <a:prstClr val="white"/>
                        </a:solidFill>
                        <a:latin typeface="Cambria Math" panose="02040503050406030204" pitchFamily="18" charset="0"/>
                        <a:cs typeface="Times New Roman" panose="02020603050405020304" pitchFamily="18" charset="0"/>
                      </a:rPr>
                      <m:t>𝑓</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𝑎</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𝑏</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𝑐</m:t>
                    </m:r>
                    <m:r>
                      <a:rPr lang="en-US" altLang="zh-CN" i="1">
                        <a:solidFill>
                          <a:prstClr val="white"/>
                        </a:solidFill>
                        <a:latin typeface="Cambria Math" panose="02040503050406030204" pitchFamily="18" charset="0"/>
                        <a:cs typeface="Times New Roman" panose="02020603050405020304" pitchFamily="18" charset="0"/>
                      </a:rPr>
                      <m:t>,</m:t>
                    </m:r>
                    <m:r>
                      <a:rPr lang="en-US" altLang="zh-CN" i="1">
                        <a:solidFill>
                          <a:prstClr val="white"/>
                        </a:solidFill>
                        <a:latin typeface="Cambria Math" panose="02040503050406030204" pitchFamily="18" charset="0"/>
                        <a:cs typeface="Times New Roman" panose="02020603050405020304" pitchFamily="18" charset="0"/>
                      </a:rPr>
                      <m:t>𝑑</m:t>
                    </m:r>
                    <m:r>
                      <a:rPr lang="en-US" altLang="zh-CN" b="0" i="1" smtClean="0">
                        <a:solidFill>
                          <a:prstClr val="white"/>
                        </a:solidFill>
                        <a:latin typeface="Cambria Math" panose="02040503050406030204" pitchFamily="18" charset="0"/>
                        <a:cs typeface="Times New Roman" panose="02020603050405020304" pitchFamily="18" charset="0"/>
                      </a:rPr>
                      <m:t>,</m:t>
                    </m:r>
                    <m:r>
                      <a:rPr lang="en-US" altLang="zh-CN" b="0" i="1" smtClean="0">
                        <a:solidFill>
                          <a:prstClr val="white"/>
                        </a:solidFill>
                        <a:latin typeface="Cambria Math" panose="02040503050406030204" pitchFamily="18" charset="0"/>
                        <a:cs typeface="Times New Roman" panose="02020603050405020304" pitchFamily="18" charset="0"/>
                      </a:rPr>
                      <m:t>𝑒</m:t>
                    </m:r>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b="0" i="1" smtClean="0">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𝑓</m:t>
                        </m:r>
                      </m:e>
                      <m:sub>
                        <m:r>
                          <a:rPr lang="en-US" altLang="zh-CN" b="0" i="1" smtClean="0">
                            <a:solidFill>
                              <a:prstClr val="white"/>
                            </a:solidFill>
                            <a:latin typeface="Cambria Math" panose="02040503050406030204" pitchFamily="18" charset="0"/>
                            <a:cs typeface="Times New Roman" panose="02020603050405020304" pitchFamily="18" charset="0"/>
                          </a:rPr>
                          <m:t>4</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𝑊</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sSub>
                      <m:sSubPr>
                        <m:ctrlPr>
                          <a:rPr lang="en-US" altLang="zh-CN" i="1">
                            <a:solidFill>
                              <a:prstClr val="white"/>
                            </a:solidFill>
                            <a:latin typeface="Cambria Math" panose="02040503050406030204" pitchFamily="18" charset="0"/>
                            <a:cs typeface="Times New Roman" panose="02020603050405020304" pitchFamily="18" charset="0"/>
                          </a:rPr>
                        </m:ctrlPr>
                      </m:sSubPr>
                      <m:e>
                        <m:r>
                          <a:rPr lang="en-US" altLang="zh-CN" b="0" i="1" smtClean="0">
                            <a:solidFill>
                              <a:prstClr val="white"/>
                            </a:solidFill>
                            <a:latin typeface="Cambria Math" panose="02040503050406030204" pitchFamily="18" charset="0"/>
                            <a:cs typeface="Times New Roman" panose="02020603050405020304" pitchFamily="18" charset="0"/>
                          </a:rPr>
                          <m:t>𝐾</m:t>
                        </m:r>
                      </m:e>
                      <m:sub>
                        <m:r>
                          <a:rPr lang="en-US" altLang="zh-CN" b="0" i="1" smtClean="0">
                            <a:solidFill>
                              <a:prstClr val="white"/>
                            </a:solidFill>
                            <a:latin typeface="Cambria Math" panose="02040503050406030204" pitchFamily="18" charset="0"/>
                            <a:cs typeface="Times New Roman" panose="02020603050405020304" pitchFamily="18" charset="0"/>
                          </a:rPr>
                          <m:t>𝑡</m:t>
                        </m:r>
                      </m:sub>
                    </m:sSub>
                    <m:r>
                      <a:rPr lang="en-US" altLang="zh-CN" i="1">
                        <a:solidFill>
                          <a:prstClr val="white"/>
                        </a:solidFill>
                        <a:latin typeface="Cambria Math" panose="02040503050406030204" pitchFamily="18" charset="0"/>
                        <a:cs typeface="Times New Roman" panose="02020603050405020304" pitchFamily="18" charset="0"/>
                      </a:rPr>
                      <m:t>)</m:t>
                    </m:r>
                  </m:oMath>
                </a14:m>
                <a:endParaRPr lang="zh-CN" altLang="en-US" dirty="0">
                  <a:solidFill>
                    <a:prstClr val="white"/>
                  </a:solidFill>
                  <a:latin typeface="Times New Roman" panose="02020603050405020304" pitchFamily="18" charset="0"/>
                  <a:cs typeface="Times New Roman" panose="02020603050405020304" pitchFamily="18" charset="0"/>
                </a:endParaRPr>
              </a:p>
            </p:txBody>
          </p:sp>
        </mc:Choice>
        <mc:Fallback xmlns="">
          <p:sp>
            <p:nvSpPr>
              <p:cNvPr id="267" name="矩形 266">
                <a:extLst>
                  <a:ext uri="{FF2B5EF4-FFF2-40B4-BE49-F238E27FC236}">
                    <a16:creationId xmlns:a16="http://schemas.microsoft.com/office/drawing/2014/main" id="{0D599369-870C-48D5-9E53-BA017955E64D}"/>
                  </a:ext>
                </a:extLst>
              </p:cNvPr>
              <p:cNvSpPr>
                <a:spLocks noRot="1" noChangeAspect="1" noMove="1" noResize="1" noEditPoints="1" noAdjustHandles="1" noChangeArrowheads="1" noChangeShapeType="1" noTextEdit="1"/>
              </p:cNvSpPr>
              <p:nvPr/>
            </p:nvSpPr>
            <p:spPr>
              <a:xfrm>
                <a:off x="2500832" y="5064321"/>
                <a:ext cx="4682010" cy="339641"/>
              </a:xfrm>
              <a:prstGeom prst="rect">
                <a:avLst/>
              </a:prstGeom>
              <a:blipFill>
                <a:blip r:embed="rId6"/>
                <a:stretch>
                  <a:fillRect t="-12281" b="-31579"/>
                </a:stretch>
              </a:blipFill>
              <a:ln>
                <a:headEnd type="none" w="med" len="med"/>
                <a:tailEnd type="none" w="med" len="med"/>
              </a:ln>
            </p:spPr>
            <p:txBody>
              <a:bodyPr/>
              <a:lstStyle/>
              <a:p>
                <a:r>
                  <a:rPr lang="zh-CN" altLang="en-US">
                    <a:noFill/>
                  </a:rPr>
                  <a:t> </a:t>
                </a:r>
              </a:p>
            </p:txBody>
          </p:sp>
        </mc:Fallback>
      </mc:AlternateContent>
      <p:cxnSp>
        <p:nvCxnSpPr>
          <p:cNvPr id="268" name="直接箭头连接符 267">
            <a:extLst>
              <a:ext uri="{FF2B5EF4-FFF2-40B4-BE49-F238E27FC236}">
                <a16:creationId xmlns:a16="http://schemas.microsoft.com/office/drawing/2014/main" id="{A6A69AAD-C81F-4E53-8907-E6239A210704}"/>
              </a:ext>
            </a:extLst>
          </p:cNvPr>
          <p:cNvCxnSpPr>
            <a:cxnSpLocks/>
            <a:endCxn id="262" idx="1"/>
          </p:cNvCxnSpPr>
          <p:nvPr/>
        </p:nvCxnSpPr>
        <p:spPr>
          <a:xfrm flipV="1">
            <a:off x="997291" y="3226988"/>
            <a:ext cx="1474265" cy="74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9" name="文本框 268">
                <a:extLst>
                  <a:ext uri="{FF2B5EF4-FFF2-40B4-BE49-F238E27FC236}">
                    <a16:creationId xmlns:a16="http://schemas.microsoft.com/office/drawing/2014/main" id="{0E5D75A7-5CA1-474E-80C9-0EEDB0427FF5}"/>
                  </a:ext>
                </a:extLst>
              </p:cNvPr>
              <p:cNvSpPr txBox="1"/>
              <p:nvPr/>
            </p:nvSpPr>
            <p:spPr>
              <a:xfrm>
                <a:off x="1023911" y="2938579"/>
                <a:ext cx="1568554" cy="266545"/>
              </a:xfrm>
              <a:prstGeom prst="rect">
                <a:avLst/>
              </a:prstGeom>
              <a:noFill/>
            </p:spPr>
            <p:txBody>
              <a:bodyPr wrap="square" rtlCol="0">
                <a:spAutoFit/>
              </a:bodyPr>
              <a:lstStyle/>
              <a:p>
                <a14:m>
                  <m:oMath xmlns:m="http://schemas.openxmlformats.org/officeDocument/2006/math">
                    <m:sSub>
                      <m:sSubPr>
                        <m:ctrlPr>
                          <a:rPr lang="en-US" altLang="zh-CN" sz="1400" i="1" dirty="0" smtClean="0">
                            <a:latin typeface="Cambria Math" panose="02040503050406030204" pitchFamily="18" charset="0"/>
                            <a:cs typeface="Times New Roman" panose="02020603050405020304" pitchFamily="18" charset="0"/>
                          </a:rPr>
                        </m:ctrlPr>
                      </m:sSubPr>
                      <m:e>
                        <m:r>
                          <m:rPr>
                            <m:sty m:val="p"/>
                          </m:rPr>
                          <a:rPr lang="en-US" altLang="zh-CN" sz="1400" b="0" i="0" dirty="0" smtClean="0">
                            <a:latin typeface="Cambria Math" panose="02040503050406030204" pitchFamily="18" charset="0"/>
                            <a:cs typeface="Times New Roman" panose="02020603050405020304" pitchFamily="18" charset="0"/>
                          </a:rPr>
                          <m:t>W</m:t>
                        </m:r>
                      </m:e>
                      <m:sub>
                        <m:r>
                          <a:rPr lang="en-US" altLang="zh-CN" sz="1400" b="0" i="1" dirty="0" smtClean="0">
                            <a:latin typeface="Cambria Math" panose="02040503050406030204" pitchFamily="18" charset="0"/>
                            <a:cs typeface="Times New Roman" panose="02020603050405020304" pitchFamily="18" charset="0"/>
                          </a:rPr>
                          <m:t>𝑡</m:t>
                        </m:r>
                      </m:sub>
                    </m:sSub>
                  </m:oMath>
                </a14:m>
                <a:r>
                  <a:rPr lang="en-US" altLang="zh-CN" sz="14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400" i="1" dirty="0">
                        <a:latin typeface="Cambria Math" panose="02040503050406030204" pitchFamily="18" charset="0"/>
                        <a:cs typeface="Times New Roman" panose="02020603050405020304" pitchFamily="18" charset="0"/>
                      </a:rPr>
                      <m:t>0</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≤19</m:t>
                    </m:r>
                    <m:r>
                      <a:rPr lang="en-US" altLang="zh-CN" sz="1400" b="0" i="0"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400" dirty="0">
                    <a:latin typeface="Cambria Math" panose="02040503050406030204" pitchFamily="18" charset="0"/>
                    <a:cs typeface="Times New Roman" panose="02020603050405020304" pitchFamily="18" charset="0"/>
                  </a:rPr>
                  <a:t> </a:t>
                </a: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69" name="文本框 268">
                <a:extLst>
                  <a:ext uri="{FF2B5EF4-FFF2-40B4-BE49-F238E27FC236}">
                    <a16:creationId xmlns:a16="http://schemas.microsoft.com/office/drawing/2014/main" id="{0E5D75A7-5CA1-474E-80C9-0EEDB0427FF5}"/>
                  </a:ext>
                </a:extLst>
              </p:cNvPr>
              <p:cNvSpPr txBox="1">
                <a:spLocks noRot="1" noChangeAspect="1" noMove="1" noResize="1" noEditPoints="1" noAdjustHandles="1" noChangeArrowheads="1" noChangeShapeType="1" noTextEdit="1"/>
              </p:cNvSpPr>
              <p:nvPr/>
            </p:nvSpPr>
            <p:spPr>
              <a:xfrm>
                <a:off x="1023911" y="2938579"/>
                <a:ext cx="1568554" cy="266545"/>
              </a:xfrm>
              <a:prstGeom prst="rect">
                <a:avLst/>
              </a:prstGeom>
              <a:blipFill>
                <a:blip r:embed="rId7"/>
                <a:stretch>
                  <a:fillRect t="-4545" b="-38636"/>
                </a:stretch>
              </a:blipFill>
            </p:spPr>
            <p:txBody>
              <a:bodyPr/>
              <a:lstStyle/>
              <a:p>
                <a:r>
                  <a:rPr lang="zh-CN" altLang="en-US">
                    <a:noFill/>
                  </a:rPr>
                  <a:t> </a:t>
                </a:r>
              </a:p>
            </p:txBody>
          </p:sp>
        </mc:Fallback>
      </mc:AlternateContent>
      <p:cxnSp>
        <p:nvCxnSpPr>
          <p:cNvPr id="270" name="直接箭头连接符 269">
            <a:extLst>
              <a:ext uri="{FF2B5EF4-FFF2-40B4-BE49-F238E27FC236}">
                <a16:creationId xmlns:a16="http://schemas.microsoft.com/office/drawing/2014/main" id="{6516FCF5-5487-4C8D-BD8E-0AE53CD10800}"/>
              </a:ext>
            </a:extLst>
          </p:cNvPr>
          <p:cNvCxnSpPr>
            <a:cxnSpLocks/>
          </p:cNvCxnSpPr>
          <p:nvPr/>
        </p:nvCxnSpPr>
        <p:spPr>
          <a:xfrm>
            <a:off x="997291" y="3930533"/>
            <a:ext cx="1470944" cy="7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1" name="文本框 270">
                <a:extLst>
                  <a:ext uri="{FF2B5EF4-FFF2-40B4-BE49-F238E27FC236}">
                    <a16:creationId xmlns:a16="http://schemas.microsoft.com/office/drawing/2014/main" id="{F47A2D31-2B8F-4389-BE0E-A50A9AB9096E}"/>
                  </a:ext>
                </a:extLst>
              </p:cNvPr>
              <p:cNvSpPr txBox="1"/>
              <p:nvPr/>
            </p:nvSpPr>
            <p:spPr>
              <a:xfrm>
                <a:off x="1015104" y="3646267"/>
                <a:ext cx="1545432" cy="266545"/>
              </a:xfrm>
              <a:prstGeom prst="rect">
                <a:avLst/>
              </a:prstGeom>
              <a:noFill/>
            </p:spPr>
            <p:txBody>
              <a:bodyPr wrap="square" rtlCol="0">
                <a:spAutoFit/>
              </a:bodyPr>
              <a:lstStyle/>
              <a:p>
                <a14:m>
                  <m:oMath xmlns:m="http://schemas.openxmlformats.org/officeDocument/2006/math">
                    <m:sSub>
                      <m:sSubPr>
                        <m:ctrlPr>
                          <a:rPr lang="en-US" altLang="zh-CN" sz="1400" i="1" dirty="0" smtClean="0">
                            <a:latin typeface="Cambria Math" panose="02040503050406030204" pitchFamily="18" charset="0"/>
                            <a:cs typeface="Times New Roman" panose="02020603050405020304" pitchFamily="18" charset="0"/>
                          </a:rPr>
                        </m:ctrlPr>
                      </m:sSubPr>
                      <m:e>
                        <m:r>
                          <m:rPr>
                            <m:sty m:val="p"/>
                          </m:rPr>
                          <a:rPr lang="en-US" altLang="zh-CN" sz="1400" b="0" i="0" dirty="0" smtClean="0">
                            <a:latin typeface="Cambria Math" panose="02040503050406030204" pitchFamily="18" charset="0"/>
                            <a:cs typeface="Times New Roman" panose="02020603050405020304" pitchFamily="18" charset="0"/>
                          </a:rPr>
                          <m:t>W</m:t>
                        </m:r>
                      </m:e>
                      <m:sub>
                        <m:r>
                          <a:rPr lang="en-US" altLang="zh-CN" sz="1400" b="0" i="1" dirty="0" smtClean="0">
                            <a:latin typeface="Cambria Math" panose="02040503050406030204" pitchFamily="18" charset="0"/>
                            <a:cs typeface="Times New Roman" panose="02020603050405020304" pitchFamily="18" charset="0"/>
                          </a:rPr>
                          <m:t>𝑡</m:t>
                        </m:r>
                      </m:sub>
                    </m:sSub>
                  </m:oMath>
                </a14:m>
                <a:r>
                  <a:rPr lang="en-US" altLang="zh-CN" sz="1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400" dirty="0">
                        <a:latin typeface="Cambria Math" panose="02040503050406030204" pitchFamily="18" charset="0"/>
                        <a:cs typeface="Times New Roman" panose="02020603050405020304" pitchFamily="18" charset="0"/>
                      </a:rPr>
                      <m:t>2</m:t>
                    </m:r>
                    <m:r>
                      <a:rPr lang="en-US" altLang="zh-CN" sz="1400" i="1" dirty="0">
                        <a:latin typeface="Cambria Math" panose="02040503050406030204" pitchFamily="18" charset="0"/>
                        <a:cs typeface="Times New Roman" panose="02020603050405020304" pitchFamily="18" charset="0"/>
                      </a:rPr>
                      <m:t>0</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≤39)</m:t>
                    </m:r>
                  </m:oMath>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71" name="文本框 270">
                <a:extLst>
                  <a:ext uri="{FF2B5EF4-FFF2-40B4-BE49-F238E27FC236}">
                    <a16:creationId xmlns:a16="http://schemas.microsoft.com/office/drawing/2014/main" id="{F47A2D31-2B8F-4389-BE0E-A50A9AB9096E}"/>
                  </a:ext>
                </a:extLst>
              </p:cNvPr>
              <p:cNvSpPr txBox="1">
                <a:spLocks noRot="1" noChangeAspect="1" noMove="1" noResize="1" noEditPoints="1" noAdjustHandles="1" noChangeArrowheads="1" noChangeShapeType="1" noTextEdit="1"/>
              </p:cNvSpPr>
              <p:nvPr/>
            </p:nvSpPr>
            <p:spPr>
              <a:xfrm>
                <a:off x="1015104" y="3646267"/>
                <a:ext cx="1545432" cy="266545"/>
              </a:xfrm>
              <a:prstGeom prst="rect">
                <a:avLst/>
              </a:prstGeom>
              <a:blipFill>
                <a:blip r:embed="rId8"/>
                <a:stretch>
                  <a:fillRect t="-4545" b="-38636"/>
                </a:stretch>
              </a:blipFill>
            </p:spPr>
            <p:txBody>
              <a:bodyPr/>
              <a:lstStyle/>
              <a:p>
                <a:r>
                  <a:rPr lang="zh-CN" altLang="en-US">
                    <a:noFill/>
                  </a:rPr>
                  <a:t> </a:t>
                </a:r>
              </a:p>
            </p:txBody>
          </p:sp>
        </mc:Fallback>
      </mc:AlternateContent>
      <p:cxnSp>
        <p:nvCxnSpPr>
          <p:cNvPr id="272" name="直接箭头连接符 271">
            <a:extLst>
              <a:ext uri="{FF2B5EF4-FFF2-40B4-BE49-F238E27FC236}">
                <a16:creationId xmlns:a16="http://schemas.microsoft.com/office/drawing/2014/main" id="{71761C6F-5A67-4065-B672-B3108B75D226}"/>
              </a:ext>
            </a:extLst>
          </p:cNvPr>
          <p:cNvCxnSpPr>
            <a:cxnSpLocks/>
            <a:endCxn id="266" idx="1"/>
          </p:cNvCxnSpPr>
          <p:nvPr/>
        </p:nvCxnSpPr>
        <p:spPr>
          <a:xfrm>
            <a:off x="997291" y="4563092"/>
            <a:ext cx="1511999" cy="3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3" name="文本框 272">
                <a:extLst>
                  <a:ext uri="{FF2B5EF4-FFF2-40B4-BE49-F238E27FC236}">
                    <a16:creationId xmlns:a16="http://schemas.microsoft.com/office/drawing/2014/main" id="{36404A64-F292-40E1-9773-0936A3E3CA50}"/>
                  </a:ext>
                </a:extLst>
              </p:cNvPr>
              <p:cNvSpPr txBox="1"/>
              <p:nvPr/>
            </p:nvSpPr>
            <p:spPr>
              <a:xfrm>
                <a:off x="1023911" y="4296546"/>
                <a:ext cx="1425928" cy="266545"/>
              </a:xfrm>
              <a:prstGeom prst="rect">
                <a:avLst/>
              </a:prstGeom>
              <a:noFill/>
            </p:spPr>
            <p:txBody>
              <a:bodyPr wrap="square" rtlCol="0">
                <a:spAutoFit/>
              </a:bodyPr>
              <a:lstStyle/>
              <a:p>
                <a14:m>
                  <m:oMath xmlns:m="http://schemas.openxmlformats.org/officeDocument/2006/math">
                    <m:sSub>
                      <m:sSubPr>
                        <m:ctrlPr>
                          <a:rPr lang="en-US" altLang="zh-CN" sz="1400" i="1" dirty="0" smtClean="0">
                            <a:latin typeface="Cambria Math" panose="02040503050406030204" pitchFamily="18" charset="0"/>
                            <a:cs typeface="Times New Roman" panose="02020603050405020304" pitchFamily="18" charset="0"/>
                          </a:rPr>
                        </m:ctrlPr>
                      </m:sSubPr>
                      <m:e>
                        <m:r>
                          <m:rPr>
                            <m:sty m:val="p"/>
                          </m:rPr>
                          <a:rPr lang="en-US" altLang="zh-CN" sz="1400" b="0" i="0" dirty="0" smtClean="0">
                            <a:latin typeface="Cambria Math" panose="02040503050406030204" pitchFamily="18" charset="0"/>
                            <a:cs typeface="Times New Roman" panose="02020603050405020304" pitchFamily="18" charset="0"/>
                          </a:rPr>
                          <m:t>W</m:t>
                        </m:r>
                      </m:e>
                      <m:sub>
                        <m:r>
                          <a:rPr lang="en-US" altLang="zh-CN" sz="1400" b="0" i="1" dirty="0" smtClean="0">
                            <a:latin typeface="Cambria Math" panose="02040503050406030204" pitchFamily="18" charset="0"/>
                            <a:cs typeface="Times New Roman" panose="02020603050405020304" pitchFamily="18" charset="0"/>
                          </a:rPr>
                          <m:t>𝑡</m:t>
                        </m:r>
                      </m:sub>
                    </m:sSub>
                  </m:oMath>
                </a14:m>
                <a:r>
                  <a:rPr lang="en-US" altLang="zh-CN" sz="14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400">
                        <a:latin typeface="Cambria Math" panose="02040503050406030204" pitchFamily="18" charset="0"/>
                        <a:cs typeface="Times New Roman" panose="02020603050405020304" pitchFamily="18" charset="0"/>
                      </a:rPr>
                      <m:t>4</m:t>
                    </m:r>
                    <m:r>
                      <a:rPr lang="en-US" altLang="zh-CN" sz="1400" i="1" dirty="0">
                        <a:latin typeface="Cambria Math" panose="02040503050406030204" pitchFamily="18" charset="0"/>
                        <a:cs typeface="Times New Roman" panose="02020603050405020304" pitchFamily="18" charset="0"/>
                      </a:rPr>
                      <m:t>0</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≤59</m:t>
                    </m:r>
                  </m:oMath>
                </a14:m>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73" name="文本框 272">
                <a:extLst>
                  <a:ext uri="{FF2B5EF4-FFF2-40B4-BE49-F238E27FC236}">
                    <a16:creationId xmlns:a16="http://schemas.microsoft.com/office/drawing/2014/main" id="{36404A64-F292-40E1-9773-0936A3E3CA50}"/>
                  </a:ext>
                </a:extLst>
              </p:cNvPr>
              <p:cNvSpPr txBox="1">
                <a:spLocks noRot="1" noChangeAspect="1" noMove="1" noResize="1" noEditPoints="1" noAdjustHandles="1" noChangeArrowheads="1" noChangeShapeType="1" noTextEdit="1"/>
              </p:cNvSpPr>
              <p:nvPr/>
            </p:nvSpPr>
            <p:spPr>
              <a:xfrm>
                <a:off x="1023911" y="4296546"/>
                <a:ext cx="1425928" cy="266545"/>
              </a:xfrm>
              <a:prstGeom prst="rect">
                <a:avLst/>
              </a:prstGeom>
              <a:blipFill>
                <a:blip r:embed="rId9"/>
                <a:stretch>
                  <a:fillRect t="-4545" r="-5128" b="-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4" name="文本框 273">
                <a:extLst>
                  <a:ext uri="{FF2B5EF4-FFF2-40B4-BE49-F238E27FC236}">
                    <a16:creationId xmlns:a16="http://schemas.microsoft.com/office/drawing/2014/main" id="{95ECD7DE-E8EC-4A4A-A774-19035FF543F3}"/>
                  </a:ext>
                </a:extLst>
              </p:cNvPr>
              <p:cNvSpPr txBox="1"/>
              <p:nvPr/>
            </p:nvSpPr>
            <p:spPr>
              <a:xfrm>
                <a:off x="1023910" y="4973673"/>
                <a:ext cx="1530485"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latin typeface="Cambria Math" panose="02040503050406030204" pitchFamily="18" charset="0"/>
                              <a:cs typeface="Times New Roman" panose="02020603050405020304" pitchFamily="18" charset="0"/>
                            </a:rPr>
                          </m:ctrlPr>
                        </m:sSubPr>
                        <m:e>
                          <m:r>
                            <m:rPr>
                              <m:sty m:val="p"/>
                            </m:rPr>
                            <a:rPr lang="en-US" altLang="zh-CN" sz="1400" b="0" i="0" dirty="0" smtClean="0">
                              <a:latin typeface="Cambria Math" panose="02040503050406030204" pitchFamily="18" charset="0"/>
                              <a:cs typeface="Times New Roman" panose="02020603050405020304" pitchFamily="18" charset="0"/>
                            </a:rPr>
                            <m:t>W</m:t>
                          </m:r>
                        </m:e>
                        <m:sub>
                          <m:r>
                            <a:rPr lang="en-US" altLang="zh-CN" sz="1400" b="0" i="1" dirty="0" smtClean="0">
                              <a:latin typeface="Cambria Math" panose="02040503050406030204" pitchFamily="18" charset="0"/>
                              <a:cs typeface="Times New Roman" panose="02020603050405020304" pitchFamily="18" charset="0"/>
                            </a:rPr>
                            <m:t>𝑡</m:t>
                          </m:r>
                        </m:sub>
                      </m:sSub>
                      <m:r>
                        <a:rPr lang="en-US" altLang="zh-CN" sz="1400" b="0" i="1" dirty="0" smtClean="0">
                          <a:latin typeface="Cambria Math" panose="02040503050406030204" pitchFamily="18" charset="0"/>
                          <a:cs typeface="Times New Roman" panose="02020603050405020304" pitchFamily="18" charset="0"/>
                        </a:rPr>
                        <m:t>(</m:t>
                      </m:r>
                      <m:r>
                        <a:rPr lang="en-US" altLang="zh-CN" sz="1400" dirty="0">
                          <a:latin typeface="Cambria Math" panose="02040503050406030204" pitchFamily="18" charset="0"/>
                          <a:cs typeface="Times New Roman" panose="02020603050405020304" pitchFamily="18" charset="0"/>
                        </a:rPr>
                        <m:t>6</m:t>
                      </m:r>
                      <m:r>
                        <a:rPr lang="en-US" altLang="zh-CN" sz="1400" i="1" dirty="0">
                          <a:latin typeface="Cambria Math" panose="02040503050406030204" pitchFamily="18" charset="0"/>
                          <a:cs typeface="Times New Roman" panose="02020603050405020304" pitchFamily="18" charset="0"/>
                        </a:rPr>
                        <m:t>0</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400" i="1" dirty="0">
                          <a:latin typeface="Cambria Math" panose="02040503050406030204" pitchFamily="18" charset="0"/>
                          <a:ea typeface="Cambria Math" panose="02040503050406030204" pitchFamily="18" charset="0"/>
                          <a:cs typeface="Times New Roman" panose="02020603050405020304" pitchFamily="18" charset="0"/>
                        </a:rPr>
                        <m:t>≤79)</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74" name="文本框 273">
                <a:extLst>
                  <a:ext uri="{FF2B5EF4-FFF2-40B4-BE49-F238E27FC236}">
                    <a16:creationId xmlns:a16="http://schemas.microsoft.com/office/drawing/2014/main" id="{95ECD7DE-E8EC-4A4A-A774-19035FF543F3}"/>
                  </a:ext>
                </a:extLst>
              </p:cNvPr>
              <p:cNvSpPr txBox="1">
                <a:spLocks noRot="1" noChangeAspect="1" noMove="1" noResize="1" noEditPoints="1" noAdjustHandles="1" noChangeArrowheads="1" noChangeShapeType="1" noTextEdit="1"/>
              </p:cNvSpPr>
              <p:nvPr/>
            </p:nvSpPr>
            <p:spPr>
              <a:xfrm>
                <a:off x="1023910" y="4973673"/>
                <a:ext cx="1530485" cy="266545"/>
              </a:xfrm>
              <a:prstGeom prst="rect">
                <a:avLst/>
              </a:prstGeom>
              <a:blipFill>
                <a:blip r:embed="rId10"/>
                <a:stretch>
                  <a:fillRect b="-25000"/>
                </a:stretch>
              </a:blipFill>
            </p:spPr>
            <p:txBody>
              <a:bodyPr/>
              <a:lstStyle/>
              <a:p>
                <a:r>
                  <a:rPr lang="zh-CN" altLang="en-US">
                    <a:noFill/>
                  </a:rPr>
                  <a:t> </a:t>
                </a:r>
              </a:p>
            </p:txBody>
          </p:sp>
        </mc:Fallback>
      </mc:AlternateContent>
      <p:cxnSp>
        <p:nvCxnSpPr>
          <p:cNvPr id="275" name="直接箭头连接符 274">
            <a:extLst>
              <a:ext uri="{FF2B5EF4-FFF2-40B4-BE49-F238E27FC236}">
                <a16:creationId xmlns:a16="http://schemas.microsoft.com/office/drawing/2014/main" id="{539D1220-1C21-4526-B514-9B280F8251D3}"/>
              </a:ext>
            </a:extLst>
          </p:cNvPr>
          <p:cNvCxnSpPr>
            <a:cxnSpLocks/>
          </p:cNvCxnSpPr>
          <p:nvPr/>
        </p:nvCxnSpPr>
        <p:spPr>
          <a:xfrm>
            <a:off x="3035740" y="5396938"/>
            <a:ext cx="0" cy="4275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6" name="直接箭头连接符 275">
            <a:extLst>
              <a:ext uri="{FF2B5EF4-FFF2-40B4-BE49-F238E27FC236}">
                <a16:creationId xmlns:a16="http://schemas.microsoft.com/office/drawing/2014/main" id="{85BFD0B2-B0F9-4F6C-81F2-82E33DD6573A}"/>
              </a:ext>
            </a:extLst>
          </p:cNvPr>
          <p:cNvCxnSpPr>
            <a:cxnSpLocks/>
          </p:cNvCxnSpPr>
          <p:nvPr/>
        </p:nvCxnSpPr>
        <p:spPr>
          <a:xfrm>
            <a:off x="3958911" y="5402438"/>
            <a:ext cx="0" cy="4174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7" name="直接箭头连接符 276">
            <a:extLst>
              <a:ext uri="{FF2B5EF4-FFF2-40B4-BE49-F238E27FC236}">
                <a16:creationId xmlns:a16="http://schemas.microsoft.com/office/drawing/2014/main" id="{1848C935-77BB-494C-BA05-85DAE37A0267}"/>
              </a:ext>
            </a:extLst>
          </p:cNvPr>
          <p:cNvCxnSpPr>
            <a:cxnSpLocks/>
          </p:cNvCxnSpPr>
          <p:nvPr/>
        </p:nvCxnSpPr>
        <p:spPr>
          <a:xfrm>
            <a:off x="6764380" y="5403961"/>
            <a:ext cx="0" cy="4174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8" name="直接箭头连接符 277">
            <a:extLst>
              <a:ext uri="{FF2B5EF4-FFF2-40B4-BE49-F238E27FC236}">
                <a16:creationId xmlns:a16="http://schemas.microsoft.com/office/drawing/2014/main" id="{700C574D-3E6E-489A-BACB-ADDDC27D6A61}"/>
              </a:ext>
            </a:extLst>
          </p:cNvPr>
          <p:cNvCxnSpPr>
            <a:cxnSpLocks/>
          </p:cNvCxnSpPr>
          <p:nvPr/>
        </p:nvCxnSpPr>
        <p:spPr>
          <a:xfrm flipH="1">
            <a:off x="5861435" y="5400259"/>
            <a:ext cx="969" cy="4191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9" name="文本框 278">
                <a:extLst>
                  <a:ext uri="{FF2B5EF4-FFF2-40B4-BE49-F238E27FC236}">
                    <a16:creationId xmlns:a16="http://schemas.microsoft.com/office/drawing/2014/main" id="{0A0E5125-17B3-4F28-961A-0BF4DA135622}"/>
                  </a:ext>
                </a:extLst>
              </p:cNvPr>
              <p:cNvSpPr txBox="1"/>
              <p:nvPr/>
            </p:nvSpPr>
            <p:spPr>
              <a:xfrm>
                <a:off x="6850091" y="2681874"/>
                <a:ext cx="739182"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0" dirty="0" smtClean="0">
                          <a:latin typeface="Cambria Math" panose="02040503050406030204" pitchFamily="18" charset="0"/>
                        </a:rPr>
                        <m:t>32 </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79" name="文本框 278">
                <a:extLst>
                  <a:ext uri="{FF2B5EF4-FFF2-40B4-BE49-F238E27FC236}">
                    <a16:creationId xmlns:a16="http://schemas.microsoft.com/office/drawing/2014/main" id="{0A0E5125-17B3-4F28-961A-0BF4DA135622}"/>
                  </a:ext>
                </a:extLst>
              </p:cNvPr>
              <p:cNvSpPr txBox="1">
                <a:spLocks noRot="1" noChangeAspect="1" noMove="1" noResize="1" noEditPoints="1" noAdjustHandles="1" noChangeArrowheads="1" noChangeShapeType="1" noTextEdit="1"/>
              </p:cNvSpPr>
              <p:nvPr/>
            </p:nvSpPr>
            <p:spPr>
              <a:xfrm>
                <a:off x="6850091" y="2681874"/>
                <a:ext cx="739182" cy="266545"/>
              </a:xfrm>
              <a:prstGeom prst="rect">
                <a:avLst/>
              </a:prstGeom>
              <a:blipFill>
                <a:blip r:embed="rId11"/>
                <a:stretch>
                  <a:fillRect b="-2273"/>
                </a:stretch>
              </a:blipFill>
            </p:spPr>
            <p:txBody>
              <a:bodyPr/>
              <a:lstStyle/>
              <a:p>
                <a:r>
                  <a:rPr lang="zh-CN" altLang="en-US">
                    <a:noFill/>
                  </a:rPr>
                  <a:t> </a:t>
                </a:r>
              </a:p>
            </p:txBody>
          </p:sp>
        </mc:Fallback>
      </mc:AlternateContent>
      <p:cxnSp>
        <p:nvCxnSpPr>
          <p:cNvPr id="280" name="直接连接符 279">
            <a:extLst>
              <a:ext uri="{FF2B5EF4-FFF2-40B4-BE49-F238E27FC236}">
                <a16:creationId xmlns:a16="http://schemas.microsoft.com/office/drawing/2014/main" id="{B8DDF7F6-6F89-4264-8A0A-1CCB119571FB}"/>
              </a:ext>
            </a:extLst>
          </p:cNvPr>
          <p:cNvCxnSpPr>
            <a:cxnSpLocks/>
          </p:cNvCxnSpPr>
          <p:nvPr/>
        </p:nvCxnSpPr>
        <p:spPr>
          <a:xfrm flipH="1">
            <a:off x="3070822" y="2742169"/>
            <a:ext cx="3744494" cy="6964"/>
          </a:xfrm>
          <a:prstGeom prst="line">
            <a:avLst/>
          </a:prstGeom>
        </p:spPr>
        <p:style>
          <a:lnRef idx="2">
            <a:schemeClr val="dk1"/>
          </a:lnRef>
          <a:fillRef idx="0">
            <a:schemeClr val="dk1"/>
          </a:fillRef>
          <a:effectRef idx="1">
            <a:schemeClr val="dk1"/>
          </a:effectRef>
          <a:fontRef idx="minor">
            <a:schemeClr val="tx1"/>
          </a:fontRef>
        </p:style>
      </p:cxnSp>
      <p:cxnSp>
        <p:nvCxnSpPr>
          <p:cNvPr id="281" name="直接连接符 280">
            <a:extLst>
              <a:ext uri="{FF2B5EF4-FFF2-40B4-BE49-F238E27FC236}">
                <a16:creationId xmlns:a16="http://schemas.microsoft.com/office/drawing/2014/main" id="{6B70F8AA-D384-474D-B406-A3454870D8FD}"/>
              </a:ext>
            </a:extLst>
          </p:cNvPr>
          <p:cNvCxnSpPr>
            <a:cxnSpLocks/>
          </p:cNvCxnSpPr>
          <p:nvPr/>
        </p:nvCxnSpPr>
        <p:spPr>
          <a:xfrm flipV="1">
            <a:off x="4958670" y="2397347"/>
            <a:ext cx="0" cy="347429"/>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2" name="文本框 281">
                <a:extLst>
                  <a:ext uri="{FF2B5EF4-FFF2-40B4-BE49-F238E27FC236}">
                    <a16:creationId xmlns:a16="http://schemas.microsoft.com/office/drawing/2014/main" id="{23143260-7F6B-4343-813E-2DC994893D6F}"/>
                  </a:ext>
                </a:extLst>
              </p:cNvPr>
              <p:cNvSpPr txBox="1"/>
              <p:nvPr/>
            </p:nvSpPr>
            <p:spPr>
              <a:xfrm>
                <a:off x="3677370" y="6387488"/>
                <a:ext cx="1563385" cy="35753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1600" b="0" i="1" dirty="0" smtClean="0">
                          <a:latin typeface="Cambria Math" panose="02040503050406030204" pitchFamily="18" charset="0"/>
                        </a:rPr>
                        <m:t>𝐶</m:t>
                      </m:r>
                      <m:sSub>
                        <m:sSubPr>
                          <m:ctrlPr>
                            <a:rPr lang="en-US" altLang="zh-CN" sz="1600" b="0" i="1" dirty="0" err="1" smtClean="0">
                              <a:latin typeface="Cambria Math" panose="02040503050406030204" pitchFamily="18" charset="0"/>
                            </a:rPr>
                          </m:ctrlPr>
                        </m:sSubPr>
                        <m:e>
                          <m:r>
                            <a:rPr lang="en-US" altLang="zh-CN" sz="1600" i="1" dirty="0" smtClean="0">
                              <a:latin typeface="Cambria Math" panose="02040503050406030204" pitchFamily="18" charset="0"/>
                            </a:rPr>
                            <m:t>𝑉</m:t>
                          </m:r>
                        </m:e>
                        <m:sub>
                          <m:r>
                            <a:rPr lang="en-US" altLang="zh-CN" sz="1600" b="0" i="1" dirty="0" smtClean="0">
                              <a:latin typeface="Cambria Math" panose="02040503050406030204" pitchFamily="18" charset="0"/>
                            </a:rPr>
                            <m:t>𝑞</m:t>
                          </m:r>
                          <m:r>
                            <a:rPr lang="en-US" altLang="zh-CN" sz="1600" b="0" i="1" dirty="0" smtClean="0">
                              <a:latin typeface="Cambria Math" panose="02040503050406030204" pitchFamily="18" charset="0"/>
                            </a:rPr>
                            <m:t>+1</m:t>
                          </m:r>
                        </m:sub>
                      </m:sSub>
                    </m:oMath>
                  </m:oMathPara>
                </a14:m>
                <a:endParaRPr lang="en-US" altLang="zh-CN" sz="1600" b="0" i="1" dirty="0">
                  <a:latin typeface="Times New Roman" panose="02020603050405020304" pitchFamily="18" charset="0"/>
                  <a:cs typeface="Times New Roman" panose="02020603050405020304" pitchFamily="18" charset="0"/>
                </a:endParaRPr>
              </a:p>
            </p:txBody>
          </p:sp>
        </mc:Choice>
        <mc:Fallback xmlns="">
          <p:sp>
            <p:nvSpPr>
              <p:cNvPr id="282" name="文本框 281">
                <a:extLst>
                  <a:ext uri="{FF2B5EF4-FFF2-40B4-BE49-F238E27FC236}">
                    <a16:creationId xmlns:a16="http://schemas.microsoft.com/office/drawing/2014/main" id="{23143260-7F6B-4343-813E-2DC994893D6F}"/>
                  </a:ext>
                </a:extLst>
              </p:cNvPr>
              <p:cNvSpPr txBox="1">
                <a:spLocks noRot="1" noChangeAspect="1" noMove="1" noResize="1" noEditPoints="1" noAdjustHandles="1" noChangeArrowheads="1" noChangeShapeType="1" noTextEdit="1"/>
              </p:cNvSpPr>
              <p:nvPr/>
            </p:nvSpPr>
            <p:spPr>
              <a:xfrm>
                <a:off x="3677370" y="6387488"/>
                <a:ext cx="1563385" cy="357534"/>
              </a:xfrm>
              <a:prstGeom prst="rect">
                <a:avLst/>
              </a:prstGeom>
              <a:blipFill>
                <a:blip r:embed="rId12"/>
                <a:stretch>
                  <a:fillRect b="-3448"/>
                </a:stretch>
              </a:blipFill>
            </p:spPr>
            <p:txBody>
              <a:bodyPr/>
              <a:lstStyle/>
              <a:p>
                <a:r>
                  <a:rPr lang="zh-CN" altLang="en-US">
                    <a:noFill/>
                  </a:rPr>
                  <a:t> </a:t>
                </a:r>
              </a:p>
            </p:txBody>
          </p:sp>
        </mc:Fallback>
      </mc:AlternateContent>
      <p:cxnSp>
        <p:nvCxnSpPr>
          <p:cNvPr id="283" name="直接连接符 282">
            <a:extLst>
              <a:ext uri="{FF2B5EF4-FFF2-40B4-BE49-F238E27FC236}">
                <a16:creationId xmlns:a16="http://schemas.microsoft.com/office/drawing/2014/main" id="{9B649C46-78EE-4C63-ABFA-E79F8197A9ED}"/>
              </a:ext>
            </a:extLst>
          </p:cNvPr>
          <p:cNvCxnSpPr>
            <a:cxnSpLocks/>
          </p:cNvCxnSpPr>
          <p:nvPr/>
        </p:nvCxnSpPr>
        <p:spPr>
          <a:xfrm flipH="1">
            <a:off x="4917276" y="2425380"/>
            <a:ext cx="76441" cy="87925"/>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4" name="文本框 283">
                <a:extLst>
                  <a:ext uri="{FF2B5EF4-FFF2-40B4-BE49-F238E27FC236}">
                    <a16:creationId xmlns:a16="http://schemas.microsoft.com/office/drawing/2014/main" id="{CF153BBC-C5B3-4E8C-ABAC-89C1F5212E44}"/>
                  </a:ext>
                </a:extLst>
              </p:cNvPr>
              <p:cNvSpPr txBox="1"/>
              <p:nvPr/>
            </p:nvSpPr>
            <p:spPr>
              <a:xfrm>
                <a:off x="4903913" y="2284158"/>
                <a:ext cx="650091"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0" dirty="0" smtClean="0">
                          <a:latin typeface="Cambria Math" panose="02040503050406030204" pitchFamily="18" charset="0"/>
                        </a:rPr>
                        <m:t>160 </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84" name="文本框 283">
                <a:extLst>
                  <a:ext uri="{FF2B5EF4-FFF2-40B4-BE49-F238E27FC236}">
                    <a16:creationId xmlns:a16="http://schemas.microsoft.com/office/drawing/2014/main" id="{CF153BBC-C5B3-4E8C-ABAC-89C1F5212E44}"/>
                  </a:ext>
                </a:extLst>
              </p:cNvPr>
              <p:cNvSpPr txBox="1">
                <a:spLocks noRot="1" noChangeAspect="1" noMove="1" noResize="1" noEditPoints="1" noAdjustHandles="1" noChangeArrowheads="1" noChangeShapeType="1" noTextEdit="1"/>
              </p:cNvSpPr>
              <p:nvPr/>
            </p:nvSpPr>
            <p:spPr>
              <a:xfrm>
                <a:off x="4903913" y="2284158"/>
                <a:ext cx="650091" cy="266545"/>
              </a:xfrm>
              <a:prstGeom prst="rect">
                <a:avLst/>
              </a:prstGeom>
              <a:blipFill>
                <a:blip r:embed="rId13"/>
                <a:stretch>
                  <a:fillRect b="-4651"/>
                </a:stretch>
              </a:blipFill>
            </p:spPr>
            <p:txBody>
              <a:bodyPr/>
              <a:lstStyle/>
              <a:p>
                <a:r>
                  <a:rPr lang="zh-CN" altLang="en-US">
                    <a:noFill/>
                  </a:rPr>
                  <a:t> </a:t>
                </a:r>
              </a:p>
            </p:txBody>
          </p:sp>
        </mc:Fallback>
      </mc:AlternateContent>
      <p:cxnSp>
        <p:nvCxnSpPr>
          <p:cNvPr id="285" name="直接箭头连接符 284">
            <a:extLst>
              <a:ext uri="{FF2B5EF4-FFF2-40B4-BE49-F238E27FC236}">
                <a16:creationId xmlns:a16="http://schemas.microsoft.com/office/drawing/2014/main" id="{98CA9D19-3AA5-41A8-BEC6-BB7516001F92}"/>
              </a:ext>
            </a:extLst>
          </p:cNvPr>
          <p:cNvCxnSpPr>
            <a:cxnSpLocks/>
          </p:cNvCxnSpPr>
          <p:nvPr/>
        </p:nvCxnSpPr>
        <p:spPr>
          <a:xfrm>
            <a:off x="2998184" y="6027869"/>
            <a:ext cx="1118" cy="3167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6" name="直接连接符 285">
            <a:extLst>
              <a:ext uri="{FF2B5EF4-FFF2-40B4-BE49-F238E27FC236}">
                <a16:creationId xmlns:a16="http://schemas.microsoft.com/office/drawing/2014/main" id="{969ED823-D22C-46D6-8735-6EBA6D2804A7}"/>
              </a:ext>
            </a:extLst>
          </p:cNvPr>
          <p:cNvCxnSpPr>
            <a:cxnSpLocks/>
          </p:cNvCxnSpPr>
          <p:nvPr/>
        </p:nvCxnSpPr>
        <p:spPr>
          <a:xfrm>
            <a:off x="2998184" y="6340662"/>
            <a:ext cx="3743008" cy="3921"/>
          </a:xfrm>
          <a:prstGeom prst="line">
            <a:avLst/>
          </a:prstGeom>
        </p:spPr>
        <p:style>
          <a:lnRef idx="2">
            <a:schemeClr val="dk1"/>
          </a:lnRef>
          <a:fillRef idx="0">
            <a:schemeClr val="dk1"/>
          </a:fillRef>
          <a:effectRef idx="1">
            <a:schemeClr val="dk1"/>
          </a:effectRef>
          <a:fontRef idx="minor">
            <a:schemeClr val="tx1"/>
          </a:fontRef>
        </p:style>
      </p:cxnSp>
      <p:cxnSp>
        <p:nvCxnSpPr>
          <p:cNvPr id="287" name="直接连接符 286">
            <a:extLst>
              <a:ext uri="{FF2B5EF4-FFF2-40B4-BE49-F238E27FC236}">
                <a16:creationId xmlns:a16="http://schemas.microsoft.com/office/drawing/2014/main" id="{CEB8A3A0-BD7E-4622-84B5-F44B8A20CE7A}"/>
              </a:ext>
            </a:extLst>
          </p:cNvPr>
          <p:cNvCxnSpPr>
            <a:cxnSpLocks/>
          </p:cNvCxnSpPr>
          <p:nvPr/>
        </p:nvCxnSpPr>
        <p:spPr>
          <a:xfrm flipH="1">
            <a:off x="4788170" y="6478818"/>
            <a:ext cx="154716" cy="60739"/>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8" name="文本框 287">
                <a:extLst>
                  <a:ext uri="{FF2B5EF4-FFF2-40B4-BE49-F238E27FC236}">
                    <a16:creationId xmlns:a16="http://schemas.microsoft.com/office/drawing/2014/main" id="{351657BE-D02E-471A-9CBA-F8B9470733F3}"/>
                  </a:ext>
                </a:extLst>
              </p:cNvPr>
              <p:cNvSpPr txBox="1"/>
              <p:nvPr/>
            </p:nvSpPr>
            <p:spPr>
              <a:xfrm>
                <a:off x="5041721" y="6395979"/>
                <a:ext cx="739182"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0" dirty="0" smtClean="0">
                          <a:latin typeface="Cambria Math" panose="02040503050406030204" pitchFamily="18" charset="0"/>
                        </a:rPr>
                        <m:t>160</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88" name="文本框 287">
                <a:extLst>
                  <a:ext uri="{FF2B5EF4-FFF2-40B4-BE49-F238E27FC236}">
                    <a16:creationId xmlns:a16="http://schemas.microsoft.com/office/drawing/2014/main" id="{351657BE-D02E-471A-9CBA-F8B9470733F3}"/>
                  </a:ext>
                </a:extLst>
              </p:cNvPr>
              <p:cNvSpPr txBox="1">
                <a:spLocks noRot="1" noChangeAspect="1" noMove="1" noResize="1" noEditPoints="1" noAdjustHandles="1" noChangeArrowheads="1" noChangeShapeType="1" noTextEdit="1"/>
              </p:cNvSpPr>
              <p:nvPr/>
            </p:nvSpPr>
            <p:spPr>
              <a:xfrm>
                <a:off x="5041721" y="6395979"/>
                <a:ext cx="739182" cy="266545"/>
              </a:xfrm>
              <a:prstGeom prst="rect">
                <a:avLst/>
              </a:prstGeom>
              <a:blipFill>
                <a:blip r:embed="rId14"/>
                <a:stretch>
                  <a:fillRect b="-4545"/>
                </a:stretch>
              </a:blipFill>
            </p:spPr>
            <p:txBody>
              <a:bodyPr/>
              <a:lstStyle/>
              <a:p>
                <a:r>
                  <a:rPr lang="zh-CN" altLang="en-US">
                    <a:noFill/>
                  </a:rPr>
                  <a:t> </a:t>
                </a:r>
              </a:p>
            </p:txBody>
          </p:sp>
        </mc:Fallback>
      </mc:AlternateContent>
      <p:cxnSp>
        <p:nvCxnSpPr>
          <p:cNvPr id="289" name="连接符: 肘形 288">
            <a:extLst>
              <a:ext uri="{FF2B5EF4-FFF2-40B4-BE49-F238E27FC236}">
                <a16:creationId xmlns:a16="http://schemas.microsoft.com/office/drawing/2014/main" id="{E303323A-FE69-4E60-89D2-56190A0AEB13}"/>
              </a:ext>
            </a:extLst>
          </p:cNvPr>
          <p:cNvCxnSpPr>
            <a:cxnSpLocks/>
          </p:cNvCxnSpPr>
          <p:nvPr/>
        </p:nvCxnSpPr>
        <p:spPr>
          <a:xfrm rot="10800000" flipV="1">
            <a:off x="3138086" y="5462849"/>
            <a:ext cx="4385800" cy="358597"/>
          </a:xfrm>
          <a:prstGeom prst="bentConnector3">
            <a:avLst>
              <a:gd name="adj1" fmla="val 100060"/>
            </a:avLst>
          </a:prstGeom>
          <a:ln>
            <a:tailEnd type="triangle"/>
          </a:ln>
        </p:spPr>
        <p:style>
          <a:lnRef idx="2">
            <a:schemeClr val="dk1"/>
          </a:lnRef>
          <a:fillRef idx="0">
            <a:schemeClr val="dk1"/>
          </a:fillRef>
          <a:effectRef idx="1">
            <a:schemeClr val="dk1"/>
          </a:effectRef>
          <a:fontRef idx="minor">
            <a:schemeClr val="tx1"/>
          </a:fontRef>
        </p:style>
      </p:cxnSp>
      <p:cxnSp>
        <p:nvCxnSpPr>
          <p:cNvPr id="290" name="连接符: 肘形 289">
            <a:extLst>
              <a:ext uri="{FF2B5EF4-FFF2-40B4-BE49-F238E27FC236}">
                <a16:creationId xmlns:a16="http://schemas.microsoft.com/office/drawing/2014/main" id="{FF18EDE6-0E0C-4AFB-8C25-1948054BECB5}"/>
              </a:ext>
            </a:extLst>
          </p:cNvPr>
          <p:cNvCxnSpPr>
            <a:cxnSpLocks/>
          </p:cNvCxnSpPr>
          <p:nvPr/>
        </p:nvCxnSpPr>
        <p:spPr>
          <a:xfrm rot="10800000" flipV="1">
            <a:off x="4073284" y="5522433"/>
            <a:ext cx="3449262" cy="299013"/>
          </a:xfrm>
          <a:prstGeom prst="bentConnector3">
            <a:avLst>
              <a:gd name="adj1" fmla="val 99982"/>
            </a:avLst>
          </a:prstGeom>
          <a:ln>
            <a:tailEnd type="triangle"/>
          </a:ln>
        </p:spPr>
        <p:style>
          <a:lnRef idx="2">
            <a:schemeClr val="dk1"/>
          </a:lnRef>
          <a:fillRef idx="0">
            <a:schemeClr val="dk1"/>
          </a:fillRef>
          <a:effectRef idx="1">
            <a:schemeClr val="dk1"/>
          </a:effectRef>
          <a:fontRef idx="minor">
            <a:schemeClr val="tx1"/>
          </a:fontRef>
        </p:style>
      </p:cxnSp>
      <p:cxnSp>
        <p:nvCxnSpPr>
          <p:cNvPr id="291" name="直接连接符 290">
            <a:extLst>
              <a:ext uri="{FF2B5EF4-FFF2-40B4-BE49-F238E27FC236}">
                <a16:creationId xmlns:a16="http://schemas.microsoft.com/office/drawing/2014/main" id="{942F7D30-E670-4276-B401-4114687B43A8}"/>
              </a:ext>
            </a:extLst>
          </p:cNvPr>
          <p:cNvCxnSpPr>
            <a:cxnSpLocks/>
          </p:cNvCxnSpPr>
          <p:nvPr/>
        </p:nvCxnSpPr>
        <p:spPr>
          <a:xfrm flipV="1">
            <a:off x="7521180" y="5468513"/>
            <a:ext cx="1332" cy="246633"/>
          </a:xfrm>
          <a:prstGeom prst="line">
            <a:avLst/>
          </a:prstGeom>
        </p:spPr>
        <p:style>
          <a:lnRef idx="2">
            <a:schemeClr val="dk1"/>
          </a:lnRef>
          <a:fillRef idx="0">
            <a:schemeClr val="dk1"/>
          </a:fillRef>
          <a:effectRef idx="1">
            <a:schemeClr val="dk1"/>
          </a:effectRef>
          <a:fontRef idx="minor">
            <a:schemeClr val="tx1"/>
          </a:fontRef>
        </p:style>
      </p:cxnSp>
      <p:cxnSp>
        <p:nvCxnSpPr>
          <p:cNvPr id="292" name="连接符: 肘形 291">
            <a:extLst>
              <a:ext uri="{FF2B5EF4-FFF2-40B4-BE49-F238E27FC236}">
                <a16:creationId xmlns:a16="http://schemas.microsoft.com/office/drawing/2014/main" id="{54D904CA-2431-4F31-8F9B-CD74933F0E0F}"/>
              </a:ext>
            </a:extLst>
          </p:cNvPr>
          <p:cNvCxnSpPr>
            <a:cxnSpLocks/>
          </p:cNvCxnSpPr>
          <p:nvPr/>
        </p:nvCxnSpPr>
        <p:spPr>
          <a:xfrm rot="10800000" flipV="1">
            <a:off x="5041722" y="5572326"/>
            <a:ext cx="2482167" cy="242727"/>
          </a:xfrm>
          <a:prstGeom prst="bentConnector3">
            <a:avLst>
              <a:gd name="adj1" fmla="val 100078"/>
            </a:avLst>
          </a:prstGeom>
          <a:ln>
            <a:tailEnd type="triangle"/>
          </a:ln>
        </p:spPr>
        <p:style>
          <a:lnRef idx="2">
            <a:schemeClr val="dk1"/>
          </a:lnRef>
          <a:fillRef idx="0">
            <a:schemeClr val="dk1"/>
          </a:fillRef>
          <a:effectRef idx="1">
            <a:schemeClr val="dk1"/>
          </a:effectRef>
          <a:fontRef idx="minor">
            <a:schemeClr val="tx1"/>
          </a:fontRef>
        </p:style>
      </p:cxnSp>
      <p:cxnSp>
        <p:nvCxnSpPr>
          <p:cNvPr id="293" name="连接符: 肘形 292">
            <a:extLst>
              <a:ext uri="{FF2B5EF4-FFF2-40B4-BE49-F238E27FC236}">
                <a16:creationId xmlns:a16="http://schemas.microsoft.com/office/drawing/2014/main" id="{174A833F-B7FE-465E-A99C-D154ACB382A1}"/>
              </a:ext>
            </a:extLst>
          </p:cNvPr>
          <p:cNvCxnSpPr>
            <a:cxnSpLocks/>
          </p:cNvCxnSpPr>
          <p:nvPr/>
        </p:nvCxnSpPr>
        <p:spPr>
          <a:xfrm rot="10800000" flipV="1">
            <a:off x="6878752" y="5715145"/>
            <a:ext cx="642428" cy="106302"/>
          </a:xfrm>
          <a:prstGeom prst="bentConnector3">
            <a:avLst>
              <a:gd name="adj1" fmla="val 100039"/>
            </a:avLst>
          </a:prstGeom>
          <a:ln>
            <a:tailEnd type="triangle"/>
          </a:ln>
        </p:spPr>
        <p:style>
          <a:lnRef idx="2">
            <a:schemeClr val="dk1"/>
          </a:lnRef>
          <a:fillRef idx="0">
            <a:schemeClr val="dk1"/>
          </a:fillRef>
          <a:effectRef idx="1">
            <a:schemeClr val="dk1"/>
          </a:effectRef>
          <a:fontRef idx="minor">
            <a:schemeClr val="tx1"/>
          </a:fontRef>
        </p:style>
      </p:cxnSp>
      <p:cxnSp>
        <p:nvCxnSpPr>
          <p:cNvPr id="294" name="直接连接符 293">
            <a:extLst>
              <a:ext uri="{FF2B5EF4-FFF2-40B4-BE49-F238E27FC236}">
                <a16:creationId xmlns:a16="http://schemas.microsoft.com/office/drawing/2014/main" id="{43E3BB0F-D43B-46A8-8D52-465E6D99411C}"/>
              </a:ext>
            </a:extLst>
          </p:cNvPr>
          <p:cNvCxnSpPr>
            <a:cxnSpLocks/>
          </p:cNvCxnSpPr>
          <p:nvPr/>
        </p:nvCxnSpPr>
        <p:spPr>
          <a:xfrm flipH="1">
            <a:off x="7532569" y="5573616"/>
            <a:ext cx="122518" cy="0"/>
          </a:xfrm>
          <a:prstGeom prst="line">
            <a:avLst/>
          </a:prstGeom>
        </p:spPr>
        <p:style>
          <a:lnRef idx="2">
            <a:schemeClr val="dk1"/>
          </a:lnRef>
          <a:fillRef idx="0">
            <a:schemeClr val="dk1"/>
          </a:fillRef>
          <a:effectRef idx="1">
            <a:schemeClr val="dk1"/>
          </a:effectRef>
          <a:fontRef idx="minor">
            <a:schemeClr val="tx1"/>
          </a:fontRef>
        </p:style>
      </p:cxnSp>
      <p:cxnSp>
        <p:nvCxnSpPr>
          <p:cNvPr id="296" name="连接符: 肘形 295">
            <a:extLst>
              <a:ext uri="{FF2B5EF4-FFF2-40B4-BE49-F238E27FC236}">
                <a16:creationId xmlns:a16="http://schemas.microsoft.com/office/drawing/2014/main" id="{5B9A0D38-8D90-4791-BA0F-B55D0E08C143}"/>
              </a:ext>
            </a:extLst>
          </p:cNvPr>
          <p:cNvCxnSpPr>
            <a:cxnSpLocks/>
          </p:cNvCxnSpPr>
          <p:nvPr/>
        </p:nvCxnSpPr>
        <p:spPr>
          <a:xfrm rot="16200000" flipH="1">
            <a:off x="4753958" y="2672488"/>
            <a:ext cx="3110045" cy="2692211"/>
          </a:xfrm>
          <a:prstGeom prst="bentConnector3">
            <a:avLst>
              <a:gd name="adj1" fmla="val 4796"/>
            </a:avLst>
          </a:prstGeom>
        </p:spPr>
        <p:style>
          <a:lnRef idx="2">
            <a:schemeClr val="dk1"/>
          </a:lnRef>
          <a:fillRef idx="0">
            <a:schemeClr val="dk1"/>
          </a:fillRef>
          <a:effectRef idx="1">
            <a:schemeClr val="dk1"/>
          </a:effectRef>
          <a:fontRef idx="minor">
            <a:schemeClr val="tx1"/>
          </a:fontRef>
        </p:style>
      </p:cxnSp>
      <p:cxnSp>
        <p:nvCxnSpPr>
          <p:cNvPr id="297" name="直接箭头连接符 296">
            <a:extLst>
              <a:ext uri="{FF2B5EF4-FFF2-40B4-BE49-F238E27FC236}">
                <a16:creationId xmlns:a16="http://schemas.microsoft.com/office/drawing/2014/main" id="{29C7A712-592F-44F5-ACFA-B5078B6B2A25}"/>
              </a:ext>
            </a:extLst>
          </p:cNvPr>
          <p:cNvCxnSpPr>
            <a:cxnSpLocks/>
          </p:cNvCxnSpPr>
          <p:nvPr/>
        </p:nvCxnSpPr>
        <p:spPr>
          <a:xfrm flipH="1">
            <a:off x="4880525" y="6346578"/>
            <a:ext cx="5473" cy="326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98" name="文本框 297">
                <a:extLst>
                  <a:ext uri="{FF2B5EF4-FFF2-40B4-BE49-F238E27FC236}">
                    <a16:creationId xmlns:a16="http://schemas.microsoft.com/office/drawing/2014/main" id="{9D709BA2-9DCA-444A-BCC0-F9E8E1D5EB9A}"/>
                  </a:ext>
                </a:extLst>
              </p:cNvPr>
              <p:cNvSpPr txBox="1"/>
              <p:nvPr/>
            </p:nvSpPr>
            <p:spPr>
              <a:xfrm>
                <a:off x="3718160" y="2285913"/>
                <a:ext cx="1563385" cy="35753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1600" b="0" i="1" dirty="0" smtClean="0">
                          <a:latin typeface="Cambria Math" panose="02040503050406030204" pitchFamily="18" charset="0"/>
                        </a:rPr>
                        <m:t>𝐶</m:t>
                      </m:r>
                      <m:sSub>
                        <m:sSubPr>
                          <m:ctrlPr>
                            <a:rPr lang="en-US" altLang="zh-CN" sz="1600" b="0" i="1" dirty="0" err="1" smtClean="0">
                              <a:latin typeface="Cambria Math" panose="02040503050406030204" pitchFamily="18" charset="0"/>
                            </a:rPr>
                          </m:ctrlPr>
                        </m:sSubPr>
                        <m:e>
                          <m:r>
                            <a:rPr lang="en-US" altLang="zh-CN" sz="1600" i="1" dirty="0" smtClean="0">
                              <a:latin typeface="Cambria Math" panose="02040503050406030204" pitchFamily="18" charset="0"/>
                            </a:rPr>
                            <m:t>𝑉</m:t>
                          </m:r>
                        </m:e>
                        <m:sub>
                          <m:r>
                            <a:rPr lang="en-US" altLang="zh-CN" sz="1600" b="0" i="1" dirty="0" smtClean="0">
                              <a:latin typeface="Cambria Math" panose="02040503050406030204" pitchFamily="18" charset="0"/>
                            </a:rPr>
                            <m:t>𝑞</m:t>
                          </m:r>
                        </m:sub>
                      </m:sSub>
                    </m:oMath>
                  </m:oMathPara>
                </a14:m>
                <a:endParaRPr lang="en-US" altLang="zh-CN" sz="1600" b="0" i="1" dirty="0">
                  <a:latin typeface="Times New Roman" panose="02020603050405020304" pitchFamily="18" charset="0"/>
                  <a:cs typeface="Times New Roman" panose="02020603050405020304" pitchFamily="18" charset="0"/>
                </a:endParaRPr>
              </a:p>
            </p:txBody>
          </p:sp>
        </mc:Choice>
        <mc:Fallback xmlns="">
          <p:sp>
            <p:nvSpPr>
              <p:cNvPr id="298" name="文本框 297">
                <a:extLst>
                  <a:ext uri="{FF2B5EF4-FFF2-40B4-BE49-F238E27FC236}">
                    <a16:creationId xmlns:a16="http://schemas.microsoft.com/office/drawing/2014/main" id="{9D709BA2-9DCA-444A-BCC0-F9E8E1D5EB9A}"/>
                  </a:ext>
                </a:extLst>
              </p:cNvPr>
              <p:cNvSpPr txBox="1">
                <a:spLocks noRot="1" noChangeAspect="1" noMove="1" noResize="1" noEditPoints="1" noAdjustHandles="1" noChangeArrowheads="1" noChangeShapeType="1" noTextEdit="1"/>
              </p:cNvSpPr>
              <p:nvPr/>
            </p:nvSpPr>
            <p:spPr>
              <a:xfrm>
                <a:off x="3718160" y="2285913"/>
                <a:ext cx="1563385" cy="357534"/>
              </a:xfrm>
              <a:prstGeom prst="rect">
                <a:avLst/>
              </a:prstGeom>
              <a:blipFill>
                <a:blip r:embed="rId15"/>
                <a:stretch>
                  <a:fillRect b="-1695"/>
                </a:stretch>
              </a:blipFill>
            </p:spPr>
            <p:txBody>
              <a:bodyPr/>
              <a:lstStyle/>
              <a:p>
                <a:r>
                  <a:rPr lang="zh-CN" altLang="en-US">
                    <a:noFill/>
                  </a:rPr>
                  <a:t> </a:t>
                </a:r>
              </a:p>
            </p:txBody>
          </p:sp>
        </mc:Fallback>
      </mc:AlternateContent>
      <p:sp>
        <p:nvSpPr>
          <p:cNvPr id="299" name="矩形 298">
            <a:extLst>
              <a:ext uri="{FF2B5EF4-FFF2-40B4-BE49-F238E27FC236}">
                <a16:creationId xmlns:a16="http://schemas.microsoft.com/office/drawing/2014/main" id="{E8BAAE29-BE78-4885-A9E9-130C289D3AC5}"/>
              </a:ext>
            </a:extLst>
          </p:cNvPr>
          <p:cNvSpPr/>
          <p:nvPr/>
        </p:nvSpPr>
        <p:spPr>
          <a:xfrm>
            <a:off x="5531910" y="5821448"/>
            <a:ext cx="610442" cy="212097"/>
          </a:xfrm>
          <a:prstGeom prst="rect">
            <a:avLst/>
          </a:prstGeom>
          <a:solidFill>
            <a:schemeClr val="accent5">
              <a:lumMod val="20000"/>
              <a:lumOff val="80000"/>
            </a:schemeClr>
          </a:solidFill>
          <a:ln w="952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00" name="连接符: 肘形 299">
            <a:extLst>
              <a:ext uri="{FF2B5EF4-FFF2-40B4-BE49-F238E27FC236}">
                <a16:creationId xmlns:a16="http://schemas.microsoft.com/office/drawing/2014/main" id="{4544D52C-B06F-47CA-B4EA-D22788E247C3}"/>
              </a:ext>
            </a:extLst>
          </p:cNvPr>
          <p:cNvCxnSpPr>
            <a:cxnSpLocks/>
          </p:cNvCxnSpPr>
          <p:nvPr/>
        </p:nvCxnSpPr>
        <p:spPr>
          <a:xfrm rot="10800000" flipV="1">
            <a:off x="5988845" y="5639997"/>
            <a:ext cx="1539771" cy="181449"/>
          </a:xfrm>
          <a:prstGeom prst="bentConnector3">
            <a:avLst>
              <a:gd name="adj1" fmla="val 99797"/>
            </a:avLst>
          </a:prstGeom>
          <a:ln>
            <a:tailEnd type="triangle"/>
          </a:ln>
        </p:spPr>
        <p:style>
          <a:lnRef idx="2">
            <a:schemeClr val="dk1"/>
          </a:lnRef>
          <a:fillRef idx="0">
            <a:schemeClr val="dk1"/>
          </a:fillRef>
          <a:effectRef idx="1">
            <a:schemeClr val="dk1"/>
          </a:effectRef>
          <a:fontRef idx="minor">
            <a:schemeClr val="tx1"/>
          </a:fontRef>
        </p:style>
      </p:cxnSp>
      <p:cxnSp>
        <p:nvCxnSpPr>
          <p:cNvPr id="301" name="直接箭头连接符 300">
            <a:extLst>
              <a:ext uri="{FF2B5EF4-FFF2-40B4-BE49-F238E27FC236}">
                <a16:creationId xmlns:a16="http://schemas.microsoft.com/office/drawing/2014/main" id="{58F25B02-2B45-4661-927A-0140F5E26B92}"/>
              </a:ext>
            </a:extLst>
          </p:cNvPr>
          <p:cNvCxnSpPr>
            <a:cxnSpLocks/>
          </p:cNvCxnSpPr>
          <p:nvPr/>
        </p:nvCxnSpPr>
        <p:spPr>
          <a:xfrm>
            <a:off x="4919403" y="5407045"/>
            <a:ext cx="0" cy="4174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2" name="直接箭头连接符 301">
            <a:extLst>
              <a:ext uri="{FF2B5EF4-FFF2-40B4-BE49-F238E27FC236}">
                <a16:creationId xmlns:a16="http://schemas.microsoft.com/office/drawing/2014/main" id="{3B04F3B8-D5B9-4836-B3C0-832CC9DD5DD8}"/>
              </a:ext>
            </a:extLst>
          </p:cNvPr>
          <p:cNvCxnSpPr>
            <a:cxnSpLocks/>
          </p:cNvCxnSpPr>
          <p:nvPr/>
        </p:nvCxnSpPr>
        <p:spPr>
          <a:xfrm>
            <a:off x="3934499" y="6023948"/>
            <a:ext cx="1118" cy="3167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3" name="直接箭头连接符 302">
            <a:extLst>
              <a:ext uri="{FF2B5EF4-FFF2-40B4-BE49-F238E27FC236}">
                <a16:creationId xmlns:a16="http://schemas.microsoft.com/office/drawing/2014/main" id="{965DE29F-E89B-4315-8CD6-A21E28556B35}"/>
              </a:ext>
            </a:extLst>
          </p:cNvPr>
          <p:cNvCxnSpPr>
            <a:cxnSpLocks/>
          </p:cNvCxnSpPr>
          <p:nvPr/>
        </p:nvCxnSpPr>
        <p:spPr>
          <a:xfrm>
            <a:off x="4886230" y="6027064"/>
            <a:ext cx="1118" cy="3167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4" name="直接箭头连接符 303">
            <a:extLst>
              <a:ext uri="{FF2B5EF4-FFF2-40B4-BE49-F238E27FC236}">
                <a16:creationId xmlns:a16="http://schemas.microsoft.com/office/drawing/2014/main" id="{34B93D4E-646F-4655-A5B0-CFE61F53A558}"/>
              </a:ext>
            </a:extLst>
          </p:cNvPr>
          <p:cNvCxnSpPr>
            <a:cxnSpLocks/>
          </p:cNvCxnSpPr>
          <p:nvPr/>
        </p:nvCxnSpPr>
        <p:spPr>
          <a:xfrm>
            <a:off x="5833141" y="6027064"/>
            <a:ext cx="1118" cy="3167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5" name="直接箭头连接符 304">
            <a:extLst>
              <a:ext uri="{FF2B5EF4-FFF2-40B4-BE49-F238E27FC236}">
                <a16:creationId xmlns:a16="http://schemas.microsoft.com/office/drawing/2014/main" id="{F66F4097-41BB-4003-9241-4B928162DAC1}"/>
              </a:ext>
            </a:extLst>
          </p:cNvPr>
          <p:cNvCxnSpPr>
            <a:cxnSpLocks/>
          </p:cNvCxnSpPr>
          <p:nvPr/>
        </p:nvCxnSpPr>
        <p:spPr>
          <a:xfrm>
            <a:off x="6741192" y="6032628"/>
            <a:ext cx="1118" cy="3167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06" name="组合 305">
            <a:extLst>
              <a:ext uri="{FF2B5EF4-FFF2-40B4-BE49-F238E27FC236}">
                <a16:creationId xmlns:a16="http://schemas.microsoft.com/office/drawing/2014/main" id="{EC1E9979-B509-4873-A0D8-6C1D8D5E2DA6}"/>
              </a:ext>
            </a:extLst>
          </p:cNvPr>
          <p:cNvGrpSpPr/>
          <p:nvPr/>
        </p:nvGrpSpPr>
        <p:grpSpPr>
          <a:xfrm flipV="1">
            <a:off x="3035740" y="4735758"/>
            <a:ext cx="3744125" cy="325393"/>
            <a:chOff x="6488600" y="5825348"/>
            <a:chExt cx="2063801" cy="375728"/>
          </a:xfrm>
        </p:grpSpPr>
        <p:cxnSp>
          <p:nvCxnSpPr>
            <p:cNvPr id="346" name="直接箭头连接符 345">
              <a:extLst>
                <a:ext uri="{FF2B5EF4-FFF2-40B4-BE49-F238E27FC236}">
                  <a16:creationId xmlns:a16="http://schemas.microsoft.com/office/drawing/2014/main" id="{373BCA1B-2E69-4964-91D8-F89756298F69}"/>
                </a:ext>
              </a:extLst>
            </p:cNvPr>
            <p:cNvCxnSpPr>
              <a:cxnSpLocks/>
            </p:cNvCxnSpPr>
            <p:nvPr/>
          </p:nvCxnSpPr>
          <p:spPr>
            <a:xfrm flipV="1">
              <a:off x="6488600" y="5829875"/>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7" name="直接箭头连接符 346">
              <a:extLst>
                <a:ext uri="{FF2B5EF4-FFF2-40B4-BE49-F238E27FC236}">
                  <a16:creationId xmlns:a16="http://schemas.microsoft.com/office/drawing/2014/main" id="{EA9CAE20-9D45-4EF9-BEAA-F7C3B5ED96BF}"/>
                </a:ext>
              </a:extLst>
            </p:cNvPr>
            <p:cNvCxnSpPr>
              <a:cxnSpLocks/>
            </p:cNvCxnSpPr>
            <p:nvPr/>
          </p:nvCxnSpPr>
          <p:spPr>
            <a:xfrm flipV="1">
              <a:off x="7004707" y="5825348"/>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8" name="直接箭头连接符 347">
              <a:extLst>
                <a:ext uri="{FF2B5EF4-FFF2-40B4-BE49-F238E27FC236}">
                  <a16:creationId xmlns:a16="http://schemas.microsoft.com/office/drawing/2014/main" id="{4731FB40-1E8E-4FD3-BA3E-938D1D8D9F32}"/>
                </a:ext>
              </a:extLst>
            </p:cNvPr>
            <p:cNvCxnSpPr>
              <a:cxnSpLocks/>
            </p:cNvCxnSpPr>
            <p:nvPr/>
          </p:nvCxnSpPr>
          <p:spPr>
            <a:xfrm flipV="1">
              <a:off x="7529311"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9" name="直接箭头连接符 348">
              <a:extLst>
                <a:ext uri="{FF2B5EF4-FFF2-40B4-BE49-F238E27FC236}">
                  <a16:creationId xmlns:a16="http://schemas.microsoft.com/office/drawing/2014/main" id="{599CFD00-2A69-4B7A-A6DF-6B4C9058B77A}"/>
                </a:ext>
              </a:extLst>
            </p:cNvPr>
            <p:cNvCxnSpPr>
              <a:cxnSpLocks/>
            </p:cNvCxnSpPr>
            <p:nvPr/>
          </p:nvCxnSpPr>
          <p:spPr>
            <a:xfrm flipV="1">
              <a:off x="8051258"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0" name="直接箭头连接符 349">
              <a:extLst>
                <a:ext uri="{FF2B5EF4-FFF2-40B4-BE49-F238E27FC236}">
                  <a16:creationId xmlns:a16="http://schemas.microsoft.com/office/drawing/2014/main" id="{C64694D3-DA36-4DE5-B6E9-90638AFA2A31}"/>
                </a:ext>
              </a:extLst>
            </p:cNvPr>
            <p:cNvCxnSpPr>
              <a:cxnSpLocks/>
            </p:cNvCxnSpPr>
            <p:nvPr/>
          </p:nvCxnSpPr>
          <p:spPr>
            <a:xfrm flipV="1">
              <a:off x="8551785" y="5835370"/>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07" name="组合 306">
            <a:extLst>
              <a:ext uri="{FF2B5EF4-FFF2-40B4-BE49-F238E27FC236}">
                <a16:creationId xmlns:a16="http://schemas.microsoft.com/office/drawing/2014/main" id="{204CC856-E40C-4845-82B9-BB7E36DDBFBC}"/>
              </a:ext>
            </a:extLst>
          </p:cNvPr>
          <p:cNvGrpSpPr/>
          <p:nvPr/>
        </p:nvGrpSpPr>
        <p:grpSpPr>
          <a:xfrm flipV="1">
            <a:off x="3054840" y="4076254"/>
            <a:ext cx="3744125" cy="325393"/>
            <a:chOff x="6488600" y="5825348"/>
            <a:chExt cx="2063801" cy="375728"/>
          </a:xfrm>
        </p:grpSpPr>
        <p:cxnSp>
          <p:nvCxnSpPr>
            <p:cNvPr id="341" name="直接箭头连接符 340">
              <a:extLst>
                <a:ext uri="{FF2B5EF4-FFF2-40B4-BE49-F238E27FC236}">
                  <a16:creationId xmlns:a16="http://schemas.microsoft.com/office/drawing/2014/main" id="{4E56F7AB-E9B1-466B-8510-64EDCDE7598E}"/>
                </a:ext>
              </a:extLst>
            </p:cNvPr>
            <p:cNvCxnSpPr>
              <a:cxnSpLocks/>
            </p:cNvCxnSpPr>
            <p:nvPr/>
          </p:nvCxnSpPr>
          <p:spPr>
            <a:xfrm flipV="1">
              <a:off x="6488600" y="5829875"/>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2" name="直接箭头连接符 341">
              <a:extLst>
                <a:ext uri="{FF2B5EF4-FFF2-40B4-BE49-F238E27FC236}">
                  <a16:creationId xmlns:a16="http://schemas.microsoft.com/office/drawing/2014/main" id="{714191B5-6570-421B-8FBE-01F4AD56B6C9}"/>
                </a:ext>
              </a:extLst>
            </p:cNvPr>
            <p:cNvCxnSpPr>
              <a:cxnSpLocks/>
            </p:cNvCxnSpPr>
            <p:nvPr/>
          </p:nvCxnSpPr>
          <p:spPr>
            <a:xfrm flipV="1">
              <a:off x="7004707" y="5825348"/>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3" name="直接箭头连接符 342">
              <a:extLst>
                <a:ext uri="{FF2B5EF4-FFF2-40B4-BE49-F238E27FC236}">
                  <a16:creationId xmlns:a16="http://schemas.microsoft.com/office/drawing/2014/main" id="{A623D2BA-933B-4858-A146-D25A5369CE6D}"/>
                </a:ext>
              </a:extLst>
            </p:cNvPr>
            <p:cNvCxnSpPr>
              <a:cxnSpLocks/>
            </p:cNvCxnSpPr>
            <p:nvPr/>
          </p:nvCxnSpPr>
          <p:spPr>
            <a:xfrm flipV="1">
              <a:off x="7529311"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4" name="直接箭头连接符 343">
              <a:extLst>
                <a:ext uri="{FF2B5EF4-FFF2-40B4-BE49-F238E27FC236}">
                  <a16:creationId xmlns:a16="http://schemas.microsoft.com/office/drawing/2014/main" id="{E56E01FE-8668-4575-A111-121B2AD4012B}"/>
                </a:ext>
              </a:extLst>
            </p:cNvPr>
            <p:cNvCxnSpPr>
              <a:cxnSpLocks/>
            </p:cNvCxnSpPr>
            <p:nvPr/>
          </p:nvCxnSpPr>
          <p:spPr>
            <a:xfrm flipV="1">
              <a:off x="8051258"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5" name="直接箭头连接符 344">
              <a:extLst>
                <a:ext uri="{FF2B5EF4-FFF2-40B4-BE49-F238E27FC236}">
                  <a16:creationId xmlns:a16="http://schemas.microsoft.com/office/drawing/2014/main" id="{1C6E37A8-E5F3-4A56-8965-E8F2EB11E7A3}"/>
                </a:ext>
              </a:extLst>
            </p:cNvPr>
            <p:cNvCxnSpPr>
              <a:cxnSpLocks/>
            </p:cNvCxnSpPr>
            <p:nvPr/>
          </p:nvCxnSpPr>
          <p:spPr>
            <a:xfrm flipV="1">
              <a:off x="8551785" y="5835370"/>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08" name="文本框 307">
                <a:extLst>
                  <a:ext uri="{FF2B5EF4-FFF2-40B4-BE49-F238E27FC236}">
                    <a16:creationId xmlns:a16="http://schemas.microsoft.com/office/drawing/2014/main" id="{B2CFA7E1-70B1-4106-8BC9-ADB0955DCDA5}"/>
                  </a:ext>
                </a:extLst>
              </p:cNvPr>
              <p:cNvSpPr txBox="1"/>
              <p:nvPr/>
            </p:nvSpPr>
            <p:spPr>
              <a:xfrm>
                <a:off x="2601652" y="3467008"/>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𝑎</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08" name="文本框 307">
                <a:extLst>
                  <a:ext uri="{FF2B5EF4-FFF2-40B4-BE49-F238E27FC236}">
                    <a16:creationId xmlns:a16="http://schemas.microsoft.com/office/drawing/2014/main" id="{B2CFA7E1-70B1-4106-8BC9-ADB0955DCDA5}"/>
                  </a:ext>
                </a:extLst>
              </p:cNvPr>
              <p:cNvSpPr txBox="1">
                <a:spLocks noRot="1" noChangeAspect="1" noMove="1" noResize="1" noEditPoints="1" noAdjustHandles="1" noChangeArrowheads="1" noChangeShapeType="1" noTextEdit="1"/>
              </p:cNvSpPr>
              <p:nvPr/>
            </p:nvSpPr>
            <p:spPr>
              <a:xfrm>
                <a:off x="2601652" y="3467008"/>
                <a:ext cx="479004" cy="266545"/>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9" name="文本框 308">
                <a:extLst>
                  <a:ext uri="{FF2B5EF4-FFF2-40B4-BE49-F238E27FC236}">
                    <a16:creationId xmlns:a16="http://schemas.microsoft.com/office/drawing/2014/main" id="{4E1208BC-8690-482A-A31D-D89BD1DFD7D4}"/>
                  </a:ext>
                </a:extLst>
              </p:cNvPr>
              <p:cNvSpPr txBox="1"/>
              <p:nvPr/>
            </p:nvSpPr>
            <p:spPr>
              <a:xfrm>
                <a:off x="3536850" y="3470800"/>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𝑏</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09" name="文本框 308">
                <a:extLst>
                  <a:ext uri="{FF2B5EF4-FFF2-40B4-BE49-F238E27FC236}">
                    <a16:creationId xmlns:a16="http://schemas.microsoft.com/office/drawing/2014/main" id="{4E1208BC-8690-482A-A31D-D89BD1DFD7D4}"/>
                  </a:ext>
                </a:extLst>
              </p:cNvPr>
              <p:cNvSpPr txBox="1">
                <a:spLocks noRot="1" noChangeAspect="1" noMove="1" noResize="1" noEditPoints="1" noAdjustHandles="1" noChangeArrowheads="1" noChangeShapeType="1" noTextEdit="1"/>
              </p:cNvSpPr>
              <p:nvPr/>
            </p:nvSpPr>
            <p:spPr>
              <a:xfrm>
                <a:off x="3536850" y="3470800"/>
                <a:ext cx="479004" cy="266545"/>
              </a:xfrm>
              <a:prstGeom prst="rect">
                <a:avLst/>
              </a:prstGeom>
              <a:blipFill>
                <a:blip r:embed="rId17"/>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0" name="文本框 1097">
                <a:extLst>
                  <a:ext uri="{FF2B5EF4-FFF2-40B4-BE49-F238E27FC236}">
                    <a16:creationId xmlns:a16="http://schemas.microsoft.com/office/drawing/2014/main" id="{A7B15FC8-4569-4140-9D0D-E9A59A178E22}"/>
                  </a:ext>
                </a:extLst>
              </p:cNvPr>
              <p:cNvSpPr txBox="1"/>
              <p:nvPr/>
            </p:nvSpPr>
            <p:spPr>
              <a:xfrm>
                <a:off x="4518452" y="3473767"/>
                <a:ext cx="479004" cy="2671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𝑐</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10" name="文本框 1097">
                <a:extLst>
                  <a:ext uri="{FF2B5EF4-FFF2-40B4-BE49-F238E27FC236}">
                    <a16:creationId xmlns:a16="http://schemas.microsoft.com/office/drawing/2014/main" id="{A7B15FC8-4569-4140-9D0D-E9A59A178E22}"/>
                  </a:ext>
                </a:extLst>
              </p:cNvPr>
              <p:cNvSpPr txBox="1">
                <a:spLocks noRot="1" noChangeAspect="1" noMove="1" noResize="1" noEditPoints="1" noAdjustHandles="1" noChangeArrowheads="1" noChangeShapeType="1" noTextEdit="1"/>
              </p:cNvSpPr>
              <p:nvPr/>
            </p:nvSpPr>
            <p:spPr>
              <a:xfrm>
                <a:off x="4518452" y="3473767"/>
                <a:ext cx="479004" cy="267156"/>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1" name="文本框 1097">
                <a:extLst>
                  <a:ext uri="{FF2B5EF4-FFF2-40B4-BE49-F238E27FC236}">
                    <a16:creationId xmlns:a16="http://schemas.microsoft.com/office/drawing/2014/main" id="{F446A96A-60D4-4C1C-ACC1-8D3C71A09DF2}"/>
                  </a:ext>
                </a:extLst>
              </p:cNvPr>
              <p:cNvSpPr txBox="1"/>
              <p:nvPr/>
            </p:nvSpPr>
            <p:spPr>
              <a:xfrm>
                <a:off x="5475803" y="3460571"/>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𝑑</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11" name="文本框 1097">
                <a:extLst>
                  <a:ext uri="{FF2B5EF4-FFF2-40B4-BE49-F238E27FC236}">
                    <a16:creationId xmlns:a16="http://schemas.microsoft.com/office/drawing/2014/main" id="{F446A96A-60D4-4C1C-ACC1-8D3C71A09DF2}"/>
                  </a:ext>
                </a:extLst>
              </p:cNvPr>
              <p:cNvSpPr txBox="1">
                <a:spLocks noRot="1" noChangeAspect="1" noMove="1" noResize="1" noEditPoints="1" noAdjustHandles="1" noChangeArrowheads="1" noChangeShapeType="1" noTextEdit="1"/>
              </p:cNvSpPr>
              <p:nvPr/>
            </p:nvSpPr>
            <p:spPr>
              <a:xfrm>
                <a:off x="5475803" y="3460571"/>
                <a:ext cx="479004" cy="266545"/>
              </a:xfrm>
              <a:prstGeom prst="rect">
                <a:avLst/>
              </a:prstGeom>
              <a:blipFill>
                <a:blip r:embed="rId19"/>
                <a:stretch>
                  <a:fillRect b="-6977"/>
                </a:stretch>
              </a:blipFill>
            </p:spPr>
            <p:txBody>
              <a:bodyPr/>
              <a:lstStyle/>
              <a:p>
                <a:r>
                  <a:rPr lang="zh-CN" altLang="en-US">
                    <a:noFill/>
                  </a:rPr>
                  <a:t> </a:t>
                </a:r>
              </a:p>
            </p:txBody>
          </p:sp>
        </mc:Fallback>
      </mc:AlternateContent>
      <p:grpSp>
        <p:nvGrpSpPr>
          <p:cNvPr id="312" name="组合 311">
            <a:extLst>
              <a:ext uri="{FF2B5EF4-FFF2-40B4-BE49-F238E27FC236}">
                <a16:creationId xmlns:a16="http://schemas.microsoft.com/office/drawing/2014/main" id="{9EBB6896-461F-459C-BE52-49821DC4A039}"/>
              </a:ext>
            </a:extLst>
          </p:cNvPr>
          <p:cNvGrpSpPr/>
          <p:nvPr/>
        </p:nvGrpSpPr>
        <p:grpSpPr>
          <a:xfrm flipV="1">
            <a:off x="3089420" y="3401696"/>
            <a:ext cx="3744125" cy="325393"/>
            <a:chOff x="6488600" y="5825348"/>
            <a:chExt cx="2063801" cy="375728"/>
          </a:xfrm>
        </p:grpSpPr>
        <p:cxnSp>
          <p:nvCxnSpPr>
            <p:cNvPr id="336" name="直接箭头连接符 335">
              <a:extLst>
                <a:ext uri="{FF2B5EF4-FFF2-40B4-BE49-F238E27FC236}">
                  <a16:creationId xmlns:a16="http://schemas.microsoft.com/office/drawing/2014/main" id="{0ACC2B5C-3134-47CD-BBED-07F99A4EC272}"/>
                </a:ext>
              </a:extLst>
            </p:cNvPr>
            <p:cNvCxnSpPr>
              <a:cxnSpLocks/>
            </p:cNvCxnSpPr>
            <p:nvPr/>
          </p:nvCxnSpPr>
          <p:spPr>
            <a:xfrm flipV="1">
              <a:off x="6488600" y="5829875"/>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7" name="直接箭头连接符 336">
              <a:extLst>
                <a:ext uri="{FF2B5EF4-FFF2-40B4-BE49-F238E27FC236}">
                  <a16:creationId xmlns:a16="http://schemas.microsoft.com/office/drawing/2014/main" id="{0BC2ED85-1FD8-4B53-A57E-A94C85D5CAED}"/>
                </a:ext>
              </a:extLst>
            </p:cNvPr>
            <p:cNvCxnSpPr>
              <a:cxnSpLocks/>
            </p:cNvCxnSpPr>
            <p:nvPr/>
          </p:nvCxnSpPr>
          <p:spPr>
            <a:xfrm flipV="1">
              <a:off x="7004707" y="5825348"/>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8" name="直接箭头连接符 337">
              <a:extLst>
                <a:ext uri="{FF2B5EF4-FFF2-40B4-BE49-F238E27FC236}">
                  <a16:creationId xmlns:a16="http://schemas.microsoft.com/office/drawing/2014/main" id="{BA79D2C6-81BE-452E-A2A4-FA44B7131FCD}"/>
                </a:ext>
              </a:extLst>
            </p:cNvPr>
            <p:cNvCxnSpPr>
              <a:cxnSpLocks/>
            </p:cNvCxnSpPr>
            <p:nvPr/>
          </p:nvCxnSpPr>
          <p:spPr>
            <a:xfrm flipV="1">
              <a:off x="7529311"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9" name="直接箭头连接符 338">
              <a:extLst>
                <a:ext uri="{FF2B5EF4-FFF2-40B4-BE49-F238E27FC236}">
                  <a16:creationId xmlns:a16="http://schemas.microsoft.com/office/drawing/2014/main" id="{6395C16A-46FB-4108-9B43-F472BDEF9390}"/>
                </a:ext>
              </a:extLst>
            </p:cNvPr>
            <p:cNvCxnSpPr>
              <a:cxnSpLocks/>
            </p:cNvCxnSpPr>
            <p:nvPr/>
          </p:nvCxnSpPr>
          <p:spPr>
            <a:xfrm flipV="1">
              <a:off x="8051258"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0" name="直接箭头连接符 339">
              <a:extLst>
                <a:ext uri="{FF2B5EF4-FFF2-40B4-BE49-F238E27FC236}">
                  <a16:creationId xmlns:a16="http://schemas.microsoft.com/office/drawing/2014/main" id="{B7180DF8-ABFF-4411-953C-9447055ECBE1}"/>
                </a:ext>
              </a:extLst>
            </p:cNvPr>
            <p:cNvCxnSpPr>
              <a:cxnSpLocks/>
            </p:cNvCxnSpPr>
            <p:nvPr/>
          </p:nvCxnSpPr>
          <p:spPr>
            <a:xfrm flipV="1">
              <a:off x="8551785" y="5835370"/>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13" name="文本框 1097">
                <a:extLst>
                  <a:ext uri="{FF2B5EF4-FFF2-40B4-BE49-F238E27FC236}">
                    <a16:creationId xmlns:a16="http://schemas.microsoft.com/office/drawing/2014/main" id="{1E12FBB7-547C-4734-B43F-31A733C2E425}"/>
                  </a:ext>
                </a:extLst>
              </p:cNvPr>
              <p:cNvSpPr txBox="1"/>
              <p:nvPr/>
            </p:nvSpPr>
            <p:spPr>
              <a:xfrm>
                <a:off x="6323254" y="3448959"/>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𝑒</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13" name="文本框 1097">
                <a:extLst>
                  <a:ext uri="{FF2B5EF4-FFF2-40B4-BE49-F238E27FC236}">
                    <a16:creationId xmlns:a16="http://schemas.microsoft.com/office/drawing/2014/main" id="{1E12FBB7-547C-4734-B43F-31A733C2E425}"/>
                  </a:ext>
                </a:extLst>
              </p:cNvPr>
              <p:cNvSpPr txBox="1">
                <a:spLocks noRot="1" noChangeAspect="1" noMove="1" noResize="1" noEditPoints="1" noAdjustHandles="1" noChangeArrowheads="1" noChangeShapeType="1" noTextEdit="1"/>
              </p:cNvSpPr>
              <p:nvPr/>
            </p:nvSpPr>
            <p:spPr>
              <a:xfrm>
                <a:off x="6323254" y="3448959"/>
                <a:ext cx="479004" cy="266545"/>
              </a:xfrm>
              <a:prstGeom prst="rect">
                <a:avLst/>
              </a:prstGeom>
              <a:blipFill>
                <a:blip r:embed="rId20"/>
                <a:stretch>
                  <a:fillRect/>
                </a:stretch>
              </a:blipFill>
            </p:spPr>
            <p:txBody>
              <a:bodyPr/>
              <a:lstStyle/>
              <a:p>
                <a:r>
                  <a:rPr lang="zh-CN" altLang="en-US">
                    <a:noFill/>
                  </a:rPr>
                  <a:t> </a:t>
                </a:r>
              </a:p>
            </p:txBody>
          </p:sp>
        </mc:Fallback>
      </mc:AlternateContent>
      <p:grpSp>
        <p:nvGrpSpPr>
          <p:cNvPr id="318" name="组合 317">
            <a:extLst>
              <a:ext uri="{FF2B5EF4-FFF2-40B4-BE49-F238E27FC236}">
                <a16:creationId xmlns:a16="http://schemas.microsoft.com/office/drawing/2014/main" id="{7063A0EB-D20A-4E41-A0AB-0DD8F84F6657}"/>
              </a:ext>
            </a:extLst>
          </p:cNvPr>
          <p:cNvGrpSpPr/>
          <p:nvPr/>
        </p:nvGrpSpPr>
        <p:grpSpPr>
          <a:xfrm flipV="1">
            <a:off x="3070823" y="2739147"/>
            <a:ext cx="3744125" cy="325393"/>
            <a:chOff x="6488600" y="5825348"/>
            <a:chExt cx="2063801" cy="375728"/>
          </a:xfrm>
        </p:grpSpPr>
        <p:cxnSp>
          <p:nvCxnSpPr>
            <p:cNvPr id="331" name="直接箭头连接符 330">
              <a:extLst>
                <a:ext uri="{FF2B5EF4-FFF2-40B4-BE49-F238E27FC236}">
                  <a16:creationId xmlns:a16="http://schemas.microsoft.com/office/drawing/2014/main" id="{71E73F18-3EBB-43A9-B606-EEE9AC0FE5F2}"/>
                </a:ext>
              </a:extLst>
            </p:cNvPr>
            <p:cNvCxnSpPr>
              <a:cxnSpLocks/>
            </p:cNvCxnSpPr>
            <p:nvPr/>
          </p:nvCxnSpPr>
          <p:spPr>
            <a:xfrm flipV="1">
              <a:off x="6488600" y="5829875"/>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2" name="直接箭头连接符 331">
              <a:extLst>
                <a:ext uri="{FF2B5EF4-FFF2-40B4-BE49-F238E27FC236}">
                  <a16:creationId xmlns:a16="http://schemas.microsoft.com/office/drawing/2014/main" id="{7776558E-2A91-4989-BA84-3DD645051A47}"/>
                </a:ext>
              </a:extLst>
            </p:cNvPr>
            <p:cNvCxnSpPr>
              <a:cxnSpLocks/>
            </p:cNvCxnSpPr>
            <p:nvPr/>
          </p:nvCxnSpPr>
          <p:spPr>
            <a:xfrm flipV="1">
              <a:off x="7004707" y="5825348"/>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3" name="直接箭头连接符 332">
              <a:extLst>
                <a:ext uri="{FF2B5EF4-FFF2-40B4-BE49-F238E27FC236}">
                  <a16:creationId xmlns:a16="http://schemas.microsoft.com/office/drawing/2014/main" id="{8920F627-E0B4-43CF-89B5-93BD954F30F9}"/>
                </a:ext>
              </a:extLst>
            </p:cNvPr>
            <p:cNvCxnSpPr>
              <a:cxnSpLocks/>
            </p:cNvCxnSpPr>
            <p:nvPr/>
          </p:nvCxnSpPr>
          <p:spPr>
            <a:xfrm flipV="1">
              <a:off x="7529311"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4" name="直接箭头连接符 333">
              <a:extLst>
                <a:ext uri="{FF2B5EF4-FFF2-40B4-BE49-F238E27FC236}">
                  <a16:creationId xmlns:a16="http://schemas.microsoft.com/office/drawing/2014/main" id="{02D12470-3AEF-4A62-A733-4AD151B0BCAD}"/>
                </a:ext>
              </a:extLst>
            </p:cNvPr>
            <p:cNvCxnSpPr>
              <a:cxnSpLocks/>
            </p:cNvCxnSpPr>
            <p:nvPr/>
          </p:nvCxnSpPr>
          <p:spPr>
            <a:xfrm flipV="1">
              <a:off x="8051258" y="5828946"/>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5" name="直接箭头连接符 334">
              <a:extLst>
                <a:ext uri="{FF2B5EF4-FFF2-40B4-BE49-F238E27FC236}">
                  <a16:creationId xmlns:a16="http://schemas.microsoft.com/office/drawing/2014/main" id="{5B44D4EA-9360-4A6C-BF61-80B1412AB9F0}"/>
                </a:ext>
              </a:extLst>
            </p:cNvPr>
            <p:cNvCxnSpPr>
              <a:cxnSpLocks/>
            </p:cNvCxnSpPr>
            <p:nvPr/>
          </p:nvCxnSpPr>
          <p:spPr>
            <a:xfrm flipV="1">
              <a:off x="8551785" y="5835370"/>
              <a:ext cx="616" cy="3657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320" name="直接连接符 319">
            <a:extLst>
              <a:ext uri="{FF2B5EF4-FFF2-40B4-BE49-F238E27FC236}">
                <a16:creationId xmlns:a16="http://schemas.microsoft.com/office/drawing/2014/main" id="{F11AF1FD-3070-4449-9477-1656E66C6883}"/>
              </a:ext>
            </a:extLst>
          </p:cNvPr>
          <p:cNvCxnSpPr>
            <a:cxnSpLocks/>
          </p:cNvCxnSpPr>
          <p:nvPr/>
        </p:nvCxnSpPr>
        <p:spPr>
          <a:xfrm flipH="1">
            <a:off x="6733463" y="2796165"/>
            <a:ext cx="133440" cy="65093"/>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321" name="文本框 320">
                <a:extLst>
                  <a:ext uri="{FF2B5EF4-FFF2-40B4-BE49-F238E27FC236}">
                    <a16:creationId xmlns:a16="http://schemas.microsoft.com/office/drawing/2014/main" id="{8AC01E62-2EFE-4BC1-84A3-E89FD742511B}"/>
                  </a:ext>
                </a:extLst>
              </p:cNvPr>
              <p:cNvSpPr txBox="1"/>
              <p:nvPr/>
            </p:nvSpPr>
            <p:spPr>
              <a:xfrm>
                <a:off x="2661375" y="4142920"/>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𝑎</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1" name="文本框 320">
                <a:extLst>
                  <a:ext uri="{FF2B5EF4-FFF2-40B4-BE49-F238E27FC236}">
                    <a16:creationId xmlns:a16="http://schemas.microsoft.com/office/drawing/2014/main" id="{8AC01E62-2EFE-4BC1-84A3-E89FD742511B}"/>
                  </a:ext>
                </a:extLst>
              </p:cNvPr>
              <p:cNvSpPr txBox="1">
                <a:spLocks noRot="1" noChangeAspect="1" noMove="1" noResize="1" noEditPoints="1" noAdjustHandles="1" noChangeArrowheads="1" noChangeShapeType="1" noTextEdit="1"/>
              </p:cNvSpPr>
              <p:nvPr/>
            </p:nvSpPr>
            <p:spPr>
              <a:xfrm>
                <a:off x="2661375" y="4142920"/>
                <a:ext cx="479004" cy="266545"/>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2" name="文本框 321">
                <a:extLst>
                  <a:ext uri="{FF2B5EF4-FFF2-40B4-BE49-F238E27FC236}">
                    <a16:creationId xmlns:a16="http://schemas.microsoft.com/office/drawing/2014/main" id="{170CBAFE-BDFE-4914-ADC2-94CFD721A685}"/>
                  </a:ext>
                </a:extLst>
              </p:cNvPr>
              <p:cNvSpPr txBox="1"/>
              <p:nvPr/>
            </p:nvSpPr>
            <p:spPr>
              <a:xfrm>
                <a:off x="3596573" y="4146711"/>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𝑏</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2" name="文本框 321">
                <a:extLst>
                  <a:ext uri="{FF2B5EF4-FFF2-40B4-BE49-F238E27FC236}">
                    <a16:creationId xmlns:a16="http://schemas.microsoft.com/office/drawing/2014/main" id="{170CBAFE-BDFE-4914-ADC2-94CFD721A685}"/>
                  </a:ext>
                </a:extLst>
              </p:cNvPr>
              <p:cNvSpPr txBox="1">
                <a:spLocks noRot="1" noChangeAspect="1" noMove="1" noResize="1" noEditPoints="1" noAdjustHandles="1" noChangeArrowheads="1" noChangeShapeType="1" noTextEdit="1"/>
              </p:cNvSpPr>
              <p:nvPr/>
            </p:nvSpPr>
            <p:spPr>
              <a:xfrm>
                <a:off x="3596573" y="4146711"/>
                <a:ext cx="479004" cy="266545"/>
              </a:xfrm>
              <a:prstGeom prst="rect">
                <a:avLst/>
              </a:prstGeom>
              <a:blipFill>
                <a:blip r:embed="rId17"/>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3" name="文本框 1097">
                <a:extLst>
                  <a:ext uri="{FF2B5EF4-FFF2-40B4-BE49-F238E27FC236}">
                    <a16:creationId xmlns:a16="http://schemas.microsoft.com/office/drawing/2014/main" id="{35FF456E-C877-42AD-B6F7-21F31E109B23}"/>
                  </a:ext>
                </a:extLst>
              </p:cNvPr>
              <p:cNvSpPr txBox="1"/>
              <p:nvPr/>
            </p:nvSpPr>
            <p:spPr>
              <a:xfrm>
                <a:off x="4578175" y="4149679"/>
                <a:ext cx="479004" cy="2671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𝑐</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3" name="文本框 1097">
                <a:extLst>
                  <a:ext uri="{FF2B5EF4-FFF2-40B4-BE49-F238E27FC236}">
                    <a16:creationId xmlns:a16="http://schemas.microsoft.com/office/drawing/2014/main" id="{35FF456E-C877-42AD-B6F7-21F31E109B23}"/>
                  </a:ext>
                </a:extLst>
              </p:cNvPr>
              <p:cNvSpPr txBox="1">
                <a:spLocks noRot="1" noChangeAspect="1" noMove="1" noResize="1" noEditPoints="1" noAdjustHandles="1" noChangeArrowheads="1" noChangeShapeType="1" noTextEdit="1"/>
              </p:cNvSpPr>
              <p:nvPr/>
            </p:nvSpPr>
            <p:spPr>
              <a:xfrm>
                <a:off x="4578175" y="4149679"/>
                <a:ext cx="479004" cy="267156"/>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4" name="文本框 1097">
                <a:extLst>
                  <a:ext uri="{FF2B5EF4-FFF2-40B4-BE49-F238E27FC236}">
                    <a16:creationId xmlns:a16="http://schemas.microsoft.com/office/drawing/2014/main" id="{84B7A65E-8F03-461F-AC27-39A88660D312}"/>
                  </a:ext>
                </a:extLst>
              </p:cNvPr>
              <p:cNvSpPr txBox="1"/>
              <p:nvPr/>
            </p:nvSpPr>
            <p:spPr>
              <a:xfrm>
                <a:off x="5461246" y="4136482"/>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𝑑</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4" name="文本框 1097">
                <a:extLst>
                  <a:ext uri="{FF2B5EF4-FFF2-40B4-BE49-F238E27FC236}">
                    <a16:creationId xmlns:a16="http://schemas.microsoft.com/office/drawing/2014/main" id="{84B7A65E-8F03-461F-AC27-39A88660D312}"/>
                  </a:ext>
                </a:extLst>
              </p:cNvPr>
              <p:cNvSpPr txBox="1">
                <a:spLocks noRot="1" noChangeAspect="1" noMove="1" noResize="1" noEditPoints="1" noAdjustHandles="1" noChangeArrowheads="1" noChangeShapeType="1" noTextEdit="1"/>
              </p:cNvSpPr>
              <p:nvPr/>
            </p:nvSpPr>
            <p:spPr>
              <a:xfrm>
                <a:off x="5461246" y="4136482"/>
                <a:ext cx="479004" cy="266545"/>
              </a:xfrm>
              <a:prstGeom prst="rect">
                <a:avLst/>
              </a:prstGeom>
              <a:blipFill>
                <a:blip r:embed="rId21"/>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5" name="文本框 1097">
                <a:extLst>
                  <a:ext uri="{FF2B5EF4-FFF2-40B4-BE49-F238E27FC236}">
                    <a16:creationId xmlns:a16="http://schemas.microsoft.com/office/drawing/2014/main" id="{CE736A58-76CF-4ACF-8763-8672747B06B0}"/>
                  </a:ext>
                </a:extLst>
              </p:cNvPr>
              <p:cNvSpPr txBox="1"/>
              <p:nvPr/>
            </p:nvSpPr>
            <p:spPr>
              <a:xfrm>
                <a:off x="6345837" y="4124871"/>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𝑒</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5" name="文本框 1097">
                <a:extLst>
                  <a:ext uri="{FF2B5EF4-FFF2-40B4-BE49-F238E27FC236}">
                    <a16:creationId xmlns:a16="http://schemas.microsoft.com/office/drawing/2014/main" id="{CE736A58-76CF-4ACF-8763-8672747B06B0}"/>
                  </a:ext>
                </a:extLst>
              </p:cNvPr>
              <p:cNvSpPr txBox="1">
                <a:spLocks noRot="1" noChangeAspect="1" noMove="1" noResize="1" noEditPoints="1" noAdjustHandles="1" noChangeArrowheads="1" noChangeShapeType="1" noTextEdit="1"/>
              </p:cNvSpPr>
              <p:nvPr/>
            </p:nvSpPr>
            <p:spPr>
              <a:xfrm>
                <a:off x="6345837" y="4124871"/>
                <a:ext cx="479004" cy="266545"/>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6" name="文本框 325">
                <a:extLst>
                  <a:ext uri="{FF2B5EF4-FFF2-40B4-BE49-F238E27FC236}">
                    <a16:creationId xmlns:a16="http://schemas.microsoft.com/office/drawing/2014/main" id="{0CC7A419-6FFD-4A00-9D62-36B5998C6A38}"/>
                  </a:ext>
                </a:extLst>
              </p:cNvPr>
              <p:cNvSpPr txBox="1"/>
              <p:nvPr/>
            </p:nvSpPr>
            <p:spPr>
              <a:xfrm>
                <a:off x="2521173" y="4827684"/>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𝑎</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6" name="文本框 325">
                <a:extLst>
                  <a:ext uri="{FF2B5EF4-FFF2-40B4-BE49-F238E27FC236}">
                    <a16:creationId xmlns:a16="http://schemas.microsoft.com/office/drawing/2014/main" id="{0CC7A419-6FFD-4A00-9D62-36B5998C6A38}"/>
                  </a:ext>
                </a:extLst>
              </p:cNvPr>
              <p:cNvSpPr txBox="1">
                <a:spLocks noRot="1" noChangeAspect="1" noMove="1" noResize="1" noEditPoints="1" noAdjustHandles="1" noChangeArrowheads="1" noChangeShapeType="1" noTextEdit="1"/>
              </p:cNvSpPr>
              <p:nvPr/>
            </p:nvSpPr>
            <p:spPr>
              <a:xfrm>
                <a:off x="2521173" y="4827684"/>
                <a:ext cx="479004" cy="266545"/>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 name="文本框 326">
                <a:extLst>
                  <a:ext uri="{FF2B5EF4-FFF2-40B4-BE49-F238E27FC236}">
                    <a16:creationId xmlns:a16="http://schemas.microsoft.com/office/drawing/2014/main" id="{D295B668-47D0-48BD-B3E3-D4898EB0665A}"/>
                  </a:ext>
                </a:extLst>
              </p:cNvPr>
              <p:cNvSpPr txBox="1"/>
              <p:nvPr/>
            </p:nvSpPr>
            <p:spPr>
              <a:xfrm>
                <a:off x="3456371" y="4831475"/>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𝑏</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7" name="文本框 326">
                <a:extLst>
                  <a:ext uri="{FF2B5EF4-FFF2-40B4-BE49-F238E27FC236}">
                    <a16:creationId xmlns:a16="http://schemas.microsoft.com/office/drawing/2014/main" id="{D295B668-47D0-48BD-B3E3-D4898EB0665A}"/>
                  </a:ext>
                </a:extLst>
              </p:cNvPr>
              <p:cNvSpPr txBox="1">
                <a:spLocks noRot="1" noChangeAspect="1" noMove="1" noResize="1" noEditPoints="1" noAdjustHandles="1" noChangeArrowheads="1" noChangeShapeType="1" noTextEdit="1"/>
              </p:cNvSpPr>
              <p:nvPr/>
            </p:nvSpPr>
            <p:spPr>
              <a:xfrm>
                <a:off x="3456371" y="4831475"/>
                <a:ext cx="479004" cy="266545"/>
              </a:xfrm>
              <a:prstGeom prst="rect">
                <a:avLst/>
              </a:prstGeom>
              <a:blipFill>
                <a:blip r:embed="rId23"/>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 name="文本框 1097">
                <a:extLst>
                  <a:ext uri="{FF2B5EF4-FFF2-40B4-BE49-F238E27FC236}">
                    <a16:creationId xmlns:a16="http://schemas.microsoft.com/office/drawing/2014/main" id="{9F8D0904-8457-451F-ADF1-455BE2D68DDC}"/>
                  </a:ext>
                </a:extLst>
              </p:cNvPr>
              <p:cNvSpPr txBox="1"/>
              <p:nvPr/>
            </p:nvSpPr>
            <p:spPr>
              <a:xfrm>
                <a:off x="4437972" y="4834443"/>
                <a:ext cx="479004" cy="2671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𝑐</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8" name="文本框 1097">
                <a:extLst>
                  <a:ext uri="{FF2B5EF4-FFF2-40B4-BE49-F238E27FC236}">
                    <a16:creationId xmlns:a16="http://schemas.microsoft.com/office/drawing/2014/main" id="{9F8D0904-8457-451F-ADF1-455BE2D68DDC}"/>
                  </a:ext>
                </a:extLst>
              </p:cNvPr>
              <p:cNvSpPr txBox="1">
                <a:spLocks noRot="1" noChangeAspect="1" noMove="1" noResize="1" noEditPoints="1" noAdjustHandles="1" noChangeArrowheads="1" noChangeShapeType="1" noTextEdit="1"/>
              </p:cNvSpPr>
              <p:nvPr/>
            </p:nvSpPr>
            <p:spPr>
              <a:xfrm>
                <a:off x="4437972" y="4834443"/>
                <a:ext cx="479004" cy="267156"/>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9" name="文本框 1097">
                <a:extLst>
                  <a:ext uri="{FF2B5EF4-FFF2-40B4-BE49-F238E27FC236}">
                    <a16:creationId xmlns:a16="http://schemas.microsoft.com/office/drawing/2014/main" id="{0F9FF51B-D0FD-43E3-880A-F8B1495655A0}"/>
                  </a:ext>
                </a:extLst>
              </p:cNvPr>
              <p:cNvSpPr txBox="1"/>
              <p:nvPr/>
            </p:nvSpPr>
            <p:spPr>
              <a:xfrm>
                <a:off x="5395324" y="4821247"/>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𝑑</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29" name="文本框 1097">
                <a:extLst>
                  <a:ext uri="{FF2B5EF4-FFF2-40B4-BE49-F238E27FC236}">
                    <a16:creationId xmlns:a16="http://schemas.microsoft.com/office/drawing/2014/main" id="{0F9FF51B-D0FD-43E3-880A-F8B1495655A0}"/>
                  </a:ext>
                </a:extLst>
              </p:cNvPr>
              <p:cNvSpPr txBox="1">
                <a:spLocks noRot="1" noChangeAspect="1" noMove="1" noResize="1" noEditPoints="1" noAdjustHandles="1" noChangeArrowheads="1" noChangeShapeType="1" noTextEdit="1"/>
              </p:cNvSpPr>
              <p:nvPr/>
            </p:nvSpPr>
            <p:spPr>
              <a:xfrm>
                <a:off x="5395324" y="4821247"/>
                <a:ext cx="479004" cy="266545"/>
              </a:xfrm>
              <a:prstGeom prst="rect">
                <a:avLst/>
              </a:prstGeom>
              <a:blipFill>
                <a:blip r:embed="rId19"/>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0" name="文本框 1097">
                <a:extLst>
                  <a:ext uri="{FF2B5EF4-FFF2-40B4-BE49-F238E27FC236}">
                    <a16:creationId xmlns:a16="http://schemas.microsoft.com/office/drawing/2014/main" id="{7D461917-7C84-4C3D-895E-76CED755D76F}"/>
                  </a:ext>
                </a:extLst>
              </p:cNvPr>
              <p:cNvSpPr txBox="1"/>
              <p:nvPr/>
            </p:nvSpPr>
            <p:spPr>
              <a:xfrm>
                <a:off x="6345837" y="4809538"/>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𝑒</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30" name="文本框 1097">
                <a:extLst>
                  <a:ext uri="{FF2B5EF4-FFF2-40B4-BE49-F238E27FC236}">
                    <a16:creationId xmlns:a16="http://schemas.microsoft.com/office/drawing/2014/main" id="{7D461917-7C84-4C3D-895E-76CED755D76F}"/>
                  </a:ext>
                </a:extLst>
              </p:cNvPr>
              <p:cNvSpPr txBox="1">
                <a:spLocks noRot="1" noChangeAspect="1" noMove="1" noResize="1" noEditPoints="1" noAdjustHandles="1" noChangeArrowheads="1" noChangeShapeType="1" noTextEdit="1"/>
              </p:cNvSpPr>
              <p:nvPr/>
            </p:nvSpPr>
            <p:spPr>
              <a:xfrm>
                <a:off x="6345837" y="4809538"/>
                <a:ext cx="479004" cy="266545"/>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1" name="文本框 350">
                <a:extLst>
                  <a:ext uri="{FF2B5EF4-FFF2-40B4-BE49-F238E27FC236}">
                    <a16:creationId xmlns:a16="http://schemas.microsoft.com/office/drawing/2014/main" id="{E54B86DA-03B1-4958-B7D8-E72F3818BC91}"/>
                  </a:ext>
                </a:extLst>
              </p:cNvPr>
              <p:cNvSpPr txBox="1"/>
              <p:nvPr/>
            </p:nvSpPr>
            <p:spPr>
              <a:xfrm>
                <a:off x="2659082" y="2796165"/>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𝑎</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51" name="文本框 350">
                <a:extLst>
                  <a:ext uri="{FF2B5EF4-FFF2-40B4-BE49-F238E27FC236}">
                    <a16:creationId xmlns:a16="http://schemas.microsoft.com/office/drawing/2014/main" id="{E54B86DA-03B1-4958-B7D8-E72F3818BC91}"/>
                  </a:ext>
                </a:extLst>
              </p:cNvPr>
              <p:cNvSpPr txBox="1">
                <a:spLocks noRot="1" noChangeAspect="1" noMove="1" noResize="1" noEditPoints="1" noAdjustHandles="1" noChangeArrowheads="1" noChangeShapeType="1" noTextEdit="1"/>
              </p:cNvSpPr>
              <p:nvPr/>
            </p:nvSpPr>
            <p:spPr>
              <a:xfrm>
                <a:off x="2659082" y="2796165"/>
                <a:ext cx="479004" cy="266545"/>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2" name="文本框 351">
                <a:extLst>
                  <a:ext uri="{FF2B5EF4-FFF2-40B4-BE49-F238E27FC236}">
                    <a16:creationId xmlns:a16="http://schemas.microsoft.com/office/drawing/2014/main" id="{501784BB-1E2F-4B16-A262-5ED2582421EF}"/>
                  </a:ext>
                </a:extLst>
              </p:cNvPr>
              <p:cNvSpPr txBox="1"/>
              <p:nvPr/>
            </p:nvSpPr>
            <p:spPr>
              <a:xfrm>
                <a:off x="3594280" y="2799957"/>
                <a:ext cx="479004" cy="266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𝑏</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52" name="文本框 351">
                <a:extLst>
                  <a:ext uri="{FF2B5EF4-FFF2-40B4-BE49-F238E27FC236}">
                    <a16:creationId xmlns:a16="http://schemas.microsoft.com/office/drawing/2014/main" id="{501784BB-1E2F-4B16-A262-5ED2582421EF}"/>
                  </a:ext>
                </a:extLst>
              </p:cNvPr>
              <p:cNvSpPr txBox="1">
                <a:spLocks noRot="1" noChangeAspect="1" noMove="1" noResize="1" noEditPoints="1" noAdjustHandles="1" noChangeArrowheads="1" noChangeShapeType="1" noTextEdit="1"/>
              </p:cNvSpPr>
              <p:nvPr/>
            </p:nvSpPr>
            <p:spPr>
              <a:xfrm>
                <a:off x="3594280" y="2799957"/>
                <a:ext cx="479004" cy="266545"/>
              </a:xfrm>
              <a:prstGeom prst="rect">
                <a:avLst/>
              </a:prstGeom>
              <a:blipFill>
                <a:blip r:embed="rId27"/>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3" name="文本框 1097">
                <a:extLst>
                  <a:ext uri="{FF2B5EF4-FFF2-40B4-BE49-F238E27FC236}">
                    <a16:creationId xmlns:a16="http://schemas.microsoft.com/office/drawing/2014/main" id="{81282FE7-B724-460A-B4BD-B2D0085BB7EC}"/>
                  </a:ext>
                </a:extLst>
              </p:cNvPr>
              <p:cNvSpPr txBox="1"/>
              <p:nvPr/>
            </p:nvSpPr>
            <p:spPr>
              <a:xfrm>
                <a:off x="4575882" y="2802925"/>
                <a:ext cx="479004" cy="2671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𝑐</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53" name="文本框 1097">
                <a:extLst>
                  <a:ext uri="{FF2B5EF4-FFF2-40B4-BE49-F238E27FC236}">
                    <a16:creationId xmlns:a16="http://schemas.microsoft.com/office/drawing/2014/main" id="{81282FE7-B724-460A-B4BD-B2D0085BB7EC}"/>
                  </a:ext>
                </a:extLst>
              </p:cNvPr>
              <p:cNvSpPr txBox="1">
                <a:spLocks noRot="1" noChangeAspect="1" noMove="1" noResize="1" noEditPoints="1" noAdjustHandles="1" noChangeArrowheads="1" noChangeShapeType="1" noTextEdit="1"/>
              </p:cNvSpPr>
              <p:nvPr/>
            </p:nvSpPr>
            <p:spPr>
              <a:xfrm>
                <a:off x="4575882" y="2802925"/>
                <a:ext cx="479004" cy="267156"/>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4" name="文本框 1097">
                <a:extLst>
                  <a:ext uri="{FF2B5EF4-FFF2-40B4-BE49-F238E27FC236}">
                    <a16:creationId xmlns:a16="http://schemas.microsoft.com/office/drawing/2014/main" id="{CC638F70-129F-4B7D-8CFF-B2DBA976B13B}"/>
                  </a:ext>
                </a:extLst>
              </p:cNvPr>
              <p:cNvSpPr txBox="1"/>
              <p:nvPr/>
            </p:nvSpPr>
            <p:spPr>
              <a:xfrm>
                <a:off x="5533233" y="2789728"/>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𝑑</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54" name="文本框 1097">
                <a:extLst>
                  <a:ext uri="{FF2B5EF4-FFF2-40B4-BE49-F238E27FC236}">
                    <a16:creationId xmlns:a16="http://schemas.microsoft.com/office/drawing/2014/main" id="{CC638F70-129F-4B7D-8CFF-B2DBA976B13B}"/>
                  </a:ext>
                </a:extLst>
              </p:cNvPr>
              <p:cNvSpPr txBox="1">
                <a:spLocks noRot="1" noChangeAspect="1" noMove="1" noResize="1" noEditPoints="1" noAdjustHandles="1" noChangeArrowheads="1" noChangeShapeType="1" noTextEdit="1"/>
              </p:cNvSpPr>
              <p:nvPr/>
            </p:nvSpPr>
            <p:spPr>
              <a:xfrm>
                <a:off x="5533233" y="2789728"/>
                <a:ext cx="479004" cy="266545"/>
              </a:xfrm>
              <a:prstGeom prst="rect">
                <a:avLst/>
              </a:prstGeom>
              <a:blipFill>
                <a:blip r:embed="rId21"/>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5" name="文本框 1097">
                <a:extLst>
                  <a:ext uri="{FF2B5EF4-FFF2-40B4-BE49-F238E27FC236}">
                    <a16:creationId xmlns:a16="http://schemas.microsoft.com/office/drawing/2014/main" id="{BF5C83D4-35EC-4750-9E50-A7068609F38A}"/>
                  </a:ext>
                </a:extLst>
              </p:cNvPr>
              <p:cNvSpPr txBox="1"/>
              <p:nvPr/>
            </p:nvSpPr>
            <p:spPr>
              <a:xfrm>
                <a:off x="6380684" y="2778116"/>
                <a:ext cx="479004" cy="2665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𝑒</m:t>
                      </m:r>
                    </m:oMath>
                  </m:oMathPara>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55" name="文本框 1097">
                <a:extLst>
                  <a:ext uri="{FF2B5EF4-FFF2-40B4-BE49-F238E27FC236}">
                    <a16:creationId xmlns:a16="http://schemas.microsoft.com/office/drawing/2014/main" id="{BF5C83D4-35EC-4750-9E50-A7068609F38A}"/>
                  </a:ext>
                </a:extLst>
              </p:cNvPr>
              <p:cNvSpPr txBox="1">
                <a:spLocks noRot="1" noChangeAspect="1" noMove="1" noResize="1" noEditPoints="1" noAdjustHandles="1" noChangeArrowheads="1" noChangeShapeType="1" noTextEdit="1"/>
              </p:cNvSpPr>
              <p:nvPr/>
            </p:nvSpPr>
            <p:spPr>
              <a:xfrm>
                <a:off x="6380684" y="2778116"/>
                <a:ext cx="479004" cy="266545"/>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EED05B93-4506-4070-A4DD-6B21CA18C4D4}"/>
                  </a:ext>
                </a:extLst>
              </p:cNvPr>
              <p:cNvSpPr txBox="1"/>
              <p:nvPr/>
            </p:nvSpPr>
            <p:spPr>
              <a:xfrm>
                <a:off x="299056" y="1557124"/>
                <a:ext cx="8493405" cy="728789"/>
              </a:xfrm>
              <a:prstGeom prst="rect">
                <a:avLst/>
              </a:prstGeom>
              <a:noFill/>
            </p:spPr>
            <p:txBody>
              <a:bodyPr wrap="square" rtlCol="0">
                <a:spAutoFit/>
              </a:bodyPr>
              <a:lstStyle/>
              <a:p>
                <a:pPr>
                  <a:lnSpc>
                    <a:spcPct val="120000"/>
                  </a:lnSpc>
                  <a:defRPr/>
                </a:pPr>
                <a:r>
                  <a:rPr lang="zh-CN" altLang="en-US" dirty="0">
                    <a:latin typeface="Times New Roman" panose="02020603050405020304" pitchFamily="18" charset="0"/>
                    <a:cs typeface="Times New Roman" panose="02020603050405020304" pitchFamily="18" charset="0"/>
                  </a:rPr>
                  <a:t>第</a:t>
                </a:r>
                <a:r>
                  <a:rPr lang="zh-CN" altLang="en-US" sz="1800" dirty="0">
                    <a:latin typeface="Times New Roman" panose="02020603050405020304" pitchFamily="18" charset="0"/>
                    <a:cs typeface="Times New Roman" panose="02020603050405020304" pitchFamily="18" charset="0"/>
                  </a:rPr>
                  <a:t>四轮的输出值</a:t>
                </a:r>
                <a14:m>
                  <m:oMath xmlns:m="http://schemas.openxmlformats.org/officeDocument/2006/math">
                    <m:r>
                      <a:rPr lang="en-US" altLang="zh-CN" sz="1800" b="0" i="0" dirty="0" smtClean="0">
                        <a:latin typeface="Cambria Math" panose="02040503050406030204" pitchFamily="18" charset="0"/>
                        <a:cs typeface="Times New Roman" panose="02020603050405020304" pitchFamily="18" charset="0"/>
                      </a:rPr>
                      <m:t> </m:t>
                    </m:r>
                    <m:r>
                      <a:rPr lang="zh-CN" altLang="en-US" sz="1800" i="1" dirty="0" smtClean="0">
                        <a:latin typeface="Cambria Math" panose="02040503050406030204" pitchFamily="18" charset="0"/>
                        <a:cs typeface="Times New Roman" panose="02020603050405020304" pitchFamily="18" charset="0"/>
                      </a:rPr>
                      <m:t>𝑎</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𝑏</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𝑐</m:t>
                    </m:r>
                    <m:r>
                      <a:rPr lang="en-US" altLang="zh-CN" sz="1800" i="1" dirty="0" smtClean="0">
                        <a:latin typeface="Cambria Math" panose="02040503050406030204" pitchFamily="18" charset="0"/>
                        <a:cs typeface="Times New Roman" panose="02020603050405020304" pitchFamily="18" charset="0"/>
                      </a:rPr>
                      <m:t>,</m:t>
                    </m:r>
                    <m:r>
                      <a:rPr lang="zh-CN" altLang="en-US" sz="1800" i="1" dirty="0" smtClean="0">
                        <a:latin typeface="Cambria Math" panose="02040503050406030204" pitchFamily="18" charset="0"/>
                        <a:cs typeface="Times New Roman" panose="02020603050405020304" pitchFamily="18" charset="0"/>
                      </a:rPr>
                      <m:t>𝑑</m:t>
                    </m:r>
                    <m:r>
                      <a:rPr lang="en-US" altLang="zh-CN" sz="1800" b="0" i="1" dirty="0" smtClean="0">
                        <a:latin typeface="Cambria Math" panose="02040503050406030204" pitchFamily="18" charset="0"/>
                        <a:cs typeface="Times New Roman" panose="02020603050405020304" pitchFamily="18" charset="0"/>
                      </a:rPr>
                      <m:t>,</m:t>
                    </m:r>
                    <m:r>
                      <a:rPr lang="en-US" altLang="zh-CN" sz="1800" b="0" i="1" dirty="0" smtClean="0">
                        <a:latin typeface="Cambria Math" panose="02040503050406030204" pitchFamily="18" charset="0"/>
                        <a:cs typeface="Times New Roman" panose="02020603050405020304" pitchFamily="18" charset="0"/>
                      </a:rPr>
                      <m:t>𝑒</m:t>
                    </m:r>
                    <m:r>
                      <a:rPr lang="zh-CN" altLang="en-US" sz="1800" i="1" dirty="0" smtClean="0">
                        <a:latin typeface="Cambria Math" panose="02040503050406030204" pitchFamily="18" charset="0"/>
                        <a:cs typeface="Times New Roman" panose="02020603050405020304" pitchFamily="18" charset="0"/>
                      </a:rPr>
                      <m:t> </m:t>
                    </m:r>
                  </m:oMath>
                </a14:m>
                <a:r>
                  <a:rPr lang="zh-CN" altLang="en-US" sz="1800" dirty="0">
                    <a:latin typeface="Times New Roman" panose="02020603050405020304" pitchFamily="18" charset="0"/>
                    <a:cs typeface="Times New Roman" panose="02020603050405020304" pitchFamily="18" charset="0"/>
                  </a:rPr>
                  <a:t>再与第一轮的输入值每个字按模 </a:t>
                </a:r>
                <a14:m>
                  <m:oMath xmlns:m="http://schemas.openxmlformats.org/officeDocument/2006/math">
                    <m:sSup>
                      <m:sSupPr>
                        <m:ctrlPr>
                          <a:rPr lang="en-US" altLang="zh-CN" sz="1800" b="0" i="1" smtClean="0">
                            <a:latin typeface="Cambria Math" panose="02040503050406030204" pitchFamily="18" charset="0"/>
                            <a:cs typeface="Times New Roman" panose="02020603050405020304" pitchFamily="18" charset="0"/>
                          </a:rPr>
                        </m:ctrlPr>
                      </m:sSupPr>
                      <m:e>
                        <m:r>
                          <a:rPr lang="en-US" altLang="zh-CN" sz="1800" b="0" i="1" smtClean="0">
                            <a:latin typeface="Cambria Math" panose="02040503050406030204" pitchFamily="18" charset="0"/>
                            <a:cs typeface="Times New Roman" panose="02020603050405020304" pitchFamily="18" charset="0"/>
                          </a:rPr>
                          <m:t>2</m:t>
                        </m:r>
                      </m:e>
                      <m:sup>
                        <m:r>
                          <a:rPr lang="en-US" altLang="zh-CN" sz="1800" b="0" i="1" smtClean="0">
                            <a:latin typeface="Cambria Math" panose="02040503050406030204" pitchFamily="18" charset="0"/>
                            <a:cs typeface="Times New Roman" panose="02020603050405020304" pitchFamily="18" charset="0"/>
                          </a:rPr>
                          <m:t>32</m:t>
                        </m:r>
                      </m:sup>
                    </m:sSup>
                  </m:oMath>
                </a14:m>
                <a:r>
                  <a:rPr lang="zh-CN" altLang="en-US" sz="1800" dirty="0">
                    <a:latin typeface="Times New Roman" panose="02020603050405020304" pitchFamily="18" charset="0"/>
                    <a:cs typeface="Times New Roman" panose="02020603050405020304" pitchFamily="18" charset="0"/>
                  </a:rPr>
                  <a:t> 相加，即为消息的第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𝑞</m:t>
                    </m:r>
                  </m:oMath>
                </a14:m>
                <a:r>
                  <a:rPr lang="zh-CN" altLang="en-US" sz="1800" dirty="0">
                    <a:latin typeface="Times New Roman" panose="02020603050405020304" pitchFamily="18" charset="0"/>
                    <a:cs typeface="Times New Roman" panose="02020603050405020304" pitchFamily="18" charset="0"/>
                  </a:rPr>
                  <a:t> 个 </a:t>
                </a:r>
                <a:r>
                  <a:rPr lang="en-US" altLang="zh-CN" dirty="0">
                    <a:latin typeface="Times New Roman" panose="02020603050405020304" pitchFamily="18" charset="0"/>
                    <a:cs typeface="Times New Roman" panose="02020603050405020304" pitchFamily="18" charset="0"/>
                  </a:rPr>
                  <a:t>512bits </a:t>
                </a:r>
                <a:r>
                  <a:rPr lang="zh-CN" altLang="en-US" dirty="0">
                    <a:latin typeface="Times New Roman" panose="02020603050405020304" pitchFamily="18" charset="0"/>
                    <a:cs typeface="Times New Roman" panose="02020603050405020304" pitchFamily="18" charset="0"/>
                  </a:rPr>
                  <a:t>分组经过压缩函数的输出</a:t>
                </a:r>
              </a:p>
            </p:txBody>
          </p:sp>
        </mc:Choice>
        <mc:Fallback xmlns="">
          <p:sp>
            <p:nvSpPr>
              <p:cNvPr id="98" name="文本框 97">
                <a:extLst>
                  <a:ext uri="{FF2B5EF4-FFF2-40B4-BE49-F238E27FC236}">
                    <a16:creationId xmlns:a16="http://schemas.microsoft.com/office/drawing/2014/main" id="{EED05B93-4506-4070-A4DD-6B21CA18C4D4}"/>
                  </a:ext>
                </a:extLst>
              </p:cNvPr>
              <p:cNvSpPr txBox="1">
                <a:spLocks noRot="1" noChangeAspect="1" noMove="1" noResize="1" noEditPoints="1" noAdjustHandles="1" noChangeArrowheads="1" noChangeShapeType="1" noTextEdit="1"/>
              </p:cNvSpPr>
              <p:nvPr/>
            </p:nvSpPr>
            <p:spPr>
              <a:xfrm>
                <a:off x="299056" y="1557124"/>
                <a:ext cx="8493405" cy="728789"/>
              </a:xfrm>
              <a:prstGeom prst="rect">
                <a:avLst/>
              </a:prstGeom>
              <a:blipFill>
                <a:blip r:embed="rId30"/>
                <a:stretch>
                  <a:fillRect l="-574"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6FA1B8BC-44DA-4538-AF61-FFBC2D0D7F18}"/>
                  </a:ext>
                </a:extLst>
              </p:cNvPr>
              <p:cNvSpPr txBox="1"/>
              <p:nvPr/>
            </p:nvSpPr>
            <p:spPr>
              <a:xfrm>
                <a:off x="182643" y="2302078"/>
                <a:ext cx="1701518" cy="35753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𝑌</m:t>
                          </m:r>
                        </m:e>
                        <m:sub>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𝑞</m:t>
                          </m:r>
                        </m:sub>
                      </m:sSub>
                    </m:oMath>
                  </m:oMathPara>
                </a14:m>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01" name="文本框 100">
                <a:extLst>
                  <a:ext uri="{FF2B5EF4-FFF2-40B4-BE49-F238E27FC236}">
                    <a16:creationId xmlns:a16="http://schemas.microsoft.com/office/drawing/2014/main" id="{6FA1B8BC-44DA-4538-AF61-FFBC2D0D7F18}"/>
                  </a:ext>
                </a:extLst>
              </p:cNvPr>
              <p:cNvSpPr txBox="1">
                <a:spLocks noRot="1" noChangeAspect="1" noMove="1" noResize="1" noEditPoints="1" noAdjustHandles="1" noChangeArrowheads="1" noChangeShapeType="1" noTextEdit="1"/>
              </p:cNvSpPr>
              <p:nvPr/>
            </p:nvSpPr>
            <p:spPr>
              <a:xfrm>
                <a:off x="182643" y="2302078"/>
                <a:ext cx="1701518" cy="357534"/>
              </a:xfrm>
              <a:prstGeom prst="rect">
                <a:avLst/>
              </a:prstGeom>
              <a:blipFill>
                <a:blip r:embed="rId31"/>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B59C565E-63F1-4C99-B1D7-FC86823446DF}"/>
                  </a:ext>
                </a:extLst>
              </p:cNvPr>
              <p:cNvSpPr txBox="1"/>
              <p:nvPr/>
            </p:nvSpPr>
            <p:spPr>
              <a:xfrm>
                <a:off x="1022974" y="2590842"/>
                <a:ext cx="62282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400" dirty="0" smtClean="0">
                          <a:solidFill>
                            <a:prstClr val="black"/>
                          </a:solidFill>
                          <a:latin typeface="Cambria Math" panose="02040503050406030204" pitchFamily="18" charset="0"/>
                        </a:rPr>
                        <m:t>5</m:t>
                      </m:r>
                      <m:r>
                        <a:rPr lang="en-US" altLang="zh-CN" sz="1400" b="0" i="0" dirty="0" smtClean="0">
                          <a:solidFill>
                            <a:prstClr val="black"/>
                          </a:solidFill>
                          <a:latin typeface="Cambria Math" panose="02040503050406030204" pitchFamily="18" charset="0"/>
                        </a:rPr>
                        <m:t>1</m:t>
                      </m:r>
                      <m:r>
                        <a:rPr kumimoji="0" lang="en-US" altLang="zh-CN" sz="14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2 </m:t>
                      </m:r>
                    </m:oMath>
                  </m:oMathPara>
                </a14:m>
                <a:endParaRPr kumimoji="0" lang="zh-C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102" name="文本框 101">
                <a:extLst>
                  <a:ext uri="{FF2B5EF4-FFF2-40B4-BE49-F238E27FC236}">
                    <a16:creationId xmlns:a16="http://schemas.microsoft.com/office/drawing/2014/main" id="{B59C565E-63F1-4C99-B1D7-FC86823446DF}"/>
                  </a:ext>
                </a:extLst>
              </p:cNvPr>
              <p:cNvSpPr txBox="1">
                <a:spLocks noRot="1" noChangeAspect="1" noMove="1" noResize="1" noEditPoints="1" noAdjustHandles="1" noChangeArrowheads="1" noChangeShapeType="1" noTextEdit="1"/>
              </p:cNvSpPr>
              <p:nvPr/>
            </p:nvSpPr>
            <p:spPr>
              <a:xfrm>
                <a:off x="1022974" y="2590842"/>
                <a:ext cx="622823" cy="307777"/>
              </a:xfrm>
              <a:prstGeom prst="rect">
                <a:avLst/>
              </a:prstGeom>
              <a:blipFill>
                <a:blip r:embed="rId32"/>
                <a:stretch>
                  <a:fillRect/>
                </a:stretch>
              </a:blipFill>
            </p:spPr>
            <p:txBody>
              <a:bodyPr/>
              <a:lstStyle/>
              <a:p>
                <a:r>
                  <a:rPr lang="zh-CN" altLang="en-US">
                    <a:noFill/>
                  </a:rPr>
                  <a:t> </a:t>
                </a:r>
              </a:p>
            </p:txBody>
          </p:sp>
        </mc:Fallback>
      </mc:AlternateContent>
      <p:cxnSp>
        <p:nvCxnSpPr>
          <p:cNvPr id="103" name="直接连接符 102">
            <a:extLst>
              <a:ext uri="{FF2B5EF4-FFF2-40B4-BE49-F238E27FC236}">
                <a16:creationId xmlns:a16="http://schemas.microsoft.com/office/drawing/2014/main" id="{4C35A431-2272-4258-B0B3-5BB1DC1257AA}"/>
              </a:ext>
            </a:extLst>
          </p:cNvPr>
          <p:cNvCxnSpPr>
            <a:cxnSpLocks/>
            <a:stCxn id="102" idx="1"/>
          </p:cNvCxnSpPr>
          <p:nvPr/>
        </p:nvCxnSpPr>
        <p:spPr>
          <a:xfrm flipH="1">
            <a:off x="951580" y="2744731"/>
            <a:ext cx="71394" cy="34392"/>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345E1F6A-49AA-4E57-9D78-214DEF664DB3}"/>
                  </a:ext>
                </a:extLst>
              </p:cNvPr>
              <p:cNvSpPr txBox="1"/>
              <p:nvPr/>
            </p:nvSpPr>
            <p:spPr>
              <a:xfrm>
                <a:off x="7169185" y="5746530"/>
                <a:ext cx="798713"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mod</m:t>
                      </m:r>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 </m:t>
                      </m:r>
                      <m:sSup>
                        <m:sSupPr>
                          <m:ctrlPr>
                            <a:rPr kumimoji="0" lang="en-US" altLang="zh-CN" sz="1400" b="0" i="1"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ctrlPr>
                        </m:sSupPr>
                        <m:e>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2</m:t>
                          </m:r>
                        </m:e>
                        <m:sup>
                          <m:r>
                            <a:rPr kumimoji="0" lang="en-US" altLang="zh-CN" sz="1400" b="0" i="0" u="none" strike="noStrike" kern="1200" cap="none" spc="0" normalizeH="0" baseline="0" noProof="0" smtClean="0">
                              <a:ln>
                                <a:noFill/>
                              </a:ln>
                              <a:solidFill>
                                <a:schemeClr val="tx1"/>
                              </a:solidFill>
                              <a:effectLst/>
                              <a:uLnTx/>
                              <a:uFillTx/>
                              <a:latin typeface="Cambria Math" panose="02040503050406030204" pitchFamily="18" charset="0"/>
                              <a:ea typeface="微软雅黑"/>
                              <a:cs typeface="+mn-cs"/>
                            </a:rPr>
                            <m:t>32</m:t>
                          </m:r>
                        </m:sup>
                      </m:sSup>
                    </m:oMath>
                  </m:oMathPara>
                </a14:m>
                <a:endParaRPr kumimoji="0" lang="en-US" altLang="zh-CN" sz="1400" b="0" u="none" strike="noStrike" kern="1200" cap="none" spc="0" normalizeH="0" baseline="0" noProof="0" dirty="0">
                  <a:ln>
                    <a:noFill/>
                  </a:ln>
                  <a:solidFill>
                    <a:schemeClr val="tx1"/>
                  </a:solidFill>
                  <a:effectLst/>
                  <a:uLnTx/>
                  <a:uFillTx/>
                  <a:latin typeface="Arial"/>
                  <a:ea typeface="微软雅黑"/>
                  <a:cs typeface="+mn-cs"/>
                </a:endParaRPr>
              </a:p>
            </p:txBody>
          </p:sp>
        </mc:Choice>
        <mc:Fallback xmlns="">
          <p:sp>
            <p:nvSpPr>
              <p:cNvPr id="110" name="文本框 109">
                <a:extLst>
                  <a:ext uri="{FF2B5EF4-FFF2-40B4-BE49-F238E27FC236}">
                    <a16:creationId xmlns:a16="http://schemas.microsoft.com/office/drawing/2014/main" id="{345E1F6A-49AA-4E57-9D78-214DEF664DB3}"/>
                  </a:ext>
                </a:extLst>
              </p:cNvPr>
              <p:cNvSpPr txBox="1">
                <a:spLocks noRot="1" noChangeAspect="1" noMove="1" noResize="1" noEditPoints="1" noAdjustHandles="1" noChangeArrowheads="1" noChangeShapeType="1" noTextEdit="1"/>
              </p:cNvSpPr>
              <p:nvPr/>
            </p:nvSpPr>
            <p:spPr>
              <a:xfrm>
                <a:off x="7169185" y="5746530"/>
                <a:ext cx="798713" cy="307777"/>
              </a:xfrm>
              <a:prstGeom prst="rect">
                <a:avLst/>
              </a:prstGeom>
              <a:blipFill>
                <a:blip r:embed="rId3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76459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67</a:t>
            </a:fld>
            <a:endParaRPr lang="zh-CN" altLang="en-US">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(4)   </a:t>
            </a:r>
            <a:r>
              <a:rPr lang="zh-CN" altLang="en-US" sz="2400" b="1" dirty="0">
                <a:solidFill>
                  <a:srgbClr val="0000FF"/>
                </a:solidFill>
                <a:latin typeface="Times New Roman" panose="02020603050405020304" pitchFamily="18" charset="0"/>
                <a:cs typeface="Times New Roman" panose="02020603050405020304" pitchFamily="18" charset="0"/>
              </a:rPr>
              <a:t>输出</a:t>
            </a:r>
            <a:r>
              <a:rPr lang="en-US" altLang="zh-CN" sz="2400" b="1" dirty="0">
                <a:solidFill>
                  <a:srgbClr val="0000FF"/>
                </a:solidFill>
                <a:latin typeface="Times New Roman" panose="02020603050405020304" pitchFamily="18" charset="0"/>
                <a:cs typeface="Times New Roman" panose="02020603050405020304" pitchFamily="18" charset="0"/>
              </a:rPr>
              <a:t> SHA-1 </a:t>
            </a:r>
            <a:r>
              <a:rPr lang="zh-CN" altLang="en-US" sz="2400" b="1" dirty="0">
                <a:solidFill>
                  <a:srgbClr val="0000FF"/>
                </a:solidFill>
                <a:latin typeface="Times New Roman" panose="02020603050405020304" pitchFamily="18" charset="0"/>
                <a:cs typeface="Times New Roman" panose="02020603050405020304" pitchFamily="18" charset="0"/>
              </a:rPr>
              <a:t>值</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312517" y="1527785"/>
                <a:ext cx="8381107" cy="430182"/>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级联最后输出的 </a:t>
                </a:r>
                <a:r>
                  <a:rPr lang="en-US" altLang="zh-CN" sz="2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个 </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32</m:t>
                    </m:r>
                    <m:r>
                      <m:rPr>
                        <m:sty m:val="p"/>
                      </m:rPr>
                      <a:rPr lang="en-US" altLang="zh-CN" sz="2000" i="0" dirty="0" smtClean="0">
                        <a:latin typeface="Cambria Math" panose="02040503050406030204" pitchFamily="18" charset="0"/>
                        <a:cs typeface="Times New Roman" panose="02020603050405020304" pitchFamily="18" charset="0"/>
                      </a:rPr>
                      <m:t>bits</m:t>
                    </m:r>
                  </m:oMath>
                </a14:m>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分组，形成</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1</m:t>
                    </m:r>
                    <m:r>
                      <a:rPr lang="en-US" altLang="zh-CN" sz="2000" b="0" i="1" dirty="0" smtClean="0">
                        <a:latin typeface="Cambria Math" panose="02040503050406030204" pitchFamily="18" charset="0"/>
                        <a:cs typeface="Times New Roman" panose="02020603050405020304" pitchFamily="18" charset="0"/>
                      </a:rPr>
                      <m:t>60</m:t>
                    </m:r>
                    <m:r>
                      <a:rPr lang="en-US" altLang="zh-CN" sz="2000" b="0" i="0" dirty="0" smtClean="0">
                        <a:latin typeface="Cambria Math" panose="02040503050406030204" pitchFamily="18" charset="0"/>
                        <a:cs typeface="Times New Roman" panose="02020603050405020304" pitchFamily="18" charset="0"/>
                      </a:rPr>
                      <m:t> </m:t>
                    </m:r>
                    <m:r>
                      <m:rPr>
                        <m:sty m:val="p"/>
                      </m:rPr>
                      <a:rPr lang="en-US" altLang="zh-CN" sz="2000" dirty="0">
                        <a:latin typeface="Cambria Math" panose="02040503050406030204" pitchFamily="18" charset="0"/>
                        <a:cs typeface="Times New Roman" panose="02020603050405020304" pitchFamily="18" charset="0"/>
                      </a:rPr>
                      <m:t>bits</m:t>
                    </m:r>
                  </m:oMath>
                </a14:m>
                <a:r>
                  <a:rPr lang="zh-CN" altLang="en-US" sz="2000" dirty="0">
                    <a:latin typeface="Times New Roman" panose="02020603050405020304" pitchFamily="18" charset="0"/>
                    <a:cs typeface="Times New Roman" panose="02020603050405020304" pitchFamily="18" charset="0"/>
                  </a:rPr>
                  <a:t> 的 </a:t>
                </a:r>
                <a:r>
                  <a:rPr lang="en-US" altLang="zh-CN" sz="2000" dirty="0">
                    <a:latin typeface="Times New Roman" panose="02020603050405020304" pitchFamily="18" charset="0"/>
                    <a:cs typeface="Times New Roman" panose="02020603050405020304" pitchFamily="18" charset="0"/>
                  </a:rPr>
                  <a:t>SHA-1 </a:t>
                </a:r>
                <a:r>
                  <a:rPr lang="zh-CN" altLang="en-US" sz="2000" dirty="0">
                    <a:latin typeface="Times New Roman" panose="02020603050405020304" pitchFamily="18" charset="0"/>
                    <a:cs typeface="Times New Roman" panose="02020603050405020304" pitchFamily="18" charset="0"/>
                  </a:rPr>
                  <a:t>值</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312517" y="1527785"/>
                <a:ext cx="8381107" cy="430182"/>
              </a:xfrm>
              <a:prstGeom prst="rect">
                <a:avLst/>
              </a:prstGeom>
              <a:blipFill>
                <a:blip r:embed="rId3"/>
                <a:stretch>
                  <a:fillRect l="-727" t="-1429" b="-25714"/>
                </a:stretch>
              </a:blipFill>
            </p:spPr>
            <p:txBody>
              <a:bodyPr/>
              <a:lstStyle/>
              <a:p>
                <a:r>
                  <a:rPr lang="zh-CN" altLang="en-US">
                    <a:noFill/>
                  </a:rPr>
                  <a:t> </a:t>
                </a:r>
              </a:p>
            </p:txBody>
          </p:sp>
        </mc:Fallback>
      </mc:AlternateContent>
      <p:sp>
        <p:nvSpPr>
          <p:cNvPr id="242" name="矩形 241">
            <a:extLst>
              <a:ext uri="{FF2B5EF4-FFF2-40B4-BE49-F238E27FC236}">
                <a16:creationId xmlns:a16="http://schemas.microsoft.com/office/drawing/2014/main" id="{6BC6ED4A-64E0-4D67-BA61-D680DC618B43}"/>
              </a:ext>
            </a:extLst>
          </p:cNvPr>
          <p:cNvSpPr/>
          <p:nvPr/>
        </p:nvSpPr>
        <p:spPr>
          <a:xfrm>
            <a:off x="1800408" y="2578587"/>
            <a:ext cx="2871683" cy="395866"/>
          </a:xfrm>
          <a:prstGeom prst="rect">
            <a:avLst/>
          </a:prstGeom>
          <a:solidFill>
            <a:schemeClr val="accent5">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dirty="0">
                <a:solidFill>
                  <a:schemeClr val="tx1"/>
                </a:solidFill>
              </a:rPr>
              <a:t>消息</a:t>
            </a:r>
          </a:p>
        </p:txBody>
      </p:sp>
      <p:cxnSp>
        <p:nvCxnSpPr>
          <p:cNvPr id="243" name="直接箭头连接符 242">
            <a:extLst>
              <a:ext uri="{FF2B5EF4-FFF2-40B4-BE49-F238E27FC236}">
                <a16:creationId xmlns:a16="http://schemas.microsoft.com/office/drawing/2014/main" id="{8693940A-7619-4A28-9DCC-57727B2E5AC9}"/>
              </a:ext>
            </a:extLst>
          </p:cNvPr>
          <p:cNvCxnSpPr>
            <a:cxnSpLocks/>
          </p:cNvCxnSpPr>
          <p:nvPr/>
        </p:nvCxnSpPr>
        <p:spPr>
          <a:xfrm>
            <a:off x="1800408" y="2428715"/>
            <a:ext cx="287168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44" name="文本框 243">
                <a:extLst>
                  <a:ext uri="{FF2B5EF4-FFF2-40B4-BE49-F238E27FC236}">
                    <a16:creationId xmlns:a16="http://schemas.microsoft.com/office/drawing/2014/main" id="{418459A4-53C0-4778-AF24-631971B32D23}"/>
                  </a:ext>
                </a:extLst>
              </p:cNvPr>
              <p:cNvSpPr txBox="1"/>
              <p:nvPr/>
            </p:nvSpPr>
            <p:spPr>
              <a:xfrm>
                <a:off x="2771187" y="2051165"/>
                <a:ext cx="1279037" cy="3728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0" dirty="0" smtClean="0">
                          <a:latin typeface="Cambria Math" panose="02040503050406030204" pitchFamily="18" charset="0"/>
                        </a:rPr>
                        <m:t>L</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44" name="文本框 243">
                <a:extLst>
                  <a:ext uri="{FF2B5EF4-FFF2-40B4-BE49-F238E27FC236}">
                    <a16:creationId xmlns:a16="http://schemas.microsoft.com/office/drawing/2014/main" id="{418459A4-53C0-4778-AF24-631971B32D23}"/>
                  </a:ext>
                </a:extLst>
              </p:cNvPr>
              <p:cNvSpPr txBox="1">
                <a:spLocks noRot="1" noChangeAspect="1" noMove="1" noResize="1" noEditPoints="1" noAdjustHandles="1" noChangeArrowheads="1" noChangeShapeType="1" noTextEdit="1"/>
              </p:cNvSpPr>
              <p:nvPr/>
            </p:nvSpPr>
            <p:spPr>
              <a:xfrm>
                <a:off x="2771187" y="2051165"/>
                <a:ext cx="1279037" cy="3728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 name="矩形 244">
                <a:extLst>
                  <a:ext uri="{FF2B5EF4-FFF2-40B4-BE49-F238E27FC236}">
                    <a16:creationId xmlns:a16="http://schemas.microsoft.com/office/drawing/2014/main" id="{1622B2F1-FB45-4B7E-99EE-8846AA507591}"/>
                  </a:ext>
                </a:extLst>
              </p:cNvPr>
              <p:cNvSpPr/>
              <p:nvPr/>
            </p:nvSpPr>
            <p:spPr>
              <a:xfrm>
                <a:off x="4672093" y="2578587"/>
                <a:ext cx="1872341" cy="395866"/>
              </a:xfrm>
              <a:prstGeom prst="rect">
                <a:avLst/>
              </a:prstGeom>
              <a:solidFill>
                <a:schemeClr val="accent5">
                  <a:lumMod val="60000"/>
                  <a:lumOff val="4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cs typeface="Times New Roman" panose="02020603050405020304" pitchFamily="18" charset="0"/>
                        </a:rPr>
                        <m:t>100...00</m:t>
                      </m:r>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45" name="矩形 244">
                <a:extLst>
                  <a:ext uri="{FF2B5EF4-FFF2-40B4-BE49-F238E27FC236}">
                    <a16:creationId xmlns:a16="http://schemas.microsoft.com/office/drawing/2014/main" id="{1622B2F1-FB45-4B7E-99EE-8846AA507591}"/>
                  </a:ext>
                </a:extLst>
              </p:cNvPr>
              <p:cNvSpPr>
                <a:spLocks noRot="1" noChangeAspect="1" noMove="1" noResize="1" noEditPoints="1" noAdjustHandles="1" noChangeArrowheads="1" noChangeShapeType="1" noTextEdit="1"/>
              </p:cNvSpPr>
              <p:nvPr/>
            </p:nvSpPr>
            <p:spPr>
              <a:xfrm>
                <a:off x="4672093" y="2578587"/>
                <a:ext cx="1872341" cy="395866"/>
              </a:xfrm>
              <a:prstGeom prst="rect">
                <a:avLst/>
              </a:prstGeom>
              <a:blipFill>
                <a:blip r:embed="rId5"/>
                <a:stretch>
                  <a:fillRect/>
                </a:stretch>
              </a:blipFill>
              <a:ln w="12700">
                <a:solidFill>
                  <a:schemeClr val="tx1"/>
                </a:solidFill>
              </a:ln>
            </p:spPr>
            <p:txBody>
              <a:bodyPr/>
              <a:lstStyle/>
              <a:p>
                <a:r>
                  <a:rPr lang="zh-CN" altLang="en-US">
                    <a:noFill/>
                  </a:rPr>
                  <a:t> </a:t>
                </a:r>
              </a:p>
            </p:txBody>
          </p:sp>
        </mc:Fallback>
      </mc:AlternateContent>
      <p:sp>
        <p:nvSpPr>
          <p:cNvPr id="247" name="矩形 246">
            <a:extLst>
              <a:ext uri="{FF2B5EF4-FFF2-40B4-BE49-F238E27FC236}">
                <a16:creationId xmlns:a16="http://schemas.microsoft.com/office/drawing/2014/main" id="{8BB93ABC-5F7F-4346-B73F-F28A895D9E8B}"/>
              </a:ext>
            </a:extLst>
          </p:cNvPr>
          <p:cNvSpPr/>
          <p:nvPr/>
        </p:nvSpPr>
        <p:spPr>
          <a:xfrm>
            <a:off x="6544431" y="2578587"/>
            <a:ext cx="456810" cy="395866"/>
          </a:xfrm>
          <a:prstGeom prst="rect">
            <a:avLst/>
          </a:prstGeom>
          <a:solidFill>
            <a:schemeClr val="accent5">
              <a:lumMod val="20000"/>
              <a:lumOff val="8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249" name="箭头: 下 248">
            <a:extLst>
              <a:ext uri="{FF2B5EF4-FFF2-40B4-BE49-F238E27FC236}">
                <a16:creationId xmlns:a16="http://schemas.microsoft.com/office/drawing/2014/main" id="{1359F28C-38EE-4533-A56B-9BF23E4BAB28}"/>
              </a:ext>
            </a:extLst>
          </p:cNvPr>
          <p:cNvSpPr/>
          <p:nvPr/>
        </p:nvSpPr>
        <p:spPr>
          <a:xfrm>
            <a:off x="4089220" y="3516964"/>
            <a:ext cx="427613" cy="572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0" name="矩形 249">
                <a:extLst>
                  <a:ext uri="{FF2B5EF4-FFF2-40B4-BE49-F238E27FC236}">
                    <a16:creationId xmlns:a16="http://schemas.microsoft.com/office/drawing/2014/main" id="{698F6749-2F5F-4D82-958E-F6BEAA9DE006}"/>
                  </a:ext>
                </a:extLst>
              </p:cNvPr>
              <p:cNvSpPr/>
              <p:nvPr/>
            </p:nvSpPr>
            <p:spPr>
              <a:xfrm>
                <a:off x="1958818" y="4628188"/>
                <a:ext cx="1494400"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tx1"/>
                          </a:solidFill>
                          <a:latin typeface="Cambria Math" panose="02040503050406030204" pitchFamily="18" charset="0"/>
                        </a:rPr>
                        <m:t> </m:t>
                      </m:r>
                      <m:sSub>
                        <m:sSubPr>
                          <m:ctrlPr>
                            <a:rPr lang="en-US" altLang="zh-CN"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0</m:t>
                          </m:r>
                        </m:sub>
                      </m:sSub>
                    </m:oMath>
                  </m:oMathPara>
                </a14:m>
                <a:endParaRPr lang="en-US" altLang="zh-CN" b="0" dirty="0">
                  <a:solidFill>
                    <a:schemeClr val="tx1"/>
                  </a:solidFill>
                </a:endParaRPr>
              </a:p>
            </p:txBody>
          </p:sp>
        </mc:Choice>
        <mc:Fallback xmlns="">
          <p:sp>
            <p:nvSpPr>
              <p:cNvPr id="250" name="矩形 249">
                <a:extLst>
                  <a:ext uri="{FF2B5EF4-FFF2-40B4-BE49-F238E27FC236}">
                    <a16:creationId xmlns:a16="http://schemas.microsoft.com/office/drawing/2014/main" id="{698F6749-2F5F-4D82-958E-F6BEAA9DE006}"/>
                  </a:ext>
                </a:extLst>
              </p:cNvPr>
              <p:cNvSpPr>
                <a:spLocks noRot="1" noChangeAspect="1" noMove="1" noResize="1" noEditPoints="1" noAdjustHandles="1" noChangeArrowheads="1" noChangeShapeType="1" noTextEdit="1"/>
              </p:cNvSpPr>
              <p:nvPr/>
            </p:nvSpPr>
            <p:spPr>
              <a:xfrm>
                <a:off x="1958818" y="4628188"/>
                <a:ext cx="1494400" cy="395866"/>
              </a:xfrm>
              <a:prstGeom prst="rect">
                <a:avLst/>
              </a:prstGeom>
              <a:blipFill>
                <a:blip r:embed="rId6"/>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矩形 250">
                <a:extLst>
                  <a:ext uri="{FF2B5EF4-FFF2-40B4-BE49-F238E27FC236}">
                    <a16:creationId xmlns:a16="http://schemas.microsoft.com/office/drawing/2014/main" id="{96DC108E-02E3-4DAB-88D7-F3379C68B9B8}"/>
                  </a:ext>
                </a:extLst>
              </p:cNvPr>
              <p:cNvSpPr/>
              <p:nvPr/>
            </p:nvSpPr>
            <p:spPr>
              <a:xfrm>
                <a:off x="3453221" y="4628188"/>
                <a:ext cx="1494402"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a:rPr lang="en-US" altLang="zh-CN" b="0" i="0" dirty="0" smtClean="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51" name="矩形 250">
                <a:extLst>
                  <a:ext uri="{FF2B5EF4-FFF2-40B4-BE49-F238E27FC236}">
                    <a16:creationId xmlns:a16="http://schemas.microsoft.com/office/drawing/2014/main" id="{96DC108E-02E3-4DAB-88D7-F3379C68B9B8}"/>
                  </a:ext>
                </a:extLst>
              </p:cNvPr>
              <p:cNvSpPr>
                <a:spLocks noRot="1" noChangeAspect="1" noMove="1" noResize="1" noEditPoints="1" noAdjustHandles="1" noChangeArrowheads="1" noChangeShapeType="1" noTextEdit="1"/>
              </p:cNvSpPr>
              <p:nvPr/>
            </p:nvSpPr>
            <p:spPr>
              <a:xfrm>
                <a:off x="3453221" y="4628188"/>
                <a:ext cx="1494402" cy="395866"/>
              </a:xfrm>
              <a:prstGeom prst="rect">
                <a:avLst/>
              </a:prstGeom>
              <a:blipFill>
                <a:blip r:embed="rId7"/>
                <a:stretch>
                  <a:fillRect/>
                </a:stretch>
              </a:blipFill>
              <a:ln w="12700">
                <a:solidFill>
                  <a:schemeClr val="tx1"/>
                </a:solidFill>
              </a:ln>
            </p:spPr>
            <p:txBody>
              <a:bodyPr/>
              <a:lstStyle/>
              <a:p>
                <a:r>
                  <a:rPr lang="zh-CN" altLang="en-US">
                    <a:noFill/>
                  </a:rPr>
                  <a:t> </a:t>
                </a:r>
              </a:p>
            </p:txBody>
          </p:sp>
        </mc:Fallback>
      </mc:AlternateContent>
      <p:sp>
        <p:nvSpPr>
          <p:cNvPr id="252" name="矩形 251">
            <a:extLst>
              <a:ext uri="{FF2B5EF4-FFF2-40B4-BE49-F238E27FC236}">
                <a16:creationId xmlns:a16="http://schemas.microsoft.com/office/drawing/2014/main" id="{DD46BE5D-F3DD-4975-A477-73EB0EE0F6F1}"/>
              </a:ext>
            </a:extLst>
          </p:cNvPr>
          <p:cNvSpPr/>
          <p:nvPr/>
        </p:nvSpPr>
        <p:spPr>
          <a:xfrm>
            <a:off x="4947623" y="4628188"/>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3" name="直接箭头连接符 252">
            <a:extLst>
              <a:ext uri="{FF2B5EF4-FFF2-40B4-BE49-F238E27FC236}">
                <a16:creationId xmlns:a16="http://schemas.microsoft.com/office/drawing/2014/main" id="{7F665085-A72E-4E58-846E-0B603F5A19A9}"/>
              </a:ext>
            </a:extLst>
          </p:cNvPr>
          <p:cNvCxnSpPr>
            <a:cxnSpLocks/>
          </p:cNvCxnSpPr>
          <p:nvPr/>
        </p:nvCxnSpPr>
        <p:spPr>
          <a:xfrm>
            <a:off x="1958818" y="4511037"/>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4" name="文本框 253">
                <a:extLst>
                  <a:ext uri="{FF2B5EF4-FFF2-40B4-BE49-F238E27FC236}">
                    <a16:creationId xmlns:a16="http://schemas.microsoft.com/office/drawing/2014/main" id="{49E11B04-BE1B-46EE-939C-7782A57E8798}"/>
                  </a:ext>
                </a:extLst>
              </p:cNvPr>
              <p:cNvSpPr txBox="1"/>
              <p:nvPr/>
            </p:nvSpPr>
            <p:spPr>
              <a:xfrm>
                <a:off x="2056286" y="4176070"/>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4" name="文本框 253">
                <a:extLst>
                  <a:ext uri="{FF2B5EF4-FFF2-40B4-BE49-F238E27FC236}">
                    <a16:creationId xmlns:a16="http://schemas.microsoft.com/office/drawing/2014/main" id="{49E11B04-BE1B-46EE-939C-7782A57E8798}"/>
                  </a:ext>
                </a:extLst>
              </p:cNvPr>
              <p:cNvSpPr txBox="1">
                <a:spLocks noRot="1" noChangeAspect="1" noMove="1" noResize="1" noEditPoints="1" noAdjustHandles="1" noChangeArrowheads="1" noChangeShapeType="1" noTextEdit="1"/>
              </p:cNvSpPr>
              <p:nvPr/>
            </p:nvSpPr>
            <p:spPr>
              <a:xfrm>
                <a:off x="2056286" y="4176070"/>
                <a:ext cx="1279036" cy="369332"/>
              </a:xfrm>
              <a:prstGeom prst="rect">
                <a:avLst/>
              </a:prstGeom>
              <a:blipFill>
                <a:blip r:embed="rId8"/>
                <a:stretch>
                  <a:fillRect/>
                </a:stretch>
              </a:blipFill>
            </p:spPr>
            <p:txBody>
              <a:bodyPr/>
              <a:lstStyle/>
              <a:p>
                <a:r>
                  <a:rPr lang="zh-CN" altLang="en-US">
                    <a:noFill/>
                  </a:rPr>
                  <a:t> </a:t>
                </a:r>
              </a:p>
            </p:txBody>
          </p:sp>
        </mc:Fallback>
      </mc:AlternateContent>
      <p:cxnSp>
        <p:nvCxnSpPr>
          <p:cNvPr id="255" name="直接箭头连接符 254">
            <a:extLst>
              <a:ext uri="{FF2B5EF4-FFF2-40B4-BE49-F238E27FC236}">
                <a16:creationId xmlns:a16="http://schemas.microsoft.com/office/drawing/2014/main" id="{9DAC82B8-7D2B-4A9D-B08F-ABBAD2A25479}"/>
              </a:ext>
            </a:extLst>
          </p:cNvPr>
          <p:cNvCxnSpPr>
            <a:cxnSpLocks/>
          </p:cNvCxnSpPr>
          <p:nvPr/>
        </p:nvCxnSpPr>
        <p:spPr>
          <a:xfrm>
            <a:off x="3440454" y="4509316"/>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32D08DD5-4DB6-466F-90B0-A5BB5502242B}"/>
                  </a:ext>
                </a:extLst>
              </p:cNvPr>
              <p:cNvSpPr txBox="1"/>
              <p:nvPr/>
            </p:nvSpPr>
            <p:spPr>
              <a:xfrm>
                <a:off x="3537923" y="4174349"/>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6" name="文本框 255">
                <a:extLst>
                  <a:ext uri="{FF2B5EF4-FFF2-40B4-BE49-F238E27FC236}">
                    <a16:creationId xmlns:a16="http://schemas.microsoft.com/office/drawing/2014/main" id="{32D08DD5-4DB6-466F-90B0-A5BB5502242B}"/>
                  </a:ext>
                </a:extLst>
              </p:cNvPr>
              <p:cNvSpPr txBox="1">
                <a:spLocks noRot="1" noChangeAspect="1" noMove="1" noResize="1" noEditPoints="1" noAdjustHandles="1" noChangeArrowheads="1" noChangeShapeType="1" noTextEdit="1"/>
              </p:cNvSpPr>
              <p:nvPr/>
            </p:nvSpPr>
            <p:spPr>
              <a:xfrm>
                <a:off x="3537923" y="4174349"/>
                <a:ext cx="1279036"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7" name="矩形 256">
                <a:extLst>
                  <a:ext uri="{FF2B5EF4-FFF2-40B4-BE49-F238E27FC236}">
                    <a16:creationId xmlns:a16="http://schemas.microsoft.com/office/drawing/2014/main" id="{27BE3475-CA25-4BF1-B8C6-02FDD98DA6C8}"/>
                  </a:ext>
                </a:extLst>
              </p:cNvPr>
              <p:cNvSpPr/>
              <p:nvPr/>
            </p:nvSpPr>
            <p:spPr>
              <a:xfrm>
                <a:off x="5519605" y="4626021"/>
                <a:ext cx="1481636"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0" dirty="0">
                              <a:solidFill>
                                <a:schemeClr val="tx1"/>
                              </a:solidFill>
                              <a:latin typeface="Cambria Math" panose="02040503050406030204" pitchFamily="18" charset="0"/>
                            </a:rPr>
                            <m:t>Y</m:t>
                          </m:r>
                        </m:e>
                        <m:sub>
                          <m:r>
                            <m:rPr>
                              <m:sty m:val="p"/>
                            </m:rPr>
                            <a:rPr lang="en-US" altLang="zh-CN" i="0" dirty="0">
                              <a:solidFill>
                                <a:schemeClr val="tx1"/>
                              </a:solidFill>
                              <a:latin typeface="Cambria Math" panose="02040503050406030204" pitchFamily="18" charset="0"/>
                            </a:rPr>
                            <m:t>N</m:t>
                          </m:r>
                          <m:r>
                            <a:rPr lang="en-US" altLang="zh-CN" i="0" dirty="0">
                              <a:solidFill>
                                <a:schemeClr val="tx1"/>
                              </a:solidFill>
                              <a:latin typeface="Cambria Math" panose="02040503050406030204" pitchFamily="18" charset="0"/>
                            </a:rPr>
                            <m:t>−1</m:t>
                          </m:r>
                        </m:sub>
                      </m:sSub>
                    </m:oMath>
                  </m:oMathPara>
                </a14:m>
                <a:endParaRPr lang="zh-CN" alt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57" name="矩形 256">
                <a:extLst>
                  <a:ext uri="{FF2B5EF4-FFF2-40B4-BE49-F238E27FC236}">
                    <a16:creationId xmlns:a16="http://schemas.microsoft.com/office/drawing/2014/main" id="{27BE3475-CA25-4BF1-B8C6-02FDD98DA6C8}"/>
                  </a:ext>
                </a:extLst>
              </p:cNvPr>
              <p:cNvSpPr>
                <a:spLocks noRot="1" noChangeAspect="1" noMove="1" noResize="1" noEditPoints="1" noAdjustHandles="1" noChangeArrowheads="1" noChangeShapeType="1" noTextEdit="1"/>
              </p:cNvSpPr>
              <p:nvPr/>
            </p:nvSpPr>
            <p:spPr>
              <a:xfrm>
                <a:off x="5519605" y="4626021"/>
                <a:ext cx="1481636" cy="395866"/>
              </a:xfrm>
              <a:prstGeom prst="rect">
                <a:avLst/>
              </a:prstGeom>
              <a:blipFill>
                <a:blip r:embed="rId10"/>
                <a:stretch>
                  <a:fillRect/>
                </a:stretch>
              </a:blipFill>
              <a:ln w="12700">
                <a:solidFill>
                  <a:schemeClr val="tx1"/>
                </a:solidFill>
              </a:ln>
            </p:spPr>
            <p:txBody>
              <a:bodyPr/>
              <a:lstStyle/>
              <a:p>
                <a:r>
                  <a:rPr lang="zh-CN" altLang="en-US">
                    <a:noFill/>
                  </a:rPr>
                  <a:t> </a:t>
                </a:r>
              </a:p>
            </p:txBody>
          </p:sp>
        </mc:Fallback>
      </mc:AlternateContent>
      <p:cxnSp>
        <p:nvCxnSpPr>
          <p:cNvPr id="258" name="直接箭头连接符 257">
            <a:extLst>
              <a:ext uri="{FF2B5EF4-FFF2-40B4-BE49-F238E27FC236}">
                <a16:creationId xmlns:a16="http://schemas.microsoft.com/office/drawing/2014/main" id="{1724E1A1-6AA8-4372-B000-E777C7223AE1}"/>
              </a:ext>
            </a:extLst>
          </p:cNvPr>
          <p:cNvCxnSpPr>
            <a:cxnSpLocks/>
          </p:cNvCxnSpPr>
          <p:nvPr/>
        </p:nvCxnSpPr>
        <p:spPr>
          <a:xfrm>
            <a:off x="5499191" y="4509316"/>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9E1735C4-8804-4080-A633-E8ACBBE6A822}"/>
                  </a:ext>
                </a:extLst>
              </p:cNvPr>
              <p:cNvSpPr txBox="1"/>
              <p:nvPr/>
            </p:nvSpPr>
            <p:spPr>
              <a:xfrm>
                <a:off x="5596659" y="4174349"/>
                <a:ext cx="12790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0" dirty="0" smtClean="0">
                          <a:latin typeface="Cambria Math" panose="02040503050406030204" pitchFamily="18" charset="0"/>
                        </a:rPr>
                        <m:t>512</m:t>
                      </m:r>
                      <m:r>
                        <a:rPr lang="en-US" altLang="zh-CN" i="0" dirty="0" smtClean="0">
                          <a:latin typeface="Cambria Math" panose="02040503050406030204" pitchFamily="18" charset="0"/>
                          <a:cs typeface="Times New Roman" panose="02020603050405020304" pitchFamily="18" charset="0"/>
                        </a:rPr>
                        <m:t> </m:t>
                      </m:r>
                      <m:r>
                        <m:rPr>
                          <m:sty m:val="p"/>
                        </m:rPr>
                        <a:rPr lang="en-US" altLang="zh-CN" i="0" dirty="0" smtClean="0">
                          <a:latin typeface="Cambria Math" panose="02040503050406030204" pitchFamily="18" charset="0"/>
                          <a:cs typeface="Times New Roman" panose="02020603050405020304" pitchFamily="18" charset="0"/>
                        </a:rPr>
                        <m:t>bits</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9" name="文本框 258">
                <a:extLst>
                  <a:ext uri="{FF2B5EF4-FFF2-40B4-BE49-F238E27FC236}">
                    <a16:creationId xmlns:a16="http://schemas.microsoft.com/office/drawing/2014/main" id="{9E1735C4-8804-4080-A633-E8ACBBE6A822}"/>
                  </a:ext>
                </a:extLst>
              </p:cNvPr>
              <p:cNvSpPr txBox="1">
                <a:spLocks noRot="1" noChangeAspect="1" noMove="1" noResize="1" noEditPoints="1" noAdjustHandles="1" noChangeArrowheads="1" noChangeShapeType="1" noTextEdit="1"/>
              </p:cNvSpPr>
              <p:nvPr/>
            </p:nvSpPr>
            <p:spPr>
              <a:xfrm>
                <a:off x="5596659" y="4174349"/>
                <a:ext cx="1279036" cy="369332"/>
              </a:xfrm>
              <a:prstGeom prst="rect">
                <a:avLst/>
              </a:prstGeom>
              <a:blipFill>
                <a:blip r:embed="rId11"/>
                <a:stretch>
                  <a:fillRect/>
                </a:stretch>
              </a:blipFill>
            </p:spPr>
            <p:txBody>
              <a:bodyPr/>
              <a:lstStyle/>
              <a:p>
                <a:r>
                  <a:rPr lang="zh-CN" altLang="en-US">
                    <a:noFill/>
                  </a:rPr>
                  <a:t> </a:t>
                </a:r>
              </a:p>
            </p:txBody>
          </p:sp>
        </mc:Fallback>
      </mc:AlternateContent>
      <p:cxnSp>
        <p:nvCxnSpPr>
          <p:cNvPr id="260" name="直接箭头连接符 259">
            <a:extLst>
              <a:ext uri="{FF2B5EF4-FFF2-40B4-BE49-F238E27FC236}">
                <a16:creationId xmlns:a16="http://schemas.microsoft.com/office/drawing/2014/main" id="{9C32DC0E-2053-4739-99B9-223E0CD7FF92}"/>
              </a:ext>
            </a:extLst>
          </p:cNvPr>
          <p:cNvCxnSpPr>
            <a:cxnSpLocks/>
            <a:stCxn id="250" idx="2"/>
            <a:endCxn id="269" idx="0"/>
          </p:cNvCxnSpPr>
          <p:nvPr/>
        </p:nvCxnSpPr>
        <p:spPr>
          <a:xfrm flipH="1">
            <a:off x="2705062" y="5024054"/>
            <a:ext cx="956" cy="6740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2" name="直接箭头连接符 261">
            <a:extLst>
              <a:ext uri="{FF2B5EF4-FFF2-40B4-BE49-F238E27FC236}">
                <a16:creationId xmlns:a16="http://schemas.microsoft.com/office/drawing/2014/main" id="{1E73AB4E-851B-4350-B2A9-13CA649ABBE6}"/>
              </a:ext>
            </a:extLst>
          </p:cNvPr>
          <p:cNvCxnSpPr>
            <a:cxnSpLocks/>
            <a:stCxn id="251" idx="2"/>
            <a:endCxn id="276" idx="0"/>
          </p:cNvCxnSpPr>
          <p:nvPr/>
        </p:nvCxnSpPr>
        <p:spPr>
          <a:xfrm>
            <a:off x="4200422" y="5024054"/>
            <a:ext cx="6178" cy="670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4" name="直接箭头连接符 263">
            <a:extLst>
              <a:ext uri="{FF2B5EF4-FFF2-40B4-BE49-F238E27FC236}">
                <a16:creationId xmlns:a16="http://schemas.microsoft.com/office/drawing/2014/main" id="{DBAB480A-96AE-4FFB-9BC1-076502185A65}"/>
              </a:ext>
            </a:extLst>
          </p:cNvPr>
          <p:cNvCxnSpPr>
            <a:cxnSpLocks/>
            <a:stCxn id="257" idx="2"/>
            <a:endCxn id="277" idx="0"/>
          </p:cNvCxnSpPr>
          <p:nvPr/>
        </p:nvCxnSpPr>
        <p:spPr>
          <a:xfrm>
            <a:off x="6260423" y="5021887"/>
            <a:ext cx="17481" cy="6765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9" name="矩形 268">
                <a:extLst>
                  <a:ext uri="{FF2B5EF4-FFF2-40B4-BE49-F238E27FC236}">
                    <a16:creationId xmlns:a16="http://schemas.microsoft.com/office/drawing/2014/main" id="{91CE2E41-4D19-4FB5-AEC9-0C55596E862D}"/>
                  </a:ext>
                </a:extLst>
              </p:cNvPr>
              <p:cNvSpPr/>
              <p:nvPr/>
            </p:nvSpPr>
            <p:spPr>
              <a:xfrm>
                <a:off x="2336070" y="5698103"/>
                <a:ext cx="737984"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i="1" dirty="0">
                  <a:solidFill>
                    <a:schemeClr val="bg1"/>
                  </a:solidFill>
                </a:endParaRPr>
              </a:p>
            </p:txBody>
          </p:sp>
        </mc:Choice>
        <mc:Fallback xmlns="">
          <p:sp>
            <p:nvSpPr>
              <p:cNvPr id="269" name="矩形 268">
                <a:extLst>
                  <a:ext uri="{FF2B5EF4-FFF2-40B4-BE49-F238E27FC236}">
                    <a16:creationId xmlns:a16="http://schemas.microsoft.com/office/drawing/2014/main" id="{91CE2E41-4D19-4FB5-AEC9-0C55596E862D}"/>
                  </a:ext>
                </a:extLst>
              </p:cNvPr>
              <p:cNvSpPr>
                <a:spLocks noRot="1" noChangeAspect="1" noMove="1" noResize="1" noEditPoints="1" noAdjustHandles="1" noChangeArrowheads="1" noChangeShapeType="1" noTextEdit="1"/>
              </p:cNvSpPr>
              <p:nvPr/>
            </p:nvSpPr>
            <p:spPr>
              <a:xfrm>
                <a:off x="2336070" y="5698103"/>
                <a:ext cx="737984" cy="395866"/>
              </a:xfrm>
              <a:prstGeom prst="rect">
                <a:avLst/>
              </a:prstGeom>
              <a:blipFill>
                <a:blip r:embed="rId15"/>
                <a:stretch>
                  <a:fillRect b="-8955"/>
                </a:stretch>
              </a:blipFill>
              <a:ln>
                <a:headEnd type="none" w="med" len="med"/>
                <a:tailEnd type="none" w="med" len="med"/>
              </a:ln>
            </p:spPr>
            <p:txBody>
              <a:bodyPr/>
              <a:lstStyle/>
              <a:p>
                <a:r>
                  <a:rPr lang="zh-CN" altLang="en-US">
                    <a:noFill/>
                  </a:rPr>
                  <a:t> </a:t>
                </a:r>
              </a:p>
            </p:txBody>
          </p:sp>
        </mc:Fallback>
      </mc:AlternateContent>
      <p:cxnSp>
        <p:nvCxnSpPr>
          <p:cNvPr id="270" name="直接箭头连接符 269">
            <a:extLst>
              <a:ext uri="{FF2B5EF4-FFF2-40B4-BE49-F238E27FC236}">
                <a16:creationId xmlns:a16="http://schemas.microsoft.com/office/drawing/2014/main" id="{5261C443-E182-4C08-BDB9-652A17944EC4}"/>
              </a:ext>
            </a:extLst>
          </p:cNvPr>
          <p:cNvCxnSpPr>
            <a:cxnSpLocks/>
            <a:endCxn id="269" idx="1"/>
          </p:cNvCxnSpPr>
          <p:nvPr/>
        </p:nvCxnSpPr>
        <p:spPr>
          <a:xfrm>
            <a:off x="1415054" y="5896036"/>
            <a:ext cx="92101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1" name="直接连接符 270">
            <a:extLst>
              <a:ext uri="{FF2B5EF4-FFF2-40B4-BE49-F238E27FC236}">
                <a16:creationId xmlns:a16="http://schemas.microsoft.com/office/drawing/2014/main" id="{2ADDC384-7315-4103-B1F4-8D8993306CB9}"/>
              </a:ext>
            </a:extLst>
          </p:cNvPr>
          <p:cNvCxnSpPr>
            <a:cxnSpLocks/>
          </p:cNvCxnSpPr>
          <p:nvPr/>
        </p:nvCxnSpPr>
        <p:spPr>
          <a:xfrm>
            <a:off x="1758737" y="5835974"/>
            <a:ext cx="127216" cy="14553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2" name="文本框 271">
                <a:extLst>
                  <a:ext uri="{FF2B5EF4-FFF2-40B4-BE49-F238E27FC236}">
                    <a16:creationId xmlns:a16="http://schemas.microsoft.com/office/drawing/2014/main" id="{91D1C033-48B6-426D-91A6-AC6726B59AD9}"/>
                  </a:ext>
                </a:extLst>
              </p:cNvPr>
              <p:cNvSpPr txBox="1"/>
              <p:nvPr/>
            </p:nvSpPr>
            <p:spPr>
              <a:xfrm>
                <a:off x="269812" y="5705160"/>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𝑎</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𝑏</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𝑐</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𝑑</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𝑒</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72" name="文本框 271">
                <a:extLst>
                  <a:ext uri="{FF2B5EF4-FFF2-40B4-BE49-F238E27FC236}">
                    <a16:creationId xmlns:a16="http://schemas.microsoft.com/office/drawing/2014/main" id="{91D1C033-48B6-426D-91A6-AC6726B59AD9}"/>
                  </a:ext>
                </a:extLst>
              </p:cNvPr>
              <p:cNvSpPr txBox="1">
                <a:spLocks noRot="1" noChangeAspect="1" noMove="1" noResize="1" noEditPoints="1" noAdjustHandles="1" noChangeArrowheads="1" noChangeShapeType="1" noTextEdit="1"/>
              </p:cNvSpPr>
              <p:nvPr/>
            </p:nvSpPr>
            <p:spPr>
              <a:xfrm>
                <a:off x="269812" y="5705160"/>
                <a:ext cx="686503" cy="369332"/>
              </a:xfrm>
              <a:prstGeom prst="rect">
                <a:avLst/>
              </a:prstGeom>
              <a:blipFill>
                <a:blip r:embed="rId16"/>
                <a:stretch>
                  <a:fillRect r="-628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3" name="文本框 272">
                <a:extLst>
                  <a:ext uri="{FF2B5EF4-FFF2-40B4-BE49-F238E27FC236}">
                    <a16:creationId xmlns:a16="http://schemas.microsoft.com/office/drawing/2014/main" id="{7AFE6AF4-3D42-45AD-9160-83D2D134EDD6}"/>
                  </a:ext>
                </a:extLst>
              </p:cNvPr>
              <p:cNvSpPr txBox="1"/>
              <p:nvPr/>
            </p:nvSpPr>
            <p:spPr>
              <a:xfrm>
                <a:off x="1423547" y="5498150"/>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160</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73" name="文本框 272">
                <a:extLst>
                  <a:ext uri="{FF2B5EF4-FFF2-40B4-BE49-F238E27FC236}">
                    <a16:creationId xmlns:a16="http://schemas.microsoft.com/office/drawing/2014/main" id="{7AFE6AF4-3D42-45AD-9160-83D2D134EDD6}"/>
                  </a:ext>
                </a:extLst>
              </p:cNvPr>
              <p:cNvSpPr txBox="1">
                <a:spLocks noRot="1" noChangeAspect="1" noMove="1" noResize="1" noEditPoints="1" noAdjustHandles="1" noChangeArrowheads="1" noChangeShapeType="1" noTextEdit="1"/>
              </p:cNvSpPr>
              <p:nvPr/>
            </p:nvSpPr>
            <p:spPr>
              <a:xfrm>
                <a:off x="1423547" y="5498150"/>
                <a:ext cx="686503" cy="338554"/>
              </a:xfrm>
              <a:prstGeom prst="rect">
                <a:avLst/>
              </a:prstGeom>
              <a:blipFill>
                <a:blip r:embed="rId17"/>
                <a:stretch>
                  <a:fillRect/>
                </a:stretch>
              </a:blipFill>
            </p:spPr>
            <p:txBody>
              <a:bodyPr/>
              <a:lstStyle/>
              <a:p>
                <a:r>
                  <a:rPr lang="zh-CN" altLang="en-US">
                    <a:noFill/>
                  </a:rPr>
                  <a:t> </a:t>
                </a:r>
              </a:p>
            </p:txBody>
          </p:sp>
        </mc:Fallback>
      </mc:AlternateContent>
      <p:cxnSp>
        <p:nvCxnSpPr>
          <p:cNvPr id="274" name="直接箭头连接符 273">
            <a:extLst>
              <a:ext uri="{FF2B5EF4-FFF2-40B4-BE49-F238E27FC236}">
                <a16:creationId xmlns:a16="http://schemas.microsoft.com/office/drawing/2014/main" id="{08CBF504-FA9E-4C94-8CC6-AD0201286B8E}"/>
              </a:ext>
            </a:extLst>
          </p:cNvPr>
          <p:cNvCxnSpPr>
            <a:cxnSpLocks/>
            <a:stCxn id="269" idx="3"/>
            <a:endCxn id="276" idx="1"/>
          </p:cNvCxnSpPr>
          <p:nvPr/>
        </p:nvCxnSpPr>
        <p:spPr>
          <a:xfrm flipV="1">
            <a:off x="3074054" y="5892060"/>
            <a:ext cx="774682"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5" name="直接连接符 274">
            <a:extLst>
              <a:ext uri="{FF2B5EF4-FFF2-40B4-BE49-F238E27FC236}">
                <a16:creationId xmlns:a16="http://schemas.microsoft.com/office/drawing/2014/main" id="{2F895FE4-3AA6-4BB7-B637-496EE1E4FC00}"/>
              </a:ext>
            </a:extLst>
          </p:cNvPr>
          <p:cNvCxnSpPr>
            <a:cxnSpLocks/>
          </p:cNvCxnSpPr>
          <p:nvPr/>
        </p:nvCxnSpPr>
        <p:spPr>
          <a:xfrm>
            <a:off x="3440456" y="5835976"/>
            <a:ext cx="107208" cy="145526"/>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6" name="矩形 275">
                <a:extLst>
                  <a:ext uri="{FF2B5EF4-FFF2-40B4-BE49-F238E27FC236}">
                    <a16:creationId xmlns:a16="http://schemas.microsoft.com/office/drawing/2014/main" id="{8B4894C7-0240-4A0B-B0CF-BC08315A4B49}"/>
                  </a:ext>
                </a:extLst>
              </p:cNvPr>
              <p:cNvSpPr/>
              <p:nvPr/>
            </p:nvSpPr>
            <p:spPr>
              <a:xfrm>
                <a:off x="3848736" y="5694127"/>
                <a:ext cx="715728"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i="1" dirty="0">
                  <a:solidFill>
                    <a:schemeClr val="bg1"/>
                  </a:solidFill>
                </a:endParaRPr>
              </a:p>
            </p:txBody>
          </p:sp>
        </mc:Choice>
        <mc:Fallback xmlns="">
          <p:sp>
            <p:nvSpPr>
              <p:cNvPr id="276" name="矩形 275">
                <a:extLst>
                  <a:ext uri="{FF2B5EF4-FFF2-40B4-BE49-F238E27FC236}">
                    <a16:creationId xmlns:a16="http://schemas.microsoft.com/office/drawing/2014/main" id="{8B4894C7-0240-4A0B-B0CF-BC08315A4B49}"/>
                  </a:ext>
                </a:extLst>
              </p:cNvPr>
              <p:cNvSpPr>
                <a:spLocks noRot="1" noChangeAspect="1" noMove="1" noResize="1" noEditPoints="1" noAdjustHandles="1" noChangeArrowheads="1" noChangeShapeType="1" noTextEdit="1"/>
              </p:cNvSpPr>
              <p:nvPr/>
            </p:nvSpPr>
            <p:spPr>
              <a:xfrm>
                <a:off x="3848736" y="5694127"/>
                <a:ext cx="715728" cy="395866"/>
              </a:xfrm>
              <a:prstGeom prst="rect">
                <a:avLst/>
              </a:prstGeom>
              <a:blipFill>
                <a:blip r:embed="rId18"/>
                <a:stretch>
                  <a:fillRect b="-8955"/>
                </a:stretch>
              </a:blipFill>
              <a:ln>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7" name="矩形 276">
                <a:extLst>
                  <a:ext uri="{FF2B5EF4-FFF2-40B4-BE49-F238E27FC236}">
                    <a16:creationId xmlns:a16="http://schemas.microsoft.com/office/drawing/2014/main" id="{9EE734CC-72AE-4AFC-911C-06F6058615E4}"/>
                  </a:ext>
                </a:extLst>
              </p:cNvPr>
              <p:cNvSpPr/>
              <p:nvPr/>
            </p:nvSpPr>
            <p:spPr>
              <a:xfrm>
                <a:off x="5924369" y="5698422"/>
                <a:ext cx="707069" cy="395866"/>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0" dirty="0" smtClean="0">
                          <a:solidFill>
                            <a:schemeClr val="bg1"/>
                          </a:solidFill>
                          <a:latin typeface="Cambria Math" panose="02040503050406030204" pitchFamily="18" charset="0"/>
                        </a:rPr>
                        <m:t> </m:t>
                      </m:r>
                      <m:r>
                        <a:rPr lang="en-US" altLang="zh-CN" b="0" i="1" dirty="0" smtClean="0">
                          <a:solidFill>
                            <a:schemeClr val="bg1"/>
                          </a:solidFill>
                          <a:latin typeface="Cambria Math" panose="02040503050406030204" pitchFamily="18" charset="0"/>
                        </a:rPr>
                        <m:t>𝑓</m:t>
                      </m:r>
                    </m:oMath>
                  </m:oMathPara>
                </a14:m>
                <a:endParaRPr lang="en-US" altLang="zh-CN" b="0" dirty="0">
                  <a:solidFill>
                    <a:schemeClr val="bg1"/>
                  </a:solidFill>
                </a:endParaRPr>
              </a:p>
            </p:txBody>
          </p:sp>
        </mc:Choice>
        <mc:Fallback xmlns="">
          <p:sp>
            <p:nvSpPr>
              <p:cNvPr id="277" name="矩形 276">
                <a:extLst>
                  <a:ext uri="{FF2B5EF4-FFF2-40B4-BE49-F238E27FC236}">
                    <a16:creationId xmlns:a16="http://schemas.microsoft.com/office/drawing/2014/main" id="{9EE734CC-72AE-4AFC-911C-06F6058615E4}"/>
                  </a:ext>
                </a:extLst>
              </p:cNvPr>
              <p:cNvSpPr>
                <a:spLocks noRot="1" noChangeAspect="1" noMove="1" noResize="1" noEditPoints="1" noAdjustHandles="1" noChangeArrowheads="1" noChangeShapeType="1" noTextEdit="1"/>
              </p:cNvSpPr>
              <p:nvPr/>
            </p:nvSpPr>
            <p:spPr>
              <a:xfrm>
                <a:off x="5924369" y="5698422"/>
                <a:ext cx="707069" cy="395866"/>
              </a:xfrm>
              <a:prstGeom prst="rect">
                <a:avLst/>
              </a:prstGeom>
              <a:blipFill>
                <a:blip r:embed="rId19"/>
                <a:stretch>
                  <a:fillRect b="-8955"/>
                </a:stretch>
              </a:blipFill>
              <a:ln>
                <a:headEnd type="none" w="med" len="med"/>
                <a:tailEnd type="none" w="med" len="med"/>
              </a:ln>
            </p:spPr>
            <p:txBody>
              <a:bodyPr/>
              <a:lstStyle/>
              <a:p>
                <a:r>
                  <a:rPr lang="zh-CN" altLang="en-US">
                    <a:noFill/>
                  </a:rPr>
                  <a:t> </a:t>
                </a:r>
              </a:p>
            </p:txBody>
          </p:sp>
        </mc:Fallback>
      </mc:AlternateContent>
      <p:cxnSp>
        <p:nvCxnSpPr>
          <p:cNvPr id="278" name="直接箭头连接符 277">
            <a:extLst>
              <a:ext uri="{FF2B5EF4-FFF2-40B4-BE49-F238E27FC236}">
                <a16:creationId xmlns:a16="http://schemas.microsoft.com/office/drawing/2014/main" id="{4138AB7B-C7CC-48E9-8498-FFB312EB5B92}"/>
              </a:ext>
            </a:extLst>
          </p:cNvPr>
          <p:cNvCxnSpPr>
            <a:cxnSpLocks/>
          </p:cNvCxnSpPr>
          <p:nvPr/>
        </p:nvCxnSpPr>
        <p:spPr>
          <a:xfrm flipV="1">
            <a:off x="5234235" y="5875778"/>
            <a:ext cx="651085"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9" name="直接连接符 278">
            <a:extLst>
              <a:ext uri="{FF2B5EF4-FFF2-40B4-BE49-F238E27FC236}">
                <a16:creationId xmlns:a16="http://schemas.microsoft.com/office/drawing/2014/main" id="{3246AEB4-A245-4B7D-9882-C5686D52F44B}"/>
              </a:ext>
            </a:extLst>
          </p:cNvPr>
          <p:cNvCxnSpPr>
            <a:cxnSpLocks/>
          </p:cNvCxnSpPr>
          <p:nvPr/>
        </p:nvCxnSpPr>
        <p:spPr>
          <a:xfrm>
            <a:off x="5468585" y="5829459"/>
            <a:ext cx="128074" cy="94893"/>
          </a:xfrm>
          <a:prstGeom prst="line">
            <a:avLst/>
          </a:prstGeom>
        </p:spPr>
        <p:style>
          <a:lnRef idx="2">
            <a:schemeClr val="dk1"/>
          </a:lnRef>
          <a:fillRef idx="0">
            <a:schemeClr val="dk1"/>
          </a:fillRef>
          <a:effectRef idx="1">
            <a:schemeClr val="dk1"/>
          </a:effectRef>
          <a:fontRef idx="minor">
            <a:schemeClr val="tx1"/>
          </a:fontRef>
        </p:style>
      </p:cxnSp>
      <p:sp>
        <p:nvSpPr>
          <p:cNvPr id="280" name="矩形 279">
            <a:extLst>
              <a:ext uri="{FF2B5EF4-FFF2-40B4-BE49-F238E27FC236}">
                <a16:creationId xmlns:a16="http://schemas.microsoft.com/office/drawing/2014/main" id="{96D9D4E2-ADFC-41C7-8166-31DB4EBFECBC}"/>
              </a:ext>
            </a:extLst>
          </p:cNvPr>
          <p:cNvSpPr/>
          <p:nvPr/>
        </p:nvSpPr>
        <p:spPr>
          <a:xfrm>
            <a:off x="4683700" y="5678626"/>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1" name="文本框 280">
                <a:extLst>
                  <a:ext uri="{FF2B5EF4-FFF2-40B4-BE49-F238E27FC236}">
                    <a16:creationId xmlns:a16="http://schemas.microsoft.com/office/drawing/2014/main" id="{87829160-04C3-40D3-85DA-04D1C5054445}"/>
                  </a:ext>
                </a:extLst>
              </p:cNvPr>
              <p:cNvSpPr txBox="1"/>
              <p:nvPr/>
            </p:nvSpPr>
            <p:spPr>
              <a:xfrm>
                <a:off x="3088453" y="5448011"/>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160</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1" name="文本框 280">
                <a:extLst>
                  <a:ext uri="{FF2B5EF4-FFF2-40B4-BE49-F238E27FC236}">
                    <a16:creationId xmlns:a16="http://schemas.microsoft.com/office/drawing/2014/main" id="{87829160-04C3-40D3-85DA-04D1C5054445}"/>
                  </a:ext>
                </a:extLst>
              </p:cNvPr>
              <p:cNvSpPr txBox="1">
                <a:spLocks noRot="1" noChangeAspect="1" noMove="1" noResize="1" noEditPoints="1" noAdjustHandles="1" noChangeArrowheads="1" noChangeShapeType="1" noTextEdit="1"/>
              </p:cNvSpPr>
              <p:nvPr/>
            </p:nvSpPr>
            <p:spPr>
              <a:xfrm>
                <a:off x="3088453" y="5448011"/>
                <a:ext cx="686503" cy="338554"/>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2" name="文本框 281">
                <a:extLst>
                  <a:ext uri="{FF2B5EF4-FFF2-40B4-BE49-F238E27FC236}">
                    <a16:creationId xmlns:a16="http://schemas.microsoft.com/office/drawing/2014/main" id="{E60A11FF-3BFE-4140-9F25-2AD798CA95FF}"/>
                  </a:ext>
                </a:extLst>
              </p:cNvPr>
              <p:cNvSpPr txBox="1"/>
              <p:nvPr/>
            </p:nvSpPr>
            <p:spPr>
              <a:xfrm>
                <a:off x="5125333" y="5478205"/>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160</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2" name="文本框 281">
                <a:extLst>
                  <a:ext uri="{FF2B5EF4-FFF2-40B4-BE49-F238E27FC236}">
                    <a16:creationId xmlns:a16="http://schemas.microsoft.com/office/drawing/2014/main" id="{E60A11FF-3BFE-4140-9F25-2AD798CA95FF}"/>
                  </a:ext>
                </a:extLst>
              </p:cNvPr>
              <p:cNvSpPr txBox="1">
                <a:spLocks noRot="1" noChangeAspect="1" noMove="1" noResize="1" noEditPoints="1" noAdjustHandles="1" noChangeArrowheads="1" noChangeShapeType="1" noTextEdit="1"/>
              </p:cNvSpPr>
              <p:nvPr/>
            </p:nvSpPr>
            <p:spPr>
              <a:xfrm>
                <a:off x="5125333" y="5478205"/>
                <a:ext cx="686503" cy="338554"/>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 name="文本框 282">
                <a:extLst>
                  <a:ext uri="{FF2B5EF4-FFF2-40B4-BE49-F238E27FC236}">
                    <a16:creationId xmlns:a16="http://schemas.microsoft.com/office/drawing/2014/main" id="{E651828A-F8DA-4120-B564-F6E92AF9B187}"/>
                  </a:ext>
                </a:extLst>
              </p:cNvPr>
              <p:cNvSpPr txBox="1"/>
              <p:nvPr/>
            </p:nvSpPr>
            <p:spPr>
              <a:xfrm>
                <a:off x="3110037" y="6036796"/>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dirty="0" smtClean="0">
                              <a:latin typeface="Cambria Math" panose="02040503050406030204" pitchFamily="18" charset="0"/>
                            </a:rPr>
                            <m:t>C</m:t>
                          </m:r>
                          <m:r>
                            <m:rPr>
                              <m:sty m:val="p"/>
                            </m:rPr>
                            <a:rPr lang="en-US" altLang="zh-CN" b="0" i="0" dirty="0" smtClean="0">
                              <a:latin typeface="Cambria Math" panose="02040503050406030204" pitchFamily="18" charset="0"/>
                            </a:rPr>
                            <m:t>V</m:t>
                          </m:r>
                        </m:e>
                        <m:sub>
                          <m:r>
                            <a:rPr lang="en-US" altLang="zh-CN" b="0" i="0" dirty="0" smtClean="0">
                              <a:latin typeface="Cambria Math" panose="02040503050406030204" pitchFamily="18" charset="0"/>
                            </a:rPr>
                            <m:t>1</m:t>
                          </m:r>
                        </m:sub>
                      </m:sSub>
                    </m:oMath>
                  </m:oMathPara>
                </a14:m>
                <a:endParaRPr lang="en-US" altLang="zh-CN" b="0" dirty="0">
                  <a:latin typeface="Times New Roman" panose="02020603050405020304" pitchFamily="18" charset="0"/>
                </a:endParaRPr>
              </a:p>
            </p:txBody>
          </p:sp>
        </mc:Choice>
        <mc:Fallback xmlns="">
          <p:sp>
            <p:nvSpPr>
              <p:cNvPr id="283" name="文本框 282">
                <a:extLst>
                  <a:ext uri="{FF2B5EF4-FFF2-40B4-BE49-F238E27FC236}">
                    <a16:creationId xmlns:a16="http://schemas.microsoft.com/office/drawing/2014/main" id="{E651828A-F8DA-4120-B564-F6E92AF9B187}"/>
                  </a:ext>
                </a:extLst>
              </p:cNvPr>
              <p:cNvSpPr txBox="1">
                <a:spLocks noRot="1" noChangeAspect="1" noMove="1" noResize="1" noEditPoints="1" noAdjustHandles="1" noChangeArrowheads="1" noChangeShapeType="1" noTextEdit="1"/>
              </p:cNvSpPr>
              <p:nvPr/>
            </p:nvSpPr>
            <p:spPr>
              <a:xfrm>
                <a:off x="3110037" y="6036796"/>
                <a:ext cx="686503"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4" name="文本框 283">
                <a:extLst>
                  <a:ext uri="{FF2B5EF4-FFF2-40B4-BE49-F238E27FC236}">
                    <a16:creationId xmlns:a16="http://schemas.microsoft.com/office/drawing/2014/main" id="{97B14BD5-7D25-4935-BE39-B62545D5EC76}"/>
                  </a:ext>
                </a:extLst>
              </p:cNvPr>
              <p:cNvSpPr txBox="1"/>
              <p:nvPr/>
            </p:nvSpPr>
            <p:spPr>
              <a:xfrm>
                <a:off x="5026202" y="6032463"/>
                <a:ext cx="6865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dirty="0" smtClean="0">
                              <a:latin typeface="Cambria Math" panose="02040503050406030204" pitchFamily="18" charset="0"/>
                            </a:rPr>
                            <m:t>C</m:t>
                          </m:r>
                          <m:r>
                            <m:rPr>
                              <m:sty m:val="p"/>
                            </m:rPr>
                            <a:rPr lang="en-US" altLang="zh-CN" b="0" i="0" dirty="0" smtClean="0">
                              <a:latin typeface="Cambria Math" panose="02040503050406030204" pitchFamily="18" charset="0"/>
                            </a:rPr>
                            <m:t>V</m:t>
                          </m:r>
                        </m:e>
                        <m:sub>
                          <m:r>
                            <m:rPr>
                              <m:sty m:val="p"/>
                            </m:rPr>
                            <a:rPr lang="en-US" altLang="zh-CN" b="0" i="0" dirty="0" smtClean="0">
                              <a:latin typeface="Cambria Math" panose="02040503050406030204" pitchFamily="18" charset="0"/>
                            </a:rPr>
                            <m:t>N</m:t>
                          </m:r>
                          <m:r>
                            <a:rPr lang="en-US" altLang="zh-CN" b="0" i="0" dirty="0" smtClean="0">
                              <a:latin typeface="Cambria Math" panose="02040503050406030204" pitchFamily="18" charset="0"/>
                            </a:rPr>
                            <m:t>−1</m:t>
                          </m:r>
                        </m:sub>
                      </m:sSub>
                    </m:oMath>
                  </m:oMathPara>
                </a14:m>
                <a:endParaRPr lang="en-US" altLang="zh-CN" b="0" dirty="0">
                  <a:latin typeface="Times New Roman" panose="02020603050405020304" pitchFamily="18" charset="0"/>
                </a:endParaRPr>
              </a:p>
            </p:txBody>
          </p:sp>
        </mc:Choice>
        <mc:Fallback xmlns="">
          <p:sp>
            <p:nvSpPr>
              <p:cNvPr id="284" name="文本框 283">
                <a:extLst>
                  <a:ext uri="{FF2B5EF4-FFF2-40B4-BE49-F238E27FC236}">
                    <a16:creationId xmlns:a16="http://schemas.microsoft.com/office/drawing/2014/main" id="{97B14BD5-7D25-4935-BE39-B62545D5EC76}"/>
                  </a:ext>
                </a:extLst>
              </p:cNvPr>
              <p:cNvSpPr txBox="1">
                <a:spLocks noRot="1" noChangeAspect="1" noMove="1" noResize="1" noEditPoints="1" noAdjustHandles="1" noChangeArrowheads="1" noChangeShapeType="1" noTextEdit="1"/>
              </p:cNvSpPr>
              <p:nvPr/>
            </p:nvSpPr>
            <p:spPr>
              <a:xfrm>
                <a:off x="5026202" y="6032463"/>
                <a:ext cx="686503" cy="369332"/>
              </a:xfrm>
              <a:prstGeom prst="rect">
                <a:avLst/>
              </a:prstGeom>
              <a:blipFill>
                <a:blip r:embed="rId23"/>
                <a:stretch>
                  <a:fillRect r="-8929" b="-1667"/>
                </a:stretch>
              </a:blipFill>
            </p:spPr>
            <p:txBody>
              <a:bodyPr/>
              <a:lstStyle/>
              <a:p>
                <a:r>
                  <a:rPr lang="zh-CN" altLang="en-US">
                    <a:noFill/>
                  </a:rPr>
                  <a:t> </a:t>
                </a:r>
              </a:p>
            </p:txBody>
          </p:sp>
        </mc:Fallback>
      </mc:AlternateContent>
      <p:cxnSp>
        <p:nvCxnSpPr>
          <p:cNvPr id="285" name="直接连接符 284">
            <a:extLst>
              <a:ext uri="{FF2B5EF4-FFF2-40B4-BE49-F238E27FC236}">
                <a16:creationId xmlns:a16="http://schemas.microsoft.com/office/drawing/2014/main" id="{37C62531-2B89-4890-B6B8-9BE3C725C21C}"/>
              </a:ext>
            </a:extLst>
          </p:cNvPr>
          <p:cNvCxnSpPr>
            <a:cxnSpLocks/>
            <a:endCxn id="286" idx="2"/>
          </p:cNvCxnSpPr>
          <p:nvPr/>
        </p:nvCxnSpPr>
        <p:spPr>
          <a:xfrm>
            <a:off x="6946305" y="5828585"/>
            <a:ext cx="80162" cy="45285"/>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6" name="文本框 285">
                <a:extLst>
                  <a:ext uri="{FF2B5EF4-FFF2-40B4-BE49-F238E27FC236}">
                    <a16:creationId xmlns:a16="http://schemas.microsoft.com/office/drawing/2014/main" id="{A9732EC4-CE93-4FC5-807A-32EC869951E6}"/>
                  </a:ext>
                </a:extLst>
              </p:cNvPr>
              <p:cNvSpPr txBox="1"/>
              <p:nvPr/>
            </p:nvSpPr>
            <p:spPr>
              <a:xfrm>
                <a:off x="6683215" y="5535316"/>
                <a:ext cx="686503"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b="0" i="0" dirty="0" smtClean="0">
                          <a:latin typeface="Cambria Math" panose="02040503050406030204" pitchFamily="18" charset="0"/>
                        </a:rPr>
                        <m:t>160</m:t>
                      </m:r>
                    </m:oMath>
                  </m:oMathPara>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286" name="文本框 285">
                <a:extLst>
                  <a:ext uri="{FF2B5EF4-FFF2-40B4-BE49-F238E27FC236}">
                    <a16:creationId xmlns:a16="http://schemas.microsoft.com/office/drawing/2014/main" id="{A9732EC4-CE93-4FC5-807A-32EC869951E6}"/>
                  </a:ext>
                </a:extLst>
              </p:cNvPr>
              <p:cNvSpPr txBox="1">
                <a:spLocks noRot="1" noChangeAspect="1" noMove="1" noResize="1" noEditPoints="1" noAdjustHandles="1" noChangeArrowheads="1" noChangeShapeType="1" noTextEdit="1"/>
              </p:cNvSpPr>
              <p:nvPr/>
            </p:nvSpPr>
            <p:spPr>
              <a:xfrm>
                <a:off x="6683215" y="5535316"/>
                <a:ext cx="686503" cy="338554"/>
              </a:xfrm>
              <a:prstGeom prst="rect">
                <a:avLst/>
              </a:prstGeom>
              <a:blipFill>
                <a:blip r:embed="rId24"/>
                <a:stretch>
                  <a:fillRect/>
                </a:stretch>
              </a:blipFill>
            </p:spPr>
            <p:txBody>
              <a:bodyPr/>
              <a:lstStyle/>
              <a:p>
                <a:r>
                  <a:rPr lang="zh-CN" altLang="en-US">
                    <a:noFill/>
                  </a:rPr>
                  <a:t> </a:t>
                </a:r>
              </a:p>
            </p:txBody>
          </p:sp>
        </mc:Fallback>
      </mc:AlternateContent>
      <p:sp>
        <p:nvSpPr>
          <p:cNvPr id="287" name="文本框 286">
            <a:extLst>
              <a:ext uri="{FF2B5EF4-FFF2-40B4-BE49-F238E27FC236}">
                <a16:creationId xmlns:a16="http://schemas.microsoft.com/office/drawing/2014/main" id="{7E9C5AA6-D016-42A0-9869-6E1965A13639}"/>
              </a:ext>
            </a:extLst>
          </p:cNvPr>
          <p:cNvSpPr txBox="1"/>
          <p:nvPr/>
        </p:nvSpPr>
        <p:spPr>
          <a:xfrm>
            <a:off x="7331315" y="5695390"/>
            <a:ext cx="1542873" cy="38297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SHA-1 </a:t>
            </a:r>
            <a:r>
              <a:rPr lang="zh-CN" altLang="en-US" dirty="0">
                <a:latin typeface="Times New Roman" panose="02020603050405020304" pitchFamily="18" charset="0"/>
                <a:cs typeface="Times New Roman" panose="02020603050405020304" pitchFamily="18" charset="0"/>
              </a:rPr>
              <a:t>值</a:t>
            </a:r>
          </a:p>
        </p:txBody>
      </p:sp>
      <p:cxnSp>
        <p:nvCxnSpPr>
          <p:cNvPr id="288" name="直接箭头连接符 287">
            <a:extLst>
              <a:ext uri="{FF2B5EF4-FFF2-40B4-BE49-F238E27FC236}">
                <a16:creationId xmlns:a16="http://schemas.microsoft.com/office/drawing/2014/main" id="{DCEAA8D7-ADC3-4881-B5CC-5D4D1C148BCA}"/>
              </a:ext>
            </a:extLst>
          </p:cNvPr>
          <p:cNvCxnSpPr>
            <a:cxnSpLocks/>
          </p:cNvCxnSpPr>
          <p:nvPr/>
        </p:nvCxnSpPr>
        <p:spPr>
          <a:xfrm flipV="1">
            <a:off x="6705896" y="5869894"/>
            <a:ext cx="602738" cy="39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9" name="直接箭头连接符 288">
            <a:extLst>
              <a:ext uri="{FF2B5EF4-FFF2-40B4-BE49-F238E27FC236}">
                <a16:creationId xmlns:a16="http://schemas.microsoft.com/office/drawing/2014/main" id="{D5F12CDC-FF9E-4C51-9E72-41725622EC61}"/>
              </a:ext>
            </a:extLst>
          </p:cNvPr>
          <p:cNvCxnSpPr>
            <a:cxnSpLocks/>
          </p:cNvCxnSpPr>
          <p:nvPr/>
        </p:nvCxnSpPr>
        <p:spPr>
          <a:xfrm>
            <a:off x="1792758" y="3380922"/>
            <a:ext cx="520083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90" name="文本框 289">
                <a:extLst>
                  <a:ext uri="{FF2B5EF4-FFF2-40B4-BE49-F238E27FC236}">
                    <a16:creationId xmlns:a16="http://schemas.microsoft.com/office/drawing/2014/main" id="{0A4A49C0-46CB-450C-A0F7-915A05D2F003}"/>
                  </a:ext>
                </a:extLst>
              </p:cNvPr>
              <p:cNvSpPr txBox="1"/>
              <p:nvPr/>
            </p:nvSpPr>
            <p:spPr>
              <a:xfrm>
                <a:off x="3697970" y="3003308"/>
                <a:ext cx="1439291" cy="369332"/>
              </a:xfrm>
              <a:prstGeom prst="rect">
                <a:avLst/>
              </a:prstGeom>
              <a:noFill/>
            </p:spPr>
            <p:txBody>
              <a:bodyPr wrap="none" rtlCol="0">
                <a:spAutoFit/>
              </a:bodyPr>
              <a:lstStyle/>
              <a:p>
                <a14:m>
                  <m:oMath xmlns:m="http://schemas.openxmlformats.org/officeDocument/2006/math">
                    <m:r>
                      <m:rPr>
                        <m:sty m:val="p"/>
                      </m:rPr>
                      <a:rPr lang="en-US" altLang="zh-CN" i="0" dirty="0" smtClean="0">
                        <a:latin typeface="Cambria Math" panose="02040503050406030204" pitchFamily="18" charset="0"/>
                      </a:rPr>
                      <m:t>N</m:t>
                    </m:r>
                    <m:r>
                      <a:rPr lang="en-US" altLang="zh-CN" i="0" dirty="0" smtClean="0">
                        <a:latin typeface="Cambria Math" panose="02040503050406030204" pitchFamily="18" charset="0"/>
                      </a:rPr>
                      <m:t>∗512</m:t>
                    </m:r>
                  </m:oMath>
                </a14:m>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bits</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90" name="文本框 289">
                <a:extLst>
                  <a:ext uri="{FF2B5EF4-FFF2-40B4-BE49-F238E27FC236}">
                    <a16:creationId xmlns:a16="http://schemas.microsoft.com/office/drawing/2014/main" id="{0A4A49C0-46CB-450C-A0F7-915A05D2F003}"/>
                  </a:ext>
                </a:extLst>
              </p:cNvPr>
              <p:cNvSpPr txBox="1">
                <a:spLocks noRot="1" noChangeAspect="1" noMove="1" noResize="1" noEditPoints="1" noAdjustHandles="1" noChangeArrowheads="1" noChangeShapeType="1" noTextEdit="1"/>
              </p:cNvSpPr>
              <p:nvPr/>
            </p:nvSpPr>
            <p:spPr>
              <a:xfrm>
                <a:off x="3697970" y="3003308"/>
                <a:ext cx="1439291" cy="369332"/>
              </a:xfrm>
              <a:prstGeom prst="rect">
                <a:avLst/>
              </a:prstGeom>
              <a:blipFill>
                <a:blip r:embed="rId25"/>
                <a:stretch>
                  <a:fillRect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32941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68</a:t>
            </a:fld>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C1FCDB2-5B04-098B-64DF-890E69C2B296}"/>
                  </a:ext>
                </a:extLst>
              </p:cNvPr>
              <p:cNvSpPr txBox="1"/>
              <p:nvPr/>
            </p:nvSpPr>
            <p:spPr>
              <a:xfrm>
                <a:off x="312517" y="1527533"/>
                <a:ext cx="8479945" cy="4985980"/>
              </a:xfrm>
              <a:prstGeom prst="rect">
                <a:avLst/>
              </a:prstGeom>
              <a:noFill/>
            </p:spPr>
            <p:txBody>
              <a:bodyPr wrap="square" rtlCol="0">
                <a:spAutoFit/>
              </a:bodyPr>
              <a:lstStyle/>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纯强力攻击</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寻找具有给定哈希值的消息的计算困难性为 </a:t>
                </a:r>
                <a14:m>
                  <m:oMath xmlns:m="http://schemas.openxmlformats.org/officeDocument/2006/math">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2</m:t>
                        </m:r>
                      </m:e>
                      <m:sup>
                        <m:r>
                          <a:rPr lang="en-US" altLang="zh-CN" sz="2000" b="0" i="1" dirty="0" smtClean="0">
                            <a:solidFill>
                              <a:srgbClr val="0000FF"/>
                            </a:solidFill>
                            <a:latin typeface="Cambria Math" panose="02040503050406030204" pitchFamily="18" charset="0"/>
                            <a:cs typeface="Times New Roman" panose="02020603050405020304" pitchFamily="18" charset="0"/>
                          </a:rPr>
                          <m:t>160</m:t>
                        </m:r>
                      </m:sup>
                    </m:sSup>
                  </m:oMath>
                </a14:m>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生日攻击</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寻找有相同哈希值的两个消息需要试验 </a:t>
                </a:r>
                <a14:m>
                  <m:oMath xmlns:m="http://schemas.openxmlformats.org/officeDocument/2006/math">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2</m:t>
                        </m:r>
                      </m:e>
                      <m:sup>
                        <m:r>
                          <a:rPr lang="en-US" altLang="zh-CN" sz="2000" b="0" i="1" dirty="0" smtClean="0">
                            <a:solidFill>
                              <a:srgbClr val="0000FF"/>
                            </a:solidFill>
                            <a:latin typeface="Cambria Math" panose="02040503050406030204" pitchFamily="18" charset="0"/>
                            <a:cs typeface="Times New Roman" panose="02020603050405020304" pitchFamily="18" charset="0"/>
                          </a:rPr>
                          <m:t>80</m:t>
                        </m:r>
                      </m:sup>
                    </m:sSup>
                  </m:oMath>
                </a14:m>
                <a:r>
                  <a:rPr lang="zh-CN" altLang="en-US" sz="2000" dirty="0">
                    <a:latin typeface="Times New Roman" panose="02020603050405020304" pitchFamily="18" charset="0"/>
                    <a:cs typeface="Times New Roman" panose="02020603050405020304" pitchFamily="18" charset="0"/>
                  </a:rPr>
                  <a:t> 个消息</a:t>
                </a:r>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差分攻击</a:t>
                </a:r>
                <a:r>
                  <a:rPr lang="zh-CN" altLang="en-US" sz="2000" b="1"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2005</a:t>
                </a:r>
                <a:r>
                  <a:rPr lang="zh-CN" altLang="en-US" dirty="0">
                    <a:latin typeface="Times New Roman" panose="02020603050405020304" pitchFamily="18" charset="0"/>
                    <a:cs typeface="Times New Roman" panose="02020603050405020304" pitchFamily="18" charset="0"/>
                  </a:rPr>
                  <a:t>年，</a:t>
                </a:r>
                <a:r>
                  <a:rPr lang="en-US" altLang="zh-CN" dirty="0" err="1">
                    <a:latin typeface="Times New Roman" panose="02020603050405020304" pitchFamily="18" charset="0"/>
                    <a:cs typeface="Times New Roman" panose="02020603050405020304" pitchFamily="18" charset="0"/>
                  </a:rPr>
                  <a:t>Rijmen</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和 </a:t>
                </a:r>
                <a:r>
                  <a:rPr lang="en-US" altLang="zh-CN" dirty="0">
                    <a:latin typeface="Times New Roman" panose="02020603050405020304" pitchFamily="18" charset="0"/>
                    <a:cs typeface="Times New Roman" panose="02020603050405020304" pitchFamily="18" charset="0"/>
                  </a:rPr>
                  <a:t>Oswald </a:t>
                </a:r>
                <a:r>
                  <a:rPr lang="zh-CN" altLang="en-US" dirty="0">
                    <a:latin typeface="Times New Roman" panose="02020603050405020304" pitchFamily="18" charset="0"/>
                    <a:cs typeface="Times New Roman" panose="02020603050405020304" pitchFamily="18" charset="0"/>
                  </a:rPr>
                  <a:t>发表了对</a:t>
                </a:r>
                <a:r>
                  <a:rPr lang="en-US" altLang="zh-CN" dirty="0">
                    <a:latin typeface="Times New Roman" panose="02020603050405020304" pitchFamily="18" charset="0"/>
                    <a:cs typeface="Times New Roman" panose="02020603050405020304" pitchFamily="18" charset="0"/>
                  </a:rPr>
                  <a:t>SHA-1</a:t>
                </a:r>
                <a:r>
                  <a:rPr lang="zh-CN" altLang="en-US" dirty="0">
                    <a:latin typeface="Times New Roman" panose="02020603050405020304" pitchFamily="18" charset="0"/>
                    <a:cs typeface="Times New Roman" panose="02020603050405020304" pitchFamily="18" charset="0"/>
                  </a:rPr>
                  <a:t>较弱版本 </a:t>
                </a:r>
                <a:r>
                  <a:rPr lang="en-US" altLang="zh-CN" dirty="0">
                    <a:latin typeface="Times New Roman" panose="02020603050405020304" pitchFamily="18" charset="0"/>
                    <a:cs typeface="Times New Roman" panose="02020603050405020304" pitchFamily="18" charset="0"/>
                  </a:rPr>
                  <a:t>(53</a:t>
                </a:r>
                <a:r>
                  <a:rPr lang="zh-CN" altLang="en-US" dirty="0">
                    <a:latin typeface="Times New Roman" panose="02020603050405020304" pitchFamily="18" charset="0"/>
                    <a:cs typeface="Times New Roman" panose="02020603050405020304" pitchFamily="18" charset="0"/>
                  </a:rPr>
                  <a:t>次的加密循环</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的攻击，可以在</a:t>
                </a:r>
                <a14:m>
                  <m:oMath xmlns:m="http://schemas.openxmlformats.org/officeDocument/2006/math">
                    <m:sSup>
                      <m:sSupPr>
                        <m:ctrlPr>
                          <a:rPr lang="en-US" altLang="zh-CN" i="1" dirty="0" smtClean="0">
                            <a:solidFill>
                              <a:schemeClr val="tx1"/>
                            </a:solidFill>
                            <a:latin typeface="Cambria Math" panose="02040503050406030204" pitchFamily="18" charset="0"/>
                            <a:cs typeface="Times New Roman" panose="02020603050405020304" pitchFamily="18" charset="0"/>
                          </a:rPr>
                        </m:ctrlPr>
                      </m:sSupPr>
                      <m:e>
                        <m:r>
                          <a:rPr lang="en-US" altLang="zh-CN" i="1" dirty="0" smtClean="0">
                            <a:solidFill>
                              <a:schemeClr val="tx1"/>
                            </a:solidFill>
                            <a:latin typeface="Cambria Math" panose="02040503050406030204" pitchFamily="18" charset="0"/>
                            <a:cs typeface="Times New Roman" panose="02020603050405020304" pitchFamily="18" charset="0"/>
                          </a:rPr>
                          <m:t>2</m:t>
                        </m:r>
                      </m:e>
                      <m:sup>
                        <m:r>
                          <a:rPr lang="en-US" altLang="zh-CN" b="0" i="1" dirty="0" smtClean="0">
                            <a:solidFill>
                              <a:schemeClr val="tx1"/>
                            </a:solidFill>
                            <a:latin typeface="Cambria Math" panose="02040503050406030204" pitchFamily="18" charset="0"/>
                            <a:cs typeface="Times New Roman" panose="02020603050405020304" pitchFamily="18" charset="0"/>
                          </a:rPr>
                          <m:t>80</m:t>
                        </m:r>
                      </m:sup>
                    </m:sSup>
                  </m:oMath>
                </a14:m>
                <a:r>
                  <a:rPr lang="zh-CN" altLang="en-US" dirty="0">
                    <a:latin typeface="Times New Roman" panose="02020603050405020304" pitchFamily="18" charset="0"/>
                    <a:cs typeface="Times New Roman" panose="02020603050405020304" pitchFamily="18" charset="0"/>
                  </a:rPr>
                  <a:t>的计算复杂度之内找到碰撞。</a:t>
                </a:r>
                <a:endParaRPr lang="en-US" altLang="zh-CN"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en-US" altLang="zh-CN" b="0" i="0" dirty="0">
                    <a:solidFill>
                      <a:srgbClr val="333333"/>
                    </a:solidFill>
                    <a:effectLst/>
                    <a:latin typeface="Times New Roman" panose="02020603050405020304" pitchFamily="18" charset="0"/>
                    <a:cs typeface="Times New Roman" panose="02020603050405020304" pitchFamily="18" charset="0"/>
                  </a:rPr>
                  <a:t>2005</a:t>
                </a:r>
                <a:r>
                  <a:rPr lang="zh-CN" altLang="en-US" b="0" i="0" dirty="0">
                    <a:solidFill>
                      <a:srgbClr val="333333"/>
                    </a:solidFill>
                    <a:effectLst/>
                    <a:latin typeface="Times New Roman" panose="02020603050405020304" pitchFamily="18" charset="0"/>
                    <a:cs typeface="Times New Roman" panose="02020603050405020304" pitchFamily="18" charset="0"/>
                  </a:rPr>
                  <a:t>年，王小云团队依次发表了只需少于</a:t>
                </a:r>
                <a14:m>
                  <m:oMath xmlns:m="http://schemas.openxmlformats.org/officeDocument/2006/math">
                    <m:sSup>
                      <m:sSupPr>
                        <m:ctrlPr>
                          <a:rPr lang="en-US" altLang="zh-CN" i="1" dirty="0" smtClean="0">
                            <a:solidFill>
                              <a:srgbClr val="0000FF"/>
                            </a:solidFill>
                            <a:latin typeface="Cambria Math" panose="02040503050406030204" pitchFamily="18" charset="0"/>
                            <a:cs typeface="Times New Roman" panose="02020603050405020304" pitchFamily="18" charset="0"/>
                          </a:rPr>
                        </m:ctrlPr>
                      </m:sSupPr>
                      <m:e>
                        <m:r>
                          <a:rPr lang="en-US" altLang="zh-CN" b="0" i="1" dirty="0" smtClean="0">
                            <a:solidFill>
                              <a:srgbClr val="0000FF"/>
                            </a:solidFill>
                            <a:latin typeface="Cambria Math" panose="02040503050406030204" pitchFamily="18" charset="0"/>
                            <a:cs typeface="Times New Roman" panose="02020603050405020304" pitchFamily="18" charset="0"/>
                          </a:rPr>
                          <m:t> </m:t>
                        </m:r>
                        <m:r>
                          <a:rPr lang="en-US" altLang="zh-CN" i="1" dirty="0" smtClean="0">
                            <a:solidFill>
                              <a:srgbClr val="0000FF"/>
                            </a:solidFill>
                            <a:latin typeface="Cambria Math" panose="02040503050406030204" pitchFamily="18" charset="0"/>
                            <a:cs typeface="Times New Roman" panose="02020603050405020304" pitchFamily="18" charset="0"/>
                          </a:rPr>
                          <m:t>2</m:t>
                        </m:r>
                      </m:e>
                      <m:sup>
                        <m:r>
                          <a:rPr lang="en-US" altLang="zh-CN" b="0" i="1" dirty="0" smtClean="0">
                            <a:solidFill>
                              <a:srgbClr val="0000FF"/>
                            </a:solidFill>
                            <a:latin typeface="Cambria Math" panose="02040503050406030204" pitchFamily="18" charset="0"/>
                            <a:cs typeface="Times New Roman" panose="02020603050405020304" pitchFamily="18" charset="0"/>
                          </a:rPr>
                          <m:t>69</m:t>
                        </m:r>
                      </m:sup>
                    </m:sSup>
                  </m:oMath>
                </a14:m>
                <a:r>
                  <a:rPr lang="zh-CN" altLang="en-US" b="0" i="0" dirty="0">
                    <a:solidFill>
                      <a:srgbClr val="0000FF"/>
                    </a:solidFill>
                    <a:effectLst/>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CN" i="1" dirty="0">
                            <a:solidFill>
                              <a:srgbClr val="0000FF"/>
                            </a:solidFill>
                            <a:latin typeface="Cambria Math" panose="02040503050406030204" pitchFamily="18" charset="0"/>
                            <a:cs typeface="Times New Roman" panose="02020603050405020304" pitchFamily="18" charset="0"/>
                          </a:rPr>
                        </m:ctrlPr>
                      </m:sSupPr>
                      <m:e>
                        <m:r>
                          <a:rPr lang="en-US" altLang="zh-CN" i="1" dirty="0">
                            <a:solidFill>
                              <a:srgbClr val="0000FF"/>
                            </a:solidFill>
                            <a:latin typeface="Cambria Math" panose="02040503050406030204" pitchFamily="18" charset="0"/>
                            <a:cs typeface="Times New Roman" panose="02020603050405020304" pitchFamily="18" charset="0"/>
                          </a:rPr>
                          <m:t>2</m:t>
                        </m:r>
                      </m:e>
                      <m:sup>
                        <m:r>
                          <a:rPr lang="en-US" altLang="zh-CN" b="0" i="1" dirty="0" smtClean="0">
                            <a:solidFill>
                              <a:srgbClr val="0000FF"/>
                            </a:solidFill>
                            <a:latin typeface="Cambria Math" panose="02040503050406030204" pitchFamily="18" charset="0"/>
                            <a:cs typeface="Times New Roman" panose="02020603050405020304" pitchFamily="18" charset="0"/>
                          </a:rPr>
                          <m:t>63</m:t>
                        </m:r>
                      </m:sup>
                    </m:sSup>
                  </m:oMath>
                </a14:m>
                <a:r>
                  <a:rPr lang="zh-CN" altLang="en-US" b="0" i="0" dirty="0">
                    <a:solidFill>
                      <a:srgbClr val="333333"/>
                    </a:solidFill>
                    <a:effectLst/>
                    <a:latin typeface="Times New Roman" panose="02020603050405020304" pitchFamily="18" charset="0"/>
                    <a:cs typeface="Times New Roman" panose="02020603050405020304" pitchFamily="18" charset="0"/>
                  </a:rPr>
                  <a:t>的计算复杂</a:t>
                </a:r>
                <a:r>
                  <a:rPr lang="zh-CN" altLang="en-US" dirty="0">
                    <a:solidFill>
                      <a:srgbClr val="333333"/>
                    </a:solidFill>
                    <a:latin typeface="Times New Roman" panose="02020603050405020304" pitchFamily="18" charset="0"/>
                    <a:cs typeface="Times New Roman" panose="02020603050405020304" pitchFamily="18" charset="0"/>
                  </a:rPr>
                  <a:t>度，就能对</a:t>
                </a:r>
                <a:r>
                  <a:rPr lang="en-US" altLang="zh-CN" dirty="0">
                    <a:solidFill>
                      <a:srgbClr val="333333"/>
                    </a:solidFill>
                    <a:latin typeface="Times New Roman" panose="02020603050405020304" pitchFamily="18" charset="0"/>
                    <a:cs typeface="Times New Roman" panose="02020603050405020304" pitchFamily="18" charset="0"/>
                  </a:rPr>
                  <a:t>SHA-1</a:t>
                </a:r>
                <a:r>
                  <a:rPr lang="zh-CN" altLang="en-US" dirty="0">
                    <a:solidFill>
                      <a:srgbClr val="333333"/>
                    </a:solidFill>
                    <a:latin typeface="Times New Roman" panose="02020603050405020304" pitchFamily="18" charset="0"/>
                    <a:cs typeface="Times New Roman" panose="02020603050405020304" pitchFamily="18" charset="0"/>
                  </a:rPr>
                  <a:t>的完整版</a:t>
                </a:r>
                <a:r>
                  <a:rPr lang="zh-CN" altLang="en-US" dirty="0">
                    <a:latin typeface="Times New Roman" panose="02020603050405020304" pitchFamily="18" charset="0"/>
                    <a:cs typeface="Times New Roman" panose="02020603050405020304" pitchFamily="18" charset="0"/>
                  </a:rPr>
                  <a:t>找到碰撞的攻击；</a:t>
                </a:r>
                <a:r>
                  <a:rPr lang="zh-CN" altLang="en-US" dirty="0">
                    <a:solidFill>
                      <a:srgbClr val="333333"/>
                    </a:solidFill>
                    <a:latin typeface="Times New Roman" panose="02020603050405020304" pitchFamily="18" charset="0"/>
                    <a:cs typeface="Times New Roman" panose="02020603050405020304" pitchFamily="18" charset="0"/>
                  </a:rPr>
                  <a:t>对</a:t>
                </a:r>
                <a:r>
                  <a:rPr lang="en-US" altLang="zh-CN" dirty="0">
                    <a:solidFill>
                      <a:srgbClr val="333333"/>
                    </a:solidFill>
                    <a:latin typeface="Times New Roman" panose="02020603050405020304" pitchFamily="18" charset="0"/>
                    <a:cs typeface="Times New Roman" panose="02020603050405020304" pitchFamily="18" charset="0"/>
                  </a:rPr>
                  <a:t>SHA-1</a:t>
                </a:r>
                <a:r>
                  <a:rPr lang="zh-CN" altLang="en-US" dirty="0">
                    <a:solidFill>
                      <a:srgbClr val="333333"/>
                    </a:solidFill>
                    <a:latin typeface="Times New Roman" panose="02020603050405020304" pitchFamily="18" charset="0"/>
                    <a:cs typeface="Times New Roman" panose="02020603050405020304" pitchFamily="18" charset="0"/>
                  </a:rPr>
                  <a:t>的</a:t>
                </a:r>
                <a:r>
                  <a:rPr lang="zh-CN" altLang="en-US" dirty="0">
                    <a:latin typeface="Times New Roman" panose="02020603050405020304" pitchFamily="18" charset="0"/>
                    <a:cs typeface="Times New Roman" panose="02020603050405020304" pitchFamily="18" charset="0"/>
                  </a:rPr>
                  <a:t>较弱版本 </a:t>
                </a:r>
                <a:r>
                  <a:rPr lang="en-US" altLang="zh-CN" dirty="0">
                    <a:latin typeface="Times New Roman" panose="02020603050405020304" pitchFamily="18" charset="0"/>
                    <a:cs typeface="Times New Roman" panose="02020603050405020304" pitchFamily="18" charset="0"/>
                  </a:rPr>
                  <a:t>(58</a:t>
                </a:r>
                <a:r>
                  <a:rPr lang="zh-CN" altLang="en-US" dirty="0">
                    <a:latin typeface="Times New Roman" panose="02020603050405020304" pitchFamily="18" charset="0"/>
                    <a:cs typeface="Times New Roman" panose="02020603050405020304" pitchFamily="18" charset="0"/>
                  </a:rPr>
                  <a:t>次的加密循环</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仅需</a:t>
                </a:r>
                <a14:m>
                  <m:oMath xmlns:m="http://schemas.openxmlformats.org/officeDocument/2006/math">
                    <m:r>
                      <a:rPr lang="en-US" altLang="zh-CN" b="0" i="0" dirty="0" smtClean="0">
                        <a:latin typeface="Cambria Math" panose="02040503050406030204" pitchFamily="18" charset="0"/>
                        <a:cs typeface="Times New Roman" panose="02020603050405020304" pitchFamily="18" charset="0"/>
                      </a:rPr>
                      <m:t> </m:t>
                    </m:r>
                    <m:sSup>
                      <m:sSupPr>
                        <m:ctrlPr>
                          <a:rPr lang="en-US" altLang="zh-CN" i="1" dirty="0">
                            <a:latin typeface="Cambria Math" panose="02040503050406030204" pitchFamily="18" charset="0"/>
                            <a:cs typeface="Times New Roman" panose="02020603050405020304" pitchFamily="18" charset="0"/>
                          </a:rPr>
                        </m:ctrlPr>
                      </m:sSupPr>
                      <m:e>
                        <m:r>
                          <a:rPr lang="en-US" altLang="zh-CN" i="1" dirty="0">
                            <a:latin typeface="Cambria Math" panose="02040503050406030204" pitchFamily="18" charset="0"/>
                            <a:cs typeface="Times New Roman" panose="02020603050405020304" pitchFamily="18" charset="0"/>
                          </a:rPr>
                          <m:t>2</m:t>
                        </m:r>
                      </m:e>
                      <m:sup>
                        <m:r>
                          <a:rPr lang="en-US" altLang="zh-CN" b="0" i="1" dirty="0" smtClean="0">
                            <a:latin typeface="Cambria Math" panose="02040503050406030204" pitchFamily="18" charset="0"/>
                            <a:cs typeface="Times New Roman" panose="02020603050405020304" pitchFamily="18" charset="0"/>
                          </a:rPr>
                          <m:t>33</m:t>
                        </m:r>
                      </m:sup>
                    </m:sSup>
                    <m:r>
                      <a:rPr lang="en-US" altLang="zh-CN" b="0" i="1" dirty="0" smtClean="0">
                        <a:latin typeface="Cambria Math" panose="02040503050406030204" pitchFamily="18" charset="0"/>
                        <a:cs typeface="Times New Roman" panose="02020603050405020304" pitchFamily="18" charset="0"/>
                      </a:rPr>
                      <m:t> </m:t>
                    </m:r>
                  </m:oMath>
                </a14:m>
                <a:r>
                  <a:rPr lang="zh-CN" altLang="en-US" dirty="0">
                    <a:solidFill>
                      <a:srgbClr val="333333"/>
                    </a:solidFill>
                    <a:latin typeface="Times New Roman" panose="02020603050405020304" pitchFamily="18" charset="0"/>
                    <a:cs typeface="Times New Roman" panose="02020603050405020304" pitchFamily="18" charset="0"/>
                  </a:rPr>
                  <a:t>的计算复杂度</a:t>
                </a:r>
                <a:r>
                  <a:rPr lang="zh-CN" altLang="en-US" dirty="0">
                    <a:solidFill>
                      <a:prstClr val="black"/>
                    </a:solidFill>
                    <a:latin typeface="Times New Roman" panose="02020603050405020304" pitchFamily="18" charset="0"/>
                    <a:cs typeface="Times New Roman" panose="02020603050405020304" pitchFamily="18" charset="0"/>
                  </a:rPr>
                  <a:t>。</a:t>
                </a:r>
                <a:endParaRPr lang="en-US" altLang="zh-CN" dirty="0">
                  <a:solidFill>
                    <a:srgbClr val="333333"/>
                  </a:solidFill>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b="0" i="0" dirty="0">
                    <a:solidFill>
                      <a:srgbClr val="333333"/>
                    </a:solidFill>
                    <a:effectLst/>
                    <a:latin typeface="Times New Roman" panose="02020603050405020304" pitchFamily="18" charset="0"/>
                    <a:cs typeface="Times New Roman" panose="02020603050405020304" pitchFamily="18" charset="0"/>
                  </a:rPr>
                  <a:t>2017 </a:t>
                </a:r>
                <a:r>
                  <a:rPr lang="zh-CN" altLang="en-US" sz="2000" b="0" i="0" dirty="0">
                    <a:solidFill>
                      <a:srgbClr val="333333"/>
                    </a:solidFill>
                    <a:effectLst/>
                    <a:latin typeface="Times New Roman" panose="02020603050405020304" pitchFamily="18" charset="0"/>
                    <a:cs typeface="Times New Roman" panose="02020603050405020304" pitchFamily="18" charset="0"/>
                  </a:rPr>
                  <a:t>年 </a:t>
                </a:r>
                <a:r>
                  <a:rPr lang="en-US" altLang="zh-CN" sz="2000" b="0" i="0" dirty="0">
                    <a:solidFill>
                      <a:srgbClr val="333333"/>
                    </a:solidFill>
                    <a:effectLst/>
                    <a:latin typeface="Times New Roman" panose="02020603050405020304" pitchFamily="18" charset="0"/>
                    <a:cs typeface="Times New Roman" panose="02020603050405020304" pitchFamily="18" charset="0"/>
                  </a:rPr>
                  <a:t>2 </a:t>
                </a:r>
                <a:r>
                  <a:rPr lang="zh-CN" altLang="en-US" sz="2000" b="0" i="0" dirty="0">
                    <a:solidFill>
                      <a:srgbClr val="333333"/>
                    </a:solidFill>
                    <a:effectLst/>
                    <a:latin typeface="Times New Roman" panose="02020603050405020304" pitchFamily="18" charset="0"/>
                    <a:cs typeface="Times New Roman" panose="02020603050405020304" pitchFamily="18" charset="0"/>
                  </a:rPr>
                  <a:t>月 </a:t>
                </a:r>
                <a:r>
                  <a:rPr lang="en-US" altLang="zh-CN" sz="2000" b="0" i="0" dirty="0">
                    <a:solidFill>
                      <a:srgbClr val="333333"/>
                    </a:solidFill>
                    <a:effectLst/>
                    <a:latin typeface="Times New Roman" panose="02020603050405020304" pitchFamily="18" charset="0"/>
                    <a:cs typeface="Times New Roman" panose="02020603050405020304" pitchFamily="18" charset="0"/>
                  </a:rPr>
                  <a:t>23 </a:t>
                </a:r>
                <a:r>
                  <a:rPr lang="zh-CN" altLang="en-US" sz="2000" b="0" i="0" dirty="0">
                    <a:solidFill>
                      <a:srgbClr val="333333"/>
                    </a:solidFill>
                    <a:effectLst/>
                    <a:latin typeface="Times New Roman" panose="02020603050405020304" pitchFamily="18" charset="0"/>
                    <a:cs typeface="Times New Roman" panose="02020603050405020304" pitchFamily="18" charset="0"/>
                  </a:rPr>
                  <a:t>日，谷歌宣布实现了 </a:t>
                </a:r>
                <a:r>
                  <a:rPr lang="en-US" altLang="zh-CN" sz="2000" b="0" i="0" dirty="0">
                    <a:solidFill>
                      <a:srgbClr val="0000FF"/>
                    </a:solidFill>
                    <a:effectLst/>
                    <a:latin typeface="Times New Roman" panose="02020603050405020304" pitchFamily="18" charset="0"/>
                    <a:cs typeface="Times New Roman" panose="02020603050405020304" pitchFamily="18" charset="0"/>
                  </a:rPr>
                  <a:t>SHA-1 </a:t>
                </a:r>
                <a:r>
                  <a:rPr lang="zh-CN" altLang="en-US" sz="2000" b="0" i="0" dirty="0">
                    <a:solidFill>
                      <a:srgbClr val="0000FF"/>
                    </a:solidFill>
                    <a:effectLst/>
                    <a:latin typeface="Times New Roman" panose="02020603050405020304" pitchFamily="18" charset="0"/>
                    <a:cs typeface="Times New Roman" panose="02020603050405020304" pitchFamily="18" charset="0"/>
                  </a:rPr>
                  <a:t>碰撞</a:t>
                </a:r>
                <a:r>
                  <a:rPr lang="zh-CN" altLang="en-US" sz="2000" b="0" i="0" dirty="0">
                    <a:solidFill>
                      <a:srgbClr val="333333"/>
                    </a:solidFill>
                    <a:effectLst/>
                    <a:latin typeface="Times New Roman" panose="02020603050405020304" pitchFamily="18" charset="0"/>
                    <a:cs typeface="Times New Roman" panose="02020603050405020304" pitchFamily="18" charset="0"/>
                  </a:rPr>
                  <a:t>并公布第一例 </a:t>
                </a:r>
                <a:r>
                  <a:rPr lang="en-US" altLang="zh-CN" sz="2000" b="0" i="0" dirty="0">
                    <a:solidFill>
                      <a:srgbClr val="333333"/>
                    </a:solidFill>
                    <a:effectLst/>
                    <a:latin typeface="Times New Roman" panose="02020603050405020304" pitchFamily="18" charset="0"/>
                    <a:cs typeface="Times New Roman" panose="02020603050405020304" pitchFamily="18" charset="0"/>
                  </a:rPr>
                  <a:t>SHA-1</a:t>
                </a:r>
                <a:r>
                  <a:rPr lang="zh-CN" altLang="en-US" sz="2000" b="0" i="0" dirty="0">
                    <a:solidFill>
                      <a:srgbClr val="333333"/>
                    </a:solidFill>
                    <a:effectLst/>
                    <a:latin typeface="Times New Roman" panose="02020603050405020304" pitchFamily="18" charset="0"/>
                    <a:cs typeface="Times New Roman" panose="02020603050405020304" pitchFamily="18" charset="0"/>
                  </a:rPr>
                  <a:t>哈希碰撞实例 </a:t>
                </a:r>
                <a:r>
                  <a:rPr lang="en-US" altLang="zh-CN" sz="2000" b="0" i="0" dirty="0">
                    <a:effectLst/>
                    <a:latin typeface="Times New Roman" panose="02020603050405020304" pitchFamily="18" charset="0"/>
                    <a:cs typeface="Times New Roman" panose="02020603050405020304" pitchFamily="18" charset="0"/>
                  </a:rPr>
                  <a:t>——</a:t>
                </a:r>
                <a:r>
                  <a:rPr lang="en-US" altLang="zh-CN" sz="2000" b="0" i="0" dirty="0">
                    <a:solidFill>
                      <a:srgbClr val="0000FF"/>
                    </a:solidFill>
                    <a:effectLst/>
                    <a:latin typeface="Times New Roman" panose="02020603050405020304" pitchFamily="18" charset="0"/>
                    <a:cs typeface="Times New Roman" panose="02020603050405020304" pitchFamily="18" charset="0"/>
                  </a:rPr>
                  <a:t>《The first collision for full SHA-1》(CRYPTO 2017)</a:t>
                </a:r>
                <a:r>
                  <a:rPr lang="zh-CN" altLang="en-US" sz="2000" dirty="0">
                    <a:solidFill>
                      <a:prstClr val="black"/>
                    </a:solidFill>
                    <a:latin typeface="Times New Roman" panose="02020603050405020304" pitchFamily="18" charset="0"/>
                    <a:cs typeface="Times New Roman" panose="02020603050405020304" pitchFamily="18" charset="0"/>
                  </a:rPr>
                  <a:t> 。</a:t>
                </a:r>
                <a:endParaRPr lang="en-US" altLang="zh-CN" sz="2000" b="0" i="0" dirty="0">
                  <a:solidFill>
                    <a:srgbClr val="333333"/>
                  </a:solidFill>
                  <a:effectLst/>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b="0" i="0" dirty="0">
                    <a:solidFill>
                      <a:srgbClr val="333333"/>
                    </a:solidFill>
                    <a:effectLst/>
                    <a:latin typeface="Times New Roman" panose="02020603050405020304" pitchFamily="18" charset="0"/>
                    <a:cs typeface="Times New Roman" panose="02020603050405020304" pitchFamily="18" charset="0"/>
                  </a:rPr>
                  <a:t>SHA-2 </a:t>
                </a:r>
                <a:r>
                  <a:rPr lang="zh-CN" altLang="en-US" sz="2000" b="0" i="0" dirty="0">
                    <a:solidFill>
                      <a:srgbClr val="333333"/>
                    </a:solidFill>
                    <a:effectLst/>
                    <a:latin typeface="Times New Roman" panose="02020603050405020304" pitchFamily="18" charset="0"/>
                    <a:cs typeface="Times New Roman" panose="02020603050405020304" pitchFamily="18" charset="0"/>
                  </a:rPr>
                  <a:t>目前没有出现明显的弱点。虽然至今尚未出现对</a:t>
                </a:r>
                <a:r>
                  <a:rPr lang="en-US" altLang="zh-CN" sz="2000" b="0" i="0" dirty="0">
                    <a:solidFill>
                      <a:srgbClr val="333333"/>
                    </a:solidFill>
                    <a:effectLst/>
                    <a:latin typeface="Times New Roman" panose="02020603050405020304" pitchFamily="18" charset="0"/>
                    <a:cs typeface="Times New Roman" panose="02020603050405020304" pitchFamily="18" charset="0"/>
                  </a:rPr>
                  <a:t>SHA-2</a:t>
                </a:r>
                <a:r>
                  <a:rPr lang="zh-CN" altLang="en-US" sz="2000" b="0" i="0" dirty="0">
                    <a:solidFill>
                      <a:srgbClr val="333333"/>
                    </a:solidFill>
                    <a:effectLst/>
                    <a:latin typeface="Times New Roman" panose="02020603050405020304" pitchFamily="18" charset="0"/>
                    <a:cs typeface="Times New Roman" panose="02020603050405020304" pitchFamily="18" charset="0"/>
                  </a:rPr>
                  <a:t>有效的攻击，但其算法跟</a:t>
                </a:r>
                <a:r>
                  <a:rPr lang="en-US" altLang="zh-CN" sz="2000" b="0" i="0" dirty="0">
                    <a:solidFill>
                      <a:srgbClr val="333333"/>
                    </a:solidFill>
                    <a:effectLst/>
                    <a:latin typeface="Times New Roman" panose="02020603050405020304" pitchFamily="18" charset="0"/>
                    <a:cs typeface="Times New Roman" panose="02020603050405020304" pitchFamily="18" charset="0"/>
                  </a:rPr>
                  <a:t>SHA-1</a:t>
                </a:r>
                <a:r>
                  <a:rPr lang="zh-CN" altLang="en-US" sz="2000" b="0" i="0" dirty="0">
                    <a:solidFill>
                      <a:srgbClr val="333333"/>
                    </a:solidFill>
                    <a:effectLst/>
                    <a:latin typeface="Times New Roman" panose="02020603050405020304" pitchFamily="18" charset="0"/>
                    <a:cs typeface="Times New Roman" panose="02020603050405020304" pitchFamily="18" charset="0"/>
                  </a:rPr>
                  <a:t>基本上相似；因此开始发展其它替代算法。</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 xmlns:a16="http://schemas.microsoft.com/office/drawing/2014/main" xmlns:a14="http://schemas.microsoft.com/office/drawing/2010/main" id="{1C1FCDB2-5B04-098B-64DF-890E69C2B296}"/>
                  </a:ext>
                </a:extLst>
              </p:cNvPr>
              <p:cNvSpPr txBox="1">
                <a:spLocks noRot="1" noChangeAspect="1" noMove="1" noResize="1" noEditPoints="1" noAdjustHandles="1" noChangeArrowheads="1" noChangeShapeType="1" noTextEdit="1"/>
              </p:cNvSpPr>
              <p:nvPr/>
            </p:nvSpPr>
            <p:spPr>
              <a:xfrm>
                <a:off x="312517" y="1527533"/>
                <a:ext cx="8479945" cy="4985980"/>
              </a:xfrm>
              <a:prstGeom prst="rect">
                <a:avLst/>
              </a:prstGeom>
              <a:blipFill rotWithShape="0">
                <a:blip r:embed="rId3"/>
                <a:stretch>
                  <a:fillRect l="-647" t="-122" r="-3738"/>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EA4BF00E-D28B-482F-8F57-F675C0DB5E8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9" name="文本框 8">
            <a:extLst>
              <a:ext uri="{FF2B5EF4-FFF2-40B4-BE49-F238E27FC236}">
                <a16:creationId xmlns:a16="http://schemas.microsoft.com/office/drawing/2014/main" id="{5BBF6EDC-3E4D-4186-B2FE-9CC24B56D349}"/>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4.4 SHA-1</a:t>
            </a:r>
            <a:r>
              <a:rPr lang="zh-CN" altLang="en-US" sz="2400" b="1" dirty="0">
                <a:solidFill>
                  <a:srgbClr val="FF0000"/>
                </a:solidFill>
                <a:latin typeface="Times New Roman" panose="02020603050405020304" pitchFamily="18" charset="0"/>
                <a:cs typeface="Times New Roman" panose="02020603050405020304" pitchFamily="18" charset="0"/>
              </a:rPr>
              <a:t>的安全性</a:t>
            </a:r>
          </a:p>
        </p:txBody>
      </p:sp>
    </p:spTree>
    <p:extLst>
      <p:ext uri="{BB962C8B-B14F-4D97-AF65-F5344CB8AC3E}">
        <p14:creationId xmlns:p14="http://schemas.microsoft.com/office/powerpoint/2010/main" val="4708710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SHA-1 </a:t>
            </a:r>
            <a:r>
              <a:rPr lang="zh-CN" altLang="en-US" dirty="0">
                <a:latin typeface="Times New Roman" panose="02020603050405020304" pitchFamily="18" charset="0"/>
                <a:cs typeface="Times New Roman" panose="02020603050405020304" pitchFamily="18" charset="0"/>
              </a:rPr>
              <a:t>算法</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69</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535531"/>
          </a:xfrm>
          <a:prstGeom prst="rect">
            <a:avLst/>
          </a:prstGeom>
          <a:noFill/>
        </p:spPr>
        <p:txBody>
          <a:bodyPr wrap="square" rtlCol="0">
            <a:spAutoFit/>
          </a:bodyPr>
          <a:lstStyle/>
          <a:p>
            <a:pPr>
              <a:lnSpc>
                <a:spcPct val="120000"/>
              </a:lnSpc>
              <a:spcBef>
                <a:spcPts val="600"/>
              </a:spcBef>
            </a:pPr>
            <a:r>
              <a:rPr lang="en-US" altLang="zh-CN" sz="2400" b="1" dirty="0">
                <a:solidFill>
                  <a:srgbClr val="FF0000"/>
                </a:solidFill>
                <a:latin typeface="Times New Roman" panose="02020603050405020304" pitchFamily="18" charset="0"/>
                <a:cs typeface="Times New Roman" panose="02020603050405020304" pitchFamily="18" charset="0"/>
              </a:rPr>
              <a:t>4.5</a:t>
            </a:r>
            <a:r>
              <a:rPr lang="en-US" altLang="zh-CN" sz="2400" b="1" dirty="0">
                <a:solidFill>
                  <a:srgbClr val="FF0000"/>
                </a:solidFill>
                <a:latin typeface="+mn-ea"/>
              </a:rPr>
              <a:t> </a:t>
            </a:r>
            <a:r>
              <a:rPr lang="zh-CN" altLang="en-US" sz="2400" b="1" dirty="0">
                <a:solidFill>
                  <a:srgbClr val="FF0000"/>
                </a:solidFill>
                <a:latin typeface="+mn-ea"/>
              </a:rPr>
              <a:t>其它有名的哈希函数</a:t>
            </a:r>
            <a:endParaRPr lang="en-US" altLang="zh-CN" sz="2400" b="1" dirty="0">
              <a:solidFill>
                <a:srgbClr val="FF0000"/>
              </a:solidFill>
              <a:latin typeface="+mn-ea"/>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C1FCDB2-5B04-098B-64DF-890E69C2B296}"/>
                  </a:ext>
                </a:extLst>
              </p:cNvPr>
              <p:cNvSpPr txBox="1"/>
              <p:nvPr/>
            </p:nvSpPr>
            <p:spPr>
              <a:xfrm>
                <a:off x="312517" y="1554381"/>
                <a:ext cx="8479945" cy="3615670"/>
              </a:xfrm>
              <a:prstGeom prst="rect">
                <a:avLst/>
              </a:prstGeom>
              <a:noFill/>
            </p:spPr>
            <p:txBody>
              <a:bodyPr wrap="square" rtlCol="0">
                <a:spAutoFit/>
              </a:bodyPr>
              <a:lstStyle/>
              <a:p>
                <a:pPr marL="457200" indent="-4572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SNEFRU </a:t>
                </a:r>
                <a:r>
                  <a:rPr lang="zh-CN" altLang="en-US" sz="2000" dirty="0">
                    <a:latin typeface="Times New Roman" panose="02020603050405020304" pitchFamily="18" charset="0"/>
                    <a:cs typeface="Times New Roman" panose="02020603050405020304" pitchFamily="18" charset="0"/>
                  </a:rPr>
                  <a:t>算法</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Merkle </a:t>
                </a:r>
                <a:r>
                  <a:rPr lang="zh-CN" altLang="en-US" sz="2000" dirty="0">
                    <a:latin typeface="Times New Roman" panose="02020603050405020304" pitchFamily="18" charset="0"/>
                    <a:cs typeface="Times New Roman" panose="02020603050405020304" pitchFamily="18" charset="0"/>
                  </a:rPr>
                  <a:t>设计的一种哈希算法，哈希值为</a:t>
                </a:r>
                <a:r>
                  <a:rPr lang="en-US" altLang="zh-CN" sz="2000" dirty="0">
                    <a:latin typeface="Times New Roman" panose="02020603050405020304" pitchFamily="18" charset="0"/>
                    <a:cs typeface="Times New Roman" panose="02020603050405020304" pitchFamily="18" charset="0"/>
                  </a:rPr>
                  <a:t>128bits </a:t>
                </a:r>
                <a:r>
                  <a:rPr lang="zh-CN" altLang="en-US" sz="2000" dirty="0">
                    <a:latin typeface="Times New Roman" panose="02020603050405020304" pitchFamily="18" charset="0"/>
                    <a:cs typeface="Times New Roman" panose="02020603050405020304" pitchFamily="18" charset="0"/>
                  </a:rPr>
                  <a:t>或 </a:t>
                </a:r>
                <a:r>
                  <a:rPr lang="en-US" altLang="zh-CN" sz="2000" dirty="0">
                    <a:latin typeface="Times New Roman" panose="02020603050405020304" pitchFamily="18" charset="0"/>
                    <a:cs typeface="Times New Roman" panose="02020603050405020304" pitchFamily="18" charset="0"/>
                  </a:rPr>
                  <a:t>256bits</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RIPE-MD </a:t>
                </a:r>
                <a:r>
                  <a:rPr lang="zh-CN" altLang="en-US" sz="2000" dirty="0">
                    <a:latin typeface="Times New Roman" panose="02020603050405020304" pitchFamily="18" charset="0"/>
                    <a:cs typeface="Times New Roman" panose="02020603050405020304" pitchFamily="18" charset="0"/>
                  </a:rPr>
                  <a:t>算法</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：欧共体 </a:t>
                </a:r>
                <a:r>
                  <a:rPr lang="en-US" altLang="zh-CN" sz="2000" dirty="0">
                    <a:latin typeface="Times New Roman" panose="02020603050405020304" pitchFamily="18" charset="0"/>
                    <a:cs typeface="Times New Roman" panose="02020603050405020304" pitchFamily="18" charset="0"/>
                  </a:rPr>
                  <a:t>RIPE </a:t>
                </a:r>
                <a:r>
                  <a:rPr lang="zh-CN" altLang="en-US" sz="2000" dirty="0">
                    <a:latin typeface="Times New Roman" panose="02020603050405020304" pitchFamily="18" charset="0"/>
                    <a:cs typeface="Times New Roman" panose="02020603050405020304" pitchFamily="18" charset="0"/>
                  </a:rPr>
                  <a:t>开发的哈希算法，是 </a:t>
                </a:r>
                <a:r>
                  <a:rPr lang="en-US" altLang="zh-CN" sz="2000" dirty="0">
                    <a:latin typeface="Times New Roman" panose="02020603050405020304" pitchFamily="18" charset="0"/>
                    <a:cs typeface="Times New Roman" panose="02020603050405020304" pitchFamily="18" charset="0"/>
                  </a:rPr>
                  <a:t>MD4 </a:t>
                </a:r>
                <a:r>
                  <a:rPr lang="zh-CN" altLang="en-US" sz="2000" dirty="0">
                    <a:latin typeface="Times New Roman" panose="02020603050405020304" pitchFamily="18" charset="0"/>
                    <a:cs typeface="Times New Roman" panose="02020603050405020304" pitchFamily="18" charset="0"/>
                  </a:rPr>
                  <a:t>的变型，哈希值为</a:t>
                </a:r>
                <a:r>
                  <a:rPr lang="en-US" altLang="zh-CN" sz="2000" dirty="0">
                    <a:latin typeface="Times New Roman" panose="02020603050405020304" pitchFamily="18" charset="0"/>
                    <a:cs typeface="Times New Roman" panose="02020603050405020304" pitchFamily="18" charset="0"/>
                  </a:rPr>
                  <a:t>128bits</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REPE-MD </a:t>
                </a:r>
                <a:r>
                  <a:rPr lang="zh-CN" altLang="en-US" sz="2000" dirty="0">
                    <a:latin typeface="Times New Roman" panose="02020603050405020304" pitchFamily="18" charset="0"/>
                    <a:cs typeface="Times New Roman" panose="02020603050405020304" pitchFamily="18" charset="0"/>
                  </a:rPr>
                  <a:t>的改进型为</a:t>
                </a:r>
                <a:r>
                  <a:rPr lang="en-US" altLang="zh-CN" sz="2000" dirty="0">
                    <a:latin typeface="Times New Roman" panose="02020603050405020304" pitchFamily="18" charset="0"/>
                    <a:cs typeface="Times New Roman" panose="02020603050405020304" pitchFamily="18" charset="0"/>
                  </a:rPr>
                  <a:t>REPEMD-160</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HAVAL </a:t>
                </a:r>
                <a:r>
                  <a:rPr lang="zh-CN" altLang="en-US" sz="2000" dirty="0">
                    <a:latin typeface="Times New Roman" panose="02020603050405020304" pitchFamily="18" charset="0"/>
                    <a:cs typeface="Times New Roman" panose="02020603050405020304" pitchFamily="18" charset="0"/>
                  </a:rPr>
                  <a:t>算法</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Zheng </a:t>
                </a:r>
                <a:r>
                  <a:rPr lang="zh-CN" altLang="en-US" sz="2000" dirty="0">
                    <a:latin typeface="Times New Roman" panose="02020603050405020304" pitchFamily="18" charset="0"/>
                    <a:cs typeface="Times New Roman" panose="02020603050405020304" pitchFamily="18" charset="0"/>
                  </a:rPr>
                  <a:t>等提出的一种变长哈希函数，是 </a:t>
                </a:r>
                <a:r>
                  <a:rPr lang="en-US" altLang="zh-CN" sz="2000" dirty="0">
                    <a:latin typeface="Times New Roman" panose="02020603050405020304" pitchFamily="18" charset="0"/>
                    <a:cs typeface="Times New Roman" panose="02020603050405020304" pitchFamily="18" charset="0"/>
                  </a:rPr>
                  <a:t>MD5 </a:t>
                </a:r>
                <a:r>
                  <a:rPr lang="zh-CN" altLang="en-US" sz="2000" dirty="0">
                    <a:latin typeface="Times New Roman" panose="02020603050405020304" pitchFamily="18" charset="0"/>
                    <a:cs typeface="Times New Roman" panose="02020603050405020304" pitchFamily="18" charset="0"/>
                  </a:rPr>
                  <a:t>的变型，哈希值可取</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𝑛</m:t>
                    </m:r>
                    <m:r>
                      <a:rPr lang="en-US" altLang="zh-CN" sz="2000" i="1" dirty="0" smtClean="0">
                        <a:latin typeface="Cambria Math" panose="02040503050406030204" pitchFamily="18" charset="0"/>
                        <a:cs typeface="Times New Roman" panose="02020603050405020304" pitchFamily="18" charset="0"/>
                      </a:rPr>
                      <m:t> =128, 160, 192, 224, 256 </m:t>
                    </m:r>
                  </m:oMath>
                </a14:m>
                <a:r>
                  <a:rPr lang="en-US" altLang="zh-CN" sz="2000" i="0" dirty="0">
                    <a:latin typeface="Times New Roman" panose="02020603050405020304" pitchFamily="18" charset="0"/>
                    <a:cs typeface="Times New Roman" panose="02020603050405020304" pitchFamily="18" charset="0"/>
                  </a:rPr>
                  <a:t>bits</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RIPE-MAC </a:t>
                </a:r>
                <a:r>
                  <a:rPr lang="zh-CN" altLang="en-US" sz="2000" dirty="0">
                    <a:latin typeface="Times New Roman" panose="02020603050405020304" pitchFamily="18" charset="0"/>
                    <a:cs typeface="Times New Roman" panose="02020603050405020304" pitchFamily="18" charset="0"/>
                  </a:rPr>
                  <a:t>算法</a:t>
                </a:r>
                <a:r>
                  <a:rPr lang="en-US" altLang="zh-CN" sz="2000" baseline="30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：由 </a:t>
                </a:r>
                <a:r>
                  <a:rPr lang="en-US" altLang="zh-CN" sz="2000" dirty="0" err="1">
                    <a:latin typeface="Times New Roman" panose="02020603050405020304" pitchFamily="18" charset="0"/>
                    <a:cs typeface="Times New Roman" panose="02020603050405020304" pitchFamily="18" charset="0"/>
                  </a:rPr>
                  <a:t>Preneel</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提出并被 </a:t>
                </a:r>
                <a:r>
                  <a:rPr lang="en-US" altLang="zh-CN" sz="2000" dirty="0">
                    <a:latin typeface="Times New Roman" panose="02020603050405020304" pitchFamily="18" charset="0"/>
                    <a:cs typeface="Times New Roman" panose="02020603050405020304" pitchFamily="18" charset="0"/>
                  </a:rPr>
                  <a:t>RIPE </a:t>
                </a:r>
                <a:r>
                  <a:rPr lang="zh-CN" altLang="en-US" sz="2000" dirty="0">
                    <a:latin typeface="Times New Roman" panose="02020603050405020304" pitchFamily="18" charset="0"/>
                    <a:cs typeface="Times New Roman" panose="02020603050405020304" pitchFamily="18" charset="0"/>
                  </a:rPr>
                  <a:t>采用，以 </a:t>
                </a:r>
                <a:r>
                  <a:rPr lang="en-US" altLang="zh-CN" sz="2000" dirty="0">
                    <a:latin typeface="Times New Roman" panose="02020603050405020304" pitchFamily="18" charset="0"/>
                    <a:cs typeface="Times New Roman" panose="02020603050405020304" pitchFamily="18" charset="0"/>
                  </a:rPr>
                  <a:t>DES </a:t>
                </a:r>
                <a:r>
                  <a:rPr lang="zh-CN" altLang="en-US" sz="2000" dirty="0">
                    <a:latin typeface="Times New Roman" panose="02020603050405020304" pitchFamily="18" charset="0"/>
                    <a:cs typeface="Times New Roman" panose="02020603050405020304" pitchFamily="18" charset="0"/>
                  </a:rPr>
                  <a:t>作为基本迭代函数。先将消息填充为</a:t>
                </a:r>
                <a:r>
                  <a:rPr lang="en-US" altLang="zh-CN" sz="2000" dirty="0">
                    <a:latin typeface="Times New Roman" panose="02020603050405020304" pitchFamily="18" charset="0"/>
                    <a:cs typeface="Times New Roman" panose="02020603050405020304" pitchFamily="18" charset="0"/>
                  </a:rPr>
                  <a:t>64bits</a:t>
                </a:r>
                <a:r>
                  <a:rPr lang="zh-CN" altLang="en-US" sz="2000" dirty="0">
                    <a:latin typeface="Times New Roman" panose="02020603050405020304" pitchFamily="18" charset="0"/>
                    <a:cs typeface="Times New Roman" panose="02020603050405020304" pitchFamily="18" charset="0"/>
                  </a:rPr>
                  <a:t>的倍数，而后划分成</a:t>
                </a:r>
                <a:r>
                  <a:rPr lang="en-US" altLang="zh-CN" sz="2000" dirty="0">
                    <a:latin typeface="Times New Roman" panose="02020603050405020304" pitchFamily="18" charset="0"/>
                    <a:cs typeface="Times New Roman" panose="02020603050405020304" pitchFamily="18" charset="0"/>
                  </a:rPr>
                  <a:t>64bits</a:t>
                </a:r>
                <a:r>
                  <a:rPr lang="zh-CN" altLang="en-US" sz="2000" dirty="0">
                    <a:latin typeface="Times New Roman" panose="02020603050405020304" pitchFamily="18" charset="0"/>
                    <a:cs typeface="Times New Roman" panose="02020603050405020304" pitchFamily="18" charset="0"/>
                  </a:rPr>
                  <a:t>的组，最后在密钥的控制下对消息进行哈希。</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xmlns:a14="http://schemas.microsoft.com/office/drawing/2010/main" xmlns="" id="{1C1FCDB2-5B04-098B-64DF-890E69C2B296}"/>
                  </a:ext>
                </a:extLst>
              </p:cNvPr>
              <p:cNvSpPr txBox="1">
                <a:spLocks noRot="1" noChangeAspect="1" noMove="1" noResize="1" noEditPoints="1" noAdjustHandles="1" noChangeArrowheads="1" noChangeShapeType="1" noTextEdit="1"/>
              </p:cNvSpPr>
              <p:nvPr/>
            </p:nvSpPr>
            <p:spPr>
              <a:xfrm>
                <a:off x="312517" y="1554381"/>
                <a:ext cx="8479945" cy="3615670"/>
              </a:xfrm>
              <a:prstGeom prst="rect">
                <a:avLst/>
              </a:prstGeom>
              <a:blipFill rotWithShape="0">
                <a:blip r:embed="rId3"/>
                <a:stretch>
                  <a:fillRect l="-647" t="-169" r="-791" b="-219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8911B980-3497-42E7-9107-2072A4FB8DA2}"/>
              </a:ext>
            </a:extLst>
          </p:cNvPr>
          <p:cNvSpPr txBox="1"/>
          <p:nvPr/>
        </p:nvSpPr>
        <p:spPr>
          <a:xfrm>
            <a:off x="541009" y="5303619"/>
            <a:ext cx="8251453" cy="1384995"/>
          </a:xfrm>
          <a:prstGeom prst="rect">
            <a:avLst/>
          </a:prstGeom>
          <a:noFill/>
        </p:spPr>
        <p:txBody>
          <a:bodyPr wrap="square">
            <a:spAutoFit/>
          </a:bodyPr>
          <a:lstStyle/>
          <a:p>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1</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a:t>
            </a:r>
            <a:r>
              <a:rPr lang="en-US" altLang="zh-CN" sz="1200" b="0" i="0" dirty="0">
                <a:solidFill>
                  <a:schemeClr val="bg1">
                    <a:lumMod val="50000"/>
                  </a:schemeClr>
                </a:solidFill>
                <a:effectLst/>
                <a:latin typeface="Times New Roman" panose="02020603050405020304" pitchFamily="18" charset="0"/>
                <a:cs typeface="Times New Roman" panose="02020603050405020304" pitchFamily="18" charset="0"/>
              </a:rPr>
              <a:t>Merkle R C. A fast software one-way hash function[J]. Journal of Cryptology, 1990, 3: 43-58.</a:t>
            </a:r>
          </a:p>
          <a:p>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2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Dobbertin</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H,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Bosselaers</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A,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Preneel</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B. RIPEMD-160: A strengthened version of RIPEMD[C]//International Workshop on Fast    Software Encryption., 1996: 71-82.</a:t>
            </a:r>
          </a:p>
          <a:p>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3</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Zheng Y,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Pieprzyk</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J,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Seberry</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J. HAVAL—a one-way hashing algorithm with variable length of output[C]//Advances in Cryptology—AUSCRYPT’92  Advances in Cryptology, 1993: 81-104.</a:t>
            </a:r>
          </a:p>
          <a:p>
            <a:r>
              <a:rPr lang="en-US" altLang="zh-CN" sz="1200" baseline="30000" dirty="0">
                <a:solidFill>
                  <a:schemeClr val="bg1">
                    <a:lumMod val="50000"/>
                  </a:schemeClr>
                </a:solidFill>
                <a:latin typeface="Times New Roman" panose="02020603050405020304" pitchFamily="18" charset="0"/>
                <a:cs typeface="Times New Roman" panose="02020603050405020304" pitchFamily="18" charset="0"/>
              </a:rPr>
              <a:t>4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Bosselaers</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A, </a:t>
            </a:r>
            <a:r>
              <a:rPr lang="en-US" altLang="zh-CN" sz="1200" dirty="0" err="1">
                <a:solidFill>
                  <a:schemeClr val="bg1">
                    <a:lumMod val="50000"/>
                  </a:schemeClr>
                </a:solidFill>
                <a:latin typeface="Times New Roman" panose="02020603050405020304" pitchFamily="18" charset="0"/>
                <a:cs typeface="Times New Roman" panose="02020603050405020304" pitchFamily="18" charset="0"/>
              </a:rPr>
              <a:t>Preneel</a:t>
            </a:r>
            <a:r>
              <a:rPr lang="en-US" altLang="zh-CN" sz="1200" dirty="0">
                <a:solidFill>
                  <a:schemeClr val="bg1">
                    <a:lumMod val="50000"/>
                  </a:schemeClr>
                </a:solidFill>
                <a:latin typeface="Times New Roman" panose="02020603050405020304" pitchFamily="18" charset="0"/>
                <a:cs typeface="Times New Roman" panose="02020603050405020304" pitchFamily="18" charset="0"/>
              </a:rPr>
              <a:t> B. RIPE-MAC[J]. Integrity Primitives for Secure Information Systems: Final Report of RACE Integrity Primitives Evaluation RIPE-RACE 1040, 2005: 113-143.</a:t>
            </a:r>
          </a:p>
        </p:txBody>
      </p:sp>
    </p:spTree>
    <p:extLst>
      <p:ext uri="{BB962C8B-B14F-4D97-AF65-F5344CB8AC3E}">
        <p14:creationId xmlns:p14="http://schemas.microsoft.com/office/powerpoint/2010/main" val="1591972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5.1 SM3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算法概述</a:t>
            </a:r>
            <a:endParaRPr kumimoji="0" lang="zh-CN" altLang="en-US" sz="2400" b="1" i="0" u="none" strike="noStrike" kern="1200" cap="none" spc="0" normalizeH="0" baseline="0" noProof="0" dirty="0">
              <a:ln>
                <a:noFill/>
              </a:ln>
              <a:solidFill>
                <a:srgbClr val="FF0000"/>
              </a:solidFill>
              <a:effectLst/>
              <a:uLnTx/>
              <a:uFillTx/>
              <a:latin typeface="微软雅黑"/>
              <a:ea typeface="微软雅黑"/>
              <a:cs typeface="+mn-cs"/>
            </a:endParaRPr>
          </a:p>
        </p:txBody>
      </p:sp>
      <p:sp>
        <p:nvSpPr>
          <p:cNvPr id="4" name="文本框 3">
            <a:extLst>
              <a:ext uri="{FF2B5EF4-FFF2-40B4-BE49-F238E27FC236}">
                <a16:creationId xmlns:a16="http://schemas.microsoft.com/office/drawing/2014/main" id="{64CAF960-E897-5A2B-CB0F-1A7BBC613A2E}"/>
              </a:ext>
            </a:extLst>
          </p:cNvPr>
          <p:cNvSpPr txBox="1"/>
          <p:nvPr/>
        </p:nvSpPr>
        <p:spPr>
          <a:xfrm>
            <a:off x="312517" y="2717238"/>
            <a:ext cx="8479945" cy="2954207"/>
          </a:xfrm>
          <a:prstGeom prst="rect">
            <a:avLst/>
          </a:prstGeom>
          <a:noFill/>
        </p:spPr>
        <p:txBody>
          <a:bodyPr wrap="square" rtlCol="0">
            <a:spAutoFit/>
          </a:bodyPr>
          <a:lstStyle/>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从</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1996</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年至</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2005</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年，王小云提出比特追踪法，带领团队给出了</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MD5</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和</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SHA-1</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在内的系列哈希函数的碰撞攻击。</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为了抵抗比特追踪法的攻击，王小云团队设计了中国哈希函数标准</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SM3</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SM3</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采用三维强雪崩设计架构，可以有效抵抗比特追踪法攻击。</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l"/>
              <a:tabLst/>
              <a:defRPr/>
            </a:pPr>
            <a:r>
              <a:rPr lang="en-US" altLang="zh-CN" dirty="0">
                <a:solidFill>
                  <a:prstClr val="black"/>
                </a:solidFill>
                <a:latin typeface="Times New Roman" panose="02020603050405020304" pitchFamily="18" charset="0"/>
                <a:ea typeface="微软雅黑"/>
                <a:cs typeface="Times New Roman" panose="02020603050405020304" pitchFamily="18" charset="0"/>
              </a:rPr>
              <a:t>2018</a:t>
            </a:r>
            <a:r>
              <a:rPr lang="zh-CN" altLang="en-US" dirty="0">
                <a:solidFill>
                  <a:prstClr val="black"/>
                </a:solidFill>
                <a:latin typeface="Times New Roman" panose="02020603050405020304" pitchFamily="18" charset="0"/>
                <a:ea typeface="微软雅黑"/>
                <a:cs typeface="Times New Roman" panose="02020603050405020304" pitchFamily="18" charset="0"/>
              </a:rPr>
              <a:t>年，</a:t>
            </a:r>
            <a:r>
              <a:rPr lang="en-US" altLang="zh-CN" dirty="0">
                <a:solidFill>
                  <a:prstClr val="black"/>
                </a:solidFill>
                <a:latin typeface="Times New Roman" panose="02020603050405020304" pitchFamily="18" charset="0"/>
                <a:ea typeface="微软雅黑"/>
                <a:cs typeface="Times New Roman" panose="02020603050405020304" pitchFamily="18" charset="0"/>
              </a:rPr>
              <a:t>SM3</a:t>
            </a:r>
            <a:r>
              <a:rPr lang="zh-CN" altLang="en-US" dirty="0">
                <a:solidFill>
                  <a:prstClr val="black"/>
                </a:solidFill>
                <a:latin typeface="Times New Roman" panose="02020603050405020304" pitchFamily="18" charset="0"/>
                <a:ea typeface="微软雅黑"/>
                <a:cs typeface="Times New Roman" panose="02020603050405020304" pitchFamily="18" charset="0"/>
              </a:rPr>
              <a:t>和美国标准</a:t>
            </a:r>
            <a:r>
              <a:rPr lang="en-US" altLang="zh-CN" dirty="0">
                <a:solidFill>
                  <a:prstClr val="black"/>
                </a:solidFill>
                <a:latin typeface="Times New Roman" panose="02020603050405020304" pitchFamily="18" charset="0"/>
                <a:ea typeface="微软雅黑"/>
                <a:cs typeface="Times New Roman" panose="02020603050405020304" pitchFamily="18" charset="0"/>
              </a:rPr>
              <a:t>SHA2</a:t>
            </a:r>
            <a:r>
              <a:rPr lang="zh-CN" altLang="en-US" dirty="0">
                <a:solidFill>
                  <a:prstClr val="black"/>
                </a:solidFill>
                <a:latin typeface="Times New Roman" panose="02020603050405020304" pitchFamily="18" charset="0"/>
                <a:ea typeface="微软雅黑"/>
                <a:cs typeface="Times New Roman" panose="02020603050405020304" pitchFamily="18" charset="0"/>
              </a:rPr>
              <a:t>、</a:t>
            </a:r>
            <a:r>
              <a:rPr lang="en-US" altLang="zh-CN" dirty="0">
                <a:solidFill>
                  <a:prstClr val="black"/>
                </a:solidFill>
                <a:latin typeface="Times New Roman" panose="02020603050405020304" pitchFamily="18" charset="0"/>
                <a:ea typeface="微软雅黑"/>
                <a:cs typeface="Times New Roman" panose="02020603050405020304" pitchFamily="18" charset="0"/>
              </a:rPr>
              <a:t>SHA3</a:t>
            </a:r>
            <a:r>
              <a:rPr lang="zh-CN" altLang="en-US" dirty="0">
                <a:solidFill>
                  <a:prstClr val="black"/>
                </a:solidFill>
                <a:latin typeface="Times New Roman" panose="02020603050405020304" pitchFamily="18" charset="0"/>
                <a:ea typeface="微软雅黑"/>
                <a:cs typeface="Times New Roman" panose="02020603050405020304" pitchFamily="18" charset="0"/>
              </a:rPr>
              <a:t>、俄罗斯标准等一起纳入新一代</a:t>
            </a:r>
            <a:r>
              <a:rPr lang="en-US" altLang="zh-CN" dirty="0">
                <a:solidFill>
                  <a:prstClr val="black"/>
                </a:solidFill>
                <a:latin typeface="Times New Roman" panose="02020603050405020304" pitchFamily="18" charset="0"/>
                <a:ea typeface="微软雅黑"/>
                <a:cs typeface="Times New Roman" panose="02020603050405020304" pitchFamily="18" charset="0"/>
              </a:rPr>
              <a:t>ISO</a:t>
            </a:r>
            <a:r>
              <a:rPr lang="zh-CN" altLang="en-US" dirty="0">
                <a:solidFill>
                  <a:prstClr val="black"/>
                </a:solidFill>
                <a:latin typeface="Times New Roman" panose="02020603050405020304" pitchFamily="18" charset="0"/>
                <a:ea typeface="微软雅黑"/>
                <a:cs typeface="Times New Roman" panose="02020603050405020304" pitchFamily="18" charset="0"/>
              </a:rPr>
              <a:t>哈希函数标准。</a:t>
            </a:r>
            <a:endParaRPr lang="en-US" altLang="zh-CN" dirty="0">
              <a:solidFill>
                <a:prstClr val="black"/>
              </a:solidFill>
              <a:latin typeface="Times New Roman" panose="02020603050405020304" pitchFamily="18" charset="0"/>
              <a:ea typeface="微软雅黑"/>
              <a:cs typeface="Times New Roman" panose="02020603050405020304" pitchFamily="18" charset="0"/>
            </a:endParaRP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l"/>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SM3</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产生了巨大的社会效益和经济效益，被纳入了中国</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46</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类重要经济行业规范，包括国家电网、金融、社保、交通等众多领域。</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7" name="文本框 6">
            <a:extLst>
              <a:ext uri="{FF2B5EF4-FFF2-40B4-BE49-F238E27FC236}">
                <a16:creationId xmlns:a16="http://schemas.microsoft.com/office/drawing/2014/main" id="{DAB4BA9C-2BDD-4893-ADA7-128AA3E00CA7}"/>
              </a:ext>
            </a:extLst>
          </p:cNvPr>
          <p:cNvSpPr txBox="1"/>
          <p:nvPr/>
        </p:nvSpPr>
        <p:spPr>
          <a:xfrm>
            <a:off x="312517" y="1511542"/>
            <a:ext cx="5536192" cy="1168846"/>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600"/>
              </a:spcBef>
              <a:spcAft>
                <a:spcPts val="0"/>
              </a:spcAft>
              <a:buClrTx/>
              <a:buSzTx/>
              <a:buFontTx/>
              <a:buNone/>
              <a:tabLst/>
              <a:defRPr/>
            </a:pP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SM3</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是我国政府采用的一种哈希函数标准，由国家密码管理局于</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2010</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年</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12</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月</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17</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日发布。相关标准为“</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GM/T 0004-2012 《SM3</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密码杂凑算法</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2D943197-B1F0-4EC9-3DBE-A52F59491C0F}"/>
              </a:ext>
            </a:extLst>
          </p:cNvPr>
          <p:cNvPicPr>
            <a:picLocks noChangeAspect="1"/>
          </p:cNvPicPr>
          <p:nvPr/>
        </p:nvPicPr>
        <p:blipFill>
          <a:blip r:embed="rId3"/>
          <a:stretch>
            <a:fillRect/>
          </a:stretch>
        </p:blipFill>
        <p:spPr>
          <a:xfrm>
            <a:off x="5848709" y="1019100"/>
            <a:ext cx="2943753" cy="846782"/>
          </a:xfrm>
          <a:prstGeom prst="rect">
            <a:avLst/>
          </a:prstGeom>
        </p:spPr>
      </p:pic>
    </p:spTree>
    <p:extLst>
      <p:ext uri="{BB962C8B-B14F-4D97-AF65-F5344CB8AC3E}">
        <p14:creationId xmlns:p14="http://schemas.microsoft.com/office/powerpoint/2010/main" val="9023602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59479"/>
                <a:ext cx="8479945" cy="4431278"/>
              </a:xfrm>
              <a:prstGeom prst="rect">
                <a:avLst/>
              </a:prstGeom>
              <a:noFill/>
            </p:spPr>
            <p:txBody>
              <a:bodyPr wrap="square" rtlCol="0">
                <a:spAutoFit/>
              </a:bodyPr>
              <a:lstStyle/>
              <a:p>
                <a:pPr lvl="0" algn="just">
                  <a:lnSpc>
                    <a:spcPct val="120000"/>
                  </a:lnSpc>
                  <a:spcBef>
                    <a:spcPts val="600"/>
                  </a:spcBef>
                  <a:spcAft>
                    <a:spcPts val="600"/>
                  </a:spcAft>
                </a:pPr>
                <a:r>
                  <a:rPr lang="en-US" altLang="zh-CN" sz="2000" dirty="0">
                    <a:solidFill>
                      <a:prstClr val="black"/>
                    </a:solidFill>
                    <a:latin typeface="Times New Roman" panose="02020603050405020304" pitchFamily="18" charset="0"/>
                    <a:cs typeface="Times New Roman" panose="02020603050405020304" pitchFamily="18" charset="0"/>
                  </a:rPr>
                  <a:t>SM3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算法输入任意长的消息，将其映射至</a:t>
                </a:r>
                <a14:m>
                  <m:oMath xmlns:m="http://schemas.openxmlformats.org/officeDocument/2006/math">
                    <m:r>
                      <a:rPr kumimoji="0" lang="en-US" altLang="zh-CN" sz="2000" b="0" i="0" u="none" strike="noStrike" kern="1200" cap="none" spc="0" normalizeH="0" baseline="0" noProof="0" dirty="0" smtClean="0">
                        <a:ln>
                          <a:noFill/>
                        </a:ln>
                        <a:solidFill>
                          <a:srgbClr val="333333"/>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srgbClr val="333333"/>
                        </a:solidFill>
                        <a:effectLst/>
                        <a:uLnTx/>
                        <a:uFillTx/>
                        <a:latin typeface="Cambria Math" panose="02040503050406030204" pitchFamily="18" charset="0"/>
                        <a:cs typeface="Times New Roman" panose="02020603050405020304" pitchFamily="18" charset="0"/>
                      </a:rPr>
                      <m:t>256 </m:t>
                    </m:r>
                  </m:oMath>
                </a14:m>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 位 </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a:t>
                </a:r>
                <a14:m>
                  <m:oMath xmlns:m="http://schemas.openxmlformats.org/officeDocument/2006/math">
                    <m:r>
                      <a:rPr kumimoji="0" lang="en-US" altLang="zh-CN" sz="2000" b="0" i="1" u="none" strike="noStrike" kern="1200" cap="none" spc="0" normalizeH="0" baseline="0" noProof="0" dirty="0" smtClean="0">
                        <a:ln>
                          <a:noFill/>
                        </a:ln>
                        <a:solidFill>
                          <a:srgbClr val="333333"/>
                        </a:solidFill>
                        <a:effectLst/>
                        <a:uLnTx/>
                        <a:uFillTx/>
                        <a:latin typeface="Cambria Math" panose="02040503050406030204" pitchFamily="18" charset="0"/>
                        <a:cs typeface="Times New Roman" panose="02020603050405020304" pitchFamily="18" charset="0"/>
                      </a:rPr>
                      <m:t>32</m:t>
                    </m:r>
                    <m:r>
                      <a:rPr kumimoji="0" lang="en-US" altLang="zh-CN" sz="2000" b="0" i="0" u="none" strike="noStrike" kern="1200" cap="none" spc="0" normalizeH="0" baseline="0" noProof="0" dirty="0" smtClean="0">
                        <a:ln>
                          <a:noFill/>
                        </a:ln>
                        <a:solidFill>
                          <a:srgbClr val="333333"/>
                        </a:solidFill>
                        <a:effectLst/>
                        <a:uLnTx/>
                        <a:uFillTx/>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字节</a:t>
                </a:r>
                <a:r>
                  <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rPr>
                  <a:t>的哈希值</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srgbClr val="333333"/>
                  </a:solidFill>
                  <a:effectLst/>
                  <a:uLnTx/>
                  <a:uFillTx/>
                  <a:latin typeface="Times New Roman" panose="02020603050405020304" pitchFamily="18" charset="0"/>
                  <a:ea typeface="微软雅黑"/>
                  <a:cs typeface="Times New Roman" panose="02020603050405020304" pitchFamily="18" charset="0"/>
                </a:endParaRPr>
              </a:p>
              <a:p>
                <a:pPr lvl="0" algn="just">
                  <a:lnSpc>
                    <a:spcPct val="130000"/>
                  </a:lnSpc>
                  <a:spcBef>
                    <a:spcPts val="600"/>
                  </a:spcBef>
                  <a:spcAft>
                    <a:spcPts val="600"/>
                  </a:spcAft>
                </a:pPr>
                <a:r>
                  <a:rPr lang="en-US" altLang="zh-CN" sz="2000" b="1" dirty="0">
                    <a:solidFill>
                      <a:srgbClr val="333333"/>
                    </a:solidFill>
                    <a:latin typeface="Times New Roman" panose="02020603050405020304" pitchFamily="18" charset="0"/>
                    <a:cs typeface="Times New Roman" panose="02020603050405020304" pitchFamily="18" charset="0"/>
                  </a:rPr>
                  <a:t>SM3 </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基本思想</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：以</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512 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位的分组来处理输入的信息，每个分组再划分为</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16 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个</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32 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位子分组，经过一系列处理后，算法输出八个</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32 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位分组，将这八个</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32 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位分组级联后生成一个</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256 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位哈希值。</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30000"/>
                  </a:lnSpc>
                  <a:spcBef>
                    <a:spcPts val="600"/>
                  </a:spcBef>
                  <a:spcAft>
                    <a:spcPts val="600"/>
                  </a:spcAft>
                  <a:buClrTx/>
                  <a:buSzTx/>
                  <a:buFontTx/>
                  <a:buNone/>
                  <a:tabLst/>
                  <a:defRPr/>
                </a:pPr>
                <a:r>
                  <a:rPr kumimoji="0" lang="en-US" altLang="zh-CN" sz="2000" b="0" i="0" u="none" strike="noStrike" kern="1200" cap="none" spc="0" normalizeH="0" baseline="0" noProof="0" dirty="0">
                    <a:ln>
                      <a:noFill/>
                    </a:ln>
                    <a:solidFill>
                      <a:srgbClr val="374151"/>
                    </a:solidFill>
                    <a:effectLst/>
                    <a:uLnTx/>
                    <a:uFillTx/>
                    <a:latin typeface="Times New Roman" panose="02020603050405020304" pitchFamily="18" charset="0"/>
                    <a:ea typeface="微软雅黑"/>
                    <a:cs typeface="Times New Roman" panose="02020603050405020304" pitchFamily="18" charset="0"/>
                  </a:rPr>
                  <a:t>SM3 </a:t>
                </a:r>
                <a:r>
                  <a:rPr kumimoji="0" lang="zh-CN" altLang="en-US" sz="2000" b="0" i="0" u="none" strike="noStrike" kern="1200" cap="none" spc="0" normalizeH="0" baseline="0" noProof="0" dirty="0">
                    <a:ln>
                      <a:noFill/>
                    </a:ln>
                    <a:solidFill>
                      <a:srgbClr val="374151"/>
                    </a:solidFill>
                    <a:effectLst/>
                    <a:uLnTx/>
                    <a:uFillTx/>
                    <a:latin typeface="Times New Roman" panose="02020603050405020304" pitchFamily="18" charset="0"/>
                    <a:ea typeface="微软雅黑"/>
                    <a:cs typeface="Times New Roman" panose="02020603050405020304" pitchFamily="18" charset="0"/>
                  </a:rPr>
                  <a:t>的算法流程包括：</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R="0" lvl="0" algn="just" defTabSz="457200" rtl="0" eaLnBrk="1" fontAlgn="auto" latinLnBrk="0" hangingPunct="1">
                  <a:lnSpc>
                    <a:spcPct val="120000"/>
                  </a:lnSpc>
                  <a:spcBef>
                    <a:spcPts val="600"/>
                  </a:spcBef>
                  <a:spcAft>
                    <a:spcPts val="600"/>
                  </a:spcAft>
                  <a:buClrTx/>
                  <a:buSzTx/>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）消息填充</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R="0" lvl="0" algn="just" defTabSz="457200" rtl="0" eaLnBrk="1" fontAlgn="auto" latinLnBrk="0" hangingPunct="1">
                  <a:lnSpc>
                    <a:spcPct val="120000"/>
                  </a:lnSpc>
                  <a:spcBef>
                    <a:spcPts val="600"/>
                  </a:spcBef>
                  <a:spcAft>
                    <a:spcPts val="600"/>
                  </a:spcAft>
                  <a:buClrTx/>
                  <a:buSzTx/>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）分组扩展</a:t>
                </a:r>
              </a:p>
              <a:p>
                <a:pPr marR="0" lvl="0" algn="just" defTabSz="457200" rtl="0" eaLnBrk="1" fontAlgn="auto" latinLnBrk="0" hangingPunct="1">
                  <a:lnSpc>
                    <a:spcPct val="120000"/>
                  </a:lnSpc>
                  <a:spcBef>
                    <a:spcPts val="600"/>
                  </a:spcBef>
                  <a:spcAft>
                    <a:spcPts val="600"/>
                  </a:spcAft>
                  <a:buClrTx/>
                  <a:buSzTx/>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3</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迭代压缩</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R="0" lvl="0" algn="just" defTabSz="457200" rtl="0" eaLnBrk="1" fontAlgn="auto" latinLnBrk="0" hangingPunct="1">
                  <a:lnSpc>
                    <a:spcPct val="120000"/>
                  </a:lnSpc>
                  <a:spcBef>
                    <a:spcPts val="600"/>
                  </a:spcBef>
                  <a:spcAft>
                    <a:spcPts val="600"/>
                  </a:spcAft>
                  <a:buClrTx/>
                  <a:buSzTx/>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）输出哈希值</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299056" y="1659479"/>
                <a:ext cx="8479945" cy="4431278"/>
              </a:xfrm>
              <a:prstGeom prst="rect">
                <a:avLst/>
              </a:prstGeom>
              <a:blipFill>
                <a:blip r:embed="rId3"/>
                <a:stretch>
                  <a:fillRect l="-719" r="-791" b="-1513"/>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5.2 SM3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的算法流程</a:t>
            </a:r>
          </a:p>
        </p:txBody>
      </p:sp>
    </p:spTree>
    <p:extLst>
      <p:ext uri="{BB962C8B-B14F-4D97-AF65-F5344CB8AC3E}">
        <p14:creationId xmlns:p14="http://schemas.microsoft.com/office/powerpoint/2010/main" val="11478907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59479"/>
                <a:ext cx="8479945" cy="350076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600"/>
                  </a:spcBef>
                  <a:spcAft>
                    <a:spcPts val="60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SM3</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算法中使用以下常量与函数。</a:t>
                </a:r>
              </a:p>
              <a:p>
                <a:pPr lvl="0" algn="just">
                  <a:lnSpc>
                    <a:spcPct val="120000"/>
                  </a:lnSpc>
                  <a:spcBef>
                    <a:spcPts val="600"/>
                  </a:spcBef>
                  <a:spcAft>
                    <a:spcPts val="600"/>
                  </a:spcAft>
                </a:pPr>
                <a:r>
                  <a:rPr lang="zh-CN" altLang="en-US" sz="2000" dirty="0">
                    <a:solidFill>
                      <a:prstClr val="black"/>
                    </a:solidFill>
                    <a:latin typeface="Times New Roman" panose="02020603050405020304" pitchFamily="18" charset="0"/>
                    <a:cs typeface="Times New Roman" panose="02020603050405020304" pitchFamily="18" charset="0"/>
                  </a:rPr>
                  <a:t>（</a:t>
                </a:r>
                <a:r>
                  <a:rPr lang="en-US" altLang="zh-CN" sz="2000" dirty="0">
                    <a:solidFill>
                      <a:prstClr val="black"/>
                    </a:solidFill>
                    <a:latin typeface="Times New Roman" panose="02020603050405020304" pitchFamily="18" charset="0"/>
                    <a:cs typeface="Times New Roman" panose="02020603050405020304" pitchFamily="18" charset="0"/>
                  </a:rPr>
                  <a:t>1</a:t>
                </a:r>
                <a:r>
                  <a:rPr lang="zh-CN" altLang="en-US" sz="2000" dirty="0">
                    <a:solidFill>
                      <a:prstClr val="black"/>
                    </a:solidFill>
                    <a:latin typeface="Times New Roman" panose="02020603050405020304" pitchFamily="18" charset="0"/>
                    <a:cs typeface="Times New Roman" panose="02020603050405020304" pitchFamily="18" charset="0"/>
                  </a:rPr>
                  <a:t>）常量</a:t>
                </a:r>
                <a:endParaRPr lang="en-US" altLang="zh-CN" sz="2000" dirty="0">
                  <a:solidFill>
                    <a:prstClr val="black"/>
                  </a:solidFill>
                  <a:latin typeface="Times New Roman" panose="02020603050405020304" pitchFamily="18" charset="0"/>
                  <a:cs typeface="Times New Roman" panose="02020603050405020304" pitchFamily="18" charset="0"/>
                </a:endParaRPr>
              </a:p>
              <a:p>
                <a:pPr lvl="0" algn="just">
                  <a:lnSpc>
                    <a:spcPct val="120000"/>
                  </a:lnSpc>
                  <a:spcBef>
                    <a:spcPts val="600"/>
                  </a:spcBef>
                  <a:spcAft>
                    <a:spcPts val="600"/>
                  </a:spcAft>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初始值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IV = 7380166F 4914B2B9 172442D7 DA8A0600 A96F30BC </a:t>
                </a:r>
              </a:p>
              <a:p>
                <a:pPr lvl="0" algn="just">
                  <a:lnSpc>
                    <a:spcPct val="120000"/>
                  </a:lnSpc>
                  <a:spcBef>
                    <a:spcPts val="600"/>
                  </a:spcBef>
                  <a:spcAft>
                    <a:spcPts val="600"/>
                  </a:spcAft>
                </a:pPr>
                <a:r>
                  <a:rPr lang="en-US" altLang="zh-CN" sz="200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163138AA E38DEE4D B0FB0E4E</a:t>
                </a:r>
              </a:p>
              <a:p>
                <a:pPr lvl="0" algn="just">
                  <a:lnSpc>
                    <a:spcPct val="120000"/>
                  </a:lnSpc>
                  <a:spcBef>
                    <a:spcPts val="600"/>
                  </a:spcBef>
                  <a:spcAft>
                    <a:spcPts val="600"/>
                  </a:spcAft>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常量 </a:t>
                </a:r>
                <a14:m>
                  <m:oMath xmlns:m="http://schemas.openxmlformats.org/officeDocument/2006/math">
                    <m:sSub>
                      <m:sSubPr>
                        <m:ctrlPr>
                          <a:rPr lang="en-US" altLang="zh-CN" sz="2000" i="1" smtClean="0">
                            <a:solidFill>
                              <a:prstClr val="black"/>
                            </a:solidFill>
                            <a:latin typeface="Cambria Math" panose="02040503050406030204" pitchFamily="18" charset="0"/>
                            <a:ea typeface="微软雅黑"/>
                            <a:cs typeface="Times New Roman" panose="02020603050405020304" pitchFamily="18" charset="0"/>
                          </a:rPr>
                        </m:ctrlPr>
                      </m:sSubPr>
                      <m:e>
                        <m:r>
                          <a:rPr lang="en-US" altLang="zh-CN" sz="2000" b="0" i="1" smtClean="0">
                            <a:solidFill>
                              <a:prstClr val="black"/>
                            </a:solidFill>
                            <a:latin typeface="Cambria Math" panose="02040503050406030204" pitchFamily="18" charset="0"/>
                            <a:ea typeface="微软雅黑"/>
                            <a:cs typeface="Times New Roman" panose="02020603050405020304" pitchFamily="18" charset="0"/>
                          </a:rPr>
                          <m:t>𝑇</m:t>
                        </m:r>
                      </m:e>
                      <m:sub>
                        <m:r>
                          <a:rPr lang="en-US" altLang="zh-CN" sz="2000" b="0" i="1" smtClean="0">
                            <a:solidFill>
                              <a:prstClr val="black"/>
                            </a:solidFill>
                            <a:latin typeface="Cambria Math" panose="02040503050406030204" pitchFamily="18" charset="0"/>
                            <a:ea typeface="微软雅黑"/>
                            <a:cs typeface="Times New Roman" panose="02020603050405020304" pitchFamily="18" charset="0"/>
                          </a:rPr>
                          <m:t>𝑗</m:t>
                        </m:r>
                      </m:sub>
                    </m:sSub>
                    <m: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79</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𝐶𝐶</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4519，0≤</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zh-CN" altLang="en-US"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15</m:t>
                            </m:r>
                          </m:e>
                          <m:e>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7</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𝐴</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879</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𝐷</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8</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𝐴</m:t>
                            </m:r>
                            <m:r>
                              <a:rPr lang="zh-CN" altLang="en-US"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r>
                              <a:rPr lang="zh-CN" altLang="en-US"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zh-CN" altLang="en-US"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63</m:t>
                            </m:r>
                          </m:e>
                        </m:eqArr>
                      </m:e>
                    </m:d>
                  </m:oMath>
                </a14:m>
                <a:endParaRPr lang="en-US" altLang="zh-CN" sz="2000" dirty="0">
                  <a:solidFill>
                    <a:prstClr val="black"/>
                  </a:solidFill>
                  <a:latin typeface="Times New Roman" panose="02020603050405020304" pitchFamily="18" charset="0"/>
                  <a:ea typeface="Cambria Math" panose="02040503050406030204" pitchFamily="18" charset="0"/>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299056" y="1659479"/>
                <a:ext cx="8479945" cy="3500767"/>
              </a:xfrm>
              <a:prstGeom prst="rect">
                <a:avLst/>
              </a:prstGeom>
              <a:blipFill>
                <a:blip r:embed="rId3"/>
                <a:stretch>
                  <a:fillRect l="-719"/>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常量与函数</a:t>
            </a:r>
          </a:p>
        </p:txBody>
      </p:sp>
    </p:spTree>
    <p:extLst>
      <p:ext uri="{BB962C8B-B14F-4D97-AF65-F5344CB8AC3E}">
        <p14:creationId xmlns:p14="http://schemas.microsoft.com/office/powerpoint/2010/main" val="6573045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59479"/>
                <a:ext cx="8479945" cy="4830618"/>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600"/>
                  </a:spcBef>
                  <a:spcAft>
                    <a:spcPts val="60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）函数</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布尔函数：式中</a:t>
                </a:r>
                <a:r>
                  <a:rPr lang="en-US" altLang="zh-CN" sz="2000" i="1" dirty="0">
                    <a:solidFill>
                      <a:prstClr val="black"/>
                    </a:solidFill>
                    <a:latin typeface="Times New Roman" panose="02020603050405020304" pitchFamily="18" charset="0"/>
                    <a:ea typeface="微软雅黑"/>
                    <a:cs typeface="Times New Roman" panose="02020603050405020304" pitchFamily="18" charset="0"/>
                  </a:rPr>
                  <a:t>X</a:t>
                </a:r>
                <a:r>
                  <a:rPr lang="zh-CN" altLang="en-US" sz="2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Y</a:t>
                </a:r>
                <a:r>
                  <a:rPr lang="zh-CN" altLang="en-US" sz="2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仿宋" panose="02010609060101010101" pitchFamily="49" charset="-122"/>
                    <a:cs typeface="Times New Roman" panose="02020603050405020304" pitchFamily="18" charset="0"/>
                  </a:rPr>
                  <a:t>Z</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为</a:t>
                </a:r>
                <a:r>
                  <a:rPr lang="en-US" altLang="zh-CN" sz="2000" dirty="0">
                    <a:solidFill>
                      <a:prstClr val="black"/>
                    </a:solidFill>
                    <a:latin typeface="Times New Roman" panose="02020603050405020304" pitchFamily="18" charset="0"/>
                    <a:ea typeface="微软雅黑"/>
                    <a:cs typeface="Times New Roman" panose="02020603050405020304" pitchFamily="18" charset="0"/>
                  </a:rPr>
                  <a:t>32</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位字，</a:t>
                </a:r>
                <a14:m>
                  <m:oMath xmlns:m="http://schemas.openxmlformats.org/officeDocument/2006/math">
                    <m:r>
                      <a:rPr lang="zh-CN" altLang="en-US" sz="2000" i="1" smtClean="0">
                        <a:solidFill>
                          <a:prstClr val="black"/>
                        </a:solidFill>
                        <a:latin typeface="Cambria Math" panose="02040503050406030204" pitchFamily="18" charset="0"/>
                        <a:ea typeface="微软雅黑"/>
                        <a:cs typeface="Times New Roman" panose="02020603050405020304" pitchFamily="18" charset="0"/>
                      </a:rPr>
                      <m:t>∧</m:t>
                    </m:r>
                  </m:oMath>
                </a14:m>
                <a:r>
                  <a:rPr lang="zh-CN" altLang="en-US" sz="2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r>
                      <a:rPr lang="zh-CN" altLang="en-US" sz="2000" i="1" dirty="0" smtClean="0">
                        <a:solidFill>
                          <a:prstClr val="black"/>
                        </a:solidFill>
                        <a:latin typeface="Cambria Math" panose="02040503050406030204" pitchFamily="18" charset="0"/>
                        <a:ea typeface="仿宋" panose="02010609060101010101" pitchFamily="49" charset="-122"/>
                        <a:cs typeface="Times New Roman" panose="02020603050405020304" pitchFamily="18" charset="0"/>
                      </a:rPr>
                      <m:t>∨</m:t>
                    </m:r>
                  </m:oMath>
                </a14:m>
                <a:r>
                  <a:rPr lang="zh-CN" altLang="en-US" sz="2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r>
                      <a:rPr lang="zh-CN" altLang="en-US" sz="2000" i="1" dirty="0" smtClean="0">
                        <a:solidFill>
                          <a:prstClr val="black"/>
                        </a:solidFill>
                        <a:latin typeface="Cambria Math" panose="02040503050406030204" pitchFamily="18" charset="0"/>
                        <a:ea typeface="仿宋" panose="02010609060101010101" pitchFamily="49" charset="-122"/>
                        <a:cs typeface="Times New Roman" panose="02020603050405020304" pitchFamily="18" charset="0"/>
                      </a:rPr>
                      <m:t>−</m:t>
                    </m:r>
                  </m:oMath>
                </a14:m>
                <a:r>
                  <a:rPr lang="zh-CN" altLang="en-US" sz="2000" dirty="0">
                    <a:solidFill>
                      <a:prstClr val="black"/>
                    </a:solidFill>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r>
                      <a:rPr lang="zh-CN" altLang="en-US" sz="2000" i="1" dirty="0" smtClean="0">
                        <a:solidFill>
                          <a:prstClr val="black"/>
                        </a:solidFill>
                        <a:latin typeface="Cambria Math" panose="02040503050406030204" pitchFamily="18" charset="0"/>
                        <a:ea typeface="仿宋" panose="02010609060101010101" pitchFamily="49" charset="-122"/>
                        <a:cs typeface="Times New Roman" panose="02020603050405020304" pitchFamily="18" charset="0"/>
                      </a:rPr>
                      <m:t>⊕</m:t>
                    </m:r>
                  </m:oMath>
                </a14:m>
                <a:r>
                  <a:rPr lang="zh-CN" altLang="en-US" sz="2000" dirty="0">
                    <a:solidFill>
                      <a:prstClr val="black"/>
                    </a:solidFill>
                    <a:latin typeface="Times New Roman" panose="02020603050405020304" pitchFamily="18" charset="0"/>
                    <a:ea typeface="微软雅黑"/>
                    <a:cs typeface="Times New Roman" panose="02020603050405020304" pitchFamily="18" charset="0"/>
                  </a:rPr>
                  <a:t>分别是逻辑与、逻辑或、逻辑非和逐比特异或运算</a:t>
                </a: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lvl="0" defTabSz="914400" eaLnBrk="0" fontAlgn="base" hangingPunct="0">
                  <a:spcBef>
                    <a:spcPct val="0"/>
                  </a:spcBef>
                  <a:spcAft>
                    <a:spcPct val="0"/>
                  </a:spcAft>
                  <a:defRPr/>
                </a:pPr>
                <a:r>
                  <a:rPr lang="zh-CN" altLang="en-US" sz="2000" dirty="0">
                    <a:solidFill>
                      <a:prstClr val="black"/>
                    </a:solidFill>
                    <a:latin typeface="Times New Roman" panose="02020603050405020304" pitchFamily="18" charset="0"/>
                    <a:ea typeface="微软雅黑"/>
                    <a:cs typeface="Times New Roman" panose="02020603050405020304" pitchFamily="18" charset="0"/>
                  </a:rPr>
                  <a:t>置换函数：</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式中</a:t>
                </a:r>
                <a:r>
                  <a:rPr lang="en-US" altLang="zh-CN" sz="2400" i="1" dirty="0">
                    <a:solidFill>
                      <a:prstClr val="black"/>
                    </a:solidFill>
                    <a:latin typeface="Times New Roman" panose="02020603050405020304" pitchFamily="18" charset="0"/>
                    <a:ea typeface="微软雅黑"/>
                    <a:cs typeface="Times New Roman" panose="02020603050405020304" pitchFamily="18" charset="0"/>
                  </a:rPr>
                  <a:t>X</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为</a:t>
                </a:r>
                <a:r>
                  <a:rPr kumimoji="0" lang="en-US" altLang="zh-CN" sz="2400" b="0" i="0" u="none" strike="noStrike" kern="1200" cap="none" spc="0" normalizeH="0" baseline="0" noProof="0" dirty="0">
                    <a:ln>
                      <a:noFill/>
                    </a:ln>
                    <a:solidFill>
                      <a:srgbClr val="000000"/>
                    </a:solidFill>
                    <a:effectLst/>
                    <a:uLnTx/>
                    <a:uFillTx/>
                    <a:latin typeface="宋体"/>
                    <a:ea typeface="宋体"/>
                    <a:cs typeface="+mn-cs"/>
                  </a:rPr>
                  <a:t>32</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位字，符号</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a:t>
                </a:r>
                <a14:m>
                  <m:oMath xmlns:m="http://schemas.openxmlformats.org/officeDocument/2006/math">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oMath>
                </a14:m>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n</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表示把</a:t>
                </a:r>
                <a:r>
                  <a:rPr lang="en-US" altLang="zh-CN" sz="2400" i="1" dirty="0">
                    <a:solidFill>
                      <a:srgbClr val="000000"/>
                    </a:solidFill>
                    <a:latin typeface="Times New Roman" panose="02020603050405020304" pitchFamily="18" charset="0"/>
                    <a:ea typeface="宋体"/>
                    <a:cs typeface="Times New Roman" panose="02020603050405020304" pitchFamily="18" charset="0"/>
                  </a:rPr>
                  <a:t>a</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循环左移</a:t>
                </a:r>
                <a:r>
                  <a:rPr lang="en-US" altLang="zh-CN" sz="2400" i="1" dirty="0">
                    <a:solidFill>
                      <a:srgbClr val="000000"/>
                    </a:solidFill>
                    <a:latin typeface="Times New Roman" panose="02020603050405020304" pitchFamily="18" charset="0"/>
                    <a:ea typeface="宋体"/>
                    <a:cs typeface="Times New Roman" panose="02020603050405020304" pitchFamily="18" charset="0"/>
                  </a:rPr>
                  <a:t>n</a:t>
                </a:r>
                <a:r>
                  <a:rPr kumimoji="0" lang="zh-CN" altLang="en-US" sz="2400" b="0" i="0" u="none" strike="noStrike" kern="1200" cap="none" spc="0" normalizeH="0" baseline="0" noProof="0" dirty="0">
                    <a:ln>
                      <a:noFill/>
                    </a:ln>
                    <a:solidFill>
                      <a:srgbClr val="000000"/>
                    </a:solidFill>
                    <a:effectLst/>
                    <a:uLnTx/>
                    <a:uFillTx/>
                    <a:latin typeface="宋体"/>
                    <a:ea typeface="宋体"/>
                    <a:cs typeface="+mn-cs"/>
                  </a:rPr>
                  <a:t>位。</a:t>
                </a:r>
              </a:p>
              <a:p>
                <a:pPr marL="0" marR="0" lvl="0" indent="0" algn="just" defTabSz="457200" rtl="0" eaLnBrk="1" fontAlgn="auto" latinLnBrk="0" hangingPunct="1">
                  <a:lnSpc>
                    <a:spcPct val="120000"/>
                  </a:lnSpc>
                  <a:spcBef>
                    <a:spcPts val="600"/>
                  </a:spcBef>
                  <a:spcAft>
                    <a:spcPts val="600"/>
                  </a:spcAft>
                  <a:buClrTx/>
                  <a:buSzTx/>
                  <a:buFontTx/>
                  <a:buNone/>
                  <a:tabLst/>
                  <a:defRPr/>
                </a:pP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20000"/>
                  </a:lnSpc>
                  <a:spcBef>
                    <a:spcPts val="600"/>
                  </a:spcBef>
                  <a:spcAft>
                    <a:spcPts val="60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299056" y="1659479"/>
                <a:ext cx="8479945" cy="4830618"/>
              </a:xfrm>
              <a:prstGeom prst="rect">
                <a:avLst/>
              </a:prstGeom>
              <a:blipFill>
                <a:blip r:embed="rId3"/>
                <a:stretch>
                  <a:fillRect l="-719" r="-791"/>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常量与函数</a:t>
            </a:r>
          </a:p>
        </p:txBody>
      </p:sp>
      <p:pic>
        <p:nvPicPr>
          <p:cNvPr id="4" name="图片 3">
            <a:extLst>
              <a:ext uri="{FF2B5EF4-FFF2-40B4-BE49-F238E27FC236}">
                <a16:creationId xmlns:a16="http://schemas.microsoft.com/office/drawing/2014/main" id="{ECB9E6BD-47A0-64F0-1B41-DB4D7A5BECEF}"/>
              </a:ext>
            </a:extLst>
          </p:cNvPr>
          <p:cNvPicPr>
            <a:picLocks noChangeAspect="1"/>
          </p:cNvPicPr>
          <p:nvPr/>
        </p:nvPicPr>
        <p:blipFill>
          <a:blip r:embed="rId4"/>
          <a:stretch>
            <a:fillRect/>
          </a:stretch>
        </p:blipFill>
        <p:spPr>
          <a:xfrm>
            <a:off x="599162" y="3065575"/>
            <a:ext cx="7531608" cy="1859280"/>
          </a:xfrm>
          <a:prstGeom prst="rect">
            <a:avLst/>
          </a:prstGeom>
        </p:spPr>
      </p:pic>
      <p:pic>
        <p:nvPicPr>
          <p:cNvPr id="5" name="图片 4">
            <a:extLst>
              <a:ext uri="{FF2B5EF4-FFF2-40B4-BE49-F238E27FC236}">
                <a16:creationId xmlns:a16="http://schemas.microsoft.com/office/drawing/2014/main" id="{87447526-20D4-C6B0-4F23-5765460F4AB5}"/>
              </a:ext>
            </a:extLst>
          </p:cNvPr>
          <p:cNvPicPr>
            <a:picLocks noChangeAspect="1"/>
          </p:cNvPicPr>
          <p:nvPr/>
        </p:nvPicPr>
        <p:blipFill>
          <a:blip r:embed="rId5"/>
          <a:stretch>
            <a:fillRect/>
          </a:stretch>
        </p:blipFill>
        <p:spPr>
          <a:xfrm>
            <a:off x="2259202" y="5558368"/>
            <a:ext cx="4351020" cy="821436"/>
          </a:xfrm>
          <a:prstGeom prst="rect">
            <a:avLst/>
          </a:prstGeom>
        </p:spPr>
      </p:pic>
    </p:spTree>
    <p:extLst>
      <p:ext uri="{BB962C8B-B14F-4D97-AF65-F5344CB8AC3E}">
        <p14:creationId xmlns:p14="http://schemas.microsoft.com/office/powerpoint/2010/main" val="28178177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62A5DE-B116-2098-BBCF-2C373A6B4455}"/>
                  </a:ext>
                </a:extLst>
              </p:cNvPr>
              <p:cNvSpPr txBox="1"/>
              <p:nvPr/>
            </p:nvSpPr>
            <p:spPr>
              <a:xfrm>
                <a:off x="299056" y="1659479"/>
                <a:ext cx="8479945" cy="5008359"/>
              </a:xfrm>
              <a:prstGeom prst="rect">
                <a:avLst/>
              </a:prstGeom>
              <a:noFill/>
            </p:spPr>
            <p:txBody>
              <a:bodyPr wrap="square" rtlCol="0">
                <a:spAutoFit/>
              </a:bodyPr>
              <a:lstStyle/>
              <a:p>
                <a:pPr lvl="0" algn="just">
                  <a:lnSpc>
                    <a:spcPct val="120000"/>
                  </a:lnSpc>
                  <a:spcBef>
                    <a:spcPts val="600"/>
                  </a:spcBef>
                  <a:spcAft>
                    <a:spcPts val="600"/>
                  </a:spcAft>
                </a:pPr>
                <a:r>
                  <a:rPr lang="zh-CN" altLang="en-US" sz="2000" dirty="0">
                    <a:solidFill>
                      <a:prstClr val="black"/>
                    </a:solidFill>
                    <a:latin typeface="Times New Roman" panose="02020603050405020304" pitchFamily="18" charset="0"/>
                    <a:cs typeface="Times New Roman" panose="02020603050405020304" pitchFamily="18" charset="0"/>
                  </a:rPr>
                  <a:t>算法对数据首先进行填充，再进行迭代压缩，最后生成哈希值。</a:t>
                </a:r>
                <a:endParaRPr lang="en-US" altLang="zh-CN" sz="2000" dirty="0">
                  <a:solidFill>
                    <a:prstClr val="black"/>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消息填充</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a:p>
                <a:pPr marL="342900" marR="0" lvl="0" indent="-342900" algn="just" defTabSz="457200" rtl="0" eaLnBrk="1" fontAlgn="auto" latinLnBrk="0" hangingPunct="1">
                  <a:lnSpc>
                    <a:spcPct val="130000"/>
                  </a:lnSpc>
                  <a:spcBef>
                    <a:spcPts val="6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按位填充消息</a:t>
                </a:r>
                <a:endPar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a:p>
                <a:pPr marL="914400" marR="0" lvl="1" indent="-457200" algn="just" defTabSz="4572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如果长度为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bits</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的原始消息长度不满足</a:t>
                </a:r>
                <a14:m>
                  <m:oMath xmlns:m="http://schemas.openxmlformats.org/officeDocument/2006/math">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𝐿</m:t>
                    </m:r>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 </m:t>
                    </m:r>
                    <m:r>
                      <m:rPr>
                        <m:sty m:val="p"/>
                      </m:rP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mod</m:t>
                    </m:r>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 512=448</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，先填充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个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“1”</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比特，再填充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𝑘</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个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“0”</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比特，直至填充后的消息长度满足 </a:t>
                </a:r>
                <a14:m>
                  <m:oMath xmlns:m="http://schemas.openxmlformats.org/officeDocument/2006/math">
                    <m:d>
                      <m:dPr>
                        <m:ctrlP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𝐿</m:t>
                        </m:r>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+1+</m:t>
                        </m:r>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𝑘</m:t>
                        </m:r>
                      </m:e>
                    </m:d>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m:t>
                    </m:r>
                    <m:r>
                      <m:rPr>
                        <m:sty m:val="p"/>
                      </m:rP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mod</m:t>
                    </m:r>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512=448</m:t>
                    </m:r>
                  </m:oMath>
                </a14:m>
                <a:r>
                  <a:rPr kumimoji="0" lang="zh-CN" altLang="en-US" sz="2000" b="0" i="0" u="none" strike="noStrike" kern="1200" cap="none" spc="0" normalizeH="0" baseline="0" noProof="0" dirty="0">
                    <a:ln>
                      <a:noFill/>
                    </a:ln>
                    <a:solidFill>
                      <a:prstClr val="black"/>
                    </a:solidFill>
                    <a:effectLst/>
                    <a:uLnTx/>
                    <a:uFillTx/>
                    <a:latin typeface="Arial"/>
                    <a:ea typeface="微软雅黑"/>
                    <a:cs typeface="+mn-cs"/>
                  </a:rPr>
                  <a:t>，</a:t>
                </a:r>
                <a14:m>
                  <m:oMath xmlns:m="http://schemas.openxmlformats.org/officeDocument/2006/math">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𝑘</m:t>
                    </m:r>
                  </m:oMath>
                </a14:m>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 取最小正整数。</a:t>
                </a:r>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a:p>
                <a:pPr marL="914400" marR="0" lvl="1" indent="-457200" algn="just" defTabSz="4572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如果原始消息长度恰好满足</a:t>
                </a:r>
                <a14:m>
                  <m:oMath xmlns:m="http://schemas.openxmlformats.org/officeDocument/2006/math">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 </m:t>
                    </m:r>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𝐿</m:t>
                    </m:r>
                    <m:r>
                      <a:rPr kumimoji="0" lang="en-US" altLang="zh-CN" sz="2000" b="0" i="1"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m:t>
                    </m:r>
                    <m:r>
                      <m:rPr>
                        <m:sty m:val="p"/>
                      </m:rP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mod</m:t>
                    </m:r>
                    <m:r>
                      <a:rPr kumimoji="0" lang="en-US" altLang="zh-CN" sz="2000" b="0" i="1"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 512=448</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，填充</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512 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个比特。</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457200" marR="0" lvl="0" indent="-457200" algn="just" defTabSz="457200" rtl="0" eaLnBrk="1" fontAlgn="auto" latinLnBrk="0" hangingPunct="1">
                  <a:lnSpc>
                    <a:spcPct val="130000"/>
                  </a:lnSpc>
                  <a:spcBef>
                    <a:spcPts val="6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追加消息长度</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914400" marR="0" lvl="1" indent="-457200" algn="just" defTabSz="4572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将原始消息的长度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以 </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的形式追加到填充的消息末尾。</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914400" marR="0" lvl="1" indent="-457200" algn="just" defTabSz="4572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如果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超过 </a:t>
                </a:r>
                <a14:m>
                  <m:oMath xmlns:m="http://schemas.openxmlformats.org/officeDocument/2006/math">
                    <m: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bits</m:t>
                    </m:r>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所能表示的数据长度，只保留</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最后</a:t>
                </a:r>
                <a14:m>
                  <m:oMath xmlns:m="http://schemas.openxmlformats.org/officeDocument/2006/math">
                    <m: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 </m:t>
                    </m:r>
                    <m: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64</m:t>
                    </m:r>
                    <m:r>
                      <m:rPr>
                        <m:sty m:val="p"/>
                      </m:rPr>
                      <a:rPr kumimoji="0" lang="en-US" altLang="zh-CN" sz="2000" b="0" i="0" u="none" strike="noStrike" kern="1200" cap="none" spc="0" normalizeH="0" baseline="0" noProof="0" dirty="0">
                        <a:ln>
                          <a:noFill/>
                        </a:ln>
                        <a:solidFill>
                          <a:srgbClr val="0000FF"/>
                        </a:solidFill>
                        <a:effectLst/>
                        <a:uLnTx/>
                        <a:uFillTx/>
                        <a:latin typeface="Cambria Math" panose="02040503050406030204" pitchFamily="18" charset="0"/>
                        <a:cs typeface="Times New Roman" panose="02020603050405020304" pitchFamily="18" charset="0"/>
                      </a:rPr>
                      <m:t>bits</m:t>
                    </m:r>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just" defTabSz="457200" rtl="0" eaLnBrk="1" fontAlgn="auto" latinLnBrk="0" hangingPunct="1">
                  <a:lnSpc>
                    <a:spcPct val="130000"/>
                  </a:lnSpc>
                  <a:spcBef>
                    <a:spcPts val="60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最后消息</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为 </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512 </a:t>
                </a:r>
                <a14:m>
                  <m:oMath xmlns:m="http://schemas.openxmlformats.org/officeDocument/2006/math">
                    <m:r>
                      <m:rPr>
                        <m:sty m:val="p"/>
                      </m:rPr>
                      <a:rPr kumimoji="0" lang="en-US" altLang="zh-CN" sz="2000" b="0" i="0" u="none" strike="noStrike" kern="1200" cap="none" spc="0" normalizeH="0" baseline="0" noProof="0" dirty="0" smtClean="0">
                        <a:ln>
                          <a:noFill/>
                        </a:ln>
                        <a:solidFill>
                          <a:srgbClr val="0000FF"/>
                        </a:solidFill>
                        <a:effectLst/>
                        <a:uLnTx/>
                        <a:uFillTx/>
                        <a:latin typeface="Cambria Math" panose="02040503050406030204" pitchFamily="18" charset="0"/>
                        <a:cs typeface="Times New Roman" panose="02020603050405020304" pitchFamily="18" charset="0"/>
                      </a:rPr>
                      <m:t>bits</m:t>
                    </m:r>
                  </m:oMath>
                </a14:m>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的整数倍</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14:m>
                  <m:oMath xmlns:m="http://schemas.openxmlformats.org/officeDocument/2006/math">
                    <m:r>
                      <m:rPr>
                        <m:sty m:val="p"/>
                      </m:rP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mn-cs"/>
                      </a:rPr>
                      <m:t>N</m:t>
                    </m:r>
                    <m:r>
                      <a:rPr kumimoji="0" lang="en-US" altLang="zh-CN" sz="2000" b="0" i="0" u="none" strike="noStrike" kern="1200" cap="none" spc="0" normalizeH="0" baseline="0" noProof="0" dirty="0">
                        <a:ln>
                          <a:noFill/>
                        </a:ln>
                        <a:solidFill>
                          <a:prstClr val="black"/>
                        </a:solidFill>
                        <a:effectLst/>
                        <a:uLnTx/>
                        <a:uFillTx/>
                        <a:latin typeface="Cambria Math" panose="02040503050406030204" pitchFamily="18" charset="0"/>
                        <a:cs typeface="+mn-cs"/>
                      </a:rPr>
                      <m:t>∗512</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bits)</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D62A5DE-B116-2098-BBCF-2C373A6B4455}"/>
                  </a:ext>
                </a:extLst>
              </p:cNvPr>
              <p:cNvSpPr txBox="1">
                <a:spLocks noRot="1" noChangeAspect="1" noMove="1" noResize="1" noEditPoints="1" noAdjustHandles="1" noChangeArrowheads="1" noChangeShapeType="1" noTextEdit="1"/>
              </p:cNvSpPr>
              <p:nvPr/>
            </p:nvSpPr>
            <p:spPr>
              <a:xfrm>
                <a:off x="299056" y="1659479"/>
                <a:ext cx="8479945" cy="5008359"/>
              </a:xfrm>
              <a:prstGeom prst="rect">
                <a:avLst/>
              </a:prstGeom>
              <a:blipFill>
                <a:blip r:embed="rId3"/>
                <a:stretch>
                  <a:fillRect l="-1078" r="-791" b="-1217"/>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2. </a:t>
            </a:r>
            <a:r>
              <a:rPr lang="zh-CN" altLang="en-US" sz="2400" b="1" dirty="0">
                <a:solidFill>
                  <a:srgbClr val="FF0000"/>
                </a:solidFill>
                <a:latin typeface="Times New Roman" panose="02020603050405020304" pitchFamily="18" charset="0"/>
                <a:ea typeface="微软雅黑"/>
                <a:cs typeface="Times New Roman" panose="02020603050405020304" pitchFamily="18" charset="0"/>
              </a:rPr>
              <a:t>算法描述</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21801036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 SM3 </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消息填充</a:t>
            </a:r>
          </a:p>
        </p:txBody>
      </p:sp>
      <p:grpSp>
        <p:nvGrpSpPr>
          <p:cNvPr id="108" name="组合 107">
            <a:extLst>
              <a:ext uri="{FF2B5EF4-FFF2-40B4-BE49-F238E27FC236}">
                <a16:creationId xmlns:a16="http://schemas.microsoft.com/office/drawing/2014/main" id="{42080F09-C16E-4021-82D5-F133986CB07F}"/>
              </a:ext>
            </a:extLst>
          </p:cNvPr>
          <p:cNvGrpSpPr/>
          <p:nvPr/>
        </p:nvGrpSpPr>
        <p:grpSpPr>
          <a:xfrm>
            <a:off x="1718682" y="2019836"/>
            <a:ext cx="6332357" cy="3057050"/>
            <a:chOff x="1718682" y="1521691"/>
            <a:chExt cx="6332357" cy="3057050"/>
          </a:xfrm>
        </p:grpSpPr>
        <p:cxnSp>
          <p:nvCxnSpPr>
            <p:cNvPr id="59" name="直接箭头连接符 58">
              <a:extLst>
                <a:ext uri="{FF2B5EF4-FFF2-40B4-BE49-F238E27FC236}">
                  <a16:creationId xmlns:a16="http://schemas.microsoft.com/office/drawing/2014/main" id="{C0DF60A5-A31F-4F43-8B4F-E1AF36C4BEBC}"/>
                </a:ext>
              </a:extLst>
            </p:cNvPr>
            <p:cNvCxnSpPr>
              <a:cxnSpLocks/>
            </p:cNvCxnSpPr>
            <p:nvPr/>
          </p:nvCxnSpPr>
          <p:spPr>
            <a:xfrm>
              <a:off x="1718682" y="1911184"/>
              <a:ext cx="520083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15C15CCB-4FFB-4C0C-B465-A84D40401F6C}"/>
                    </a:ext>
                  </a:extLst>
                </p:cNvPr>
                <p:cNvSpPr txBox="1"/>
                <p:nvPr/>
              </p:nvSpPr>
              <p:spPr>
                <a:xfrm>
                  <a:off x="3623894" y="1521691"/>
                  <a:ext cx="143929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N</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∗512</m:t>
                      </m:r>
                    </m:oMath>
                  </a14:m>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bits</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0" name="文本框 59">
                  <a:extLst>
                    <a:ext uri="{FF2B5EF4-FFF2-40B4-BE49-F238E27FC236}">
                      <a16:creationId xmlns:a16="http://schemas.microsoft.com/office/drawing/2014/main" id="{15C15CCB-4FFB-4C0C-B465-A84D40401F6C}"/>
                    </a:ext>
                  </a:extLst>
                </p:cNvPr>
                <p:cNvSpPr txBox="1">
                  <a:spLocks noRot="1" noChangeAspect="1" noMove="1" noResize="1" noEditPoints="1" noAdjustHandles="1" noChangeArrowheads="1" noChangeShapeType="1" noTextEdit="1"/>
                </p:cNvSpPr>
                <p:nvPr/>
              </p:nvSpPr>
              <p:spPr>
                <a:xfrm>
                  <a:off x="3623894" y="1521691"/>
                  <a:ext cx="1439291" cy="369332"/>
                </a:xfrm>
                <a:prstGeom prst="rect">
                  <a:avLst/>
                </a:prstGeom>
                <a:blipFill>
                  <a:blip r:embed="rId3"/>
                  <a:stretch>
                    <a:fillRect t="-8197" b="-24590"/>
                  </a:stretch>
                </a:blipFill>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4C098E3E-5843-43F6-920F-C4B0914E8743}"/>
                </a:ext>
              </a:extLst>
            </p:cNvPr>
            <p:cNvSpPr/>
            <p:nvPr/>
          </p:nvSpPr>
          <p:spPr>
            <a:xfrm>
              <a:off x="1718682" y="2578599"/>
              <a:ext cx="2871683" cy="395866"/>
            </a:xfrm>
            <a:prstGeom prst="rect">
              <a:avLst/>
            </a:prstGeom>
            <a:solidFill>
              <a:schemeClr val="accent5">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消息</a:t>
              </a:r>
            </a:p>
          </p:txBody>
        </p:sp>
        <p:cxnSp>
          <p:nvCxnSpPr>
            <p:cNvPr id="62" name="直接箭头连接符 61">
              <a:extLst>
                <a:ext uri="{FF2B5EF4-FFF2-40B4-BE49-F238E27FC236}">
                  <a16:creationId xmlns:a16="http://schemas.microsoft.com/office/drawing/2014/main" id="{720A61AE-A5EE-4570-B233-0E6A43CA7AB4}"/>
                </a:ext>
              </a:extLst>
            </p:cNvPr>
            <p:cNvCxnSpPr>
              <a:cxnSpLocks/>
            </p:cNvCxnSpPr>
            <p:nvPr/>
          </p:nvCxnSpPr>
          <p:spPr>
            <a:xfrm>
              <a:off x="1718682" y="2387161"/>
              <a:ext cx="2871683"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19A9097-2C25-4EDE-82D4-277845086A7D}"/>
                    </a:ext>
                  </a:extLst>
                </p:cNvPr>
                <p:cNvSpPr txBox="1"/>
                <p:nvPr/>
              </p:nvSpPr>
              <p:spPr>
                <a:xfrm>
                  <a:off x="2689461" y="1968045"/>
                  <a:ext cx="1279037" cy="37280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𝐿</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3" name="文本框 62">
                  <a:extLst>
                    <a:ext uri="{FF2B5EF4-FFF2-40B4-BE49-F238E27FC236}">
                      <a16:creationId xmlns:a16="http://schemas.microsoft.com/office/drawing/2014/main" xmlns:a14="http://schemas.microsoft.com/office/drawing/2010/main" xmlns="" id="{E19A9097-2C25-4EDE-82D4-277845086A7D}"/>
                    </a:ext>
                  </a:extLst>
                </p:cNvPr>
                <p:cNvSpPr txBox="1">
                  <a:spLocks noRot="1" noChangeAspect="1" noMove="1" noResize="1" noEditPoints="1" noAdjustHandles="1" noChangeArrowheads="1" noChangeShapeType="1" noTextEdit="1"/>
                </p:cNvSpPr>
                <p:nvPr/>
              </p:nvSpPr>
              <p:spPr>
                <a:xfrm>
                  <a:off x="2689461" y="1968045"/>
                  <a:ext cx="1279037" cy="372803"/>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396FB21A-84D9-48AD-9676-039509945C4E}"/>
                    </a:ext>
                  </a:extLst>
                </p:cNvPr>
                <p:cNvSpPr/>
                <p:nvPr/>
              </p:nvSpPr>
              <p:spPr>
                <a:xfrm>
                  <a:off x="4590367" y="2578599"/>
                  <a:ext cx="1872341" cy="395866"/>
                </a:xfrm>
                <a:prstGeom prst="rect">
                  <a:avLst/>
                </a:prstGeom>
                <a:solidFill>
                  <a:schemeClr val="accent5">
                    <a:lumMod val="60000"/>
                    <a:lumOff val="4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100...00</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4" name="矩形 63">
                  <a:extLst>
                    <a:ext uri="{FF2B5EF4-FFF2-40B4-BE49-F238E27FC236}">
                      <a16:creationId xmlns:a16="http://schemas.microsoft.com/office/drawing/2014/main" id="{396FB21A-84D9-48AD-9676-039509945C4E}"/>
                    </a:ext>
                  </a:extLst>
                </p:cNvPr>
                <p:cNvSpPr>
                  <a:spLocks noRot="1" noChangeAspect="1" noMove="1" noResize="1" noEditPoints="1" noAdjustHandles="1" noChangeArrowheads="1" noChangeShapeType="1" noTextEdit="1"/>
                </p:cNvSpPr>
                <p:nvPr/>
              </p:nvSpPr>
              <p:spPr>
                <a:xfrm>
                  <a:off x="4590367" y="2578599"/>
                  <a:ext cx="1872341" cy="395866"/>
                </a:xfrm>
                <a:prstGeom prst="rect">
                  <a:avLst/>
                </a:prstGeom>
                <a:blipFill>
                  <a:blip r:embed="rId5"/>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对话气泡: 圆角矩形 64">
                  <a:extLst>
                    <a:ext uri="{FF2B5EF4-FFF2-40B4-BE49-F238E27FC236}">
                      <a16:creationId xmlns:a16="http://schemas.microsoft.com/office/drawing/2014/main" id="{96BBF0A8-5D27-4A5A-B17F-9132EE14B172}"/>
                    </a:ext>
                  </a:extLst>
                </p:cNvPr>
                <p:cNvSpPr/>
                <p:nvPr/>
              </p:nvSpPr>
              <p:spPr>
                <a:xfrm>
                  <a:off x="4730200" y="2139591"/>
                  <a:ext cx="2189316" cy="361256"/>
                </a:xfrm>
                <a:prstGeom prst="wedgeRoundRectCallout">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填充</a:t>
                  </a:r>
                  <a14:m>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1~512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bits</m:t>
                      </m:r>
                    </m:oMath>
                  </a14:m>
                  <a:endParaRPr kumimoji="0" lang="zh-CN"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xmlns="">
            <p:sp>
              <p:nvSpPr>
                <p:cNvPr id="65" name="对话气泡: 圆角矩形 64">
                  <a:extLst>
                    <a:ext uri="{FF2B5EF4-FFF2-40B4-BE49-F238E27FC236}">
                      <a16:creationId xmlns:a16="http://schemas.microsoft.com/office/drawing/2014/main" id="{96BBF0A8-5D27-4A5A-B17F-9132EE14B172}"/>
                    </a:ext>
                  </a:extLst>
                </p:cNvPr>
                <p:cNvSpPr>
                  <a:spLocks noRot="1" noChangeAspect="1" noMove="1" noResize="1" noEditPoints="1" noAdjustHandles="1" noChangeArrowheads="1" noChangeShapeType="1" noTextEdit="1"/>
                </p:cNvSpPr>
                <p:nvPr/>
              </p:nvSpPr>
              <p:spPr>
                <a:xfrm>
                  <a:off x="4730200" y="2139591"/>
                  <a:ext cx="2189316" cy="361256"/>
                </a:xfrm>
                <a:prstGeom prst="wedgeRoundRectCallout">
                  <a:avLst/>
                </a:prstGeom>
                <a:blipFill>
                  <a:blip r:embed="rId6"/>
                  <a:stretch>
                    <a:fillRect t="-8955" b="-11940"/>
                  </a:stretch>
                </a:blipFill>
                <a:ln w="12700">
                  <a:noFill/>
                </a:ln>
              </p:spPr>
              <p:txBody>
                <a:bodyPr/>
                <a:lstStyle/>
                <a:p>
                  <a:r>
                    <a:rPr lang="zh-CN" altLang="en-US">
                      <a:noFill/>
                    </a:rPr>
                    <a:t> </a:t>
                  </a:r>
                </a:p>
              </p:txBody>
            </p:sp>
          </mc:Fallback>
        </mc:AlternateContent>
        <p:sp>
          <p:nvSpPr>
            <p:cNvPr id="66" name="矩形 65">
              <a:extLst>
                <a:ext uri="{FF2B5EF4-FFF2-40B4-BE49-F238E27FC236}">
                  <a16:creationId xmlns:a16="http://schemas.microsoft.com/office/drawing/2014/main" id="{82CBF2F6-B8A1-4AAA-80A7-B264BAFAE255}"/>
                </a:ext>
              </a:extLst>
            </p:cNvPr>
            <p:cNvSpPr/>
            <p:nvPr/>
          </p:nvSpPr>
          <p:spPr>
            <a:xfrm>
              <a:off x="6462705" y="2578599"/>
              <a:ext cx="456810" cy="395866"/>
            </a:xfrm>
            <a:prstGeom prst="rect">
              <a:avLst/>
            </a:prstGeom>
            <a:solidFill>
              <a:schemeClr val="accent5">
                <a:lumMod val="20000"/>
                <a:lumOff val="8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7" name="对话气泡: 圆角矩形 66">
                  <a:extLst>
                    <a:ext uri="{FF2B5EF4-FFF2-40B4-BE49-F238E27FC236}">
                      <a16:creationId xmlns:a16="http://schemas.microsoft.com/office/drawing/2014/main" id="{48B4EA2F-ADA8-432B-B873-C955FEAC8154}"/>
                    </a:ext>
                  </a:extLst>
                </p:cNvPr>
                <p:cNvSpPr/>
                <p:nvPr/>
              </p:nvSpPr>
              <p:spPr>
                <a:xfrm>
                  <a:off x="6178698" y="3141734"/>
                  <a:ext cx="1872341" cy="361255"/>
                </a:xfrm>
                <a:prstGeom prst="wedgeRoundRectCallout">
                  <a:avLst>
                    <a:gd name="adj1" fmla="val -18501"/>
                    <a:gd name="adj2" fmla="val -88654"/>
                    <a:gd name="adj3" fmla="val 16667"/>
                  </a:avLst>
                </a:prstGeom>
                <a:solidFill>
                  <a:schemeClr val="bg1">
                    <a:lumMod val="85000"/>
                  </a:schemeClr>
                </a:solidFill>
                <a:ln w="12700">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微软雅黑"/>
                      <a:cs typeface="+mn-cs"/>
                    </a:rPr>
                    <a:t>消息长度 </a:t>
                  </a:r>
                  <a14:m>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64 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bits</m:t>
                      </m:r>
                    </m:oMath>
                  </a14:m>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xmlns="">
            <p:sp>
              <p:nvSpPr>
                <p:cNvPr id="67" name="对话气泡: 圆角矩形 66">
                  <a:extLst>
                    <a:ext uri="{FF2B5EF4-FFF2-40B4-BE49-F238E27FC236}">
                      <a16:creationId xmlns:a16="http://schemas.microsoft.com/office/drawing/2014/main" id="{48B4EA2F-ADA8-432B-B873-C955FEAC8154}"/>
                    </a:ext>
                  </a:extLst>
                </p:cNvPr>
                <p:cNvSpPr>
                  <a:spLocks noRot="1" noChangeAspect="1" noMove="1" noResize="1" noEditPoints="1" noAdjustHandles="1" noChangeArrowheads="1" noChangeShapeType="1" noTextEdit="1"/>
                </p:cNvSpPr>
                <p:nvPr/>
              </p:nvSpPr>
              <p:spPr>
                <a:xfrm>
                  <a:off x="6178698" y="3141734"/>
                  <a:ext cx="1872341" cy="361255"/>
                </a:xfrm>
                <a:prstGeom prst="wedgeRoundRectCallout">
                  <a:avLst>
                    <a:gd name="adj1" fmla="val -18501"/>
                    <a:gd name="adj2" fmla="val -88654"/>
                    <a:gd name="adj3" fmla="val 16667"/>
                  </a:avLst>
                </a:prstGeom>
                <a:blipFill>
                  <a:blip r:embed="rId7"/>
                  <a:stretch>
                    <a:fillRect l="-1954" b="-20732"/>
                  </a:stretch>
                </a:blipFill>
                <a:ln w="12700">
                  <a:noFill/>
                </a:ln>
              </p:spPr>
              <p:txBody>
                <a:bodyPr/>
                <a:lstStyle/>
                <a:p>
                  <a:r>
                    <a:rPr lang="zh-CN" altLang="en-US">
                      <a:noFill/>
                    </a:rPr>
                    <a:t> </a:t>
                  </a:r>
                </a:p>
              </p:txBody>
            </p:sp>
          </mc:Fallback>
        </mc:AlternateContent>
        <p:sp>
          <p:nvSpPr>
            <p:cNvPr id="68" name="箭头: 下 67">
              <a:extLst>
                <a:ext uri="{FF2B5EF4-FFF2-40B4-BE49-F238E27FC236}">
                  <a16:creationId xmlns:a16="http://schemas.microsoft.com/office/drawing/2014/main" id="{A81D979F-5B4D-434F-AFEA-AD2B2C2FE854}"/>
                </a:ext>
              </a:extLst>
            </p:cNvPr>
            <p:cNvSpPr/>
            <p:nvPr/>
          </p:nvSpPr>
          <p:spPr>
            <a:xfrm>
              <a:off x="3045987" y="3120204"/>
              <a:ext cx="427613" cy="5728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270BADC3-12F9-46BF-8569-6106C8BFC294}"/>
                    </a:ext>
                  </a:extLst>
                </p:cNvPr>
                <p:cNvSpPr/>
                <p:nvPr/>
              </p:nvSpPr>
              <p:spPr>
                <a:xfrm>
                  <a:off x="1877092" y="4182875"/>
                  <a:ext cx="1494400"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 </m:t>
                        </m:r>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𝐵</m:t>
                            </m:r>
                          </m:e>
                          <m:sub>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0</m:t>
                            </m:r>
                          </m:sub>
                        </m:sSub>
                      </m:oMath>
                    </m:oMathPara>
                  </a14:m>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xmlns="">
            <p:sp>
              <p:nvSpPr>
                <p:cNvPr id="69" name="矩形 68">
                  <a:extLst>
                    <a:ext uri="{FF2B5EF4-FFF2-40B4-BE49-F238E27FC236}">
                      <a16:creationId xmlns:a16="http://schemas.microsoft.com/office/drawing/2014/main" id="{270BADC3-12F9-46BF-8569-6106C8BFC294}"/>
                    </a:ext>
                  </a:extLst>
                </p:cNvPr>
                <p:cNvSpPr>
                  <a:spLocks noRot="1" noChangeAspect="1" noMove="1" noResize="1" noEditPoints="1" noAdjustHandles="1" noChangeArrowheads="1" noChangeShapeType="1" noTextEdit="1"/>
                </p:cNvSpPr>
                <p:nvPr/>
              </p:nvSpPr>
              <p:spPr>
                <a:xfrm>
                  <a:off x="1877092" y="4182875"/>
                  <a:ext cx="1494400" cy="395866"/>
                </a:xfrm>
                <a:prstGeom prst="rect">
                  <a:avLst/>
                </a:prstGeom>
                <a:blipFill>
                  <a:blip r:embed="rId8"/>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24FCEBE2-4064-43D1-8E8D-F4BE0BAD11EE}"/>
                    </a:ext>
                  </a:extLst>
                </p:cNvPr>
                <p:cNvSpPr/>
                <p:nvPr/>
              </p:nvSpPr>
              <p:spPr>
                <a:xfrm>
                  <a:off x="3371495" y="4182875"/>
                  <a:ext cx="1494402"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𝐵</m:t>
                            </m:r>
                          </m:e>
                          <m:sub>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0" name="矩形 69">
                  <a:extLst>
                    <a:ext uri="{FF2B5EF4-FFF2-40B4-BE49-F238E27FC236}">
                      <a16:creationId xmlns:a16="http://schemas.microsoft.com/office/drawing/2014/main" id="{24FCEBE2-4064-43D1-8E8D-F4BE0BAD11EE}"/>
                    </a:ext>
                  </a:extLst>
                </p:cNvPr>
                <p:cNvSpPr>
                  <a:spLocks noRot="1" noChangeAspect="1" noMove="1" noResize="1" noEditPoints="1" noAdjustHandles="1" noChangeArrowheads="1" noChangeShapeType="1" noTextEdit="1"/>
                </p:cNvSpPr>
                <p:nvPr/>
              </p:nvSpPr>
              <p:spPr>
                <a:xfrm>
                  <a:off x="3371495" y="4182875"/>
                  <a:ext cx="1494402" cy="395866"/>
                </a:xfrm>
                <a:prstGeom prst="rect">
                  <a:avLst/>
                </a:prstGeom>
                <a:blipFill>
                  <a:blip r:embed="rId9"/>
                  <a:stretch>
                    <a:fillRect/>
                  </a:stretch>
                </a:blipFill>
                <a:ln w="12700">
                  <a:solidFill>
                    <a:schemeClr val="tx1"/>
                  </a:solidFill>
                </a:ln>
              </p:spPr>
              <p:txBody>
                <a:bodyPr/>
                <a:lstStyle/>
                <a:p>
                  <a:r>
                    <a:rPr lang="zh-CN" altLang="en-US">
                      <a:noFill/>
                    </a:rPr>
                    <a:t> </a:t>
                  </a:r>
                </a:p>
              </p:txBody>
            </p:sp>
          </mc:Fallback>
        </mc:AlternateContent>
        <p:sp>
          <p:nvSpPr>
            <p:cNvPr id="71" name="矩形 70">
              <a:extLst>
                <a:ext uri="{FF2B5EF4-FFF2-40B4-BE49-F238E27FC236}">
                  <a16:creationId xmlns:a16="http://schemas.microsoft.com/office/drawing/2014/main" id="{F3EAED65-CFB5-4E04-9B9C-C7E7B27F4B45}"/>
                </a:ext>
              </a:extLst>
            </p:cNvPr>
            <p:cNvSpPr/>
            <p:nvPr/>
          </p:nvSpPr>
          <p:spPr>
            <a:xfrm>
              <a:off x="4865897" y="4182875"/>
              <a:ext cx="571982" cy="395866"/>
            </a:xfrm>
            <a:prstGeom prst="rect">
              <a:avLst/>
            </a:prstGeom>
            <a:noFill/>
            <a:ln w="9525">
              <a:no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cxnSp>
          <p:nvCxnSpPr>
            <p:cNvPr id="72" name="直接箭头连接符 71">
              <a:extLst>
                <a:ext uri="{FF2B5EF4-FFF2-40B4-BE49-F238E27FC236}">
                  <a16:creationId xmlns:a16="http://schemas.microsoft.com/office/drawing/2014/main" id="{9A8A6157-2379-4565-9A6B-0C23FE50ED85}"/>
                </a:ext>
              </a:extLst>
            </p:cNvPr>
            <p:cNvCxnSpPr>
              <a:cxnSpLocks/>
            </p:cNvCxnSpPr>
            <p:nvPr/>
          </p:nvCxnSpPr>
          <p:spPr>
            <a:xfrm>
              <a:off x="1877092" y="4065724"/>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5D847B4-432B-4F8C-B4E0-E4B83B7B5402}"/>
                    </a:ext>
                  </a:extLst>
                </p:cNvPr>
                <p:cNvSpPr txBox="1"/>
                <p:nvPr/>
              </p:nvSpPr>
              <p:spPr>
                <a:xfrm>
                  <a:off x="1974560" y="3730757"/>
                  <a:ext cx="127903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512</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3" name="文本框 72">
                  <a:extLst>
                    <a:ext uri="{FF2B5EF4-FFF2-40B4-BE49-F238E27FC236}">
                      <a16:creationId xmlns:a16="http://schemas.microsoft.com/office/drawing/2014/main" id="{95D847B4-432B-4F8C-B4E0-E4B83B7B5402}"/>
                    </a:ext>
                  </a:extLst>
                </p:cNvPr>
                <p:cNvSpPr txBox="1">
                  <a:spLocks noRot="1" noChangeAspect="1" noMove="1" noResize="1" noEditPoints="1" noAdjustHandles="1" noChangeArrowheads="1" noChangeShapeType="1" noTextEdit="1"/>
                </p:cNvSpPr>
                <p:nvPr/>
              </p:nvSpPr>
              <p:spPr>
                <a:xfrm>
                  <a:off x="1974560" y="3730757"/>
                  <a:ext cx="1279036" cy="369332"/>
                </a:xfrm>
                <a:prstGeom prst="rect">
                  <a:avLst/>
                </a:prstGeom>
                <a:blipFill>
                  <a:blip r:embed="rId10"/>
                  <a:stretch>
                    <a:fillRect/>
                  </a:stretch>
                </a:blipFill>
              </p:spPr>
              <p:txBody>
                <a:bodyPr/>
                <a:lstStyle/>
                <a:p>
                  <a:r>
                    <a:rPr lang="zh-CN" altLang="en-US">
                      <a:noFill/>
                    </a:rPr>
                    <a:t> </a:t>
                  </a:r>
                </a:p>
              </p:txBody>
            </p:sp>
          </mc:Fallback>
        </mc:AlternateContent>
        <p:cxnSp>
          <p:nvCxnSpPr>
            <p:cNvPr id="74" name="直接箭头连接符 73">
              <a:extLst>
                <a:ext uri="{FF2B5EF4-FFF2-40B4-BE49-F238E27FC236}">
                  <a16:creationId xmlns:a16="http://schemas.microsoft.com/office/drawing/2014/main" id="{5316DDD3-C961-4C59-878E-D1CD08466A28}"/>
                </a:ext>
              </a:extLst>
            </p:cNvPr>
            <p:cNvCxnSpPr>
              <a:cxnSpLocks/>
            </p:cNvCxnSpPr>
            <p:nvPr/>
          </p:nvCxnSpPr>
          <p:spPr>
            <a:xfrm>
              <a:off x="3358728"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802E4E38-244D-419D-BF6D-B7ABBBCEEA59}"/>
                    </a:ext>
                  </a:extLst>
                </p:cNvPr>
                <p:cNvSpPr txBox="1"/>
                <p:nvPr/>
              </p:nvSpPr>
              <p:spPr>
                <a:xfrm>
                  <a:off x="3456197" y="3729036"/>
                  <a:ext cx="127903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512</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5" name="文本框 74">
                  <a:extLst>
                    <a:ext uri="{FF2B5EF4-FFF2-40B4-BE49-F238E27FC236}">
                      <a16:creationId xmlns:a16="http://schemas.microsoft.com/office/drawing/2014/main" id="{802E4E38-244D-419D-BF6D-B7ABBBCEEA59}"/>
                    </a:ext>
                  </a:extLst>
                </p:cNvPr>
                <p:cNvSpPr txBox="1">
                  <a:spLocks noRot="1" noChangeAspect="1" noMove="1" noResize="1" noEditPoints="1" noAdjustHandles="1" noChangeArrowheads="1" noChangeShapeType="1" noTextEdit="1"/>
                </p:cNvSpPr>
                <p:nvPr/>
              </p:nvSpPr>
              <p:spPr>
                <a:xfrm>
                  <a:off x="3456197" y="3729036"/>
                  <a:ext cx="1279036"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77BA4309-6F62-4EA4-8F30-5E2BC3439CCD}"/>
                    </a:ext>
                  </a:extLst>
                </p:cNvPr>
                <p:cNvSpPr/>
                <p:nvPr/>
              </p:nvSpPr>
              <p:spPr>
                <a:xfrm>
                  <a:off x="5437879" y="4180708"/>
                  <a:ext cx="1481636" cy="395866"/>
                </a:xfrm>
                <a:prstGeom prst="rect">
                  <a:avLst/>
                </a:prstGeom>
                <a:solidFill>
                  <a:schemeClr val="accent1">
                    <a:lumMod val="40000"/>
                    <a:lumOff val="60000"/>
                  </a:schemeClr>
                </a:solidFill>
                <a:ln w="12700">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𝐵</m:t>
                            </m:r>
                          </m:e>
                          <m:sub>
                            <m:r>
                              <m:rPr>
                                <m:sty m:val="p"/>
                              </m:rPr>
                              <a:rPr kumimoji="0" lang="en-US" altLang="zh-CN" sz="1800" b="0" i="0" u="none" strike="noStrike" kern="1200" cap="none" spc="0" normalizeH="0" baseline="0" noProof="0" dirty="0">
                                <a:ln>
                                  <a:noFill/>
                                </a:ln>
                                <a:solidFill>
                                  <a:prstClr val="black"/>
                                </a:solidFill>
                                <a:effectLst/>
                                <a:uLnTx/>
                                <a:uFillTx/>
                                <a:latin typeface="Cambria Math" panose="02040503050406030204" pitchFamily="18" charset="0"/>
                                <a:cs typeface="+mn-cs"/>
                              </a:rPr>
                              <m:t>N</m:t>
                            </m:r>
                            <m:r>
                              <a:rPr kumimoji="0" lang="en-US" altLang="zh-CN" sz="1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6" name="矩形 75">
                  <a:extLst>
                    <a:ext uri="{FF2B5EF4-FFF2-40B4-BE49-F238E27FC236}">
                      <a16:creationId xmlns:a16="http://schemas.microsoft.com/office/drawing/2014/main" id="{77BA4309-6F62-4EA4-8F30-5E2BC3439CCD}"/>
                    </a:ext>
                  </a:extLst>
                </p:cNvPr>
                <p:cNvSpPr>
                  <a:spLocks noRot="1" noChangeAspect="1" noMove="1" noResize="1" noEditPoints="1" noAdjustHandles="1" noChangeArrowheads="1" noChangeShapeType="1" noTextEdit="1"/>
                </p:cNvSpPr>
                <p:nvPr/>
              </p:nvSpPr>
              <p:spPr>
                <a:xfrm>
                  <a:off x="5437879" y="4180708"/>
                  <a:ext cx="1481636" cy="395866"/>
                </a:xfrm>
                <a:prstGeom prst="rect">
                  <a:avLst/>
                </a:prstGeom>
                <a:blipFill>
                  <a:blip r:embed="rId12"/>
                  <a:stretch>
                    <a:fillRect/>
                  </a:stretch>
                </a:blipFill>
                <a:ln w="12700">
                  <a:solidFill>
                    <a:schemeClr val="tx1"/>
                  </a:solidFill>
                </a:ln>
              </p:spPr>
              <p:txBody>
                <a:bodyPr/>
                <a:lstStyle/>
                <a:p>
                  <a:r>
                    <a:rPr lang="zh-CN" altLang="en-US">
                      <a:noFill/>
                    </a:rPr>
                    <a:t> </a:t>
                  </a:r>
                </a:p>
              </p:txBody>
            </p:sp>
          </mc:Fallback>
        </mc:AlternateContent>
        <p:cxnSp>
          <p:nvCxnSpPr>
            <p:cNvPr id="77" name="直接箭头连接符 76">
              <a:extLst>
                <a:ext uri="{FF2B5EF4-FFF2-40B4-BE49-F238E27FC236}">
                  <a16:creationId xmlns:a16="http://schemas.microsoft.com/office/drawing/2014/main" id="{DC978D4F-E7B0-495E-A1E9-27C507DE0742}"/>
                </a:ext>
              </a:extLst>
            </p:cNvPr>
            <p:cNvCxnSpPr>
              <a:cxnSpLocks/>
            </p:cNvCxnSpPr>
            <p:nvPr/>
          </p:nvCxnSpPr>
          <p:spPr>
            <a:xfrm>
              <a:off x="5417465" y="4064003"/>
              <a:ext cx="14944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80C78F47-0480-47E3-A1C9-981BFA472555}"/>
                    </a:ext>
                  </a:extLst>
                </p:cNvPr>
                <p:cNvSpPr txBox="1"/>
                <p:nvPr/>
              </p:nvSpPr>
              <p:spPr>
                <a:xfrm>
                  <a:off x="5514933" y="3729036"/>
                  <a:ext cx="127903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512</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 </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bits</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78" name="文本框 77">
                  <a:extLst>
                    <a:ext uri="{FF2B5EF4-FFF2-40B4-BE49-F238E27FC236}">
                      <a16:creationId xmlns:a16="http://schemas.microsoft.com/office/drawing/2014/main" id="{80C78F47-0480-47E3-A1C9-981BFA472555}"/>
                    </a:ext>
                  </a:extLst>
                </p:cNvPr>
                <p:cNvSpPr txBox="1">
                  <a:spLocks noRot="1" noChangeAspect="1" noMove="1" noResize="1" noEditPoints="1" noAdjustHandles="1" noChangeArrowheads="1" noChangeShapeType="1" noTextEdit="1"/>
                </p:cNvSpPr>
                <p:nvPr/>
              </p:nvSpPr>
              <p:spPr>
                <a:xfrm>
                  <a:off x="5514933" y="3729036"/>
                  <a:ext cx="1279036" cy="369332"/>
                </a:xfrm>
                <a:prstGeom prst="rect">
                  <a:avLst/>
                </a:prstGeom>
                <a:blipFill>
                  <a:blip r:embed="rId13"/>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1915659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(2)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分组扩展</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645834"/>
                <a:ext cx="8493405" cy="4548233"/>
              </a:xfrm>
              <a:prstGeom prst="rect">
                <a:avLst/>
              </a:prstGeom>
              <a:noFill/>
            </p:spPr>
            <p:txBody>
              <a:bodyPr wrap="square" rtlCol="0">
                <a:spAutoFit/>
              </a:bodyPr>
              <a:lstStyle/>
              <a:p>
                <a:pPr marL="342900" lvl="0" indent="-342900">
                  <a:lnSpc>
                    <a:spcPct val="120000"/>
                  </a:lnSpc>
                  <a:spcBef>
                    <a:spcPts val="600"/>
                  </a:spcBef>
                  <a:spcAft>
                    <a:spcPts val="600"/>
                  </a:spcAft>
                  <a:buFont typeface="Wingdings" panose="05000000000000000000" pitchFamily="2" charset="2"/>
                  <a:buChar char="l"/>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将填充后的消息</a:t>
                </a:r>
                <a14:m>
                  <m:oMath xmlns:m="http://schemas.openxmlformats.org/officeDocument/2006/math">
                    <m:sSup>
                      <m:sSup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p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𝑚</m:t>
                        </m:r>
                      </m:e>
                      <m:sup>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m:t>
                        </m:r>
                      </m:sup>
                    </m:sSup>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按</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512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比特进行分组，得 </a:t>
                </a:r>
                <a14:m>
                  <m:oMath xmlns:m="http://schemas.openxmlformats.org/officeDocument/2006/math">
                    <m:sSup>
                      <m:sSupPr>
                        <m:ctrlPr>
                          <a:rPr lang="en-US" altLang="zh-CN" sz="2000" i="1" dirty="0">
                            <a:solidFill>
                              <a:prstClr val="black"/>
                            </a:solidFill>
                            <a:latin typeface="Cambria Math" panose="02040503050406030204" pitchFamily="18" charset="0"/>
                            <a:cs typeface="Times New Roman" panose="02020603050405020304" pitchFamily="18" charset="0"/>
                          </a:rPr>
                        </m:ctrlPr>
                      </m:sSupPr>
                      <m:e>
                        <m:r>
                          <a:rPr lang="en-US" altLang="zh-CN" sz="2000" i="1" dirty="0">
                            <a:solidFill>
                              <a:prstClr val="black"/>
                            </a:solidFill>
                            <a:latin typeface="Cambria Math" panose="02040503050406030204" pitchFamily="18" charset="0"/>
                            <a:cs typeface="Times New Roman" panose="02020603050405020304" pitchFamily="18" charset="0"/>
                          </a:rPr>
                          <m:t>𝑚</m:t>
                        </m:r>
                      </m:e>
                      <m:sup>
                        <m:r>
                          <a:rPr lang="en-US" altLang="zh-CN" sz="2000" i="1" dirty="0">
                            <a:solidFill>
                              <a:prstClr val="black"/>
                            </a:solidFill>
                            <a:latin typeface="Cambria Math" panose="02040503050406030204" pitchFamily="18" charset="0"/>
                            <a:cs typeface="Times New Roman" panose="02020603050405020304" pitchFamily="18" charset="0"/>
                          </a:rPr>
                          <m:t>′</m:t>
                        </m:r>
                      </m:sup>
                    </m:sSup>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lang="en-US" altLang="zh-CN" sz="2000" dirty="0">
                    <a:solidFill>
                      <a:prstClr val="black"/>
                    </a:solidFill>
                  </a:rPr>
                  <a:t> </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𝐵</m:t>
                        </m:r>
                      </m:e>
                      <m:sub>
                        <m:r>
                          <a:rPr lang="en-US" altLang="zh-CN" sz="2000" dirty="0">
                            <a:solidFill>
                              <a:prstClr val="black"/>
                            </a:solidFill>
                            <a:latin typeface="Cambria Math" panose="02040503050406030204" pitchFamily="18" charset="0"/>
                          </a:rPr>
                          <m:t>0</m:t>
                        </m:r>
                      </m:sub>
                    </m:sSub>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𝐵</m:t>
                        </m:r>
                      </m:e>
                      <m:sub>
                        <m:r>
                          <a:rPr lang="en-US" altLang="zh-CN" sz="2000" dirty="0">
                            <a:solidFill>
                              <a:prstClr val="black"/>
                            </a:solidFill>
                            <a:latin typeface="Cambria Math" panose="02040503050406030204" pitchFamily="18" charset="0"/>
                          </a:rPr>
                          <m:t>1</m:t>
                        </m:r>
                      </m:sub>
                    </m:sSub>
                    <m:r>
                      <a:rPr lang="en-US" altLang="zh-CN" sz="2000" i="1" dirty="0" smtClean="0">
                        <a:solidFill>
                          <a:prstClr val="black"/>
                        </a:solidFill>
                        <a:latin typeface="Cambria Math" panose="02040503050406030204" pitchFamily="18" charset="0"/>
                        <a:ea typeface="Cambria Math" panose="02040503050406030204" pitchFamily="18" charset="0"/>
                      </a:rPr>
                      <m:t>⋯</m:t>
                    </m:r>
                  </m:oMath>
                </a14:m>
                <a:r>
                  <a:rPr lang="en-US" altLang="zh-CN" sz="2000" dirty="0">
                    <a:solidFill>
                      <a:prstClr val="black"/>
                    </a:solidFill>
                  </a:rPr>
                  <a:t> </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𝐵</m:t>
                        </m:r>
                      </m:e>
                      <m:sub>
                        <m:r>
                          <m:rPr>
                            <m:sty m:val="p"/>
                          </m:rPr>
                          <a:rPr lang="en-US" altLang="zh-CN" sz="2000" dirty="0">
                            <a:solidFill>
                              <a:prstClr val="black"/>
                            </a:solidFill>
                            <a:latin typeface="Cambria Math" panose="02040503050406030204" pitchFamily="18" charset="0"/>
                          </a:rPr>
                          <m:t>N</m:t>
                        </m:r>
                        <m:r>
                          <a:rPr lang="en-US" altLang="zh-CN" sz="2000" dirty="0">
                            <a:solidFill>
                              <a:prstClr val="black"/>
                            </a:solidFill>
                            <a:latin typeface="Cambria Math" panose="02040503050406030204" pitchFamily="18" charset="0"/>
                          </a:rPr>
                          <m:t>−1</m:t>
                        </m:r>
                      </m:sub>
                    </m:sSub>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342900" lvl="0" indent="-342900">
                  <a:lnSpc>
                    <a:spcPct val="120000"/>
                  </a:lnSpc>
                  <a:spcBef>
                    <a:spcPts val="600"/>
                  </a:spcBef>
                  <a:spcAft>
                    <a:spcPts val="600"/>
                  </a:spcAft>
                  <a:buFont typeface="Wingdings" panose="05000000000000000000" pitchFamily="2" charset="2"/>
                  <a:buChar char="l"/>
                </a:pPr>
                <a:r>
                  <a:rPr lang="zh-CN" altLang="en-US" sz="2000" dirty="0">
                    <a:solidFill>
                      <a:prstClr val="black"/>
                    </a:solidFill>
                    <a:latin typeface="Times New Roman" panose="02020603050405020304" pitchFamily="18" charset="0"/>
                    <a:cs typeface="Times New Roman" panose="02020603050405020304" pitchFamily="18" charset="0"/>
                  </a:rPr>
                  <a:t>在对消息分组</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𝐵</m:t>
                        </m:r>
                      </m:e>
                      <m:sub>
                        <m:r>
                          <a:rPr lang="en-US" altLang="zh-CN" sz="2000" b="0" i="1" dirty="0" smtClean="0">
                            <a:solidFill>
                              <a:prstClr val="black"/>
                            </a:solidFill>
                            <a:latin typeface="Cambria Math" panose="02040503050406030204" pitchFamily="18" charset="0"/>
                          </a:rPr>
                          <m:t>𝑖</m:t>
                        </m:r>
                      </m:sub>
                    </m:sSub>
                  </m:oMath>
                </a14:m>
                <a:r>
                  <a:rPr lang="zh-CN" altLang="en-US" sz="2000" dirty="0">
                    <a:solidFill>
                      <a:prstClr val="black"/>
                    </a:solidFill>
                    <a:latin typeface="Times New Roman" panose="02020603050405020304" pitchFamily="18" charset="0"/>
                    <a:cs typeface="Times New Roman" panose="02020603050405020304" pitchFamily="18" charset="0"/>
                  </a:rPr>
                  <a:t>进行迭代压缩之前，首先对其进行消息扩展，步骤如下：</a:t>
                </a:r>
                <a:endParaRPr lang="en-US" altLang="zh-CN" sz="2000" dirty="0">
                  <a:solidFill>
                    <a:prstClr val="black"/>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① </a:t>
                </a:r>
                <a:r>
                  <a:rPr kumimoji="0" lang="zh-CN" altLang="en-US" sz="2000" b="0" i="0" u="none" strike="noStrike" kern="1200" cap="none" spc="0" normalizeH="0" baseline="0" noProof="0" dirty="0">
                    <a:ln>
                      <a:noFill/>
                    </a:ln>
                    <a:solidFill>
                      <a:srgbClr val="000000"/>
                    </a:solidFill>
                    <a:effectLst/>
                    <a:uLnTx/>
                    <a:uFillTx/>
                    <a:latin typeface="宋体"/>
                    <a:ea typeface="宋体"/>
                  </a:rPr>
                  <a:t>消息分组</a:t>
                </a:r>
                <a14:m>
                  <m:oMath xmlns:m="http://schemas.openxmlformats.org/officeDocument/2006/math">
                    <m:sSub>
                      <m:sSubPr>
                        <m:ctrlPr>
                          <a:rPr lang="en-US" altLang="zh-CN" sz="2000" i="1" dirty="0" smtClean="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𝐵</m:t>
                        </m:r>
                      </m:e>
                      <m:sub>
                        <m:r>
                          <a:rPr lang="en-US" altLang="zh-CN" sz="2000" b="0" i="1" dirty="0" smtClean="0">
                            <a:solidFill>
                              <a:prstClr val="black"/>
                            </a:solidFill>
                            <a:latin typeface="Cambria Math" panose="02040503050406030204" pitchFamily="18" charset="0"/>
                          </a:rPr>
                          <m:t>𝑖</m:t>
                        </m:r>
                      </m:sub>
                    </m:sSub>
                  </m:oMath>
                </a14:m>
                <a:r>
                  <a:rPr kumimoji="0" lang="zh-CN" altLang="en-US" sz="2000" b="0" i="0" u="none" strike="noStrike" kern="1200" cap="none" spc="0" normalizeH="0" baseline="0" noProof="0" dirty="0">
                    <a:ln>
                      <a:noFill/>
                    </a:ln>
                    <a:solidFill>
                      <a:srgbClr val="000000"/>
                    </a:solidFill>
                    <a:effectLst/>
                    <a:uLnTx/>
                    <a:uFillTx/>
                    <a:latin typeface="宋体"/>
                    <a:ea typeface="宋体"/>
                  </a:rPr>
                  <a:t>划分为</a:t>
                </a:r>
                <a:r>
                  <a:rPr kumimoji="0" lang="en-US" altLang="zh-CN" sz="2000" b="0" i="0" u="none" strike="noStrike" kern="1200" cap="none" spc="0" normalizeH="0" baseline="0" noProof="0" dirty="0">
                    <a:ln>
                      <a:noFill/>
                    </a:ln>
                    <a:solidFill>
                      <a:srgbClr val="000000"/>
                    </a:solidFill>
                    <a:effectLst/>
                    <a:uLnTx/>
                    <a:uFillTx/>
                    <a:latin typeface="宋体"/>
                    <a:ea typeface="宋体"/>
                  </a:rPr>
                  <a:t>16</a:t>
                </a:r>
                <a:r>
                  <a:rPr kumimoji="0" lang="zh-CN" altLang="en-US" sz="2000" b="0" i="0" u="none" strike="noStrike" kern="1200" cap="none" spc="0" normalizeH="0" baseline="0" noProof="0" dirty="0">
                    <a:ln>
                      <a:noFill/>
                    </a:ln>
                    <a:solidFill>
                      <a:srgbClr val="000000"/>
                    </a:solidFill>
                    <a:effectLst/>
                    <a:uLnTx/>
                    <a:uFillTx/>
                    <a:latin typeface="宋体"/>
                    <a:ea typeface="宋体"/>
                  </a:rPr>
                  <a:t>个字</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b="0" i="1" dirty="0" smtClean="0">
                            <a:solidFill>
                              <a:prstClr val="black"/>
                            </a:solidFill>
                            <a:latin typeface="Cambria Math" panose="02040503050406030204" pitchFamily="18" charset="0"/>
                          </a:rPr>
                          <m:t>𝑊</m:t>
                        </m:r>
                      </m:e>
                      <m:sub>
                        <m:r>
                          <a:rPr lang="en-US" altLang="zh-CN" sz="2000" dirty="0">
                            <a:solidFill>
                              <a:prstClr val="black"/>
                            </a:solidFill>
                            <a:latin typeface="Cambria Math" panose="02040503050406030204" pitchFamily="18" charset="0"/>
                          </a:rPr>
                          <m:t>0</m:t>
                        </m:r>
                      </m:sub>
                    </m:sSub>
                    <m:sSub>
                      <m:sSubPr>
                        <m:ctrlPr>
                          <a:rPr lang="en-US" altLang="zh-CN" sz="2000" i="1" dirty="0">
                            <a:solidFill>
                              <a:prstClr val="black"/>
                            </a:solidFill>
                            <a:latin typeface="Cambria Math" panose="02040503050406030204" pitchFamily="18" charset="0"/>
                          </a:rPr>
                        </m:ctrlPr>
                      </m:sSubPr>
                      <m:e>
                        <m:r>
                          <a:rPr lang="en-US" altLang="zh-CN" sz="2000" b="0" i="1" dirty="0" smtClean="0">
                            <a:solidFill>
                              <a:prstClr val="black"/>
                            </a:solidFill>
                            <a:latin typeface="Cambria Math" panose="02040503050406030204" pitchFamily="18" charset="0"/>
                          </a:rPr>
                          <m:t>,</m:t>
                        </m:r>
                        <m:r>
                          <a:rPr lang="en-US" altLang="zh-CN" sz="2000" b="0" i="1" dirty="0" smtClean="0">
                            <a:solidFill>
                              <a:prstClr val="black"/>
                            </a:solidFill>
                            <a:latin typeface="Cambria Math" panose="02040503050406030204" pitchFamily="18" charset="0"/>
                          </a:rPr>
                          <m:t>𝑊</m:t>
                        </m:r>
                      </m:e>
                      <m:sub>
                        <m:r>
                          <a:rPr lang="en-US" altLang="zh-CN" sz="2000" dirty="0">
                            <a:solidFill>
                              <a:prstClr val="black"/>
                            </a:solidFill>
                            <a:latin typeface="Cambria Math" panose="02040503050406030204" pitchFamily="18" charset="0"/>
                          </a:rPr>
                          <m:t>1</m:t>
                        </m:r>
                      </m:sub>
                    </m:sSub>
                    <m:r>
                      <a:rPr lang="en-US" altLang="zh-CN" sz="2000" b="0" i="1" dirty="0" smtClean="0">
                        <a:solidFill>
                          <a:prstClr val="black"/>
                        </a:solidFill>
                        <a:latin typeface="Cambria Math" panose="02040503050406030204" pitchFamily="18" charset="0"/>
                      </a:rPr>
                      <m:t>,</m:t>
                    </m:r>
                    <m:r>
                      <a:rPr lang="en-US" altLang="zh-CN" sz="2000" i="1" dirty="0">
                        <a:solidFill>
                          <a:prstClr val="black"/>
                        </a:solidFill>
                        <a:latin typeface="Cambria Math" panose="02040503050406030204" pitchFamily="18" charset="0"/>
                        <a:ea typeface="Cambria Math" panose="02040503050406030204" pitchFamily="18" charset="0"/>
                      </a:rPr>
                      <m:t>⋯</m:t>
                    </m:r>
                  </m:oMath>
                </a14:m>
                <a:r>
                  <a:rPr lang="en-US" altLang="zh-CN" sz="2000" dirty="0">
                    <a:solidFill>
                      <a:prstClr val="black"/>
                    </a:solidFill>
                  </a:rPr>
                  <a:t> ,</a:t>
                </a:r>
                <a14:m>
                  <m:oMath xmlns:m="http://schemas.openxmlformats.org/officeDocument/2006/math">
                    <m:sSub>
                      <m:sSubPr>
                        <m:ctrlPr>
                          <a:rPr lang="en-US" altLang="zh-CN" sz="2000" i="1" dirty="0" smtClean="0">
                            <a:solidFill>
                              <a:prstClr val="black"/>
                            </a:solidFill>
                            <a:latin typeface="Cambria Math" panose="02040503050406030204" pitchFamily="18" charset="0"/>
                          </a:rPr>
                        </m:ctrlPr>
                      </m:sSubPr>
                      <m:e>
                        <m:r>
                          <a:rPr lang="en-US" altLang="zh-CN" sz="2000" b="0" i="1" dirty="0" smtClean="0">
                            <a:solidFill>
                              <a:prstClr val="black"/>
                            </a:solidFill>
                            <a:latin typeface="Cambria Math" panose="02040503050406030204" pitchFamily="18" charset="0"/>
                          </a:rPr>
                          <m:t>𝑊</m:t>
                        </m:r>
                      </m:e>
                      <m:sub>
                        <m:r>
                          <a:rPr lang="en-US" altLang="zh-CN" sz="2000" b="0" i="0" dirty="0" smtClean="0">
                            <a:solidFill>
                              <a:prstClr val="black"/>
                            </a:solidFill>
                            <a:latin typeface="Cambria Math" panose="02040503050406030204" pitchFamily="18" charset="0"/>
                          </a:rPr>
                          <m:t>15</m:t>
                        </m:r>
                      </m:sub>
                    </m:sSub>
                  </m:oMath>
                </a14:m>
                <a:r>
                  <a:rPr kumimoji="0" lang="zh-CN" altLang="en-US" sz="2000" b="0" i="0" u="none" strike="noStrike" kern="1200" cap="none" spc="0" normalizeH="0" baseline="0" noProof="0" dirty="0">
                    <a:ln>
                      <a:noFill/>
                    </a:ln>
                    <a:solidFill>
                      <a:srgbClr val="000000"/>
                    </a:solidFill>
                    <a:effectLst/>
                    <a:uLnTx/>
                    <a:uFillTx/>
                    <a:latin typeface="宋体"/>
                    <a:ea typeface="宋体"/>
                  </a:rPr>
                  <a:t>。</a:t>
                </a:r>
              </a:p>
              <a:p>
                <a:pPr lvl="0">
                  <a:lnSpc>
                    <a:spcPct val="120000"/>
                  </a:lnSpc>
                  <a:spcBef>
                    <a:spcPts val="600"/>
                  </a:spcBef>
                  <a:spcAft>
                    <a:spcPts val="600"/>
                  </a:spcAft>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② FOR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j</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=16  to  67</a:t>
                </a:r>
              </a:p>
              <a:p>
                <a:pPr lvl="0">
                  <a:lnSpc>
                    <a:spcPct val="12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𝑗</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𝑃</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sub>
                      </m:sSub>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−16</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−9</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⋘15</m:t>
                              </m:r>
                            </m:e>
                          </m:d>
                        </m:e>
                      </m:d>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−13</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⋘7</m:t>
                          </m:r>
                        </m:e>
                      </m:d>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−6</m:t>
                          </m:r>
                        </m:sub>
                      </m:sSub>
                    </m:oMath>
                  </m:oMathPara>
                </a14:m>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lnSpc>
                    <a:spcPct val="120000"/>
                  </a:lnSpc>
                  <a:spcBef>
                    <a:spcPts val="600"/>
                  </a:spcBef>
                  <a:spcAft>
                    <a:spcPts val="600"/>
                  </a:spcAft>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③ FOR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j</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to  63</a:t>
                </a:r>
              </a:p>
              <a:p>
                <a:pPr lvl="0">
                  <a:lnSpc>
                    <a:spcPct val="120000"/>
                  </a:lnSpc>
                  <a:spcBef>
                    <a:spcPts val="600"/>
                  </a:spcBef>
                  <a:spcAft>
                    <a:spcPts val="600"/>
                  </a:spcAft>
                </a:pPr>
                <a:r>
                  <a:rPr lang="en-US" altLang="zh-CN" sz="2000" dirty="0">
                    <a:solidFill>
                      <a:prstClr val="black"/>
                    </a:solidFill>
                    <a:latin typeface="Times New Roman" panose="02020603050405020304" pitchFamily="18" charset="0"/>
                    <a:ea typeface="微软雅黑"/>
                    <a:cs typeface="Times New Roman" panose="02020603050405020304" pitchFamily="18" charset="0"/>
                  </a:rPr>
                  <a:t>        </a:t>
                </a:r>
                <a14:m>
                  <m:oMath xmlns:m="http://schemas.openxmlformats.org/officeDocument/2006/math">
                    <m:sSubSup>
                      <m:sSubSupPr>
                        <m:ctrlPr>
                          <a:rPr lang="en-US" altLang="zh-CN" sz="2000" i="1" smtClean="0">
                            <a:solidFill>
                              <a:prstClr val="black"/>
                            </a:solidFill>
                            <a:latin typeface="Cambria Math" panose="02040503050406030204" pitchFamily="18" charset="0"/>
                            <a:ea typeface="微软雅黑"/>
                            <a:cs typeface="Times New Roman" panose="02020603050405020304" pitchFamily="18" charset="0"/>
                          </a:rPr>
                        </m:ctrlPr>
                      </m:sSubSupPr>
                      <m:e>
                        <m:r>
                          <a:rPr lang="en-US" altLang="zh-CN" sz="2000" b="0" i="1" smtClean="0">
                            <a:solidFill>
                              <a:prstClr val="black"/>
                            </a:solidFill>
                            <a:latin typeface="Cambria Math" panose="02040503050406030204" pitchFamily="18" charset="0"/>
                            <a:ea typeface="微软雅黑"/>
                            <a:cs typeface="Times New Roman" panose="02020603050405020304" pitchFamily="18" charset="0"/>
                          </a:rPr>
                          <m:t>𝑊</m:t>
                        </m:r>
                      </m:e>
                      <m:sub>
                        <m:r>
                          <a:rPr lang="en-US" altLang="zh-CN" sz="2000" b="0" i="1" smtClean="0">
                            <a:solidFill>
                              <a:prstClr val="black"/>
                            </a:solidFill>
                            <a:latin typeface="Cambria Math" panose="02040503050406030204" pitchFamily="18" charset="0"/>
                            <a:ea typeface="微软雅黑"/>
                            <a:cs typeface="Times New Roman" panose="02020603050405020304" pitchFamily="18" charset="0"/>
                          </a:rPr>
                          <m:t>𝑗</m:t>
                        </m:r>
                      </m:sub>
                      <m:sup>
                        <m:r>
                          <a:rPr lang="en-US" altLang="zh-CN" sz="2000" b="0" i="1" smtClean="0">
                            <a:solidFill>
                              <a:prstClr val="black"/>
                            </a:solidFill>
                            <a:latin typeface="Cambria Math" panose="02040503050406030204" pitchFamily="18" charset="0"/>
                            <a:ea typeface="微软雅黑"/>
                            <a:cs typeface="Times New Roman" panose="02020603050405020304" pitchFamily="18" charset="0"/>
                          </a:rPr>
                          <m:t>′</m:t>
                        </m:r>
                      </m:sup>
                    </m:sSubSup>
                    <m: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𝑊</m:t>
                        </m:r>
                      </m:e>
                      <m:sub>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𝑊</m:t>
                        </m:r>
                      </m:e>
                      <m:sub>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+4</m:t>
                        </m:r>
                      </m:sub>
                    </m:sSub>
                  </m:oMath>
                </a14:m>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lnSpc>
                    <a:spcPct val="120000"/>
                  </a:lnSpc>
                  <a:spcBef>
                    <a:spcPts val="600"/>
                  </a:spcBef>
                  <a:spcAft>
                    <a:spcPts val="600"/>
                  </a:spcAft>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消息分组</a:t>
                </a:r>
                <a14:m>
                  <m:oMath xmlns:m="http://schemas.openxmlformats.org/officeDocument/2006/math">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rPr>
                          <m:t>𝐵</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oMath>
                </a14:m>
                <a:r>
                  <a:rPr lang="zh-CN" altLang="en-US" sz="2000" dirty="0">
                    <a:solidFill>
                      <a:prstClr val="black"/>
                    </a:solidFill>
                    <a:latin typeface="Times New Roman" panose="02020603050405020304" pitchFamily="18" charset="0"/>
                    <a:cs typeface="Times New Roman" panose="02020603050405020304" pitchFamily="18" charset="0"/>
                  </a:rPr>
                  <a:t>经扩展后得到 </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𝑊</m:t>
                        </m:r>
                      </m:e>
                      <m:sub>
                        <m:r>
                          <a:rPr lang="en-US" altLang="zh-CN" sz="2000" dirty="0">
                            <a:solidFill>
                              <a:prstClr val="black"/>
                            </a:solidFill>
                            <a:latin typeface="Cambria Math" panose="02040503050406030204" pitchFamily="18" charset="0"/>
                          </a:rPr>
                          <m:t>0</m:t>
                        </m:r>
                      </m:sub>
                    </m:sSub>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m:t>
                        </m:r>
                        <m:r>
                          <a:rPr lang="en-US" altLang="zh-CN" sz="2000" i="1" dirty="0">
                            <a:solidFill>
                              <a:prstClr val="black"/>
                            </a:solidFill>
                            <a:latin typeface="Cambria Math" panose="02040503050406030204" pitchFamily="18" charset="0"/>
                          </a:rPr>
                          <m:t>𝑊</m:t>
                        </m:r>
                      </m:e>
                      <m:sub>
                        <m:r>
                          <a:rPr lang="en-US" altLang="zh-CN" sz="2000" dirty="0">
                            <a:solidFill>
                              <a:prstClr val="black"/>
                            </a:solidFill>
                            <a:latin typeface="Cambria Math" panose="02040503050406030204" pitchFamily="18" charset="0"/>
                          </a:rPr>
                          <m:t>1</m:t>
                        </m:r>
                      </m:sub>
                    </m:sSub>
                    <m:r>
                      <a:rPr lang="en-US" altLang="zh-CN" sz="2000" i="1" dirty="0">
                        <a:solidFill>
                          <a:prstClr val="black"/>
                        </a:solidFill>
                        <a:latin typeface="Cambria Math" panose="02040503050406030204" pitchFamily="18" charset="0"/>
                      </a:rPr>
                      <m:t>,</m:t>
                    </m:r>
                    <m:r>
                      <a:rPr lang="en-US" altLang="zh-CN" sz="2000" i="1" dirty="0">
                        <a:solidFill>
                          <a:prstClr val="black"/>
                        </a:solidFill>
                        <a:latin typeface="Cambria Math" panose="02040503050406030204" pitchFamily="18" charset="0"/>
                        <a:ea typeface="Cambria Math" panose="02040503050406030204" pitchFamily="18" charset="0"/>
                      </a:rPr>
                      <m:t>⋯</m:t>
                    </m:r>
                  </m:oMath>
                </a14:m>
                <a:r>
                  <a:rPr lang="en-US" altLang="zh-CN" sz="2000" dirty="0">
                    <a:solidFill>
                      <a:prstClr val="black"/>
                    </a:solidFill>
                  </a:rPr>
                  <a:t> ,</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𝑊</m:t>
                        </m:r>
                      </m:e>
                      <m:sub>
                        <m:r>
                          <a:rPr lang="en-US" altLang="zh-CN" sz="2000" b="0" i="0" dirty="0" smtClean="0">
                            <a:solidFill>
                              <a:prstClr val="black"/>
                            </a:solidFill>
                            <a:latin typeface="Cambria Math" panose="02040503050406030204" pitchFamily="18" charset="0"/>
                          </a:rPr>
                          <m:t>67</m:t>
                        </m:r>
                      </m:sub>
                    </m:sSub>
                  </m:oMath>
                </a14:m>
                <a:r>
                  <a:rPr lang="zh-CN" altLang="en-US" sz="2000" dirty="0">
                    <a:solidFill>
                      <a:prstClr val="black"/>
                    </a:solidFill>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2000" i="1">
                            <a:solidFill>
                              <a:prstClr val="black"/>
                            </a:solidFill>
                            <a:latin typeface="Cambria Math" panose="02040503050406030204" pitchFamily="18" charset="0"/>
                            <a:cs typeface="Times New Roman" panose="02020603050405020304" pitchFamily="18" charset="0"/>
                          </a:rPr>
                        </m:ctrlPr>
                      </m:sSubSupPr>
                      <m:e>
                        <m:r>
                          <a:rPr lang="en-US" altLang="zh-CN" sz="2000" i="1">
                            <a:solidFill>
                              <a:prstClr val="black"/>
                            </a:solidFill>
                            <a:latin typeface="Cambria Math" panose="02040503050406030204" pitchFamily="18" charset="0"/>
                            <a:cs typeface="Times New Roman" panose="02020603050405020304" pitchFamily="18" charset="0"/>
                          </a:rPr>
                          <m:t>𝑊</m:t>
                        </m:r>
                      </m:e>
                      <m:sub>
                        <m:r>
                          <a:rPr lang="en-US" altLang="zh-CN" sz="2000" b="0" i="1" smtClean="0">
                            <a:solidFill>
                              <a:prstClr val="black"/>
                            </a:solidFill>
                            <a:latin typeface="Cambria Math" panose="02040503050406030204" pitchFamily="18" charset="0"/>
                            <a:cs typeface="Times New Roman" panose="02020603050405020304" pitchFamily="18" charset="0"/>
                          </a:rPr>
                          <m:t>0</m:t>
                        </m:r>
                      </m:sub>
                      <m:sup>
                        <m:r>
                          <a:rPr lang="en-US" altLang="zh-CN" sz="2000" i="1">
                            <a:solidFill>
                              <a:prstClr val="black"/>
                            </a:solidFill>
                            <a:latin typeface="Cambria Math" panose="02040503050406030204" pitchFamily="18" charset="0"/>
                            <a:cs typeface="Times New Roman" panose="02020603050405020304" pitchFamily="18" charset="0"/>
                          </a:rPr>
                          <m:t>′</m:t>
                        </m:r>
                      </m:sup>
                    </m:sSubSup>
                    <m:r>
                      <a:rPr lang="en-US" altLang="zh-CN" sz="2000" i="1" dirty="0">
                        <a:solidFill>
                          <a:prstClr val="black"/>
                        </a:solidFill>
                        <a:latin typeface="Cambria Math" panose="02040503050406030204" pitchFamily="18" charset="0"/>
                      </a:rPr>
                      <m:t>,</m:t>
                    </m:r>
                    <m:sSubSup>
                      <m:sSubSupPr>
                        <m:ctrlPr>
                          <a:rPr lang="en-US" altLang="zh-CN" sz="2000" i="1">
                            <a:solidFill>
                              <a:prstClr val="black"/>
                            </a:solidFill>
                            <a:latin typeface="Cambria Math" panose="02040503050406030204" pitchFamily="18" charset="0"/>
                            <a:cs typeface="Times New Roman" panose="02020603050405020304" pitchFamily="18" charset="0"/>
                          </a:rPr>
                        </m:ctrlPr>
                      </m:sSubSupPr>
                      <m:e>
                        <m:r>
                          <a:rPr lang="en-US" altLang="zh-CN" sz="2000" i="1">
                            <a:solidFill>
                              <a:prstClr val="black"/>
                            </a:solidFill>
                            <a:latin typeface="Cambria Math" panose="02040503050406030204" pitchFamily="18" charset="0"/>
                            <a:cs typeface="Times New Roman" panose="02020603050405020304" pitchFamily="18" charset="0"/>
                          </a:rPr>
                          <m:t>𝑊</m:t>
                        </m:r>
                      </m:e>
                      <m:sub>
                        <m:r>
                          <a:rPr lang="en-US" altLang="zh-CN" sz="2000" b="0" i="1" smtClean="0">
                            <a:solidFill>
                              <a:prstClr val="black"/>
                            </a:solidFill>
                            <a:latin typeface="Cambria Math" panose="02040503050406030204" pitchFamily="18" charset="0"/>
                            <a:cs typeface="Times New Roman" panose="02020603050405020304" pitchFamily="18" charset="0"/>
                          </a:rPr>
                          <m:t>1</m:t>
                        </m:r>
                      </m:sub>
                      <m:sup>
                        <m:r>
                          <a:rPr lang="en-US" altLang="zh-CN" sz="2000" i="1">
                            <a:solidFill>
                              <a:prstClr val="black"/>
                            </a:solidFill>
                            <a:latin typeface="Cambria Math" panose="02040503050406030204" pitchFamily="18" charset="0"/>
                            <a:cs typeface="Times New Roman" panose="02020603050405020304" pitchFamily="18" charset="0"/>
                          </a:rPr>
                          <m:t>′</m:t>
                        </m:r>
                      </m:sup>
                    </m:sSubSup>
                    <m:r>
                      <a:rPr lang="en-US" altLang="zh-CN" sz="2000" i="1" dirty="0">
                        <a:solidFill>
                          <a:prstClr val="black"/>
                        </a:solidFill>
                        <a:latin typeface="Cambria Math" panose="02040503050406030204" pitchFamily="18" charset="0"/>
                      </a:rPr>
                      <m:t>,</m:t>
                    </m:r>
                    <m:r>
                      <a:rPr lang="en-US" altLang="zh-CN" sz="2000" i="1" dirty="0">
                        <a:solidFill>
                          <a:prstClr val="black"/>
                        </a:solidFill>
                        <a:latin typeface="Cambria Math" panose="02040503050406030204" pitchFamily="18" charset="0"/>
                        <a:ea typeface="Cambria Math" panose="02040503050406030204" pitchFamily="18" charset="0"/>
                      </a:rPr>
                      <m:t>⋯</m:t>
                    </m:r>
                  </m:oMath>
                </a14:m>
                <a:r>
                  <a:rPr lang="en-US" altLang="zh-CN" sz="2000" dirty="0">
                    <a:solidFill>
                      <a:prstClr val="black"/>
                    </a:solidFill>
                  </a:rPr>
                  <a:t> ,</a:t>
                </a:r>
                <a14:m>
                  <m:oMath xmlns:m="http://schemas.openxmlformats.org/officeDocument/2006/math">
                    <m:sSubSup>
                      <m:sSubSupPr>
                        <m:ctrlPr>
                          <a:rPr lang="en-US" altLang="zh-CN" sz="2000" i="1">
                            <a:solidFill>
                              <a:prstClr val="black"/>
                            </a:solidFill>
                            <a:latin typeface="Cambria Math" panose="02040503050406030204" pitchFamily="18" charset="0"/>
                            <a:cs typeface="Times New Roman" panose="02020603050405020304" pitchFamily="18" charset="0"/>
                          </a:rPr>
                        </m:ctrlPr>
                      </m:sSubSupPr>
                      <m:e>
                        <m:r>
                          <a:rPr lang="en-US" altLang="zh-CN" sz="2000" i="1">
                            <a:solidFill>
                              <a:prstClr val="black"/>
                            </a:solidFill>
                            <a:latin typeface="Cambria Math" panose="02040503050406030204" pitchFamily="18" charset="0"/>
                            <a:cs typeface="Times New Roman" panose="02020603050405020304" pitchFamily="18" charset="0"/>
                          </a:rPr>
                          <m:t>𝑊</m:t>
                        </m:r>
                      </m:e>
                      <m:sub>
                        <m:r>
                          <a:rPr lang="en-US" altLang="zh-CN" sz="2000" b="0" i="1" smtClean="0">
                            <a:solidFill>
                              <a:prstClr val="black"/>
                            </a:solidFill>
                            <a:latin typeface="Cambria Math" panose="02040503050406030204" pitchFamily="18" charset="0"/>
                            <a:cs typeface="Times New Roman" panose="02020603050405020304" pitchFamily="18" charset="0"/>
                          </a:rPr>
                          <m:t>63</m:t>
                        </m:r>
                      </m:sub>
                      <m:sup>
                        <m:r>
                          <a:rPr lang="en-US" altLang="zh-CN" sz="2000" i="1">
                            <a:solidFill>
                              <a:prstClr val="black"/>
                            </a:solidFill>
                            <a:latin typeface="Cambria Math" panose="02040503050406030204" pitchFamily="18" charset="0"/>
                            <a:cs typeface="Times New Roman" panose="02020603050405020304" pitchFamily="18" charset="0"/>
                          </a:rPr>
                          <m:t>′</m:t>
                        </m:r>
                      </m:sup>
                    </m:sSubSup>
                  </m:oMath>
                </a14:m>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a:p>
                <a:pPr marL="342900" lvl="0" indent="-342900">
                  <a:lnSpc>
                    <a:spcPct val="120000"/>
                  </a:lnSpc>
                  <a:spcBef>
                    <a:spcPts val="600"/>
                  </a:spcBef>
                  <a:spcAft>
                    <a:spcPts val="600"/>
                  </a:spcAft>
                  <a:buFont typeface="Wingdings" panose="05000000000000000000" pitchFamily="2" charset="2"/>
                  <a:buChar char="l"/>
                </a:pP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645834"/>
                <a:ext cx="8493405" cy="4548233"/>
              </a:xfrm>
              <a:prstGeom prst="rect">
                <a:avLst/>
              </a:prstGeom>
              <a:blipFill>
                <a:blip r:embed="rId3"/>
                <a:stretch>
                  <a:fillRect l="-718" t="-134" r="-37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59302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(3)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迭代压缩</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645834"/>
                <a:ext cx="8493405" cy="4808432"/>
              </a:xfrm>
              <a:prstGeom prst="rect">
                <a:avLst/>
              </a:prstGeom>
              <a:noFill/>
            </p:spPr>
            <p:txBody>
              <a:bodyPr wrap="square" rtlCol="0">
                <a:spAutoFit/>
              </a:bodyPr>
              <a:lstStyle/>
              <a:p>
                <a:pPr lvl="0">
                  <a:spcAft>
                    <a:spcPts val="600"/>
                  </a:spcAft>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对消息分组</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mn-cs"/>
                          </a:rPr>
                          <m:t>𝐵</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进行迭代压缩，如下所示：</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spcAft>
                    <a:spcPts val="600"/>
                  </a:spcAft>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0  to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𝑁</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−1</m:t>
                    </m:r>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14:m>
                  <m:oMath xmlns:m="http://schemas.openxmlformats.org/officeDocument/2006/math">
                    <m:sSup>
                      <m:sSupPr>
                        <m:ctrlPr>
                          <a:rPr lang="en-US" altLang="zh-CN" sz="2000" i="1">
                            <a:solidFill>
                              <a:prstClr val="black"/>
                            </a:solidFill>
                            <a:latin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cs typeface="Times New Roman" panose="02020603050405020304" pitchFamily="18" charset="0"/>
                          </a:rPr>
                          <m:t>𝑉</m:t>
                        </m:r>
                      </m:e>
                      <m:sup>
                        <m:r>
                          <a:rPr lang="en-US" altLang="zh-CN" sz="2000" i="1">
                            <a:solidFill>
                              <a:prstClr val="black"/>
                            </a:solidFill>
                            <a:latin typeface="Cambria Math" panose="02040503050406030204" pitchFamily="18" charset="0"/>
                            <a:cs typeface="Times New Roman" panose="02020603050405020304" pitchFamily="18" charset="0"/>
                          </a:rPr>
                          <m:t>(</m:t>
                        </m:r>
                        <m:r>
                          <a:rPr lang="en-US" altLang="zh-CN" sz="2000" i="1">
                            <a:solidFill>
                              <a:prstClr val="black"/>
                            </a:solidFill>
                            <a:latin typeface="Cambria Math" panose="02040503050406030204" pitchFamily="18" charset="0"/>
                            <a:cs typeface="Times New Roman" panose="02020603050405020304" pitchFamily="18" charset="0"/>
                          </a:rPr>
                          <m:t>𝑖</m:t>
                        </m:r>
                        <m:r>
                          <a:rPr lang="en-US" altLang="zh-CN" sz="2000" i="1">
                            <a:solidFill>
                              <a:prstClr val="black"/>
                            </a:solidFill>
                            <a:latin typeface="Cambria Math" panose="02040503050406030204" pitchFamily="18" charset="0"/>
                            <a:cs typeface="Times New Roman" panose="02020603050405020304" pitchFamily="18" charset="0"/>
                          </a:rPr>
                          <m:t>+1)</m:t>
                        </m:r>
                      </m:sup>
                    </m:sSup>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𝐶𝐹</m:t>
                    </m:r>
                    <m:d>
                      <m:d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𝑖</m:t>
                            </m:r>
                          </m:sub>
                        </m:sSub>
                      </m:e>
                    </m:d>
                  </m:oMath>
                </a14:m>
                <a:r>
                  <a:rPr lang="zh-CN" altLang="en-US" sz="2000" dirty="0">
                    <a:solidFill>
                      <a:prstClr val="black"/>
                    </a:solidFill>
                    <a:latin typeface="Times New Roman" panose="02020603050405020304" pitchFamily="18" charset="0"/>
                    <a:cs typeface="Times New Roman" panose="02020603050405020304" pitchFamily="18" charset="0"/>
                  </a:rPr>
                  <a:t>，</a:t>
                </a:r>
                <a:endParaRPr lang="en-US" altLang="zh-CN" sz="2000" dirty="0">
                  <a:solidFill>
                    <a:prstClr val="black"/>
                  </a:solidFill>
                  <a:latin typeface="Times New Roman" panose="02020603050405020304" pitchFamily="18" charset="0"/>
                  <a:cs typeface="Times New Roman" panose="02020603050405020304" pitchFamily="18" charset="0"/>
                </a:endParaRPr>
              </a:p>
              <a:p>
                <a:pPr lvl="0">
                  <a:spcAft>
                    <a:spcPts val="600"/>
                  </a:spcAft>
                </a:pPr>
                <a:r>
                  <a:rPr lang="zh-CN" altLang="en-US" sz="2000" dirty="0">
                    <a:solidFill>
                      <a:prstClr val="black"/>
                    </a:solidFill>
                    <a:latin typeface="Times New Roman" panose="02020603050405020304" pitchFamily="18" charset="0"/>
                    <a:cs typeface="Times New Roman" panose="02020603050405020304" pitchFamily="18" charset="0"/>
                  </a:rPr>
                  <a:t>其中，</a:t>
                </a:r>
                <a:r>
                  <a:rPr lang="en-US" altLang="zh-CN" sz="2000" i="1" dirty="0">
                    <a:solidFill>
                      <a:prstClr val="black"/>
                    </a:solidFill>
                    <a:latin typeface="Times New Roman" panose="02020603050405020304" pitchFamily="18" charset="0"/>
                    <a:cs typeface="Times New Roman" panose="02020603050405020304" pitchFamily="18" charset="0"/>
                  </a:rPr>
                  <a:t>CF</a:t>
                </a:r>
                <a:r>
                  <a:rPr lang="zh-CN" altLang="en-US" sz="2000" dirty="0">
                    <a:solidFill>
                      <a:prstClr val="black"/>
                    </a:solidFill>
                    <a:latin typeface="Times New Roman" panose="02020603050405020304" pitchFamily="18" charset="0"/>
                    <a:cs typeface="Times New Roman" panose="02020603050405020304" pitchFamily="18" charset="0"/>
                  </a:rPr>
                  <a:t>是压缩函数，</a:t>
                </a:r>
                <a14:m>
                  <m:oMath xmlns:m="http://schemas.openxmlformats.org/officeDocument/2006/math">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en-US" sz="2000" dirty="0">
                    <a:solidFill>
                      <a:prstClr val="black"/>
                    </a:solidFill>
                    <a:latin typeface="Times New Roman" panose="02020603050405020304" pitchFamily="18" charset="0"/>
                    <a:cs typeface="Times New Roman" panose="02020603050405020304" pitchFamily="18" charset="0"/>
                  </a:rPr>
                  <a:t>为</a:t>
                </a:r>
                <a:r>
                  <a:rPr lang="en-US" altLang="zh-CN" sz="2000" dirty="0">
                    <a:solidFill>
                      <a:prstClr val="black"/>
                    </a:solidFill>
                    <a:latin typeface="Times New Roman" panose="02020603050405020304" pitchFamily="18" charset="0"/>
                    <a:cs typeface="Times New Roman" panose="02020603050405020304" pitchFamily="18" charset="0"/>
                  </a:rPr>
                  <a:t>256</a:t>
                </a:r>
                <a:r>
                  <a:rPr lang="zh-CN" altLang="en-US" sz="2000" dirty="0">
                    <a:solidFill>
                      <a:prstClr val="black"/>
                    </a:solidFill>
                    <a:latin typeface="Times New Roman" panose="02020603050405020304" pitchFamily="18" charset="0"/>
                    <a:cs typeface="Times New Roman" panose="02020603050405020304" pitchFamily="18" charset="0"/>
                  </a:rPr>
                  <a:t>比特初始值</a:t>
                </a:r>
                <a:r>
                  <a:rPr lang="en-US" altLang="zh-CN" sz="2000" dirty="0">
                    <a:solidFill>
                      <a:prstClr val="black"/>
                    </a:solidFill>
                    <a:latin typeface="Times New Roman" panose="02020603050405020304" pitchFamily="18" charset="0"/>
                    <a:cs typeface="Times New Roman" panose="02020603050405020304" pitchFamily="18" charset="0"/>
                  </a:rPr>
                  <a:t>IV</a:t>
                </a:r>
                <a:r>
                  <a:rPr lang="zh-CN" altLang="en-US" sz="2000" dirty="0">
                    <a:solidFill>
                      <a:prstClr val="black"/>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zh-CN" altLang="en-US" sz="2000" dirty="0">
                    <a:solidFill>
                      <a:prstClr val="black"/>
                    </a:solidFill>
                    <a:latin typeface="Times New Roman" panose="02020603050405020304" pitchFamily="18" charset="0"/>
                    <a:cs typeface="Times New Roman" panose="02020603050405020304" pitchFamily="18" charset="0"/>
                  </a:rPr>
                  <a:t>为填充后的消息分组，迭代压缩的结果为</a:t>
                </a:r>
                <a14:m>
                  <m:oMath xmlns:m="http://schemas.openxmlformats.org/officeDocument/2006/math">
                    <m:sSup>
                      <m:sSupPr>
                        <m:ctrlPr>
                          <a:rPr lang="en-US" altLang="zh-CN" sz="2000" i="1">
                            <a:solidFill>
                              <a:prstClr val="black"/>
                            </a:solidFill>
                            <a:latin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cs typeface="Times New Roman" panose="02020603050405020304" pitchFamily="18" charset="0"/>
                          </a:rPr>
                          <m:t>𝑉</m:t>
                        </m:r>
                      </m:e>
                      <m:sup>
                        <m:r>
                          <a:rPr lang="en-US" altLang="zh-CN" sz="2000" i="1">
                            <a:solidFill>
                              <a:prstClr val="black"/>
                            </a:solidFill>
                            <a:latin typeface="Cambria Math" panose="02040503050406030204" pitchFamily="18" charset="0"/>
                            <a:cs typeface="Times New Roman" panose="02020603050405020304" pitchFamily="18" charset="0"/>
                          </a:rPr>
                          <m:t>(</m:t>
                        </m:r>
                        <m:r>
                          <a:rPr lang="en-US" altLang="zh-CN" sz="2000" b="0" i="1" smtClean="0">
                            <a:solidFill>
                              <a:prstClr val="black"/>
                            </a:solidFill>
                            <a:latin typeface="Cambria Math" panose="02040503050406030204" pitchFamily="18" charset="0"/>
                            <a:cs typeface="Times New Roman" panose="02020603050405020304" pitchFamily="18" charset="0"/>
                          </a:rPr>
                          <m:t>𝑁</m:t>
                        </m:r>
                        <m:r>
                          <a:rPr lang="en-US" altLang="zh-CN" sz="2000" i="1">
                            <a:solidFill>
                              <a:prstClr val="black"/>
                            </a:solidFill>
                            <a:latin typeface="Cambria Math" panose="02040503050406030204" pitchFamily="18" charset="0"/>
                            <a:cs typeface="Times New Roman" panose="02020603050405020304" pitchFamily="18" charset="0"/>
                          </a:rPr>
                          <m:t>)</m:t>
                        </m:r>
                      </m:sup>
                    </m:sSup>
                    <m:r>
                      <a:rPr lang="en-US" altLang="zh-CN" sz="2000" i="1">
                        <a:solidFill>
                          <a:prstClr val="black"/>
                        </a:solidFill>
                        <a:latin typeface="Cambria Math" panose="02040503050406030204" pitchFamily="18" charset="0"/>
                        <a:cs typeface="Times New Roman" panose="02020603050405020304" pitchFamily="18" charset="0"/>
                      </a:rPr>
                      <m:t> </m:t>
                    </m:r>
                  </m:oMath>
                </a14:m>
                <a:r>
                  <a:rPr lang="zh-CN" altLang="en-US" sz="2000" dirty="0">
                    <a:solidFill>
                      <a:prstClr val="black"/>
                    </a:solidFill>
                    <a:latin typeface="Times New Roman" panose="02020603050405020304" pitchFamily="18" charset="0"/>
                    <a:cs typeface="Times New Roman" panose="02020603050405020304" pitchFamily="18" charset="0"/>
                  </a:rPr>
                  <a:t>，</a:t>
                </a:r>
                <a:r>
                  <a:rPr lang="en-US" altLang="zh-CN" sz="2000" dirty="0">
                    <a:solidFill>
                      <a:prstClr val="black"/>
                    </a:solidFill>
                    <a:cs typeface="Times New Roman" panose="02020603050405020304" pitchFamily="18" charset="0"/>
                  </a:rPr>
                  <a:t> </a:t>
                </a:r>
                <a14:m>
                  <m:oMath xmlns:m="http://schemas.openxmlformats.org/officeDocument/2006/math">
                    <m:sSup>
                      <m:sSupPr>
                        <m:ctrlPr>
                          <a:rPr lang="en-US" altLang="zh-CN" sz="2000" i="1">
                            <a:solidFill>
                              <a:prstClr val="black"/>
                            </a:solidFill>
                            <a:latin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cs typeface="Times New Roman" panose="02020603050405020304" pitchFamily="18" charset="0"/>
                          </a:rPr>
                          <m:t>𝑉</m:t>
                        </m:r>
                      </m:e>
                      <m:sup>
                        <m:r>
                          <a:rPr lang="en-US" altLang="zh-CN" sz="2000" i="1">
                            <a:solidFill>
                              <a:prstClr val="black"/>
                            </a:solidFill>
                            <a:latin typeface="Cambria Math" panose="02040503050406030204" pitchFamily="18" charset="0"/>
                            <a:cs typeface="Times New Roman" panose="02020603050405020304" pitchFamily="18" charset="0"/>
                          </a:rPr>
                          <m:t>(</m:t>
                        </m:r>
                        <m:r>
                          <a:rPr lang="en-US" altLang="zh-CN" sz="2000" i="1">
                            <a:solidFill>
                              <a:prstClr val="black"/>
                            </a:solidFill>
                            <a:latin typeface="Cambria Math" panose="02040503050406030204" pitchFamily="18" charset="0"/>
                            <a:cs typeface="Times New Roman" panose="02020603050405020304" pitchFamily="18" charset="0"/>
                          </a:rPr>
                          <m:t>𝑁</m:t>
                        </m:r>
                        <m:r>
                          <a:rPr lang="en-US" altLang="zh-CN" sz="2000" i="1">
                            <a:solidFill>
                              <a:prstClr val="black"/>
                            </a:solidFill>
                            <a:latin typeface="Cambria Math" panose="02040503050406030204" pitchFamily="18" charset="0"/>
                            <a:cs typeface="Times New Roman" panose="02020603050405020304" pitchFamily="18" charset="0"/>
                          </a:rPr>
                          <m:t>)</m:t>
                        </m:r>
                      </m:sup>
                    </m:sSup>
                  </m:oMath>
                </a14:m>
                <a:r>
                  <a:rPr lang="zh-CN" altLang="en-US" sz="2000" dirty="0">
                    <a:solidFill>
                      <a:prstClr val="black"/>
                    </a:solidFill>
                    <a:latin typeface="Times New Roman" panose="02020603050405020304" pitchFamily="18" charset="0"/>
                    <a:cs typeface="Times New Roman" panose="02020603050405020304" pitchFamily="18" charset="0"/>
                  </a:rPr>
                  <a:t> 即为消息</a:t>
                </a:r>
                <a:r>
                  <a:rPr lang="en-US" altLang="zh-CN" sz="2000" i="1" dirty="0">
                    <a:solidFill>
                      <a:prstClr val="black"/>
                    </a:solidFill>
                    <a:latin typeface="Times New Roman" panose="02020603050405020304" pitchFamily="18" charset="0"/>
                    <a:cs typeface="Times New Roman" panose="02020603050405020304" pitchFamily="18" charset="0"/>
                  </a:rPr>
                  <a:t>m</a:t>
                </a:r>
                <a:r>
                  <a:rPr lang="zh-CN" altLang="en-US" sz="2000" dirty="0">
                    <a:solidFill>
                      <a:prstClr val="black"/>
                    </a:solidFill>
                    <a:latin typeface="Times New Roman" panose="02020603050405020304" pitchFamily="18" charset="0"/>
                    <a:cs typeface="Times New Roman" panose="02020603050405020304" pitchFamily="18" charset="0"/>
                  </a:rPr>
                  <a:t>的哈希值。</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457200" rtl="0" eaLnBrk="1" fontAlgn="auto" latinLnBrk="0" hangingPunct="1">
                  <a:lnSpc>
                    <a:spcPct val="100000"/>
                  </a:lnSpc>
                  <a:spcAft>
                    <a:spcPts val="60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设</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a:t>
                </a:r>
                <a14:m>
                  <m:oMath xmlns:m="http://schemas.openxmlformats.org/officeDocument/2006/math">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m:t>
                    </m:r>
                  </m:oMath>
                </a14:m>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为字寄存器，</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𝑆𝑆</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1</m:t>
                        </m:r>
                      </m:sub>
                    </m:sSub>
                  </m:oMath>
                </a14:m>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𝑆𝑆</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2</m:t>
                        </m:r>
                      </m:sub>
                    </m:sSub>
                  </m:oMath>
                </a14:m>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𝑇𝑇</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1</m:t>
                        </m:r>
                      </m:sub>
                    </m:sSub>
                  </m:oMath>
                </a14:m>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Times New Roman" panose="02020603050405020304" pitchFamily="18" charset="0"/>
                  </a:rPr>
                  <a:t>、</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𝑇𝑇</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2</m:t>
                        </m:r>
                      </m:sub>
                    </m:sSub>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为中间变量，压缩函数</a:t>
                </a:r>
                <a14:m>
                  <m:oMath xmlns:m="http://schemas.openxmlformats.org/officeDocument/2006/math">
                    <m:sSup>
                      <m:sSup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p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𝑉</m:t>
                        </m:r>
                      </m:e>
                      <m:sup>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𝑖</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+1)</m:t>
                        </m:r>
                      </m:sup>
                    </m:sSup>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𝐶𝐹</m:t>
                    </m:r>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𝑉</m:t>
                            </m:r>
                          </m:e>
                          <m:sup>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up>
                        </m:sSup>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𝐵</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sub>
                        </m:sSub>
                      </m:e>
                    </m:d>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14:m>
                  <m:oMath xmlns:m="http://schemas.openxmlformats.org/officeDocument/2006/math">
                    <m:r>
                      <a:rPr kumimoji="0" lang="en-US" altLang="zh-CN" sz="2000" b="0" i="0"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0</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𝑖</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𝑁</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−1</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，计算过程如下：</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457200" rtl="0" eaLnBrk="1" fontAlgn="auto" latinLnBrk="0" hangingPunct="1">
                  <a:lnSpc>
                    <a:spcPct val="100000"/>
                  </a:lnSpc>
                  <a:spcAft>
                    <a:spcPts val="600"/>
                  </a:spcAft>
                  <a:buClrTx/>
                  <a:buSzTx/>
                  <a:buFontTx/>
                  <a:buNone/>
                  <a:tabLst/>
                  <a:defRPr/>
                </a:pP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ABCDEFGH </a:t>
                </a:r>
                <a:r>
                  <a:rPr kumimoji="0" lang="en-US" altLang="zh-CN" sz="2000" b="0" i="0" u="none" strike="noStrike" kern="1200" cap="none" spc="0" normalizeH="0" baseline="0" noProof="0" dirty="0">
                    <a:ln>
                      <a:noFill/>
                    </a:ln>
                    <a:solidFill>
                      <a:prstClr val="black"/>
                    </a:solidFill>
                    <a:effectLst/>
                    <a:uLnTx/>
                    <a:uFillTx/>
                    <a:latin typeface="Arial"/>
                    <a:ea typeface="Cambria Math" panose="02040503050406030204" pitchFamily="18" charset="0"/>
                    <a:cs typeface="Times New Roman" panose="02020603050405020304" pitchFamily="18" charset="0"/>
                  </a:rPr>
                  <a:t>=</a:t>
                </a:r>
                <a14:m>
                  <m:oMath xmlns:m="http://schemas.openxmlformats.org/officeDocument/2006/math">
                    <m:sSup>
                      <m:sSup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𝑉</m:t>
                        </m:r>
                      </m:e>
                      <m:sup>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up>
                    </m:sSup>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457200" rtl="0" eaLnBrk="1" fontAlgn="auto" latinLnBrk="0" hangingPunct="1">
                  <a:lnSpc>
                    <a:spcPct val="100000"/>
                  </a:lnSpc>
                  <a:spcAft>
                    <a:spcPts val="60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j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0  to  63</a:t>
                </a:r>
              </a:p>
              <a:p>
                <a:pPr marL="0" marR="0" lvl="0" indent="0" algn="l" defTabSz="457200" rtl="0" eaLnBrk="1" fontAlgn="auto" latinLnBrk="0" hangingPunct="1">
                  <a:lnSpc>
                    <a:spcPct val="100000"/>
                  </a:lnSpc>
                  <a:spcAft>
                    <a:spcPts val="60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Arial"/>
                    <a:ea typeface="微软雅黑"/>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𝑆𝑆</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1</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𝐴</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⋘12</m:t>
                            </m:r>
                          </m:e>
                        </m:d>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𝐸</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d>
                          <m:d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𝑇</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e>
                        </m:d>
                      </m:e>
                    </m:d>
                  </m:oMath>
                </a14:m>
                <a:r>
                  <a:rPr kumimoji="0" lang="en-US" altLang="zh-CN" sz="2000" b="0" i="0" u="none" strike="noStrike" kern="1200" cap="none" spc="0" normalizeH="0" baseline="0" noProof="0" dirty="0">
                    <a:ln>
                      <a:noFill/>
                    </a:ln>
                    <a:solidFill>
                      <a:prstClr val="black"/>
                    </a:solidFill>
                    <a:effectLst/>
                    <a:uLnTx/>
                    <a:uFillTx/>
                    <a:latin typeface="Arial"/>
                    <a:ea typeface="Cambria Math" panose="02040503050406030204" pitchFamily="18" charset="0"/>
                    <a:cs typeface="Times New Roman" panose="02020603050405020304" pitchFamily="18" charset="0"/>
                  </a:rPr>
                  <a:t>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7</m:t>
                    </m:r>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spcAft>
                    <a:spcPts val="600"/>
                  </a:spcAft>
                </a:pPr>
                <a:r>
                  <a:rPr kumimoji="0" lang="en-US" altLang="zh-CN" sz="2000" b="0" i="0" u="none" strike="noStrike" kern="1200" cap="none" spc="0" normalizeH="0" baseline="0" noProof="0" dirty="0">
                    <a:ln>
                      <a:noFill/>
                    </a:ln>
                    <a:solidFill>
                      <a:prstClr val="black"/>
                    </a:solidFill>
                    <a:effectLst/>
                    <a:uLnTx/>
                    <a:uFillTx/>
                    <a:latin typeface="Arial"/>
                    <a:ea typeface="仿宋" panose="02010609060101010101" pitchFamily="49" charset="-122"/>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𝑆𝑆</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2</m:t>
                        </m:r>
                      </m:sub>
                    </m:sSub>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𝑆𝑆</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1</m:t>
                        </m:r>
                      </m:sub>
                    </m:s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oMath>
                </a14:m>
                <a:r>
                  <a:rPr kumimoji="0" lang="en-US" altLang="zh-CN" sz="2000" b="0" i="0" u="none" strike="noStrike" kern="1200" cap="none" spc="0" normalizeH="0" baseline="0" noProof="0" dirty="0">
                    <a:ln>
                      <a:noFill/>
                    </a:ln>
                    <a:solidFill>
                      <a:prstClr val="black"/>
                    </a:solidFill>
                    <a:effectLst/>
                    <a:uLnTx/>
                    <a:uFillTx/>
                    <a:latin typeface="Arial"/>
                    <a:ea typeface="Cambria Math" panose="02040503050406030204" pitchFamily="18" charset="0"/>
                    <a:cs typeface="Times New Roman" panose="02020603050405020304" pitchFamily="18" charset="0"/>
                  </a:rPr>
                  <a:t> </a:t>
                </a:r>
                <a14:m>
                  <m:oMath xmlns:m="http://schemas.openxmlformats.org/officeDocument/2006/math">
                    <m:d>
                      <m:d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𝐴</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⋘12</m:t>
                        </m:r>
                      </m:e>
                    </m:d>
                  </m:oMath>
                </a14:m>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spcAft>
                    <a:spcPts val="600"/>
                  </a:spcAft>
                </a:pPr>
                <a:r>
                  <a:rPr kumimoji="0" lang="en-US" altLang="zh-CN" sz="2000" b="0" i="0" u="none" strike="noStrike" kern="1200" cap="none" spc="0" normalizeH="0" baseline="0" noProof="0" dirty="0">
                    <a:ln>
                      <a:noFill/>
                    </a:ln>
                    <a:solidFill>
                      <a:prstClr val="black"/>
                    </a:solidFill>
                    <a:effectLst/>
                    <a:uLnTx/>
                    <a:uFillTx/>
                    <a:latin typeface="Arial"/>
                    <a:ea typeface="仿宋" panose="02010609060101010101" pitchFamily="49" charset="-122"/>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𝑇𝑇</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1</m:t>
                        </m:r>
                      </m:sub>
                    </m:sSub>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𝐹𝐹</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𝐴</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𝐵</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𝐶</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𝐷</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𝑆𝑆</m:t>
                        </m:r>
                      </m:e>
                      <m:sub>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2</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Sup>
                      <m:sSubSup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𝑗</m:t>
                        </m:r>
                      </m:sub>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sup>
                    </m:sSubSup>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spcAft>
                    <a:spcPts val="600"/>
                  </a:spcAft>
                </a:pPr>
                <a:r>
                  <a:rPr kumimoji="0" lang="en-US" altLang="zh-CN" sz="2000" b="0" i="0" u="none" strike="noStrike" kern="1200" cap="none" spc="0" normalizeH="0" baseline="0" noProof="0" dirty="0">
                    <a:ln>
                      <a:noFill/>
                    </a:ln>
                    <a:solidFill>
                      <a:prstClr val="black"/>
                    </a:solidFill>
                    <a:effectLst/>
                    <a:uLnTx/>
                    <a:uFillTx/>
                    <a:latin typeface="Arial"/>
                    <a:ea typeface="仿宋" panose="02010609060101010101" pitchFamily="49" charset="-122"/>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𝑇𝑇</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2</m:t>
                        </m:r>
                      </m:sub>
                    </m:sSub>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𝐺𝐺</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sub>
                    </m:sSub>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𝐸</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𝐹</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𝐺</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𝐻</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𝑆𝑆</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仿宋" panose="02010609060101010101" pitchFamily="49" charset="-122"/>
                            <a:cs typeface="Times New Roman" panose="02020603050405020304" pitchFamily="18" charset="0"/>
                          </a:rPr>
                          <m:t>1</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oMath>
                </a14:m>
                <a:r>
                  <a:rPr kumimoji="0" lang="en-US" altLang="zh-CN" sz="2000" b="0" i="0" u="none" strike="noStrike" kern="1200" cap="none" spc="0" normalizeH="0" baseline="0" noProof="0" dirty="0">
                    <a:ln>
                      <a:noFill/>
                    </a:ln>
                    <a:solidFill>
                      <a:prstClr val="black"/>
                    </a:solidFill>
                    <a:effectLst/>
                    <a:uLnTx/>
                    <a:uFillTx/>
                    <a:latin typeface="Arial"/>
                    <a:ea typeface="Cambria Math" panose="02040503050406030204" pitchFamily="18" charset="0"/>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𝑊</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𝑗</m:t>
                        </m:r>
                      </m:sub>
                    </m:sSub>
                  </m:oMath>
                </a14:m>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645834"/>
                <a:ext cx="8493405" cy="4808432"/>
              </a:xfrm>
              <a:prstGeom prst="rect">
                <a:avLst/>
              </a:prstGeom>
              <a:blipFill>
                <a:blip r:embed="rId3"/>
                <a:stretch>
                  <a:fillRect l="-718" t="-760" r="-431" b="-7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24674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(3)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迭代压缩</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645834"/>
                <a:ext cx="8493405" cy="4616585"/>
              </a:xfrm>
              <a:prstGeom prst="rect">
                <a:avLst/>
              </a:prstGeom>
              <a:noFill/>
            </p:spPr>
            <p:txBody>
              <a:bodyPr wrap="square" rtlCol="0">
                <a:spAutoFit/>
              </a:bodyPr>
              <a:lstStyle/>
              <a:p>
                <a:pPr lvl="0"/>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lang="en-US" altLang="zh-CN" sz="2400" i="1" dirty="0">
                    <a:solidFill>
                      <a:prstClr val="black"/>
                    </a:solidFill>
                    <a:latin typeface="Times New Roman" panose="02020603050405020304" pitchFamily="18" charset="0"/>
                    <a:cs typeface="Times New Roman" panose="02020603050405020304" pitchFamily="18" charset="0"/>
                  </a:rPr>
                  <a:t>D</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2400" i="1" dirty="0">
                    <a:solidFill>
                      <a:prstClr val="black"/>
                    </a:solidFill>
                    <a:latin typeface="Times New Roman" panose="02020603050405020304" pitchFamily="18" charset="0"/>
                    <a:cs typeface="Times New Roman" panose="02020603050405020304" pitchFamily="18" charset="0"/>
                  </a:rPr>
                  <a:t>C </a:t>
                </a:r>
                <a:r>
                  <a:rPr lang="zh-CN" altLang="en-US" sz="2400" dirty="0">
                    <a:solidFill>
                      <a:prstClr val="black"/>
                    </a:solidFill>
                    <a:latin typeface="Times New Roman" panose="02020603050405020304" pitchFamily="18" charset="0"/>
                    <a:cs typeface="Times New Roman" panose="02020603050405020304" pitchFamily="18" charset="0"/>
                  </a:rPr>
                  <a:t>；</a:t>
                </a:r>
                <a:endParaRPr kumimoji="0" lang="en-US" altLang="zh-CN" sz="2400" b="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r>
                  <a:rPr lang="en-US" altLang="zh-CN" sz="2400" i="1" dirty="0">
                    <a:solidFill>
                      <a:prstClr val="black"/>
                    </a:solidFill>
                    <a:latin typeface="Times New Roman" panose="02020603050405020304" pitchFamily="18" charset="0"/>
                    <a:cs typeface="Times New Roman" panose="02020603050405020304" pitchFamily="18" charset="0"/>
                  </a:rPr>
                  <a:t>       C</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𝐵</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9</m:t>
                    </m:r>
                  </m:oMath>
                </a14:m>
                <a:r>
                  <a:rPr lang="en-US" altLang="zh-CN" sz="2400" dirty="0">
                    <a:solidFill>
                      <a:prstClr val="black"/>
                    </a:solidFill>
                    <a:ea typeface="Cambria Math" panose="02040503050406030204" pitchFamily="18" charset="0"/>
                    <a:cs typeface="Times New Roman" panose="02020603050405020304" pitchFamily="18" charset="0"/>
                  </a:rPr>
                  <a:t> </a:t>
                </a:r>
                <a:r>
                  <a:rPr lang="zh-CN" altLang="en-US" sz="2400" dirty="0">
                    <a:solidFill>
                      <a:prstClr val="black"/>
                    </a:solidFill>
                    <a:ea typeface="Cambria Math" panose="02040503050406030204" pitchFamily="18" charset="0"/>
                    <a:cs typeface="Times New Roman" panose="02020603050405020304" pitchFamily="18" charset="0"/>
                  </a:rPr>
                  <a:t>；</a:t>
                </a:r>
                <a:endParaRPr lang="en-US" altLang="zh-CN" sz="2400" dirty="0">
                  <a:solidFill>
                    <a:prstClr val="black"/>
                  </a:solidFill>
                  <a:ea typeface="Cambria Math" panose="02040503050406030204" pitchFamily="18" charset="0"/>
                  <a:cs typeface="Times New Roman" panose="02020603050405020304" pitchFamily="18" charset="0"/>
                </a:endParaRPr>
              </a:p>
              <a:p>
                <a:pPr lvl="0"/>
                <a:r>
                  <a:rPr lang="en-US" altLang="zh-CN" sz="2400" dirty="0">
                    <a:solidFill>
                      <a:prstClr val="black"/>
                    </a:solidFill>
                    <a:ea typeface="Cambria Math" panose="02040503050406030204" pitchFamily="18" charset="0"/>
                    <a:cs typeface="Times New Roman" panose="02020603050405020304" pitchFamily="18" charset="0"/>
                  </a:rPr>
                  <a:t>      </a:t>
                </a:r>
                <a:r>
                  <a:rPr lang="en-US" altLang="zh-CN" sz="2400" i="1" dirty="0">
                    <a:solidFill>
                      <a:prstClr val="black"/>
                    </a:solidFill>
                    <a:latin typeface="Times New Roman" panose="02020603050405020304" pitchFamily="18" charset="0"/>
                    <a:cs typeface="Times New Roman" panose="02020603050405020304" pitchFamily="18" charset="0"/>
                  </a:rPr>
                  <a:t>B</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2400" i="1" dirty="0">
                    <a:solidFill>
                      <a:prstClr val="black"/>
                    </a:solidFill>
                    <a:latin typeface="Times New Roman" panose="02020603050405020304" pitchFamily="18" charset="0"/>
                    <a:cs typeface="Times New Roman" panose="02020603050405020304" pitchFamily="18" charset="0"/>
                  </a:rPr>
                  <a:t>A </a:t>
                </a:r>
                <a:r>
                  <a:rPr lang="zh-CN" altLang="en-US" sz="2400" dirty="0">
                    <a:solidFill>
                      <a:prstClr val="black"/>
                    </a:solidFill>
                    <a:latin typeface="Times New Roman" panose="02020603050405020304" pitchFamily="18" charset="0"/>
                    <a:cs typeface="Times New Roman" panose="02020603050405020304" pitchFamily="18" charset="0"/>
                  </a:rPr>
                  <a:t>；</a:t>
                </a:r>
                <a:endParaRPr lang="en-US" altLang="zh-CN" sz="2400" dirty="0">
                  <a:solidFill>
                    <a:prstClr val="black"/>
                  </a:solidFill>
                  <a:latin typeface="Times New Roman" panose="02020603050405020304" pitchFamily="18" charset="0"/>
                  <a:cs typeface="Times New Roman" panose="02020603050405020304" pitchFamily="18" charset="0"/>
                </a:endParaRPr>
              </a:p>
              <a:p>
                <a:pPr lvl="0"/>
                <a:r>
                  <a:rPr lang="en-US" altLang="zh-CN" sz="2400" i="1" dirty="0">
                    <a:solidFill>
                      <a:prstClr val="black"/>
                    </a:solidFill>
                    <a:latin typeface="Times New Roman" panose="02020603050405020304" pitchFamily="18" charset="0"/>
                    <a:cs typeface="Times New Roman" panose="02020603050405020304" pitchFamily="18" charset="0"/>
                  </a:rPr>
                  <a:t>       A</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ctrlPr>
                      </m:sSubPr>
                      <m:e>
                        <m: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t>𝑇𝑇</m:t>
                        </m:r>
                      </m:e>
                      <m:sub>
                        <m: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t>1</m:t>
                        </m:r>
                      </m:sub>
                    </m:sSub>
                  </m:oMath>
                </a14:m>
                <a:r>
                  <a:rPr lang="en-US" altLang="zh-CN" sz="2400" dirty="0">
                    <a:solidFill>
                      <a:prstClr val="black"/>
                    </a:solidFill>
                    <a:ea typeface="Cambria Math" panose="02040503050406030204" pitchFamily="18" charset="0"/>
                    <a:cs typeface="Times New Roman" panose="02020603050405020304" pitchFamily="18" charset="0"/>
                  </a:rPr>
                  <a:t> </a:t>
                </a:r>
                <a:r>
                  <a:rPr lang="zh-CN" altLang="en-US" sz="2400" dirty="0">
                    <a:solidFill>
                      <a:prstClr val="black"/>
                    </a:solidFill>
                    <a:ea typeface="Cambria Math" panose="02040503050406030204" pitchFamily="18" charset="0"/>
                    <a:cs typeface="Times New Roman" panose="02020603050405020304" pitchFamily="18" charset="0"/>
                  </a:rPr>
                  <a:t>；</a:t>
                </a:r>
                <a:endParaRPr lang="en-US" altLang="zh-CN" sz="2400" dirty="0">
                  <a:solidFill>
                    <a:prstClr val="black"/>
                  </a:solidFill>
                  <a:ea typeface="Cambria Math" panose="02040503050406030204" pitchFamily="18" charset="0"/>
                  <a:cs typeface="Times New Roman" panose="02020603050405020304" pitchFamily="18" charset="0"/>
                </a:endParaRPr>
              </a:p>
              <a:p>
                <a:pPr lvl="0"/>
                <a:r>
                  <a:rPr lang="en-US" altLang="zh-CN" sz="2400" i="1" dirty="0">
                    <a:solidFill>
                      <a:prstClr val="black"/>
                    </a:solidFill>
                    <a:latin typeface="Times New Roman" panose="02020603050405020304" pitchFamily="18" charset="0"/>
                    <a:cs typeface="Times New Roman" panose="02020603050405020304" pitchFamily="18" charset="0"/>
                  </a:rPr>
                  <a:t>       H</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400" i="1" dirty="0">
                    <a:solidFill>
                      <a:prstClr val="black"/>
                    </a:solidFill>
                    <a:latin typeface="Times New Roman" panose="02020603050405020304" pitchFamily="18" charset="0"/>
                    <a:cs typeface="Times New Roman" panose="02020603050405020304" pitchFamily="18" charset="0"/>
                  </a:rPr>
                  <a:t> G </a:t>
                </a:r>
                <a:r>
                  <a:rPr lang="zh-CN" altLang="en-US" sz="2400" dirty="0">
                    <a:solidFill>
                      <a:prstClr val="black"/>
                    </a:solidFill>
                    <a:latin typeface="Times New Roman" panose="02020603050405020304" pitchFamily="18" charset="0"/>
                    <a:cs typeface="Times New Roman" panose="02020603050405020304" pitchFamily="18" charset="0"/>
                  </a:rPr>
                  <a:t>；</a:t>
                </a:r>
                <a:endParaRPr lang="en-US" altLang="zh-CN" sz="2400" dirty="0">
                  <a:solidFill>
                    <a:prstClr val="black"/>
                  </a:solidFill>
                  <a:ea typeface="Cambria Math" panose="02040503050406030204" pitchFamily="18" charset="0"/>
                  <a:cs typeface="Times New Roman" panose="02020603050405020304" pitchFamily="18" charset="0"/>
                </a:endParaRPr>
              </a:p>
              <a:p>
                <a:r>
                  <a:rPr lang="en-US" altLang="zh-CN" sz="2400" i="1" dirty="0">
                    <a:solidFill>
                      <a:prstClr val="black"/>
                    </a:solidFill>
                    <a:latin typeface="Times New Roman" panose="02020603050405020304" pitchFamily="18" charset="0"/>
                    <a:cs typeface="Times New Roman" panose="02020603050405020304" pitchFamily="18" charset="0"/>
                  </a:rPr>
                  <a:t>       G</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𝐹</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9</m:t>
                    </m:r>
                  </m:oMath>
                </a14:m>
                <a:r>
                  <a:rPr lang="en-US" altLang="zh-CN" sz="2400" dirty="0">
                    <a:solidFill>
                      <a:prstClr val="black"/>
                    </a:solidFill>
                    <a:ea typeface="Cambria Math" panose="02040503050406030204" pitchFamily="18" charset="0"/>
                    <a:cs typeface="Times New Roman" panose="02020603050405020304" pitchFamily="18" charset="0"/>
                  </a:rPr>
                  <a:t> </a:t>
                </a:r>
                <a:r>
                  <a:rPr lang="zh-CN" altLang="en-US" sz="2400" dirty="0">
                    <a:solidFill>
                      <a:prstClr val="black"/>
                    </a:solidFill>
                    <a:ea typeface="Cambria Math" panose="02040503050406030204" pitchFamily="18" charset="0"/>
                    <a:cs typeface="Times New Roman" panose="02020603050405020304" pitchFamily="18" charset="0"/>
                  </a:rPr>
                  <a:t>；</a:t>
                </a:r>
                <a:endParaRPr lang="en-US" altLang="zh-CN" sz="2400" dirty="0">
                  <a:solidFill>
                    <a:prstClr val="black"/>
                  </a:solidFill>
                  <a:ea typeface="Cambria Math" panose="02040503050406030204" pitchFamily="18" charset="0"/>
                  <a:cs typeface="Times New Roman" panose="02020603050405020304" pitchFamily="18" charset="0"/>
                </a:endParaRPr>
              </a:p>
              <a:p>
                <a:pPr lvl="0"/>
                <a:r>
                  <a:rPr lang="en-US" altLang="zh-CN" sz="2400" dirty="0">
                    <a:solidFill>
                      <a:prstClr val="black"/>
                    </a:solidFill>
                    <a:ea typeface="Cambria Math" panose="02040503050406030204" pitchFamily="18" charset="0"/>
                    <a:cs typeface="Times New Roman" panose="02020603050405020304" pitchFamily="18" charset="0"/>
                  </a:rPr>
                  <a:t>       </a:t>
                </a:r>
                <a:r>
                  <a:rPr lang="en-US" altLang="zh-CN" sz="2400" i="1" dirty="0">
                    <a:solidFill>
                      <a:prstClr val="black"/>
                    </a:solidFill>
                    <a:latin typeface="Times New Roman" panose="02020603050405020304" pitchFamily="18" charset="0"/>
                    <a:cs typeface="Times New Roman" panose="02020603050405020304" pitchFamily="18" charset="0"/>
                  </a:rPr>
                  <a:t>F</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400" i="1" dirty="0">
                    <a:solidFill>
                      <a:prstClr val="black"/>
                    </a:solidFill>
                    <a:latin typeface="Times New Roman" panose="02020603050405020304" pitchFamily="18" charset="0"/>
                    <a:cs typeface="Times New Roman" panose="02020603050405020304" pitchFamily="18" charset="0"/>
                  </a:rPr>
                  <a:t> E  </a:t>
                </a:r>
                <a:r>
                  <a:rPr lang="en-US" altLang="zh-CN" sz="2400" dirty="0">
                    <a:solidFill>
                      <a:prstClr val="black"/>
                    </a:solidFill>
                    <a:latin typeface="Times New Roman" panose="02020603050405020304" pitchFamily="18" charset="0"/>
                    <a:cs typeface="Times New Roman" panose="02020603050405020304" pitchFamily="18" charset="0"/>
                  </a:rPr>
                  <a:t>;</a:t>
                </a:r>
              </a:p>
              <a:p>
                <a:pPr lvl="0"/>
                <a:r>
                  <a:rPr lang="en-US" altLang="zh-CN" sz="2400" i="1" dirty="0">
                    <a:solidFill>
                      <a:prstClr val="black"/>
                    </a:solidFill>
                    <a:latin typeface="Times New Roman" panose="02020603050405020304" pitchFamily="18" charset="0"/>
                    <a:cs typeface="Times New Roman" panose="02020603050405020304" pitchFamily="18" charset="0"/>
                  </a:rPr>
                  <a:t>       E</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40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CN" sz="2400" b="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
                      <m:dPr>
                        <m:ctrlPr>
                          <a:rPr lang="en-US" altLang="zh-CN" sz="240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ctrlPr>
                          </m:sSubPr>
                          <m:e>
                            <m: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t>𝑇𝑇</m:t>
                            </m:r>
                          </m:e>
                          <m:sub>
                            <m: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t>2</m:t>
                            </m:r>
                          </m:sub>
                        </m:sSub>
                      </m:e>
                    </m:d>
                  </m:oMath>
                </a14:m>
                <a:r>
                  <a:rPr lang="en-US" altLang="zh-CN" sz="2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a:t>
                </a:r>
              </a:p>
              <a:p>
                <a:pPr lvl="0"/>
                <a:r>
                  <a:rPr lang="en-US" altLang="zh-CN" sz="24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ENDFOR</a:t>
                </a:r>
              </a:p>
              <a:p>
                <a:pPr lvl="0"/>
                <a:r>
                  <a:rPr lang="en-US" altLang="zh-CN" sz="24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sSup>
                      <m:sSupPr>
                        <m:ctrlPr>
                          <a:rPr lang="en-US" altLang="zh-CN" sz="2400" i="1">
                            <a:solidFill>
                              <a:prstClr val="black"/>
                            </a:solidFill>
                            <a:latin typeface="Cambria Math" panose="02040503050406030204" pitchFamily="18" charset="0"/>
                            <a:cs typeface="Times New Roman" panose="02020603050405020304" pitchFamily="18" charset="0"/>
                          </a:rPr>
                        </m:ctrlPr>
                      </m:sSupPr>
                      <m:e>
                        <m:r>
                          <a:rPr lang="en-US" altLang="zh-CN" sz="2400" i="1">
                            <a:solidFill>
                              <a:prstClr val="black"/>
                            </a:solidFill>
                            <a:latin typeface="Cambria Math" panose="02040503050406030204" pitchFamily="18" charset="0"/>
                            <a:cs typeface="Times New Roman" panose="02020603050405020304" pitchFamily="18" charset="0"/>
                          </a:rPr>
                          <m:t>𝑉</m:t>
                        </m:r>
                      </m:e>
                      <m:sup>
                        <m:r>
                          <a:rPr lang="en-US" altLang="zh-CN" sz="2400" i="1">
                            <a:solidFill>
                              <a:prstClr val="black"/>
                            </a:solidFill>
                            <a:latin typeface="Cambria Math" panose="02040503050406030204" pitchFamily="18" charset="0"/>
                            <a:cs typeface="Times New Roman" panose="02020603050405020304" pitchFamily="18" charset="0"/>
                          </a:rPr>
                          <m:t>(</m:t>
                        </m:r>
                        <m:r>
                          <a:rPr lang="en-US" altLang="zh-CN" sz="2400" i="1">
                            <a:solidFill>
                              <a:prstClr val="black"/>
                            </a:solidFill>
                            <a:latin typeface="Cambria Math" panose="02040503050406030204" pitchFamily="18" charset="0"/>
                            <a:cs typeface="Times New Roman" panose="02020603050405020304" pitchFamily="18" charset="0"/>
                          </a:rPr>
                          <m:t>𝑖</m:t>
                        </m:r>
                        <m:r>
                          <a:rPr lang="en-US" altLang="zh-CN" sz="2400" i="1">
                            <a:solidFill>
                              <a:prstClr val="black"/>
                            </a:solidFill>
                            <a:latin typeface="Cambria Math" panose="02040503050406030204" pitchFamily="18" charset="0"/>
                            <a:cs typeface="Times New Roman" panose="02020603050405020304" pitchFamily="18" charset="0"/>
                          </a:rPr>
                          <m:t>+1)</m:t>
                        </m:r>
                      </m:sup>
                    </m:sSup>
                    <m:r>
                      <a:rPr lang="en-US" altLang="zh-CN" sz="2400" b="0" i="1" smtClean="0">
                        <a:solidFill>
                          <a:prstClr val="black"/>
                        </a:solidFill>
                        <a:latin typeface="Cambria Math" panose="02040503050406030204" pitchFamily="18" charset="0"/>
                        <a:cs typeface="Times New Roman" panose="02020603050405020304" pitchFamily="18" charset="0"/>
                      </a:rPr>
                      <m:t> </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i="1" dirty="0">
                        <a:solidFill>
                          <a:prstClr val="black"/>
                        </a:solidFill>
                        <a:latin typeface="Times New Roman" panose="02020603050405020304" pitchFamily="18" charset="0"/>
                        <a:cs typeface="Times New Roman" panose="02020603050405020304" pitchFamily="18" charset="0"/>
                      </a:rPr>
                      <m:t>ABCDEFGH</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𝑉</m:t>
                        </m:r>
                      </m:e>
                      <m:sup>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up>
                    </m:sSup>
                  </m:oMath>
                </a14:m>
                <a:endParaRPr lang="en-US" altLang="zh-CN" sz="2400" dirty="0">
                  <a:solidFill>
                    <a:prstClr val="black"/>
                  </a:solidFill>
                  <a:latin typeface="Times New Roman" panose="02020603050405020304" pitchFamily="18" charset="0"/>
                  <a:ea typeface="微软雅黑"/>
                  <a:cs typeface="Times New Roman" panose="02020603050405020304" pitchFamily="18" charset="0"/>
                </a:endParaRPr>
              </a:p>
              <a:p>
                <a:pPr lvl="0">
                  <a:spcBef>
                    <a:spcPts val="600"/>
                  </a:spcBef>
                  <a:spcAft>
                    <a:spcPts val="600"/>
                  </a:spcAft>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其中 </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为模</a:t>
                </a:r>
                <a14:m>
                  <m:oMath xmlns:m="http://schemas.openxmlformats.org/officeDocument/2006/math">
                    <m:sSup>
                      <m:sSupPr>
                        <m:ctrlP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ctrlPr>
                      </m:sSupPr>
                      <m:e>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2</m:t>
                        </m:r>
                      </m:e>
                      <m:sup>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a:cs typeface="Times New Roman" panose="02020603050405020304" pitchFamily="18" charset="0"/>
                          </a:rPr>
                          <m:t>32</m:t>
                        </m:r>
                      </m:sup>
                    </m:sSup>
                  </m:oMath>
                </a14:m>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加运算，字的存储为大端格式。图</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6-14</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是压缩函数</a:t>
                </a:r>
                <a:r>
                  <a:rPr lang="zh-CN" altLang="en-US" sz="2400" dirty="0">
                    <a:solidFill>
                      <a:prstClr val="black"/>
                    </a:solidFill>
                    <a:latin typeface="Times New Roman" panose="02020603050405020304" pitchFamily="18" charset="0"/>
                    <a:ea typeface="微软雅黑"/>
                    <a:cs typeface="Times New Roman" panose="02020603050405020304" pitchFamily="18" charset="0"/>
                  </a:rPr>
                  <a:t>的</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一步迭代的示意图。</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645834"/>
                <a:ext cx="8493405" cy="4616585"/>
              </a:xfrm>
              <a:prstGeom prst="rect">
                <a:avLst/>
              </a:prstGeom>
              <a:blipFill>
                <a:blip r:embed="rId3"/>
                <a:stretch>
                  <a:fillRect l="-1077" t="-1057" b="-2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55278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(4)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输出哈希值</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37D200-E18B-487A-BB8F-F900624CC43D}"/>
                  </a:ext>
                </a:extLst>
              </p:cNvPr>
              <p:cNvSpPr txBox="1"/>
              <p:nvPr/>
            </p:nvSpPr>
            <p:spPr>
              <a:xfrm>
                <a:off x="299056" y="1645834"/>
                <a:ext cx="8493405" cy="923266"/>
              </a:xfrm>
              <a:prstGeom prst="rect">
                <a:avLst/>
              </a:prstGeom>
              <a:noFill/>
            </p:spPr>
            <p:txBody>
              <a:bodyPr wrap="square" rtlCol="0">
                <a:spAutoFit/>
              </a:bodyPr>
              <a:lstStyle/>
              <a:p>
                <a:pPr lvl="0"/>
                <a14:m>
                  <m:oMathPara xmlns:m="http://schemas.openxmlformats.org/officeDocument/2006/math">
                    <m:oMathParaPr>
                      <m:jc m:val="centerGroup"/>
                    </m:oMathParaPr>
                    <m:oMath xmlns:m="http://schemas.openxmlformats.org/officeDocument/2006/math">
                      <m:r>
                        <m:rPr>
                          <m:nor/>
                        </m:rPr>
                        <a:rPr lang="en-US" altLang="zh-CN" sz="2400" i="1" dirty="0" smtClean="0">
                          <a:solidFill>
                            <a:prstClr val="black"/>
                          </a:solidFill>
                          <a:latin typeface="Times New Roman" panose="02020603050405020304" pitchFamily="18" charset="0"/>
                          <a:cs typeface="Times New Roman" panose="02020603050405020304" pitchFamily="18" charset="0"/>
                        </a:rPr>
                        <m:t>ABCDEFGH</m:t>
                      </m:r>
                      <m:r>
                        <a:rPr lang="en-US" altLang="zh-CN" sz="2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𝑉</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𝑁</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sup>
                      </m:sSup>
                    </m:oMath>
                  </m:oMathPara>
                </a14:m>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spcBef>
                    <a:spcPts val="600"/>
                  </a:spcBef>
                  <a:spcAft>
                    <a:spcPts val="600"/>
                  </a:spcAft>
                </a:pPr>
                <a:r>
                  <a:rPr lang="zh-CN" altLang="en-US" sz="2400" dirty="0">
                    <a:solidFill>
                      <a:prstClr val="black"/>
                    </a:solidFill>
                    <a:latin typeface="Times New Roman" panose="02020603050405020304" pitchFamily="18" charset="0"/>
                    <a:cs typeface="Times New Roman" panose="02020603050405020304" pitchFamily="18" charset="0"/>
                  </a:rPr>
                  <a:t>输出 </a:t>
                </a:r>
                <a:r>
                  <a:rPr lang="en-US" altLang="zh-CN" sz="2400" dirty="0">
                    <a:solidFill>
                      <a:prstClr val="black"/>
                    </a:solidFill>
                    <a:latin typeface="Times New Roman" panose="02020603050405020304" pitchFamily="18" charset="0"/>
                    <a:cs typeface="Times New Roman" panose="02020603050405020304" pitchFamily="18" charset="0"/>
                  </a:rPr>
                  <a:t>256 </a:t>
                </a:r>
                <a:r>
                  <a:rPr lang="zh-CN" altLang="en-US" sz="2400" dirty="0">
                    <a:solidFill>
                      <a:prstClr val="black"/>
                    </a:solidFill>
                    <a:latin typeface="Times New Roman" panose="02020603050405020304" pitchFamily="18" charset="0"/>
                    <a:cs typeface="Times New Roman" panose="02020603050405020304" pitchFamily="18" charset="0"/>
                  </a:rPr>
                  <a:t>比特的哈希值  </a:t>
                </a:r>
                <a14:m>
                  <m:oMath xmlns:m="http://schemas.openxmlformats.org/officeDocument/2006/math">
                    <m:r>
                      <a:rPr lang="en-US" altLang="zh-CN" sz="2400" b="0" i="1" dirty="0" smtClean="0">
                        <a:solidFill>
                          <a:prstClr val="black"/>
                        </a:solidFill>
                        <a:latin typeface="Cambria Math" panose="02040503050406030204" pitchFamily="18" charset="0"/>
                        <a:cs typeface="Times New Roman" panose="02020603050405020304" pitchFamily="18" charset="0"/>
                      </a:rPr>
                      <m:t>𝑦</m:t>
                    </m:r>
                    <m:r>
                      <a:rPr lang="en-US" altLang="zh-CN" sz="2400" b="0" i="0" dirty="0" smtClean="0">
                        <a:solidFill>
                          <a:prstClr val="black"/>
                        </a:solidFill>
                        <a:latin typeface="Cambria Math" panose="02040503050406030204" pitchFamily="18" charset="0"/>
                        <a:cs typeface="Times New Roman" panose="02020603050405020304" pitchFamily="18" charset="0"/>
                      </a:rPr>
                      <m:t>=</m:t>
                    </m:r>
                    <m:r>
                      <m:rPr>
                        <m:nor/>
                      </m:rPr>
                      <a:rPr lang="en-US" altLang="zh-CN" sz="2400" i="1" dirty="0" smtClean="0">
                        <a:solidFill>
                          <a:prstClr val="black"/>
                        </a:solidFill>
                        <a:latin typeface="Times New Roman" panose="02020603050405020304" pitchFamily="18" charset="0"/>
                        <a:cs typeface="Times New Roman" panose="02020603050405020304" pitchFamily="18" charset="0"/>
                      </a:rPr>
                      <m:t>ABCDEFGH</m:t>
                    </m:r>
                  </m:oMath>
                </a14:m>
                <a:r>
                  <a:rPr lang="zh-CN" altLang="en-US" sz="2400" dirty="0">
                    <a:solidFill>
                      <a:prstClr val="black"/>
                    </a:solidFill>
                    <a:latin typeface="Times New Roman" panose="02020603050405020304" pitchFamily="18" charset="0"/>
                    <a:cs typeface="Times New Roman" panose="02020603050405020304" pitchFamily="18" charset="0"/>
                  </a:rPr>
                  <a:t>。</a:t>
                </a:r>
              </a:p>
            </p:txBody>
          </p:sp>
        </mc:Choice>
        <mc:Fallback xmlns="">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6" y="1645834"/>
                <a:ext cx="8493405" cy="923266"/>
              </a:xfrm>
              <a:prstGeom prst="rect">
                <a:avLst/>
              </a:prstGeom>
              <a:blipFill>
                <a:blip r:embed="rId3"/>
                <a:stretch>
                  <a:fillRect l="-1077" b="-145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39619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0D62A5DE-B116-2098-BBCF-2C373A6B4455}"/>
              </a:ext>
            </a:extLst>
          </p:cNvPr>
          <p:cNvSpPr txBox="1"/>
          <p:nvPr/>
        </p:nvSpPr>
        <p:spPr>
          <a:xfrm>
            <a:off x="299056" y="5851909"/>
            <a:ext cx="8479945" cy="430182"/>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600"/>
              </a:spcBef>
              <a:spcAft>
                <a:spcPts val="60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6-14  SM3</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压缩函数的一步迭代的示意图</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SM3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的</a:t>
            </a:r>
            <a:r>
              <a:rPr lang="zh-CN" altLang="en-US" sz="2400" b="1" dirty="0">
                <a:solidFill>
                  <a:srgbClr val="FF0000"/>
                </a:solidFill>
                <a:latin typeface="Times New Roman" panose="02020603050405020304" pitchFamily="18" charset="0"/>
                <a:ea typeface="微软雅黑"/>
                <a:cs typeface="Times New Roman" panose="02020603050405020304" pitchFamily="18" charset="0"/>
              </a:rPr>
              <a:t>压缩函数中的迭代</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endParaRPr>
          </a:p>
        </p:txBody>
      </p:sp>
      <p:pic>
        <p:nvPicPr>
          <p:cNvPr id="4" name="图片 3">
            <a:extLst>
              <a:ext uri="{FF2B5EF4-FFF2-40B4-BE49-F238E27FC236}">
                <a16:creationId xmlns:a16="http://schemas.microsoft.com/office/drawing/2014/main" id="{D5AA5B57-9B65-4CA8-A424-85F7A1A1B0DF}"/>
              </a:ext>
            </a:extLst>
          </p:cNvPr>
          <p:cNvPicPr>
            <a:picLocks noChangeAspect="1"/>
          </p:cNvPicPr>
          <p:nvPr/>
        </p:nvPicPr>
        <p:blipFill>
          <a:blip r:embed="rId3"/>
          <a:stretch>
            <a:fillRect/>
          </a:stretch>
        </p:blipFill>
        <p:spPr>
          <a:xfrm>
            <a:off x="1037693" y="1529625"/>
            <a:ext cx="6809822" cy="4388096"/>
          </a:xfrm>
          <a:prstGeom prst="rect">
            <a:avLst/>
          </a:prstGeom>
        </p:spPr>
      </p:pic>
    </p:spTree>
    <p:extLst>
      <p:ext uri="{BB962C8B-B14F-4D97-AF65-F5344CB8AC3E}">
        <p14:creationId xmlns:p14="http://schemas.microsoft.com/office/powerpoint/2010/main" val="19286443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0D62A5DE-B116-2098-BBCF-2C373A6B4455}"/>
              </a:ext>
            </a:extLst>
          </p:cNvPr>
          <p:cNvSpPr txBox="1"/>
          <p:nvPr/>
        </p:nvSpPr>
        <p:spPr>
          <a:xfrm>
            <a:off x="299056" y="5851909"/>
            <a:ext cx="8479945" cy="430182"/>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600"/>
              </a:spcBef>
              <a:spcAft>
                <a:spcPts val="60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图</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6-15  SM3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产生消息哈希值的处理过程</a:t>
            </a: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SM3 </a:t>
            </a:r>
            <a:r>
              <a:rPr lang="zh-CN" altLang="en-US" sz="2400" b="1" dirty="0">
                <a:solidFill>
                  <a:srgbClr val="FF0000"/>
                </a:solidFill>
                <a:latin typeface="Times New Roman" panose="02020603050405020304" pitchFamily="18" charset="0"/>
                <a:ea typeface="微软雅黑"/>
                <a:cs typeface="Times New Roman" panose="02020603050405020304" pitchFamily="18" charset="0"/>
              </a:rPr>
              <a:t>算法框图</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A593B2D6-60F2-3EF6-6761-9DA9241DF19B}"/>
              </a:ext>
            </a:extLst>
          </p:cNvPr>
          <p:cNvPicPr>
            <a:picLocks noChangeAspect="1"/>
          </p:cNvPicPr>
          <p:nvPr/>
        </p:nvPicPr>
        <p:blipFill>
          <a:blip r:embed="rId3"/>
          <a:stretch>
            <a:fillRect/>
          </a:stretch>
        </p:blipFill>
        <p:spPr>
          <a:xfrm>
            <a:off x="745236" y="1520190"/>
            <a:ext cx="7653528" cy="4138738"/>
          </a:xfrm>
          <a:prstGeom prst="rect">
            <a:avLst/>
          </a:prstGeom>
        </p:spPr>
      </p:pic>
    </p:spTree>
    <p:extLst>
      <p:ext uri="{BB962C8B-B14F-4D97-AF65-F5344CB8AC3E}">
        <p14:creationId xmlns:p14="http://schemas.microsoft.com/office/powerpoint/2010/main" val="141294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SM3 </a:t>
            </a:r>
            <a:r>
              <a:rPr lang="zh-CN" altLang="en-US" dirty="0">
                <a:latin typeface="Times New Roman" panose="02020603050405020304" pitchFamily="18" charset="0"/>
                <a:cs typeface="Times New Roman" panose="02020603050405020304" pitchFamily="18" charset="0"/>
              </a:rPr>
              <a:t>算法</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DBDE2CB-4801-494F-A0A4-D49D70804842}"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
        <p:nvSpPr>
          <p:cNvPr id="58" name="文本框 57">
            <a:extLst>
              <a:ext uri="{FF2B5EF4-FFF2-40B4-BE49-F238E27FC236}">
                <a16:creationId xmlns:a16="http://schemas.microsoft.com/office/drawing/2014/main" id="{67746365-BB14-435A-AFED-919A7548C28E}"/>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5.3  SM3</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哈希算法的安全性</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3B37D200-E18B-487A-BB8F-F900624CC43D}"/>
                  </a:ext>
                </a:extLst>
              </p:cNvPr>
              <p:cNvSpPr txBox="1"/>
              <p:nvPr/>
            </p:nvSpPr>
            <p:spPr>
              <a:xfrm>
                <a:off x="299057" y="1663086"/>
                <a:ext cx="8493405" cy="3949671"/>
              </a:xfrm>
              <a:prstGeom prst="rect">
                <a:avLst/>
              </a:prstGeom>
              <a:noFill/>
            </p:spPr>
            <p:txBody>
              <a:bodyPr wrap="square" rtlCol="0">
                <a:spAutoFit/>
              </a:bodyPr>
              <a:lstStyle/>
              <a:p>
                <a:pPr lvl="0">
                  <a:lnSpc>
                    <a:spcPct val="150000"/>
                  </a:lnSpc>
                </a:pP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       压缩函数是哈希函数安全的关键，</a:t>
                </a:r>
                <a:r>
                  <a:rPr kumimoji="0" lang="en-US" altLang="zh-CN"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SM3</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的压缩函数</a:t>
                </a:r>
                <a:r>
                  <a:rPr kumimoji="0"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CF </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中的布尔函数</a:t>
                </a:r>
                <a14:m>
                  <m:oMath xmlns:m="http://schemas.openxmlformats.org/officeDocument/2006/math">
                    <m:sSub>
                      <m:sSubPr>
                        <m:ctrlP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𝐹𝐹</m:t>
                        </m:r>
                      </m:e>
                      <m:sub>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𝑗</m:t>
                        </m:r>
                      </m:sub>
                    </m:sSub>
                    <m:d>
                      <m:dPr>
                        <m:ctrlP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𝑋</m:t>
                        </m:r>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𝑌</m:t>
                        </m:r>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𝑍</m:t>
                        </m:r>
                      </m:e>
                    </m:d>
                  </m:oMath>
                </a14:m>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和</a:t>
                </a:r>
                <a14:m>
                  <m:oMath xmlns:m="http://schemas.openxmlformats.org/officeDocument/2006/math">
                    <m:sSub>
                      <m:sSubPr>
                        <m:ctrlPr>
                          <a:rPr lang="en-US" altLang="zh-CN" sz="2400" i="1" dirty="0">
                            <a:solidFill>
                              <a:prstClr val="black"/>
                            </a:solidFill>
                            <a:latin typeface="Cambria Math" panose="02040503050406030204" pitchFamily="18" charset="0"/>
                            <a:cs typeface="Times New Roman" panose="02020603050405020304" pitchFamily="18" charset="0"/>
                          </a:rPr>
                        </m:ctrlPr>
                      </m:sSubPr>
                      <m:e>
                        <m:r>
                          <a:rPr lang="en-US" altLang="zh-CN" sz="2400" b="0" i="1" dirty="0" smtClean="0">
                            <a:solidFill>
                              <a:prstClr val="black"/>
                            </a:solidFill>
                            <a:latin typeface="Cambria Math" panose="02040503050406030204" pitchFamily="18" charset="0"/>
                            <a:cs typeface="Times New Roman" panose="02020603050405020304" pitchFamily="18" charset="0"/>
                          </a:rPr>
                          <m:t>𝐺𝐺</m:t>
                        </m:r>
                      </m:e>
                      <m:sub>
                        <m:r>
                          <a:rPr lang="en-US" altLang="zh-CN" sz="2400" i="1" dirty="0">
                            <a:solidFill>
                              <a:prstClr val="black"/>
                            </a:solidFill>
                            <a:latin typeface="Cambria Math" panose="02040503050406030204" pitchFamily="18" charset="0"/>
                            <a:cs typeface="Times New Roman" panose="02020603050405020304" pitchFamily="18" charset="0"/>
                          </a:rPr>
                          <m:t>𝑗</m:t>
                        </m:r>
                      </m:sub>
                    </m:sSub>
                    <m:d>
                      <m:dPr>
                        <m:ctrlPr>
                          <a:rPr lang="en-US" altLang="zh-CN" sz="2400" i="1" dirty="0">
                            <a:solidFill>
                              <a:prstClr val="black"/>
                            </a:solidFill>
                            <a:latin typeface="Cambria Math" panose="02040503050406030204" pitchFamily="18" charset="0"/>
                            <a:cs typeface="Times New Roman" panose="02020603050405020304" pitchFamily="18" charset="0"/>
                          </a:rPr>
                        </m:ctrlPr>
                      </m:dPr>
                      <m:e>
                        <m:r>
                          <a:rPr lang="en-US" altLang="zh-CN" sz="2400" i="1" dirty="0">
                            <a:solidFill>
                              <a:prstClr val="black"/>
                            </a:solidFill>
                            <a:latin typeface="Cambria Math" panose="02040503050406030204" pitchFamily="18" charset="0"/>
                            <a:cs typeface="Times New Roman" panose="02020603050405020304" pitchFamily="18" charset="0"/>
                          </a:rPr>
                          <m:t>𝑋</m:t>
                        </m:r>
                        <m:r>
                          <a:rPr lang="en-US" altLang="zh-CN" sz="2400" i="1" dirty="0">
                            <a:solidFill>
                              <a:prstClr val="black"/>
                            </a:solidFill>
                            <a:latin typeface="Cambria Math" panose="02040503050406030204" pitchFamily="18" charset="0"/>
                            <a:cs typeface="Times New Roman" panose="02020603050405020304" pitchFamily="18" charset="0"/>
                          </a:rPr>
                          <m:t>,</m:t>
                        </m:r>
                        <m:r>
                          <a:rPr lang="en-US" altLang="zh-CN" sz="2400" i="1" dirty="0">
                            <a:solidFill>
                              <a:prstClr val="black"/>
                            </a:solidFill>
                            <a:latin typeface="Cambria Math" panose="02040503050406030204" pitchFamily="18" charset="0"/>
                            <a:cs typeface="Times New Roman" panose="02020603050405020304" pitchFamily="18" charset="0"/>
                          </a:rPr>
                          <m:t>𝑌</m:t>
                        </m:r>
                        <m:r>
                          <a:rPr lang="en-US" altLang="zh-CN" sz="2400" i="1" dirty="0">
                            <a:solidFill>
                              <a:prstClr val="black"/>
                            </a:solidFill>
                            <a:latin typeface="Cambria Math" panose="02040503050406030204" pitchFamily="18" charset="0"/>
                            <a:cs typeface="Times New Roman" panose="02020603050405020304" pitchFamily="18" charset="0"/>
                          </a:rPr>
                          <m:t>,</m:t>
                        </m:r>
                        <m:r>
                          <a:rPr lang="en-US" altLang="zh-CN" sz="2400" i="1" dirty="0">
                            <a:solidFill>
                              <a:prstClr val="black"/>
                            </a:solidFill>
                            <a:latin typeface="Cambria Math" panose="02040503050406030204" pitchFamily="18" charset="0"/>
                            <a:cs typeface="Times New Roman" panose="02020603050405020304" pitchFamily="18" charset="0"/>
                          </a:rPr>
                          <m:t>𝑍</m:t>
                        </m:r>
                      </m:e>
                    </m:d>
                  </m:oMath>
                </a14:m>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是</a:t>
                </a:r>
                <a:r>
                  <a:rPr kumimoji="0" lang="zh-CN" altLang="en-US" sz="2400" b="0" u="none" strike="noStrike" kern="1200" cap="none" spc="0" normalizeH="0" baseline="0" noProof="0" dirty="0">
                    <a:ln>
                      <a:noFill/>
                    </a:ln>
                    <a:solidFill>
                      <a:srgbClr val="FF0000"/>
                    </a:solidFill>
                    <a:effectLst/>
                    <a:uLnTx/>
                    <a:uFillTx/>
                    <a:latin typeface="+mn-ea"/>
                    <a:cs typeface="Times New Roman" panose="02020603050405020304" pitchFamily="18" charset="0"/>
                  </a:rPr>
                  <a:t>非线性函数</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，经过循环迭代后提供混淆作用。</a:t>
                </a:r>
                <a:endParaRPr kumimoji="0" lang="en-US" altLang="zh-CN" sz="2400" b="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lvl="0">
                  <a:lnSpc>
                    <a:spcPct val="150000"/>
                  </a:lnSpc>
                </a:pP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       置换函数</a:t>
                </a:r>
                <a14:m>
                  <m:oMath xmlns:m="http://schemas.openxmlformats.org/officeDocument/2006/math">
                    <m:sSub>
                      <m:sSubPr>
                        <m:ctrlPr>
                          <a:rPr lang="en-US" altLang="zh-CN" sz="240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CN" sz="2400" b="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
                      <m:dPr>
                        <m:ctrlPr>
                          <a:rPr lang="en-US" altLang="zh-CN" sz="240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0" i="1" dirty="0" smtClean="0">
                            <a:solidFill>
                              <a:prstClr val="black"/>
                            </a:solidFill>
                            <a:latin typeface="Cambria Math" panose="02040503050406030204" pitchFamily="18" charset="0"/>
                            <a:ea typeface="仿宋" panose="02010609060101010101" pitchFamily="49" charset="-122"/>
                            <a:cs typeface="Times New Roman" panose="02020603050405020304" pitchFamily="18" charset="0"/>
                          </a:rPr>
                          <m:t>𝑋</m:t>
                        </m:r>
                      </m:e>
                    </m:d>
                  </m:oMath>
                </a14:m>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和</a:t>
                </a:r>
                <a14:m>
                  <m:oMath xmlns:m="http://schemas.openxmlformats.org/officeDocument/2006/math">
                    <m:sSub>
                      <m:sSubPr>
                        <m:ctrlPr>
                          <a:rPr lang="en-US" altLang="zh-CN" sz="2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CN" sz="2400" b="0" i="1" dirty="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d>
                      <m:dPr>
                        <m:ctrlPr>
                          <a:rPr lang="en-US" altLang="zh-CN" sz="2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dirty="0">
                            <a:solidFill>
                              <a:prstClr val="black"/>
                            </a:solidFill>
                            <a:latin typeface="Cambria Math" panose="02040503050406030204" pitchFamily="18" charset="0"/>
                            <a:ea typeface="仿宋" panose="02010609060101010101" pitchFamily="49" charset="-122"/>
                            <a:cs typeface="Times New Roman" panose="02020603050405020304" pitchFamily="18" charset="0"/>
                          </a:rPr>
                          <m:t>𝑋</m:t>
                        </m:r>
                      </m:e>
                    </m:d>
                  </m:oMath>
                </a14:m>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是线性函数，经过循环迭代后提供扩散作用。</a:t>
                </a:r>
                <a:endParaRPr kumimoji="0" lang="en-US" altLang="zh-CN" sz="2400" b="0" u="none" strike="noStrike" kern="1200" cap="none" spc="0" normalizeH="0" baseline="0" noProof="0" dirty="0">
                  <a:ln>
                    <a:noFill/>
                  </a:ln>
                  <a:solidFill>
                    <a:prstClr val="black"/>
                  </a:solidFill>
                  <a:effectLst/>
                  <a:uLnTx/>
                  <a:uFillTx/>
                  <a:latin typeface="+mn-ea"/>
                  <a:cs typeface="Times New Roman" panose="02020603050405020304" pitchFamily="18" charset="0"/>
                </a:endParaRPr>
              </a:p>
              <a:p>
                <a:pPr lvl="0">
                  <a:lnSpc>
                    <a:spcPct val="150000"/>
                  </a:lnSpc>
                </a:pPr>
                <a:r>
                  <a:rPr lang="en-US" altLang="zh-CN" sz="2400" dirty="0">
                    <a:solidFill>
                      <a:prstClr val="black"/>
                    </a:solidFill>
                    <a:latin typeface="+mn-ea"/>
                    <a:cs typeface="Times New Roman" panose="02020603050405020304" pitchFamily="18" charset="0"/>
                  </a:rPr>
                  <a:t>       </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再加上</a:t>
                </a:r>
                <a:r>
                  <a:rPr kumimoji="0"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CF</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中的其他运算的共同作用，压缩函数</a:t>
                </a:r>
                <a:r>
                  <a:rPr kumimoji="0"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CF</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具有很高的安全性，从而确保</a:t>
                </a:r>
                <a:r>
                  <a:rPr kumimoji="0" lang="en-US" altLang="zh-CN"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SM3</a:t>
                </a:r>
                <a:r>
                  <a:rPr kumimoji="0" lang="zh-CN" altLang="en-US"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具有很高的安全性。</a:t>
                </a:r>
                <a:r>
                  <a:rPr kumimoji="0" lang="en-US" altLang="zh-CN" sz="2400" b="0" u="none" strike="noStrike" kern="1200" cap="none" spc="0" normalizeH="0" baseline="0" noProof="0" dirty="0">
                    <a:ln>
                      <a:noFill/>
                    </a:ln>
                    <a:solidFill>
                      <a:prstClr val="black"/>
                    </a:solidFill>
                    <a:effectLst/>
                    <a:uLnTx/>
                    <a:uFillTx/>
                    <a:latin typeface="+mn-ea"/>
                    <a:cs typeface="Times New Roman" panose="02020603050405020304" pitchFamily="18" charset="0"/>
                  </a:rPr>
                  <a:t>"</a:t>
                </a:r>
              </a:p>
            </p:txBody>
          </p:sp>
        </mc:Choice>
        <mc:Fallback>
          <p:sp>
            <p:nvSpPr>
              <p:cNvPr id="6" name="文本框 5">
                <a:extLst>
                  <a:ext uri="{FF2B5EF4-FFF2-40B4-BE49-F238E27FC236}">
                    <a16:creationId xmlns:a16="http://schemas.microsoft.com/office/drawing/2014/main" id="{3B37D200-E18B-487A-BB8F-F900624CC43D}"/>
                  </a:ext>
                </a:extLst>
              </p:cNvPr>
              <p:cNvSpPr txBox="1">
                <a:spLocks noRot="1" noChangeAspect="1" noMove="1" noResize="1" noEditPoints="1" noAdjustHandles="1" noChangeArrowheads="1" noChangeShapeType="1" noTextEdit="1"/>
              </p:cNvSpPr>
              <p:nvPr/>
            </p:nvSpPr>
            <p:spPr>
              <a:xfrm>
                <a:off x="299057" y="1663086"/>
                <a:ext cx="8493405" cy="3949671"/>
              </a:xfrm>
              <a:prstGeom prst="rect">
                <a:avLst/>
              </a:prstGeom>
              <a:blipFill>
                <a:blip r:embed="rId3"/>
                <a:stretch>
                  <a:fillRect l="-1194" r="-149" b="-25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26785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5D39D90-C0BE-8E46-8754-D8465AC14190}"/>
              </a:ext>
            </a:extLst>
          </p:cNvPr>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小结</a:t>
            </a:r>
          </a:p>
        </p:txBody>
      </p:sp>
      <p:sp>
        <p:nvSpPr>
          <p:cNvPr id="3" name="灯片编号占位符 2">
            <a:extLst>
              <a:ext uri="{FF2B5EF4-FFF2-40B4-BE49-F238E27FC236}">
                <a16:creationId xmlns:a16="http://schemas.microsoft.com/office/drawing/2014/main" id="{31EB9C67-2608-419D-84A7-962A0823FFED}"/>
              </a:ext>
            </a:extLst>
          </p:cNvPr>
          <p:cNvSpPr>
            <a:spLocks noGrp="1"/>
          </p:cNvSpPr>
          <p:nvPr>
            <p:ph type="sldNum" sz="quarter" idx="12"/>
          </p:nvPr>
        </p:nvSpPr>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83</a:t>
            </a:fld>
            <a:endParaRPr lang="zh-CN" altLang="en-US">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040A4D7-9110-5387-10CC-6F1146C77089}"/>
              </a:ext>
            </a:extLst>
          </p:cNvPr>
          <p:cNvSpPr txBox="1"/>
          <p:nvPr/>
        </p:nvSpPr>
        <p:spPr>
          <a:xfrm>
            <a:off x="566091" y="1675020"/>
            <a:ext cx="8029270" cy="4366516"/>
          </a:xfrm>
          <a:prstGeom prst="rect">
            <a:avLst/>
          </a:prstGeom>
          <a:noFill/>
        </p:spPr>
        <p:txBody>
          <a:bodyPr wrap="square" rtlCol="0">
            <a:spAutoFit/>
          </a:bodyPr>
          <a:lstStyle/>
          <a:p>
            <a:pPr marL="342900" indent="-342900" algn="just">
              <a:lnSpc>
                <a:spcPct val="150000"/>
              </a:lnSpc>
              <a:spcBef>
                <a:spcPts val="1200"/>
              </a:spcBef>
              <a:buClr>
                <a:srgbClr val="FF0000"/>
              </a:buClr>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哈希函数具有压缩性、单向性和抗碰撞性。</a:t>
            </a:r>
            <a:endParaRPr lang="en-US" altLang="zh-CN" sz="2400" dirty="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buClr>
                <a:srgbClr val="FF0000"/>
              </a:buClr>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哈希函数包括密码哈希函数和一般哈希函数，它在消息认证码，伪随机函数等方面有着重要的应用。</a:t>
            </a:r>
            <a:endParaRPr lang="en-US" altLang="zh-CN" sz="2400" dirty="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buClr>
                <a:srgbClr val="FF0000"/>
              </a:buClr>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哈希函数与密码方案的可证明安全性（如随机预言模型、公钥加密</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签名方案）有着密切的联系。</a:t>
            </a:r>
            <a:endParaRPr lang="en-US" altLang="zh-CN" sz="2400" dirty="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buClr>
                <a:srgbClr val="FF0000"/>
              </a:buClr>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典型哈希函数 </a:t>
            </a:r>
            <a:r>
              <a:rPr lang="en-US" altLang="zh-CN" sz="2400" dirty="0">
                <a:latin typeface="Times New Roman" panose="02020603050405020304" pitchFamily="18" charset="0"/>
                <a:cs typeface="Times New Roman" panose="02020603050405020304" pitchFamily="18" charset="0"/>
              </a:rPr>
              <a:t>MD5</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SHA-1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SM3</a:t>
            </a:r>
            <a:r>
              <a:rPr lang="zh-CN" altLang="en-US" sz="2400" dirty="0">
                <a:latin typeface="Times New Roman" panose="02020603050405020304" pitchFamily="18" charset="0"/>
                <a:cs typeface="Times New Roman" panose="02020603050405020304" pitchFamily="18" charset="0"/>
              </a:rPr>
              <a:t>的构造方法与安全性分析。</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2426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697E85A-5D3D-8DF8-74D9-A12B17402AA8}"/>
              </a:ext>
            </a:extLst>
          </p:cNvPr>
          <p:cNvPicPr>
            <a:picLocks noChangeAspect="1"/>
          </p:cNvPicPr>
          <p:nvPr/>
        </p:nvPicPr>
        <p:blipFill>
          <a:blip r:embed="rId3"/>
          <a:stretch>
            <a:fillRect/>
          </a:stretch>
        </p:blipFill>
        <p:spPr>
          <a:xfrm>
            <a:off x="0" y="0"/>
            <a:ext cx="9144000" cy="6857999"/>
          </a:xfrm>
          <a:prstGeom prst="rect">
            <a:avLst/>
          </a:prstGeom>
        </p:spPr>
      </p:pic>
      <p:sp>
        <p:nvSpPr>
          <p:cNvPr id="15" name="矩形 14">
            <a:extLst>
              <a:ext uri="{FF2B5EF4-FFF2-40B4-BE49-F238E27FC236}">
                <a16:creationId xmlns:a16="http://schemas.microsoft.com/office/drawing/2014/main" id="{CC9B29DB-FD55-BD3E-0DA5-5F9EA5402EDA}"/>
              </a:ext>
            </a:extLst>
          </p:cNvPr>
          <p:cNvSpPr/>
          <p:nvPr/>
        </p:nvSpPr>
        <p:spPr>
          <a:xfrm>
            <a:off x="-1" y="-19760"/>
            <a:ext cx="9144000" cy="6877760"/>
          </a:xfrm>
          <a:prstGeom prst="rect">
            <a:avLst/>
          </a:prstGeom>
          <a:gradFill>
            <a:gsLst>
              <a:gs pos="42000">
                <a:schemeClr val="bg1">
                  <a:alpha val="75000"/>
                </a:schemeClr>
              </a:gs>
              <a:gs pos="23000">
                <a:schemeClr val="bg1">
                  <a:alpha val="94000"/>
                </a:schemeClr>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CD19689B-CC86-E0C4-0A19-81E67FE33CF7}"/>
              </a:ext>
            </a:extLst>
          </p:cNvPr>
          <p:cNvGrpSpPr/>
          <p:nvPr/>
        </p:nvGrpSpPr>
        <p:grpSpPr>
          <a:xfrm>
            <a:off x="-15240" y="4800781"/>
            <a:ext cx="9174480" cy="2075436"/>
            <a:chOff x="-15240" y="4117778"/>
            <a:chExt cx="9174480" cy="2758440"/>
          </a:xfrm>
        </p:grpSpPr>
        <p:grpSp>
          <p:nvGrpSpPr>
            <p:cNvPr id="23" name="组合 22">
              <a:extLst>
                <a:ext uri="{FF2B5EF4-FFF2-40B4-BE49-F238E27FC236}">
                  <a16:creationId xmlns:a16="http://schemas.microsoft.com/office/drawing/2014/main" id="{2469BA70-7573-A81C-E722-0D69E1E43852}"/>
                </a:ext>
              </a:extLst>
            </p:cNvPr>
            <p:cNvGrpSpPr/>
            <p:nvPr/>
          </p:nvGrpSpPr>
          <p:grpSpPr>
            <a:xfrm>
              <a:off x="-15240" y="4117778"/>
              <a:ext cx="9128760" cy="2758440"/>
              <a:chOff x="-15240" y="4117778"/>
              <a:chExt cx="9128760" cy="2758440"/>
            </a:xfrm>
          </p:grpSpPr>
          <p:sp>
            <p:nvSpPr>
              <p:cNvPr id="30" name="任意多边形: 形状 29">
                <a:extLst>
                  <a:ext uri="{FF2B5EF4-FFF2-40B4-BE49-F238E27FC236}">
                    <a16:creationId xmlns:a16="http://schemas.microsoft.com/office/drawing/2014/main" id="{DB49391F-2E66-8BED-943D-563159C0B36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任意多边形: 形状 31">
                <a:extLst>
                  <a:ext uri="{FF2B5EF4-FFF2-40B4-BE49-F238E27FC236}">
                    <a16:creationId xmlns:a16="http://schemas.microsoft.com/office/drawing/2014/main" id="{C2705F03-15A1-4132-5171-3D8FF646F3A2}"/>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任意多边形: 形状 32">
                <a:extLst>
                  <a:ext uri="{FF2B5EF4-FFF2-40B4-BE49-F238E27FC236}">
                    <a16:creationId xmlns:a16="http://schemas.microsoft.com/office/drawing/2014/main" id="{93739669-92AA-F2CB-643B-0A00DD2C3CE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任意多边形: 形状 33">
                <a:extLst>
                  <a:ext uri="{FF2B5EF4-FFF2-40B4-BE49-F238E27FC236}">
                    <a16:creationId xmlns:a16="http://schemas.microsoft.com/office/drawing/2014/main" id="{C7FEE08D-43B9-D218-80EA-9AFFA22A10F9}"/>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a:extLst>
                <a:ext uri="{FF2B5EF4-FFF2-40B4-BE49-F238E27FC236}">
                  <a16:creationId xmlns:a16="http://schemas.microsoft.com/office/drawing/2014/main" id="{0F11F305-4F15-629F-20DC-684A95FAEA1E}"/>
                </a:ext>
              </a:extLst>
            </p:cNvPr>
            <p:cNvGrpSpPr/>
            <p:nvPr/>
          </p:nvGrpSpPr>
          <p:grpSpPr>
            <a:xfrm flipH="1">
              <a:off x="30480" y="4117778"/>
              <a:ext cx="9128760" cy="2758440"/>
              <a:chOff x="-15240" y="4117778"/>
              <a:chExt cx="9128760" cy="2758440"/>
            </a:xfrm>
          </p:grpSpPr>
          <p:sp>
            <p:nvSpPr>
              <p:cNvPr id="26" name="任意多边形: 形状 25">
                <a:extLst>
                  <a:ext uri="{FF2B5EF4-FFF2-40B4-BE49-F238E27FC236}">
                    <a16:creationId xmlns:a16="http://schemas.microsoft.com/office/drawing/2014/main" id="{44F1F3FF-FA95-3E28-9767-9A7F51B27A3B}"/>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形状 26">
                <a:extLst>
                  <a:ext uri="{FF2B5EF4-FFF2-40B4-BE49-F238E27FC236}">
                    <a16:creationId xmlns:a16="http://schemas.microsoft.com/office/drawing/2014/main" id="{E9E53430-7B12-CFBF-ACD5-0BED98D3EFD4}"/>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形状 27">
                <a:extLst>
                  <a:ext uri="{FF2B5EF4-FFF2-40B4-BE49-F238E27FC236}">
                    <a16:creationId xmlns:a16="http://schemas.microsoft.com/office/drawing/2014/main" id="{1DA16453-4045-A062-BD7C-1136CC03ECCD}"/>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任意多边形: 形状 28">
                <a:extLst>
                  <a:ext uri="{FF2B5EF4-FFF2-40B4-BE49-F238E27FC236}">
                    <a16:creationId xmlns:a16="http://schemas.microsoft.com/office/drawing/2014/main" id="{39428BDA-3D07-9AE4-9A0E-1877A405DF8A}"/>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5" name="组合 34">
            <a:extLst>
              <a:ext uri="{FF2B5EF4-FFF2-40B4-BE49-F238E27FC236}">
                <a16:creationId xmlns:a16="http://schemas.microsoft.com/office/drawing/2014/main" id="{D9D2156D-F6D2-85CE-3E02-83DFA9A3012A}"/>
              </a:ext>
            </a:extLst>
          </p:cNvPr>
          <p:cNvGrpSpPr/>
          <p:nvPr/>
        </p:nvGrpSpPr>
        <p:grpSpPr>
          <a:xfrm>
            <a:off x="2957745" y="2625211"/>
            <a:ext cx="3839514" cy="1273669"/>
            <a:chOff x="4176244" y="2503544"/>
            <a:chExt cx="3839514" cy="1273669"/>
          </a:xfrm>
        </p:grpSpPr>
        <p:sp>
          <p:nvSpPr>
            <p:cNvPr id="36" name="文本框 35">
              <a:extLst>
                <a:ext uri="{FF2B5EF4-FFF2-40B4-BE49-F238E27FC236}">
                  <a16:creationId xmlns:a16="http://schemas.microsoft.com/office/drawing/2014/main" id="{3512209E-5E4D-5B9D-9A0C-61193A3A67A3}"/>
                </a:ext>
              </a:extLst>
            </p:cNvPr>
            <p:cNvSpPr txBox="1"/>
            <p:nvPr/>
          </p:nvSpPr>
          <p:spPr>
            <a:xfrm>
              <a:off x="4176244" y="2503544"/>
              <a:ext cx="3839514" cy="923330"/>
            </a:xfrm>
            <a:prstGeom prst="rect">
              <a:avLst/>
            </a:prstGeom>
            <a:noFill/>
          </p:spPr>
          <p:txBody>
            <a:bodyPr wrap="squar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谢 谢 ！</a:t>
              </a:r>
            </a:p>
          </p:txBody>
        </p:sp>
        <p:sp>
          <p:nvSpPr>
            <p:cNvPr id="37" name="文本框 36">
              <a:extLst>
                <a:ext uri="{FF2B5EF4-FFF2-40B4-BE49-F238E27FC236}">
                  <a16:creationId xmlns:a16="http://schemas.microsoft.com/office/drawing/2014/main" id="{91861518-37E9-2B32-6B3A-518AB31807E7}"/>
                </a:ext>
              </a:extLst>
            </p:cNvPr>
            <p:cNvSpPr txBox="1"/>
            <p:nvPr/>
          </p:nvSpPr>
          <p:spPr>
            <a:xfrm>
              <a:off x="4750718" y="3377103"/>
              <a:ext cx="2140522" cy="400110"/>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THANK YOU</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8" name="图片 37">
            <a:extLst>
              <a:ext uri="{FF2B5EF4-FFF2-40B4-BE49-F238E27FC236}">
                <a16:creationId xmlns:a16="http://schemas.microsoft.com/office/drawing/2014/main" id="{740A3095-7ADC-614D-5B7E-9FB6EBD19AAD}"/>
              </a:ext>
            </a:extLst>
          </p:cNvPr>
          <p:cNvPicPr>
            <a:picLocks noChangeAspect="1"/>
          </p:cNvPicPr>
          <p:nvPr/>
        </p:nvPicPr>
        <p:blipFill>
          <a:blip r:embed="rId4"/>
          <a:stretch>
            <a:fillRect/>
          </a:stretch>
        </p:blipFill>
        <p:spPr>
          <a:xfrm>
            <a:off x="335655" y="331579"/>
            <a:ext cx="2430253" cy="571825"/>
          </a:xfrm>
          <a:prstGeom prst="rect">
            <a:avLst/>
          </a:prstGeom>
        </p:spPr>
      </p:pic>
    </p:spTree>
    <p:extLst>
      <p:ext uri="{BB962C8B-B14F-4D97-AF65-F5344CB8AC3E}">
        <p14:creationId xmlns:p14="http://schemas.microsoft.com/office/powerpoint/2010/main" val="34688332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b53e43-27c5-447a-bdd1-f9f34c0f73f4"/>
  <p:tag name="COMMONDATA" val="eyJoZGlkIjoiMjUxZGE5Mjc5MTFlODViN2E2Yjk0ZmU4MDliMTgxMTk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16775</TotalTime>
  <Words>9994</Words>
  <Application>Microsoft Macintosh PowerPoint</Application>
  <PresentationFormat>全屏显示(4:3)</PresentationFormat>
  <Paragraphs>1116</Paragraphs>
  <Slides>84</Slides>
  <Notes>60</Notes>
  <HiddenSlides>5</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101" baseType="lpstr">
      <vt:lpstr>-apple-system</vt:lpstr>
      <vt:lpstr>等线</vt:lpstr>
      <vt:lpstr>仿宋</vt:lpstr>
      <vt:lpstr>黑体</vt:lpstr>
      <vt:lpstr>宋体</vt:lpstr>
      <vt:lpstr>微软雅黑</vt:lpstr>
      <vt:lpstr>KaTeX_Main</vt:lpstr>
      <vt:lpstr>KaTeX_Math</vt:lpstr>
      <vt:lpstr>Söhne</vt:lpstr>
      <vt:lpstr>Arial</vt:lpstr>
      <vt:lpstr>Calibri</vt:lpstr>
      <vt:lpstr>Cambria Math</vt:lpstr>
      <vt:lpstr>Helvetica Neue</vt:lpstr>
      <vt:lpstr>Times New Roman</vt:lpstr>
      <vt:lpstr>Wingdings</vt:lpstr>
      <vt:lpstr>Office 主题​​</vt:lpstr>
      <vt:lpstr>Visio</vt:lpstr>
      <vt:lpstr>PowerPoint 演示文稿</vt:lpstr>
      <vt:lpstr>目录</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1. 哈希函数概述</vt:lpstr>
      <vt:lpstr>2. 哈希函数安全性</vt:lpstr>
      <vt:lpstr>2. 哈希函数安全性</vt:lpstr>
      <vt:lpstr>2. 哈希函数安全性</vt:lpstr>
      <vt:lpstr>2. 哈希函数安全性</vt:lpstr>
      <vt:lpstr>2. 哈希函数安全性</vt:lpstr>
      <vt:lpstr>2. 哈希函数安全性</vt:lpstr>
      <vt:lpstr>2. 哈希函数安全性</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3. MD5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4. SHA-1 算法</vt:lpstr>
      <vt:lpstr>5. SM3 算法</vt:lpstr>
      <vt:lpstr>5. SM3 算法</vt:lpstr>
      <vt:lpstr>5. SM3 算法</vt:lpstr>
      <vt:lpstr>5. SM3 算法</vt:lpstr>
      <vt:lpstr>5. SM3 算法</vt:lpstr>
      <vt:lpstr>5. SM3 算法</vt:lpstr>
      <vt:lpstr>5. SM3 算法</vt:lpstr>
      <vt:lpstr>5. SM3 算法</vt:lpstr>
      <vt:lpstr>5. SM3 算法</vt:lpstr>
      <vt:lpstr>5. SM3 算法</vt:lpstr>
      <vt:lpstr>5. SM3 算法</vt:lpstr>
      <vt:lpstr>5. SM3 算法</vt:lpstr>
      <vt:lpstr>5. SM3 算法</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饺子</dc:creator>
  <cp:lastModifiedBy>Microsoft Office User</cp:lastModifiedBy>
  <cp:revision>957</cp:revision>
  <dcterms:created xsi:type="dcterms:W3CDTF">2020-10-06T00:51:00Z</dcterms:created>
  <dcterms:modified xsi:type="dcterms:W3CDTF">2024-10-14T13:16:07Z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3AD813741EE042CB81C87BD4680C290D</vt:lpwstr>
  </property>
  <property fmtid="{D5CDD505-2E9C-101B-9397-08002B2CF9AE}" pid="3" name="KSOProductBuildVer">
    <vt:lpwstr>2052-11.1.0.12598</vt:lpwstr>
  </property>
</Properties>
</file>