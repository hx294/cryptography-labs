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notesSlides/notesSlide36.xml" ContentType="application/vnd.openxmlformats-officedocument.presentationml.notesSlide+xml"/>
  <Override PartName="/ppt/tags/tag36.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2"/>
  </p:sldMasterIdLst>
  <p:notesMasterIdLst>
    <p:notesMasterId r:id="rId51"/>
  </p:notesMasterIdLst>
  <p:handoutMasterIdLst>
    <p:handoutMasterId r:id="rId52"/>
  </p:handoutMasterIdLst>
  <p:sldIdLst>
    <p:sldId id="335" r:id="rId3"/>
    <p:sldId id="407" r:id="rId4"/>
    <p:sldId id="428" r:id="rId5"/>
    <p:sldId id="457" r:id="rId6"/>
    <p:sldId id="487" r:id="rId7"/>
    <p:sldId id="561" r:id="rId8"/>
    <p:sldId id="499" r:id="rId9"/>
    <p:sldId id="545" r:id="rId10"/>
    <p:sldId id="547" r:id="rId11"/>
    <p:sldId id="562" r:id="rId12"/>
    <p:sldId id="563" r:id="rId13"/>
    <p:sldId id="564" r:id="rId14"/>
    <p:sldId id="565" r:id="rId15"/>
    <p:sldId id="515" r:id="rId16"/>
    <p:sldId id="516" r:id="rId17"/>
    <p:sldId id="523" r:id="rId18"/>
    <p:sldId id="517" r:id="rId19"/>
    <p:sldId id="548" r:id="rId20"/>
    <p:sldId id="549" r:id="rId21"/>
    <p:sldId id="521" r:id="rId22"/>
    <p:sldId id="550" r:id="rId23"/>
    <p:sldId id="534" r:id="rId24"/>
    <p:sldId id="533" r:id="rId25"/>
    <p:sldId id="566" r:id="rId26"/>
    <p:sldId id="567" r:id="rId27"/>
    <p:sldId id="524" r:id="rId28"/>
    <p:sldId id="525" r:id="rId29"/>
    <p:sldId id="526" r:id="rId30"/>
    <p:sldId id="568" r:id="rId31"/>
    <p:sldId id="569" r:id="rId32"/>
    <p:sldId id="473" r:id="rId33"/>
    <p:sldId id="477" r:id="rId34"/>
    <p:sldId id="551" r:id="rId35"/>
    <p:sldId id="552" r:id="rId36"/>
    <p:sldId id="546" r:id="rId37"/>
    <p:sldId id="508" r:id="rId38"/>
    <p:sldId id="510" r:id="rId39"/>
    <p:sldId id="520" r:id="rId40"/>
    <p:sldId id="553" r:id="rId41"/>
    <p:sldId id="554" r:id="rId42"/>
    <p:sldId id="555" r:id="rId43"/>
    <p:sldId id="558" r:id="rId44"/>
    <p:sldId id="560" r:id="rId45"/>
    <p:sldId id="556" r:id="rId46"/>
    <p:sldId id="559" r:id="rId47"/>
    <p:sldId id="557" r:id="rId48"/>
    <p:sldId id="399" r:id="rId49"/>
    <p:sldId id="400" r:id="rId50"/>
  </p:sldIdLst>
  <p:sldSz cx="9144000" cy="6858000" type="screen4x3"/>
  <p:notesSz cx="6858000" cy="91440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9" userDrawn="1">
          <p15:clr>
            <a:srgbClr val="A4A3A4"/>
          </p15:clr>
        </p15:guide>
        <p15:guide id="2" pos="281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 Joel" initials="XJ" lastIdx="1" clrIdx="0"/>
  <p:cmAuthor id="2" name="HP" initials="H"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FA0C8"/>
    <a:srgbClr val="BAE0E3"/>
    <a:srgbClr val="FFFFCC"/>
    <a:srgbClr val="FFFF66"/>
    <a:srgbClr val="2F528F"/>
    <a:srgbClr val="4472C4"/>
    <a:srgbClr val="68709C"/>
    <a:srgbClr val="F5F5F5"/>
    <a:srgbClr val="78A4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87" autoAdjust="0"/>
    <p:restoredTop sz="68231" autoAdjust="0"/>
  </p:normalViewPr>
  <p:slideViewPr>
    <p:cSldViewPr snapToGrid="0" showGuides="1">
      <p:cViewPr varScale="1">
        <p:scale>
          <a:sx n="85" d="100"/>
          <a:sy n="85" d="100"/>
        </p:scale>
        <p:origin x="3048" y="168"/>
      </p:cViewPr>
      <p:guideLst>
        <p:guide orient="horz" pos="2099"/>
        <p:guide pos="2812"/>
      </p:guideLst>
    </p:cSldViewPr>
  </p:slideViewPr>
  <p:notesTextViewPr>
    <p:cViewPr>
      <p:scale>
        <a:sx n="75" d="100"/>
        <a:sy n="75" d="100"/>
      </p:scale>
      <p:origin x="0" y="0"/>
    </p:cViewPr>
  </p:notesTextViewPr>
  <p:sorterViewPr>
    <p:cViewPr varScale="1">
      <p:scale>
        <a:sx n="1" d="1"/>
        <a:sy n="1" d="1"/>
      </p:scale>
      <p:origin x="0" y="0"/>
    </p:cViewPr>
  </p:sorterViewPr>
  <p:notesViewPr>
    <p:cSldViewPr snapToGrid="0">
      <p:cViewPr varScale="1">
        <p:scale>
          <a:sx n="59" d="100"/>
          <a:sy n="59" d="100"/>
        </p:scale>
        <p:origin x="1672" y="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8A947F-1230-402A-BD20-A8ECEB529897}" type="datetimeFigureOut">
              <a:rPr lang="zh-CN" altLang="en-US" smtClean="0"/>
              <a:t>2024/11/3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F7B2AA-B1DE-4E20-835E-E7A3945960D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D4CCB-601C-4846-9ECC-39924CF29FE2}" type="datetimeFigureOut">
              <a:rPr lang="zh-CN" altLang="en-US" smtClean="0"/>
              <a:t>2024/11/3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D3990-B510-4435-90A5-6D9F2619C2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9B0DD-84E2-3D5D-BD8F-67410B2EE5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9D7676-0CBF-5FEB-F367-2AF5162FD8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1FA036-B9E4-DFC7-20F3-D2B1A81AB4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68F784B-9697-31AC-9BFB-B2EFA8EFC6D9}"/>
              </a:ext>
            </a:extLst>
          </p:cNvPr>
          <p:cNvSpPr>
            <a:spLocks noGrp="1"/>
          </p:cNvSpPr>
          <p:nvPr>
            <p:ph type="sldNum" sz="quarter" idx="10"/>
          </p:nvPr>
        </p:nvSpPr>
        <p:spPr/>
        <p:txBody>
          <a:bodyPr/>
          <a:lstStyle/>
          <a:p>
            <a:fld id="{184D3990-B510-4435-90A5-6D9F2619C2A6}" type="slidenum">
              <a:rPr lang="zh-CN" altLang="en-US" smtClean="0"/>
              <a:t>6</a:t>
            </a:fld>
            <a:endParaRPr lang="zh-CN" altLang="en-US"/>
          </a:p>
        </p:txBody>
      </p:sp>
    </p:spTree>
    <p:extLst>
      <p:ext uri="{BB962C8B-B14F-4D97-AF65-F5344CB8AC3E}">
        <p14:creationId xmlns:p14="http://schemas.microsoft.com/office/powerpoint/2010/main" val="1722327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D6D3-FE72-97E4-3D17-D522B1E5A5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A598F5-D493-ACF1-11F0-A60ACC1578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0A99F5-38FC-BDBB-463F-662C4785FF4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D49993D-9BA3-E5E8-A8E4-4A81B8061999}"/>
              </a:ext>
            </a:extLst>
          </p:cNvPr>
          <p:cNvSpPr>
            <a:spLocks noGrp="1"/>
          </p:cNvSpPr>
          <p:nvPr>
            <p:ph type="sldNum" sz="quarter" idx="10"/>
          </p:nvPr>
        </p:nvSpPr>
        <p:spPr/>
        <p:txBody>
          <a:bodyPr/>
          <a:lstStyle/>
          <a:p>
            <a:fld id="{184D3990-B510-4435-90A5-6D9F2619C2A6}" type="slidenum">
              <a:rPr lang="zh-CN" altLang="en-US" smtClean="0"/>
              <a:t>10</a:t>
            </a:fld>
            <a:endParaRPr lang="zh-CN" altLang="en-US"/>
          </a:p>
        </p:txBody>
      </p:sp>
    </p:spTree>
    <p:extLst>
      <p:ext uri="{BB962C8B-B14F-4D97-AF65-F5344CB8AC3E}">
        <p14:creationId xmlns:p14="http://schemas.microsoft.com/office/powerpoint/2010/main" val="1262695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5090B-D22B-0E62-106F-2EE42C197D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264990-4284-50EC-45B8-082A5E7284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4B54D0-F117-B377-04A7-099F487988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700CC98-175C-6BCA-9CA8-8B7264F31CA1}"/>
              </a:ext>
            </a:extLst>
          </p:cNvPr>
          <p:cNvSpPr>
            <a:spLocks noGrp="1"/>
          </p:cNvSpPr>
          <p:nvPr>
            <p:ph type="sldNum" sz="quarter" idx="10"/>
          </p:nvPr>
        </p:nvSpPr>
        <p:spPr/>
        <p:txBody>
          <a:bodyPr/>
          <a:lstStyle/>
          <a:p>
            <a:fld id="{184D3990-B510-4435-90A5-6D9F2619C2A6}" type="slidenum">
              <a:rPr lang="zh-CN" altLang="en-US" smtClean="0"/>
              <a:t>11</a:t>
            </a:fld>
            <a:endParaRPr lang="zh-CN" altLang="en-US"/>
          </a:p>
        </p:txBody>
      </p:sp>
    </p:spTree>
    <p:extLst>
      <p:ext uri="{BB962C8B-B14F-4D97-AF65-F5344CB8AC3E}">
        <p14:creationId xmlns:p14="http://schemas.microsoft.com/office/powerpoint/2010/main" val="1779365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0C24C-2F56-97B9-5C4E-81D6C16A42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00C548-72CA-2E68-14DA-73FC07E02F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707953-975E-AA4C-CB2C-8FD7711D3D7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3BB8F85-4420-5FCF-9348-803659D3E23A}"/>
              </a:ext>
            </a:extLst>
          </p:cNvPr>
          <p:cNvSpPr>
            <a:spLocks noGrp="1"/>
          </p:cNvSpPr>
          <p:nvPr>
            <p:ph type="sldNum" sz="quarter" idx="10"/>
          </p:nvPr>
        </p:nvSpPr>
        <p:spPr/>
        <p:txBody>
          <a:bodyPr/>
          <a:lstStyle/>
          <a:p>
            <a:fld id="{184D3990-B510-4435-90A5-6D9F2619C2A6}" type="slidenum">
              <a:rPr lang="zh-CN" altLang="en-US" smtClean="0"/>
              <a:t>12</a:t>
            </a:fld>
            <a:endParaRPr lang="zh-CN" altLang="en-US"/>
          </a:p>
        </p:txBody>
      </p:sp>
    </p:spTree>
    <p:extLst>
      <p:ext uri="{BB962C8B-B14F-4D97-AF65-F5344CB8AC3E}">
        <p14:creationId xmlns:p14="http://schemas.microsoft.com/office/powerpoint/2010/main" val="2928085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0C255-26EE-B564-6D5C-199B261DCB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F9E986-0E6E-CF8E-F751-0D992438EA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413FD8-EC60-F189-CF55-C4C5BD66AF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EE24DA-DEF7-5162-918A-8D65FD48DD72}"/>
              </a:ext>
            </a:extLst>
          </p:cNvPr>
          <p:cNvSpPr>
            <a:spLocks noGrp="1"/>
          </p:cNvSpPr>
          <p:nvPr>
            <p:ph type="sldNum" sz="quarter" idx="10"/>
          </p:nvPr>
        </p:nvSpPr>
        <p:spPr/>
        <p:txBody>
          <a:bodyPr/>
          <a:lstStyle/>
          <a:p>
            <a:fld id="{184D3990-B510-4435-90A5-6D9F2619C2A6}" type="slidenum">
              <a:rPr lang="zh-CN" altLang="en-US" smtClean="0"/>
              <a:t>13</a:t>
            </a:fld>
            <a:endParaRPr lang="zh-CN" altLang="en-US"/>
          </a:p>
        </p:txBody>
      </p:sp>
    </p:spTree>
    <p:extLst>
      <p:ext uri="{BB962C8B-B14F-4D97-AF65-F5344CB8AC3E}">
        <p14:creationId xmlns:p14="http://schemas.microsoft.com/office/powerpoint/2010/main" val="3649972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20</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21</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22</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23</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7972A-5524-3226-854F-CEFF274D84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003F06-D97F-501F-40AA-575DD9D2B1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D5DA61-FE1E-8956-CBD8-40A3D126E6F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0CDFBDF-AC24-DCA1-1C33-C30E0CC3A339}"/>
              </a:ext>
            </a:extLst>
          </p:cNvPr>
          <p:cNvSpPr>
            <a:spLocks noGrp="1"/>
          </p:cNvSpPr>
          <p:nvPr>
            <p:ph type="sldNum" sz="quarter" idx="10"/>
          </p:nvPr>
        </p:nvSpPr>
        <p:spPr/>
        <p:txBody>
          <a:bodyPr/>
          <a:lstStyle/>
          <a:p>
            <a:fld id="{184D3990-B510-4435-90A5-6D9F2619C2A6}" type="slidenum">
              <a:rPr lang="zh-CN" altLang="en-US" smtClean="0"/>
              <a:t>24</a:t>
            </a:fld>
            <a:endParaRPr lang="zh-CN" altLang="en-US"/>
          </a:p>
        </p:txBody>
      </p:sp>
    </p:spTree>
    <p:extLst>
      <p:ext uri="{BB962C8B-B14F-4D97-AF65-F5344CB8AC3E}">
        <p14:creationId xmlns:p14="http://schemas.microsoft.com/office/powerpoint/2010/main" val="3662990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6F099-71F6-220C-8079-B36C907B2C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52A9FE-890A-C4AF-2B23-38A47EDF51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CF785F-809E-CC39-F40A-A7F81E3753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9F945F-928F-874D-7648-EAF2DECC96B3}"/>
              </a:ext>
            </a:extLst>
          </p:cNvPr>
          <p:cNvSpPr>
            <a:spLocks noGrp="1"/>
          </p:cNvSpPr>
          <p:nvPr>
            <p:ph type="sldNum" sz="quarter" idx="10"/>
          </p:nvPr>
        </p:nvSpPr>
        <p:spPr/>
        <p:txBody>
          <a:bodyPr/>
          <a:lstStyle/>
          <a:p>
            <a:fld id="{184D3990-B510-4435-90A5-6D9F2619C2A6}" type="slidenum">
              <a:rPr lang="zh-CN" altLang="en-US" smtClean="0"/>
              <a:t>25</a:t>
            </a:fld>
            <a:endParaRPr lang="zh-CN" altLang="en-US"/>
          </a:p>
        </p:txBody>
      </p:sp>
    </p:spTree>
    <p:extLst>
      <p:ext uri="{BB962C8B-B14F-4D97-AF65-F5344CB8AC3E}">
        <p14:creationId xmlns:p14="http://schemas.microsoft.com/office/powerpoint/2010/main" val="1430493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600" b="0" i="0" dirty="0">
              <a:solidFill>
                <a:srgbClr val="222222"/>
              </a:solidFill>
              <a:effectLst/>
              <a:latin typeface="arial" panose="020B0604020202020204" pitchFamily="34" charset="0"/>
            </a:endParaRPr>
          </a:p>
          <a:p>
            <a:r>
              <a:rPr lang="zh-CN" altLang="en-US" sz="2400" b="0" i="0" dirty="0">
                <a:solidFill>
                  <a:srgbClr val="222222"/>
                </a:solidFill>
                <a:effectLst/>
                <a:latin typeface="arial" panose="020B0604020202020204" pitchFamily="34" charset="0"/>
              </a:rPr>
              <a:t>例如，</a:t>
            </a:r>
            <a:r>
              <a:rPr lang="en" altLang="zh-CN" sz="2400" b="0" i="0" dirty="0">
                <a:solidFill>
                  <a:srgbClr val="222222"/>
                </a:solidFill>
                <a:effectLst/>
                <a:latin typeface="arial" panose="020B0604020202020204" pitchFamily="34" charset="0"/>
              </a:rPr>
              <a:t>QQ </a:t>
            </a:r>
            <a:r>
              <a:rPr lang="zh-CN" altLang="en-US" sz="2400" b="0" i="0" dirty="0">
                <a:solidFill>
                  <a:srgbClr val="222222"/>
                </a:solidFill>
                <a:effectLst/>
                <a:latin typeface="arial" panose="020B0604020202020204" pitchFamily="34" charset="0"/>
              </a:rPr>
              <a:t>账号在设置密码后，在不输入密码的前提下，通过回答密保问题证明你是账户的主人，这就是零知识证明的一个实际应用。</a:t>
            </a:r>
            <a:endParaRPr lang="en-US" altLang="zh-CN" sz="1600" b="0" i="0" dirty="0">
              <a:solidFill>
                <a:srgbClr val="222222"/>
              </a:solidFill>
              <a:effectLst/>
              <a:latin typeface="arial" panose="020B0604020202020204" pitchFamily="34" charset="0"/>
            </a:endParaRPr>
          </a:p>
          <a:p>
            <a:endParaRPr lang="en-US" altLang="zh-CN" sz="1600" b="0" i="0" dirty="0">
              <a:solidFill>
                <a:srgbClr val="222222"/>
              </a:solidFill>
              <a:effectLst/>
              <a:latin typeface="arial" panose="020B0604020202020204" pitchFamily="34" charset="0"/>
            </a:endParaRPr>
          </a:p>
          <a:p>
            <a:r>
              <a:rPr lang="zh-CN" altLang="en-US" sz="1600" b="0" i="0" dirty="0">
                <a:solidFill>
                  <a:srgbClr val="222222"/>
                </a:solidFill>
                <a:effectLst/>
                <a:latin typeface="arial" panose="020B0604020202020204" pitchFamily="34" charset="0"/>
              </a:rPr>
              <a:t>零知识证明，所谓 “零”，就是不透露任何关于密码的核心信息。所谓 “证明”，就是回答相关问题，答案都正确，就能证明账户是你的</a:t>
            </a:r>
            <a:endParaRPr lang="zh-CN" altLang="en-US" sz="1600"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26</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27</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1800"/>
              </a:lnSpc>
              <a:spcAft>
                <a:spcPts val="1125"/>
              </a:spcAft>
            </a:pPr>
            <a:r>
              <a:rPr lang="zh-CN" altLang="en-US" b="0" i="0" dirty="0">
                <a:solidFill>
                  <a:srgbClr val="333333"/>
                </a:solidFill>
                <a:effectLst/>
                <a:latin typeface="Helvetica Neue" panose="02000503000000020004" pitchFamily="2" charset="0"/>
              </a:rPr>
              <a:t>零知识证明需要满足三个属性。</a:t>
            </a:r>
          </a:p>
          <a:p>
            <a:pPr algn="l">
              <a:lnSpc>
                <a:spcPts val="1800"/>
              </a:lnSpc>
              <a:spcAft>
                <a:spcPts val="1125"/>
              </a:spcAft>
            </a:pPr>
            <a:r>
              <a:rPr lang="en-US" altLang="zh-CN" b="0" i="0" dirty="0">
                <a:solidFill>
                  <a:srgbClr val="333333"/>
                </a:solidFill>
                <a:effectLst/>
                <a:latin typeface="Helvetica Neue" panose="02000503000000020004" pitchFamily="2" charset="0"/>
              </a:rPr>
              <a:t>1</a:t>
            </a:r>
            <a:r>
              <a:rPr lang="zh-CN" altLang="en-US" b="0" i="0" dirty="0">
                <a:solidFill>
                  <a:srgbClr val="333333"/>
                </a:solidFill>
                <a:effectLst/>
                <a:latin typeface="Helvetica Neue" panose="02000503000000020004" pitchFamily="2" charset="0"/>
              </a:rPr>
              <a:t>、如果语句为真，诚实的验证者（即：正确遵循协议的验证者）将由诚实的证明者确信这一事实。</a:t>
            </a:r>
          </a:p>
          <a:p>
            <a:pPr algn="l">
              <a:lnSpc>
                <a:spcPts val="1800"/>
              </a:lnSpc>
              <a:spcAft>
                <a:spcPts val="1125"/>
              </a:spcAft>
            </a:pPr>
            <a:r>
              <a:rPr lang="en-US" altLang="zh-CN" b="0" i="0" dirty="0">
                <a:solidFill>
                  <a:srgbClr val="333333"/>
                </a:solidFill>
                <a:effectLst/>
                <a:latin typeface="Helvetica Neue" panose="02000503000000020004" pitchFamily="2" charset="0"/>
              </a:rPr>
              <a:t>2</a:t>
            </a:r>
            <a:r>
              <a:rPr lang="zh-CN" altLang="en-US" b="0" i="0" dirty="0">
                <a:solidFill>
                  <a:srgbClr val="333333"/>
                </a:solidFill>
                <a:effectLst/>
                <a:latin typeface="Helvetica Neue" panose="02000503000000020004" pitchFamily="2" charset="0"/>
              </a:rPr>
              <a:t>、如果语句为假，不排除有概率欺骗者可以说服诚实的验证者它是真的。</a:t>
            </a:r>
          </a:p>
          <a:p>
            <a:pPr algn="l">
              <a:lnSpc>
                <a:spcPts val="1800"/>
              </a:lnSpc>
              <a:spcAft>
                <a:spcPts val="1125"/>
              </a:spcAft>
            </a:pPr>
            <a:r>
              <a:rPr lang="en-US" altLang="zh-CN" b="0" i="0" dirty="0">
                <a:solidFill>
                  <a:srgbClr val="333333"/>
                </a:solidFill>
                <a:effectLst/>
                <a:latin typeface="Helvetica Neue" panose="02000503000000020004" pitchFamily="2" charset="0"/>
              </a:rPr>
              <a:t>3</a:t>
            </a:r>
            <a:r>
              <a:rPr lang="zh-CN" altLang="en-US" b="0" i="0" dirty="0">
                <a:solidFill>
                  <a:srgbClr val="333333"/>
                </a:solidFill>
                <a:effectLst/>
                <a:latin typeface="Helvetica Neue" panose="02000503000000020004" pitchFamily="2" charset="0"/>
              </a:rPr>
              <a:t>、如果语句为真，证明者的目的就是向验证者证明并使验证者相信自己知道或拥有某一消息，而在证明过程中不可向验证者泄漏任何有关被证明消息的内容。</a:t>
            </a:r>
          </a:p>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F52CD-0BB5-DDC3-09EE-C9BF56B588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725CA3-6972-11B1-5C68-55814E1528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E7C3FE-4238-424D-7CE1-A42DBB6C756C}"/>
              </a:ext>
            </a:extLst>
          </p:cNvPr>
          <p:cNvSpPr>
            <a:spLocks noGrp="1"/>
          </p:cNvSpPr>
          <p:nvPr>
            <p:ph type="body" idx="1"/>
          </p:nvPr>
        </p:nvSpPr>
        <p:spPr/>
        <p:txBody>
          <a:bodyPr/>
          <a:lstStyle/>
          <a:p>
            <a:pPr algn="l">
              <a:lnSpc>
                <a:spcPts val="1800"/>
              </a:lnSpc>
              <a:spcAft>
                <a:spcPts val="1125"/>
              </a:spcAft>
            </a:pPr>
            <a:r>
              <a:rPr lang="zh-CN" altLang="en-US" b="0" i="0" dirty="0">
                <a:solidFill>
                  <a:srgbClr val="333333"/>
                </a:solidFill>
                <a:effectLst/>
                <a:latin typeface="Helvetica Neue" panose="02000503000000020004" pitchFamily="2" charset="0"/>
              </a:rPr>
              <a:t>零知识证明需要满足三个属性。</a:t>
            </a:r>
          </a:p>
          <a:p>
            <a:pPr algn="l">
              <a:lnSpc>
                <a:spcPts val="1800"/>
              </a:lnSpc>
              <a:spcAft>
                <a:spcPts val="1125"/>
              </a:spcAft>
            </a:pPr>
            <a:r>
              <a:rPr lang="en-US" altLang="zh-CN" b="0" i="0" dirty="0">
                <a:solidFill>
                  <a:srgbClr val="333333"/>
                </a:solidFill>
                <a:effectLst/>
                <a:latin typeface="Helvetica Neue" panose="02000503000000020004" pitchFamily="2" charset="0"/>
              </a:rPr>
              <a:t>1</a:t>
            </a:r>
            <a:r>
              <a:rPr lang="zh-CN" altLang="en-US" b="0" i="0" dirty="0">
                <a:solidFill>
                  <a:srgbClr val="333333"/>
                </a:solidFill>
                <a:effectLst/>
                <a:latin typeface="Helvetica Neue" panose="02000503000000020004" pitchFamily="2" charset="0"/>
              </a:rPr>
              <a:t>、如果语句为真，诚实的验证者（即：正确遵循协议的验证者）将由诚实的证明者确信这一事实。</a:t>
            </a:r>
          </a:p>
          <a:p>
            <a:pPr algn="l">
              <a:lnSpc>
                <a:spcPts val="1800"/>
              </a:lnSpc>
              <a:spcAft>
                <a:spcPts val="1125"/>
              </a:spcAft>
            </a:pPr>
            <a:r>
              <a:rPr lang="en-US" altLang="zh-CN" b="0" i="0" dirty="0">
                <a:solidFill>
                  <a:srgbClr val="333333"/>
                </a:solidFill>
                <a:effectLst/>
                <a:latin typeface="Helvetica Neue" panose="02000503000000020004" pitchFamily="2" charset="0"/>
              </a:rPr>
              <a:t>2</a:t>
            </a:r>
            <a:r>
              <a:rPr lang="zh-CN" altLang="en-US" b="0" i="0" dirty="0">
                <a:solidFill>
                  <a:srgbClr val="333333"/>
                </a:solidFill>
                <a:effectLst/>
                <a:latin typeface="Helvetica Neue" panose="02000503000000020004" pitchFamily="2" charset="0"/>
              </a:rPr>
              <a:t>、如果语句为假，不排除有概率欺骗者可以说服诚实的验证者它是真的。</a:t>
            </a:r>
          </a:p>
          <a:p>
            <a:pPr algn="l">
              <a:lnSpc>
                <a:spcPts val="1800"/>
              </a:lnSpc>
              <a:spcAft>
                <a:spcPts val="1125"/>
              </a:spcAft>
            </a:pPr>
            <a:r>
              <a:rPr lang="en-US" altLang="zh-CN" b="0" i="0" dirty="0">
                <a:solidFill>
                  <a:srgbClr val="333333"/>
                </a:solidFill>
                <a:effectLst/>
                <a:latin typeface="Helvetica Neue" panose="02000503000000020004" pitchFamily="2" charset="0"/>
              </a:rPr>
              <a:t>3</a:t>
            </a:r>
            <a:r>
              <a:rPr lang="zh-CN" altLang="en-US" b="0" i="0" dirty="0">
                <a:solidFill>
                  <a:srgbClr val="333333"/>
                </a:solidFill>
                <a:effectLst/>
                <a:latin typeface="Helvetica Neue" panose="02000503000000020004" pitchFamily="2" charset="0"/>
              </a:rPr>
              <a:t>、如果语句为真，证明者的目的就是向验证者证明并使验证者相信自己知道或拥有某一消息，而在证明过程中不可向验证者泄漏任何有关被证明消息的内容。</a:t>
            </a:r>
          </a:p>
          <a:p>
            <a:endParaRPr lang="zh-CN" altLang="en-US" dirty="0"/>
          </a:p>
        </p:txBody>
      </p:sp>
      <p:sp>
        <p:nvSpPr>
          <p:cNvPr id="4" name="灯片编号占位符 3">
            <a:extLst>
              <a:ext uri="{FF2B5EF4-FFF2-40B4-BE49-F238E27FC236}">
                <a16:creationId xmlns:a16="http://schemas.microsoft.com/office/drawing/2014/main" id="{EEF0B253-0504-665D-338B-47C0EEAC057E}"/>
              </a:ext>
            </a:extLst>
          </p:cNvPr>
          <p:cNvSpPr>
            <a:spLocks noGrp="1"/>
          </p:cNvSpPr>
          <p:nvPr>
            <p:ph type="sldNum" sz="quarter" idx="10"/>
          </p:nvPr>
        </p:nvSpPr>
        <p:spPr/>
        <p:txBody>
          <a:bodyPr/>
          <a:lstStyle/>
          <a:p>
            <a:fld id="{184D3990-B510-4435-90A5-6D9F2619C2A6}" type="slidenum">
              <a:rPr lang="zh-CN" altLang="en-US" smtClean="0"/>
              <a:t>29</a:t>
            </a:fld>
            <a:endParaRPr lang="zh-CN" altLang="en-US"/>
          </a:p>
        </p:txBody>
      </p:sp>
    </p:spTree>
    <p:extLst>
      <p:ext uri="{BB962C8B-B14F-4D97-AF65-F5344CB8AC3E}">
        <p14:creationId xmlns:p14="http://schemas.microsoft.com/office/powerpoint/2010/main" val="15052336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E68FC-5AF6-3347-D8D6-B408E3DAA1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973192-8EBC-1BE9-B96E-831C97A86D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35439B-4CB5-C8A9-61F0-C31D4687A02E}"/>
              </a:ext>
            </a:extLst>
          </p:cNvPr>
          <p:cNvSpPr>
            <a:spLocks noGrp="1"/>
          </p:cNvSpPr>
          <p:nvPr>
            <p:ph type="body" idx="1"/>
          </p:nvPr>
        </p:nvSpPr>
        <p:spPr/>
        <p:txBody>
          <a:bodyPr/>
          <a:lstStyle/>
          <a:p>
            <a:pPr algn="l">
              <a:lnSpc>
                <a:spcPts val="1800"/>
              </a:lnSpc>
              <a:spcAft>
                <a:spcPts val="1125"/>
              </a:spcAft>
            </a:pPr>
            <a:r>
              <a:rPr lang="zh-CN" altLang="en-US" b="0" i="0" dirty="0">
                <a:solidFill>
                  <a:srgbClr val="333333"/>
                </a:solidFill>
                <a:effectLst/>
                <a:latin typeface="Helvetica Neue" panose="02000503000000020004" pitchFamily="2" charset="0"/>
              </a:rPr>
              <a:t>零知识证明需要满足三个属性。</a:t>
            </a:r>
          </a:p>
          <a:p>
            <a:pPr algn="l">
              <a:lnSpc>
                <a:spcPts val="1800"/>
              </a:lnSpc>
              <a:spcAft>
                <a:spcPts val="1125"/>
              </a:spcAft>
            </a:pPr>
            <a:r>
              <a:rPr lang="en-US" altLang="zh-CN" b="0" i="0" dirty="0">
                <a:solidFill>
                  <a:srgbClr val="333333"/>
                </a:solidFill>
                <a:effectLst/>
                <a:latin typeface="Helvetica Neue" panose="02000503000000020004" pitchFamily="2" charset="0"/>
              </a:rPr>
              <a:t>1</a:t>
            </a:r>
            <a:r>
              <a:rPr lang="zh-CN" altLang="en-US" b="0" i="0" dirty="0">
                <a:solidFill>
                  <a:srgbClr val="333333"/>
                </a:solidFill>
                <a:effectLst/>
                <a:latin typeface="Helvetica Neue" panose="02000503000000020004" pitchFamily="2" charset="0"/>
              </a:rPr>
              <a:t>、如果语句为真，诚实的验证者（即：正确遵循协议的验证者）将由诚实的证明者确信这一事实。</a:t>
            </a:r>
          </a:p>
          <a:p>
            <a:pPr algn="l">
              <a:lnSpc>
                <a:spcPts val="1800"/>
              </a:lnSpc>
              <a:spcAft>
                <a:spcPts val="1125"/>
              </a:spcAft>
            </a:pPr>
            <a:r>
              <a:rPr lang="en-US" altLang="zh-CN" b="0" i="0" dirty="0">
                <a:solidFill>
                  <a:srgbClr val="333333"/>
                </a:solidFill>
                <a:effectLst/>
                <a:latin typeface="Helvetica Neue" panose="02000503000000020004" pitchFamily="2" charset="0"/>
              </a:rPr>
              <a:t>2</a:t>
            </a:r>
            <a:r>
              <a:rPr lang="zh-CN" altLang="en-US" b="0" i="0" dirty="0">
                <a:solidFill>
                  <a:srgbClr val="333333"/>
                </a:solidFill>
                <a:effectLst/>
                <a:latin typeface="Helvetica Neue" panose="02000503000000020004" pitchFamily="2" charset="0"/>
              </a:rPr>
              <a:t>、如果语句为假，不排除有概率欺骗者可以说服诚实的验证者它是真的。</a:t>
            </a:r>
          </a:p>
          <a:p>
            <a:pPr algn="l">
              <a:lnSpc>
                <a:spcPts val="1800"/>
              </a:lnSpc>
              <a:spcAft>
                <a:spcPts val="1125"/>
              </a:spcAft>
            </a:pPr>
            <a:r>
              <a:rPr lang="en-US" altLang="zh-CN" b="0" i="0" dirty="0">
                <a:solidFill>
                  <a:srgbClr val="333333"/>
                </a:solidFill>
                <a:effectLst/>
                <a:latin typeface="Helvetica Neue" panose="02000503000000020004" pitchFamily="2" charset="0"/>
              </a:rPr>
              <a:t>3</a:t>
            </a:r>
            <a:r>
              <a:rPr lang="zh-CN" altLang="en-US" b="0" i="0" dirty="0">
                <a:solidFill>
                  <a:srgbClr val="333333"/>
                </a:solidFill>
                <a:effectLst/>
                <a:latin typeface="Helvetica Neue" panose="02000503000000020004" pitchFamily="2" charset="0"/>
              </a:rPr>
              <a:t>、如果语句为真，证明者的目的就是向验证者证明并使验证者相信自己知道或拥有某一消息，而在证明过程中不可向验证者泄漏任何有关被证明消息的内容。</a:t>
            </a:r>
          </a:p>
          <a:p>
            <a:endParaRPr lang="zh-CN" altLang="en-US" dirty="0"/>
          </a:p>
        </p:txBody>
      </p:sp>
      <p:sp>
        <p:nvSpPr>
          <p:cNvPr id="4" name="灯片编号占位符 3">
            <a:extLst>
              <a:ext uri="{FF2B5EF4-FFF2-40B4-BE49-F238E27FC236}">
                <a16:creationId xmlns:a16="http://schemas.microsoft.com/office/drawing/2014/main" id="{B7EF44B9-0317-6AF3-498E-2E75DC5F9A50}"/>
              </a:ext>
            </a:extLst>
          </p:cNvPr>
          <p:cNvSpPr>
            <a:spLocks noGrp="1"/>
          </p:cNvSpPr>
          <p:nvPr>
            <p:ph type="sldNum" sz="quarter" idx="10"/>
          </p:nvPr>
        </p:nvSpPr>
        <p:spPr/>
        <p:txBody>
          <a:bodyPr/>
          <a:lstStyle/>
          <a:p>
            <a:fld id="{184D3990-B510-4435-90A5-6D9F2619C2A6}" type="slidenum">
              <a:rPr lang="zh-CN" altLang="en-US" smtClean="0"/>
              <a:t>30</a:t>
            </a:fld>
            <a:endParaRPr lang="zh-CN" altLang="en-US"/>
          </a:p>
        </p:txBody>
      </p:sp>
    </p:spTree>
    <p:extLst>
      <p:ext uri="{BB962C8B-B14F-4D97-AF65-F5344CB8AC3E}">
        <p14:creationId xmlns:p14="http://schemas.microsoft.com/office/powerpoint/2010/main" val="2888993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36</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37</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38</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39</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40</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41</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42</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43</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44</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45</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46</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48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8558C9-EC71-4A62-B3A9-EF0DD3876314}" type="datetime1">
              <a:rPr lang="zh-CN" altLang="en-US" smtClean="0"/>
              <a:t>2024/11/3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7" name="图片 6"/>
          <p:cNvPicPr>
            <a:picLocks noChangeAspect="1"/>
          </p:cNvPicPr>
          <p:nvPr userDrawn="1"/>
        </p:nvPicPr>
        <p:blipFill>
          <a:blip r:embed="rId2"/>
          <a:stretch>
            <a:fillRect/>
          </a:stretch>
        </p:blipFill>
        <p:spPr>
          <a:xfrm>
            <a:off x="335655" y="331579"/>
            <a:ext cx="2430253" cy="571825"/>
          </a:xfrm>
          <a:prstGeom prst="rect">
            <a:avLst/>
          </a:prstGeom>
        </p:spPr>
      </p:pic>
      <p:sp>
        <p:nvSpPr>
          <p:cNvPr id="9" name="矩形 8"/>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2" name="灯片编号占位符 11"/>
          <p:cNvSpPr>
            <a:spLocks noGrp="1"/>
          </p:cNvSpPr>
          <p:nvPr>
            <p:ph type="sldNum" sz="quarter" idx="12"/>
          </p:nvPr>
        </p:nvSpPr>
        <p:spPr>
          <a:xfrm>
            <a:off x="6735062" y="6330951"/>
            <a:ext cx="2057400" cy="365125"/>
          </a:xfrm>
        </p:spPr>
        <p:txBody>
          <a:bodyPr/>
          <a:lstStyle>
            <a:lvl1pPr algn="r">
              <a:defRPr/>
            </a:lvl1pPr>
          </a:lstStyle>
          <a:p>
            <a:fld id="{4DBDE2CB-4801-494F-A0A4-D49D70804842}" type="slidenum">
              <a:rPr lang="zh-CN" altLang="en-US" smtClean="0"/>
              <a:t>‹#›</a:t>
            </a:fld>
            <a:endParaRPr lang="zh-CN" altLang="en-US"/>
          </a:p>
        </p:txBody>
      </p:sp>
      <p:pic>
        <p:nvPicPr>
          <p:cNvPr id="3" name="图片 2"/>
          <p:cNvPicPr>
            <a:picLocks noChangeAspect="1"/>
          </p:cNvPicPr>
          <p:nvPr userDrawn="1"/>
        </p:nvPicPr>
        <p:blipFill>
          <a:blip r:embed="rId2"/>
          <a:stretch>
            <a:fillRect/>
          </a:stretch>
        </p:blipFill>
        <p:spPr>
          <a:xfrm>
            <a:off x="335655" y="331579"/>
            <a:ext cx="2430253" cy="571825"/>
          </a:xfrm>
          <a:prstGeom prst="rect">
            <a:avLst/>
          </a:prstGeom>
        </p:spPr>
      </p:pic>
      <p:sp>
        <p:nvSpPr>
          <p:cNvPr id="4" name="矩形 3"/>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A4030-5B40-40D4-BB6C-441BB5A09A80}" type="datetime1">
              <a:rPr lang="zh-CN" altLang="en-US" smtClean="0"/>
              <a:t>2024/11/3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5" name="图片 4"/>
          <p:cNvPicPr>
            <a:picLocks noChangeAspect="1"/>
          </p:cNvPicPr>
          <p:nvPr userDrawn="1"/>
        </p:nvPicPr>
        <p:blipFill>
          <a:blip r:embed="rId2"/>
          <a:stretch>
            <a:fillRect/>
          </a:stretch>
        </p:blipFill>
        <p:spPr>
          <a:xfrm>
            <a:off x="335655" y="331579"/>
            <a:ext cx="2430253" cy="571825"/>
          </a:xfrm>
          <a:prstGeom prst="rect">
            <a:avLst/>
          </a:prstGeom>
        </p:spPr>
      </p:pic>
      <p:sp>
        <p:nvSpPr>
          <p:cNvPr id="6" name="矩形 5"/>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0" name="日期占位符 9"/>
          <p:cNvSpPr>
            <a:spLocks noGrp="1"/>
          </p:cNvSpPr>
          <p:nvPr>
            <p:ph type="dt" sz="half" idx="10"/>
          </p:nvPr>
        </p:nvSpPr>
        <p:spPr/>
        <p:txBody>
          <a:bodyPr/>
          <a:lstStyle/>
          <a:p>
            <a:fld id="{E91735B9-8A64-41B6-8700-CE98B3E20E6D}" type="datetime1">
              <a:rPr lang="zh-CN" altLang="en-US" smtClean="0"/>
              <a:t>2024/11/3</a:t>
            </a:fld>
            <a:endParaRPr lang="zh-CN" altLang="en-US"/>
          </a:p>
        </p:txBody>
      </p:sp>
      <p:sp>
        <p:nvSpPr>
          <p:cNvPr id="12" name="灯片编号占位符 11"/>
          <p:cNvSpPr>
            <a:spLocks noGrp="1"/>
          </p:cNvSpPr>
          <p:nvPr>
            <p:ph type="sldNum" sz="quarter" idx="12"/>
          </p:nvPr>
        </p:nvSpPr>
        <p:spPr>
          <a:xfrm>
            <a:off x="3543300" y="6330951"/>
            <a:ext cx="2057400" cy="365125"/>
          </a:xfrm>
        </p:spPr>
        <p:txBody>
          <a:bodyPr/>
          <a:lstStyle>
            <a:lvl1pPr algn="ctr">
              <a:defRPr/>
            </a:lvl1pPr>
          </a:lstStyle>
          <a:p>
            <a:fld id="{4DBDE2CB-4801-494F-A0A4-D49D7080484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6541E-DE8D-4B0C-80C1-8295F826FE0C}" type="datetime1">
              <a:rPr lang="zh-CN" altLang="en-US" smtClean="0"/>
              <a:t>2024/11/3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DE2CB-4801-494F-A0A4-D49D708048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web.xidian.edu.cn/jfwang"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hyperlink" Target="https://www.zhihu.com/zvideo/1471193027721437184?utm_id=0"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7.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notesSlide" Target="../notesSlides/notesSlide34.xml"/><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notesSlide" Target="../notesSlides/notesSlide37.xml"/><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image" Target="../media/image47.sv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9888" r="9888" b="12474"/>
          <a:stretch>
            <a:fillRect/>
          </a:stretch>
        </p:blipFill>
        <p:spPr>
          <a:xfrm>
            <a:off x="0" y="818440"/>
            <a:ext cx="9144000" cy="6019800"/>
          </a:xfrm>
          <a:prstGeom prst="rect">
            <a:avLst/>
          </a:prstGeom>
        </p:spPr>
      </p:pic>
      <p:sp>
        <p:nvSpPr>
          <p:cNvPr id="3" name="矩形 2"/>
          <p:cNvSpPr/>
          <p:nvPr/>
        </p:nvSpPr>
        <p:spPr>
          <a:xfrm>
            <a:off x="-1" y="-19760"/>
            <a:ext cx="9144000" cy="6877760"/>
          </a:xfrm>
          <a:prstGeom prst="rect">
            <a:avLst/>
          </a:prstGeom>
          <a:gradFill>
            <a:gsLst>
              <a:gs pos="42000">
                <a:schemeClr val="bg1">
                  <a:alpha val="75000"/>
                </a:schemeClr>
              </a:gs>
              <a:gs pos="23000">
                <a:schemeClr val="bg1"/>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5240" y="4800781"/>
            <a:ext cx="9174480" cy="2075436"/>
            <a:chOff x="-15240" y="4117778"/>
            <a:chExt cx="9174480" cy="2758440"/>
          </a:xfrm>
        </p:grpSpPr>
        <p:grpSp>
          <p:nvGrpSpPr>
            <p:cNvPr id="12" name="组合 11"/>
            <p:cNvGrpSpPr/>
            <p:nvPr/>
          </p:nvGrpSpPr>
          <p:grpSpPr>
            <a:xfrm>
              <a:off x="-15240" y="4117778"/>
              <a:ext cx="9128760" cy="2758440"/>
              <a:chOff x="-15240" y="4117778"/>
              <a:chExt cx="9128760" cy="2758440"/>
            </a:xfrm>
          </p:grpSpPr>
          <p:sp>
            <p:nvSpPr>
              <p:cNvPr id="5" name="任意多边形: 形状 4"/>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任意多边形: 形状 10"/>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p:cNvGrpSpPr/>
            <p:nvPr/>
          </p:nvGrpSpPr>
          <p:grpSpPr>
            <a:xfrm flipH="1">
              <a:off x="30480" y="4117778"/>
              <a:ext cx="9128760" cy="2758440"/>
              <a:chOff x="-15240" y="4117778"/>
              <a:chExt cx="9128760" cy="2758440"/>
            </a:xfrm>
          </p:grpSpPr>
          <p:sp>
            <p:nvSpPr>
              <p:cNvPr id="14" name="任意多边形: 形状 13"/>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任意多边形: 形状 15"/>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任意多边形: 形状 17"/>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任意多边形: 形状 18"/>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1" name="组合 20"/>
          <p:cNvGrpSpPr/>
          <p:nvPr/>
        </p:nvGrpSpPr>
        <p:grpSpPr>
          <a:xfrm>
            <a:off x="2221762" y="1846432"/>
            <a:ext cx="4762842" cy="1289057"/>
            <a:chOff x="3714581" y="2503544"/>
            <a:chExt cx="4762842" cy="1289057"/>
          </a:xfrm>
        </p:grpSpPr>
        <p:sp>
          <p:nvSpPr>
            <p:cNvPr id="22" name="文本框 21"/>
            <p:cNvSpPr txBox="1"/>
            <p:nvPr/>
          </p:nvSpPr>
          <p:spPr>
            <a:xfrm>
              <a:off x="3714581" y="2503544"/>
              <a:ext cx="4762842" cy="923330"/>
            </a:xfrm>
            <a:prstGeom prst="rect">
              <a:avLst/>
            </a:prstGeom>
            <a:noFill/>
          </p:spPr>
          <p:txBody>
            <a:bodyPr wrap="none" rtlCol="0">
              <a:spAutoFit/>
            </a:bodyPr>
            <a:lstStyle/>
            <a:p>
              <a:pPr algn="ctr"/>
              <a:r>
                <a:rPr kumimoji="1" lang="zh-CN" altLang="en-US" sz="5400" b="1" spc="300" dirty="0">
                  <a:ln w="9525">
                    <a:noFill/>
                  </a:ln>
                  <a:solidFill>
                    <a:srgbClr val="C00000"/>
                  </a:solidFill>
                  <a:latin typeface="Arial" panose="020B0604020202020204" pitchFamily="34" charset="0"/>
                  <a:ea typeface="微软雅黑" panose="020B0503020204020204" pitchFamily="34" charset="-122"/>
                  <a:cs typeface="Arial" panose="020B0604020202020204" pitchFamily="34" charset="0"/>
                </a:rPr>
                <a:t>现 代 密 码 学</a:t>
              </a:r>
            </a:p>
          </p:txBody>
        </p:sp>
        <p:sp>
          <p:nvSpPr>
            <p:cNvPr id="24" name="文本框 23"/>
            <p:cNvSpPr txBox="1"/>
            <p:nvPr/>
          </p:nvSpPr>
          <p:spPr>
            <a:xfrm>
              <a:off x="3725138" y="3377103"/>
              <a:ext cx="4679359" cy="415498"/>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微软雅黑" panose="020B0503020204020204" pitchFamily="34" charset="-122"/>
                  <a:cs typeface="Arial" panose="020B0604020202020204" pitchFamily="34" charset="0"/>
                </a:rPr>
                <a:t>MODERN CRYPTOGRAPHY</a:t>
              </a:r>
              <a:endParaRPr kumimoji="1" lang="zh-CN" altLang="en-US" sz="2000" spc="4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grpSp>
      <p:pic>
        <p:nvPicPr>
          <p:cNvPr id="31" name="图片 30"/>
          <p:cNvPicPr>
            <a:picLocks noChangeAspect="1"/>
          </p:cNvPicPr>
          <p:nvPr/>
        </p:nvPicPr>
        <p:blipFill>
          <a:blip r:embed="rId4"/>
          <a:stretch>
            <a:fillRect/>
          </a:stretch>
        </p:blipFill>
        <p:spPr>
          <a:xfrm>
            <a:off x="335655" y="331579"/>
            <a:ext cx="2430253" cy="571825"/>
          </a:xfrm>
          <a:prstGeom prst="rect">
            <a:avLst/>
          </a:prstGeom>
        </p:spPr>
      </p:pic>
      <p:sp>
        <p:nvSpPr>
          <p:cNvPr id="6" name="副标题 5">
            <a:extLst>
              <a:ext uri="{FF2B5EF4-FFF2-40B4-BE49-F238E27FC236}">
                <a16:creationId xmlns:a16="http://schemas.microsoft.com/office/drawing/2014/main" id="{5FB4CE48-CE28-24E4-2D83-EEDB874CB555}"/>
              </a:ext>
            </a:extLst>
          </p:cNvPr>
          <p:cNvSpPr txBox="1">
            <a:spLocks/>
          </p:cNvSpPr>
          <p:nvPr/>
        </p:nvSpPr>
        <p:spPr>
          <a:xfrm>
            <a:off x="2229172" y="5216616"/>
            <a:ext cx="5040630" cy="15137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400" b="1" dirty="0">
                <a:latin typeface="+mn-ea"/>
              </a:rPr>
              <a:t>王剑锋</a:t>
            </a:r>
            <a:endParaRPr lang="en-US" altLang="zh-CN" sz="2400" b="1" dirty="0">
              <a:latin typeface="+mn-ea"/>
            </a:endParaRPr>
          </a:p>
          <a:p>
            <a:pPr marL="0" indent="0" algn="ctr">
              <a:buFont typeface="Arial" panose="020B0604020202020204" pitchFamily="34" charset="0"/>
              <a:buNone/>
            </a:pPr>
            <a:r>
              <a:rPr lang="zh-CN" altLang="en-US" sz="2000" b="1" dirty="0">
                <a:latin typeface="+mn-ea"/>
              </a:rPr>
              <a:t>网络与信息安全学院</a:t>
            </a:r>
            <a:endParaRPr lang="en-US" altLang="zh-CN" sz="2000" b="1" dirty="0">
              <a:latin typeface="+mn-ea"/>
            </a:endParaRPr>
          </a:p>
          <a:p>
            <a:pPr marL="0" indent="0" algn="ctr">
              <a:buFont typeface="Arial" panose="020B0604020202020204" pitchFamily="34" charset="0"/>
              <a:buNone/>
            </a:pPr>
            <a:r>
              <a:rPr lang="en-US" altLang="zh-CN" sz="2000" b="1"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http://web.xidian.edu.cn/jfwang</a:t>
            </a:r>
            <a:endParaRPr lang="en-US" altLang="zh-CN" sz="2000" b="1" dirty="0">
              <a:solidFill>
                <a:srgbClr val="0000FF"/>
              </a:solidFill>
              <a:latin typeface="+mn-ea"/>
            </a:endParaRPr>
          </a:p>
          <a:p>
            <a:pPr marL="0" indent="0" algn="ctr">
              <a:buFont typeface="Arial" panose="020B0604020202020204" pitchFamily="34" charset="0"/>
              <a:buNone/>
            </a:pPr>
            <a:endParaRPr lang="en-US" altLang="zh-CN" sz="1600"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目录</a:t>
            </a:r>
          </a:p>
        </p:txBody>
      </p:sp>
      <p:sp>
        <p:nvSpPr>
          <p:cNvPr id="4" name="灯片编号占位符 3"/>
          <p:cNvSpPr>
            <a:spLocks noGrp="1"/>
          </p:cNvSpPr>
          <p:nvPr>
            <p:ph type="sldNum" sz="quarter" idx="12"/>
          </p:nvPr>
        </p:nvSpPr>
        <p:spPr/>
        <p:txBody>
          <a:bodyPr/>
          <a:lstStyle/>
          <a:p>
            <a:fld id="{4DBDE2CB-4801-494F-A0A4-D49D70804842}" type="slidenum">
              <a:rPr lang="zh-CN" altLang="en-US" smtClean="0"/>
              <a:t>2</a:t>
            </a:fld>
            <a:endParaRPr lang="zh-CN" altLang="en-US"/>
          </a:p>
        </p:txBody>
      </p:sp>
      <p:grpSp>
        <p:nvGrpSpPr>
          <p:cNvPr id="2" name="组合 1"/>
          <p:cNvGrpSpPr/>
          <p:nvPr/>
        </p:nvGrpSpPr>
        <p:grpSpPr>
          <a:xfrm>
            <a:off x="882711" y="2022529"/>
            <a:ext cx="2821712" cy="3133617"/>
            <a:chOff x="882711" y="2022529"/>
            <a:chExt cx="2821712" cy="3133617"/>
          </a:xfrm>
        </p:grpSpPr>
        <p:grpSp>
          <p:nvGrpSpPr>
            <p:cNvPr id="21" name="组合 20"/>
            <p:cNvGrpSpPr/>
            <p:nvPr/>
          </p:nvGrpSpPr>
          <p:grpSpPr>
            <a:xfrm>
              <a:off x="882712" y="2022529"/>
              <a:ext cx="2821711" cy="3133617"/>
              <a:chOff x="2924436" y="1591950"/>
              <a:chExt cx="3295128" cy="3674100"/>
            </a:xfrm>
          </p:grpSpPr>
          <p:sp>
            <p:nvSpPr>
              <p:cNvPr id="23" name="任意多边形 7"/>
              <p:cNvSpPr/>
              <p:nvPr/>
            </p:nvSpPr>
            <p:spPr>
              <a:xfrm>
                <a:off x="2924436" y="1591950"/>
                <a:ext cx="3295128" cy="367410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solidFill>
                <a:srgbClr val="EEEEEE"/>
              </a:solidFill>
              <a:ln w="222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0" cap="none" spc="30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5" name="文本框 24"/>
              <p:cNvSpPr txBox="1"/>
              <p:nvPr/>
            </p:nvSpPr>
            <p:spPr>
              <a:xfrm>
                <a:off x="3126369" y="3755606"/>
                <a:ext cx="29101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sp>
          <p:nvSpPr>
            <p:cNvPr id="5" name="文本框 4"/>
            <p:cNvSpPr txBox="1"/>
            <p:nvPr/>
          </p:nvSpPr>
          <p:spPr>
            <a:xfrm>
              <a:off x="882711" y="2873756"/>
              <a:ext cx="2821711" cy="1431161"/>
            </a:xfrm>
            <a:prstGeom prst="rect">
              <a:avLst/>
            </a:prstGeom>
            <a:noFill/>
          </p:spPr>
          <p:txBody>
            <a:bodyPr wrap="square">
              <a:spAutoFit/>
            </a:bodyPr>
            <a:lstStyle/>
            <a:p>
              <a:pPr algn="ctr">
                <a:buClr>
                  <a:srgbClr val="C00000"/>
                </a:buClr>
              </a:pPr>
              <a:r>
                <a:rPr lang="zh-CN" altLang="en-US" sz="3600" b="1" dirty="0">
                  <a:solidFill>
                    <a:srgbClr val="C00000"/>
                  </a:solidFill>
                  <a:latin typeface="微软雅黑" panose="020B0503020204020204" pitchFamily="34" charset="-122"/>
                  <a:ea typeface="微软雅黑" panose="020B0503020204020204" pitchFamily="34" charset="-122"/>
                </a:rPr>
                <a:t>第七讲 </a:t>
              </a:r>
              <a:endParaRPr lang="en-US" altLang="zh-CN" sz="3600" b="1" dirty="0">
                <a:solidFill>
                  <a:srgbClr val="C00000"/>
                </a:solidFill>
                <a:latin typeface="微软雅黑" panose="020B0503020204020204" pitchFamily="34" charset="-122"/>
                <a:ea typeface="微软雅黑" panose="020B0503020204020204" pitchFamily="34" charset="-122"/>
              </a:endParaRPr>
            </a:p>
            <a:p>
              <a:pPr algn="ctr">
                <a:spcBef>
                  <a:spcPts val="1800"/>
                </a:spcBef>
                <a:buClr>
                  <a:srgbClr val="C00000"/>
                </a:buClr>
              </a:pPr>
              <a:r>
                <a:rPr lang="zh-CN" altLang="en-US" sz="3600" b="1" dirty="0">
                  <a:latin typeface="微软雅黑" panose="020B0503020204020204" pitchFamily="34" charset="-122"/>
                  <a:ea typeface="微软雅黑" panose="020B0503020204020204" pitchFamily="34" charset="-122"/>
                </a:rPr>
                <a:t>密码协议</a:t>
              </a:r>
            </a:p>
          </p:txBody>
        </p:sp>
      </p:grpSp>
      <p:sp>
        <p:nvSpPr>
          <p:cNvPr id="3" name="文本框 2"/>
          <p:cNvSpPr txBox="1"/>
          <p:nvPr/>
        </p:nvSpPr>
        <p:spPr>
          <a:xfrm>
            <a:off x="4682490" y="786130"/>
            <a:ext cx="3836035" cy="5909310"/>
          </a:xfrm>
          <a:prstGeom prst="rect">
            <a:avLst/>
          </a:prstGeom>
          <a:noFill/>
        </p:spPr>
        <p:txBody>
          <a:bodyPr wrap="square" rtlCol="0" anchor="ctr" anchorCtr="0">
            <a:noAutofit/>
          </a:bodyPr>
          <a:lstStyle/>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协议基本概念</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秘密共享协议</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电话投币协议</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选择分割协议</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514350" indent="-514350">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承诺协议</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514350" indent="-514350">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零知识证明协议</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安全多方计算协议</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不经意传输协议</a:t>
            </a:r>
          </a:p>
          <a:p>
            <a:pPr marL="514350" indent="-514350" algn="l">
              <a:lnSpc>
                <a:spcPct val="150000"/>
              </a:lnSpc>
              <a:buClr>
                <a:srgbClr val="0000FF"/>
              </a:buClr>
              <a:buFont typeface="+mj-lt"/>
              <a:buAutoNum type="arabicPeriod"/>
            </a:pP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金融密码协议</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协议基本概念</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1.1 </a:t>
            </a:r>
            <a:r>
              <a:rPr lang="zh-CN" altLang="en-US" sz="2400" b="1" dirty="0">
                <a:solidFill>
                  <a:srgbClr val="FF0000"/>
                </a:solidFill>
                <a:latin typeface="+mn-ea"/>
              </a:rPr>
              <a:t>协议的概念</a:t>
            </a:r>
          </a:p>
        </p:txBody>
      </p:sp>
      <p:sp>
        <p:nvSpPr>
          <p:cNvPr id="5" name="文本框 4"/>
          <p:cNvSpPr txBox="1"/>
          <p:nvPr/>
        </p:nvSpPr>
        <p:spPr>
          <a:xfrm>
            <a:off x="312516" y="1551642"/>
            <a:ext cx="8479946" cy="4961871"/>
          </a:xfrm>
          <a:prstGeom prst="rect">
            <a:avLst/>
          </a:prstGeom>
          <a:noFill/>
        </p:spPr>
        <p:txBody>
          <a:bodyPr wrap="square" rtlCol="0">
            <a:spAutoFit/>
          </a:bodyPr>
          <a:lstStyle/>
          <a:p>
            <a:pPr algn="just">
              <a:lnSpc>
                <a:spcPct val="150000"/>
              </a:lnSpc>
              <a:spcBef>
                <a:spcPts val="600"/>
              </a:spcBef>
            </a:pPr>
            <a:r>
              <a:rPr lang="zh-CN" altLang="en-US" sz="2000" b="1" dirty="0">
                <a:solidFill>
                  <a:srgbClr val="0000FF"/>
                </a:solidFill>
              </a:rPr>
              <a:t>协议 </a:t>
            </a:r>
            <a:r>
              <a:rPr lang="en-US" altLang="zh-CN" sz="2000" b="1" dirty="0">
                <a:solidFill>
                  <a:srgbClr val="0000FF"/>
                </a:solidFill>
              </a:rPr>
              <a:t>(</a:t>
            </a:r>
            <a:r>
              <a:rPr lang="en-US" altLang="zh-CN" sz="2000" b="1" dirty="0">
                <a:solidFill>
                  <a:srgbClr val="0000FF"/>
                </a:solidFill>
                <a:latin typeface="Times New Roman" panose="02020603050405020304" pitchFamily="18" charset="0"/>
                <a:cs typeface="Times New Roman" panose="02020603050405020304" pitchFamily="18" charset="0"/>
              </a:rPr>
              <a:t>Protocol</a:t>
            </a:r>
            <a:r>
              <a:rPr lang="en-US" altLang="zh-CN" sz="2000" b="1" dirty="0">
                <a:solidFill>
                  <a:srgbClr val="0000FF"/>
                </a:solidFill>
              </a:rPr>
              <a:t>) </a:t>
            </a:r>
            <a:r>
              <a:rPr lang="zh-CN" altLang="en-US" sz="2000" dirty="0"/>
              <a:t>，就是两个或两个以上的参与者为完成某项特定的任务而采取的一系列步骤。</a:t>
            </a:r>
            <a:endParaRPr lang="en-US" altLang="zh-CN" sz="2000" dirty="0"/>
          </a:p>
          <a:p>
            <a:pPr algn="just">
              <a:lnSpc>
                <a:spcPct val="150000"/>
              </a:lnSpc>
              <a:spcBef>
                <a:spcPts val="600"/>
              </a:spcBef>
            </a:pPr>
            <a:r>
              <a:rPr lang="zh-CN" altLang="en-US" sz="2000" dirty="0"/>
              <a:t>算法也有类似的定义。</a:t>
            </a:r>
            <a:r>
              <a:rPr lang="zh-CN" altLang="en-US" sz="2000" dirty="0">
                <a:solidFill>
                  <a:srgbClr val="0000FF"/>
                </a:solidFill>
              </a:rPr>
              <a:t>协议和算法的主要区别主要有</a:t>
            </a:r>
            <a:r>
              <a:rPr lang="zh-CN" altLang="en-US" sz="2000" dirty="0"/>
              <a:t>：</a:t>
            </a:r>
          </a:p>
          <a:p>
            <a:pPr marL="342900" indent="-342900" algn="just">
              <a:lnSpc>
                <a:spcPct val="150000"/>
              </a:lnSpc>
              <a:spcBef>
                <a:spcPts val="600"/>
              </a:spcBef>
              <a:buFont typeface="Wingdings" panose="05000000000000000000" pitchFamily="2" charset="2"/>
              <a:buChar char="l"/>
            </a:pPr>
            <a:r>
              <a:rPr lang="zh-CN" altLang="en-US" sz="1900" dirty="0"/>
              <a:t>第一，协议自始至终是有序的过程，每一步骤必须依次执行。在前一步没有执行完之前，后面的步骤不可能执行；而算法有可能是</a:t>
            </a:r>
            <a:r>
              <a:rPr lang="zh-CN" altLang="en-US" sz="1900" dirty="0">
                <a:solidFill>
                  <a:srgbClr val="FF0000"/>
                </a:solidFill>
              </a:rPr>
              <a:t>并行</a:t>
            </a:r>
            <a:r>
              <a:rPr lang="zh-CN" altLang="en-US" sz="1900" dirty="0"/>
              <a:t>的。</a:t>
            </a:r>
            <a:endParaRPr lang="en-US" altLang="zh-CN" sz="1900" dirty="0"/>
          </a:p>
          <a:p>
            <a:pPr marL="342900" indent="-342900" algn="just">
              <a:lnSpc>
                <a:spcPct val="150000"/>
              </a:lnSpc>
              <a:spcBef>
                <a:spcPts val="600"/>
              </a:spcBef>
              <a:buFont typeface="Wingdings" panose="05000000000000000000" pitchFamily="2" charset="2"/>
              <a:buChar char="l"/>
            </a:pPr>
            <a:r>
              <a:rPr lang="zh-CN" altLang="en-US" sz="1900" dirty="0"/>
              <a:t>第二，协议至少需要两个参与者。</a:t>
            </a:r>
            <a:r>
              <a:rPr lang="zh-CN" altLang="en-US" sz="1900" dirty="0">
                <a:solidFill>
                  <a:srgbClr val="FF0000"/>
                </a:solidFill>
              </a:rPr>
              <a:t>一个人</a:t>
            </a:r>
            <a:r>
              <a:rPr lang="zh-CN" altLang="en-US" sz="1900" dirty="0"/>
              <a:t>可以通过执行一系列的步骤来完成某项任务，但它不构成协议；但算法不同，如排序算法。</a:t>
            </a:r>
            <a:endParaRPr lang="en-US" altLang="zh-CN" sz="1900" dirty="0"/>
          </a:p>
          <a:p>
            <a:pPr marL="342900" indent="-342900" algn="just">
              <a:lnSpc>
                <a:spcPct val="150000"/>
              </a:lnSpc>
              <a:spcBef>
                <a:spcPts val="600"/>
              </a:spcBef>
              <a:buFont typeface="Wingdings" panose="05000000000000000000" pitchFamily="2" charset="2"/>
              <a:buChar char="l"/>
            </a:pPr>
            <a:r>
              <a:rPr lang="zh-CN" altLang="en-US" sz="1900" dirty="0"/>
              <a:t>第三，通过执行协议必须能够完成某项</a:t>
            </a:r>
            <a:r>
              <a:rPr lang="zh-CN" altLang="en-US" sz="1900" dirty="0">
                <a:solidFill>
                  <a:srgbClr val="FF0000"/>
                </a:solidFill>
              </a:rPr>
              <a:t>任务</a:t>
            </a:r>
            <a:r>
              <a:rPr lang="zh-CN" altLang="en-US" sz="1900" dirty="0"/>
              <a:t>。即使某些东西看似协议，但没有完成任何任务，也不能成为协议，只不过是浪费时间的空操作。而算法可能有死循环，不会有任何结果。</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协议的基本概念</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1.2 </a:t>
            </a:r>
            <a:r>
              <a:rPr lang="zh-CN" altLang="en-US" sz="2400" b="1" dirty="0">
                <a:solidFill>
                  <a:srgbClr val="FF0000"/>
                </a:solidFill>
                <a:latin typeface="+mn-ea"/>
              </a:rPr>
              <a:t>协议的特点</a:t>
            </a:r>
          </a:p>
        </p:txBody>
      </p:sp>
      <p:sp>
        <p:nvSpPr>
          <p:cNvPr id="7" name="文本框 6"/>
          <p:cNvSpPr txBox="1"/>
          <p:nvPr/>
        </p:nvSpPr>
        <p:spPr>
          <a:xfrm>
            <a:off x="423740" y="1480765"/>
            <a:ext cx="8479945" cy="3431709"/>
          </a:xfrm>
          <a:prstGeom prst="rect">
            <a:avLst/>
          </a:prstGeom>
          <a:noFill/>
        </p:spPr>
        <p:txBody>
          <a:bodyPr wrap="square" rtlCol="0">
            <a:spAutoFit/>
          </a:bodyPr>
          <a:lstStyle/>
          <a:p>
            <a:pPr algn="just">
              <a:lnSpc>
                <a:spcPct val="150000"/>
              </a:lnSpc>
              <a:spcBef>
                <a:spcPts val="600"/>
              </a:spcBef>
            </a:pPr>
            <a:r>
              <a:rPr lang="zh-CN" altLang="en-US" sz="2000" b="1" dirty="0">
                <a:solidFill>
                  <a:srgbClr val="0000FF"/>
                </a:solidFill>
              </a:rPr>
              <a:t>一个良好的协议</a:t>
            </a:r>
            <a:r>
              <a:rPr lang="zh-CN" altLang="en-US" sz="2000" dirty="0"/>
              <a:t>应该具有以下特点：</a:t>
            </a:r>
            <a:endParaRPr lang="en-US" altLang="zh-CN" sz="2000" dirty="0"/>
          </a:p>
          <a:p>
            <a:pPr marL="342900" indent="-342900" algn="just">
              <a:lnSpc>
                <a:spcPct val="150000"/>
              </a:lnSpc>
              <a:spcBef>
                <a:spcPts val="600"/>
              </a:spcBef>
              <a:buFont typeface="Wingdings" panose="05000000000000000000" pitchFamily="2" charset="2"/>
              <a:buChar char="l"/>
            </a:pPr>
            <a:r>
              <a:rPr lang="zh-CN" altLang="en-US" dirty="0"/>
              <a:t>协议涉及的每一方必须同意遵守协议； </a:t>
            </a:r>
            <a:endParaRPr lang="en-US" altLang="zh-CN" dirty="0"/>
          </a:p>
          <a:p>
            <a:pPr marL="342900" indent="-342900" algn="just">
              <a:lnSpc>
                <a:spcPct val="150000"/>
              </a:lnSpc>
              <a:spcBef>
                <a:spcPts val="600"/>
              </a:spcBef>
              <a:buFont typeface="Wingdings" panose="05000000000000000000" pitchFamily="2" charset="2"/>
              <a:buChar char="l"/>
            </a:pPr>
            <a:r>
              <a:rPr lang="zh-CN" altLang="en-US" dirty="0"/>
              <a:t>协议涉及的每一方必须事先知道此协议以及要执行的所有步骤； </a:t>
            </a:r>
            <a:endParaRPr lang="en-US" altLang="zh-CN" dirty="0"/>
          </a:p>
          <a:p>
            <a:pPr marL="342900" indent="-342900" algn="just">
              <a:lnSpc>
                <a:spcPct val="150000"/>
              </a:lnSpc>
              <a:spcBef>
                <a:spcPts val="600"/>
              </a:spcBef>
              <a:buFont typeface="Wingdings" panose="05000000000000000000" pitchFamily="2" charset="2"/>
              <a:buChar char="l"/>
            </a:pPr>
            <a:r>
              <a:rPr lang="zh-CN" altLang="en-US" dirty="0"/>
              <a:t>协议必须是非模糊的。对协议的每一步都必须确切定义，避免产生误解；</a:t>
            </a:r>
            <a:endParaRPr lang="en-US" altLang="zh-CN" dirty="0"/>
          </a:p>
          <a:p>
            <a:pPr marL="342900" indent="-342900" algn="just">
              <a:lnSpc>
                <a:spcPct val="150000"/>
              </a:lnSpc>
              <a:spcBef>
                <a:spcPts val="600"/>
              </a:spcBef>
              <a:buFont typeface="Wingdings" panose="05000000000000000000" pitchFamily="2" charset="2"/>
              <a:buChar char="l"/>
            </a:pPr>
            <a:r>
              <a:rPr lang="zh-CN" altLang="en-US" dirty="0"/>
              <a:t>协议必须是完整的。对每一种可能发生的情况都要作出响应；</a:t>
            </a:r>
            <a:endParaRPr lang="en-US" altLang="zh-CN" dirty="0"/>
          </a:p>
          <a:p>
            <a:pPr marL="342900" indent="-342900" algn="just">
              <a:lnSpc>
                <a:spcPct val="150000"/>
              </a:lnSpc>
              <a:spcBef>
                <a:spcPts val="600"/>
              </a:spcBef>
              <a:buFont typeface="Wingdings" panose="05000000000000000000" pitchFamily="2" charset="2"/>
              <a:buChar char="l"/>
            </a:pPr>
            <a:r>
              <a:rPr lang="zh-CN" altLang="en-US" dirty="0"/>
              <a:t>每一步操作要么是由一方或多方进行计算，要么是在各方之间进行消息传递，二者必居其一。</a:t>
            </a:r>
          </a:p>
        </p:txBody>
      </p:sp>
      <p:sp>
        <p:nvSpPr>
          <p:cNvPr id="4" name="文本框 3"/>
          <p:cNvSpPr txBox="1"/>
          <p:nvPr/>
        </p:nvSpPr>
        <p:spPr>
          <a:xfrm>
            <a:off x="423739" y="5245199"/>
            <a:ext cx="8479946" cy="1195135"/>
          </a:xfrm>
          <a:prstGeom prst="rect">
            <a:avLst/>
          </a:prstGeom>
          <a:noFill/>
        </p:spPr>
        <p:txBody>
          <a:bodyPr wrap="square" rtlCol="0">
            <a:spAutoFit/>
          </a:bodyPr>
          <a:lstStyle/>
          <a:p>
            <a:pPr algn="just">
              <a:lnSpc>
                <a:spcPct val="130000"/>
              </a:lnSpc>
              <a:spcBef>
                <a:spcPts val="600"/>
              </a:spcBef>
            </a:pPr>
            <a:r>
              <a:rPr lang="zh-CN" altLang="en-US" sz="1900" b="1" dirty="0">
                <a:solidFill>
                  <a:srgbClr val="0000FF"/>
                </a:solidFill>
              </a:rPr>
              <a:t>密码协议 </a:t>
            </a:r>
            <a:r>
              <a:rPr lang="en-US" altLang="zh-CN" sz="1900" b="1" dirty="0">
                <a:solidFill>
                  <a:srgbClr val="0000FF"/>
                </a:solidFill>
              </a:rPr>
              <a:t>(</a:t>
            </a:r>
            <a:r>
              <a:rPr lang="en-US" altLang="zh-CN" sz="1900" b="1" dirty="0">
                <a:solidFill>
                  <a:srgbClr val="0000FF"/>
                </a:solidFill>
                <a:latin typeface="Times New Roman" panose="02020603050405020304" pitchFamily="18" charset="0"/>
                <a:cs typeface="Times New Roman" panose="02020603050405020304" pitchFamily="18" charset="0"/>
              </a:rPr>
              <a:t>Cryptographic Protocol) </a:t>
            </a:r>
            <a:r>
              <a:rPr lang="zh-CN" altLang="en-US" sz="1900" dirty="0"/>
              <a:t>是建立在密码技术基础上，运行在计算机网络或分布式系统中，为安全需求的各方提供的一种协议，其目的是借助于密码技术来解决网络安全问题。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5</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2.1 </a:t>
            </a:r>
            <a:r>
              <a:rPr lang="zh-CN" altLang="en-US" sz="2400" b="1" dirty="0">
                <a:solidFill>
                  <a:srgbClr val="FF0000"/>
                </a:solidFill>
                <a:latin typeface="+mn-ea"/>
              </a:rPr>
              <a:t>秘密共享协议的基本概念</a:t>
            </a:r>
          </a:p>
        </p:txBody>
      </p:sp>
      <mc:AlternateContent xmlns:mc="http://schemas.openxmlformats.org/markup-compatibility/2006">
        <mc:Choice xmlns:a14="http://schemas.microsoft.com/office/drawing/2010/main" Requires="a14">
          <p:sp>
            <p:nvSpPr>
              <p:cNvPr id="9" name="文本框 8"/>
              <p:cNvSpPr txBox="1"/>
              <p:nvPr/>
            </p:nvSpPr>
            <p:spPr>
              <a:xfrm>
                <a:off x="312517" y="1812936"/>
                <a:ext cx="8479945" cy="3939540"/>
              </a:xfrm>
              <a:prstGeom prst="rect">
                <a:avLst/>
              </a:prstGeom>
              <a:noFill/>
            </p:spPr>
            <p:txBody>
              <a:bodyPr wrap="square" rtlCol="0">
                <a:spAutoFit/>
              </a:bodyPr>
              <a:lstStyle/>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“海盗分割藏宝图”是秘密共享方案的原始模型。设共有个</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𝑛</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海盗有权参加宝物分配，为了防止独吞或联手作弊，规定至少</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𝑡</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个人同时到场才能找到宝物，而</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𝑡</m:t>
                    </m:r>
                    <m:r>
                      <a:rPr lang="en-US" altLang="zh-CN" sz="2000" b="0" i="1" smtClean="0">
                        <a:latin typeface="Cambria Math" panose="02040503050406030204" pitchFamily="18" charset="0"/>
                        <a:cs typeface="Times New Roman" panose="02020603050405020304" pitchFamily="18" charset="0"/>
                      </a:rPr>
                      <m:t>−1</m:t>
                    </m:r>
                    <m:r>
                      <a:rPr lang="en-US" altLang="zh-CN" sz="2000" b="0" i="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个人及以下同时到场是不能找到宝物的。恰当地分割藏宝图就是解决这个问题的有效方法。</a:t>
                </a:r>
                <a:endParaRPr lang="en-US" altLang="zh-CN" sz="2000" dirty="0">
                  <a:latin typeface="Times New Roman" panose="02020603050405020304" pitchFamily="18" charset="0"/>
                  <a:cs typeface="Times New Roman" panose="02020603050405020304" pitchFamily="18" charset="0"/>
                </a:endParaRPr>
              </a:p>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如果一个秘密被分成了 𝑛 份，任何 𝑡（</a:t>
                </a:r>
                <a:r>
                  <a:rPr lang="zh-CN" altLang="en-US" sz="2000" dirty="0">
                    <a:solidFill>
                      <a:srgbClr val="FF0000"/>
                    </a:solidFill>
                    <a:latin typeface="Times New Roman" panose="02020603050405020304" pitchFamily="18" charset="0"/>
                    <a:cs typeface="Times New Roman" panose="02020603050405020304" pitchFamily="18" charset="0"/>
                  </a:rPr>
                  <a:t>门限值</a:t>
                </a:r>
                <a:r>
                  <a:rPr lang="zh-CN" altLang="en-US" sz="2000" dirty="0">
                    <a:latin typeface="Times New Roman" panose="02020603050405020304" pitchFamily="18" charset="0"/>
                    <a:cs typeface="Times New Roman" panose="02020603050405020304" pitchFamily="18" charset="0"/>
                  </a:rPr>
                  <a:t>）份合并在一起，都能复原秘密，那么这种秘密共享机制称为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𝑡</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𝑛</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门限秘密共享机制。</a:t>
                </a:r>
              </a:p>
              <a:p>
                <a:pPr algn="just">
                  <a:lnSpc>
                    <a:spcPct val="15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秘密共享协议 </a:t>
                </a:r>
                <a:r>
                  <a:rPr lang="en-US" altLang="zh-CN" sz="2000" b="1" dirty="0">
                    <a:solidFill>
                      <a:srgbClr val="0000FF"/>
                    </a:solidFill>
                    <a:latin typeface="Times New Roman" panose="02020603050405020304" pitchFamily="18" charset="0"/>
                    <a:cs typeface="Times New Roman" panose="02020603050405020304" pitchFamily="18" charset="0"/>
                  </a:rPr>
                  <a:t>(Secret Sharing Protocol) </a:t>
                </a:r>
                <a:r>
                  <a:rPr lang="zh-CN" altLang="en-US" sz="2000" dirty="0">
                    <a:latin typeface="Times New Roman" panose="02020603050405020304" pitchFamily="18" charset="0"/>
                    <a:cs typeface="Times New Roman" panose="02020603050405020304" pitchFamily="18" charset="0"/>
                  </a:rPr>
                  <a:t>可以阻止秘密过于集中，从而达到分散风险和容忍入侵的目的，是信息安全和数据保密的重要手段。</a:t>
                </a:r>
              </a:p>
            </p:txBody>
          </p:sp>
        </mc:Choice>
        <mc:Fallback>
          <p:sp>
            <p:nvSpPr>
              <p:cNvPr id="9" name="文本框 8"/>
              <p:cNvSpPr txBox="1">
                <a:spLocks noRot="1" noChangeAspect="1" noMove="1" noResize="1" noEditPoints="1" noAdjustHandles="1" noChangeArrowheads="1" noChangeShapeType="1" noTextEdit="1"/>
              </p:cNvSpPr>
              <p:nvPr/>
            </p:nvSpPr>
            <p:spPr>
              <a:xfrm>
                <a:off x="312517" y="1812936"/>
                <a:ext cx="8479945" cy="3939540"/>
              </a:xfrm>
              <a:prstGeom prst="rect">
                <a:avLst/>
              </a:prstGeom>
              <a:blipFill>
                <a:blip r:embed="rId4"/>
                <a:stretch>
                  <a:fillRect l="-747" r="-747" b="-321"/>
                </a:stretch>
              </a:blipFill>
            </p:spPr>
            <p:txBody>
              <a:bodyPr/>
              <a:lstStyle/>
              <a:p>
                <a:r>
                  <a:rPr lang="zh-CN" altLang="en-US">
                    <a:noFill/>
                  </a:rPr>
                  <a:t> </a:t>
                </a:r>
              </a:p>
            </p:txBody>
          </p:sp>
        </mc:Fallback>
      </mc:AlternateContent>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5F72E-489F-ABFB-D0A5-1DEFB792EDF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BCA1FC-AAA8-6082-31B6-C48A98E68866}"/>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a:extLst>
              <a:ext uri="{FF2B5EF4-FFF2-40B4-BE49-F238E27FC236}">
                <a16:creationId xmlns:a16="http://schemas.microsoft.com/office/drawing/2014/main" id="{9862D569-24C1-885C-B9A6-D15CC2C3FE3E}"/>
              </a:ext>
            </a:extLst>
          </p:cNvPr>
          <p:cNvSpPr>
            <a:spLocks noGrp="1"/>
          </p:cNvSpPr>
          <p:nvPr>
            <p:ph type="sldNum" sz="quarter" idx="12"/>
          </p:nvPr>
        </p:nvSpPr>
        <p:spPr/>
        <p:txBody>
          <a:bodyPr/>
          <a:lstStyle/>
          <a:p>
            <a:fld id="{4DBDE2CB-4801-494F-A0A4-D49D70804842}" type="slidenum">
              <a:rPr lang="zh-CN" altLang="en-US" smtClean="0"/>
              <a:t>6</a:t>
            </a:fld>
            <a:endParaRPr lang="zh-CN" altLang="en-US"/>
          </a:p>
        </p:txBody>
      </p:sp>
      <p:sp>
        <p:nvSpPr>
          <p:cNvPr id="6" name="文本框 5">
            <a:extLst>
              <a:ext uri="{FF2B5EF4-FFF2-40B4-BE49-F238E27FC236}">
                <a16:creationId xmlns:a16="http://schemas.microsoft.com/office/drawing/2014/main" id="{DAA461F3-0E0F-E2C2-3250-815DA3A3D1D8}"/>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2.1 </a:t>
            </a:r>
            <a:r>
              <a:rPr lang="zh-CN" altLang="en-US" sz="2400" b="1" dirty="0">
                <a:solidFill>
                  <a:srgbClr val="FF0000"/>
                </a:solidFill>
                <a:latin typeface="+mn-ea"/>
              </a:rPr>
              <a:t>秘密共享协议的基本概念</a:t>
            </a:r>
          </a:p>
        </p:txBody>
      </p:sp>
      <p:sp>
        <p:nvSpPr>
          <p:cNvPr id="9" name="文本框 8">
            <a:extLst>
              <a:ext uri="{FF2B5EF4-FFF2-40B4-BE49-F238E27FC236}">
                <a16:creationId xmlns:a16="http://schemas.microsoft.com/office/drawing/2014/main" id="{974C351F-D529-81A5-FC35-4E63B5E121ED}"/>
              </a:ext>
            </a:extLst>
          </p:cNvPr>
          <p:cNvSpPr txBox="1"/>
          <p:nvPr/>
        </p:nvSpPr>
        <p:spPr>
          <a:xfrm>
            <a:off x="312517" y="1645671"/>
            <a:ext cx="8479945" cy="4708981"/>
          </a:xfrm>
          <a:prstGeom prst="rect">
            <a:avLst/>
          </a:prstGeom>
          <a:noFill/>
        </p:spPr>
        <p:txBody>
          <a:bodyPr wrap="square" rtlCol="0">
            <a:spAutoFit/>
          </a:bodyPr>
          <a:lstStyle/>
          <a:p>
            <a:pPr>
              <a:buFont typeface="Wingdings" pitchFamily="2" charset="2"/>
              <a:buNone/>
            </a:pPr>
            <a:r>
              <a:rPr lang="zh-CN" altLang="en-US" sz="2000" dirty="0">
                <a:latin typeface="Times New Roman" panose="02020603050405020304" pitchFamily="18" charset="0"/>
                <a:cs typeface="Times New Roman" panose="02020603050405020304" pitchFamily="18" charset="0"/>
              </a:rPr>
              <a:t>“</a:t>
            </a:r>
            <a:r>
              <a:rPr lang="zh-CN" altLang="en-US" sz="2000" dirty="0"/>
              <a:t>秘密共享方案有多种用途。比如：</a:t>
            </a:r>
          </a:p>
          <a:p>
            <a:pPr>
              <a:buFont typeface="Wingdings" pitchFamily="2" charset="2"/>
              <a:buNone/>
            </a:pPr>
            <a:endParaRPr lang="zh-CN" altLang="en-US" sz="2000" dirty="0"/>
          </a:p>
          <a:p>
            <a:pPr marL="342900" indent="-342900">
              <a:buClr>
                <a:schemeClr val="tx1"/>
              </a:buClr>
              <a:buFont typeface="Wingdings" pitchFamily="2" charset="2"/>
              <a:buChar char="p"/>
            </a:pPr>
            <a:r>
              <a:rPr lang="zh-CN" altLang="en-US" sz="2000" b="1" dirty="0">
                <a:solidFill>
                  <a:srgbClr val="006600"/>
                </a:solidFill>
                <a:ea typeface="黑体" panose="02010609060101010101" pitchFamily="49" charset="-122"/>
              </a:rPr>
              <a:t>遗产的分配与公证。</a:t>
            </a:r>
            <a:endParaRPr lang="en-US" altLang="zh-CN" sz="2000" b="1" dirty="0">
              <a:solidFill>
                <a:srgbClr val="006600"/>
              </a:solidFill>
              <a:ea typeface="黑体" panose="02010609060101010101" pitchFamily="49" charset="-122"/>
            </a:endParaRPr>
          </a:p>
          <a:p>
            <a:pPr marL="342900" indent="-342900">
              <a:buClr>
                <a:schemeClr val="tx1"/>
              </a:buClr>
              <a:buFont typeface="Wingdings" pitchFamily="2" charset="2"/>
              <a:buChar char="p"/>
            </a:pPr>
            <a:r>
              <a:rPr lang="zh-CN" altLang="en-US" sz="2000" b="1" dirty="0">
                <a:solidFill>
                  <a:srgbClr val="006600"/>
                </a:solidFill>
                <a:ea typeface="黑体" panose="02010609060101010101" pitchFamily="49" charset="-122"/>
              </a:rPr>
              <a:t>多用户通信。</a:t>
            </a:r>
            <a:endParaRPr lang="en-US" altLang="zh-CN" sz="2000" b="1" dirty="0">
              <a:solidFill>
                <a:srgbClr val="006600"/>
              </a:solidFill>
              <a:ea typeface="黑体" panose="02010609060101010101" pitchFamily="49" charset="-122"/>
            </a:endParaRPr>
          </a:p>
          <a:p>
            <a:pPr marL="342900" indent="-342900">
              <a:buClr>
                <a:schemeClr val="tx1"/>
              </a:buClr>
              <a:buFont typeface="Wingdings" pitchFamily="2" charset="2"/>
              <a:buChar char="p"/>
            </a:pPr>
            <a:r>
              <a:rPr lang="zh-CN" altLang="en-US" sz="2000" b="1" dirty="0">
                <a:solidFill>
                  <a:srgbClr val="006600"/>
                </a:solidFill>
                <a:ea typeface="黑体" panose="02010609060101010101" pitchFamily="49" charset="-122"/>
              </a:rPr>
              <a:t>电子商务中的各种交易方案。</a:t>
            </a:r>
            <a:endParaRPr lang="en-US" altLang="zh-CN" sz="2000" b="1" dirty="0">
              <a:solidFill>
                <a:srgbClr val="006600"/>
              </a:solidFill>
              <a:ea typeface="黑体" panose="02010609060101010101" pitchFamily="49" charset="-122"/>
            </a:endParaRPr>
          </a:p>
          <a:p>
            <a:pPr marL="342900" indent="-342900">
              <a:buClr>
                <a:schemeClr val="tx1"/>
              </a:buClr>
              <a:buFont typeface="Wingdings" pitchFamily="2" charset="2"/>
              <a:buChar char="p"/>
            </a:pPr>
            <a:r>
              <a:rPr lang="zh-CN" altLang="en-US" sz="2000" b="1" dirty="0">
                <a:solidFill>
                  <a:srgbClr val="006600"/>
                </a:solidFill>
                <a:ea typeface="黑体" panose="02010609060101010101" pitchFamily="49" charset="-122"/>
              </a:rPr>
              <a:t>重大决策的控制阀（如核按钮等）</a:t>
            </a:r>
            <a:endParaRPr lang="en-US" altLang="zh-CN" sz="2000" b="1" dirty="0">
              <a:solidFill>
                <a:srgbClr val="006600"/>
              </a:solidFill>
              <a:ea typeface="黑体" panose="02010609060101010101" pitchFamily="49" charset="-122"/>
            </a:endParaRPr>
          </a:p>
          <a:p>
            <a:pPr marL="342900" indent="-342900">
              <a:buClr>
                <a:schemeClr val="tx1"/>
              </a:buClr>
              <a:buFont typeface="Wingdings" pitchFamily="2" charset="2"/>
              <a:buChar char="p"/>
            </a:pPr>
            <a:endParaRPr lang="en-US" altLang="zh-CN" b="1" dirty="0">
              <a:solidFill>
                <a:srgbClr val="006600"/>
              </a:solidFill>
              <a:latin typeface="Times New Roman" panose="02020603050405020304" pitchFamily="18" charset="0"/>
              <a:ea typeface="黑体" panose="02010609060101010101" pitchFamily="49" charset="-122"/>
              <a:cs typeface="Times New Roman" panose="02020603050405020304" pitchFamily="18" charset="0"/>
            </a:endParaRP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例：一个最简单的秘密共享方案</a:t>
            </a: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设保险柜有三把锁，分别编号为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①</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②</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③</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张三拥有</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①</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②</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号锁的钥匙。</a:t>
            </a: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李四拥有</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①</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③</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号锁的钥匙。</a:t>
            </a: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王五拥有</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②</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③</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号锁的钥匙。</a:t>
            </a: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三个人中，任何两个以上的人同时到场均可以打开保险柜；任何一个以下的人到场均打不开保险柜。</a:t>
            </a:r>
          </a:p>
          <a:p>
            <a:pPr>
              <a:buClr>
                <a:schemeClr val="tx1"/>
              </a:buCl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此处，一个秘密指的是“</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①</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②</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③</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号锁的钥匙”；</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（个人）；门限值</a:t>
            </a:r>
            <a:r>
              <a:rPr lang="en-US" altLang="zh-CN" dirty="0">
                <a:latin typeface="Times New Roman" panose="02020603050405020304" pitchFamily="18" charset="0"/>
                <a:ea typeface="黑体" panose="02010609060101010101" pitchFamily="49" charset="-122"/>
                <a:cs typeface="Times New Roman" panose="02020603050405020304" pitchFamily="18" charset="0"/>
              </a:rPr>
              <a:t>t=2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（个人）。</a:t>
            </a:r>
          </a:p>
        </p:txBody>
      </p:sp>
      <p:sp>
        <p:nvSpPr>
          <p:cNvPr id="4" name="文本框 3">
            <a:extLst>
              <a:ext uri="{FF2B5EF4-FFF2-40B4-BE49-F238E27FC236}">
                <a16:creationId xmlns:a16="http://schemas.microsoft.com/office/drawing/2014/main" id="{4E4F16C0-5B0F-623A-D97B-523F33EDE0C3}"/>
              </a:ext>
            </a:extLst>
          </p:cNvPr>
          <p:cNvSpPr txBox="1"/>
          <p:nvPr/>
        </p:nvSpPr>
        <p:spPr>
          <a:xfrm>
            <a:off x="794397" y="2962814"/>
            <a:ext cx="184731" cy="369332"/>
          </a:xfrm>
          <a:prstGeom prst="rect">
            <a:avLst/>
          </a:prstGeom>
          <a:noFill/>
        </p:spPr>
        <p:txBody>
          <a:bodyPr wrap="none" rtlCol="0">
            <a:spAutoFit/>
          </a:bodyPr>
          <a:lstStyle/>
          <a:p>
            <a:endParaRPr lang="zh-CN" altLang="en-US" dirty="0"/>
          </a:p>
        </p:txBody>
      </p:sp>
    </p:spTree>
    <p:custDataLst>
      <p:tags r:id="rId1"/>
    </p:custDataLst>
    <p:extLst>
      <p:ext uri="{BB962C8B-B14F-4D97-AF65-F5344CB8AC3E}">
        <p14:creationId xmlns:p14="http://schemas.microsoft.com/office/powerpoint/2010/main" val="3427254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7</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a:t>
            </a:r>
            <a:r>
              <a:rPr lang="zh-CN" altLang="en-US" sz="2400" b="1" dirty="0">
                <a:solidFill>
                  <a:srgbClr val="FF0000"/>
                </a:solidFill>
                <a:latin typeface="+mn-ea"/>
              </a:rPr>
              <a:t>秘密共享协议</a:t>
            </a:r>
          </a:p>
        </p:txBody>
      </p:sp>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63" name="文本框 62"/>
              <p:cNvSpPr txBox="1"/>
              <p:nvPr/>
            </p:nvSpPr>
            <p:spPr>
              <a:xfrm>
                <a:off x="312517" y="1652141"/>
                <a:ext cx="8479944" cy="3972178"/>
              </a:xfrm>
              <a:prstGeom prst="rect">
                <a:avLst/>
              </a:prstGeom>
              <a:noFill/>
            </p:spPr>
            <p:txBody>
              <a:bodyPr wrap="square" rtlCol="0">
                <a:spAutoFit/>
              </a:bodyPr>
              <a:lstStyle/>
              <a:p>
                <a:pPr marL="342900" indent="-342900">
                  <a:lnSpc>
                    <a:spcPct val="140000"/>
                  </a:lnSpc>
                  <a:buFont typeface="Wingdings" panose="05000000000000000000" pitchFamily="2" charset="2"/>
                  <a:buChar char="l"/>
                </a:pPr>
                <a:r>
                  <a:rPr lang="zh-CN" altLang="en-US" sz="2000" dirty="0"/>
                  <a:t>参数选择：</a:t>
                </a:r>
                <a:endParaRPr lang="en-US" altLang="zh-CN" sz="2000" dirty="0"/>
              </a:p>
              <a:p>
                <a:pPr algn="just">
                  <a:lnSpc>
                    <a:spcPct val="140000"/>
                  </a:lnSpc>
                </a:pPr>
                <a:r>
                  <a:rPr lang="zh-CN" altLang="en-US" sz="2000" dirty="0"/>
                  <a:t>选择一个大素数</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𝑝</m:t>
                    </m:r>
                    <m:r>
                      <a:rPr lang="en-US" altLang="zh-CN" sz="2000" i="1">
                        <a:latin typeface="Cambria Math" panose="02040503050406030204" pitchFamily="18" charset="0"/>
                        <a:cs typeface="Times New Roman" panose="02020603050405020304" pitchFamily="18" charset="0"/>
                      </a:rPr>
                      <m:t> </m:t>
                    </m:r>
                  </m:oMath>
                </a14:m>
                <a:r>
                  <a:rPr lang="zh-CN" altLang="en-US" sz="2000" dirty="0"/>
                  <a:t>，构造一个</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𝑡</m:t>
                    </m:r>
                    <m:r>
                      <a:rPr lang="en-US" altLang="zh-CN" sz="2000" b="0" i="1" smtClean="0">
                        <a:latin typeface="Cambria Math" panose="02040503050406030204" pitchFamily="18" charset="0"/>
                        <a:cs typeface="Times New Roman" panose="02020603050405020304" pitchFamily="18" charset="0"/>
                      </a:rPr>
                      <m:t>−1 </m:t>
                    </m:r>
                  </m:oMath>
                </a14:m>
                <a:r>
                  <a:rPr lang="zh-CN" altLang="en-US" sz="2000" dirty="0"/>
                  <a:t>次的整系数多项式</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h</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cs typeface="Times New Roman" panose="02020603050405020304" pitchFamily="18" charset="0"/>
                      </a:rPr>
                      <m:t>)</m:t>
                    </m:r>
                  </m:oMath>
                </a14:m>
                <a:r>
                  <a:rPr lang="zh-CN" altLang="en-US" sz="2000" dirty="0"/>
                  <a:t>，多项式</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h</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𝑥</m:t>
                        </m:r>
                      </m:e>
                    </m:d>
                    <m:r>
                      <a:rPr lang="en-US" altLang="zh-CN" sz="2000" b="0" i="1" smtClean="0">
                        <a:latin typeface="Cambria Math" panose="02040503050406030204" pitchFamily="18" charset="0"/>
                        <a:cs typeface="Times New Roman" panose="02020603050405020304" pitchFamily="18" charset="0"/>
                      </a:rPr>
                      <m:t> </m:t>
                    </m:r>
                  </m:oMath>
                </a14:m>
                <a:r>
                  <a:rPr lang="zh-CN" altLang="en-US" sz="2000" dirty="0"/>
                  <a:t>对所有参与者保密，也就是说多项式</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h</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𝑥</m:t>
                        </m:r>
                      </m:e>
                    </m:d>
                    <m:r>
                      <a:rPr lang="en-US" altLang="zh-CN" sz="2000" i="1">
                        <a:latin typeface="Cambria Math" panose="02040503050406030204" pitchFamily="18" charset="0"/>
                        <a:cs typeface="Times New Roman" panose="02020603050405020304" pitchFamily="18" charset="0"/>
                      </a:rPr>
                      <m:t> </m:t>
                    </m:r>
                  </m:oMath>
                </a14:m>
                <a:r>
                  <a:rPr lang="zh-CN" altLang="en-US" sz="2000" dirty="0"/>
                  <a:t>的系数 </a:t>
                </a:r>
                <a:r>
                  <a:rPr lang="en-US" altLang="zh-CN" sz="2000" dirty="0"/>
                  <a:t>{</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0</m:t>
                        </m:r>
                      </m:sub>
                    </m:sSub>
                    <m:r>
                      <a:rPr lang="en-US" altLang="zh-CN" sz="2000" b="0" i="1" smtClean="0">
                        <a:latin typeface="Cambria Math" panose="02040503050406030204" pitchFamily="18" charset="0"/>
                      </a:rPr>
                      <m:t>,</m:t>
                    </m:r>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−1</m:t>
                        </m:r>
                      </m:sub>
                    </m:sSub>
                  </m:oMath>
                </a14:m>
                <a:r>
                  <a:rPr lang="en-US" altLang="zh-CN" sz="2000" dirty="0"/>
                  <a:t>} </a:t>
                </a:r>
                <a:r>
                  <a:rPr lang="zh-CN" altLang="en-US" sz="2000" dirty="0"/>
                  <a:t>是保密的，其中真正的秘密值</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 </m:t>
                        </m:r>
                        <m:r>
                          <a:rPr lang="en-US" altLang="zh-CN" sz="2000" i="1">
                            <a:latin typeface="Cambria Math" panose="02040503050406030204" pitchFamily="18" charset="0"/>
                          </a:rPr>
                          <m:t>𝑎</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 </m:t>
                    </m:r>
                  </m:oMath>
                </a14:m>
                <a:r>
                  <a:rPr lang="zh-CN" altLang="en-US" sz="2000" dirty="0"/>
                  <a:t>隐藏在多项式</a:t>
                </a:r>
                <a:r>
                  <a:rPr lang="en-US" altLang="zh-CN" sz="2000" dirty="0"/>
                  <a:t> </a:t>
                </a:r>
                <a14:m>
                  <m:oMath xmlns:m="http://schemas.openxmlformats.org/officeDocument/2006/math">
                    <m:r>
                      <a:rPr lang="en-US" altLang="zh-CN" sz="2000" i="1">
                        <a:latin typeface="Cambria Math" panose="02040503050406030204" pitchFamily="18" charset="0"/>
                        <a:cs typeface="Times New Roman" panose="02020603050405020304" pitchFamily="18" charset="0"/>
                      </a:rPr>
                      <m:t>h</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𝑥</m:t>
                        </m:r>
                      </m:e>
                    </m:d>
                    <m:r>
                      <a:rPr lang="en-US" altLang="zh-CN" sz="2000" i="1">
                        <a:latin typeface="Cambria Math" panose="02040503050406030204" pitchFamily="18" charset="0"/>
                        <a:cs typeface="Times New Roman" panose="02020603050405020304" pitchFamily="18" charset="0"/>
                      </a:rPr>
                      <m:t> </m:t>
                    </m:r>
                  </m:oMath>
                </a14:m>
                <a:r>
                  <a:rPr lang="zh-CN" altLang="en-US" sz="2000" dirty="0"/>
                  <a:t>的常数项中。</a:t>
                </a:r>
                <a:r>
                  <a:rPr lang="en-US" altLang="zh-CN" sz="2000" dirty="0"/>
                  <a:t> </a:t>
                </a:r>
              </a:p>
              <a:p>
                <a:pPr>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cs typeface="Times New Roman" panose="02020603050405020304" pitchFamily="18" charset="0"/>
                        </a:rPr>
                        <m:t>h</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𝑥</m:t>
                          </m:r>
                        </m:e>
                      </m:d>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𝑡</m:t>
                          </m:r>
                          <m:r>
                            <a:rPr lang="en-US" altLang="zh-CN" sz="2000" b="0" i="1" smtClean="0">
                              <a:latin typeface="Cambria Math" panose="02040503050406030204" pitchFamily="18" charset="0"/>
                              <a:cs typeface="Times New Roman" panose="02020603050405020304" pitchFamily="18" charset="0"/>
                            </a:rPr>
                            <m:t>−1</m:t>
                          </m:r>
                        </m:sub>
                      </m:sSub>
                      <m:sSup>
                        <m:sSupPr>
                          <m:ctrlPr>
                            <a:rPr lang="en-US" altLang="zh-CN" sz="2000" b="0" i="1" smtClean="0">
                              <a:latin typeface="Cambria Math" panose="02040503050406030204" pitchFamily="18" charset="0"/>
                              <a:cs typeface="Times New Roman" panose="02020603050405020304" pitchFamily="18" charset="0"/>
                            </a:rPr>
                          </m:ctrlPr>
                        </m:sSupPr>
                        <m:e>
                          <m:r>
                            <a:rPr lang="en-US" altLang="zh-CN" sz="2000" b="0" i="1" smtClean="0">
                              <a:latin typeface="Cambria Math" panose="02040503050406030204" pitchFamily="18" charset="0"/>
                              <a:cs typeface="Times New Roman" panose="02020603050405020304" pitchFamily="18" charset="0"/>
                            </a:rPr>
                            <m:t>𝑥</m:t>
                          </m:r>
                        </m:e>
                        <m:sup>
                          <m:r>
                            <a:rPr lang="en-US" altLang="zh-CN" sz="2000" b="0" i="1" smtClean="0">
                              <a:latin typeface="Cambria Math" panose="02040503050406030204" pitchFamily="18" charset="0"/>
                              <a:cs typeface="Times New Roman" panose="02020603050405020304" pitchFamily="18" charset="0"/>
                            </a:rPr>
                            <m:t>𝑡</m:t>
                          </m:r>
                          <m:r>
                            <a:rPr lang="en-US" altLang="zh-CN" sz="2000" b="0" i="1" smtClean="0">
                              <a:latin typeface="Cambria Math" panose="02040503050406030204" pitchFamily="18" charset="0"/>
                              <a:cs typeface="Times New Roman" panose="02020603050405020304" pitchFamily="18" charset="0"/>
                            </a:rPr>
                            <m:t>−1</m:t>
                          </m:r>
                        </m:sup>
                      </m:sSup>
                      <m:r>
                        <a:rPr lang="en-US" altLang="zh-CN" sz="2000" b="0" i="1" smtClean="0">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𝑎</m:t>
                          </m:r>
                        </m:e>
                        <m:sub>
                          <m:r>
                            <a:rPr lang="en-US" altLang="zh-CN" sz="2000" i="1">
                              <a:latin typeface="Cambria Math" panose="02040503050406030204" pitchFamily="18" charset="0"/>
                              <a:cs typeface="Times New Roman" panose="02020603050405020304" pitchFamily="18" charset="0"/>
                            </a:rPr>
                            <m:t>𝑡</m:t>
                          </m:r>
                          <m:r>
                            <a:rPr lang="en-US" altLang="zh-CN" sz="2000" i="1">
                              <a:latin typeface="Cambria Math" panose="02040503050406030204" pitchFamily="18" charset="0"/>
                              <a:cs typeface="Times New Roman" panose="02020603050405020304" pitchFamily="18" charset="0"/>
                            </a:rPr>
                            <m:t>−2</m:t>
                          </m:r>
                        </m:sub>
                      </m:sSub>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𝑥</m:t>
                          </m:r>
                        </m:e>
                        <m:sup>
                          <m:r>
                            <a:rPr lang="en-US" altLang="zh-CN" sz="2000" i="1">
                              <a:latin typeface="Cambria Math" panose="02040503050406030204" pitchFamily="18" charset="0"/>
                              <a:cs typeface="Times New Roman" panose="02020603050405020304" pitchFamily="18" charset="0"/>
                            </a:rPr>
                            <m:t>𝑡</m:t>
                          </m:r>
                          <m:r>
                            <a:rPr lang="en-US" altLang="zh-CN" sz="2000" i="1">
                              <a:latin typeface="Cambria Math" panose="02040503050406030204" pitchFamily="18" charset="0"/>
                              <a:cs typeface="Times New Roman" panose="02020603050405020304" pitchFamily="18" charset="0"/>
                            </a:rPr>
                            <m:t>−2</m:t>
                          </m:r>
                        </m:sup>
                      </m:sSup>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1</m:t>
                          </m:r>
                        </m:sub>
                      </m:sSub>
                      <m:r>
                        <a:rPr lang="en-US" altLang="zh-CN" sz="2000" b="0" i="1" smtClean="0">
                          <a:latin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0 </m:t>
                          </m:r>
                        </m:sub>
                      </m:sSub>
                      <m:d>
                        <m:dPr>
                          <m:ctrlPr>
                            <a:rPr lang="en-US" altLang="zh-CN" sz="2000" b="0" i="1" smtClean="0">
                              <a:latin typeface="Cambria Math" panose="02040503050406030204" pitchFamily="18" charset="0"/>
                              <a:cs typeface="Times New Roman" panose="02020603050405020304" pitchFamily="18" charset="0"/>
                            </a:rPr>
                          </m:ctrlPr>
                        </m:dPr>
                        <m:e>
                          <m:r>
                            <m:rPr>
                              <m:sty m:val="p"/>
                            </m:rPr>
                            <a:rPr lang="en-US" altLang="zh-CN" sz="2000" b="0" i="0" smtClean="0">
                              <a:latin typeface="Cambria Math" panose="02040503050406030204" pitchFamily="18" charset="0"/>
                              <a:cs typeface="Times New Roman" panose="02020603050405020304" pitchFamily="18" charset="0"/>
                            </a:rPr>
                            <m:t>mod</m:t>
                          </m:r>
                          <m:r>
                            <a:rPr lang="en-US" altLang="zh-CN" sz="2000" b="0" i="1"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𝑝</m:t>
                          </m:r>
                        </m:e>
                      </m:d>
                    </m:oMath>
                  </m:oMathPara>
                </a14:m>
                <a:endParaRPr lang="en-US" altLang="zh-CN" sz="2000" b="0" dirty="0">
                  <a:cs typeface="Times New Roman" panose="02020603050405020304" pitchFamily="18" charset="0"/>
                </a:endParaRPr>
              </a:p>
              <a:p>
                <a:pPr marL="342900" indent="-342900">
                  <a:lnSpc>
                    <a:spcPct val="140000"/>
                  </a:lnSpc>
                  <a:buFont typeface="Wingdings" panose="05000000000000000000" pitchFamily="2" charset="2"/>
                  <a:buChar char="l"/>
                </a:pPr>
                <a:r>
                  <a:rPr lang="zh-CN" altLang="en-US" sz="2000" dirty="0"/>
                  <a:t>秘密分割：</a:t>
                </a:r>
                <a:endParaRPr lang="en-US" altLang="zh-CN" sz="2000" b="0" dirty="0">
                  <a:cs typeface="Times New Roman" panose="02020603050405020304" pitchFamily="18" charset="0"/>
                </a:endParaRPr>
              </a:p>
              <a:p>
                <a:pPr>
                  <a:lnSpc>
                    <a:spcPct val="140000"/>
                  </a:lnSpc>
                </a:pPr>
                <a:r>
                  <a:rPr lang="zh-CN" altLang="en-US" sz="2000" dirty="0"/>
                  <a:t>设一共有 𝑛 个参与者，设第</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𝑘</m:t>
                    </m:r>
                    <m:r>
                      <a:rPr lang="en-US" altLang="zh-CN" sz="2000" b="0" i="1" smtClean="0">
                        <a:latin typeface="Cambria Math" panose="02040503050406030204" pitchFamily="18" charset="0"/>
                        <a:cs typeface="Times New Roman" panose="02020603050405020304" pitchFamily="18" charset="0"/>
                      </a:rPr>
                      <m:t> </m:t>
                    </m:r>
                    <m:r>
                      <a:rPr lang="zh-CN" altLang="en-US" sz="2000" i="1">
                        <a:latin typeface="Cambria Math" panose="02040503050406030204" pitchFamily="18" charset="0"/>
                        <a:cs typeface="Times New Roman" panose="02020603050405020304" pitchFamily="18" charset="0"/>
                      </a:rPr>
                      <m:t>位</m:t>
                    </m:r>
                  </m:oMath>
                </a14:m>
                <a:r>
                  <a:rPr lang="zh-CN" altLang="en-US" sz="2000" dirty="0"/>
                  <a:t>参与者拥有的公开身份为</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𝐼𝐷</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𝑘</m:t>
                    </m:r>
                    <m:r>
                      <a:rPr lang="en-US" altLang="zh-CN" sz="2000" b="0" i="1" smtClean="0">
                        <a:latin typeface="Cambria Math" panose="02040503050406030204" pitchFamily="18" charset="0"/>
                        <a:cs typeface="Times New Roman" panose="02020603050405020304" pitchFamily="18" charset="0"/>
                      </a:rPr>
                      <m:t>)</m:t>
                    </m:r>
                  </m:oMath>
                </a14:m>
                <a:r>
                  <a:rPr lang="zh-CN" altLang="en-US" sz="2000" dirty="0"/>
                  <a:t>，拥有的秘密身份为</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h</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𝐼𝐷</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𝑘</m:t>
                        </m:r>
                      </m:e>
                    </m:d>
                    <m:r>
                      <a:rPr lang="en-US" altLang="zh-CN" sz="2000" b="0" i="1" smtClean="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 </m:t>
                    </m:r>
                  </m:oMath>
                </a14:m>
                <a:r>
                  <a:rPr lang="zh-CN" altLang="en-US" sz="2000" dirty="0"/>
                  <a:t>，通过计算</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h</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𝐼𝐷</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𝑘</m:t>
                        </m:r>
                      </m:e>
                    </m:d>
                    <m:r>
                      <a:rPr lang="en-US" altLang="zh-CN" sz="2000" i="1">
                        <a:latin typeface="Cambria Math" panose="02040503050406030204" pitchFamily="18" charset="0"/>
                        <a:cs typeface="Times New Roman" panose="02020603050405020304" pitchFamily="18" charset="0"/>
                      </a:rPr>
                      <m:t>) </m:t>
                    </m:r>
                  </m:oMath>
                </a14:m>
                <a:r>
                  <a:rPr lang="zh-CN" altLang="en-US" sz="2000" dirty="0"/>
                  <a:t>将秘密进行分割，其中</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𝐼𝐷</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𝑘</m:t>
                        </m:r>
                      </m:e>
                    </m:d>
                  </m:oMath>
                </a14:m>
                <a:r>
                  <a:rPr lang="zh-CN" altLang="en-US" sz="2000" dirty="0"/>
                  <a:t>是整数，</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𝑘</m:t>
                    </m:r>
                    <m:r>
                      <a:rPr lang="en-US" altLang="zh-CN" sz="2000" b="0" i="1" smtClean="0">
                        <a:latin typeface="Cambria Math" panose="02040503050406030204" pitchFamily="18" charset="0"/>
                        <a:cs typeface="Times New Roman" panose="02020603050405020304" pitchFamily="18" charset="0"/>
                      </a:rPr>
                      <m:t>=1, 2, 3,⋯,</m:t>
                    </m:r>
                    <m:r>
                      <a:rPr lang="en-US" altLang="zh-CN" sz="2000" b="0" i="1" smtClean="0">
                        <a:latin typeface="Cambria Math" panose="02040503050406030204" pitchFamily="18" charset="0"/>
                        <a:cs typeface="Times New Roman" panose="02020603050405020304" pitchFamily="18" charset="0"/>
                      </a:rPr>
                      <m:t>𝑛</m:t>
                    </m:r>
                  </m:oMath>
                </a14:m>
                <a:r>
                  <a:rPr lang="zh-CN" altLang="en-US" sz="2000" dirty="0"/>
                  <a:t>。</a:t>
                </a:r>
                <a:endParaRPr lang="en-US" altLang="zh-CN" sz="2000" dirty="0"/>
              </a:p>
            </p:txBody>
          </p:sp>
        </mc:Choice>
        <mc:Fallback xmlns="">
          <p:sp>
            <p:nvSpPr>
              <p:cNvPr id="63" name="文本框 62"/>
              <p:cNvSpPr txBox="1">
                <a:spLocks noRot="1" noChangeAspect="1" noMove="1" noResize="1" noEditPoints="1" noAdjustHandles="1" noChangeArrowheads="1" noChangeShapeType="1" noTextEdit="1"/>
              </p:cNvSpPr>
              <p:nvPr/>
            </p:nvSpPr>
            <p:spPr>
              <a:xfrm>
                <a:off x="312517" y="1652141"/>
                <a:ext cx="8479944" cy="3972178"/>
              </a:xfrm>
              <a:prstGeom prst="rect">
                <a:avLst/>
              </a:prstGeom>
              <a:blipFill rotWithShape="1">
                <a:blip r:embed="rId4"/>
                <a:stretch>
                  <a:fillRect l="-1" t="-13" r="-1615" b="3"/>
                </a:stretch>
              </a:blipFill>
            </p:spPr>
            <p:txBody>
              <a:bodyPr/>
              <a:lstStyle/>
              <a:p>
                <a:r>
                  <a:rPr lang="zh-CN" altLang="en-US">
                    <a:noFill/>
                  </a:rPr>
                  <a:t> </a:t>
                </a:r>
              </a:p>
            </p:txBody>
          </p:sp>
        </mc:Fallback>
      </mc:AlternateContent>
      <p:sp>
        <p:nvSpPr>
          <p:cNvPr id="7" name="矩形 6"/>
          <p:cNvSpPr/>
          <p:nvPr/>
        </p:nvSpPr>
        <p:spPr>
          <a:xfrm>
            <a:off x="312516" y="5895650"/>
            <a:ext cx="8479945" cy="338554"/>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[1] Shamir, </a:t>
            </a:r>
            <a:r>
              <a:rPr lang="en-US" altLang="zh-CN" sz="1600" dirty="0" err="1">
                <a:latin typeface="Times New Roman" panose="02020603050405020304" pitchFamily="18" charset="0"/>
                <a:cs typeface="Times New Roman" panose="02020603050405020304" pitchFamily="18" charset="0"/>
              </a:rPr>
              <a:t>Adi</a:t>
            </a:r>
            <a:r>
              <a:rPr lang="en-US" altLang="zh-CN" sz="1600" dirty="0">
                <a:latin typeface="Times New Roman" panose="02020603050405020304" pitchFamily="18" charset="0"/>
                <a:cs typeface="Times New Roman" panose="02020603050405020304" pitchFamily="18" charset="0"/>
              </a:rPr>
              <a:t>. "How to share a secret." Communications of the ACM 22, no. 11 (1979): 612-613.</a:t>
            </a:r>
            <a:endParaRPr lang="zh-CN" altLang="en-US" sz="16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8</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a:t>
            </a:r>
            <a:r>
              <a:rPr lang="zh-CN" altLang="en-US" sz="2400" b="1" dirty="0">
                <a:solidFill>
                  <a:srgbClr val="FF0000"/>
                </a:solidFill>
                <a:latin typeface="+mn-ea"/>
              </a:rPr>
              <a:t>秘密共享协议</a:t>
            </a:r>
          </a:p>
        </p:txBody>
      </p:sp>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63" name="文本框 62"/>
          <p:cNvSpPr txBox="1"/>
          <p:nvPr/>
        </p:nvSpPr>
        <p:spPr>
          <a:xfrm>
            <a:off x="312517" y="1514803"/>
            <a:ext cx="8479944" cy="452945"/>
          </a:xfrm>
          <a:prstGeom prst="rect">
            <a:avLst/>
          </a:prstGeom>
          <a:noFill/>
        </p:spPr>
        <p:txBody>
          <a:bodyPr wrap="square" rtlCol="0">
            <a:spAutoFit/>
          </a:bodyPr>
          <a:lstStyle/>
          <a:p>
            <a:pPr marL="342900" indent="-342900">
              <a:lnSpc>
                <a:spcPct val="130000"/>
              </a:lnSpc>
              <a:buFont typeface="Wingdings" panose="05000000000000000000" pitchFamily="2" charset="2"/>
              <a:buChar char="l"/>
            </a:pPr>
            <a:r>
              <a:rPr lang="zh-CN" altLang="en-US" sz="2000" dirty="0"/>
              <a:t>秘密重构</a:t>
            </a:r>
            <a:endParaRPr lang="en-US" altLang="zh-CN" sz="2000" dirty="0"/>
          </a:p>
        </p:txBody>
      </p:sp>
      <mc:AlternateContent xmlns:mc="http://schemas.openxmlformats.org/markup-compatibility/2006" xmlns:a14="http://schemas.microsoft.com/office/drawing/2010/main">
        <mc:Choice Requires="a14">
          <p:sp>
            <p:nvSpPr>
              <p:cNvPr id="8" name="文本框 7"/>
              <p:cNvSpPr txBox="1"/>
              <p:nvPr/>
            </p:nvSpPr>
            <p:spPr>
              <a:xfrm>
                <a:off x="1726424" y="2207319"/>
                <a:ext cx="5807744" cy="12534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m>
                            <m:mPr>
                              <m:mcs>
                                <m:mc>
                                  <m:mcPr>
                                    <m:count m:val="1"/>
                                    <m:mcJc m:val="center"/>
                                  </m:mcPr>
                                </m:mc>
                              </m:mcs>
                              <m:ctrlPr>
                                <a:rPr lang="en-US" altLang="zh-CN" sz="2000" i="1" smtClean="0">
                                  <a:latin typeface="Cambria Math" panose="02040503050406030204" pitchFamily="18" charset="0"/>
                                </a:rPr>
                              </m:ctrlPr>
                            </m:mPr>
                            <m:mr>
                              <m:e>
                                <m:r>
                                  <m:rPr>
                                    <m:brk m:alnAt="7"/>
                                  </m:rPr>
                                  <a:rPr lang="en-US" altLang="zh-CN" sz="2000" b="0" i="1" smtClean="0">
                                    <a:latin typeface="Cambria Math" panose="02040503050406030204" pitchFamily="18" charset="0"/>
                                  </a:rPr>
                                  <m:t>h</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𝐼𝐷</m:t>
                                </m:r>
                                <m:r>
                                  <a:rPr lang="en-US" altLang="zh-CN" sz="2000" b="0" i="1" smtClean="0">
                                    <a:latin typeface="Cambria Math" panose="02040503050406030204" pitchFamily="18" charset="0"/>
                                  </a:rPr>
                                  <m:t>(1))</m:t>
                                </m:r>
                              </m:e>
                            </m:mr>
                            <m:mr>
                              <m:e>
                                <m:m>
                                  <m:mPr>
                                    <m:mcs>
                                      <m:mc>
                                        <m:mcPr>
                                          <m:count m:val="1"/>
                                          <m:mcJc m:val="center"/>
                                        </m:mcPr>
                                      </m:mc>
                                    </m:mcs>
                                    <m:ctrlPr>
                                      <a:rPr lang="en-US" altLang="zh-CN" sz="2000" i="1" smtClean="0">
                                        <a:latin typeface="Cambria Math" panose="02040503050406030204" pitchFamily="18" charset="0"/>
                                      </a:rPr>
                                    </m:ctrlPr>
                                  </m:mPr>
                                  <m:mr>
                                    <m:e>
                                      <m:r>
                                        <m:rPr>
                                          <m:brk m:alnAt="7"/>
                                        </m:rPr>
                                        <a:rPr lang="en-US" altLang="zh-CN" sz="2000" i="1">
                                          <a:latin typeface="Cambria Math" panose="02040503050406030204" pitchFamily="18" charset="0"/>
                                        </a:rPr>
                                        <m:t>h</m:t>
                                      </m:r>
                                      <m:r>
                                        <a:rPr lang="en-US" altLang="zh-CN" sz="2000" i="1">
                                          <a:latin typeface="Cambria Math" panose="02040503050406030204" pitchFamily="18" charset="0"/>
                                        </a:rPr>
                                        <m:t>(</m:t>
                                      </m:r>
                                      <m:r>
                                        <a:rPr lang="en-US" altLang="zh-CN" sz="2000" i="1">
                                          <a:latin typeface="Cambria Math" panose="02040503050406030204" pitchFamily="18" charset="0"/>
                                        </a:rPr>
                                        <m:t>𝐼𝐷</m:t>
                                      </m:r>
                                      <m:r>
                                        <a:rPr lang="en-US" altLang="zh-CN" sz="2000" i="1">
                                          <a:latin typeface="Cambria Math" panose="02040503050406030204" pitchFamily="18" charset="0"/>
                                        </a:rPr>
                                        <m:t>(2))</m:t>
                                      </m:r>
                                    </m:e>
                                  </m:mr>
                                  <m:mr>
                                    <m:e>
                                      <m:r>
                                        <a:rPr lang="en-US" altLang="zh-CN" sz="2000" i="1">
                                          <a:latin typeface="Cambria Math" panose="02040503050406030204" pitchFamily="18" charset="0"/>
                                          <a:ea typeface="Cambria Math" panose="02040503050406030204" pitchFamily="18" charset="0"/>
                                        </a:rPr>
                                        <m:t>⋮</m:t>
                                      </m:r>
                                    </m:e>
                                  </m:mr>
                                </m:m>
                              </m:e>
                            </m:mr>
                            <m:mr>
                              <m:e>
                                <m:r>
                                  <m:rPr>
                                    <m:brk m:alnAt="7"/>
                                  </m:rPr>
                                  <a:rPr lang="en-US" altLang="zh-CN" sz="2000" i="1">
                                    <a:latin typeface="Cambria Math" panose="02040503050406030204" pitchFamily="18" charset="0"/>
                                  </a:rPr>
                                  <m:t>h</m:t>
                                </m:r>
                                <m:r>
                                  <a:rPr lang="en-US" altLang="zh-CN" sz="2000" i="1">
                                    <a:latin typeface="Cambria Math" panose="02040503050406030204" pitchFamily="18" charset="0"/>
                                  </a:rPr>
                                  <m:t>(</m:t>
                                </m:r>
                                <m:r>
                                  <a:rPr lang="en-US" altLang="zh-CN" sz="2000" i="1">
                                    <a:latin typeface="Cambria Math" panose="02040503050406030204" pitchFamily="18" charset="0"/>
                                  </a:rPr>
                                  <m:t>𝐼𝐷</m:t>
                                </m:r>
                                <m:r>
                                  <a:rPr lang="en-US" altLang="zh-CN" sz="2000" i="1">
                                    <a:latin typeface="Cambria Math" panose="02040503050406030204" pitchFamily="18" charset="0"/>
                                  </a:rPr>
                                  <m:t>(</m:t>
                                </m:r>
                                <m:r>
                                  <a:rPr lang="en-US" altLang="zh-CN" sz="2000" b="0" i="1" smtClean="0">
                                    <a:latin typeface="Cambria Math" panose="02040503050406030204" pitchFamily="18" charset="0"/>
                                  </a:rPr>
                                  <m:t>𝑡</m:t>
                                </m:r>
                                <m:r>
                                  <a:rPr lang="en-US" altLang="zh-CN" sz="2000" i="1">
                                    <a:latin typeface="Cambria Math" panose="02040503050406030204" pitchFamily="18" charset="0"/>
                                  </a:rPr>
                                  <m:t>))</m:t>
                                </m:r>
                              </m:e>
                            </m:mr>
                          </m:m>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m>
                            <m:mPr>
                              <m:mcs>
                                <m:mc>
                                  <m:mcPr>
                                    <m:count m:val="3"/>
                                    <m:mcJc m:val="center"/>
                                  </m:mcPr>
                                </m:mc>
                              </m:mcs>
                              <m:ctrlPr>
                                <a:rPr lang="en-US" altLang="zh-CN" sz="2000" b="0" i="1" smtClean="0">
                                  <a:latin typeface="Cambria Math" panose="02040503050406030204" pitchFamily="18" charset="0"/>
                                </a:rPr>
                              </m:ctrlPr>
                            </m:mPr>
                            <m:mr>
                              <m:e>
                                <m:r>
                                  <m:rPr>
                                    <m:brk m:alnAt="7"/>
                                  </m:rP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e>
                              <m:e>
                                <m:sSup>
                                  <m:sSupPr>
                                    <m:ctrlPr>
                                      <a:rPr lang="en-US" altLang="zh-CN" sz="2000" b="0" i="1" smtClean="0">
                                        <a:latin typeface="Cambria Math" panose="02040503050406030204" pitchFamily="18" charset="0"/>
                                      </a:rPr>
                                    </m:ctrlPr>
                                  </m:sSupPr>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𝐼𝐷</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e>
                                        </m:d>
                                      </m:e>
                                    </m:d>
                                  </m:e>
                                  <m:sup>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−1</m:t>
                                    </m:r>
                                  </m:sup>
                                </m:sSup>
                              </m:e>
                            </m:mr>
                            <m:mr>
                              <m:e>
                                <m:r>
                                  <a:rPr lang="en-US" altLang="zh-CN" sz="2000" b="0" i="1" smtClean="0">
                                    <a:latin typeface="Cambria Math" panose="02040503050406030204" pitchFamily="18" charset="0"/>
                                  </a:rPr>
                                  <m:t>⋮</m:t>
                                </m:r>
                              </m:e>
                              <m:e>
                                <m:r>
                                  <a:rPr lang="en-US" altLang="zh-CN" sz="2000" b="0" i="1" smtClean="0">
                                    <a:latin typeface="Cambria Math" panose="02040503050406030204" pitchFamily="18" charset="0"/>
                                  </a:rPr>
                                  <m:t>⋱</m:t>
                                </m:r>
                              </m:e>
                              <m:e>
                                <m:r>
                                  <a:rPr lang="en-US" altLang="zh-CN" sz="2000" b="0" i="1" smtClean="0">
                                    <a:latin typeface="Cambria Math" panose="02040503050406030204" pitchFamily="18" charset="0"/>
                                  </a:rPr>
                                  <m:t>⋮</m:t>
                                </m:r>
                              </m:e>
                            </m:mr>
                            <m:mr>
                              <m:e>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e>
                              <m:e>
                                <m:sSup>
                                  <m:sSupPr>
                                    <m:ctrlPr>
                                      <a:rPr lang="en-US" altLang="zh-CN" sz="2000" i="1">
                                        <a:latin typeface="Cambria Math" panose="02040503050406030204" pitchFamily="18" charset="0"/>
                                      </a:rPr>
                                    </m:ctrlPr>
                                  </m:sSupPr>
                                  <m:e>
                                    <m:d>
                                      <m:dPr>
                                        <m:ctrlPr>
                                          <a:rPr lang="en-US" altLang="zh-CN" sz="2000" i="1">
                                            <a:latin typeface="Cambria Math" panose="02040503050406030204" pitchFamily="18" charset="0"/>
                                          </a:rPr>
                                        </m:ctrlPr>
                                      </m:dPr>
                                      <m:e>
                                        <m:r>
                                          <a:rPr lang="en-US" altLang="zh-CN" sz="2000" i="1">
                                            <a:latin typeface="Cambria Math" panose="02040503050406030204" pitchFamily="18" charset="0"/>
                                          </a:rPr>
                                          <m:t>𝐼𝐷</m:t>
                                        </m:r>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𝑡</m:t>
                                            </m:r>
                                          </m:e>
                                        </m:d>
                                      </m:e>
                                    </m:d>
                                  </m:e>
                                  <m:sup>
                                    <m:r>
                                      <a:rPr lang="en-US" altLang="zh-CN" sz="2000" i="1">
                                        <a:latin typeface="Cambria Math" panose="02040503050406030204" pitchFamily="18" charset="0"/>
                                      </a:rPr>
                                      <m:t>𝑡</m:t>
                                    </m:r>
                                    <m:r>
                                      <a:rPr lang="en-US" altLang="zh-CN" sz="2000" i="1">
                                        <a:latin typeface="Cambria Math" panose="02040503050406030204" pitchFamily="18" charset="0"/>
                                      </a:rPr>
                                      <m:t>−1</m:t>
                                    </m:r>
                                  </m:sup>
                                </m:sSup>
                              </m:e>
                            </m:mr>
                          </m:m>
                        </m:e>
                      </m:d>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0</m:t>
                                    </m:r>
                                  </m:sub>
                                </m:sSub>
                              </m:e>
                            </m:mr>
                            <m:m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b="0" i="1" smtClean="0">
                                              <a:latin typeface="Cambria Math" panose="02040503050406030204" pitchFamily="18" charset="0"/>
                                            </a:rPr>
                                            <m:t>1</m:t>
                                          </m:r>
                                        </m:sub>
                                      </m:sSub>
                                    </m:e>
                                  </m:mr>
                                  <m:mr>
                                    <m:e>
                                      <m:r>
                                        <a:rPr lang="en-US" altLang="zh-CN" sz="2000" i="1">
                                          <a:latin typeface="Cambria Math" panose="02040503050406030204" pitchFamily="18" charset="0"/>
                                          <a:ea typeface="Cambria Math" panose="02040503050406030204" pitchFamily="18" charset="0"/>
                                        </a:rPr>
                                        <m:t>⋮</m:t>
                                      </m:r>
                                    </m:e>
                                  </m:mr>
                                </m:m>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−1</m:t>
                                    </m:r>
                                  </m:sub>
                                </m:sSub>
                              </m:e>
                            </m:mr>
                          </m:m>
                        </m:e>
                      </m:d>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mod</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1726424" y="2207319"/>
                <a:ext cx="5807744" cy="1253420"/>
              </a:xfrm>
              <a:prstGeom prst="rect">
                <a:avLst/>
              </a:prstGeom>
              <a:blipFill rotWithShape="1">
                <a:blip r:embed="rId4"/>
                <a:stretch>
                  <a:fillRect l="-9" t="-5" r="9"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12517" y="3504983"/>
                <a:ext cx="8561671" cy="2862322"/>
              </a:xfrm>
              <a:prstGeom prst="rect">
                <a:avLst/>
              </a:prstGeom>
              <a:noFill/>
            </p:spPr>
            <p:txBody>
              <a:bodyPr wrap="square" rtlCol="0">
                <a:spAutoFit/>
              </a:bodyPr>
              <a:lstStyle/>
              <a:p>
                <a:pPr algn="just">
                  <a:lnSpc>
                    <a:spcPct val="150000"/>
                  </a:lnSpc>
                  <a:spcAft>
                    <a:spcPts val="600"/>
                  </a:spcAft>
                </a:pPr>
                <a:r>
                  <a:rPr lang="zh-CN" altLang="en-US" sz="2000" dirty="0"/>
                  <a:t>秘密重构阶段，</a:t>
                </a:r>
                <a:r>
                  <a:rPr lang="en-US" altLang="zh-CN" sz="2000" dirty="0"/>
                  <a:t> </a:t>
                </a:r>
                <a14:m>
                  <m:oMath xmlns:m="http://schemas.openxmlformats.org/officeDocument/2006/math">
                    <m:r>
                      <a:rPr lang="en-US" altLang="zh-CN" sz="2000" i="1">
                        <a:latin typeface="Cambria Math" panose="02040503050406030204" pitchFamily="18" charset="0"/>
                      </a:rPr>
                      <m:t>𝑡</m:t>
                    </m:r>
                  </m:oMath>
                </a14:m>
                <a:r>
                  <a:rPr lang="zh-CN" altLang="en-US" sz="2000" dirty="0"/>
                  <a:t> 个参与者到场交出自己的秘密身份 </a:t>
                </a:r>
                <a14:m>
                  <m:oMath xmlns:m="http://schemas.openxmlformats.org/officeDocument/2006/math">
                    <m:r>
                      <m:rPr>
                        <m:brk m:alnAt="7"/>
                      </m:rPr>
                      <a:rPr lang="en-US" altLang="zh-CN" sz="2000" i="1">
                        <a:latin typeface="Cambria Math" panose="02040503050406030204" pitchFamily="18" charset="0"/>
                      </a:rPr>
                      <m:t>h</m:t>
                    </m:r>
                    <m:r>
                      <a:rPr lang="en-US" altLang="zh-CN" sz="2000" i="1">
                        <a:latin typeface="Cambria Math" panose="02040503050406030204" pitchFamily="18" charset="0"/>
                      </a:rPr>
                      <m:t>(</m:t>
                    </m:r>
                    <m:r>
                      <a:rPr lang="en-US" altLang="zh-CN" sz="2000" i="1">
                        <a:latin typeface="Cambria Math" panose="02040503050406030204" pitchFamily="18" charset="0"/>
                      </a:rPr>
                      <m:t>𝐼𝐷</m:t>
                    </m:r>
                    <m:r>
                      <a:rPr lang="en-US" altLang="zh-CN" sz="2000" i="1">
                        <a:latin typeface="Cambria Math" panose="02040503050406030204" pitchFamily="18" charset="0"/>
                      </a:rPr>
                      <m:t>(</m:t>
                    </m:r>
                    <m:r>
                      <a:rPr lang="en-US" altLang="zh-CN" sz="2000" b="0" i="1" smtClean="0">
                        <a:latin typeface="Cambria Math" panose="02040503050406030204" pitchFamily="18" charset="0"/>
                      </a:rPr>
                      <m:t>𝑘</m:t>
                    </m:r>
                    <m:r>
                      <a:rPr lang="en-US" altLang="zh-CN" sz="2000" i="1">
                        <a:latin typeface="Cambria Math" panose="02040503050406030204" pitchFamily="18" charset="0"/>
                      </a:rPr>
                      <m:t>))</m:t>
                    </m:r>
                    <m:r>
                      <a:rPr lang="zh-CN" altLang="en-US" sz="2000" i="1">
                        <a:latin typeface="Cambria Math" panose="02040503050406030204" pitchFamily="18" charset="0"/>
                      </a:rPr>
                      <m:t>、</m:t>
                    </m:r>
                  </m:oMath>
                </a14:m>
                <a:r>
                  <a:rPr lang="zh-CN" altLang="en-US" sz="2000" dirty="0"/>
                  <a:t>公开身份</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𝐼𝐷</m:t>
                    </m:r>
                    <m:r>
                      <a:rPr lang="en-US" altLang="zh-CN" sz="2000" i="1">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𝑘</m:t>
                    </m:r>
                    <m:r>
                      <a:rPr lang="en-US" altLang="zh-CN" sz="2000" i="1">
                        <a:latin typeface="Cambria Math" panose="02040503050406030204" pitchFamily="18" charset="0"/>
                        <a:cs typeface="Times New Roman" panose="02020603050405020304" pitchFamily="18" charset="0"/>
                      </a:rPr>
                      <m:t>)</m:t>
                    </m:r>
                  </m:oMath>
                </a14:m>
                <a:r>
                  <a:rPr lang="zh-CN" altLang="en-US" sz="2000" dirty="0"/>
                  <a:t>，形成一个关于未知系数 </a:t>
                </a:r>
                <a:r>
                  <a:rPr lang="en-US" altLang="zh-CN" sz="2000" dirty="0"/>
                  <a:t>{</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𝑡</m:t>
                        </m:r>
                        <m:r>
                          <a:rPr lang="en-US" altLang="zh-CN" sz="2000" i="1">
                            <a:latin typeface="Cambria Math" panose="02040503050406030204" pitchFamily="18" charset="0"/>
                          </a:rPr>
                          <m:t>−1</m:t>
                        </m:r>
                      </m:sub>
                    </m:sSub>
                  </m:oMath>
                </a14:m>
                <a:r>
                  <a:rPr lang="en-US" altLang="zh-CN" sz="2000" dirty="0"/>
                  <a:t>} </a:t>
                </a:r>
                <a:r>
                  <a:rPr lang="zh-CN" altLang="en-US" sz="2000" dirty="0"/>
                  <a:t>的</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𝑡</m:t>
                    </m:r>
                    <m:r>
                      <a:rPr lang="en-US" altLang="zh-CN" sz="2000" b="0" i="1" smtClean="0">
                        <a:latin typeface="Cambria Math" panose="02040503050406030204" pitchFamily="18" charset="0"/>
                      </a:rPr>
                      <m:t> </m:t>
                    </m:r>
                    <m:r>
                      <a:rPr lang="zh-CN" altLang="en-US" sz="2000" i="1">
                        <a:latin typeface="Cambria Math" panose="02040503050406030204" pitchFamily="18" charset="0"/>
                      </a:rPr>
                      <m:t>元</m:t>
                    </m:r>
                  </m:oMath>
                </a14:m>
                <a:r>
                  <a:rPr lang="zh-CN" altLang="en-US" sz="2000" dirty="0"/>
                  <a:t>一次方程组。</a:t>
                </a:r>
                <a:endParaRPr lang="en-US" altLang="zh-CN" sz="2000" dirty="0"/>
              </a:p>
              <a:p>
                <a:pPr algn="just">
                  <a:lnSpc>
                    <a:spcPct val="150000"/>
                  </a:lnSpc>
                </a:pPr>
                <a:r>
                  <a:rPr lang="zh-CN" altLang="en-US" sz="2000" dirty="0"/>
                  <a:t>方程组是否有解可以分为以下两种情况：</a:t>
                </a:r>
                <a:endParaRPr lang="en-US" altLang="zh-CN" sz="2000" dirty="0"/>
              </a:p>
              <a:p>
                <a:pPr marL="342900" indent="-342900" algn="just">
                  <a:lnSpc>
                    <a:spcPct val="150000"/>
                  </a:lnSpc>
                  <a:buFont typeface="Wingdings" panose="05000000000000000000" pitchFamily="2" charset="2"/>
                  <a:buChar char="l"/>
                </a:pPr>
                <a:r>
                  <a:rPr lang="zh-CN" altLang="en-US" sz="1900" dirty="0"/>
                  <a:t>当任何</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𝑡</m:t>
                    </m:r>
                    <m:r>
                      <a:rPr lang="en-US" altLang="zh-CN" sz="1900" i="1">
                        <a:latin typeface="Cambria Math" panose="02040503050406030204" pitchFamily="18" charset="0"/>
                      </a:rPr>
                      <m:t> </m:t>
                    </m:r>
                  </m:oMath>
                </a14:m>
                <a:r>
                  <a:rPr lang="zh-CN" altLang="en-US" sz="1900" dirty="0"/>
                  <a:t>个参与者同时到场，那么</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𝑡</m:t>
                    </m:r>
                    <m:r>
                      <a:rPr lang="en-US" altLang="zh-CN" sz="1900" i="1">
                        <a:latin typeface="Cambria Math" panose="02040503050406030204" pitchFamily="18" charset="0"/>
                      </a:rPr>
                      <m:t> </m:t>
                    </m:r>
                  </m:oMath>
                </a14:m>
                <a:r>
                  <a:rPr lang="zh-CN" altLang="en-US" sz="1900" dirty="0"/>
                  <a:t>元一次方程组必然有解，得到 </a:t>
                </a:r>
                <a14:m>
                  <m:oMath xmlns:m="http://schemas.openxmlformats.org/officeDocument/2006/math">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𝑎</m:t>
                        </m:r>
                      </m:e>
                      <m:sub>
                        <m:r>
                          <a:rPr lang="en-US" altLang="zh-CN" sz="1900" i="1">
                            <a:latin typeface="Cambria Math" panose="02040503050406030204" pitchFamily="18" charset="0"/>
                          </a:rPr>
                          <m:t>0</m:t>
                        </m:r>
                      </m:sub>
                    </m:sSub>
                  </m:oMath>
                </a14:m>
                <a:r>
                  <a:rPr lang="zh-CN" altLang="en-US" sz="1900" dirty="0"/>
                  <a:t>；</a:t>
                </a:r>
                <a:endParaRPr lang="en-US" altLang="zh-CN" sz="1900" dirty="0"/>
              </a:p>
              <a:p>
                <a:pPr marL="342900" indent="-342900" algn="just">
                  <a:lnSpc>
                    <a:spcPct val="150000"/>
                  </a:lnSpc>
                  <a:buFont typeface="Wingdings" panose="05000000000000000000" pitchFamily="2" charset="2"/>
                  <a:buChar char="l"/>
                </a:pPr>
                <a:r>
                  <a:rPr lang="zh-CN" altLang="en-US" sz="1900" dirty="0"/>
                  <a:t>当任何</a:t>
                </a:r>
                <a14:m>
                  <m:oMath xmlns:m="http://schemas.openxmlformats.org/officeDocument/2006/math">
                    <m:r>
                      <a:rPr lang="en-US" altLang="zh-CN" sz="1900">
                        <a:latin typeface="Cambria Math" panose="02040503050406030204" pitchFamily="18" charset="0"/>
                      </a:rPr>
                      <m:t> </m:t>
                    </m:r>
                    <m:r>
                      <a:rPr lang="en-US" altLang="zh-CN" sz="1900" i="1">
                        <a:latin typeface="Cambria Math" panose="02040503050406030204" pitchFamily="18" charset="0"/>
                      </a:rPr>
                      <m:t>𝑡</m:t>
                    </m:r>
                    <m:r>
                      <a:rPr lang="en-US" altLang="zh-CN" sz="1900" b="0" i="1" smtClean="0">
                        <a:latin typeface="Cambria Math" panose="02040503050406030204" pitchFamily="18" charset="0"/>
                      </a:rPr>
                      <m:t>−1</m:t>
                    </m:r>
                    <m:r>
                      <a:rPr lang="en-US" altLang="zh-CN" sz="1900" i="1">
                        <a:latin typeface="Cambria Math" panose="02040503050406030204" pitchFamily="18" charset="0"/>
                      </a:rPr>
                      <m:t> </m:t>
                    </m:r>
                  </m:oMath>
                </a14:m>
                <a:r>
                  <a:rPr lang="zh-CN" altLang="en-US" sz="1900" dirty="0"/>
                  <a:t>个及以下的参与者同时到场，那么由于方程组个数小于未知数个数，所以此方程组有无穷多个解，无法重构 </a:t>
                </a:r>
                <a14:m>
                  <m:oMath xmlns:m="http://schemas.openxmlformats.org/officeDocument/2006/math">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𝑎</m:t>
                        </m:r>
                      </m:e>
                      <m:sub>
                        <m:r>
                          <a:rPr lang="en-US" altLang="zh-CN" sz="1900" i="1">
                            <a:latin typeface="Cambria Math" panose="02040503050406030204" pitchFamily="18" charset="0"/>
                          </a:rPr>
                          <m:t>0</m:t>
                        </m:r>
                      </m:sub>
                    </m:sSub>
                  </m:oMath>
                </a14:m>
                <a:r>
                  <a:rPr lang="zh-CN" altLang="en-US" sz="1900" dirty="0"/>
                  <a:t>。</a:t>
                </a:r>
              </a:p>
            </p:txBody>
          </p:sp>
        </mc:Choice>
        <mc:Fallback xmlns="">
          <p:sp>
            <p:nvSpPr>
              <p:cNvPr id="9" name="文本框 8"/>
              <p:cNvSpPr txBox="1">
                <a:spLocks noRot="1" noChangeAspect="1" noMove="1" noResize="1" noEditPoints="1" noAdjustHandles="1" noChangeArrowheads="1" noChangeShapeType="1" noTextEdit="1"/>
              </p:cNvSpPr>
              <p:nvPr/>
            </p:nvSpPr>
            <p:spPr>
              <a:xfrm>
                <a:off x="312517" y="3504983"/>
                <a:ext cx="8561671" cy="2862322"/>
              </a:xfrm>
              <a:prstGeom prst="rect">
                <a:avLst/>
              </a:prstGeom>
              <a:blipFill rotWithShape="1">
                <a:blip r:embed="rId5"/>
                <a:stretch>
                  <a:fillRect l="-1" t="-15" r="1" b="6"/>
                </a:stretch>
              </a:blipFill>
            </p:spPr>
            <p:txBody>
              <a:bodyPr/>
              <a:lstStyle/>
              <a:p>
                <a:r>
                  <a:rPr lang="zh-CN" altLang="en-US">
                    <a:noFill/>
                  </a:rPr>
                  <a:t> </a:t>
                </a:r>
              </a:p>
            </p:txBody>
          </p:sp>
        </mc:Fallback>
      </mc:AlternateContent>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9</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 </a:t>
            </a:r>
            <a:r>
              <a:rPr lang="zh-CN" altLang="en-US" sz="2400" b="1" dirty="0">
                <a:solidFill>
                  <a:srgbClr val="FF0000"/>
                </a:solidFill>
                <a:latin typeface="+mn-ea"/>
              </a:rPr>
              <a:t>秘密共享协议</a:t>
            </a:r>
          </a:p>
        </p:txBody>
      </p:sp>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63" name="文本框 62"/>
              <p:cNvSpPr txBox="1"/>
              <p:nvPr/>
            </p:nvSpPr>
            <p:spPr>
              <a:xfrm>
                <a:off x="312516" y="1578801"/>
                <a:ext cx="8479946" cy="3928576"/>
              </a:xfrm>
              <a:prstGeom prst="rect">
                <a:avLst/>
              </a:prstGeom>
              <a:noFill/>
            </p:spPr>
            <p:txBody>
              <a:bodyPr wrap="square" rtlCol="0">
                <a:spAutoFit/>
              </a:bodyPr>
              <a:lstStyle/>
              <a:p>
                <a:pPr marL="342900" indent="-342900" algn="just">
                  <a:lnSpc>
                    <a:spcPct val="130000"/>
                  </a:lnSpc>
                  <a:buFont typeface="Wingdings" panose="05000000000000000000" pitchFamily="2" charset="2"/>
                  <a:buChar char="l"/>
                </a:pPr>
                <a:r>
                  <a:rPr lang="zh-CN" altLang="en-US" sz="2000" dirty="0"/>
                  <a:t>设 </a:t>
                </a:r>
                <a14:m>
                  <m:oMath xmlns:m="http://schemas.openxmlformats.org/officeDocument/2006/math">
                    <m:r>
                      <a:rPr lang="en-US" altLang="zh-CN" sz="2000" b="0" i="1" smtClean="0">
                        <a:latin typeface="Cambria Math" panose="02040503050406030204" pitchFamily="18" charset="0"/>
                      </a:rPr>
                      <m:t>𝑓</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𝑋</m:t>
                        </m:r>
                      </m:e>
                    </m:d>
                    <m:r>
                      <a:rPr lang="en-US" altLang="zh-CN" sz="2000" b="0" i="1" smtClean="0">
                        <a:latin typeface="Cambria Math" panose="02040503050406030204" pitchFamily="18" charset="0"/>
                      </a:rPr>
                      <m:t>=</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−1</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m:t>
                            </m:r>
                          </m:sub>
                        </m:sSub>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𝑋</m:t>
                            </m:r>
                          </m:e>
                          <m:sup>
                            <m:r>
                              <a:rPr lang="en-US" altLang="zh-CN" sz="2000" b="0" i="1" smtClean="0">
                                <a:latin typeface="Cambria Math" panose="02040503050406030204" pitchFamily="18" charset="0"/>
                              </a:rPr>
                              <m:t>𝑖</m:t>
                            </m:r>
                          </m:sup>
                        </m:sSup>
                      </m:e>
                    </m:nary>
                  </m:oMath>
                </a14:m>
                <a:r>
                  <a:rPr lang="en-US" altLang="zh-CN" sz="2000" dirty="0"/>
                  <a:t> </a:t>
                </a:r>
                <a:r>
                  <a:rPr lang="zh-CN" altLang="en-US" sz="2000" dirty="0"/>
                  <a:t>是阶为</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𝑡</m:t>
                    </m:r>
                    <m:r>
                      <a:rPr lang="en-US" altLang="zh-CN" sz="2000" i="1">
                        <a:latin typeface="Cambria Math" panose="02040503050406030204" pitchFamily="18" charset="0"/>
                      </a:rPr>
                      <m:t>−1</m:t>
                    </m:r>
                  </m:oMath>
                </a14:m>
                <a:r>
                  <a:rPr lang="zh-CN" altLang="en-US" sz="2000" dirty="0"/>
                  <a:t> 的多项式，设</a:t>
                </a:r>
                <a14:m>
                  <m:oMath xmlns:m="http://schemas.openxmlformats.org/officeDocument/2006/math">
                    <m:r>
                      <a:rPr lang="en-US" altLang="zh-CN" sz="2000" b="0" i="0" smtClean="0">
                        <a:latin typeface="Cambria Math" panose="02040503050406030204" pitchFamily="18" charset="0"/>
                      </a:rPr>
                      <m:t> </m:t>
                    </m:r>
                    <m:r>
                      <a:rPr lang="en-US" altLang="zh-CN" sz="2000" b="0" i="1" smtClean="0">
                        <a:latin typeface="Cambria Math" panose="02040503050406030204" pitchFamily="18" charset="0"/>
                      </a:rPr>
                      <m:t>𝑃</m:t>
                    </m:r>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i="1">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sSub>
                      <m:sSubPr>
                        <m:ctrlPr>
                          <a:rPr lang="en-US" altLang="zh-CN" sz="2000" i="1">
                            <a:latin typeface="Cambria Math" panose="02040503050406030204" pitchFamily="18" charset="0"/>
                          </a:rPr>
                        </m:ctrlPr>
                      </m:sSubPr>
                      <m:e>
                        <m:r>
                          <a:rPr lang="en-US" altLang="zh-CN" sz="2000" i="1" smtClean="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m:t>
                    </m:r>
                  </m:oMath>
                </a14:m>
                <a:r>
                  <a:rPr lang="zh-CN" altLang="en-US" sz="2000" dirty="0"/>
                  <a:t>则有拉格朗日插值公式成立，即多项式 </a:t>
                </a:r>
                <a14:m>
                  <m:oMath xmlns:m="http://schemas.openxmlformats.org/officeDocument/2006/math">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e>
                    </m:d>
                  </m:oMath>
                </a14:m>
                <a:r>
                  <a:rPr lang="zh-CN" altLang="en-US" sz="2000" dirty="0"/>
                  <a:t>可以由</a:t>
                </a:r>
                <a:r>
                  <a:rPr lang="zh-CN"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000" i="1">
                        <a:latin typeface="Cambria Math" panose="02040503050406030204" pitchFamily="18" charset="0"/>
                      </a:rPr>
                      <m:t>𝑃</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唯一确定</a:t>
                </a:r>
                <a:r>
                  <a:rPr lang="zh-CN" altLang="en-US" sz="2000" dirty="0"/>
                  <a:t>：</a:t>
                </a:r>
                <a:endParaRPr lang="en-US" altLang="zh-CN" sz="2000" dirty="0"/>
              </a:p>
              <a:p>
                <a:pPr algn="just">
                  <a:lnSpc>
                    <a:spcPct val="130000"/>
                  </a:lnSpc>
                </a:pPr>
                <a:endParaRPr lang="en-US" altLang="zh-CN" sz="2000" dirty="0"/>
              </a:p>
              <a:p>
                <a:pPr algn="just">
                  <a:lnSpc>
                    <a:spcPct val="130000"/>
                  </a:lnSpc>
                </a:pPr>
                <a:endParaRPr lang="en-US" altLang="zh-CN" sz="2000" dirty="0"/>
              </a:p>
              <a:p>
                <a:pPr algn="just">
                  <a:lnSpc>
                    <a:spcPct val="130000"/>
                  </a:lnSpc>
                  <a:spcAft>
                    <a:spcPts val="1200"/>
                  </a:spcAft>
                </a:pPr>
                <a:r>
                  <a:rPr lang="zh-CN" altLang="en-US" sz="2000" dirty="0"/>
                  <a:t>将秘密值</a:t>
                </a:r>
                <a14:m>
                  <m:oMath xmlns:m="http://schemas.openxmlformats.org/officeDocument/2006/math">
                    <m:r>
                      <a:rPr lang="en-US" altLang="zh-CN" sz="2000" b="0" i="0" smtClean="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0</m:t>
                        </m:r>
                      </m:sub>
                    </m:sSub>
                  </m:oMath>
                </a14:m>
                <a:r>
                  <a:rPr lang="zh-CN" altLang="en-US" sz="2000" dirty="0"/>
                  <a:t> 嵌在</a:t>
                </a:r>
                <a14:m>
                  <m:oMath xmlns:m="http://schemas.openxmlformats.org/officeDocument/2006/math">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e>
                    </m:d>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=0</m:t>
                        </m:r>
                      </m:sub>
                      <m:sup>
                        <m:r>
                          <a:rPr lang="en-US" altLang="zh-CN" sz="2000" i="1">
                            <a:latin typeface="Cambria Math" panose="02040503050406030204" pitchFamily="18" charset="0"/>
                          </a:rPr>
                          <m:t>𝑡</m:t>
                        </m:r>
                        <m:r>
                          <a:rPr lang="en-US" altLang="zh-CN" sz="2000" i="1">
                            <a:latin typeface="Cambria Math" panose="02040503050406030204" pitchFamily="18" charset="0"/>
                          </a:rPr>
                          <m:t>−1</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𝑖</m:t>
                            </m:r>
                          </m:sub>
                        </m:sSub>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𝑋</m:t>
                            </m:r>
                          </m:e>
                          <m:sup>
                            <m:r>
                              <a:rPr lang="en-US" altLang="zh-CN" sz="2000" i="1">
                                <a:latin typeface="Cambria Math" panose="02040503050406030204" pitchFamily="18" charset="0"/>
                              </a:rPr>
                              <m:t>𝑖</m:t>
                            </m:r>
                          </m:sup>
                        </m:sSup>
                      </m:e>
                    </m:nary>
                  </m:oMath>
                </a14:m>
                <a:r>
                  <a:rPr lang="zh-CN" altLang="en-US" sz="2000" dirty="0"/>
                  <a:t>中， 在秘密共享的秘密分割阶段可为用户 </a:t>
                </a:r>
                <a14:m>
                  <m:oMath xmlns:m="http://schemas.openxmlformats.org/officeDocument/2006/math">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 </m:t>
                    </m:r>
                  </m:oMath>
                </a14:m>
                <a:r>
                  <a:rPr lang="zh-CN" altLang="en-US" sz="2000" dirty="0"/>
                  <a:t>计算其秘密</a:t>
                </a:r>
                <a14:m>
                  <m:oMath xmlns:m="http://schemas.openxmlformats.org/officeDocument/2006/math">
                    <m:r>
                      <a:rPr lang="zh-CN" altLang="en-US" sz="2000" i="1">
                        <a:latin typeface="Cambria Math" panose="02040503050406030204" pitchFamily="18" charset="0"/>
                      </a:rPr>
                      <m:t>份额</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𝑠</m:t>
                        </m:r>
                      </m:e>
                      <m:sub>
                        <m:r>
                          <a:rPr lang="en-US" altLang="zh-CN" sz="2000" i="1">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𝑖</m:t>
                        </m:r>
                      </m:e>
                    </m:d>
                    <m:r>
                      <a:rPr lang="zh-CN" altLang="en-US" sz="2000" i="1">
                        <a:latin typeface="Cambria Math" panose="02040503050406030204" pitchFamily="18" charset="0"/>
                      </a:rPr>
                      <m:t>，</m:t>
                    </m:r>
                  </m:oMath>
                </a14:m>
                <a:r>
                  <a:rPr lang="zh-CN" altLang="en-US" sz="2000" dirty="0"/>
                  <a:t>然后将</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 </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i="1">
                            <a:latin typeface="Cambria Math" panose="02040503050406030204" pitchFamily="18" charset="0"/>
                          </a:rPr>
                          <m:t>𝑠</m:t>
                        </m:r>
                      </m:e>
                      <m:sub>
                        <m:r>
                          <a:rPr lang="en-US" altLang="zh-CN" sz="2000" i="1">
                            <a:latin typeface="Cambria Math" panose="02040503050406030204" pitchFamily="18" charset="0"/>
                          </a:rPr>
                          <m:t>𝑖</m:t>
                        </m:r>
                      </m:sub>
                    </m:sSub>
                    <m:r>
                      <a:rPr lang="en-US" altLang="zh-CN" sz="2000" b="0" i="1" smtClean="0">
                        <a:latin typeface="Cambria Math" panose="02040503050406030204" pitchFamily="18" charset="0"/>
                      </a:rPr>
                      <m:t>)</m:t>
                    </m:r>
                  </m:oMath>
                </a14:m>
                <a:r>
                  <a:rPr lang="en-US" altLang="zh-CN" sz="2000" dirty="0"/>
                  <a:t> </a:t>
                </a:r>
                <a:r>
                  <a:rPr lang="zh-CN" altLang="en-US" sz="2000" dirty="0"/>
                  <a:t>以安全的方式发送给用户</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𝑖</m:t>
                    </m:r>
                    <m:r>
                      <a:rPr lang="en-US" altLang="zh-CN" sz="2000" i="1">
                        <a:latin typeface="Cambria Math" panose="02040503050406030204" pitchFamily="18" charset="0"/>
                      </a:rPr>
                      <m:t> </m:t>
                    </m:r>
                  </m:oMath>
                </a14:m>
                <a:r>
                  <a:rPr lang="zh-CN" altLang="en-US" sz="2000" dirty="0"/>
                  <a:t>。在秘密重构阶段，任何</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𝑡</m:t>
                    </m:r>
                  </m:oMath>
                </a14:m>
                <a:r>
                  <a:rPr lang="en-US" altLang="zh-CN" sz="2000" dirty="0"/>
                  <a:t> </a:t>
                </a:r>
                <a:r>
                  <a:rPr lang="zh-CN" altLang="en-US" sz="2000" dirty="0"/>
                  <a:t>个或者更多的用户都可以计算秘密。           </a:t>
                </a:r>
                <a:endParaRPr lang="en-US" altLang="zh-CN" sz="2000" dirty="0"/>
              </a:p>
              <a:p>
                <a:pPr algn="just">
                  <a:lnSpc>
                    <a:spcPct val="130000"/>
                  </a:lnSpc>
                  <a:spcAft>
                    <a:spcPts val="1200"/>
                  </a:spcAft>
                </a:pPr>
                <a:r>
                  <a:rPr lang="zh-CN" altLang="en-US" sz="2000" dirty="0"/>
                  <a:t>      设 </a:t>
                </a:r>
                <a14:m>
                  <m:oMath xmlns:m="http://schemas.openxmlformats.org/officeDocument/2006/math">
                    <m:r>
                      <a:rPr lang="en-US" altLang="zh-CN" sz="2000" i="1">
                        <a:latin typeface="Cambria Math" panose="02040503050406030204" pitchFamily="18" charset="0"/>
                      </a:rPr>
                      <m:t>𝐽</m:t>
                    </m:r>
                    <m:r>
                      <a:rPr lang="en-US" altLang="zh-CN" sz="2000" b="1">
                        <a:latin typeface="Cambria Math" panose="02040503050406030204" pitchFamily="18" charset="0"/>
                      </a:rPr>
                      <m:t>⊂</m:t>
                    </m:r>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b="0" i="1" smtClean="0">
                            <a:latin typeface="Cambria Math" panose="02040503050406030204" pitchFamily="18" charset="0"/>
                          </a:rPr>
                          <m:t>𝑛</m:t>
                        </m:r>
                      </m:e>
                    </m:d>
                    <m:r>
                      <a:rPr lang="en-US" altLang="zh-CN" sz="2000" b="0" i="1" smtClean="0">
                        <a:latin typeface="Cambria Math" panose="02040503050406030204" pitchFamily="18" charset="0"/>
                      </a:rPr>
                      <m:t>,</m:t>
                    </m:r>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𝐽</m:t>
                        </m:r>
                      </m:e>
                    </m:d>
                    <m:r>
                      <a:rPr lang="en-US" altLang="zh-CN" sz="2000" i="1">
                        <a:latin typeface="Cambria Math" panose="02040503050406030204" pitchFamily="18" charset="0"/>
                      </a:rPr>
                      <m:t>=</m:t>
                    </m:r>
                    <m:r>
                      <a:rPr lang="en-US" altLang="zh-CN" sz="2000" i="1">
                        <a:latin typeface="Cambria Math" panose="02040503050406030204" pitchFamily="18" charset="0"/>
                      </a:rPr>
                      <m:t>𝑡</m:t>
                    </m:r>
                    <m:r>
                      <a:rPr lang="zh-CN" altLang="en-US" sz="2000" i="1" smtClean="0">
                        <a:latin typeface="Cambria Math" panose="02040503050406030204" pitchFamily="18" charset="0"/>
                      </a:rPr>
                      <m:t>，</m:t>
                    </m:r>
                  </m:oMath>
                </a14:m>
                <a:r>
                  <a:rPr lang="zh-CN" altLang="en-US" sz="2000" dirty="0"/>
                  <a:t>则根据拉格朗日插值公式可以重构秘密</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𝑠</m:t>
                    </m:r>
                  </m:oMath>
                </a14:m>
                <a:r>
                  <a:rPr lang="en-US" altLang="zh-CN" sz="2000" dirty="0"/>
                  <a:t> </a:t>
                </a:r>
                <a:r>
                  <a:rPr lang="zh-CN" altLang="en-US" sz="2000" dirty="0"/>
                  <a:t>。</a:t>
                </a:r>
                <a:endParaRPr lang="en-US" altLang="zh-CN" sz="2000" dirty="0"/>
              </a:p>
            </p:txBody>
          </p:sp>
        </mc:Choice>
        <mc:Fallback xmlns="">
          <p:sp>
            <p:nvSpPr>
              <p:cNvPr id="63" name="文本框 62"/>
              <p:cNvSpPr txBox="1">
                <a:spLocks noRot="1" noChangeAspect="1" noMove="1" noResize="1" noEditPoints="1" noAdjustHandles="1" noChangeArrowheads="1" noChangeShapeType="1" noTextEdit="1"/>
              </p:cNvSpPr>
              <p:nvPr/>
            </p:nvSpPr>
            <p:spPr>
              <a:xfrm>
                <a:off x="312516" y="1578801"/>
                <a:ext cx="8479946" cy="3928576"/>
              </a:xfrm>
              <a:prstGeom prst="rect">
                <a:avLst/>
              </a:prstGeom>
              <a:blipFill rotWithShape="1">
                <a:blip r:embed="rId4"/>
                <a:stretch>
                  <a:fillRect l="-1" t="-5" r="3" b="-67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749641" y="2627449"/>
                <a:ext cx="3417282" cy="8990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1</m:t>
                          </m:r>
                        </m:sub>
                        <m:sup>
                          <m:r>
                            <a:rPr lang="en-US" altLang="zh-CN" i="1">
                              <a:latin typeface="Cambria Math" panose="02040503050406030204" pitchFamily="18" charset="0"/>
                            </a:rPr>
                            <m:t>𝑡</m:t>
                          </m:r>
                        </m:sup>
                        <m:e>
                          <m:r>
                            <a:rPr lang="en-US" altLang="zh-CN" i="1">
                              <a:latin typeface="Cambria Math" panose="02040503050406030204" pitchFamily="18" charset="0"/>
                            </a:rPr>
                            <m:t>𝑓</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e>
                      </m:nary>
                      <m:nary>
                        <m:naryPr>
                          <m:chr m:val="∏"/>
                          <m:supHide m:val="on"/>
                          <m:ctrlPr>
                            <a:rPr lang="en-US" altLang="zh-CN" i="1">
                              <a:latin typeface="Cambria Math" panose="02040503050406030204" pitchFamily="18" charset="0"/>
                            </a:rPr>
                          </m:ctrlPr>
                        </m:naryPr>
                        <m:sub>
                          <m:r>
                            <a:rPr lang="en-US" altLang="zh-CN" b="0" i="1" smtClean="0">
                              <a:latin typeface="Cambria Math" panose="02040503050406030204" pitchFamily="18" charset="0"/>
                            </a:rPr>
                            <m:t>1</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𝑗</m:t>
                          </m:r>
                        </m:sub>
                        <m:sup/>
                        <m:e>
                          <m:f>
                            <m:fPr>
                              <m:ctrlPr>
                                <a:rPr lang="en-US" altLang="zh-CN" i="1">
                                  <a:latin typeface="Cambria Math" panose="02040503050406030204" pitchFamily="18" charset="0"/>
                                </a:rPr>
                              </m:ctrlPr>
                            </m:fPr>
                            <m:num>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m:t>
                                  </m:r>
                                </m:sub>
                              </m:sSub>
                            </m:den>
                          </m:f>
                        </m:e>
                      </m:nary>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2749641" y="2627449"/>
                <a:ext cx="3417282" cy="899029"/>
              </a:xfrm>
              <a:prstGeom prst="rect">
                <a:avLst/>
              </a:prstGeom>
              <a:blipFill rotWithShape="1">
                <a:blip r:embed="rId5"/>
                <a:stretch>
                  <a:fillRect l="-3" t="-50" r="13"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296358" y="5503467"/>
                <a:ext cx="6221254" cy="9018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1</m:t>
                          </m:r>
                        </m:sub>
                        <m:sup>
                          <m:r>
                            <a:rPr lang="en-US" altLang="zh-CN" i="1">
                              <a:latin typeface="Cambria Math" panose="02040503050406030204" pitchFamily="18" charset="0"/>
                            </a:rPr>
                            <m:t>𝑡</m:t>
                          </m:r>
                        </m:sup>
                        <m:e>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b="0" i="1" smtClean="0">
                              <a:latin typeface="Cambria Math" panose="02040503050406030204" pitchFamily="18" charset="0"/>
                            </a:rPr>
                            <m:t>𝑖</m:t>
                          </m:r>
                          <m:r>
                            <a:rPr lang="en-US" altLang="zh-CN" i="1">
                              <a:latin typeface="Cambria Math" panose="02040503050406030204" pitchFamily="18" charset="0"/>
                            </a:rPr>
                            <m:t>)</m:t>
                          </m:r>
                        </m:e>
                      </m:nary>
                      <m:nary>
                        <m:naryPr>
                          <m:chr m:val="∏"/>
                          <m:supHide m:val="on"/>
                          <m:ctrlPr>
                            <a:rPr lang="en-US" altLang="zh-CN" i="1">
                              <a:latin typeface="Cambria Math" panose="02040503050406030204" pitchFamily="18" charset="0"/>
                            </a:rPr>
                          </m:ctrlPr>
                        </m:naryPr>
                        <m:sub>
                          <m:r>
                            <a:rPr lang="en-US" altLang="zh-CN" b="0" i="1" smtClean="0">
                              <a:latin typeface="Cambria Math" panose="02040503050406030204" pitchFamily="18" charset="0"/>
                            </a:rPr>
                            <m:t>1</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𝑗</m:t>
                          </m:r>
                        </m:sub>
                        <m:sup/>
                        <m:e>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𝑗</m:t>
                              </m:r>
                            </m:num>
                            <m:den>
                              <m:r>
                                <a:rPr lang="en-US" altLang="zh-CN" b="0" i="1" smtClean="0">
                                  <a:latin typeface="Cambria Math" panose="02040503050406030204" pitchFamily="18" charset="0"/>
                                </a:rPr>
                                <m:t>𝑗</m:t>
                              </m:r>
                              <m:r>
                                <a:rPr lang="en-US" altLang="zh-CN" i="1">
                                  <a:latin typeface="Cambria Math" panose="02040503050406030204" pitchFamily="18" charset="0"/>
                                </a:rPr>
                                <m:t>−</m:t>
                              </m:r>
                              <m:r>
                                <a:rPr lang="en-US" altLang="zh-CN" b="0" i="1" smtClean="0">
                                  <a:latin typeface="Cambria Math" panose="02040503050406030204" pitchFamily="18" charset="0"/>
                                </a:rPr>
                                <m:t>𝑖</m:t>
                              </m:r>
                            </m:den>
                          </m:f>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1</m:t>
                              </m:r>
                            </m:sub>
                            <m:sup>
                              <m:r>
                                <a:rPr lang="en-US" altLang="zh-CN" i="1">
                                  <a:latin typeface="Cambria Math" panose="02040503050406030204" pitchFamily="18" charset="0"/>
                                </a:rPr>
                                <m:t>𝑡</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𝑠</m:t>
                                  </m:r>
                                </m:e>
                                <m:sub>
                                  <m:r>
                                    <a:rPr lang="en-US" altLang="zh-CN" i="1">
                                      <a:latin typeface="Cambria Math" panose="02040503050406030204" pitchFamily="18" charset="0"/>
                                    </a:rPr>
                                    <m:t>𝑖</m:t>
                                  </m:r>
                                </m:sub>
                              </m:sSub>
                            </m:e>
                          </m:nary>
                          <m:nary>
                            <m:naryPr>
                              <m:chr m:val="∏"/>
                              <m:supHide m:val="on"/>
                              <m:ctrlPr>
                                <a:rPr lang="en-US" altLang="zh-CN" i="1">
                                  <a:latin typeface="Cambria Math" panose="02040503050406030204" pitchFamily="18" charset="0"/>
                                </a:rPr>
                              </m:ctrlPr>
                            </m:naryPr>
                            <m:sub>
                              <m:r>
                                <a:rPr lang="en-US" altLang="zh-CN" b="0" i="1" smtClean="0">
                                  <a:latin typeface="Cambria Math" panose="02040503050406030204" pitchFamily="18" charset="0"/>
                                </a:rPr>
                                <m:t>1</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𝑗</m:t>
                              </m:r>
                            </m:sub>
                            <m:sup/>
                            <m:e>
                              <m:f>
                                <m:fPr>
                                  <m:ctrlPr>
                                    <a:rPr lang="en-US" altLang="zh-CN" i="1">
                                      <a:latin typeface="Cambria Math" panose="02040503050406030204" pitchFamily="18" charset="0"/>
                                    </a:rPr>
                                  </m:ctrlPr>
                                </m:fPr>
                                <m:num>
                                  <m:r>
                                    <a:rPr lang="en-US" altLang="zh-CN" i="1">
                                      <a:latin typeface="Cambria Math" panose="02040503050406030204" pitchFamily="18" charset="0"/>
                                    </a:rPr>
                                    <m:t>𝑗</m:t>
                                  </m:r>
                                </m:num>
                                <m:den>
                                  <m: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𝑖</m:t>
                                  </m:r>
                                </m:den>
                              </m:f>
                            </m:e>
                          </m:nary>
                        </m:e>
                      </m:nary>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296358" y="5503467"/>
                <a:ext cx="6221254" cy="901850"/>
              </a:xfrm>
              <a:prstGeom prst="rect">
                <a:avLst/>
              </a:prstGeom>
              <a:blipFill rotWithShape="1">
                <a:blip r:embed="rId6"/>
                <a:stretch>
                  <a:fillRect l="-5" t="-62" r="8" b="8"/>
                </a:stretch>
              </a:blipFill>
            </p:spPr>
            <p:txBody>
              <a:bodyPr/>
              <a:lstStyle/>
              <a:p>
                <a:r>
                  <a:rPr lang="zh-CN" altLang="en-US">
                    <a:noFill/>
                  </a:rPr>
                  <a:t> </a:t>
                </a:r>
              </a:p>
            </p:txBody>
          </p:sp>
        </mc:Fallback>
      </mc:AlternateContent>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1B63F-8075-2005-06AC-DD61A91F9DE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D449D7-8E2A-7DB6-670E-B778F8DF858C}"/>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a:extLst>
              <a:ext uri="{FF2B5EF4-FFF2-40B4-BE49-F238E27FC236}">
                <a16:creationId xmlns:a16="http://schemas.microsoft.com/office/drawing/2014/main" id="{7A0E9ACC-09D1-F365-8017-AAADF497583E}"/>
              </a:ext>
            </a:extLst>
          </p:cNvPr>
          <p:cNvSpPr>
            <a:spLocks noGrp="1"/>
          </p:cNvSpPr>
          <p:nvPr>
            <p:ph type="sldNum" sz="quarter" idx="12"/>
          </p:nvPr>
        </p:nvSpPr>
        <p:spPr/>
        <p:txBody>
          <a:bodyPr/>
          <a:lstStyle/>
          <a:p>
            <a:fld id="{4DBDE2CB-4801-494F-A0A4-D49D70804842}" type="slidenum">
              <a:rPr lang="zh-CN" altLang="en-US" smtClean="0"/>
              <a:t>10</a:t>
            </a:fld>
            <a:endParaRPr lang="zh-CN" altLang="en-US" dirty="0"/>
          </a:p>
        </p:txBody>
      </p:sp>
      <p:sp>
        <p:nvSpPr>
          <p:cNvPr id="6" name="文本框 5">
            <a:extLst>
              <a:ext uri="{FF2B5EF4-FFF2-40B4-BE49-F238E27FC236}">
                <a16:creationId xmlns:a16="http://schemas.microsoft.com/office/drawing/2014/main" id="{5596248A-1606-7C47-EE77-B6368E13B0F4}"/>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 </a:t>
            </a:r>
            <a:r>
              <a:rPr lang="zh-CN" altLang="en-US" sz="2400" b="1" dirty="0">
                <a:solidFill>
                  <a:srgbClr val="FF0000"/>
                </a:solidFill>
                <a:latin typeface="+mn-ea"/>
              </a:rPr>
              <a:t>秘密共享协议</a:t>
            </a:r>
          </a:p>
        </p:txBody>
      </p:sp>
      <p:sp>
        <p:nvSpPr>
          <p:cNvPr id="4" name="文本框 3">
            <a:extLst>
              <a:ext uri="{FF2B5EF4-FFF2-40B4-BE49-F238E27FC236}">
                <a16:creationId xmlns:a16="http://schemas.microsoft.com/office/drawing/2014/main" id="{3F5D646D-8BF1-B039-B26C-9887267F1C40}"/>
              </a:ext>
            </a:extLst>
          </p:cNvPr>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8" name="Rectangle 3">
            <a:extLst>
              <a:ext uri="{FF2B5EF4-FFF2-40B4-BE49-F238E27FC236}">
                <a16:creationId xmlns:a16="http://schemas.microsoft.com/office/drawing/2014/main" id="{AC67771D-3DE2-9437-D2B5-A70F54F7D994}"/>
              </a:ext>
            </a:extLst>
          </p:cNvPr>
          <p:cNvSpPr txBox="1">
            <a:spLocks noChangeArrowheads="1"/>
          </p:cNvSpPr>
          <p:nvPr/>
        </p:nvSpPr>
        <p:spPr>
          <a:xfrm>
            <a:off x="323850" y="1844675"/>
            <a:ext cx="8496300" cy="4537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80000"/>
              </a:lnSpc>
              <a:buFont typeface="Wingdings" pitchFamily="2" charset="2"/>
              <a:buNone/>
            </a:pPr>
            <a:r>
              <a:rPr lang="zh-CN" altLang="en-US" sz="2000" b="1" dirty="0">
                <a:latin typeface="+mn-ea"/>
              </a:rPr>
              <a:t>在</a:t>
            </a:r>
            <a:r>
              <a:rPr lang="en-US" altLang="zh-CN" sz="2000" b="1" dirty="0">
                <a:latin typeface="+mn-ea"/>
              </a:rPr>
              <a:t>Shamir</a:t>
            </a:r>
            <a:r>
              <a:rPr lang="zh-CN" altLang="en-US" sz="2000" b="1" dirty="0">
                <a:latin typeface="+mn-ea"/>
              </a:rPr>
              <a:t>秘密共享方案中</a:t>
            </a:r>
          </a:p>
          <a:p>
            <a:pPr algn="ctr">
              <a:lnSpc>
                <a:spcPct val="80000"/>
              </a:lnSpc>
              <a:buFont typeface="Wingdings" pitchFamily="2" charset="2"/>
              <a:buNone/>
            </a:pPr>
            <a:r>
              <a:rPr lang="zh-CN" altLang="en-US" sz="2000" b="1" dirty="0">
                <a:latin typeface="+mn-ea"/>
              </a:rPr>
              <a:t>检测“欺骗者”</a:t>
            </a:r>
          </a:p>
          <a:p>
            <a:pPr>
              <a:lnSpc>
                <a:spcPct val="120000"/>
              </a:lnSpc>
              <a:buFont typeface="Wingdings" pitchFamily="2" charset="2"/>
              <a:buNone/>
            </a:pPr>
            <a:r>
              <a:rPr lang="zh-CN" altLang="en-US" sz="2000" b="1" dirty="0">
                <a:latin typeface="+mn-ea"/>
              </a:rPr>
              <a:t>设有</a:t>
            </a:r>
            <a:r>
              <a:rPr lang="en-US" altLang="zh-CN" sz="2000" b="1" dirty="0">
                <a:latin typeface="+mn-ea"/>
              </a:rPr>
              <a:t>t+1</a:t>
            </a:r>
            <a:r>
              <a:rPr lang="zh-CN" altLang="en-US" sz="2000" b="1" dirty="0">
                <a:latin typeface="+mn-ea"/>
              </a:rPr>
              <a:t>个以上参与者同时到场。</a:t>
            </a:r>
            <a:r>
              <a:rPr lang="zh-CN" altLang="en-US" sz="2000" dirty="0">
                <a:latin typeface="+mn-ea"/>
              </a:rPr>
              <a:t>其中有一个参与者是“欺骗者”</a:t>
            </a:r>
            <a:r>
              <a:rPr lang="en-US" altLang="zh-CN" sz="2000" dirty="0">
                <a:latin typeface="+mn-ea"/>
              </a:rPr>
              <a:t>Eve</a:t>
            </a:r>
            <a:r>
              <a:rPr lang="zh-CN" altLang="en-US" sz="2000" dirty="0">
                <a:latin typeface="+mn-ea"/>
              </a:rPr>
              <a:t>，他出示的是身份名（</a:t>
            </a:r>
            <a:r>
              <a:rPr lang="en-US" altLang="zh-CN" sz="2000" dirty="0">
                <a:latin typeface="+mn-ea"/>
              </a:rPr>
              <a:t>ID(k)</a:t>
            </a:r>
            <a:r>
              <a:rPr lang="zh-CN" altLang="en-US" sz="2000" dirty="0">
                <a:latin typeface="+mn-ea"/>
              </a:rPr>
              <a:t>，</a:t>
            </a:r>
            <a:r>
              <a:rPr lang="en-US" altLang="zh-CN" sz="2000" dirty="0">
                <a:latin typeface="+mn-ea"/>
              </a:rPr>
              <a:t>h(ID(k))</a:t>
            </a:r>
            <a:r>
              <a:rPr lang="zh-CN" altLang="en-US" sz="2000" dirty="0">
                <a:latin typeface="+mn-ea"/>
              </a:rPr>
              <a:t>）是假的。</a:t>
            </a:r>
          </a:p>
          <a:p>
            <a:pPr>
              <a:lnSpc>
                <a:spcPct val="120000"/>
              </a:lnSpc>
              <a:buFont typeface="Wingdings" pitchFamily="2" charset="2"/>
              <a:buNone/>
            </a:pPr>
            <a:r>
              <a:rPr lang="zh-CN" altLang="en-US" sz="2000" dirty="0">
                <a:latin typeface="+mn-ea"/>
              </a:rPr>
              <a:t>设任何</a:t>
            </a:r>
            <a:r>
              <a:rPr lang="en-US" altLang="zh-CN" sz="2000" dirty="0">
                <a:latin typeface="+mn-ea"/>
              </a:rPr>
              <a:t>t</a:t>
            </a:r>
            <a:r>
              <a:rPr lang="zh-CN" altLang="en-US" sz="2000" dirty="0">
                <a:latin typeface="+mn-ea"/>
              </a:rPr>
              <a:t>个诚实的参与者组合在一起，计算出</a:t>
            </a:r>
            <a:r>
              <a:rPr lang="en-US" altLang="zh-CN" sz="2000" dirty="0">
                <a:latin typeface="+mn-ea"/>
              </a:rPr>
              <a:t>h(x)</a:t>
            </a:r>
            <a:r>
              <a:rPr lang="zh-CN" altLang="en-US" sz="2000" dirty="0">
                <a:latin typeface="+mn-ea"/>
              </a:rPr>
              <a:t>的系数向量都是真实的</a:t>
            </a:r>
            <a:endParaRPr lang="en-US" altLang="zh-CN" sz="2000" dirty="0">
              <a:latin typeface="+mn-ea"/>
            </a:endParaRPr>
          </a:p>
          <a:p>
            <a:pPr>
              <a:lnSpc>
                <a:spcPct val="120000"/>
              </a:lnSpc>
              <a:buFont typeface="Wingdings" pitchFamily="2" charset="2"/>
              <a:buNone/>
            </a:pPr>
            <a:r>
              <a:rPr lang="en-US" altLang="zh-CN" sz="2000" dirty="0">
                <a:latin typeface="+mn-ea"/>
              </a:rPr>
              <a:t>{a</a:t>
            </a:r>
            <a:r>
              <a:rPr lang="en-US" altLang="zh-CN" sz="2000" baseline="-25000" dirty="0">
                <a:latin typeface="+mn-ea"/>
              </a:rPr>
              <a:t>0</a:t>
            </a:r>
            <a:r>
              <a:rPr lang="en-US" altLang="zh-CN" sz="2000" dirty="0">
                <a:latin typeface="+mn-ea"/>
              </a:rPr>
              <a:t>, a</a:t>
            </a:r>
            <a:r>
              <a:rPr lang="en-US" altLang="zh-CN" sz="2000" baseline="-25000" dirty="0">
                <a:latin typeface="+mn-ea"/>
              </a:rPr>
              <a:t>1</a:t>
            </a:r>
            <a:r>
              <a:rPr lang="en-US" altLang="zh-CN" sz="2000" dirty="0">
                <a:latin typeface="+mn-ea"/>
              </a:rPr>
              <a:t>, a</a:t>
            </a:r>
            <a:r>
              <a:rPr lang="en-US" altLang="zh-CN" sz="2000" baseline="-25000" dirty="0">
                <a:latin typeface="+mn-ea"/>
              </a:rPr>
              <a:t>2</a:t>
            </a:r>
            <a:r>
              <a:rPr lang="en-US" altLang="zh-CN" sz="2000" dirty="0">
                <a:latin typeface="+mn-ea"/>
              </a:rPr>
              <a:t>, …, a</a:t>
            </a:r>
            <a:r>
              <a:rPr lang="en-US" altLang="zh-CN" sz="2000" baseline="-25000" dirty="0">
                <a:latin typeface="+mn-ea"/>
              </a:rPr>
              <a:t>t-2</a:t>
            </a:r>
            <a:r>
              <a:rPr lang="en-US" altLang="zh-CN" sz="2000" dirty="0">
                <a:latin typeface="+mn-ea"/>
              </a:rPr>
              <a:t>, a</a:t>
            </a:r>
            <a:r>
              <a:rPr lang="en-US" altLang="zh-CN" sz="2000" baseline="-25000" dirty="0">
                <a:latin typeface="+mn-ea"/>
              </a:rPr>
              <a:t>t-1</a:t>
            </a:r>
            <a:r>
              <a:rPr lang="en-US" altLang="zh-CN" sz="2000" dirty="0">
                <a:latin typeface="+mn-ea"/>
              </a:rPr>
              <a:t>}</a:t>
            </a:r>
            <a:r>
              <a:rPr lang="zh-CN" altLang="en-US" sz="2000" dirty="0">
                <a:latin typeface="+mn-ea"/>
              </a:rPr>
              <a:t>。</a:t>
            </a:r>
          </a:p>
          <a:p>
            <a:pPr>
              <a:lnSpc>
                <a:spcPct val="120000"/>
              </a:lnSpc>
              <a:buFont typeface="Wingdings" pitchFamily="2" charset="2"/>
              <a:buNone/>
            </a:pPr>
            <a:r>
              <a:rPr lang="zh-CN" altLang="en-US" sz="2000" dirty="0">
                <a:latin typeface="+mn-ea"/>
              </a:rPr>
              <a:t>设</a:t>
            </a:r>
            <a:r>
              <a:rPr lang="en-US" altLang="zh-CN" sz="2000" dirty="0">
                <a:latin typeface="+mn-ea"/>
              </a:rPr>
              <a:t>Eve</a:t>
            </a:r>
            <a:r>
              <a:rPr lang="zh-CN" altLang="en-US" sz="2000" dirty="0">
                <a:latin typeface="+mn-ea"/>
              </a:rPr>
              <a:t>与某</a:t>
            </a:r>
            <a:r>
              <a:rPr lang="en-US" altLang="zh-CN" sz="2000" dirty="0">
                <a:latin typeface="+mn-ea"/>
              </a:rPr>
              <a:t>t-1</a:t>
            </a:r>
            <a:r>
              <a:rPr lang="zh-CN" altLang="en-US" sz="2000" dirty="0">
                <a:latin typeface="+mn-ea"/>
              </a:rPr>
              <a:t>个诚实的参与者组合在一起，计算出</a:t>
            </a:r>
            <a:r>
              <a:rPr lang="en-US" altLang="zh-CN" sz="2000" dirty="0">
                <a:latin typeface="+mn-ea"/>
              </a:rPr>
              <a:t>h(x)</a:t>
            </a:r>
            <a:r>
              <a:rPr lang="zh-CN" altLang="en-US" sz="2000" dirty="0">
                <a:latin typeface="+mn-ea"/>
              </a:rPr>
              <a:t>的系数向量是</a:t>
            </a:r>
            <a:endParaRPr lang="en-US" altLang="zh-CN" sz="2000" dirty="0">
              <a:latin typeface="+mn-ea"/>
            </a:endParaRPr>
          </a:p>
          <a:p>
            <a:pPr>
              <a:lnSpc>
                <a:spcPct val="120000"/>
              </a:lnSpc>
              <a:buFont typeface="Wingdings" pitchFamily="2" charset="2"/>
              <a:buNone/>
            </a:pPr>
            <a:r>
              <a:rPr lang="en-US" altLang="zh-CN" sz="2000" dirty="0">
                <a:latin typeface="+mn-ea"/>
              </a:rPr>
              <a:t>{a</a:t>
            </a:r>
            <a:r>
              <a:rPr lang="en-US" altLang="zh-CN" sz="2000" baseline="-25000" dirty="0">
                <a:latin typeface="+mn-ea"/>
              </a:rPr>
              <a:t>0</a:t>
            </a:r>
            <a:r>
              <a:rPr lang="en-US" altLang="zh-CN" sz="2000" dirty="0">
                <a:latin typeface="+mn-ea"/>
              </a:rPr>
              <a:t>’, a</a:t>
            </a:r>
            <a:r>
              <a:rPr lang="en-US" altLang="zh-CN" sz="2000" baseline="-25000" dirty="0">
                <a:latin typeface="+mn-ea"/>
              </a:rPr>
              <a:t>1</a:t>
            </a:r>
            <a:r>
              <a:rPr lang="en-US" altLang="zh-CN" sz="2000" dirty="0">
                <a:latin typeface="+mn-ea"/>
              </a:rPr>
              <a:t>’, a</a:t>
            </a:r>
            <a:r>
              <a:rPr lang="en-US" altLang="zh-CN" sz="2000" baseline="-25000" dirty="0">
                <a:latin typeface="+mn-ea"/>
              </a:rPr>
              <a:t>2</a:t>
            </a:r>
            <a:r>
              <a:rPr lang="en-US" altLang="zh-CN" sz="2000" dirty="0">
                <a:latin typeface="+mn-ea"/>
              </a:rPr>
              <a:t>’, …, a</a:t>
            </a:r>
            <a:r>
              <a:rPr lang="en-US" altLang="zh-CN" sz="2000" baseline="-25000" dirty="0">
                <a:latin typeface="+mn-ea"/>
              </a:rPr>
              <a:t>t-2</a:t>
            </a:r>
            <a:r>
              <a:rPr lang="en-US" altLang="zh-CN" sz="2000" dirty="0">
                <a:latin typeface="+mn-ea"/>
              </a:rPr>
              <a:t>’, a</a:t>
            </a:r>
            <a:r>
              <a:rPr lang="en-US" altLang="zh-CN" sz="2000" baseline="-25000" dirty="0">
                <a:latin typeface="+mn-ea"/>
              </a:rPr>
              <a:t>t-1</a:t>
            </a:r>
            <a:r>
              <a:rPr lang="en-US" altLang="zh-CN" sz="2000" dirty="0">
                <a:latin typeface="+mn-ea"/>
              </a:rPr>
              <a:t>’}</a:t>
            </a:r>
            <a:r>
              <a:rPr lang="zh-CN" altLang="en-US" sz="2000" dirty="0">
                <a:latin typeface="+mn-ea"/>
              </a:rPr>
              <a:t>。</a:t>
            </a:r>
          </a:p>
          <a:p>
            <a:pPr>
              <a:lnSpc>
                <a:spcPct val="120000"/>
              </a:lnSpc>
              <a:buFont typeface="Wingdings" pitchFamily="2" charset="2"/>
              <a:buNone/>
            </a:pPr>
            <a:r>
              <a:rPr lang="zh-CN" altLang="en-US" sz="2000" dirty="0">
                <a:latin typeface="+mn-ea"/>
              </a:rPr>
              <a:t>设</a:t>
            </a:r>
            <a:r>
              <a:rPr lang="en-US" altLang="zh-CN" sz="2000" dirty="0">
                <a:latin typeface="+mn-ea"/>
              </a:rPr>
              <a:t>Eve</a:t>
            </a:r>
            <a:r>
              <a:rPr lang="zh-CN" altLang="en-US" sz="2000" dirty="0">
                <a:latin typeface="+mn-ea"/>
              </a:rPr>
              <a:t>与另外</a:t>
            </a:r>
            <a:r>
              <a:rPr lang="en-US" altLang="zh-CN" sz="2000" dirty="0">
                <a:latin typeface="+mn-ea"/>
              </a:rPr>
              <a:t>t-1</a:t>
            </a:r>
            <a:r>
              <a:rPr lang="zh-CN" altLang="en-US" sz="2000" dirty="0">
                <a:latin typeface="+mn-ea"/>
              </a:rPr>
              <a:t>个诚实的参与者组合在一起，计算出</a:t>
            </a:r>
            <a:r>
              <a:rPr lang="en-US" altLang="zh-CN" sz="2000" dirty="0">
                <a:latin typeface="+mn-ea"/>
              </a:rPr>
              <a:t>h(x)</a:t>
            </a:r>
            <a:r>
              <a:rPr lang="zh-CN" altLang="en-US" sz="2000" dirty="0">
                <a:latin typeface="+mn-ea"/>
              </a:rPr>
              <a:t>的系数向量是 </a:t>
            </a:r>
            <a:r>
              <a:rPr lang="en-US" altLang="zh-CN" sz="2000" dirty="0">
                <a:latin typeface="+mn-ea"/>
              </a:rPr>
              <a:t>{a</a:t>
            </a:r>
            <a:r>
              <a:rPr lang="en-US" altLang="zh-CN" sz="2000" baseline="-25000" dirty="0">
                <a:latin typeface="+mn-ea"/>
              </a:rPr>
              <a:t>0</a:t>
            </a:r>
            <a:r>
              <a:rPr lang="en-US" altLang="zh-CN" sz="2000" dirty="0">
                <a:latin typeface="+mn-ea"/>
              </a:rPr>
              <a:t>”, a</a:t>
            </a:r>
            <a:r>
              <a:rPr lang="en-US" altLang="zh-CN" sz="2000" baseline="-25000" dirty="0">
                <a:latin typeface="+mn-ea"/>
              </a:rPr>
              <a:t>1</a:t>
            </a:r>
            <a:r>
              <a:rPr lang="en-US" altLang="zh-CN" sz="2000" dirty="0">
                <a:latin typeface="+mn-ea"/>
              </a:rPr>
              <a:t>”, a</a:t>
            </a:r>
            <a:r>
              <a:rPr lang="en-US" altLang="zh-CN" sz="2000" baseline="-25000" dirty="0">
                <a:latin typeface="+mn-ea"/>
              </a:rPr>
              <a:t>2</a:t>
            </a:r>
            <a:r>
              <a:rPr lang="en-US" altLang="zh-CN" sz="2000" dirty="0">
                <a:latin typeface="+mn-ea"/>
              </a:rPr>
              <a:t>”, …, a</a:t>
            </a:r>
            <a:r>
              <a:rPr lang="en-US" altLang="zh-CN" sz="2000" baseline="-25000" dirty="0">
                <a:latin typeface="+mn-ea"/>
              </a:rPr>
              <a:t>t-2</a:t>
            </a:r>
            <a:r>
              <a:rPr lang="en-US" altLang="zh-CN" sz="2000" dirty="0">
                <a:latin typeface="+mn-ea"/>
              </a:rPr>
              <a:t>”, a</a:t>
            </a:r>
            <a:r>
              <a:rPr lang="en-US" altLang="zh-CN" sz="2000" baseline="-25000" dirty="0">
                <a:latin typeface="+mn-ea"/>
              </a:rPr>
              <a:t>t-1</a:t>
            </a:r>
            <a:r>
              <a:rPr lang="en-US" altLang="zh-CN" sz="2000" dirty="0">
                <a:latin typeface="+mn-ea"/>
              </a:rPr>
              <a:t>”}</a:t>
            </a:r>
            <a:r>
              <a:rPr lang="zh-CN" altLang="en-US" sz="2000" dirty="0">
                <a:latin typeface="+mn-ea"/>
              </a:rPr>
              <a:t>。</a:t>
            </a:r>
          </a:p>
        </p:txBody>
      </p:sp>
    </p:spTree>
    <p:custDataLst>
      <p:tags r:id="rId1"/>
    </p:custDataLst>
    <p:extLst>
      <p:ext uri="{BB962C8B-B14F-4D97-AF65-F5344CB8AC3E}">
        <p14:creationId xmlns:p14="http://schemas.microsoft.com/office/powerpoint/2010/main" val="750021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93BFB-9423-7BFB-7A7D-EE43CBFA8E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593B39-50D5-6AC2-11EE-36D6C6B03FCE}"/>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a:extLst>
              <a:ext uri="{FF2B5EF4-FFF2-40B4-BE49-F238E27FC236}">
                <a16:creationId xmlns:a16="http://schemas.microsoft.com/office/drawing/2014/main" id="{78B14C29-E121-80C6-AAEC-B9716E5F2723}"/>
              </a:ext>
            </a:extLst>
          </p:cNvPr>
          <p:cNvSpPr>
            <a:spLocks noGrp="1"/>
          </p:cNvSpPr>
          <p:nvPr>
            <p:ph type="sldNum" sz="quarter" idx="12"/>
          </p:nvPr>
        </p:nvSpPr>
        <p:spPr/>
        <p:txBody>
          <a:bodyPr/>
          <a:lstStyle/>
          <a:p>
            <a:fld id="{4DBDE2CB-4801-494F-A0A4-D49D70804842}" type="slidenum">
              <a:rPr lang="zh-CN" altLang="en-US" smtClean="0"/>
              <a:t>11</a:t>
            </a:fld>
            <a:endParaRPr lang="zh-CN" altLang="en-US" dirty="0"/>
          </a:p>
        </p:txBody>
      </p:sp>
      <p:sp>
        <p:nvSpPr>
          <p:cNvPr id="6" name="文本框 5">
            <a:extLst>
              <a:ext uri="{FF2B5EF4-FFF2-40B4-BE49-F238E27FC236}">
                <a16:creationId xmlns:a16="http://schemas.microsoft.com/office/drawing/2014/main" id="{0EEBA364-9E82-5AF7-03A6-A7489882C5C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 </a:t>
            </a:r>
            <a:r>
              <a:rPr lang="zh-CN" altLang="en-US" sz="2400" b="1" dirty="0">
                <a:solidFill>
                  <a:srgbClr val="FF0000"/>
                </a:solidFill>
                <a:latin typeface="+mn-ea"/>
              </a:rPr>
              <a:t>秘密共享协议</a:t>
            </a:r>
          </a:p>
        </p:txBody>
      </p:sp>
      <p:sp>
        <p:nvSpPr>
          <p:cNvPr id="4" name="文本框 3">
            <a:extLst>
              <a:ext uri="{FF2B5EF4-FFF2-40B4-BE49-F238E27FC236}">
                <a16:creationId xmlns:a16="http://schemas.microsoft.com/office/drawing/2014/main" id="{45C0583B-13B4-A068-F9FC-F44E1173EA40}"/>
              </a:ext>
            </a:extLst>
          </p:cNvPr>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8" name="Rectangle 3">
            <a:extLst>
              <a:ext uri="{FF2B5EF4-FFF2-40B4-BE49-F238E27FC236}">
                <a16:creationId xmlns:a16="http://schemas.microsoft.com/office/drawing/2014/main" id="{3FA1E784-95A6-3BB0-483F-85FFA4FCCBF5}"/>
              </a:ext>
            </a:extLst>
          </p:cNvPr>
          <p:cNvSpPr txBox="1">
            <a:spLocks noChangeArrowheads="1"/>
          </p:cNvSpPr>
          <p:nvPr/>
        </p:nvSpPr>
        <p:spPr>
          <a:xfrm>
            <a:off x="323850" y="1844675"/>
            <a:ext cx="8496300" cy="4537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buClrTx/>
              <a:buSzTx/>
              <a:buFontTx/>
              <a:buNone/>
            </a:pPr>
            <a:r>
              <a:rPr lang="zh-CN" altLang="en-US" sz="2000" dirty="0">
                <a:latin typeface="Times New Roman" panose="02020603050405020304" pitchFamily="18" charset="0"/>
              </a:rPr>
              <a:t>由于</a:t>
            </a:r>
            <a:r>
              <a:rPr lang="en-US" altLang="zh-CN" sz="2000" dirty="0">
                <a:latin typeface="Times New Roman" panose="02020603050405020304" pitchFamily="18" charset="0"/>
              </a:rPr>
              <a:t>Eve</a:t>
            </a:r>
            <a:r>
              <a:rPr lang="zh-CN" altLang="en-US" sz="2000" dirty="0">
                <a:latin typeface="Times New Roman" panose="02020603050405020304" pitchFamily="18" charset="0"/>
              </a:rPr>
              <a:t>难以由自己的所谓</a:t>
            </a:r>
            <a:r>
              <a:rPr lang="en-US" altLang="zh-CN" sz="2000" i="1" dirty="0">
                <a:latin typeface="Times New Roman" panose="02020603050405020304" pitchFamily="18" charset="0"/>
              </a:rPr>
              <a:t>ID</a:t>
            </a:r>
            <a:r>
              <a:rPr lang="en-US" altLang="zh-CN" sz="2000" dirty="0">
                <a:latin typeface="Times New Roman" panose="02020603050405020304" pitchFamily="18" charset="0"/>
              </a:rPr>
              <a:t>(</a:t>
            </a:r>
            <a:r>
              <a:rPr lang="en-US" altLang="zh-CN" sz="2000" i="1" dirty="0">
                <a:latin typeface="Times New Roman" panose="02020603050405020304" pitchFamily="18" charset="0"/>
              </a:rPr>
              <a:t>k</a:t>
            </a:r>
            <a:r>
              <a:rPr lang="en-US" altLang="zh-CN" sz="2000" dirty="0">
                <a:latin typeface="Times New Roman" panose="02020603050405020304" pitchFamily="18" charset="0"/>
              </a:rPr>
              <a:t>)</a:t>
            </a:r>
            <a:r>
              <a:rPr lang="zh-CN" altLang="en-US" sz="2000" dirty="0">
                <a:latin typeface="Times New Roman" panose="02020603050405020304" pitchFamily="18" charset="0"/>
              </a:rPr>
              <a:t>求出对应的</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ID</a:t>
            </a:r>
            <a:r>
              <a:rPr lang="en-US" altLang="zh-CN" sz="2000" dirty="0">
                <a:latin typeface="Times New Roman" panose="02020603050405020304" pitchFamily="18" charset="0"/>
              </a:rPr>
              <a:t>(</a:t>
            </a:r>
            <a:r>
              <a:rPr lang="en-US" altLang="zh-CN" sz="2000" i="1" dirty="0">
                <a:latin typeface="Times New Roman" panose="02020603050405020304" pitchFamily="18" charset="0"/>
              </a:rPr>
              <a:t>k</a:t>
            </a:r>
            <a:r>
              <a:rPr lang="en-US" altLang="zh-CN" sz="2000" dirty="0">
                <a:latin typeface="Times New Roman" panose="02020603050405020304" pitchFamily="18" charset="0"/>
              </a:rPr>
              <a:t>))</a:t>
            </a:r>
            <a:r>
              <a:rPr lang="zh-CN" altLang="en-US" sz="2000" dirty="0">
                <a:latin typeface="Times New Roman" panose="02020603050405020304" pitchFamily="18" charset="0"/>
              </a:rPr>
              <a:t>，因此他的所谓身份名（</a:t>
            </a:r>
            <a:r>
              <a:rPr lang="en-US" altLang="zh-CN" sz="2000" i="1" dirty="0">
                <a:latin typeface="Times New Roman" panose="02020603050405020304" pitchFamily="18" charset="0"/>
              </a:rPr>
              <a:t>ID</a:t>
            </a:r>
            <a:r>
              <a:rPr lang="en-US" altLang="zh-CN" sz="2000" dirty="0">
                <a:latin typeface="Times New Roman" panose="02020603050405020304" pitchFamily="18" charset="0"/>
              </a:rPr>
              <a:t>(</a:t>
            </a:r>
            <a:r>
              <a:rPr lang="en-US" altLang="zh-CN" sz="2000" i="1" dirty="0">
                <a:latin typeface="Times New Roman" panose="02020603050405020304" pitchFamily="18" charset="0"/>
              </a:rPr>
              <a:t>k</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ID</a:t>
            </a:r>
            <a:r>
              <a:rPr lang="en-US" altLang="zh-CN" sz="2000" dirty="0">
                <a:latin typeface="Times New Roman" panose="02020603050405020304" pitchFamily="18" charset="0"/>
              </a:rPr>
              <a:t>(</a:t>
            </a:r>
            <a:r>
              <a:rPr lang="en-US" altLang="zh-CN" sz="2000" i="1" dirty="0">
                <a:latin typeface="Times New Roman" panose="02020603050405020304" pitchFamily="18" charset="0"/>
              </a:rPr>
              <a:t>k</a:t>
            </a:r>
            <a:r>
              <a:rPr lang="en-US" altLang="zh-CN" sz="2000" dirty="0">
                <a:latin typeface="Times New Roman" panose="02020603050405020304" pitchFamily="18" charset="0"/>
              </a:rPr>
              <a:t>))</a:t>
            </a:r>
            <a:r>
              <a:rPr lang="zh-CN" altLang="en-US" sz="2000" dirty="0">
                <a:latin typeface="Times New Roman" panose="02020603050405020304" pitchFamily="18" charset="0"/>
              </a:rPr>
              <a:t>）很难成为“配套的”。</a:t>
            </a:r>
          </a:p>
          <a:p>
            <a:pPr>
              <a:lnSpc>
                <a:spcPct val="120000"/>
              </a:lnSpc>
              <a:buFont typeface="Wingdings" pitchFamily="2" charset="2"/>
              <a:buNone/>
            </a:pPr>
            <a:r>
              <a:rPr lang="zh-CN" altLang="en-US" sz="2000" dirty="0">
                <a:latin typeface="Times New Roman" panose="02020603050405020304" pitchFamily="18" charset="0"/>
              </a:rPr>
              <a:t>因此，</a:t>
            </a:r>
          </a:p>
          <a:p>
            <a:pPr algn="ctr">
              <a:lnSpc>
                <a:spcPct val="95000"/>
              </a:lnSpc>
              <a:buFont typeface="Wingdings" pitchFamily="2" charset="2"/>
              <a:buNone/>
            </a:pPr>
            <a:r>
              <a:rPr lang="en-US" altLang="zh-CN" sz="2000" dirty="0">
                <a:latin typeface="Times New Roman" panose="02020603050405020304" pitchFamily="18" charset="0"/>
              </a:rPr>
              <a:t>{</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 </a:t>
            </a:r>
            <a:r>
              <a:rPr lang="en-US" altLang="zh-CN" sz="2000" i="1" dirty="0">
                <a:latin typeface="Times New Roman" panose="02020603050405020304" pitchFamily="18" charset="0"/>
              </a:rPr>
              <a:t>a</a:t>
            </a:r>
            <a:r>
              <a:rPr lang="en-US" altLang="zh-CN" sz="2000" i="1" baseline="-25000" dirty="0">
                <a:latin typeface="Times New Roman" panose="02020603050405020304" pitchFamily="18" charset="0"/>
              </a:rPr>
              <a:t>t</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i="1" baseline="-25000" dirty="0">
                <a:latin typeface="Times New Roman" panose="02020603050405020304" pitchFamily="18" charset="0"/>
              </a:rPr>
              <a:t>t</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p>
          <a:p>
            <a:pPr algn="ctr">
              <a:lnSpc>
                <a:spcPct val="95000"/>
              </a:lnSpc>
              <a:buFont typeface="Wingdings" pitchFamily="2" charset="2"/>
              <a:buNone/>
            </a:pPr>
            <a:r>
              <a:rPr lang="en-US" altLang="zh-CN" sz="2000" dirty="0">
                <a:latin typeface="Times New Roman" panose="02020603050405020304" pitchFamily="18" charset="0"/>
              </a:rPr>
              <a:t>{</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 </a:t>
            </a:r>
            <a:r>
              <a:rPr lang="en-US" altLang="zh-CN" sz="2000" i="1" dirty="0">
                <a:latin typeface="Times New Roman" panose="02020603050405020304" pitchFamily="18" charset="0"/>
              </a:rPr>
              <a:t>a</a:t>
            </a:r>
            <a:r>
              <a:rPr lang="en-US" altLang="zh-CN" sz="2000" i="1" baseline="-25000" dirty="0">
                <a:latin typeface="Times New Roman" panose="02020603050405020304" pitchFamily="18" charset="0"/>
              </a:rPr>
              <a:t>t</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i="1" baseline="-25000" dirty="0">
                <a:latin typeface="Times New Roman" panose="02020603050405020304" pitchFamily="18" charset="0"/>
              </a:rPr>
              <a:t>t</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p>
          <a:p>
            <a:pPr algn="ctr">
              <a:lnSpc>
                <a:spcPct val="95000"/>
              </a:lnSpc>
              <a:buFont typeface="Wingdings" pitchFamily="2" charset="2"/>
              <a:buNone/>
            </a:pPr>
            <a:r>
              <a:rPr lang="en-US" altLang="zh-CN" sz="2000" dirty="0">
                <a:latin typeface="Times New Roman" panose="02020603050405020304" pitchFamily="18" charset="0"/>
              </a:rPr>
              <a:t>{</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 </a:t>
            </a:r>
            <a:r>
              <a:rPr lang="en-US" altLang="zh-CN" sz="2000" i="1" dirty="0">
                <a:latin typeface="Times New Roman" panose="02020603050405020304" pitchFamily="18" charset="0"/>
              </a:rPr>
              <a:t>a</a:t>
            </a:r>
            <a:r>
              <a:rPr lang="en-US" altLang="zh-CN" sz="2000" i="1" baseline="-25000" dirty="0">
                <a:latin typeface="Times New Roman" panose="02020603050405020304" pitchFamily="18" charset="0"/>
              </a:rPr>
              <a:t>t</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a:t>
            </a:r>
            <a:r>
              <a:rPr lang="en-US" altLang="zh-CN" sz="2000" i="1" dirty="0">
                <a:latin typeface="Times New Roman" panose="02020603050405020304" pitchFamily="18" charset="0"/>
              </a:rPr>
              <a:t>a</a:t>
            </a:r>
            <a:r>
              <a:rPr lang="en-US" altLang="zh-CN" sz="2000" i="1" baseline="-25000" dirty="0">
                <a:latin typeface="Times New Roman" panose="02020603050405020304" pitchFamily="18" charset="0"/>
              </a:rPr>
              <a:t>t</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p>
          <a:p>
            <a:pPr>
              <a:lnSpc>
                <a:spcPct val="95000"/>
              </a:lnSpc>
              <a:buFont typeface="Wingdings" pitchFamily="2" charset="2"/>
              <a:buNone/>
            </a:pPr>
            <a:r>
              <a:rPr lang="zh-CN" altLang="en-US" sz="2000" dirty="0">
                <a:latin typeface="Times New Roman" panose="02020603050405020304" pitchFamily="18" charset="0"/>
              </a:rPr>
              <a:t>三个系数向量中的任何两个向量都很难相互相等。</a:t>
            </a:r>
          </a:p>
        </p:txBody>
      </p:sp>
    </p:spTree>
    <p:custDataLst>
      <p:tags r:id="rId1"/>
    </p:custDataLst>
    <p:extLst>
      <p:ext uri="{BB962C8B-B14F-4D97-AF65-F5344CB8AC3E}">
        <p14:creationId xmlns:p14="http://schemas.microsoft.com/office/powerpoint/2010/main" val="80317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A645-2CC7-DC96-9BBF-4457F8477D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148CB2-0641-B576-AD9D-93EBF3FC5C55}"/>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a:extLst>
              <a:ext uri="{FF2B5EF4-FFF2-40B4-BE49-F238E27FC236}">
                <a16:creationId xmlns:a16="http://schemas.microsoft.com/office/drawing/2014/main" id="{CFAC0283-7CA8-775C-1635-24805ECE5A86}"/>
              </a:ext>
            </a:extLst>
          </p:cNvPr>
          <p:cNvSpPr>
            <a:spLocks noGrp="1"/>
          </p:cNvSpPr>
          <p:nvPr>
            <p:ph type="sldNum" sz="quarter" idx="12"/>
          </p:nvPr>
        </p:nvSpPr>
        <p:spPr/>
        <p:txBody>
          <a:bodyPr/>
          <a:lstStyle/>
          <a:p>
            <a:fld id="{4DBDE2CB-4801-494F-A0A4-D49D70804842}" type="slidenum">
              <a:rPr lang="zh-CN" altLang="en-US" smtClean="0"/>
              <a:t>12</a:t>
            </a:fld>
            <a:endParaRPr lang="zh-CN" altLang="en-US" dirty="0"/>
          </a:p>
        </p:txBody>
      </p:sp>
      <p:sp>
        <p:nvSpPr>
          <p:cNvPr id="6" name="文本框 5">
            <a:extLst>
              <a:ext uri="{FF2B5EF4-FFF2-40B4-BE49-F238E27FC236}">
                <a16:creationId xmlns:a16="http://schemas.microsoft.com/office/drawing/2014/main" id="{72C0E4C7-1B52-7ED1-2F31-539837B4101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 </a:t>
            </a:r>
            <a:r>
              <a:rPr lang="zh-CN" altLang="en-US" sz="2400" b="1" dirty="0">
                <a:solidFill>
                  <a:srgbClr val="FF0000"/>
                </a:solidFill>
                <a:latin typeface="+mn-ea"/>
              </a:rPr>
              <a:t>秘密共享协议</a:t>
            </a:r>
          </a:p>
        </p:txBody>
      </p:sp>
      <p:sp>
        <p:nvSpPr>
          <p:cNvPr id="4" name="文本框 3">
            <a:extLst>
              <a:ext uri="{FF2B5EF4-FFF2-40B4-BE49-F238E27FC236}">
                <a16:creationId xmlns:a16="http://schemas.microsoft.com/office/drawing/2014/main" id="{783439D7-0051-4D8A-E59F-6273D64D8188}"/>
              </a:ext>
            </a:extLst>
          </p:cNvPr>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8" name="Rectangle 3">
            <a:extLst>
              <a:ext uri="{FF2B5EF4-FFF2-40B4-BE49-F238E27FC236}">
                <a16:creationId xmlns:a16="http://schemas.microsoft.com/office/drawing/2014/main" id="{4F0231D4-A530-FD54-949F-B6615E8AD846}"/>
              </a:ext>
            </a:extLst>
          </p:cNvPr>
          <p:cNvSpPr txBox="1">
            <a:spLocks noChangeArrowheads="1"/>
          </p:cNvSpPr>
          <p:nvPr/>
        </p:nvSpPr>
        <p:spPr>
          <a:xfrm>
            <a:off x="323850" y="1844675"/>
            <a:ext cx="8496300" cy="4537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Wingdings" pitchFamily="2" charset="2"/>
              <a:buNone/>
            </a:pPr>
            <a:r>
              <a:rPr lang="zh-CN" altLang="en-US" sz="2400" b="1" dirty="0">
                <a:latin typeface="Times New Roman" panose="02020603050405020304" pitchFamily="18" charset="0"/>
                <a:ea typeface="黑体" panose="02010609060101010101" pitchFamily="49" charset="-122"/>
              </a:rPr>
              <a:t>检测结论（一）</a:t>
            </a:r>
          </a:p>
          <a:p>
            <a:pPr marL="0" indent="0">
              <a:lnSpc>
                <a:spcPct val="120000"/>
              </a:lnSpc>
              <a:buFont typeface="Wingdings" pitchFamily="2" charset="2"/>
              <a:buNone/>
            </a:pPr>
            <a:r>
              <a:rPr lang="zh-CN" altLang="en-US" sz="2400" dirty="0">
                <a:latin typeface="Times New Roman" panose="02020603050405020304" pitchFamily="18" charset="0"/>
              </a:rPr>
              <a:t>当某</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个参与者组合计算出的系数向量与另外</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个参与者组合计算出的系数向量不相等时，这两次被组合的全部人员中必有“欺骗者”。</a:t>
            </a:r>
          </a:p>
          <a:p>
            <a:pPr marL="0" indent="0" algn="ctr">
              <a:lnSpc>
                <a:spcPct val="120000"/>
              </a:lnSpc>
              <a:buFont typeface="Wingdings" pitchFamily="2" charset="2"/>
              <a:buNone/>
            </a:pPr>
            <a:r>
              <a:rPr lang="zh-CN" altLang="en-US" sz="2400" b="1" dirty="0">
                <a:latin typeface="Times New Roman" panose="02020603050405020304" pitchFamily="18" charset="0"/>
                <a:ea typeface="黑体" panose="02010609060101010101" pitchFamily="49" charset="-122"/>
              </a:rPr>
              <a:t>检测结论（二）</a:t>
            </a:r>
          </a:p>
          <a:p>
            <a:pPr marL="0" indent="0">
              <a:lnSpc>
                <a:spcPct val="120000"/>
              </a:lnSpc>
              <a:buFont typeface="Wingdings" pitchFamily="2" charset="2"/>
              <a:buNone/>
            </a:pPr>
            <a:r>
              <a:rPr lang="zh-CN" altLang="en-US" sz="2400" dirty="0">
                <a:latin typeface="Times New Roman" panose="02020603050405020304" pitchFamily="18" charset="0"/>
              </a:rPr>
              <a:t>当某</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个参与者组合计算出的系数向量与另外</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个参与者组合计算出的系数向量相等时，（几乎可以断定）这两次被组合的全部人员都是诚实的参与者</a:t>
            </a:r>
            <a:r>
              <a:rPr lang="zh-CN" altLang="en-US" sz="2000" dirty="0">
                <a:latin typeface="Times New Roman" panose="02020603050405020304" pitchFamily="18" charset="0"/>
              </a:rPr>
              <a:t>。</a:t>
            </a:r>
          </a:p>
        </p:txBody>
      </p:sp>
    </p:spTree>
    <p:custDataLst>
      <p:tags r:id="rId1"/>
    </p:custDataLst>
    <p:extLst>
      <p:ext uri="{BB962C8B-B14F-4D97-AF65-F5344CB8AC3E}">
        <p14:creationId xmlns:p14="http://schemas.microsoft.com/office/powerpoint/2010/main" val="3461929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30A24-0B64-11E3-A516-0507213B8B8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93CABA-62D5-C9A5-D601-27E77D27DD6C}"/>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秘密共享协议</a:t>
            </a:r>
          </a:p>
        </p:txBody>
      </p:sp>
      <p:sp>
        <p:nvSpPr>
          <p:cNvPr id="3" name="灯片编号占位符 2">
            <a:extLst>
              <a:ext uri="{FF2B5EF4-FFF2-40B4-BE49-F238E27FC236}">
                <a16:creationId xmlns:a16="http://schemas.microsoft.com/office/drawing/2014/main" id="{EF6A21B2-0E79-947B-2E26-7CB1249EC330}"/>
              </a:ext>
            </a:extLst>
          </p:cNvPr>
          <p:cNvSpPr>
            <a:spLocks noGrp="1"/>
          </p:cNvSpPr>
          <p:nvPr>
            <p:ph type="sldNum" sz="quarter" idx="12"/>
          </p:nvPr>
        </p:nvSpPr>
        <p:spPr/>
        <p:txBody>
          <a:bodyPr/>
          <a:lstStyle/>
          <a:p>
            <a:fld id="{4DBDE2CB-4801-494F-A0A4-D49D70804842}" type="slidenum">
              <a:rPr lang="zh-CN" altLang="en-US" smtClean="0"/>
              <a:t>13</a:t>
            </a:fld>
            <a:endParaRPr lang="zh-CN" altLang="en-US" dirty="0"/>
          </a:p>
        </p:txBody>
      </p:sp>
      <p:sp>
        <p:nvSpPr>
          <p:cNvPr id="6" name="文本框 5">
            <a:extLst>
              <a:ext uri="{FF2B5EF4-FFF2-40B4-BE49-F238E27FC236}">
                <a16:creationId xmlns:a16="http://schemas.microsoft.com/office/drawing/2014/main" id="{5D77639A-377C-64F1-A61D-CDC278582103}"/>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2.2 Shamir </a:t>
            </a:r>
            <a:r>
              <a:rPr lang="zh-CN" altLang="en-US" sz="2400" b="1" dirty="0">
                <a:solidFill>
                  <a:srgbClr val="FF0000"/>
                </a:solidFill>
                <a:latin typeface="+mn-ea"/>
              </a:rPr>
              <a:t>秘密共享协议</a:t>
            </a:r>
          </a:p>
        </p:txBody>
      </p:sp>
      <p:sp>
        <p:nvSpPr>
          <p:cNvPr id="4" name="文本框 3">
            <a:extLst>
              <a:ext uri="{FF2B5EF4-FFF2-40B4-BE49-F238E27FC236}">
                <a16:creationId xmlns:a16="http://schemas.microsoft.com/office/drawing/2014/main" id="{A3D17C93-88D6-DE03-86C3-06D9F10FA531}"/>
              </a:ext>
            </a:extLst>
          </p:cNvPr>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8" name="Rectangle 3">
            <a:extLst>
              <a:ext uri="{FF2B5EF4-FFF2-40B4-BE49-F238E27FC236}">
                <a16:creationId xmlns:a16="http://schemas.microsoft.com/office/drawing/2014/main" id="{1BEC69ED-0FE9-7F4C-BF0F-7A70FB1125D0}"/>
              </a:ext>
            </a:extLst>
          </p:cNvPr>
          <p:cNvSpPr txBox="1">
            <a:spLocks noChangeArrowheads="1"/>
          </p:cNvSpPr>
          <p:nvPr/>
        </p:nvSpPr>
        <p:spPr>
          <a:xfrm>
            <a:off x="323850" y="1844675"/>
            <a:ext cx="8496300" cy="4537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Wingdings" pitchFamily="2" charset="2"/>
              <a:buNone/>
            </a:pPr>
            <a:endParaRPr lang="zh-CN" altLang="en-US" sz="2000" dirty="0">
              <a:latin typeface="Times New Roman" panose="02020603050405020304" pitchFamily="18" charset="0"/>
            </a:endParaRPr>
          </a:p>
        </p:txBody>
      </p:sp>
      <p:sp>
        <p:nvSpPr>
          <p:cNvPr id="5" name="Rectangle 3">
            <a:extLst>
              <a:ext uri="{FF2B5EF4-FFF2-40B4-BE49-F238E27FC236}">
                <a16:creationId xmlns:a16="http://schemas.microsoft.com/office/drawing/2014/main" id="{4C0ACB69-3DD8-DDCB-3B65-1B220B9B4616}"/>
              </a:ext>
            </a:extLst>
          </p:cNvPr>
          <p:cNvSpPr txBox="1">
            <a:spLocks noChangeArrowheads="1"/>
          </p:cNvSpPr>
          <p:nvPr/>
        </p:nvSpPr>
        <p:spPr>
          <a:xfrm>
            <a:off x="611188" y="1805840"/>
            <a:ext cx="80645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sz="2400" b="1" dirty="0">
                <a:ea typeface="黑体" panose="02010609060101010101" pitchFamily="49" charset="-122"/>
              </a:rPr>
              <a:t>习题  </a:t>
            </a:r>
            <a:r>
              <a:rPr lang="zh-CN" altLang="en-US" sz="2400" dirty="0"/>
              <a:t>设：</a:t>
            </a:r>
            <a:r>
              <a:rPr lang="en-US" altLang="zh-CN" sz="2400" i="1" dirty="0"/>
              <a:t>p</a:t>
            </a:r>
            <a:r>
              <a:rPr lang="en-US" altLang="zh-CN" sz="2400" dirty="0"/>
              <a:t>=17</a:t>
            </a:r>
            <a:r>
              <a:rPr lang="zh-CN" altLang="en-US" sz="2400" dirty="0"/>
              <a:t>；</a:t>
            </a:r>
            <a:r>
              <a:rPr lang="en-US" altLang="zh-CN" sz="2400" i="1" dirty="0"/>
              <a:t>n</a:t>
            </a:r>
            <a:r>
              <a:rPr lang="en-US" altLang="zh-CN" sz="2400" dirty="0"/>
              <a:t>=5</a:t>
            </a:r>
            <a:r>
              <a:rPr lang="zh-CN" altLang="en-US" sz="2400" dirty="0"/>
              <a:t>；</a:t>
            </a:r>
            <a:r>
              <a:rPr lang="en-US" altLang="zh-CN" sz="2400" i="1" dirty="0"/>
              <a:t>t</a:t>
            </a:r>
            <a:r>
              <a:rPr lang="en-US" altLang="zh-CN" sz="2400" dirty="0"/>
              <a:t>=3</a:t>
            </a:r>
            <a:r>
              <a:rPr lang="zh-CN" altLang="en-US" sz="2400" dirty="0"/>
              <a:t>；</a:t>
            </a:r>
          </a:p>
          <a:p>
            <a:pPr>
              <a:buFont typeface="Wingdings" pitchFamily="2" charset="2"/>
              <a:buNone/>
            </a:pPr>
            <a:r>
              <a:rPr lang="en-US" altLang="zh-CN" sz="2400" dirty="0"/>
              <a:t>(</a:t>
            </a:r>
            <a:r>
              <a:rPr lang="en-US" altLang="zh-CN" sz="2400" i="1" dirty="0"/>
              <a:t>ID</a:t>
            </a:r>
            <a:r>
              <a:rPr lang="en-US" altLang="zh-CN" sz="2400" dirty="0"/>
              <a:t>(1), </a:t>
            </a:r>
            <a:r>
              <a:rPr lang="en-US" altLang="zh-CN" sz="2400" i="1" dirty="0"/>
              <a:t>h</a:t>
            </a:r>
            <a:r>
              <a:rPr lang="en-US" altLang="zh-CN" sz="2400" dirty="0"/>
              <a:t>(</a:t>
            </a:r>
            <a:r>
              <a:rPr lang="en-US" altLang="zh-CN" sz="2400" i="1" dirty="0"/>
              <a:t>ID</a:t>
            </a:r>
            <a:r>
              <a:rPr lang="en-US" altLang="zh-CN" sz="2400" dirty="0"/>
              <a:t>(1)))=(1, 8)</a:t>
            </a:r>
            <a:r>
              <a:rPr lang="zh-CN" altLang="en-US" sz="2400" dirty="0"/>
              <a:t>；</a:t>
            </a:r>
          </a:p>
          <a:p>
            <a:pPr>
              <a:buFont typeface="Wingdings" pitchFamily="2" charset="2"/>
              <a:buNone/>
            </a:pPr>
            <a:r>
              <a:rPr lang="en-US" altLang="zh-CN" sz="2400" dirty="0"/>
              <a:t>(</a:t>
            </a:r>
            <a:r>
              <a:rPr lang="en-US" altLang="zh-CN" sz="2400" i="1" dirty="0"/>
              <a:t>ID</a:t>
            </a:r>
            <a:r>
              <a:rPr lang="en-US" altLang="zh-CN" sz="2400" dirty="0"/>
              <a:t>(2), </a:t>
            </a:r>
            <a:r>
              <a:rPr lang="en-US" altLang="zh-CN" sz="2400" i="1" dirty="0"/>
              <a:t>h</a:t>
            </a:r>
            <a:r>
              <a:rPr lang="en-US" altLang="zh-CN" sz="2400" dirty="0"/>
              <a:t>(</a:t>
            </a:r>
            <a:r>
              <a:rPr lang="en-US" altLang="zh-CN" sz="2400" i="1" dirty="0"/>
              <a:t>ID</a:t>
            </a:r>
            <a:r>
              <a:rPr lang="en-US" altLang="zh-CN" sz="2400" dirty="0"/>
              <a:t>(2)))=(2, 7)</a:t>
            </a:r>
            <a:r>
              <a:rPr lang="zh-CN" altLang="en-US" sz="2400" dirty="0"/>
              <a:t>；</a:t>
            </a:r>
          </a:p>
          <a:p>
            <a:pPr>
              <a:buFont typeface="Wingdings" pitchFamily="2" charset="2"/>
              <a:buNone/>
            </a:pPr>
            <a:r>
              <a:rPr lang="en-US" altLang="zh-CN" sz="2400" dirty="0"/>
              <a:t>(</a:t>
            </a:r>
            <a:r>
              <a:rPr lang="en-US" altLang="zh-CN" sz="2400" i="1" dirty="0"/>
              <a:t>ID</a:t>
            </a:r>
            <a:r>
              <a:rPr lang="en-US" altLang="zh-CN" sz="2400" dirty="0"/>
              <a:t>(3), </a:t>
            </a:r>
            <a:r>
              <a:rPr lang="en-US" altLang="zh-CN" sz="2400" i="1" dirty="0"/>
              <a:t>h</a:t>
            </a:r>
            <a:r>
              <a:rPr lang="en-US" altLang="zh-CN" sz="2400" dirty="0"/>
              <a:t>(</a:t>
            </a:r>
            <a:r>
              <a:rPr lang="en-US" altLang="zh-CN" sz="2400" i="1" dirty="0"/>
              <a:t>ID</a:t>
            </a:r>
            <a:r>
              <a:rPr lang="en-US" altLang="zh-CN" sz="2400" dirty="0"/>
              <a:t>(3)))=(3, 10)</a:t>
            </a:r>
            <a:r>
              <a:rPr lang="zh-CN" altLang="en-US" sz="2400" dirty="0"/>
              <a:t>；</a:t>
            </a:r>
          </a:p>
          <a:p>
            <a:pPr>
              <a:buFont typeface="Wingdings" pitchFamily="2" charset="2"/>
              <a:buNone/>
            </a:pPr>
            <a:r>
              <a:rPr lang="en-US" altLang="zh-CN" sz="2400" dirty="0"/>
              <a:t>(</a:t>
            </a:r>
            <a:r>
              <a:rPr lang="en-US" altLang="zh-CN" sz="2400" i="1" dirty="0"/>
              <a:t>ID</a:t>
            </a:r>
            <a:r>
              <a:rPr lang="en-US" altLang="zh-CN" sz="2400" dirty="0"/>
              <a:t>(4), </a:t>
            </a:r>
            <a:r>
              <a:rPr lang="en-US" altLang="zh-CN" sz="2400" i="1" dirty="0"/>
              <a:t>h</a:t>
            </a:r>
            <a:r>
              <a:rPr lang="en-US" altLang="zh-CN" sz="2400" dirty="0"/>
              <a:t>(</a:t>
            </a:r>
            <a:r>
              <a:rPr lang="en-US" altLang="zh-CN" sz="2400" i="1" dirty="0"/>
              <a:t>ID</a:t>
            </a:r>
            <a:r>
              <a:rPr lang="en-US" altLang="zh-CN" sz="2400" dirty="0"/>
              <a:t>(4)))=(4, 0)</a:t>
            </a:r>
            <a:r>
              <a:rPr lang="zh-CN" altLang="en-US" sz="2400" dirty="0"/>
              <a:t>；</a:t>
            </a:r>
          </a:p>
          <a:p>
            <a:pPr>
              <a:buFont typeface="Wingdings" pitchFamily="2" charset="2"/>
              <a:buNone/>
            </a:pPr>
            <a:r>
              <a:rPr lang="en-US" altLang="zh-CN" sz="2400" dirty="0"/>
              <a:t>(</a:t>
            </a:r>
            <a:r>
              <a:rPr lang="en-US" altLang="zh-CN" sz="2400" i="1" dirty="0"/>
              <a:t>ID</a:t>
            </a:r>
            <a:r>
              <a:rPr lang="en-US" altLang="zh-CN" sz="2400" dirty="0"/>
              <a:t>(5), </a:t>
            </a:r>
            <a:r>
              <a:rPr lang="en-US" altLang="zh-CN" sz="2400" i="1" dirty="0"/>
              <a:t>h</a:t>
            </a:r>
            <a:r>
              <a:rPr lang="en-US" altLang="zh-CN" sz="2400" dirty="0"/>
              <a:t>(</a:t>
            </a:r>
            <a:r>
              <a:rPr lang="en-US" altLang="zh-CN" sz="2400" i="1" dirty="0"/>
              <a:t>ID</a:t>
            </a:r>
            <a:r>
              <a:rPr lang="en-US" altLang="zh-CN" sz="2400" dirty="0"/>
              <a:t>(5)))=(5, 11)</a:t>
            </a:r>
            <a:r>
              <a:rPr lang="zh-CN" altLang="en-US" sz="2400" dirty="0"/>
              <a:t>。</a:t>
            </a:r>
          </a:p>
          <a:p>
            <a:pPr>
              <a:buFont typeface="Wingdings" pitchFamily="2" charset="2"/>
              <a:buNone/>
            </a:pPr>
            <a:r>
              <a:rPr lang="zh-CN" altLang="en-US" sz="2400" dirty="0"/>
              <a:t>当第</a:t>
            </a:r>
            <a:r>
              <a:rPr lang="en-US" altLang="zh-CN" sz="2400" dirty="0"/>
              <a:t>1</a:t>
            </a:r>
            <a:r>
              <a:rPr lang="zh-CN" altLang="en-US" sz="2400" dirty="0"/>
              <a:t>位</a:t>
            </a:r>
            <a:r>
              <a:rPr lang="en-US" altLang="zh-CN" sz="2400" dirty="0"/>
              <a:t>~</a:t>
            </a:r>
            <a:r>
              <a:rPr lang="zh-CN" altLang="en-US" sz="2400" dirty="0"/>
              <a:t>第</a:t>
            </a:r>
            <a:r>
              <a:rPr lang="en-US" altLang="zh-CN" sz="2400" dirty="0"/>
              <a:t>3</a:t>
            </a:r>
            <a:r>
              <a:rPr lang="zh-CN" altLang="en-US" sz="2400" dirty="0"/>
              <a:t>位参与者同时到场，求共享的秘密</a:t>
            </a:r>
          </a:p>
        </p:txBody>
      </p:sp>
      <p:graphicFrame>
        <p:nvGraphicFramePr>
          <p:cNvPr id="7" name="Object 4">
            <a:extLst>
              <a:ext uri="{FF2B5EF4-FFF2-40B4-BE49-F238E27FC236}">
                <a16:creationId xmlns:a16="http://schemas.microsoft.com/office/drawing/2014/main" id="{E7A76955-F4AE-9392-29D3-834BBCE81C7D}"/>
              </a:ext>
            </a:extLst>
          </p:cNvPr>
          <p:cNvGraphicFramePr>
            <a:graphicFrameLocks noChangeAspect="1"/>
          </p:cNvGraphicFramePr>
          <p:nvPr/>
        </p:nvGraphicFramePr>
        <p:xfrm>
          <a:off x="1403350" y="5300663"/>
          <a:ext cx="5761038" cy="649287"/>
        </p:xfrm>
        <a:graphic>
          <a:graphicData uri="http://schemas.openxmlformats.org/presentationml/2006/ole">
            <mc:AlternateContent xmlns:mc="http://schemas.openxmlformats.org/markup-compatibility/2006">
              <mc:Choice xmlns:v="urn:schemas-microsoft-com:vml" Requires="v">
                <p:oleObj r:id="rId4" imgW="44767500" imgH="5562600" progId="Equation.3">
                  <p:embed/>
                </p:oleObj>
              </mc:Choice>
              <mc:Fallback>
                <p:oleObj r:id="rId4" imgW="44767500" imgH="5562600" progId="Equation.3">
                  <p:embed/>
                  <p:pic>
                    <p:nvPicPr>
                      <p:cNvPr id="424964" name="Object 4">
                        <a:extLst>
                          <a:ext uri="{FF2B5EF4-FFF2-40B4-BE49-F238E27FC236}">
                            <a16:creationId xmlns:a16="http://schemas.microsoft.com/office/drawing/2014/main" id="{63140C07-D0AE-5C46-CAC6-F49FBF3CAC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300663"/>
                        <a:ext cx="5761038" cy="649287"/>
                      </a:xfrm>
                      <a:prstGeom prst="rect">
                        <a:avLst/>
                      </a:prstGeom>
                      <a:solidFill>
                        <a:schemeClr val="accent1"/>
                      </a:solidFill>
                    </p:spPr>
                  </p:pic>
                </p:oleObj>
              </mc:Fallback>
            </mc:AlternateContent>
          </a:graphicData>
        </a:graphic>
      </p:graphicFrame>
    </p:spTree>
    <p:custDataLst>
      <p:tags r:id="rId1"/>
    </p:custDataLst>
    <p:extLst>
      <p:ext uri="{BB962C8B-B14F-4D97-AF65-F5344CB8AC3E}">
        <p14:creationId xmlns:p14="http://schemas.microsoft.com/office/powerpoint/2010/main" val="2283194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电话投币协议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14</a:t>
            </a:fld>
            <a:endParaRPr lang="zh-CN" altLang="en-US"/>
          </a:p>
        </p:txBody>
      </p:sp>
      <p:sp>
        <p:nvSpPr>
          <p:cNvPr id="5" name="文本框 4"/>
          <p:cNvSpPr txBox="1"/>
          <p:nvPr/>
        </p:nvSpPr>
        <p:spPr>
          <a:xfrm>
            <a:off x="435077" y="1480765"/>
            <a:ext cx="8357385" cy="4324261"/>
          </a:xfrm>
          <a:prstGeom prst="rect">
            <a:avLst/>
          </a:prstGeom>
          <a:noFill/>
        </p:spPr>
        <p:txBody>
          <a:bodyPr wrap="square" rtlCol="0">
            <a:spAutoFit/>
          </a:bodyPr>
          <a:lstStyle/>
          <a:p>
            <a:pPr algn="just">
              <a:lnSpc>
                <a:spcPct val="150000"/>
              </a:lnSpc>
              <a:spcAft>
                <a:spcPts val="600"/>
              </a:spcAft>
            </a:pPr>
            <a:r>
              <a:rPr lang="en-US" altLang="zh-CN" sz="2000" dirty="0">
                <a:latin typeface="Times New Roman" panose="02020603050405020304" pitchFamily="18" charset="0"/>
                <a:cs typeface="Times New Roman" panose="02020603050405020304" pitchFamily="18" charset="0"/>
              </a:rPr>
              <a:t>Alice </a:t>
            </a:r>
            <a:r>
              <a:rPr lang="zh-CN" altLang="en-US" sz="2000" dirty="0"/>
              <a:t>与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约定周末约会，</a:t>
            </a:r>
            <a:r>
              <a:rPr lang="zh-CN" altLang="en-US" sz="2000" dirty="0"/>
              <a:t>但是</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想去电影院，而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想去歌剧院</a:t>
            </a:r>
            <a:r>
              <a:rPr lang="zh-CN" altLang="en-US" sz="2000" dirty="0"/>
              <a:t>。为公平起见，他们可以选择当面抛硬币来决定，例如正面去电影院，反面去歌剧院。但由于他们并不在同一地点，而且彼此之间互不相信对方会告诉彼此掷硬币的正确结果，因此他们需要一种安全的方法来决定去哪里约会。</a:t>
            </a:r>
            <a:endParaRPr lang="en-US" altLang="zh-CN" sz="2000" dirty="0"/>
          </a:p>
          <a:p>
            <a:pPr algn="just">
              <a:lnSpc>
                <a:spcPct val="150000"/>
              </a:lnSpc>
            </a:pPr>
            <a:r>
              <a:rPr lang="zh-CN" altLang="en-US" sz="2000" b="1" dirty="0">
                <a:solidFill>
                  <a:srgbClr val="0000FF"/>
                </a:solidFill>
              </a:rPr>
              <a:t>电话投币协议（</a:t>
            </a:r>
            <a:r>
              <a:rPr lang="en-US" altLang="zh-CN" sz="2000" b="1" dirty="0">
                <a:solidFill>
                  <a:srgbClr val="0000FF"/>
                </a:solidFill>
                <a:latin typeface="Times New Roman" panose="02020603050405020304" pitchFamily="18" charset="0"/>
                <a:cs typeface="Times New Roman" panose="02020603050405020304" pitchFamily="18" charset="0"/>
              </a:rPr>
              <a:t>Coin-Flipping by Phone Protocol</a:t>
            </a:r>
            <a:r>
              <a:rPr lang="zh-CN" altLang="en-US" sz="2000" b="1" dirty="0">
                <a:solidFill>
                  <a:srgbClr val="0000FF"/>
                </a:solidFill>
              </a:rPr>
              <a:t>）</a:t>
            </a:r>
            <a:r>
              <a:rPr lang="zh-CN" altLang="en-US" sz="2000" dirty="0">
                <a:latin typeface="Söhne"/>
              </a:rPr>
              <a:t>两个远程参与者在无可信第三方协助的情况下，利用有线电话来执行“</a:t>
            </a:r>
            <a:r>
              <a:rPr lang="zh-CN" altLang="en-US" sz="2000" dirty="0"/>
              <a:t>抛掷</a:t>
            </a:r>
            <a:r>
              <a:rPr lang="zh-CN" altLang="en-US" sz="2000" dirty="0">
                <a:latin typeface="Söhne"/>
              </a:rPr>
              <a:t>硬币”游戏。由于双方之间不存在信任关系，所以需要</a:t>
            </a:r>
            <a:r>
              <a:rPr lang="zh-CN" altLang="en-US" sz="2000" b="0" i="0" dirty="0">
                <a:effectLst/>
                <a:latin typeface="Söhne"/>
              </a:rPr>
              <a:t>确保他们无法相互欺骗或预测协议结果。</a:t>
            </a:r>
            <a:r>
              <a:rPr lang="zh-CN" altLang="en-US" sz="2000" dirty="0"/>
              <a:t>电话投币协议提供了通信双方进行安全地“抛掷硬币”的方法。</a:t>
            </a:r>
            <a:endParaRPr lang="en-US" altLang="zh-CN" sz="2000" b="0" i="0" dirty="0">
              <a:effectLst/>
              <a:latin typeface="Söhne"/>
            </a:endParaRPr>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3.1 </a:t>
            </a:r>
            <a:r>
              <a:rPr lang="zh-CN" altLang="en-US" sz="2400" b="1" dirty="0">
                <a:solidFill>
                  <a:srgbClr val="FF0000"/>
                </a:solidFill>
                <a:latin typeface="+mn-ea"/>
              </a:rPr>
              <a:t>电话投币协议基本概念</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电话投币协议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15</a:t>
            </a:fld>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312517" y="1610001"/>
                <a:ext cx="8561671" cy="4495461"/>
              </a:xfrm>
              <a:prstGeom prst="rect">
                <a:avLst/>
              </a:prstGeom>
              <a:noFill/>
            </p:spPr>
            <p:txBody>
              <a:bodyPr wrap="square" rtlCol="0">
                <a:spAutoFit/>
              </a:bodyPr>
              <a:lstStyle/>
              <a:p>
                <a:pPr marL="800100" lvl="1" indent="-342900" algn="just">
                  <a:lnSpc>
                    <a:spcPct val="13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Alice </a:t>
                </a:r>
                <a:r>
                  <a:rPr lang="zh-CN" altLang="en-US" sz="2000" dirty="0"/>
                  <a:t>随机选择一个</a:t>
                </a:r>
                <a14:m>
                  <m:oMath xmlns:m="http://schemas.openxmlformats.org/officeDocument/2006/math">
                    <m:r>
                      <a:rPr lang="en-US" altLang="zh-CN" sz="2000" i="1">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𝑥</m:t>
                    </m:r>
                    <m:r>
                      <a:rPr lang="zh-CN" altLang="en-US" sz="2000" i="1">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计算</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𝑦</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𝑓</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这里  </a:t>
                </a:r>
                <a:r>
                  <a:rPr lang="en-US" altLang="zh-CN" sz="2000" i="1" dirty="0">
                    <a:latin typeface="Times New Roman" panose="02020603050405020304" pitchFamily="18" charset="0"/>
                    <a:cs typeface="Times New Roman" panose="02020603050405020304" pitchFamily="18" charset="0"/>
                  </a:rPr>
                  <a:t>f  </a:t>
                </a:r>
                <a:r>
                  <a:rPr lang="zh-CN" altLang="en-US" sz="2000" dirty="0">
                    <a:latin typeface="Times New Roman" panose="02020603050405020304" pitchFamily="18" charset="0"/>
                    <a:cs typeface="Times New Roman" panose="02020603050405020304" pitchFamily="18" charset="0"/>
                  </a:rPr>
                  <a:t>是一个单向函数。</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把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𝑦</m:t>
                    </m:r>
                    <m:r>
                      <a:rPr lang="en-US" altLang="zh-CN" sz="2000" b="0" i="1" smtClean="0">
                        <a:latin typeface="Cambria Math" panose="02040503050406030204" pitchFamily="18" charset="0"/>
                        <a:cs typeface="Times New Roman" panose="02020603050405020304" pitchFamily="18" charset="0"/>
                      </a:rPr>
                      <m:t> </m:t>
                    </m:r>
                    <m:r>
                      <a:rPr lang="zh-CN" altLang="en-US" sz="2000" i="1">
                        <a:latin typeface="Cambria Math" panose="02040503050406030204" pitchFamily="18" charset="0"/>
                        <a:cs typeface="Times New Roman" panose="02020603050405020304" pitchFamily="18" charset="0"/>
                      </a:rPr>
                      <m:t>发送</m:t>
                    </m:r>
                  </m:oMath>
                </a14:m>
                <a:r>
                  <a:rPr lang="zh-CN" altLang="en-US" sz="2000" dirty="0">
                    <a:latin typeface="Times New Roman" panose="02020603050405020304" pitchFamily="18" charset="0"/>
                    <a:cs typeface="Times New Roman" panose="02020603050405020304" pitchFamily="18" charset="0"/>
                  </a:rPr>
                  <a:t>给 </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猜测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𝑥</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是奇数还是偶数，将猜测结果发给 </a:t>
                </a: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发送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𝑥</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给 </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验证自己是否猜对；</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𝑥</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是偶数，那么表示结果为正面；否则结果为反面。</a:t>
                </a:r>
                <a:endParaRPr lang="en-US" altLang="zh-CN" sz="2000" dirty="0">
                  <a:latin typeface="Times New Roman" panose="02020603050405020304" pitchFamily="18" charset="0"/>
                  <a:cs typeface="Times New Roman" panose="02020603050405020304" pitchFamily="18" charset="0"/>
                </a:endParaRPr>
              </a:p>
              <a:p>
                <a:pPr algn="just">
                  <a:lnSpc>
                    <a:spcPct val="130000"/>
                  </a:lnSpc>
                </a:pPr>
                <a:r>
                  <a:rPr lang="zh-CN" altLang="en-US" sz="2000" dirty="0">
                    <a:latin typeface="Times New Roman" panose="02020603050405020304" pitchFamily="18" charset="0"/>
                    <a:cs typeface="Times New Roman" panose="02020603050405020304" pitchFamily="18" charset="0"/>
                  </a:rPr>
                  <a:t>分析：</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如果双方都诚实，那么该协议有效，安全性基于</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𝑓</m:t>
                    </m:r>
                    <m:r>
                      <a:rPr lang="en-US" altLang="zh-CN" sz="2000" b="0" i="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的单向性。具体来说，如果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不知道</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𝑓</m:t>
                    </m:r>
                    <m:r>
                      <a:rPr lang="en-US" altLang="zh-CN" sz="2000">
                        <a:latin typeface="Cambria Math" panose="02040503050406030204" pitchFamily="18" charset="0"/>
                        <a:cs typeface="Times New Roman" panose="02020603050405020304" pitchFamily="18" charset="0"/>
                      </a:rPr>
                      <m:t> </m:t>
                    </m:r>
                    <m:r>
                      <a:rPr lang="zh-CN" altLang="en-US" sz="2000" i="1" smtClean="0">
                        <a:latin typeface="Cambria Math" panose="02040503050406030204" pitchFamily="18" charset="0"/>
                        <a:cs typeface="Times New Roman" panose="02020603050405020304" pitchFamily="18" charset="0"/>
                      </a:rPr>
                      <m:t>的</m:t>
                    </m:r>
                  </m:oMath>
                </a14:m>
                <a:r>
                  <a:rPr lang="zh-CN" altLang="en-US" sz="2000" dirty="0">
                    <a:latin typeface="Times New Roman" panose="02020603050405020304" pitchFamily="18" charset="0"/>
                    <a:cs typeface="Times New Roman" panose="02020603050405020304" pitchFamily="18" charset="0"/>
                  </a:rPr>
                  <a:t>逆函数，只能随机猜测</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的奇偶性。</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如果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不诚实，在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做出猜测之后改变</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𝑥</m:t>
                    </m:r>
                  </m:oMath>
                </a14:m>
                <a:r>
                  <a:rPr lang="zh-CN" altLang="en-US" sz="2000" dirty="0">
                    <a:latin typeface="Times New Roman" panose="02020603050405020304" pitchFamily="18" charset="0"/>
                    <a:cs typeface="Times New Roman" panose="02020603050405020304" pitchFamily="18" charset="0"/>
                  </a:rPr>
                  <a:t>，那么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可在</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给出</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后，通过计算</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𝑦</m:t>
                    </m:r>
                    <m:r>
                      <a:rPr lang="en-US" altLang="zh-CN" sz="2000" b="0" i="1" smtClean="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𝑓</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𝑥</m:t>
                        </m:r>
                      </m:e>
                    </m:d>
                    <m:r>
                      <a:rPr lang="en-US" altLang="zh-CN" sz="2000" b="0" i="1" smtClean="0">
                        <a:latin typeface="Cambria Math" panose="02040503050406030204" pitchFamily="18" charset="0"/>
                        <a:cs typeface="Times New Roman" panose="02020603050405020304" pitchFamily="18" charset="0"/>
                      </a:rPr>
                      <m:t> </m:t>
                    </m:r>
                    <m:r>
                      <a:rPr lang="zh-CN" altLang="en-US" sz="2000" i="1" smtClean="0">
                        <a:latin typeface="Cambria Math" panose="02040503050406030204" pitchFamily="18" charset="0"/>
                        <a:cs typeface="Times New Roman" panose="02020603050405020304" pitchFamily="18" charset="0"/>
                      </a:rPr>
                      <m:t>检查</m:t>
                    </m:r>
                    <m:r>
                      <a:rPr lang="zh-CN" altLang="en-US" sz="2000" i="1">
                        <a:latin typeface="Cambria Math" panose="02040503050406030204" pitchFamily="18" charset="0"/>
                        <a:cs typeface="Times New Roman" panose="02020603050405020304" pitchFamily="18" charset="0"/>
                      </a:rPr>
                      <m:t>出来</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该协议不安全，如何改正？</a:t>
                </a:r>
                <a:endParaRPr lang="en-US" altLang="zh-CN" sz="20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12517" y="1610001"/>
                <a:ext cx="8561671" cy="4495461"/>
              </a:xfrm>
              <a:prstGeom prst="rect">
                <a:avLst/>
              </a:prstGeom>
              <a:blipFill rotWithShape="1">
                <a:blip r:embed="rId4"/>
                <a:stretch>
                  <a:fillRect l="-1" t="-6" r="1" b="13"/>
                </a:stretch>
              </a:blipFill>
            </p:spPr>
            <p:txBody>
              <a:bodyPr/>
              <a:lstStyle/>
              <a:p>
                <a:r>
                  <a:rPr lang="zh-CN" altLang="en-US">
                    <a:noFill/>
                  </a:rPr>
                  <a:t> </a:t>
                </a:r>
              </a:p>
            </p:txBody>
          </p:sp>
        </mc:Fallback>
      </mc:AlternateContent>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3.2 </a:t>
            </a:r>
            <a:r>
              <a:rPr lang="zh-CN" altLang="en-US" sz="2400" b="1" dirty="0">
                <a:solidFill>
                  <a:srgbClr val="FF0000"/>
                </a:solidFill>
                <a:latin typeface="+mn-ea"/>
              </a:rPr>
              <a:t>基于单向函数的电话投币协议</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电话投币协议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16</a:t>
            </a:fld>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202788" y="1652141"/>
                <a:ext cx="8429148" cy="4832861"/>
              </a:xfrm>
              <a:prstGeom prst="rect">
                <a:avLst/>
              </a:prstGeom>
              <a:noFill/>
            </p:spPr>
            <p:txBody>
              <a:bodyPr wrap="square" rtlCol="0">
                <a:spAutoFit/>
              </a:bodyPr>
              <a:lstStyle/>
              <a:p>
                <a:pPr marL="800100" lvl="1" indent="-342900" algn="just">
                  <a:lnSpc>
                    <a:spcPct val="140000"/>
                  </a:lnSpc>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随机选择两个消息</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1</m:t>
                        </m:r>
                      </m:sub>
                    </m:sSub>
                    <m:r>
                      <a:rPr lang="en-US" altLang="zh-CN" sz="1900" b="0" i="1" smtClean="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2</m:t>
                        </m:r>
                      </m:sub>
                    </m:sSub>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利用自己的公钥加密得到</a:t>
                </a:r>
                <a14:m>
                  <m:oMath xmlns:m="http://schemas.openxmlformats.org/officeDocument/2006/math">
                    <m:sSub>
                      <m:sSubPr>
                        <m:ctrlPr>
                          <a:rPr lang="en-US" altLang="zh-CN" sz="190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𝐸</m:t>
                        </m:r>
                      </m:e>
                      <m:sub>
                        <m:sSub>
                          <m:sSubPr>
                            <m:ctrlPr>
                              <a:rPr lang="en-US" altLang="zh-CN" sz="1900" b="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𝑝𝑘</m:t>
                            </m:r>
                          </m:e>
                          <m:sub>
                            <m:r>
                              <a:rPr lang="en-US" altLang="zh-CN" sz="1900" b="0" i="1" smtClean="0">
                                <a:latin typeface="Cambria Math" panose="02040503050406030204" pitchFamily="18" charset="0"/>
                                <a:cs typeface="Times New Roman" panose="02020603050405020304" pitchFamily="18" charset="0"/>
                              </a:rPr>
                              <m:t>𝐴</m:t>
                            </m:r>
                          </m:sub>
                        </m:sSub>
                      </m:sub>
                    </m:sSub>
                    <m:d>
                      <m:dPr>
                        <m:ctrlPr>
                          <a:rPr lang="en-US" altLang="zh-CN" sz="1900" b="0" i="1" smtClean="0">
                            <a:latin typeface="Cambria Math" panose="02040503050406030204" pitchFamily="18" charset="0"/>
                            <a:cs typeface="Times New Roman" panose="02020603050405020304" pitchFamily="18" charset="0"/>
                          </a:rPr>
                        </m:ctrlPr>
                      </m:dPr>
                      <m:e>
                        <m:sSub>
                          <m:sSubPr>
                            <m:ctrlPr>
                              <a:rPr lang="en-US" altLang="zh-CN" sz="1900" b="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𝑚</m:t>
                            </m:r>
                          </m:e>
                          <m:sub>
                            <m:r>
                              <a:rPr lang="en-US" altLang="zh-CN" sz="1900" b="0" i="1" smtClean="0">
                                <a:latin typeface="Cambria Math" panose="02040503050406030204" pitchFamily="18" charset="0"/>
                                <a:cs typeface="Times New Roman" panose="02020603050405020304" pitchFamily="18" charset="0"/>
                              </a:rPr>
                              <m:t>1</m:t>
                            </m:r>
                          </m:sub>
                        </m:sSub>
                      </m:e>
                    </m:d>
                    <m:r>
                      <a:rPr lang="en-US" altLang="zh-CN" sz="1900" b="0" i="1" smtClean="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𝐸</m:t>
                        </m:r>
                      </m:e>
                      <m:sub>
                        <m:sSub>
                          <m:sSubPr>
                            <m:ctrlPr>
                              <a:rPr lang="en-US" altLang="zh-CN" sz="190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𝑝𝑘</m:t>
                            </m:r>
                          </m:e>
                          <m:sub>
                            <m:r>
                              <a:rPr lang="en-US" altLang="zh-CN" sz="1900" b="0" i="1" smtClean="0">
                                <a:latin typeface="Cambria Math" panose="02040503050406030204" pitchFamily="18" charset="0"/>
                                <a:cs typeface="Times New Roman" panose="02020603050405020304" pitchFamily="18" charset="0"/>
                              </a:rPr>
                              <m:t>𝐴</m:t>
                            </m:r>
                          </m:sub>
                        </m:sSub>
                      </m:sub>
                    </m:sSub>
                    <m:d>
                      <m:dPr>
                        <m:ctrlPr>
                          <a:rPr lang="en-US" altLang="zh-CN" sz="1900" i="1">
                            <a:latin typeface="Cambria Math" panose="02040503050406030204" pitchFamily="18" charset="0"/>
                            <a:cs typeface="Times New Roman" panose="02020603050405020304" pitchFamily="18" charset="0"/>
                          </a:rPr>
                        </m:ctrlPr>
                      </m:d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b="0" i="1" smtClean="0">
                                <a:latin typeface="Cambria Math" panose="02040503050406030204" pitchFamily="18" charset="0"/>
                                <a:cs typeface="Times New Roman" panose="02020603050405020304" pitchFamily="18" charset="0"/>
                              </a:rPr>
                              <m:t>2</m:t>
                            </m:r>
                          </m:sub>
                        </m:sSub>
                      </m:e>
                    </m:d>
                    <m:r>
                      <a:rPr lang="zh-CN" altLang="en-US" sz="1900" i="1" smtClean="0">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然后发送给 </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40000"/>
                  </a:lnSpc>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在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𝐸</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𝑝𝑘</m:t>
                            </m:r>
                          </m:e>
                          <m:sub>
                            <m:r>
                              <a:rPr lang="en-US" altLang="zh-CN" sz="1900" i="1">
                                <a:latin typeface="Cambria Math" panose="02040503050406030204" pitchFamily="18" charset="0"/>
                                <a:cs typeface="Times New Roman" panose="02020603050405020304" pitchFamily="18" charset="0"/>
                              </a:rPr>
                              <m:t>𝐴</m:t>
                            </m:r>
                          </m:sub>
                        </m:sSub>
                      </m:sub>
                    </m:sSub>
                    <m:d>
                      <m:dPr>
                        <m:ctrlPr>
                          <a:rPr lang="en-US" altLang="zh-CN" sz="1900" i="1">
                            <a:latin typeface="Cambria Math" panose="02040503050406030204" pitchFamily="18" charset="0"/>
                            <a:cs typeface="Times New Roman" panose="02020603050405020304" pitchFamily="18" charset="0"/>
                          </a:rPr>
                        </m:ctrlPr>
                      </m:d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1</m:t>
                            </m:r>
                          </m:sub>
                        </m:sSub>
                      </m:e>
                    </m:d>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𝐸</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𝑝𝑘</m:t>
                            </m:r>
                          </m:e>
                          <m:sub>
                            <m:r>
                              <a:rPr lang="en-US" altLang="zh-CN" sz="1900" i="1">
                                <a:latin typeface="Cambria Math" panose="02040503050406030204" pitchFamily="18" charset="0"/>
                                <a:cs typeface="Times New Roman" panose="02020603050405020304" pitchFamily="18" charset="0"/>
                              </a:rPr>
                              <m:t>𝐴</m:t>
                            </m:r>
                          </m:sub>
                        </m:sSub>
                      </m:sub>
                    </m:sSub>
                    <m:d>
                      <m:dPr>
                        <m:ctrlPr>
                          <a:rPr lang="en-US" altLang="zh-CN" sz="1900" i="1">
                            <a:latin typeface="Cambria Math" panose="02040503050406030204" pitchFamily="18" charset="0"/>
                            <a:cs typeface="Times New Roman" panose="02020603050405020304" pitchFamily="18" charset="0"/>
                          </a:rPr>
                        </m:ctrlPr>
                      </m:d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2</m:t>
                            </m:r>
                          </m:sub>
                        </m:sSub>
                      </m:e>
                    </m:d>
                    <m:r>
                      <a:rPr lang="en-US" altLang="zh-CN" sz="1900" b="0" i="1" smtClean="0">
                        <a:latin typeface="Cambria Math" panose="02040503050406030204" pitchFamily="18" charset="0"/>
                        <a:cs typeface="Times New Roman" panose="02020603050405020304" pitchFamily="18" charset="0"/>
                      </a:rPr>
                      <m:t> </m:t>
                    </m:r>
                    <m:r>
                      <a:rPr lang="zh-CN" altLang="en-US" sz="1900" i="1" smtClean="0">
                        <a:latin typeface="Cambria Math" panose="02040503050406030204" pitchFamily="18" charset="0"/>
                        <a:cs typeface="Times New Roman" panose="02020603050405020304" pitchFamily="18" charset="0"/>
                      </a:rPr>
                      <m:t>中</m:t>
                    </m:r>
                  </m:oMath>
                </a14:m>
                <a:r>
                  <a:rPr lang="zh-CN" altLang="en-US" sz="1900" dirty="0">
                    <a:latin typeface="Times New Roman" panose="02020603050405020304" pitchFamily="18" charset="0"/>
                    <a:cs typeface="Times New Roman" panose="02020603050405020304" pitchFamily="18" charset="0"/>
                  </a:rPr>
                  <a:t>随机选择一个，利用自己的公钥加密得到 </a:t>
                </a:r>
                <a14:m>
                  <m:oMath xmlns:m="http://schemas.openxmlformats.org/officeDocument/2006/math">
                    <m:sSub>
                      <m:sSubPr>
                        <m:ctrlPr>
                          <a:rPr lang="en-US" altLang="zh-CN" sz="190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𝐸</m:t>
                        </m:r>
                      </m:e>
                      <m:sub>
                        <m:sSub>
                          <m:sSubPr>
                            <m:ctrlPr>
                              <a:rPr lang="en-US" altLang="zh-CN" sz="190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𝑝𝑘</m:t>
                            </m:r>
                          </m:e>
                          <m:sub>
                            <m:r>
                              <a:rPr lang="en-US" altLang="zh-CN" sz="1900" b="0" i="1" smtClean="0">
                                <a:latin typeface="Cambria Math" panose="02040503050406030204" pitchFamily="18" charset="0"/>
                                <a:cs typeface="Times New Roman" panose="02020603050405020304" pitchFamily="18" charset="0"/>
                              </a:rPr>
                              <m:t>𝐵</m:t>
                            </m:r>
                          </m:sub>
                        </m:sSub>
                      </m:sub>
                    </m:sSub>
                    <m:r>
                      <a:rPr lang="en-US" altLang="zh-CN" sz="1900" b="0" i="1" smtClean="0">
                        <a:latin typeface="Cambria Math" panose="02040503050406030204" pitchFamily="18" charset="0"/>
                        <a:cs typeface="Times New Roman" panose="02020603050405020304" pitchFamily="18" charset="0"/>
                      </a:rPr>
                      <m:t>(</m:t>
                    </m:r>
                    <m:sSub>
                      <m:sSubPr>
                        <m:ctrlPr>
                          <a:rPr lang="en-US" altLang="zh-CN" sz="1900" b="0" i="1" smtClean="0">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𝐸</m:t>
                        </m:r>
                      </m:e>
                      <m:sub>
                        <m:sSub>
                          <m:sSubPr>
                            <m:ctrlPr>
                              <a:rPr lang="en-US" altLang="zh-CN" sz="1900" b="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𝑝𝑘</m:t>
                            </m:r>
                          </m:e>
                          <m:sub>
                            <m:r>
                              <a:rPr lang="en-US" altLang="zh-CN" sz="1900" b="0" i="1" smtClean="0">
                                <a:latin typeface="Cambria Math" panose="02040503050406030204" pitchFamily="18" charset="0"/>
                                <a:cs typeface="Times New Roman" panose="02020603050405020304" pitchFamily="18" charset="0"/>
                              </a:rPr>
                              <m:t>𝐴</m:t>
                            </m:r>
                          </m:sub>
                        </m:sSub>
                      </m:sub>
                    </m:sSub>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𝑚</m:t>
                    </m:r>
                    <m:r>
                      <a:rPr lang="en-US" altLang="zh-CN" sz="1900" b="0" i="1" smtClean="0">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，然后发送给 </a:t>
                </a:r>
                <a:r>
                  <a:rPr lang="en-US" altLang="zh-CN" sz="190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40000"/>
                  </a:lnSpc>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用自己的私钥解密</a:t>
                </a:r>
                <a14:m>
                  <m:oMath xmlns:m="http://schemas.openxmlformats.org/officeDocument/2006/math">
                    <m:sSub>
                      <m:sSubPr>
                        <m:ctrlPr>
                          <a:rPr lang="en-US" altLang="zh-CN" sz="190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𝐷</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𝑠</m:t>
                            </m:r>
                            <m:r>
                              <a:rPr lang="en-US" altLang="zh-CN" sz="1900" i="1">
                                <a:latin typeface="Cambria Math" panose="02040503050406030204" pitchFamily="18" charset="0"/>
                                <a:cs typeface="Times New Roman" panose="02020603050405020304" pitchFamily="18" charset="0"/>
                              </a:rPr>
                              <m:t>𝑘</m:t>
                            </m:r>
                          </m:e>
                          <m:sub>
                            <m:r>
                              <a:rPr lang="en-US" altLang="zh-CN" sz="1900" i="1">
                                <a:latin typeface="Cambria Math" panose="02040503050406030204" pitchFamily="18" charset="0"/>
                                <a:cs typeface="Times New Roman" panose="02020603050405020304" pitchFamily="18" charset="0"/>
                              </a:rPr>
                              <m:t>𝐴</m:t>
                            </m:r>
                          </m:sub>
                        </m:sSub>
                      </m:sub>
                    </m:sSub>
                    <m:r>
                      <a:rPr lang="en-US" altLang="zh-CN" sz="1900" b="0" i="1" smtClean="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𝐸</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𝑝𝑘</m:t>
                            </m:r>
                          </m:e>
                          <m:sub>
                            <m:r>
                              <a:rPr lang="en-US" altLang="zh-CN" sz="1900" i="1">
                                <a:latin typeface="Cambria Math" panose="02040503050406030204" pitchFamily="18" charset="0"/>
                                <a:cs typeface="Times New Roman" panose="02020603050405020304" pitchFamily="18" charset="0"/>
                              </a:rPr>
                              <m:t>𝐵</m:t>
                            </m:r>
                          </m:sub>
                        </m:sSub>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𝐸</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𝑝𝑘</m:t>
                            </m:r>
                          </m:e>
                          <m:sub>
                            <m:r>
                              <a:rPr lang="en-US" altLang="zh-CN" sz="1900" i="1">
                                <a:latin typeface="Cambria Math" panose="02040503050406030204" pitchFamily="18" charset="0"/>
                                <a:cs typeface="Times New Roman" panose="02020603050405020304" pitchFamily="18" charset="0"/>
                              </a:rPr>
                              <m:t>𝐴</m:t>
                            </m:r>
                          </m:sub>
                        </m:sSub>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𝑚</m:t>
                    </m:r>
                    <m:r>
                      <a:rPr lang="en-US" altLang="zh-CN"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 得到</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𝐸</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𝑝𝑘</m:t>
                            </m:r>
                          </m:e>
                          <m:sub>
                            <m:r>
                              <a:rPr lang="en-US" altLang="zh-CN" sz="1900" i="1">
                                <a:latin typeface="Cambria Math" panose="02040503050406030204" pitchFamily="18" charset="0"/>
                                <a:cs typeface="Times New Roman" panose="02020603050405020304" pitchFamily="18" charset="0"/>
                              </a:rPr>
                              <m:t>𝐵</m:t>
                            </m:r>
                          </m:sub>
                        </m:sSub>
                      </m:sub>
                    </m:sSub>
                    <m:d>
                      <m:dPr>
                        <m:ctrlPr>
                          <a:rPr lang="en-US" altLang="zh-CN" sz="1900" i="1">
                            <a:latin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cs typeface="Times New Roman" panose="02020603050405020304" pitchFamily="18" charset="0"/>
                          </a:rPr>
                          <m:t>𝑚</m:t>
                        </m:r>
                      </m:e>
                    </m:d>
                  </m:oMath>
                </a14:m>
                <a:r>
                  <a:rPr lang="zh-CN" altLang="en-US" sz="1900" dirty="0">
                    <a:latin typeface="Times New Roman" panose="02020603050405020304" pitchFamily="18" charset="0"/>
                    <a:cs typeface="Times New Roman" panose="02020603050405020304" pitchFamily="18" charset="0"/>
                  </a:rPr>
                  <a:t>发给</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p>
              <a:p>
                <a:pPr marL="800100" lvl="1" indent="-342900" algn="just">
                  <a:lnSpc>
                    <a:spcPct val="140000"/>
                  </a:lnSpc>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用自己的私钥解密</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𝐷</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𝑠𝑘</m:t>
                            </m:r>
                          </m:e>
                          <m:sub>
                            <m:r>
                              <a:rPr lang="en-US" altLang="zh-CN" sz="1900" b="0" i="1" smtClean="0">
                                <a:latin typeface="Cambria Math" panose="02040503050406030204" pitchFamily="18" charset="0"/>
                                <a:cs typeface="Times New Roman" panose="02020603050405020304" pitchFamily="18" charset="0"/>
                              </a:rPr>
                              <m:t>𝐵</m:t>
                            </m:r>
                          </m:sub>
                        </m:sSub>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𝐸</m:t>
                        </m:r>
                      </m:e>
                      <m:sub>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𝑝𝑘</m:t>
                            </m:r>
                          </m:e>
                          <m:sub>
                            <m:r>
                              <a:rPr lang="en-US" altLang="zh-CN" sz="1900" i="1">
                                <a:latin typeface="Cambria Math" panose="02040503050406030204" pitchFamily="18" charset="0"/>
                                <a:cs typeface="Times New Roman" panose="02020603050405020304" pitchFamily="18" charset="0"/>
                              </a:rPr>
                              <m:t>𝐵</m:t>
                            </m:r>
                          </m:sub>
                        </m:sSub>
                      </m:sub>
                    </m:sSub>
                    <m:d>
                      <m:dPr>
                        <m:ctrlPr>
                          <a:rPr lang="en-US" altLang="zh-CN" sz="1900" i="1">
                            <a:latin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cs typeface="Times New Roman" panose="02020603050405020304" pitchFamily="18" charset="0"/>
                          </a:rPr>
                          <m:t>𝑚</m:t>
                        </m:r>
                      </m:e>
                    </m:d>
                    <m:r>
                      <a:rPr lang="en-US" altLang="zh-CN"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得到 𝑚；</a:t>
                </a:r>
              </a:p>
              <a:p>
                <a:pPr marL="800100" lvl="1" indent="-342900" algn="just">
                  <a:lnSpc>
                    <a:spcPct val="140000"/>
                  </a:lnSpc>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如果 𝑚 </a:t>
                </a:r>
                <a:r>
                  <a:rPr lang="en-US" altLang="zh-CN" sz="19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1900" i="1" smtClean="0">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，那么表示结果为正面；否则为反面；</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40000"/>
                  </a:lnSpc>
                  <a:spcAft>
                    <a:spcPts val="600"/>
                  </a:spcAft>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和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分别公布自己的私钥，让对方验证自己没有欺骗。</a:t>
                </a:r>
                <a:endParaRPr lang="en-US" altLang="zh-CN" sz="2000" dirty="0">
                  <a:latin typeface="Times New Roman" panose="02020603050405020304" pitchFamily="18" charset="0"/>
                  <a:cs typeface="Times New Roman" panose="02020603050405020304" pitchFamily="18" charset="0"/>
                </a:endParaRPr>
              </a:p>
              <a:p>
                <a:pPr marL="0" lvl="1" algn="just">
                  <a:lnSpc>
                    <a:spcPct val="135000"/>
                  </a:lnSpc>
                </a:pPr>
                <a:r>
                  <a:rPr lang="zh-CN" altLang="en-US" sz="2000" dirty="0">
                    <a:latin typeface="Times New Roman" panose="02020603050405020304" pitchFamily="18" charset="0"/>
                    <a:cs typeface="Times New Roman" panose="02020603050405020304" pitchFamily="18" charset="0"/>
                  </a:rPr>
                  <a:t>   分析：</a:t>
                </a:r>
                <a:endParaRPr lang="en-US" altLang="zh-CN" sz="2000" dirty="0">
                  <a:latin typeface="Times New Roman" panose="02020603050405020304" pitchFamily="18" charset="0"/>
                  <a:cs typeface="Times New Roman" panose="02020603050405020304" pitchFamily="18" charset="0"/>
                </a:endParaRPr>
              </a:p>
              <a:p>
                <a:pPr marL="800100" lvl="2" indent="-342900" algn="just">
                  <a:lnSpc>
                    <a:spcPct val="135000"/>
                  </a:lnSpc>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本协议要求加解密算法具有交换律。如可用 </a:t>
                </a:r>
                <a:r>
                  <a:rPr lang="en-US" altLang="zh-CN" sz="1900" dirty="0">
                    <a:latin typeface="Times New Roman" panose="02020603050405020304" pitchFamily="18" charset="0"/>
                    <a:cs typeface="Times New Roman" panose="02020603050405020304" pitchFamily="18" charset="0"/>
                  </a:rPr>
                  <a:t>RSA </a:t>
                </a:r>
                <a:r>
                  <a:rPr lang="zh-CN" altLang="en-US" sz="1900" dirty="0">
                    <a:latin typeface="Times New Roman" panose="02020603050405020304" pitchFamily="18" charset="0"/>
                    <a:cs typeface="Times New Roman" panose="02020603050405020304" pitchFamily="18" charset="0"/>
                  </a:rPr>
                  <a:t>加密。</a:t>
                </a:r>
                <a:endParaRPr lang="en-US" altLang="zh-CN" sz="1900" dirty="0">
                  <a:latin typeface="Times New Roman" panose="02020603050405020304" pitchFamily="18" charset="0"/>
                  <a:cs typeface="Times New Roman" panose="02020603050405020304" pitchFamily="18" charset="0"/>
                </a:endParaRPr>
              </a:p>
              <a:p>
                <a:pPr marL="800100" lvl="2" indent="-342900" algn="just">
                  <a:lnSpc>
                    <a:spcPct val="135000"/>
                  </a:lnSpc>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这实际上用到了双锁箱的思想，注意与传统公钥加密的区别。</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02788" y="1652141"/>
                <a:ext cx="8429148" cy="4832861"/>
              </a:xfrm>
              <a:prstGeom prst="rect">
                <a:avLst/>
              </a:prstGeom>
              <a:blipFill rotWithShape="1">
                <a:blip r:embed="rId4"/>
                <a:stretch>
                  <a:fillRect l="-3" t="-10" r="5" b="8"/>
                </a:stretch>
              </a:blipFill>
            </p:spPr>
            <p:txBody>
              <a:bodyPr/>
              <a:lstStyle/>
              <a:p>
                <a:r>
                  <a:rPr lang="zh-CN" altLang="en-US">
                    <a:noFill/>
                  </a:rPr>
                  <a:t> </a:t>
                </a:r>
              </a:p>
            </p:txBody>
          </p:sp>
        </mc:Fallback>
      </mc:AlternateContent>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3.3 </a:t>
            </a:r>
            <a:r>
              <a:rPr lang="zh-CN" altLang="en-US" sz="2400" b="1" dirty="0">
                <a:solidFill>
                  <a:srgbClr val="FF0000"/>
                </a:solidFill>
                <a:latin typeface="+mn-ea"/>
              </a:rPr>
              <a:t>基于公钥技术的电话投币协议</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电话投币协议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17</a:t>
            </a:fld>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96518" y="1480765"/>
                <a:ext cx="8695944" cy="2505429"/>
              </a:xfrm>
              <a:prstGeom prst="rect">
                <a:avLst/>
              </a:prstGeom>
              <a:noFill/>
            </p:spPr>
            <p:txBody>
              <a:bodyPr wrap="square" rtlCol="0">
                <a:spAutoFit/>
              </a:bodyPr>
              <a:lstStyle/>
              <a:p>
                <a:pPr marL="800100" lvl="1" indent="-342900" algn="just">
                  <a:lnSpc>
                    <a:spcPct val="150000"/>
                  </a:lnSpc>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选择两个</a:t>
                </a:r>
                <a14:m>
                  <m:oMath xmlns:m="http://schemas.openxmlformats.org/officeDocument/2006/math">
                    <m:r>
                      <a:rPr lang="zh-CN" altLang="en-US" sz="1900" b="0" i="1" dirty="0">
                        <a:latin typeface="Cambria Math" panose="02040503050406030204" pitchFamily="18" charset="0"/>
                        <a:cs typeface="Times New Roman" panose="02020603050405020304" pitchFamily="18" charset="0"/>
                      </a:rPr>
                      <m:t>大素数</m:t>
                    </m:r>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𝑝</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𝑞</m:t>
                    </m:r>
                  </m:oMath>
                </a14:m>
                <a:r>
                  <a:rPr lang="zh-CN" altLang="en-US" sz="1900" b="0" dirty="0">
                    <a:latin typeface="Cambria Math" panose="02040503050406030204" pitchFamily="18" charset="0"/>
                    <a:cs typeface="Times New Roman" panose="02020603050405020304" pitchFamily="18" charset="0"/>
                  </a:rPr>
                  <a:t>，计算</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𝑛</m:t>
                    </m:r>
                    <m:r>
                      <a:rPr lang="en-US" altLang="zh-CN" sz="1900" b="0" i="1" smtClean="0">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𝑝𝑞</m:t>
                    </m:r>
                    <m:r>
                      <a:rPr lang="zh-CN" altLang="en-US" sz="1900" i="1" smtClean="0">
                        <a:latin typeface="Cambria Math" panose="02040503050406030204" pitchFamily="18" charset="0"/>
                        <a:cs typeface="Times New Roman" panose="02020603050405020304" pitchFamily="18" charset="0"/>
                      </a:rPr>
                      <m:t>，</m:t>
                    </m:r>
                  </m:oMath>
                </a14:m>
                <a:r>
                  <a:rPr lang="zh-CN" altLang="en-US" sz="1900" b="0" dirty="0">
                    <a:latin typeface="Cambria Math" panose="02040503050406030204" pitchFamily="18" charset="0"/>
                    <a:cs typeface="Times New Roman" panose="02020603050405020304" pitchFamily="18" charset="0"/>
                  </a:rPr>
                  <a:t>再选取</a:t>
                </a:r>
                <a:r>
                  <a:rPr lang="zh-CN" altLang="en-US" sz="1900" dirty="0">
                    <a:latin typeface="Times New Roman" panose="02020603050405020304" pitchFamily="18" charset="0"/>
                    <a:cs typeface="Times New Roman" panose="02020603050405020304" pitchFamily="18" charset="0"/>
                  </a:rPr>
                  <a:t>整数</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𝑎</m:t>
                    </m:r>
                  </m:oMath>
                </a14:m>
                <a:r>
                  <a:rPr lang="zh-CN" altLang="en-US" sz="1900" dirty="0">
                    <a:latin typeface="Times New Roman" panose="02020603050405020304" pitchFamily="18" charset="0"/>
                    <a:cs typeface="Times New Roman" panose="02020603050405020304" pitchFamily="18" charset="0"/>
                  </a:rPr>
                  <a:t>，满足</a:t>
                </a:r>
                <a14:m>
                  <m:oMath xmlns:m="http://schemas.openxmlformats.org/officeDocument/2006/math">
                    <m:r>
                      <a:rPr lang="en-US" altLang="zh-CN" sz="1900" i="1" dirty="0">
                        <a:latin typeface="Cambria Math" panose="02040503050406030204" pitchFamily="18" charset="0"/>
                        <a:cs typeface="Times New Roman" panose="02020603050405020304" pitchFamily="18" charset="0"/>
                      </a:rPr>
                      <m:t> 0&lt;</m:t>
                    </m:r>
                    <m:r>
                      <a:rPr lang="en-US" altLang="zh-CN" sz="1900" i="1" dirty="0">
                        <a:latin typeface="Cambria Math" panose="02040503050406030204" pitchFamily="18" charset="0"/>
                        <a:cs typeface="Times New Roman" panose="02020603050405020304" pitchFamily="18" charset="0"/>
                      </a:rPr>
                      <m:t>𝑎</m:t>
                    </m:r>
                    <m:r>
                      <a:rPr lang="en-US" altLang="zh-CN" sz="1900" i="1" dirty="0">
                        <a:latin typeface="Cambria Math" panose="02040503050406030204" pitchFamily="18" charset="0"/>
                        <a:cs typeface="Times New Roman" panose="02020603050405020304" pitchFamily="18" charset="0"/>
                      </a:rPr>
                      <m:t>&lt;</m:t>
                    </m:r>
                    <m:r>
                      <a:rPr lang="en-US" altLang="zh-CN" sz="1900" i="1" dirty="0">
                        <a:latin typeface="Cambria Math" panose="02040503050406030204" pitchFamily="18" charset="0"/>
                        <a:cs typeface="Times New Roman" panose="02020603050405020304" pitchFamily="18" charset="0"/>
                      </a:rPr>
                      <m:t>𝑛</m:t>
                    </m:r>
                  </m:oMath>
                </a14:m>
                <a:r>
                  <a:rPr lang="zh-CN" altLang="en-US" sz="1900" dirty="0">
                    <a:latin typeface="Times New Roman" panose="02020603050405020304" pitchFamily="18" charset="0"/>
                    <a:cs typeface="Times New Roman" panose="02020603050405020304" pitchFamily="18" charset="0"/>
                  </a:rPr>
                  <a:t> 且 </a:t>
                </a:r>
                <a:r>
                  <a:rPr lang="en-US" altLang="zh-CN" sz="1900" dirty="0">
                    <a:latin typeface="Times New Roman" panose="02020603050405020304" pitchFamily="18" charset="0"/>
                    <a:cs typeface="Times New Roman" panose="02020603050405020304" pitchFamily="18" charset="0"/>
                  </a:rPr>
                  <a:t>Jacobi </a:t>
                </a:r>
                <a:r>
                  <a:rPr lang="zh-CN" altLang="en-US" sz="1900" dirty="0">
                    <a:latin typeface="Times New Roman" panose="02020603050405020304" pitchFamily="18" charset="0"/>
                    <a:cs typeface="Times New Roman" panose="02020603050405020304" pitchFamily="18" charset="0"/>
                  </a:rPr>
                  <a:t>符号 </a:t>
                </a:r>
                <a14:m>
                  <m:oMath xmlns:m="http://schemas.openxmlformats.org/officeDocument/2006/math">
                    <m:d>
                      <m:dPr>
                        <m:begChr m:val="（"/>
                        <m:endChr m:val="）"/>
                        <m:ctrlPr>
                          <a:rPr lang="zh-CN" altLang="en-US" sz="1900" i="1" dirty="0">
                            <a:latin typeface="Cambria Math" panose="02040503050406030204" pitchFamily="18" charset="0"/>
                            <a:cs typeface="Times New Roman" panose="02020603050405020304" pitchFamily="18" charset="0"/>
                          </a:rPr>
                        </m:ctrlPr>
                      </m:dPr>
                      <m:e>
                        <m:f>
                          <m:fPr>
                            <m:ctrlPr>
                              <a:rPr lang="en-US" altLang="zh-CN" sz="1900" i="1">
                                <a:latin typeface="Cambria Math" panose="02040503050406030204" pitchFamily="18" charset="0"/>
                                <a:cs typeface="Times New Roman" panose="02020603050405020304" pitchFamily="18" charset="0"/>
                              </a:rPr>
                            </m:ctrlPr>
                          </m:fPr>
                          <m:num>
                            <m:r>
                              <a:rPr lang="en-US" altLang="zh-CN" sz="1900" i="1">
                                <a:latin typeface="Cambria Math" panose="02040503050406030204" pitchFamily="18" charset="0"/>
                                <a:cs typeface="Times New Roman" panose="02020603050405020304" pitchFamily="18" charset="0"/>
                              </a:rPr>
                              <m:t>𝑎</m:t>
                            </m:r>
                          </m:num>
                          <m:den>
                            <m:r>
                              <a:rPr lang="en-US" altLang="zh-CN" sz="1900" i="1">
                                <a:latin typeface="Cambria Math" panose="02040503050406030204" pitchFamily="18" charset="0"/>
                                <a:cs typeface="Times New Roman" panose="02020603050405020304" pitchFamily="18" charset="0"/>
                              </a:rPr>
                              <m:t>𝑛</m:t>
                            </m:r>
                          </m:den>
                        </m:f>
                      </m:e>
                    </m:d>
                    <m:r>
                      <a:rPr lang="en-US" altLang="zh-CN" sz="1900" i="1" dirty="0" smtClean="0">
                        <a:solidFill>
                          <a:schemeClr val="tx1"/>
                        </a:solidFill>
                        <a:latin typeface="Cambria Math" panose="02040503050406030204" pitchFamily="18" charset="0"/>
                        <a:cs typeface="Times New Roman" panose="02020603050405020304" pitchFamily="18" charset="0"/>
                      </a:rPr>
                      <m:t>=1</m:t>
                    </m:r>
                  </m:oMath>
                </a14:m>
                <a:r>
                  <a:rPr lang="zh-CN" altLang="en-US" sz="1900" b="0" dirty="0">
                    <a:latin typeface="Times New Roman" panose="02020603050405020304" pitchFamily="18" charset="0"/>
                    <a:cs typeface="Times New Roman" panose="02020603050405020304" pitchFamily="18" charset="0"/>
                  </a:rPr>
                  <a:t>，将</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𝑎</m:t>
                    </m:r>
                    <m:r>
                      <a:rPr lang="en-US" altLang="zh-CN" sz="1900" b="0" i="1" smtClean="0">
                        <a:latin typeface="Cambria Math" panose="02040503050406030204" pitchFamily="18" charset="0"/>
                        <a:cs typeface="Times New Roman" panose="02020603050405020304" pitchFamily="18" charset="0"/>
                      </a:rPr>
                      <m:t> </m:t>
                    </m:r>
                    <m:r>
                      <a:rPr lang="zh-CN" altLang="en-US" sz="1900" i="1" smtClean="0">
                        <a:latin typeface="Cambria Math" panose="02040503050406030204" pitchFamily="18" charset="0"/>
                        <a:cs typeface="Times New Roman" panose="02020603050405020304" pitchFamily="18" charset="0"/>
                      </a:rPr>
                      <m:t>和</m:t>
                    </m:r>
                    <m:r>
                      <a:rPr lang="en-US" altLang="zh-CN" sz="1900" b="0" i="1"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𝑛</m:t>
                    </m:r>
                    <m:r>
                      <a:rPr lang="en-US" altLang="zh-CN" sz="1900" b="0" i="1" smtClean="0">
                        <a:latin typeface="Cambria Math" panose="02040503050406030204" pitchFamily="18" charset="0"/>
                        <a:cs typeface="Times New Roman" panose="02020603050405020304" pitchFamily="18" charset="0"/>
                      </a:rPr>
                      <m:t> </m:t>
                    </m:r>
                  </m:oMath>
                </a14:m>
                <a:r>
                  <a:rPr lang="zh-CN" altLang="en-US" sz="1900" b="0" dirty="0">
                    <a:latin typeface="Times New Roman" panose="02020603050405020304" pitchFamily="18" charset="0"/>
                    <a:cs typeface="Times New Roman" panose="02020603050405020304" pitchFamily="18" charset="0"/>
                  </a:rPr>
                  <a:t>发送给 </a:t>
                </a:r>
                <a:r>
                  <a:rPr lang="en-US" altLang="zh-CN" sz="1900" b="0" dirty="0">
                    <a:latin typeface="Times New Roman" panose="02020603050405020304" pitchFamily="18" charset="0"/>
                    <a:cs typeface="Times New Roman" panose="02020603050405020304" pitchFamily="18" charset="0"/>
                  </a:rPr>
                  <a:t>Bob</a:t>
                </a:r>
                <a:r>
                  <a:rPr lang="zh-CN" altLang="en-US" sz="1900" b="0" dirty="0">
                    <a:latin typeface="Times New Roman" panose="02020603050405020304" pitchFamily="18" charset="0"/>
                    <a:cs typeface="Times New Roman" panose="02020603050405020304" pitchFamily="18" charset="0"/>
                  </a:rPr>
                  <a:t>；</a:t>
                </a:r>
                <a:endParaRPr lang="en-US" altLang="zh-CN" sz="1900" b="0"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l"/>
                </a:pPr>
                <a:r>
                  <a:rPr lang="en-US" altLang="zh-CN" sz="1900" b="0" dirty="0">
                    <a:latin typeface="Times New Roman" panose="02020603050405020304" pitchFamily="18" charset="0"/>
                    <a:cs typeface="Times New Roman" panose="02020603050405020304" pitchFamily="18" charset="0"/>
                  </a:rPr>
                  <a:t>Bob </a:t>
                </a:r>
                <a:r>
                  <a:rPr lang="zh-CN" altLang="en-US" sz="1900" b="0" dirty="0">
                    <a:latin typeface="Times New Roman" panose="02020603050405020304" pitchFamily="18" charset="0"/>
                    <a:cs typeface="Times New Roman" panose="02020603050405020304" pitchFamily="18" charset="0"/>
                  </a:rPr>
                  <a:t>猜测</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𝑎</m:t>
                    </m:r>
                    <m:r>
                      <a:rPr lang="en-US" altLang="zh-CN" sz="1900" b="0" i="1" smtClean="0">
                        <a:latin typeface="Cambria Math" panose="02040503050406030204" pitchFamily="18" charset="0"/>
                        <a:cs typeface="Times New Roman" panose="02020603050405020304" pitchFamily="18" charset="0"/>
                      </a:rPr>
                      <m:t> </m:t>
                    </m:r>
                  </m:oMath>
                </a14:m>
                <a:r>
                  <a:rPr lang="zh-CN" altLang="en-US" sz="1900" b="0" dirty="0">
                    <a:latin typeface="Times New Roman" panose="02020603050405020304" pitchFamily="18" charset="0"/>
                    <a:cs typeface="Times New Roman" panose="02020603050405020304" pitchFamily="18" charset="0"/>
                  </a:rPr>
                  <a:t>是模</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r>
                      <a:rPr lang="en-US" altLang="zh-CN" sz="1900" i="1">
                        <a:latin typeface="Cambria Math" panose="02040503050406030204" pitchFamily="18" charset="0"/>
                        <a:cs typeface="Times New Roman" panose="02020603050405020304" pitchFamily="18" charset="0"/>
                      </a:rPr>
                      <m:t> </m:t>
                    </m:r>
                  </m:oMath>
                </a14:m>
                <a:r>
                  <a:rPr lang="zh-CN" altLang="en-US" sz="1900" b="0" dirty="0">
                    <a:latin typeface="Times New Roman" panose="02020603050405020304" pitchFamily="18" charset="0"/>
                    <a:cs typeface="Times New Roman" panose="02020603050405020304" pitchFamily="18" charset="0"/>
                  </a:rPr>
                  <a:t>的二次剩余或者二次非剩余，并将结果告诉给</a:t>
                </a:r>
                <a:r>
                  <a:rPr lang="en-US" altLang="zh-CN" sz="1900" b="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l"/>
                </a:pPr>
                <a:r>
                  <a:rPr lang="en-US" altLang="zh-CN" sz="1900" b="0" dirty="0">
                    <a:latin typeface="Times New Roman" panose="02020603050405020304" pitchFamily="18" charset="0"/>
                    <a:cs typeface="Times New Roman" panose="02020603050405020304" pitchFamily="18" charset="0"/>
                  </a:rPr>
                  <a:t>Alice </a:t>
                </a:r>
                <a:r>
                  <a:rPr lang="zh-CN" altLang="en-US" sz="1900" b="0" dirty="0">
                    <a:latin typeface="Times New Roman" panose="02020603050405020304" pitchFamily="18" charset="0"/>
                    <a:cs typeface="Times New Roman" panose="02020603050405020304" pitchFamily="18" charset="0"/>
                  </a:rPr>
                  <a:t>告诉 </a:t>
                </a:r>
                <a:r>
                  <a:rPr lang="en-US" altLang="zh-CN" sz="1900" b="0" dirty="0">
                    <a:latin typeface="Times New Roman" panose="02020603050405020304" pitchFamily="18" charset="0"/>
                    <a:cs typeface="Times New Roman" panose="02020603050405020304" pitchFamily="18" charset="0"/>
                  </a:rPr>
                  <a:t>Bob </a:t>
                </a:r>
                <a:r>
                  <a:rPr lang="zh-CN" altLang="en-US" sz="1900" b="0" dirty="0">
                    <a:latin typeface="Times New Roman" panose="02020603050405020304" pitchFamily="18" charset="0"/>
                    <a:cs typeface="Times New Roman" panose="02020603050405020304" pitchFamily="18" charset="0"/>
                  </a:rPr>
                  <a:t>猜测正确或者不正确，并将</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𝑝</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𝑞</m:t>
                    </m:r>
                    <m:r>
                      <a:rPr lang="en-US" altLang="zh-CN" sz="1900" b="0" i="1" smtClean="0">
                        <a:latin typeface="Cambria Math" panose="02040503050406030204" pitchFamily="18" charset="0"/>
                        <a:cs typeface="Times New Roman" panose="02020603050405020304" pitchFamily="18" charset="0"/>
                      </a:rPr>
                      <m:t> </m:t>
                    </m:r>
                    <m:r>
                      <a:rPr lang="zh-CN" altLang="en-US" sz="1900" i="1">
                        <a:latin typeface="Cambria Math" panose="02040503050406030204" pitchFamily="18" charset="0"/>
                        <a:cs typeface="Times New Roman" panose="02020603050405020304" pitchFamily="18" charset="0"/>
                      </a:rPr>
                      <m:t>发送</m:t>
                    </m:r>
                  </m:oMath>
                </a14:m>
                <a:r>
                  <a:rPr lang="zh-CN" altLang="en-US" sz="1900" b="0" dirty="0">
                    <a:latin typeface="Times New Roman" panose="02020603050405020304" pitchFamily="18" charset="0"/>
                    <a:cs typeface="Times New Roman" panose="02020603050405020304" pitchFamily="18" charset="0"/>
                  </a:rPr>
                  <a:t>给 </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检查</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𝑝</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𝑞</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是素数且</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𝑛</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𝑝𝑞</m:t>
                    </m:r>
                    <m:r>
                      <a:rPr lang="zh-CN" altLang="en-US" sz="1900" i="1">
                        <a:latin typeface="Cambria Math" panose="02040503050406030204" pitchFamily="18" charset="0"/>
                        <a:cs typeface="Times New Roman" panose="02020603050405020304" pitchFamily="18" charset="0"/>
                      </a:rPr>
                      <m:t>。</m:t>
                    </m:r>
                  </m:oMath>
                </a14:m>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96518" y="1480765"/>
                <a:ext cx="8695944" cy="2505429"/>
              </a:xfrm>
              <a:prstGeom prst="rect">
                <a:avLst/>
              </a:prstGeom>
              <a:blipFill rotWithShape="1">
                <a:blip r:embed="rId4"/>
                <a:stretch>
                  <a:fillRect l="-7" t="-23" r="3" b="-3866"/>
                </a:stretch>
              </a:blipFill>
            </p:spPr>
            <p:txBody>
              <a:bodyPr/>
              <a:lstStyle/>
              <a:p>
                <a:r>
                  <a:rPr lang="zh-CN" altLang="en-US">
                    <a:noFill/>
                  </a:rPr>
                  <a:t> </a:t>
                </a:r>
              </a:p>
            </p:txBody>
          </p:sp>
        </mc:Fallback>
      </mc:AlternateContent>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3.4 </a:t>
            </a:r>
            <a:r>
              <a:rPr lang="zh-CN" altLang="en-US" sz="2400" b="1" dirty="0">
                <a:solidFill>
                  <a:srgbClr val="FF0000"/>
                </a:solidFill>
                <a:latin typeface="+mn-ea"/>
              </a:rPr>
              <a:t>基于二次剩余的电话投币协议</a:t>
            </a:r>
          </a:p>
        </p:txBody>
      </p:sp>
      <mc:AlternateContent xmlns:mc="http://schemas.openxmlformats.org/markup-compatibility/2006" xmlns:a14="http://schemas.microsoft.com/office/drawing/2010/main">
        <mc:Choice Requires="a14">
          <p:sp>
            <p:nvSpPr>
              <p:cNvPr id="4" name="矩形 3"/>
              <p:cNvSpPr/>
              <p:nvPr/>
            </p:nvSpPr>
            <p:spPr>
              <a:xfrm>
                <a:off x="566480" y="4154842"/>
                <a:ext cx="8225982" cy="2176109"/>
              </a:xfrm>
              <a:prstGeom prst="rect">
                <a:avLst/>
              </a:prstGeom>
            </p:spPr>
            <p:txBody>
              <a:bodyPr wrap="square">
                <a:spAutoFit/>
              </a:bodyPr>
              <a:lstStyle/>
              <a:p>
                <a:pPr marL="0" lvl="1" algn="just">
                  <a:lnSpc>
                    <a:spcPct val="120000"/>
                  </a:lnSpc>
                </a:pPr>
                <a:r>
                  <a:rPr lang="zh-CN" altLang="en-US" sz="2000" dirty="0">
                    <a:latin typeface="Times New Roman" panose="02020603050405020304" pitchFamily="18" charset="0"/>
                    <a:cs typeface="Times New Roman" panose="02020603050405020304" pitchFamily="18" charset="0"/>
                  </a:rPr>
                  <a:t>分析：</a:t>
                </a:r>
                <a:endParaRPr lang="en-US" altLang="zh-CN" sz="2000" dirty="0">
                  <a:latin typeface="Times New Roman" panose="02020603050405020304" pitchFamily="18" charset="0"/>
                  <a:cs typeface="Times New Roman" panose="02020603050405020304" pitchFamily="18" charset="0"/>
                </a:endParaRPr>
              </a:p>
              <a:p>
                <a:pPr marL="0" lvl="1" algn="just">
                  <a:lnSpc>
                    <a:spcPct val="150000"/>
                  </a:lnSpc>
                </a:pPr>
                <a14:m>
                  <m:oMath xmlns:m="http://schemas.openxmlformats.org/officeDocument/2006/math">
                    <m:r>
                      <a:rPr lang="zh-CN" altLang="en-US" sz="1900" i="1" dirty="0">
                        <a:latin typeface="Cambria Math" panose="02040503050406030204" pitchFamily="18" charset="0"/>
                        <a:cs typeface="Times New Roman" panose="02020603050405020304" pitchFamily="18" charset="0"/>
                      </a:rPr>
                      <m:t>因为</m:t>
                    </m:r>
                    <m:r>
                      <a:rPr lang="en-US" altLang="zh-CN" sz="1900" b="0" i="1" dirty="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𝑝𝑞</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，在 </a:t>
                </a:r>
                <a14:m>
                  <m:oMath xmlns:m="http://schemas.openxmlformats.org/officeDocument/2006/math">
                    <m:d>
                      <m:dPr>
                        <m:begChr m:val="（"/>
                        <m:endChr m:val="）"/>
                        <m:ctrlPr>
                          <a:rPr lang="zh-CN" altLang="en-US" sz="1900" i="1" dirty="0">
                            <a:latin typeface="Cambria Math" panose="02040503050406030204" pitchFamily="18" charset="0"/>
                            <a:cs typeface="Times New Roman" panose="02020603050405020304" pitchFamily="18" charset="0"/>
                          </a:rPr>
                        </m:ctrlPr>
                      </m:dPr>
                      <m:e>
                        <m:f>
                          <m:fPr>
                            <m:ctrlPr>
                              <a:rPr lang="en-US" altLang="zh-CN" sz="1900" i="1">
                                <a:latin typeface="Cambria Math" panose="02040503050406030204" pitchFamily="18" charset="0"/>
                                <a:cs typeface="Times New Roman" panose="02020603050405020304" pitchFamily="18" charset="0"/>
                              </a:rPr>
                            </m:ctrlPr>
                          </m:fPr>
                          <m:num>
                            <m:r>
                              <a:rPr lang="en-US" altLang="zh-CN" sz="1900" i="1">
                                <a:latin typeface="Cambria Math" panose="02040503050406030204" pitchFamily="18" charset="0"/>
                                <a:cs typeface="Times New Roman" panose="02020603050405020304" pitchFamily="18" charset="0"/>
                              </a:rPr>
                              <m:t>𝑎</m:t>
                            </m:r>
                          </m:num>
                          <m:den>
                            <m:r>
                              <a:rPr lang="en-US" altLang="zh-CN" sz="1900" i="1">
                                <a:latin typeface="Cambria Math" panose="02040503050406030204" pitchFamily="18" charset="0"/>
                                <a:cs typeface="Times New Roman" panose="02020603050405020304" pitchFamily="18" charset="0"/>
                              </a:rPr>
                              <m:t>𝑛</m:t>
                            </m:r>
                          </m:den>
                        </m:f>
                      </m:e>
                    </m:d>
                    <m:r>
                      <a:rPr lang="en-US" altLang="zh-CN" sz="1900" i="1">
                        <a:latin typeface="Cambria Math" panose="02040503050406030204" pitchFamily="18" charset="0"/>
                        <a:cs typeface="Times New Roman" panose="02020603050405020304" pitchFamily="18" charset="0"/>
                      </a:rPr>
                      <m:t>=1</m:t>
                    </m:r>
                  </m:oMath>
                </a14:m>
                <a:r>
                  <a:rPr lang="zh-CN" altLang="en-US" sz="1900" dirty="0">
                    <a:latin typeface="Times New Roman" panose="02020603050405020304" pitchFamily="18" charset="0"/>
                    <a:cs typeface="Times New Roman" panose="02020603050405020304" pitchFamily="18" charset="0"/>
                  </a:rPr>
                  <a:t> 的所有</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𝑎</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中，只有一半是模</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的二次剩余。而判断</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𝑎</m:t>
                    </m:r>
                    <m:r>
                      <a:rPr lang="en-US" altLang="zh-CN" sz="190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是否为模</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的二次剩余与分解</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r>
                      <a:rPr lang="en-US" altLang="zh-CN" sz="1900" i="1">
                        <a:latin typeface="Cambria Math" panose="02040503050406030204" pitchFamily="18" charset="0"/>
                        <a:cs typeface="Times New Roman" panose="02020603050405020304" pitchFamily="18" charset="0"/>
                      </a:rPr>
                      <m:t> </m:t>
                    </m:r>
                    <m:r>
                      <a:rPr lang="zh-CN" altLang="en-US" sz="1900" i="1">
                        <a:latin typeface="Cambria Math" panose="02040503050406030204" pitchFamily="18" charset="0"/>
                        <a:cs typeface="Times New Roman" panose="02020603050405020304" pitchFamily="18" charset="0"/>
                      </a:rPr>
                      <m:t>是</m:t>
                    </m:r>
                  </m:oMath>
                </a14:m>
                <a:r>
                  <a:rPr lang="zh-CN" altLang="en-US" sz="1900" dirty="0">
                    <a:latin typeface="Times New Roman" panose="02020603050405020304" pitchFamily="18" charset="0"/>
                    <a:cs typeface="Times New Roman" panose="02020603050405020304" pitchFamily="18" charset="0"/>
                  </a:rPr>
                  <a:t>等价的，故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猜中的概率为 </a:t>
                </a:r>
                <a14:m>
                  <m:oMath xmlns:m="http://schemas.openxmlformats.org/officeDocument/2006/math">
                    <m:f>
                      <m:fPr>
                        <m:ctrlPr>
                          <a:rPr lang="en-US" altLang="zh-CN" sz="1900" i="1">
                            <a:latin typeface="Cambria Math" panose="02040503050406030204" pitchFamily="18" charset="0"/>
                            <a:cs typeface="Times New Roman" panose="02020603050405020304" pitchFamily="18" charset="0"/>
                          </a:rPr>
                        </m:ctrlPr>
                      </m:fPr>
                      <m:num>
                        <m:r>
                          <a:rPr lang="en-US" altLang="zh-CN" sz="1900" i="1">
                            <a:latin typeface="Cambria Math" panose="02040503050406030204" pitchFamily="18" charset="0"/>
                            <a:cs typeface="Times New Roman" panose="02020603050405020304" pitchFamily="18" charset="0"/>
                          </a:rPr>
                          <m:t>1</m:t>
                        </m:r>
                      </m:num>
                      <m:den>
                        <m:r>
                          <a:rPr lang="en-US" altLang="zh-CN" sz="1900" i="1">
                            <a:latin typeface="Cambria Math" panose="02040503050406030204" pitchFamily="18" charset="0"/>
                            <a:cs typeface="Times New Roman" panose="02020603050405020304" pitchFamily="18" charset="0"/>
                          </a:rPr>
                          <m:t>2</m:t>
                        </m:r>
                      </m:den>
                    </m:f>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因而满足隐藏性。绑定性显而易见，因为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𝑎</m:t>
                    </m:r>
                    <m:r>
                      <a:rPr lang="en-US" altLang="zh-CN" sz="1900" i="1">
                        <a:latin typeface="Cambria Math" panose="02040503050406030204" pitchFamily="18" charset="0"/>
                        <a:cs typeface="Times New Roman" panose="02020603050405020304" pitchFamily="18" charset="0"/>
                      </a:rPr>
                      <m:t> </m:t>
                    </m:r>
                    <m:r>
                      <a:rPr lang="zh-CN" altLang="en-US" sz="1900" i="1">
                        <a:latin typeface="Cambria Math" panose="02040503050406030204" pitchFamily="18" charset="0"/>
                        <a:cs typeface="Times New Roman" panose="02020603050405020304" pitchFamily="18" charset="0"/>
                      </a:rPr>
                      <m:t>和</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发送给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后无法改变。</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566480" y="4154842"/>
                <a:ext cx="8225982" cy="2176109"/>
              </a:xfrm>
              <a:prstGeom prst="rect">
                <a:avLst/>
              </a:prstGeom>
              <a:blipFill rotWithShape="1">
                <a:blip r:embed="rId5"/>
                <a:stretch>
                  <a:fillRect l="-1" t="-2" r="3"/>
                </a:stretch>
              </a:blipFill>
            </p:spPr>
            <p:txBody>
              <a:bodyPr/>
              <a:lstStyle/>
              <a:p>
                <a:r>
                  <a:rPr lang="zh-CN" altLang="en-US">
                    <a:noFill/>
                  </a:rPr>
                  <a:t> </a:t>
                </a:r>
              </a:p>
            </p:txBody>
          </p:sp>
        </mc:Fallback>
      </mc:AlternateContent>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选择分割协议</a:t>
            </a:r>
          </a:p>
        </p:txBody>
      </p:sp>
      <p:sp>
        <p:nvSpPr>
          <p:cNvPr id="3" name="灯片编号占位符 2"/>
          <p:cNvSpPr>
            <a:spLocks noGrp="1"/>
          </p:cNvSpPr>
          <p:nvPr>
            <p:ph type="sldNum" sz="quarter" idx="12"/>
          </p:nvPr>
        </p:nvSpPr>
        <p:spPr>
          <a:xfrm>
            <a:off x="6713631" y="6330951"/>
            <a:ext cx="2057400" cy="365125"/>
          </a:xfrm>
        </p:spPr>
        <p:txBody>
          <a:bodyPr/>
          <a:lstStyle/>
          <a:p>
            <a:fld id="{4DBDE2CB-4801-494F-A0A4-D49D70804842}" type="slidenum">
              <a:rPr lang="zh-CN" altLang="en-US" smtClean="0"/>
              <a:t>18</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4.1 </a:t>
            </a:r>
            <a:r>
              <a:rPr lang="zh-CN" altLang="en-US" sz="2400" b="1" dirty="0">
                <a:solidFill>
                  <a:srgbClr val="FF0000"/>
                </a:solidFill>
                <a:latin typeface="+mn-ea"/>
              </a:rPr>
              <a:t>选择分割协议</a:t>
            </a:r>
          </a:p>
        </p:txBody>
      </p:sp>
      <p:sp>
        <p:nvSpPr>
          <p:cNvPr id="9" name="文本框 8"/>
          <p:cNvSpPr txBox="1"/>
          <p:nvPr/>
        </p:nvSpPr>
        <p:spPr>
          <a:xfrm>
            <a:off x="312517" y="1682524"/>
            <a:ext cx="8479945" cy="4662815"/>
          </a:xfrm>
          <a:prstGeom prst="rect">
            <a:avLst/>
          </a:prstGeom>
          <a:noFill/>
        </p:spPr>
        <p:txBody>
          <a:bodyPr wrap="square" rtlCol="0">
            <a:spAutoFit/>
          </a:bodyPr>
          <a:lstStyle/>
          <a:p>
            <a:pPr algn="just">
              <a:lnSpc>
                <a:spcPct val="15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选择分割协议</a:t>
            </a:r>
            <a:r>
              <a:rPr lang="en-US" altLang="zh-CN" sz="2000" b="1" dirty="0">
                <a:solidFill>
                  <a:srgbClr val="0000FF"/>
                </a:solidFill>
                <a:latin typeface="Times New Roman" panose="02020603050405020304" pitchFamily="18" charset="0"/>
                <a:cs typeface="Times New Roman" panose="02020603050405020304" pitchFamily="18" charset="0"/>
              </a:rPr>
              <a:t>(Cut and Choose Protocol) </a:t>
            </a:r>
            <a:r>
              <a:rPr lang="zh-CN" altLang="en-US" sz="2000" dirty="0">
                <a:latin typeface="Times New Roman" panose="02020603050405020304" pitchFamily="18" charset="0"/>
                <a:cs typeface="Times New Roman" panose="02020603050405020304" pitchFamily="18" charset="0"/>
              </a:rPr>
              <a:t>，是一种用于公平分享物品或资源的经典协议。该协议的目标是确保每个参与者都能获得公平的份额，同时防止任何一方通过不正当手段获得更多的利益。</a:t>
            </a:r>
            <a:r>
              <a:rPr lang="en-US" altLang="zh-CN" sz="2000" dirty="0">
                <a:latin typeface="Times New Roman" panose="02020603050405020304" pitchFamily="18" charset="0"/>
                <a:cs typeface="Times New Roman" panose="02020603050405020304" pitchFamily="18" charset="0"/>
              </a:rPr>
              <a:t>Rabin [1978] </a:t>
            </a:r>
            <a:r>
              <a:rPr lang="zh-CN" altLang="en-US" sz="2000" dirty="0">
                <a:latin typeface="Times New Roman" panose="02020603050405020304" pitchFamily="18" charset="0"/>
                <a:cs typeface="Times New Roman" panose="02020603050405020304" pitchFamily="18" charset="0"/>
              </a:rPr>
              <a:t>最早将此用于密码学，后来广泛应用于电子现金和零知识证明协议。</a:t>
            </a:r>
            <a:endParaRPr lang="en-US" altLang="zh-CN" sz="2000"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1200"/>
              </a:spcAft>
            </a:pPr>
            <a:r>
              <a:rPr lang="zh-CN" altLang="en-US" sz="2000" dirty="0">
                <a:latin typeface="Times New Roman" panose="02020603050405020304" pitchFamily="18" charset="0"/>
                <a:cs typeface="Times New Roman" panose="02020603050405020304" pitchFamily="18" charset="0"/>
              </a:rPr>
              <a:t>例如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想公平的分割一块蛋糕，则执行如下的协议：</a:t>
            </a:r>
            <a:endParaRPr lang="en-US" altLang="zh-CN" sz="2000" dirty="0">
              <a:latin typeface="Times New Roman" panose="02020603050405020304" pitchFamily="18" charset="0"/>
              <a:cs typeface="Times New Roman" panose="02020603050405020304" pitchFamily="18" charset="0"/>
            </a:endParaRPr>
          </a:p>
          <a:p>
            <a:pPr marL="817245" lvl="2" indent="-457200" algn="just">
              <a:lnSpc>
                <a:spcPct val="150000"/>
              </a:lnSpc>
              <a:spcBef>
                <a:spcPts val="0"/>
              </a:spcBef>
              <a:spcAft>
                <a:spcPts val="0"/>
              </a:spcAft>
              <a:buSzPct val="85000"/>
              <a:buFont typeface="+mj-lt"/>
              <a:buAutoNum type="arabicPeriod"/>
            </a:pP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将东西切成两半；</a:t>
            </a:r>
            <a:endParaRPr lang="en-US" altLang="zh-CN" sz="2000" dirty="0">
              <a:latin typeface="Times New Roman" panose="02020603050405020304" pitchFamily="18" charset="0"/>
              <a:cs typeface="Times New Roman" panose="02020603050405020304" pitchFamily="18" charset="0"/>
            </a:endParaRPr>
          </a:p>
          <a:p>
            <a:pPr marL="817245" lvl="2" indent="-457200" algn="just">
              <a:lnSpc>
                <a:spcPct val="150000"/>
              </a:lnSpc>
              <a:spcBef>
                <a:spcPts val="0"/>
              </a:spcBef>
              <a:spcAft>
                <a:spcPts val="0"/>
              </a:spcAft>
              <a:buSzPct val="85000"/>
              <a:buFont typeface="+mj-lt"/>
              <a:buAutoNum type="arabicPeriod"/>
            </a:pP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选其中之一；</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拿剩下的一半。</a:t>
            </a:r>
            <a:endParaRPr lang="en-US" altLang="zh-CN" sz="2000" dirty="0">
              <a:latin typeface="Times New Roman" panose="02020603050405020304" pitchFamily="18" charset="0"/>
              <a:cs typeface="Times New Roman" panose="02020603050405020304" pitchFamily="18" charset="0"/>
            </a:endParaRPr>
          </a:p>
          <a:p>
            <a:pPr marL="360045" lvl="2" algn="just">
              <a:lnSpc>
                <a:spcPct val="120000"/>
              </a:lnSpc>
              <a:spcBef>
                <a:spcPts val="0"/>
              </a:spcBef>
              <a:spcAft>
                <a:spcPts val="0"/>
              </a:spcAft>
              <a:buClr>
                <a:srgbClr val="0000FF"/>
              </a:buClr>
              <a:buSzPct val="85000"/>
            </a:pPr>
            <a:endParaRPr lang="en-US" altLang="zh-CN" sz="2000" dirty="0">
              <a:latin typeface="Times New Roman" panose="02020603050405020304" pitchFamily="18" charset="0"/>
              <a:cs typeface="Times New Roman" panose="02020603050405020304" pitchFamily="18" charset="0"/>
            </a:endParaRPr>
          </a:p>
          <a:p>
            <a:pPr marL="360045" lvl="2" algn="just">
              <a:lnSpc>
                <a:spcPct val="120000"/>
              </a:lnSpc>
              <a:spcBef>
                <a:spcPts val="0"/>
              </a:spcBef>
              <a:spcAft>
                <a:spcPts val="0"/>
              </a:spcAft>
              <a:buClr>
                <a:srgbClr val="0000FF"/>
              </a:buClr>
              <a:buSzPct val="85000"/>
            </a:pPr>
            <a:r>
              <a:rPr lang="zh-CN" altLang="en-US" sz="2000" dirty="0">
                <a:latin typeface="Times New Roman" panose="02020603050405020304" pitchFamily="18" charset="0"/>
                <a:cs typeface="Times New Roman" panose="02020603050405020304" pitchFamily="18" charset="0"/>
              </a:rPr>
              <a:t>显然，</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为了自己的利益在第一步中要公平分割</a:t>
            </a:r>
            <a:r>
              <a:rPr lang="zh-CN" altLang="en-US" sz="2000" dirty="0"/>
              <a:t>蛋糕</a:t>
            </a:r>
            <a:r>
              <a:rPr lang="zh-CN" altLang="en-US" sz="2000" dirty="0">
                <a:latin typeface="Times New Roman" panose="02020603050405020304" pitchFamily="18" charset="0"/>
                <a:cs typeface="Times New Roman" panose="02020603050405020304" pitchFamily="18" charset="0"/>
              </a:rPr>
              <a:t>，否则第二步中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的选择将对其不利。</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选择分割协议</a:t>
            </a:r>
          </a:p>
        </p:txBody>
      </p:sp>
      <p:sp>
        <p:nvSpPr>
          <p:cNvPr id="3" name="灯片编号占位符 2"/>
          <p:cNvSpPr>
            <a:spLocks noGrp="1"/>
          </p:cNvSpPr>
          <p:nvPr>
            <p:ph type="sldNum" sz="quarter" idx="12"/>
          </p:nvPr>
        </p:nvSpPr>
        <p:spPr>
          <a:xfrm>
            <a:off x="6713631" y="6330951"/>
            <a:ext cx="2057400" cy="365125"/>
          </a:xfrm>
        </p:spPr>
        <p:txBody>
          <a:bodyPr/>
          <a:lstStyle/>
          <a:p>
            <a:fld id="{4DBDE2CB-4801-494F-A0A4-D49D70804842}" type="slidenum">
              <a:rPr lang="zh-CN" altLang="en-US" smtClean="0"/>
              <a:t>19</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4.2 </a:t>
            </a:r>
            <a:r>
              <a:rPr lang="zh-CN" altLang="en-US" sz="2400" b="1" dirty="0">
                <a:solidFill>
                  <a:srgbClr val="FF0000"/>
                </a:solidFill>
                <a:latin typeface="+mn-ea"/>
              </a:rPr>
              <a:t>选择分割协议应用示例</a:t>
            </a:r>
          </a:p>
        </p:txBody>
      </p:sp>
      <p:sp>
        <p:nvSpPr>
          <p:cNvPr id="9" name="文本框 8"/>
          <p:cNvSpPr txBox="1"/>
          <p:nvPr/>
        </p:nvSpPr>
        <p:spPr>
          <a:xfrm>
            <a:off x="179046" y="1697561"/>
            <a:ext cx="8507754" cy="4416594"/>
          </a:xfrm>
          <a:prstGeom prst="rect">
            <a:avLst/>
          </a:prstGeom>
          <a:noFill/>
        </p:spPr>
        <p:txBody>
          <a:bodyPr wrap="square" rtlCol="0">
            <a:spAutoFit/>
          </a:bodyPr>
          <a:lstStyle/>
          <a:p>
            <a:pPr marL="702945" indent="-342900" algn="just">
              <a:lnSpc>
                <a:spcPct val="150000"/>
              </a:lnSpc>
              <a:spcBef>
                <a:spcPct val="0"/>
              </a:spcBef>
              <a:spcAft>
                <a:spcPts val="600"/>
              </a:spcAft>
              <a:buFont typeface="Wingdings" panose="05000000000000000000" pitchFamily="2" charset="2"/>
              <a:buChar char="l"/>
            </a:pPr>
            <a:r>
              <a:rPr lang="zh-CN" altLang="en-US" sz="2000" dirty="0">
                <a:effectLst/>
              </a:rPr>
              <a:t>每天有许多人进入某国，海关想知道他们是不是贩毒者。他们用概率方法而不是检查每个人来实现这一目的。对入关者抽取1/10进行检查。贩毒者在多数情况下将可逃脱，但有1/10机会被抓获。而法院系统，为了有效惩治贩毒，一旦抓获，其罚金将大于其它9次的获利。</a:t>
            </a:r>
            <a:r>
              <a:rPr lang="zh-CN" altLang="en-US" sz="2000" dirty="0">
                <a:latin typeface="Times New Roman" panose="02020603050405020304" pitchFamily="18" charset="0"/>
                <a:cs typeface="Times New Roman" panose="02020603050405020304" pitchFamily="18" charset="0"/>
              </a:rPr>
              <a:t>这实际上也是选择分割协议的应用。相当于贩毒者进行集合的划分，但是海关可以挑选某一子集。</a:t>
            </a:r>
            <a:endParaRPr lang="en-US" altLang="zh-CN" sz="2000" dirty="0">
              <a:latin typeface="Times New Roman" panose="02020603050405020304" pitchFamily="18" charset="0"/>
              <a:cs typeface="Times New Roman" panose="02020603050405020304" pitchFamily="18" charset="0"/>
            </a:endParaRPr>
          </a:p>
          <a:p>
            <a:pPr marL="702945" lvl="2" indent="-342900" algn="just">
              <a:lnSpc>
                <a:spcPct val="120000"/>
              </a:lnSpc>
              <a:spcBef>
                <a:spcPts val="0"/>
              </a:spcBef>
              <a:spcAft>
                <a:spcPts val="0"/>
              </a:spcAft>
              <a:buClr>
                <a:srgbClr val="0000FF"/>
              </a:buClr>
              <a:buSzPct val="85000"/>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老师上课点名：一学期只点一次名，但是时间由老师挑选，一次不到扣</a:t>
            </a:r>
            <a:r>
              <a:rPr lang="en-US" altLang="zh-CN" sz="2000" dirty="0">
                <a:solidFill>
                  <a:srgbClr val="0000FF"/>
                </a:solidFill>
                <a:latin typeface="Times New Roman" panose="02020603050405020304" pitchFamily="18" charset="0"/>
                <a:cs typeface="Times New Roman" panose="02020603050405020304" pitchFamily="18" charset="0"/>
              </a:rPr>
              <a:t>41</a:t>
            </a:r>
            <a:r>
              <a:rPr lang="zh-CN" altLang="en-US" sz="2000" dirty="0">
                <a:solidFill>
                  <a:srgbClr val="0000FF"/>
                </a:solidFill>
                <a:latin typeface="Times New Roman" panose="02020603050405020304" pitchFamily="18" charset="0"/>
                <a:cs typeface="Times New Roman" panose="02020603050405020304" pitchFamily="18" charset="0"/>
              </a:rPr>
              <a:t>分。</a:t>
            </a:r>
            <a:r>
              <a:rPr lang="en-US" altLang="zh-CN" sz="20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360045" lvl="2" algn="just">
              <a:lnSpc>
                <a:spcPct val="120000"/>
              </a:lnSpc>
              <a:spcBef>
                <a:spcPts val="0"/>
              </a:spcBef>
              <a:spcAft>
                <a:spcPts val="0"/>
              </a:spcAft>
              <a:buClr>
                <a:srgbClr val="0000FF"/>
              </a:buClr>
              <a:buSzPct val="85000"/>
            </a:pPr>
            <a:endParaRPr lang="en-US" altLang="zh-CN" sz="2000" dirty="0">
              <a:latin typeface="Times New Roman" panose="02020603050405020304" pitchFamily="18" charset="0"/>
              <a:cs typeface="Times New Roman" panose="02020603050405020304" pitchFamily="18" charset="0"/>
            </a:endParaRPr>
          </a:p>
          <a:p>
            <a:pPr marL="360045" lvl="2" algn="just">
              <a:lnSpc>
                <a:spcPct val="120000"/>
              </a:lnSpc>
              <a:spcBef>
                <a:spcPts val="0"/>
              </a:spcBef>
              <a:spcAft>
                <a:spcPts val="0"/>
              </a:spcAft>
              <a:buClr>
                <a:srgbClr val="0000FF"/>
              </a:buClr>
              <a:buSzPct val="85000"/>
            </a:pPr>
            <a:r>
              <a:rPr lang="zh-CN" altLang="en-US" sz="2000" dirty="0">
                <a:latin typeface="Times New Roman" panose="02020603050405020304" pitchFamily="18" charset="0"/>
                <a:cs typeface="Times New Roman" panose="02020603050405020304" pitchFamily="18" charset="0"/>
              </a:rPr>
              <a:t>在很多密码协议应用中，选择分割协议的缺点是效率低，资源浪费太大。</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承诺协议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20</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5.1 </a:t>
            </a:r>
            <a:r>
              <a:rPr lang="zh-CN" altLang="en-US" sz="2400" b="1" dirty="0">
                <a:solidFill>
                  <a:srgbClr val="FF0000"/>
                </a:solidFill>
                <a:latin typeface="+mn-ea"/>
              </a:rPr>
              <a:t>承诺协议的基本概念</a:t>
            </a:r>
          </a:p>
        </p:txBody>
      </p:sp>
      <p:sp>
        <p:nvSpPr>
          <p:cNvPr id="9" name="文本框 8"/>
          <p:cNvSpPr txBox="1"/>
          <p:nvPr/>
        </p:nvSpPr>
        <p:spPr>
          <a:xfrm>
            <a:off x="312514" y="1564134"/>
            <a:ext cx="8479945" cy="2400657"/>
          </a:xfrm>
          <a:prstGeom prst="rect">
            <a:avLst/>
          </a:prstGeom>
          <a:noFill/>
        </p:spPr>
        <p:txBody>
          <a:bodyPr wrap="square" rtlCol="0">
            <a:spAutoFit/>
          </a:bodyPr>
          <a:lstStyle/>
          <a:p>
            <a:pPr algn="just">
              <a:lnSpc>
                <a:spcPct val="150000"/>
              </a:lnSpc>
              <a:spcBef>
                <a:spcPts val="600"/>
              </a:spcBef>
            </a:pP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声称自己能预测天气，她将预测结果放在一个箱子中并锁好，然后她把箱子给 </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，自己只保留钥匙。到了第二天，她当着 </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用钥匙亲自打开箱子，</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可验证预测结果的正确性。注意到：首先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第二天无法改变预测结果（绑定性）；其次，</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也在箱子打开前无法知道预测的结果 （隐藏性）。</a:t>
            </a:r>
            <a:endParaRPr lang="en-US" altLang="zh-CN" sz="2000" dirty="0">
              <a:latin typeface="Times New Roman" panose="02020603050405020304" pitchFamily="18" charset="0"/>
              <a:cs typeface="Times New Roman" panose="02020603050405020304" pitchFamily="18" charset="0"/>
            </a:endParaRPr>
          </a:p>
        </p:txBody>
      </p:sp>
      <p:sp>
        <p:nvSpPr>
          <p:cNvPr id="4" name="矩形 3"/>
          <p:cNvSpPr/>
          <p:nvPr/>
        </p:nvSpPr>
        <p:spPr>
          <a:xfrm>
            <a:off x="312514" y="4048160"/>
            <a:ext cx="8479945" cy="2400657"/>
          </a:xfrm>
          <a:prstGeom prst="rect">
            <a:avLst/>
          </a:prstGeom>
        </p:spPr>
        <p:txBody>
          <a:bodyPr wrap="square">
            <a:spAutoFit/>
          </a:bodyPr>
          <a:lstStyle/>
          <a:p>
            <a:pPr algn="just">
              <a:lnSpc>
                <a:spcPct val="15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承诺协议（</a:t>
            </a:r>
            <a:r>
              <a:rPr lang="en-US" altLang="zh-CN" sz="2000" b="1" dirty="0">
                <a:solidFill>
                  <a:srgbClr val="0000FF"/>
                </a:solidFill>
                <a:latin typeface="Times New Roman" panose="02020603050405020304" pitchFamily="18" charset="0"/>
                <a:cs typeface="Times New Roman" panose="02020603050405020304" pitchFamily="18" charset="0"/>
              </a:rPr>
              <a:t>Commitment Protocol</a:t>
            </a:r>
            <a:r>
              <a:rPr lang="zh-CN" altLang="en-US" sz="2000" b="1" dirty="0">
                <a:solidFill>
                  <a:srgbClr val="0000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是一种用于保证双方之间信息的机密性，并在一定条件下揭示信息的协议。</a:t>
            </a:r>
            <a:r>
              <a:rPr lang="zh-CN" altLang="en-US" sz="2000" dirty="0"/>
              <a:t>它的核心原则</a:t>
            </a:r>
            <a:r>
              <a:rPr lang="zh-CN" altLang="en-US" sz="2000" dirty="0">
                <a:latin typeface="Times New Roman" panose="02020603050405020304" pitchFamily="18" charset="0"/>
                <a:cs typeface="Times New Roman" panose="02020603050405020304" pitchFamily="18" charset="0"/>
              </a:rPr>
              <a:t>不立即揭示信息内容，而在适当的时机揭示，以确保另一方可以验证信息的正确性。这种协议通常用于零知识证明、认证、电子拍卖、电子投票等需要保持信息的机密性并在特定情况下揭示信息的协议应用中。</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承诺协议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21</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5.2 </a:t>
            </a:r>
            <a:r>
              <a:rPr lang="zh-CN" altLang="en-US" sz="2400" b="1" dirty="0">
                <a:solidFill>
                  <a:srgbClr val="FF0000"/>
                </a:solidFill>
                <a:latin typeface="+mn-ea"/>
              </a:rPr>
              <a:t>承诺协议的安全定义</a:t>
            </a:r>
          </a:p>
        </p:txBody>
      </p:sp>
      <p:sp>
        <p:nvSpPr>
          <p:cNvPr id="9" name="文本框 8"/>
          <p:cNvSpPr txBox="1"/>
          <p:nvPr/>
        </p:nvSpPr>
        <p:spPr>
          <a:xfrm>
            <a:off x="312517" y="1542922"/>
            <a:ext cx="8479945" cy="4736681"/>
          </a:xfrm>
          <a:prstGeom prst="rect">
            <a:avLst/>
          </a:prstGeom>
          <a:noFill/>
        </p:spPr>
        <p:txBody>
          <a:bodyPr wrap="square" rtlCol="0">
            <a:spAutoFit/>
          </a:bodyPr>
          <a:lstStyle/>
          <a:p>
            <a:pPr algn="just">
              <a:lnSpc>
                <a:spcPct val="120000"/>
              </a:lnSpc>
              <a:spcBef>
                <a:spcPts val="600"/>
              </a:spcBef>
            </a:pPr>
            <a:r>
              <a:rPr lang="zh-CN" altLang="en-US" sz="2000" dirty="0">
                <a:latin typeface="Times New Roman" panose="02020603050405020304" pitchFamily="18" charset="0"/>
                <a:cs typeface="Times New Roman" panose="02020603050405020304" pitchFamily="18" charset="0"/>
              </a:rPr>
              <a:t>承诺协议通常由两个阶段组成：</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承诺阶段：发送方对要承诺的消息生成承诺值，并将该承诺值发送给接收方。</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spcAft>
                <a:spcPts val="600"/>
              </a:spcAft>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打开阶段：发送方将承诺的消息给接收方，接收方可验证承诺的消息值与承诺值是否一致。</a:t>
            </a: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spcAft>
                <a:spcPts val="600"/>
              </a:spcAft>
            </a:pPr>
            <a:r>
              <a:rPr lang="zh-CN" altLang="en-US" sz="2000" dirty="0">
                <a:latin typeface="Times New Roman" panose="02020603050405020304" pitchFamily="18" charset="0"/>
                <a:cs typeface="Times New Roman" panose="02020603050405020304" pitchFamily="18" charset="0"/>
              </a:rPr>
              <a:t>承诺协议必须满足以下两个性质：</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隐藏性（</a:t>
            </a:r>
            <a:r>
              <a:rPr lang="en-US" altLang="zh-CN" sz="1900" dirty="0">
                <a:latin typeface="Times New Roman" panose="02020603050405020304" pitchFamily="18" charset="0"/>
                <a:cs typeface="Times New Roman" panose="02020603050405020304" pitchFamily="18" charset="0"/>
              </a:rPr>
              <a:t>Hiding</a:t>
            </a:r>
            <a:r>
              <a:rPr lang="zh-CN" altLang="en-US" sz="1900" dirty="0">
                <a:latin typeface="Times New Roman" panose="02020603050405020304" pitchFamily="18" charset="0"/>
                <a:cs typeface="Times New Roman" panose="02020603050405020304" pitchFamily="18" charset="0"/>
              </a:rPr>
              <a:t>）：在得到承诺值后，接收者无法由承诺值获得发送者所承诺的消息。</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捆绑性（</a:t>
            </a:r>
            <a:r>
              <a:rPr lang="en-US" altLang="zh-CN" sz="1900" dirty="0">
                <a:latin typeface="Times New Roman" panose="02020603050405020304" pitchFamily="18" charset="0"/>
                <a:cs typeface="Times New Roman" panose="02020603050405020304" pitchFamily="18" charset="0"/>
              </a:rPr>
              <a:t>Binding</a:t>
            </a:r>
            <a:r>
              <a:rPr lang="zh-CN" altLang="en-US" sz="1900" dirty="0">
                <a:latin typeface="Times New Roman" panose="02020603050405020304" pitchFamily="18" charset="0"/>
                <a:cs typeface="Times New Roman" panose="02020603050405020304" pitchFamily="18" charset="0"/>
              </a:rPr>
              <a:t>）：发送者一旦生成了承诺值，就无法在后续的打开阶段更改其承诺的内容 </a:t>
            </a:r>
            <a:r>
              <a:rPr lang="en-US" altLang="zh-CN" sz="1900" dirty="0">
                <a:latin typeface="Times New Roman" panose="02020603050405020304" pitchFamily="18" charset="0"/>
                <a:cs typeface="Times New Roman" panose="02020603050405020304" pitchFamily="18" charset="0"/>
              </a:rPr>
              <a:t>(</a:t>
            </a:r>
            <a:r>
              <a:rPr lang="zh-CN" altLang="en-US" sz="1900" dirty="0">
                <a:solidFill>
                  <a:srgbClr val="FF0000"/>
                </a:solidFill>
                <a:latin typeface="Times New Roman" panose="02020603050405020304" pitchFamily="18" charset="0"/>
                <a:cs typeface="Times New Roman" panose="02020603050405020304" pitchFamily="18" charset="0"/>
              </a:rPr>
              <a:t>即就是无法将桃子变成桃核，除非是陷门承诺</a:t>
            </a:r>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a:t>
            </a:r>
            <a:endParaRPr lang="en-US" altLang="zh-CN" sz="1900" b="1" dirty="0">
              <a:solidFill>
                <a:srgbClr val="0000FF"/>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承诺协议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22</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5.3 </a:t>
            </a:r>
            <a:r>
              <a:rPr lang="zh-CN" altLang="en-US" sz="2400" b="1" dirty="0">
                <a:solidFill>
                  <a:srgbClr val="FF0000"/>
                </a:solidFill>
                <a:latin typeface="+mn-ea"/>
              </a:rPr>
              <a:t>基于哈希函数的承诺协议</a:t>
            </a:r>
          </a:p>
        </p:txBody>
      </p:sp>
      <mc:AlternateContent xmlns:mc="http://schemas.openxmlformats.org/markup-compatibility/2006" xmlns:a14="http://schemas.microsoft.com/office/drawing/2010/main">
        <mc:Choice Requires="a14">
          <p:sp>
            <p:nvSpPr>
              <p:cNvPr id="9" name="文本框 8"/>
              <p:cNvSpPr txBox="1"/>
              <p:nvPr/>
            </p:nvSpPr>
            <p:spPr>
              <a:xfrm>
                <a:off x="396555" y="1633587"/>
                <a:ext cx="8319742" cy="2494722"/>
              </a:xfrm>
              <a:prstGeom prst="rect">
                <a:avLst/>
              </a:prstGeom>
              <a:noFill/>
            </p:spPr>
            <p:txBody>
              <a:bodyPr wrap="square" rtlCol="0">
                <a:spAutoFit/>
              </a:bodyPr>
              <a:lstStyle/>
              <a:p>
                <a:pPr algn="just">
                  <a:lnSpc>
                    <a:spcPct val="130000"/>
                  </a:lnSpc>
                  <a:spcBef>
                    <a:spcPts val="600"/>
                  </a:spcBef>
                </a:pPr>
                <a:r>
                  <a:rPr lang="zh-CN" altLang="en-US" sz="2000" dirty="0">
                    <a:latin typeface="Times New Roman" panose="02020603050405020304" pitchFamily="18" charset="0"/>
                    <a:cs typeface="Times New Roman" panose="02020603050405020304" pitchFamily="18" charset="0"/>
                  </a:rPr>
                  <a:t>公开参数：选择</a:t>
                </a:r>
                <a14:m>
                  <m:oMath xmlns:m="http://schemas.openxmlformats.org/officeDocument/2006/math">
                    <m:r>
                      <a:rPr lang="zh-CN" altLang="en-US" sz="2000" i="1" dirty="0">
                        <a:latin typeface="Cambria Math" panose="02040503050406030204" pitchFamily="18" charset="0"/>
                        <a:cs typeface="Times New Roman" panose="02020603050405020304" pitchFamily="18" charset="0"/>
                      </a:rPr>
                      <m:t>哈希</m:t>
                    </m:r>
                    <m:r>
                      <a:rPr lang="zh-CN" altLang="en-US" sz="2000" i="1" dirty="0" smtClean="0">
                        <a:latin typeface="Cambria Math" panose="02040503050406030204" pitchFamily="18" charset="0"/>
                        <a:cs typeface="Times New Roman" panose="02020603050405020304" pitchFamily="18" charset="0"/>
                      </a:rPr>
                      <m:t>函数</m:t>
                    </m:r>
                    <m:r>
                      <a:rPr lang="en-US" altLang="zh-CN" sz="2000" b="0" i="1" dirty="0" smtClean="0">
                        <a:latin typeface="Cambria Math" panose="02040503050406030204" pitchFamily="18" charset="0"/>
                        <a:cs typeface="Times New Roman" panose="02020603050405020304" pitchFamily="18" charset="0"/>
                      </a:rPr>
                      <m:t> </m:t>
                    </m:r>
                    <m:r>
                      <a:rPr lang="en-US" altLang="zh-CN" sz="2000" i="1" smtClean="0">
                        <a:latin typeface="Cambria Math" panose="02040503050406030204" pitchFamily="18" charset="0"/>
                        <a:cs typeface="Times New Roman" panose="02020603050405020304" pitchFamily="18" charset="0"/>
                      </a:rPr>
                      <m:t>𝐻𝑎𝑠h</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m:t>
                    </m:r>
                    <m:r>
                      <a:rPr lang="zh-CN" altLang="en-US" sz="2000" i="1">
                        <a:latin typeface="Cambria Math" panose="02040503050406030204" pitchFamily="18" charset="0"/>
                        <a:cs typeface="Times New Roman" panose="02020603050405020304" pitchFamily="18" charset="0"/>
                      </a:rPr>
                      <m:t>；</m:t>
                    </m:r>
                  </m:oMath>
                </a14:m>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承诺阶段：承诺者选择消息</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𝑚</m:t>
                    </m:r>
                    <m:r>
                      <a:rPr lang="en-US" altLang="zh-CN" sz="1900" b="0" i="0"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和随机数</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𝑟</m:t>
                    </m:r>
                  </m:oMath>
                </a14:m>
                <a:r>
                  <a:rPr lang="zh-CN" altLang="en-US" sz="1900" dirty="0">
                    <a:latin typeface="Times New Roman" panose="02020603050405020304" pitchFamily="18" charset="0"/>
                    <a:cs typeface="Times New Roman" panose="02020603050405020304" pitchFamily="18" charset="0"/>
                  </a:rPr>
                  <a:t>，并计算承诺值</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𝐶𝑜𝑚</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𝐻𝑎𝑠h</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𝑚</m:t>
                    </m:r>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𝑟</m:t>
                    </m:r>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，然后将承诺值</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𝐶𝑜𝑚</m:t>
                    </m:r>
                  </m:oMath>
                </a14:m>
                <a:r>
                  <a:rPr lang="zh-CN" altLang="en-US" sz="1900" dirty="0">
                    <a:latin typeface="Times New Roman" panose="02020603050405020304" pitchFamily="18" charset="0"/>
                    <a:cs typeface="Times New Roman" panose="02020603050405020304" pitchFamily="18" charset="0"/>
                  </a:rPr>
                  <a:t> 发送给接收者；</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打开阶段：承诺者公开消息</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𝑚</m:t>
                    </m:r>
                    <m:r>
                      <a:rPr lang="en-US" altLang="zh-CN" sz="1900" b="0" i="0"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和随机数</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𝑟</m:t>
                    </m:r>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，接收者验证</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𝐻𝑎𝑠h</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𝑚</m:t>
                    </m:r>
                    <m:r>
                      <a:rPr lang="en-US" altLang="zh-CN" sz="1900" i="1">
                        <a:latin typeface="Cambria Math" panose="02040503050406030204" pitchFamily="18" charset="0"/>
                        <a:cs typeface="Times New Roman" panose="02020603050405020304" pitchFamily="18" charset="0"/>
                      </a:rPr>
                      <m:t>|</m:t>
                    </m:r>
                    <m:d>
                      <m:dPr>
                        <m:begChr m:val="|"/>
                        <m:ctrlPr>
                          <a:rPr lang="en-US" altLang="zh-CN" sz="1900" i="1">
                            <a:latin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cs typeface="Times New Roman" panose="02020603050405020304" pitchFamily="18" charset="0"/>
                          </a:rPr>
                          <m:t>𝑟</m:t>
                        </m:r>
                      </m:e>
                    </m:d>
                  </m:oMath>
                </a14:m>
                <a:r>
                  <a:rPr lang="zh-CN" altLang="en-US" sz="1900" dirty="0">
                    <a:latin typeface="Times New Roman" panose="02020603050405020304" pitchFamily="18" charset="0"/>
                    <a:cs typeface="Times New Roman" panose="02020603050405020304" pitchFamily="18" charset="0"/>
                  </a:rPr>
                  <a:t> 是否成立？如果成立，则接受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𝑚</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96555" y="1633587"/>
                <a:ext cx="8319742" cy="2494722"/>
              </a:xfrm>
              <a:prstGeom prst="rect">
                <a:avLst/>
              </a:prstGeom>
              <a:blipFill rotWithShape="1">
                <a:blip r:embed="rId4"/>
                <a:stretch>
                  <a:fillRect l="-4" t="-15" r="3"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396555" y="4128309"/>
                <a:ext cx="8319743" cy="2400785"/>
              </a:xfrm>
              <a:prstGeom prst="rect">
                <a:avLst/>
              </a:prstGeom>
            </p:spPr>
            <p:txBody>
              <a:bodyPr wrap="square">
                <a:spAutoFit/>
              </a:bodyPr>
              <a:lstStyle/>
              <a:p>
                <a:pPr algn="just">
                  <a:lnSpc>
                    <a:spcPct val="130000"/>
                  </a:lnSpc>
                  <a:spcBef>
                    <a:spcPts val="600"/>
                  </a:spcBef>
                </a:pPr>
                <a:r>
                  <a:rPr lang="zh-CN" altLang="en-US" sz="2000" dirty="0">
                    <a:latin typeface="Times New Roman" panose="02020603050405020304" pitchFamily="18" charset="0"/>
                    <a:cs typeface="Times New Roman" panose="02020603050405020304" pitchFamily="18" charset="0"/>
                  </a:rPr>
                  <a:t>分析：</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由于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𝐻𝑎𝑠h</m:t>
                    </m:r>
                    <m:r>
                      <a:rPr lang="en-US" altLang="zh-CN" sz="1900" i="1">
                        <a:latin typeface="Cambria Math" panose="02040503050406030204" pitchFamily="18" charset="0"/>
                        <a:cs typeface="Times New Roman" panose="02020603050405020304" pitchFamily="18" charset="0"/>
                      </a:rPr>
                      <m:t>(∙)</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是单向函数，所以无法从承诺值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oMath>
                </a14:m>
                <a:r>
                  <a:rPr lang="zh-CN" altLang="en-US" sz="1900" dirty="0">
                    <a:latin typeface="Times New Roman" panose="02020603050405020304" pitchFamily="18" charset="0"/>
                    <a:cs typeface="Times New Roman" panose="02020603050405020304" pitchFamily="18" charset="0"/>
                  </a:rPr>
                  <a:t> 得到承诺的消息</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𝑚</m:t>
                    </m:r>
                    <m:r>
                      <a:rPr lang="en-US" altLang="zh-CN" sz="190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和随机数</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𝑟</m:t>
                    </m:r>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满足隐藏性。</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pPr>
                <a14:m>
                  <m:oMath xmlns:m="http://schemas.openxmlformats.org/officeDocument/2006/math">
                    <m:r>
                      <a:rPr lang="en-US" altLang="zh-CN" sz="1900" i="1">
                        <a:latin typeface="Cambria Math" panose="02040503050406030204" pitchFamily="18" charset="0"/>
                        <a:cs typeface="Times New Roman" panose="02020603050405020304" pitchFamily="18" charset="0"/>
                      </a:rPr>
                      <m:t>𝐻𝑎𝑠h</m:t>
                    </m:r>
                    <m:r>
                      <a:rPr lang="en-US" altLang="zh-CN"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存在碰撞的可能性，</a:t>
                </a:r>
                <a14:m>
                  <m:oMath xmlns:m="http://schemas.openxmlformats.org/officeDocument/2006/math">
                    <m:r>
                      <a:rPr lang="zh-CN" altLang="en-US" sz="1900" i="1" dirty="0" smtClean="0">
                        <a:latin typeface="Cambria Math" panose="02040503050406030204" pitchFamily="18" charset="0"/>
                        <a:cs typeface="Times New Roman" panose="02020603050405020304" pitchFamily="18" charset="0"/>
                      </a:rPr>
                      <m:t>即</m:t>
                    </m:r>
                    <m:r>
                      <a:rPr lang="en-US" altLang="zh-CN" sz="1900" b="0" i="0" dirty="0" smtClean="0">
                        <a:latin typeface="Cambria Math" panose="02040503050406030204" pitchFamily="18" charset="0"/>
                        <a:cs typeface="Times New Roman" panose="02020603050405020304" pitchFamily="18" charset="0"/>
                      </a:rPr>
                      <m:t> </m:t>
                    </m:r>
                    <m:r>
                      <a:rPr lang="en-US" altLang="zh-CN" sz="190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1</m:t>
                        </m:r>
                      </m:sub>
                    </m:sSub>
                    <m:r>
                      <a:rPr lang="en-US" altLang="zh-CN" sz="1900" i="1" smtClean="0">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2</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2</m:t>
                        </m:r>
                      </m:sub>
                    </m:sSub>
                    <m:r>
                      <a:rPr lang="en-US" altLang="zh-CN" sz="1900" i="1">
                        <a:latin typeface="Cambria Math" panose="02040503050406030204" pitchFamily="18" charset="0"/>
                        <a:cs typeface="Times New Roman" panose="02020603050405020304" pitchFamily="18" charset="0"/>
                      </a:rPr>
                      <m:t>)</m:t>
                    </m:r>
                    <m:r>
                      <a:rPr lang="zh-CN" altLang="en-US" sz="1900" b="0" i="1" dirty="0">
                        <a:latin typeface="Cambria Math" panose="02040503050406030204" pitchFamily="18" charset="0"/>
                        <a:cs typeface="Times New Roman" panose="02020603050405020304" pitchFamily="18" charset="0"/>
                      </a:rPr>
                      <m:t>且</m:t>
                    </m:r>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𝐻𝑎𝑠h</m:t>
                    </m:r>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d>
                      <m:dPr>
                        <m:begChr m:val="|"/>
                        <m:ctrlPr>
                          <a:rPr lang="en-US" altLang="zh-CN" sz="1900" i="1">
                            <a:latin typeface="Cambria Math" panose="02040503050406030204" pitchFamily="18" charset="0"/>
                            <a:cs typeface="Times New Roman" panose="02020603050405020304" pitchFamily="18" charset="0"/>
                          </a:rPr>
                        </m:ctrlPr>
                      </m:d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1</m:t>
                            </m:r>
                          </m:sub>
                        </m:sSub>
                      </m:e>
                    </m:d>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𝐻𝑎𝑠h</m:t>
                    </m:r>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𝑚</m:t>
                        </m:r>
                      </m:e>
                      <m:sub>
                        <m:r>
                          <a:rPr lang="en-US" altLang="zh-CN" sz="1900" i="1">
                            <a:latin typeface="Cambria Math" panose="02040503050406030204" pitchFamily="18" charset="0"/>
                            <a:cs typeface="Times New Roman" panose="02020603050405020304" pitchFamily="18" charset="0"/>
                          </a:rPr>
                          <m:t>2</m:t>
                        </m:r>
                      </m:sub>
                    </m:sSub>
                    <m:r>
                      <a:rPr lang="en-US" altLang="zh-CN" sz="1900" i="1">
                        <a:latin typeface="Cambria Math" panose="02040503050406030204" pitchFamily="18" charset="0"/>
                        <a:cs typeface="Times New Roman" panose="02020603050405020304" pitchFamily="18" charset="0"/>
                      </a:rPr>
                      <m:t>|</m:t>
                    </m:r>
                    <m:d>
                      <m:dPr>
                        <m:begChr m:val="|"/>
                        <m:ctrlPr>
                          <a:rPr lang="en-US" altLang="zh-CN" sz="1900" i="1">
                            <a:latin typeface="Cambria Math" panose="02040503050406030204" pitchFamily="18" charset="0"/>
                            <a:cs typeface="Times New Roman" panose="02020603050405020304" pitchFamily="18" charset="0"/>
                          </a:rPr>
                        </m:ctrlPr>
                      </m:d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2</m:t>
                            </m:r>
                          </m:sub>
                        </m:sSub>
                      </m:e>
                    </m:d>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。但这种可能性可忽略；满足绑定性。</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96555" y="4128309"/>
                <a:ext cx="8319743" cy="2400785"/>
              </a:xfrm>
              <a:prstGeom prst="rect">
                <a:avLst/>
              </a:prstGeom>
              <a:blipFill rotWithShape="1">
                <a:blip r:embed="rId5"/>
                <a:stretch>
                  <a:fillRect l="-4" t="-7" r="3" b="-10341"/>
                </a:stretch>
              </a:blipFill>
            </p:spPr>
            <p:txBody>
              <a:bodyPr/>
              <a:lstStyle/>
              <a:p>
                <a:r>
                  <a:rPr lang="zh-CN" altLang="en-US">
                    <a:noFill/>
                  </a:rPr>
                  <a:t> </a:t>
                </a:r>
              </a:p>
            </p:txBody>
          </p:sp>
        </mc:Fallback>
      </mc:AlternateContent>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承诺协议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23</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5.4 </a:t>
            </a:r>
            <a:r>
              <a:rPr lang="zh-CN" altLang="en-US" sz="2400" b="1" dirty="0">
                <a:solidFill>
                  <a:srgbClr val="FF0000"/>
                </a:solidFill>
                <a:latin typeface="+mn-ea"/>
              </a:rPr>
              <a:t>基于二次剩余的承诺协议</a:t>
            </a:r>
          </a:p>
        </p:txBody>
      </p:sp>
      <mc:AlternateContent xmlns:mc="http://schemas.openxmlformats.org/markup-compatibility/2006" xmlns:a14="http://schemas.microsoft.com/office/drawing/2010/main">
        <mc:Choice Requires="a14">
          <p:sp>
            <p:nvSpPr>
              <p:cNvPr id="7" name="文本框 6"/>
              <p:cNvSpPr txBox="1"/>
              <p:nvPr/>
            </p:nvSpPr>
            <p:spPr>
              <a:xfrm>
                <a:off x="312517" y="1652141"/>
                <a:ext cx="8479945" cy="4750659"/>
              </a:xfrm>
              <a:prstGeom prst="rect">
                <a:avLst/>
              </a:prstGeom>
              <a:noFill/>
            </p:spPr>
            <p:txBody>
              <a:bodyPr wrap="square" rtlCol="0">
                <a:spAutoFit/>
              </a:bodyPr>
              <a:lstStyle/>
              <a:p>
                <a:pPr marL="0" lvl="1" algn="just">
                  <a:lnSpc>
                    <a:spcPct val="120000"/>
                  </a:lnSpc>
                  <a:spcAft>
                    <a:spcPts val="1200"/>
                  </a:spcAft>
                </a:pPr>
                <a:r>
                  <a:rPr lang="zh-CN" altLang="en-US" sz="2000" dirty="0">
                    <a:latin typeface="Times New Roman" panose="02020603050405020304" pitchFamily="18" charset="0"/>
                    <a:cs typeface="Times New Roman" panose="02020603050405020304" pitchFamily="18" charset="0"/>
                  </a:rPr>
                  <a:t>公开参数：选择两个</a:t>
                </a:r>
                <a14:m>
                  <m:oMath xmlns:m="http://schemas.openxmlformats.org/officeDocument/2006/math">
                    <m:r>
                      <a:rPr lang="zh-CN" altLang="en-US" sz="2000" i="1" dirty="0">
                        <a:latin typeface="Cambria Math" panose="02040503050406030204" pitchFamily="18" charset="0"/>
                        <a:cs typeface="Times New Roman" panose="02020603050405020304" pitchFamily="18" charset="0"/>
                      </a:rPr>
                      <m:t>大素数</m:t>
                    </m:r>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𝑝</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𝑞</m:t>
                    </m:r>
                  </m:oMath>
                </a14:m>
                <a:r>
                  <a:rPr lang="zh-CN" altLang="en-US" sz="2000" dirty="0">
                    <a:latin typeface="Cambria Math" panose="02040503050406030204" pitchFamily="18" charset="0"/>
                    <a:cs typeface="Times New Roman" panose="02020603050405020304" pitchFamily="18" charset="0"/>
                  </a:rPr>
                  <a:t>，计算</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𝑝𝑞</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m:t>
                    </m:r>
                  </m:oMath>
                </a14:m>
                <a:r>
                  <a:rPr lang="zh-CN" altLang="en-US" sz="2000" dirty="0">
                    <a:latin typeface="Cambria Math" panose="02040503050406030204" pitchFamily="18" charset="0"/>
                    <a:cs typeface="Times New Roman" panose="02020603050405020304" pitchFamily="18" charset="0"/>
                  </a:rPr>
                  <a:t>再选取</a:t>
                </a:r>
                <a:r>
                  <a:rPr lang="zh-CN" altLang="en-US" sz="2000" dirty="0">
                    <a:latin typeface="Times New Roman" panose="02020603050405020304" pitchFamily="18" charset="0"/>
                    <a:cs typeface="Times New Roman" panose="02020603050405020304" pitchFamily="18" charset="0"/>
                  </a:rPr>
                  <a:t>整数</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ℤ</m:t>
                        </m:r>
                      </m:e>
                      <m:sub>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𝑛</m:t>
                        </m:r>
                      </m:sub>
                      <m:sup>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m:t>
                        </m:r>
                      </m:sup>
                    </m:sSubSup>
                  </m:oMath>
                </a14:m>
                <a:r>
                  <a:rPr lang="zh-CN" altLang="en-US" sz="2000" dirty="0">
                    <a:latin typeface="Times New Roman" panose="02020603050405020304" pitchFamily="18" charset="0"/>
                    <a:cs typeface="Times New Roman" panose="02020603050405020304" pitchFamily="18" charset="0"/>
                  </a:rPr>
                  <a:t>，使得</a:t>
                </a:r>
                <a:r>
                  <a:rPr lang="en-US" altLang="zh-CN" sz="2000" dirty="0">
                    <a:latin typeface="Times New Roman" panose="02020603050405020304" pitchFamily="18" charset="0"/>
                    <a:cs typeface="Times New Roman" panose="02020603050405020304" pitchFamily="18" charset="0"/>
                  </a:rPr>
                  <a:t>Jacobi </a:t>
                </a:r>
                <a:r>
                  <a:rPr lang="zh-CN" altLang="en-US" sz="2000" dirty="0">
                    <a:latin typeface="Times New Roman" panose="02020603050405020304" pitchFamily="18" charset="0"/>
                    <a:cs typeface="Times New Roman" panose="02020603050405020304" pitchFamily="18" charset="0"/>
                  </a:rPr>
                  <a:t>符号 </a:t>
                </a:r>
                <a14:m>
                  <m:oMath xmlns:m="http://schemas.openxmlformats.org/officeDocument/2006/math">
                    <m:d>
                      <m:dPr>
                        <m:begChr m:val="（"/>
                        <m:endChr m:val="）"/>
                        <m:ctrlPr>
                          <a:rPr lang="zh-CN" altLang="en-US" sz="2000" i="1" dirty="0">
                            <a:latin typeface="Cambria Math" panose="02040503050406030204" pitchFamily="18" charset="0"/>
                            <a:cs typeface="Times New Roman" panose="02020603050405020304" pitchFamily="18" charset="0"/>
                          </a:rPr>
                        </m:ctrlPr>
                      </m:dPr>
                      <m:e>
                        <m:f>
                          <m:fPr>
                            <m:ctrlPr>
                              <a:rPr lang="en-US" altLang="zh-CN" sz="2000" i="1">
                                <a:latin typeface="Cambria Math" panose="02040503050406030204" pitchFamily="18" charset="0"/>
                                <a:cs typeface="Times New Roman" panose="02020603050405020304" pitchFamily="18" charset="0"/>
                              </a:rPr>
                            </m:ctrlPr>
                          </m:fPr>
                          <m:num>
                            <m:r>
                              <a:rPr lang="en-US" altLang="zh-CN" sz="2000" b="0" i="1" smtClean="0">
                                <a:latin typeface="Cambria Math" panose="02040503050406030204" pitchFamily="18" charset="0"/>
                                <a:cs typeface="Times New Roman" panose="02020603050405020304" pitchFamily="18" charset="0"/>
                              </a:rPr>
                              <m:t>𝑥</m:t>
                            </m:r>
                          </m:num>
                          <m:den>
                            <m:r>
                              <a:rPr lang="en-US" altLang="zh-CN" sz="2000" i="1">
                                <a:latin typeface="Cambria Math" panose="02040503050406030204" pitchFamily="18" charset="0"/>
                                <a:cs typeface="Times New Roman" panose="02020603050405020304" pitchFamily="18" charset="0"/>
                              </a:rPr>
                              <m:t>𝑛</m:t>
                            </m:r>
                          </m:den>
                        </m:f>
                      </m:e>
                    </m:d>
                    <m:r>
                      <a:rPr lang="en-US" altLang="zh-CN" sz="2000" i="1">
                        <a:latin typeface="Cambria Math" panose="02040503050406030204" pitchFamily="18" charset="0"/>
                        <a:cs typeface="Times New Roman" panose="02020603050405020304" pitchFamily="18" charset="0"/>
                      </a:rPr>
                      <m:t>=1</m:t>
                    </m:r>
                    <m:r>
                      <a:rPr lang="zh-CN" altLang="en-US" sz="2000" i="1">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且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𝑥</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是模</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的二次非剩余；</a:t>
                </a:r>
                <a:endParaRPr lang="en-US" altLang="zh-CN" sz="2000" dirty="0">
                  <a:latin typeface="Times New Roman" panose="02020603050405020304" pitchFamily="18" charset="0"/>
                  <a:cs typeface="Times New Roman" panose="02020603050405020304" pitchFamily="18" charset="0"/>
                </a:endParaRPr>
              </a:p>
              <a:p>
                <a:pPr marL="0" lvl="1" indent="-342900" algn="just">
                  <a:lnSpc>
                    <a:spcPct val="120000"/>
                  </a:lnSpc>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承诺阶段：承诺者在 </a:t>
                </a:r>
                <a14:m>
                  <m:oMath xmlns:m="http://schemas.openxmlformats.org/officeDocument/2006/math">
                    <m:sSubSup>
                      <m:sSubSupPr>
                        <m:ctrlPr>
                          <a:rPr lang="en-US" altLang="zh-CN" sz="19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900" i="1">
                            <a:latin typeface="Cambria Math" panose="02040503050406030204" pitchFamily="18" charset="0"/>
                            <a:ea typeface="Cambria Math" panose="02040503050406030204" pitchFamily="18" charset="0"/>
                            <a:cs typeface="Times New Roman" panose="02020603050405020304" pitchFamily="18" charset="0"/>
                          </a:rPr>
                          <m:t>ℤ</m:t>
                        </m:r>
                      </m:e>
                      <m:sub>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𝑛</m:t>
                        </m:r>
                      </m:sub>
                      <m:sup>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sup>
                    </m:sSubSup>
                  </m:oMath>
                </a14:m>
                <a:r>
                  <a:rPr lang="zh-CN" altLang="en-US" sz="1900" dirty="0">
                    <a:latin typeface="Times New Roman" panose="02020603050405020304" pitchFamily="18" charset="0"/>
                    <a:cs typeface="Times New Roman" panose="02020603050405020304" pitchFamily="18" charset="0"/>
                  </a:rPr>
                  <a:t> 中随机选取</a:t>
                </a:r>
                <a:r>
                  <a:rPr lang="en-US" altLang="zh-CN" sz="19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900" b="0" i="1" smtClean="0">
                        <a:latin typeface="Cambria Math" panose="02040503050406030204" pitchFamily="18" charset="0"/>
                        <a:cs typeface="Times New Roman" panose="02020603050405020304" pitchFamily="18" charset="0"/>
                      </a:rPr>
                      <m:t>𝑟</m:t>
                    </m:r>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计算</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𝑏</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19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ea typeface="Cambria Math" panose="02040503050406030204" pitchFamily="18" charset="0"/>
                            <a:cs typeface="Times New Roman" panose="02020603050405020304" pitchFamily="18" charset="0"/>
                          </a:rPr>
                          <m:t>0,1</m:t>
                        </m:r>
                      </m:e>
                    </m:d>
                    <m:r>
                      <a:rPr lang="en-US" altLang="zh-CN" sz="1900" b="0" i="1"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sz="1900" i="1">
                        <a:latin typeface="Cambria Math" panose="02040503050406030204" pitchFamily="18" charset="0"/>
                        <a:cs typeface="Times New Roman" panose="02020603050405020304" pitchFamily="18" charset="0"/>
                      </a:rPr>
                      <m:t>的</m:t>
                    </m:r>
                    <m:r>
                      <m:rPr>
                        <m:nor/>
                      </m:rPr>
                      <a:rPr lang="zh-CN" altLang="en-US" sz="1900" dirty="0">
                        <a:latin typeface="Times New Roman" panose="02020603050405020304" pitchFamily="18" charset="0"/>
                        <a:cs typeface="Times New Roman" panose="02020603050405020304" pitchFamily="18" charset="0"/>
                      </a:rPr>
                      <m:t>承诺</m:t>
                    </m:r>
                    <m:r>
                      <a:rPr lang="zh-CN" altLang="en-US" sz="1900" i="1" dirty="0">
                        <a:latin typeface="Cambria Math" panose="02040503050406030204" pitchFamily="18" charset="0"/>
                        <a:cs typeface="Times New Roman" panose="02020603050405020304" pitchFamily="18" charset="0"/>
                      </a:rPr>
                      <m:t>值</m:t>
                    </m:r>
                    <m:r>
                      <a:rPr lang="en-US" altLang="zh-CN" sz="1900" b="0" i="1" dirty="0" smtClean="0">
                        <a:latin typeface="Cambria Math" panose="02040503050406030204" pitchFamily="18" charset="0"/>
                        <a:cs typeface="Times New Roman" panose="02020603050405020304" pitchFamily="18" charset="0"/>
                      </a:rPr>
                      <m:t> </m:t>
                    </m:r>
                  </m:oMath>
                </a14:m>
                <a:endParaRPr lang="en-US" altLang="zh-CN" sz="1900" b="0" i="1" dirty="0">
                  <a:latin typeface="Cambria Math" panose="02040503050406030204" pitchFamily="18" charset="0"/>
                  <a:cs typeface="Times New Roman" panose="02020603050405020304" pitchFamily="18" charset="0"/>
                </a:endParaRPr>
              </a:p>
              <a:p>
                <a:pPr marL="0" lvl="1" algn="ctr">
                  <a:lnSpc>
                    <a:spcPct val="120000"/>
                  </a:lnSpc>
                </a:pPr>
                <a:r>
                  <a:rPr lang="en-US" altLang="zh-CN" sz="1900" dirty="0">
                    <a:cs typeface="Times New Roman" panose="02020603050405020304" pitchFamily="18" charset="0"/>
                  </a:rPr>
                  <a:t>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r>
                      <a:rPr lang="en-US" altLang="zh-CN" sz="1900" b="0" i="1" smtClean="0">
                        <a:latin typeface="Cambria Math" panose="02040503050406030204" pitchFamily="18" charset="0"/>
                        <a:cs typeface="Times New Roman" panose="02020603050405020304" pitchFamily="18" charset="0"/>
                      </a:rPr>
                      <m:t>=</m:t>
                    </m:r>
                    <m:sSup>
                      <m:sSupPr>
                        <m:ctrlPr>
                          <a:rPr lang="en-US" altLang="zh-CN" sz="1900" b="0" i="1" smtClean="0">
                            <a:latin typeface="Cambria Math" panose="02040503050406030204" pitchFamily="18" charset="0"/>
                            <a:cs typeface="Times New Roman" panose="02020603050405020304" pitchFamily="18" charset="0"/>
                          </a:rPr>
                        </m:ctrlPr>
                      </m:sSupPr>
                      <m:e>
                        <m:r>
                          <a:rPr lang="en-US" altLang="zh-CN" sz="1900" b="0" i="1"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𝑟</m:t>
                        </m:r>
                      </m:e>
                      <m:sup>
                        <m:r>
                          <a:rPr lang="en-US" altLang="zh-CN" sz="1900" b="0" i="1" smtClean="0">
                            <a:latin typeface="Cambria Math" panose="02040503050406030204" pitchFamily="18" charset="0"/>
                            <a:cs typeface="Times New Roman" panose="02020603050405020304" pitchFamily="18" charset="0"/>
                          </a:rPr>
                          <m:t>2</m:t>
                        </m:r>
                      </m:sup>
                    </m:sSup>
                    <m:sSup>
                      <m:sSupPr>
                        <m:ctrlPr>
                          <a:rPr lang="en-US" altLang="zh-CN" sz="1900" b="0" i="1" smtClean="0">
                            <a:latin typeface="Cambria Math" panose="02040503050406030204" pitchFamily="18" charset="0"/>
                            <a:cs typeface="Times New Roman" panose="02020603050405020304" pitchFamily="18" charset="0"/>
                          </a:rPr>
                        </m:ctrlPr>
                      </m:sSupPr>
                      <m:e>
                        <m:r>
                          <a:rPr lang="en-US" altLang="zh-CN" sz="1900" b="0" i="1" smtClean="0">
                            <a:latin typeface="Cambria Math" panose="02040503050406030204" pitchFamily="18" charset="0"/>
                            <a:cs typeface="Times New Roman" panose="02020603050405020304" pitchFamily="18" charset="0"/>
                          </a:rPr>
                          <m:t>𝑥</m:t>
                        </m:r>
                      </m:e>
                      <m:sup>
                        <m:r>
                          <a:rPr lang="en-US" altLang="zh-CN" sz="1900" b="0" i="1" smtClean="0">
                            <a:latin typeface="Cambria Math" panose="02040503050406030204" pitchFamily="18" charset="0"/>
                            <a:cs typeface="Times New Roman" panose="02020603050405020304" pitchFamily="18" charset="0"/>
                          </a:rPr>
                          <m:t>𝑏</m:t>
                        </m:r>
                      </m:sup>
                    </m:sSup>
                    <m:r>
                      <a:rPr lang="en-US" altLang="zh-CN" sz="1900" b="0" i="1" smtClean="0">
                        <a:latin typeface="Cambria Math" panose="02040503050406030204" pitchFamily="18" charset="0"/>
                        <a:cs typeface="Times New Roman" panose="02020603050405020304" pitchFamily="18" charset="0"/>
                      </a:rPr>
                      <m:t> </m:t>
                    </m:r>
                    <m:r>
                      <m:rPr>
                        <m:sty m:val="p"/>
                      </m:rPr>
                      <a:rPr lang="en-US" altLang="zh-CN" sz="1900" b="0" i="0" smtClean="0">
                        <a:latin typeface="Cambria Math" panose="02040503050406030204" pitchFamily="18" charset="0"/>
                        <a:cs typeface="Times New Roman" panose="02020603050405020304" pitchFamily="18" charset="0"/>
                      </a:rPr>
                      <m:t>mod</m:t>
                    </m:r>
                    <m:r>
                      <a:rPr lang="en-US" altLang="zh-CN" sz="1900" b="0" i="1"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𝑛</m:t>
                    </m:r>
                  </m:oMath>
                </a14:m>
                <a:r>
                  <a:rPr lang="zh-CN" altLang="en-US" sz="1900" dirty="0">
                    <a:latin typeface="Times New Roman" panose="02020603050405020304" pitchFamily="18" charset="0"/>
                    <a:cs typeface="Times New Roman" panose="02020603050405020304" pitchFamily="18" charset="0"/>
                  </a:rPr>
                  <a:t> ；</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spcAft>
                    <a:spcPts val="600"/>
                  </a:spcAft>
                  <a:buFont typeface="Wingdings" panose="05000000000000000000" pitchFamily="2" charset="2"/>
                  <a:buChar char="l"/>
                </a:pPr>
                <a:r>
                  <a:rPr lang="zh-CN" altLang="en-US" sz="1900" dirty="0">
                    <a:latin typeface="Times New Roman" panose="02020603050405020304" pitchFamily="18" charset="0"/>
                    <a:cs typeface="Times New Roman" panose="02020603050405020304" pitchFamily="18" charset="0"/>
                  </a:rPr>
                  <a:t>打开阶段：承诺者公开比特消息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𝑏</m:t>
                    </m:r>
                  </m:oMath>
                </a14:m>
                <a:r>
                  <a:rPr lang="zh-CN" altLang="en-US" sz="1900" dirty="0">
                    <a:latin typeface="Times New Roman" panose="02020603050405020304" pitchFamily="18" charset="0"/>
                    <a:cs typeface="Times New Roman" panose="02020603050405020304" pitchFamily="18" charset="0"/>
                  </a:rPr>
                  <a:t> 和随机数</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𝑟</m:t>
                    </m:r>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，接收者验证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r>
                      <a:rPr lang="en-US" altLang="zh-CN" sz="1900" i="1">
                        <a:latin typeface="Cambria Math" panose="02040503050406030204" pitchFamily="18" charset="0"/>
                        <a:cs typeface="Times New Roman" panose="02020603050405020304" pitchFamily="18" charset="0"/>
                      </a:rPr>
                      <m:t>=</m:t>
                    </m:r>
                    <m:sSup>
                      <m:sSupPr>
                        <m:ctrlPr>
                          <a:rPr lang="en-US" altLang="zh-CN" sz="1900" i="1">
                            <a:latin typeface="Cambria Math" panose="02040503050406030204" pitchFamily="18" charset="0"/>
                            <a:cs typeface="Times New Roman" panose="02020603050405020304" pitchFamily="18" charset="0"/>
                          </a:rPr>
                        </m:ctrlPr>
                      </m:sSupPr>
                      <m:e>
                        <m:r>
                          <a:rPr lang="en-US" altLang="zh-CN" sz="1900" i="1">
                            <a:latin typeface="Cambria Math" panose="02040503050406030204" pitchFamily="18" charset="0"/>
                            <a:cs typeface="Times New Roman" panose="02020603050405020304" pitchFamily="18" charset="0"/>
                          </a:rPr>
                          <m:t>𝑟</m:t>
                        </m:r>
                      </m:e>
                      <m:sup>
                        <m:r>
                          <a:rPr lang="en-US" altLang="zh-CN" sz="1900" i="1">
                            <a:latin typeface="Cambria Math" panose="02040503050406030204" pitchFamily="18" charset="0"/>
                            <a:cs typeface="Times New Roman" panose="02020603050405020304" pitchFamily="18" charset="0"/>
                          </a:rPr>
                          <m:t>2</m:t>
                        </m:r>
                      </m:sup>
                    </m:sSup>
                    <m:sSup>
                      <m:sSupPr>
                        <m:ctrlPr>
                          <a:rPr lang="en-US" altLang="zh-CN" sz="1900" i="1">
                            <a:latin typeface="Cambria Math" panose="02040503050406030204" pitchFamily="18" charset="0"/>
                            <a:cs typeface="Times New Roman" panose="02020603050405020304" pitchFamily="18" charset="0"/>
                          </a:rPr>
                        </m:ctrlPr>
                      </m:sSupPr>
                      <m:e>
                        <m:r>
                          <a:rPr lang="en-US" altLang="zh-CN" sz="1900" i="1">
                            <a:latin typeface="Cambria Math" panose="02040503050406030204" pitchFamily="18" charset="0"/>
                            <a:cs typeface="Times New Roman" panose="02020603050405020304" pitchFamily="18" charset="0"/>
                          </a:rPr>
                          <m:t>𝑥</m:t>
                        </m:r>
                      </m:e>
                      <m:sup>
                        <m:r>
                          <a:rPr lang="en-US" altLang="zh-CN" sz="1900" i="1">
                            <a:latin typeface="Cambria Math" panose="02040503050406030204" pitchFamily="18" charset="0"/>
                            <a:cs typeface="Times New Roman" panose="02020603050405020304" pitchFamily="18" charset="0"/>
                          </a:rPr>
                          <m:t>𝑏</m:t>
                        </m:r>
                      </m:sup>
                    </m:sSup>
                  </m:oMath>
                </a14:m>
                <a:r>
                  <a:rPr lang="en-US" altLang="zh-CN" sz="1900" dirty="0">
                    <a:cs typeface="Times New Roman" panose="02020603050405020304" pitchFamily="18" charset="0"/>
                  </a:rPr>
                  <a:t> </a:t>
                </a:r>
                <a14:m>
                  <m:oMath xmlns:m="http://schemas.openxmlformats.org/officeDocument/2006/math">
                    <m:r>
                      <m:rPr>
                        <m:sty m:val="p"/>
                      </m:rPr>
                      <a:rPr lang="en-US" altLang="zh-CN" sz="1900">
                        <a:latin typeface="Cambria Math" panose="02040503050406030204" pitchFamily="18" charset="0"/>
                        <a:cs typeface="Times New Roman" panose="02020603050405020304" pitchFamily="18" charset="0"/>
                      </a:rPr>
                      <m:t>mod</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oMath>
                </a14:m>
                <a:r>
                  <a:rPr lang="zh-CN" altLang="en-US" sz="1900" dirty="0">
                    <a:latin typeface="Times New Roman" panose="02020603050405020304" pitchFamily="18" charset="0"/>
                    <a:cs typeface="Times New Roman" panose="02020603050405020304" pitchFamily="18" charset="0"/>
                  </a:rPr>
                  <a:t> 是否满足，如果成立，则接受消息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𝑏</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lgn="just">
                  <a:lnSpc>
                    <a:spcPct val="120000"/>
                  </a:lnSpc>
                  <a:spcBef>
                    <a:spcPts val="600"/>
                  </a:spcBef>
                </a:pPr>
                <a:r>
                  <a:rPr lang="zh-CN" altLang="en-US" sz="2000" dirty="0">
                    <a:latin typeface="Times New Roman" panose="02020603050405020304" pitchFamily="18" charset="0"/>
                    <a:cs typeface="Times New Roman" panose="02020603050405020304" pitchFamily="18" charset="0"/>
                  </a:rPr>
                  <a:t>分析：</a:t>
                </a:r>
                <a:endParaRPr lang="en-US" altLang="zh-CN" sz="2000" dirty="0">
                  <a:latin typeface="Times New Roman" panose="02020603050405020304" pitchFamily="18" charset="0"/>
                  <a:cs typeface="Times New Roman" panose="02020603050405020304" pitchFamily="18" charset="0"/>
                </a:endParaRPr>
              </a:p>
              <a:p>
                <a:pPr algn="just">
                  <a:lnSpc>
                    <a:spcPct val="130000"/>
                  </a:lnSpc>
                  <a:spcBef>
                    <a:spcPts val="600"/>
                  </a:spcBef>
                </a:pPr>
                <a:r>
                  <a:rPr lang="zh-CN" altLang="en-US" sz="1900" dirty="0">
                    <a:latin typeface="Times New Roman" panose="02020603050405020304" pitchFamily="18" charset="0"/>
                    <a:cs typeface="Times New Roman" panose="02020603050405020304" pitchFamily="18" charset="0"/>
                  </a:rPr>
                  <a:t>如果可以从</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𝐶𝑜𝑚</m:t>
                    </m:r>
                  </m:oMath>
                </a14:m>
                <a:r>
                  <a:rPr lang="zh-CN" altLang="en-US" sz="1900" dirty="0">
                    <a:latin typeface="Times New Roman" panose="02020603050405020304" pitchFamily="18" charset="0"/>
                    <a:cs typeface="Times New Roman" panose="02020603050405020304" pitchFamily="18" charset="0"/>
                  </a:rPr>
                  <a:t> 中得出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𝑏</m:t>
                    </m:r>
                    <m:r>
                      <a:rPr lang="en-US" altLang="zh-CN" sz="1900" b="0" i="1" smtClean="0">
                        <a:latin typeface="Cambria Math" panose="02040503050406030204" pitchFamily="18" charset="0"/>
                        <a:cs typeface="Times New Roman" panose="02020603050405020304" pitchFamily="18" charset="0"/>
                      </a:rPr>
                      <m:t>=0</m:t>
                    </m:r>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则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是二次剩余；否则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oMath>
                </a14:m>
                <a:r>
                  <a:rPr lang="zh-CN" altLang="en-US" sz="1900" dirty="0">
                    <a:latin typeface="Times New Roman" panose="02020603050405020304" pitchFamily="18" charset="0"/>
                    <a:cs typeface="Times New Roman" panose="02020603050405020304" pitchFamily="18" charset="0"/>
                  </a:rPr>
                  <a:t> 是二次非剩余。这与判断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oMath>
                </a14:m>
                <a:r>
                  <a:rPr lang="zh-CN" altLang="en-US" sz="1900" dirty="0">
                    <a:latin typeface="Times New Roman" panose="02020603050405020304" pitchFamily="18" charset="0"/>
                    <a:cs typeface="Times New Roman" panose="02020603050405020304" pitchFamily="18" charset="0"/>
                  </a:rPr>
                  <a:t> 是否是二次剩余的困难性相矛盾，因此不能从承诺值得到</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𝑏</m:t>
                    </m:r>
                  </m:oMath>
                </a14:m>
                <a:r>
                  <a:rPr lang="zh-CN" altLang="en-US" sz="1900" dirty="0">
                    <a:latin typeface="Times New Roman" panose="02020603050405020304" pitchFamily="18" charset="0"/>
                    <a:cs typeface="Times New Roman" panose="02020603050405020304" pitchFamily="18" charset="0"/>
                  </a:rPr>
                  <a:t>（隐藏性）；如果某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𝐶𝑜𝑚</m:t>
                    </m:r>
                  </m:oMath>
                </a14:m>
                <a:r>
                  <a:rPr lang="zh-CN" altLang="en-US" sz="1900" dirty="0">
                    <a:latin typeface="Times New Roman" panose="02020603050405020304" pitchFamily="18" charset="0"/>
                    <a:cs typeface="Times New Roman" panose="02020603050405020304" pitchFamily="18" charset="0"/>
                  </a:rPr>
                  <a:t> 可以打开为两组不同值 </a:t>
                </a:r>
                <a14:m>
                  <m:oMath xmlns:m="http://schemas.openxmlformats.org/officeDocument/2006/math">
                    <m:r>
                      <a:rPr lang="en-US" altLang="zh-CN" sz="190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𝑏</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900" dirty="0">
                    <a:cs typeface="Times New Roman" panose="02020603050405020304" pitchFamily="18" charset="0"/>
                  </a:rPr>
                  <a:t> </a:t>
                </a:r>
                <a14:m>
                  <m:oMath xmlns:m="http://schemas.openxmlformats.org/officeDocument/2006/math">
                    <m:r>
                      <a:rPr lang="en-US" altLang="zh-CN" sz="190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𝑏</m:t>
                        </m:r>
                      </m:e>
                      <m:sub>
                        <m:r>
                          <a:rPr lang="en-US" altLang="zh-CN" sz="1900" i="1">
                            <a:latin typeface="Cambria Math" panose="02040503050406030204" pitchFamily="18" charset="0"/>
                            <a:cs typeface="Times New Roman" panose="02020603050405020304" pitchFamily="18" charset="0"/>
                          </a:rPr>
                          <m:t>2</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2</m:t>
                        </m:r>
                      </m:sub>
                    </m:sSub>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，则有</a:t>
                </a:r>
                <a14:m>
                  <m:oMath xmlns:m="http://schemas.openxmlformats.org/officeDocument/2006/math">
                    <m:sSup>
                      <m:sSupPr>
                        <m:ctrlPr>
                          <a:rPr lang="en-US" altLang="zh-CN" sz="1900" i="1" smtClean="0">
                            <a:latin typeface="Cambria Math" panose="02040503050406030204" pitchFamily="18" charset="0"/>
                            <a:cs typeface="Times New Roman" panose="02020603050405020304" pitchFamily="18" charset="0"/>
                          </a:rPr>
                        </m:ctrlPr>
                      </m:sSupPr>
                      <m:e>
                        <m:d>
                          <m:dPr>
                            <m:begChr m:val="（"/>
                            <m:endChr m:val="）"/>
                            <m:ctrlPr>
                              <a:rPr lang="zh-CN" altLang="en-US" sz="1900" i="1" dirty="0">
                                <a:latin typeface="Cambria Math" panose="02040503050406030204" pitchFamily="18" charset="0"/>
                                <a:cs typeface="Times New Roman" panose="02020603050405020304" pitchFamily="18" charset="0"/>
                              </a:rPr>
                            </m:ctrlPr>
                          </m:d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1</m:t>
                                </m:r>
                              </m:sub>
                            </m:sSub>
                            <m:r>
                              <a:rPr lang="en-US" altLang="zh-CN" sz="1900" b="0" i="1" smtClean="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𝑟</m:t>
                                </m:r>
                              </m:e>
                              <m:sub>
                                <m:r>
                                  <a:rPr lang="en-US" altLang="zh-CN" sz="1900" i="1">
                                    <a:latin typeface="Cambria Math" panose="02040503050406030204" pitchFamily="18" charset="0"/>
                                    <a:cs typeface="Times New Roman" panose="02020603050405020304" pitchFamily="18" charset="0"/>
                                  </a:rPr>
                                  <m:t>2</m:t>
                                </m:r>
                              </m:sub>
                            </m:sSub>
                          </m:e>
                        </m:d>
                      </m:e>
                      <m:sup>
                        <m:r>
                          <a:rPr lang="en-US" altLang="zh-CN" sz="1900" b="0" i="1" smtClean="0">
                            <a:latin typeface="Cambria Math" panose="02040503050406030204" pitchFamily="18" charset="0"/>
                            <a:cs typeface="Times New Roman" panose="02020603050405020304" pitchFamily="18" charset="0"/>
                          </a:rPr>
                          <m:t>2</m:t>
                        </m:r>
                      </m:sup>
                    </m:sSup>
                    <m:r>
                      <a:rPr lang="en-US" altLang="zh-CN" sz="1900" b="0" i="1" smtClean="0">
                        <a:latin typeface="Cambria Math" panose="02040503050406030204" pitchFamily="18" charset="0"/>
                        <a:cs typeface="Times New Roman" panose="02020603050405020304" pitchFamily="18" charset="0"/>
                      </a:rPr>
                      <m:t>=</m:t>
                    </m:r>
                    <m:sSup>
                      <m:sSupPr>
                        <m:ctrlPr>
                          <a:rPr lang="en-US" altLang="zh-CN" sz="1900" b="0" i="1" smtClean="0">
                            <a:latin typeface="Cambria Math" panose="02040503050406030204" pitchFamily="18" charset="0"/>
                            <a:cs typeface="Times New Roman" panose="02020603050405020304" pitchFamily="18" charset="0"/>
                          </a:rPr>
                        </m:ctrlPr>
                      </m:sSupPr>
                      <m:e>
                        <m:r>
                          <a:rPr lang="en-US" altLang="zh-CN" sz="1900" b="0" i="1" smtClean="0">
                            <a:latin typeface="Cambria Math" panose="02040503050406030204" pitchFamily="18" charset="0"/>
                            <a:cs typeface="Times New Roman" panose="02020603050405020304" pitchFamily="18" charset="0"/>
                          </a:rPr>
                          <m:t>𝑥</m:t>
                        </m:r>
                      </m:e>
                      <m:sup>
                        <m:sSub>
                          <m:sSubPr>
                            <m:ctrlPr>
                              <a:rPr lang="en-US" altLang="zh-CN" sz="1900" b="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𝑏</m:t>
                            </m:r>
                          </m:e>
                          <m:sub>
                            <m:r>
                              <a:rPr lang="en-US" altLang="zh-CN" sz="1900" b="0" i="1" smtClean="0">
                                <a:latin typeface="Cambria Math" panose="02040503050406030204" pitchFamily="18" charset="0"/>
                                <a:cs typeface="Times New Roman" panose="02020603050405020304" pitchFamily="18" charset="0"/>
                              </a:rPr>
                              <m:t>2</m:t>
                            </m:r>
                          </m:sub>
                        </m:sSub>
                        <m:r>
                          <a:rPr lang="en-US" altLang="zh-CN" sz="1900" b="0" i="1" smtClean="0">
                            <a:latin typeface="Cambria Math" panose="02040503050406030204" pitchFamily="18" charset="0"/>
                            <a:cs typeface="Times New Roman" panose="02020603050405020304" pitchFamily="18" charset="0"/>
                          </a:rPr>
                          <m:t>−</m:t>
                        </m:r>
                        <m:sSub>
                          <m:sSubPr>
                            <m:ctrlPr>
                              <a:rPr lang="en-US" altLang="zh-CN" sz="1900" b="0" i="1" smtClean="0">
                                <a:latin typeface="Cambria Math" panose="02040503050406030204" pitchFamily="18" charset="0"/>
                                <a:cs typeface="Times New Roman" panose="02020603050405020304" pitchFamily="18" charset="0"/>
                              </a:rPr>
                            </m:ctrlPr>
                          </m:sSubPr>
                          <m:e>
                            <m:r>
                              <a:rPr lang="en-US" altLang="zh-CN" sz="1900" b="0" i="1" smtClean="0">
                                <a:latin typeface="Cambria Math" panose="02040503050406030204" pitchFamily="18" charset="0"/>
                                <a:cs typeface="Times New Roman" panose="02020603050405020304" pitchFamily="18" charset="0"/>
                              </a:rPr>
                              <m:t>𝑏</m:t>
                            </m:r>
                          </m:e>
                          <m:sub>
                            <m:r>
                              <a:rPr lang="en-US" altLang="zh-CN" sz="1900" b="0" i="1" smtClean="0">
                                <a:latin typeface="Cambria Math" panose="02040503050406030204" pitchFamily="18" charset="0"/>
                                <a:cs typeface="Times New Roman" panose="02020603050405020304" pitchFamily="18" charset="0"/>
                              </a:rPr>
                              <m:t>1</m:t>
                            </m:r>
                          </m:sub>
                        </m:sSub>
                      </m:sup>
                    </m:sSup>
                    <m:r>
                      <a:rPr lang="en-US" altLang="zh-CN" sz="1900" b="0" i="1" smtClean="0">
                        <a:latin typeface="Cambria Math" panose="02040503050406030204" pitchFamily="18" charset="0"/>
                        <a:cs typeface="Times New Roman" panose="02020603050405020304" pitchFamily="18" charset="0"/>
                      </a:rPr>
                      <m:t>=</m:t>
                    </m:r>
                    <m:r>
                      <a:rPr lang="en-US" altLang="zh-CN" sz="1900" b="0" i="1" smtClean="0">
                        <a:latin typeface="Cambria Math" panose="02040503050406030204" pitchFamily="18" charset="0"/>
                        <a:cs typeface="Times New Roman" panose="02020603050405020304" pitchFamily="18" charset="0"/>
                      </a:rPr>
                      <m:t>𝑥</m:t>
                    </m:r>
                    <m:r>
                      <a:rPr lang="en-US" altLang="zh-CN" sz="1900" b="0" i="1" smtClean="0">
                        <a:latin typeface="Cambria Math" panose="02040503050406030204" pitchFamily="18" charset="0"/>
                        <a:cs typeface="Times New Roman" panose="02020603050405020304" pitchFamily="18" charset="0"/>
                      </a:rPr>
                      <m:t> </m:t>
                    </m:r>
                    <m:r>
                      <m:rPr>
                        <m:sty m:val="p"/>
                      </m:rPr>
                      <a:rPr lang="en-US" altLang="zh-CN" sz="1900" b="0" i="0" smtClean="0">
                        <a:latin typeface="Cambria Math" panose="02040503050406030204" pitchFamily="18" charset="0"/>
                        <a:cs typeface="Times New Roman" panose="02020603050405020304" pitchFamily="18" charset="0"/>
                      </a:rPr>
                      <m:t>mod</m:t>
                    </m:r>
                    <m:r>
                      <a:rPr lang="en-US" altLang="zh-CN" sz="1900" b="0" i="1"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𝑛</m:t>
                    </m:r>
                  </m:oMath>
                </a14:m>
                <a:r>
                  <a:rPr lang="zh-CN" altLang="en-US" sz="1900" dirty="0">
                    <a:latin typeface="Times New Roman" panose="02020603050405020304" pitchFamily="18" charset="0"/>
                    <a:cs typeface="Times New Roman" panose="02020603050405020304" pitchFamily="18" charset="0"/>
                  </a:rPr>
                  <a:t>，与</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𝑥</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是模</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𝑛</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的二次非剩余矛盾（绑定性）。</a:t>
                </a:r>
              </a:p>
            </p:txBody>
          </p:sp>
        </mc:Choice>
        <mc:Fallback xmlns="">
          <p:sp>
            <p:nvSpPr>
              <p:cNvPr id="7" name="文本框 6"/>
              <p:cNvSpPr txBox="1">
                <a:spLocks noRot="1" noChangeAspect="1" noMove="1" noResize="1" noEditPoints="1" noAdjustHandles="1" noChangeArrowheads="1" noChangeShapeType="1" noTextEdit="1"/>
              </p:cNvSpPr>
              <p:nvPr/>
            </p:nvSpPr>
            <p:spPr>
              <a:xfrm>
                <a:off x="312517" y="1652141"/>
                <a:ext cx="8479945" cy="4750659"/>
              </a:xfrm>
              <a:prstGeom prst="rect">
                <a:avLst/>
              </a:prstGeom>
              <a:blipFill rotWithShape="1">
                <a:blip r:embed="rId4"/>
                <a:stretch>
                  <a:fillRect l="-1" t="-11" r="-1367" b="-2377"/>
                </a:stretch>
              </a:blipFill>
            </p:spPr>
            <p:txBody>
              <a:bodyPr/>
              <a:lstStyle/>
              <a:p>
                <a:r>
                  <a:rPr lang="zh-CN" altLang="en-US">
                    <a:noFill/>
                  </a:rPr>
                  <a:t> </a:t>
                </a:r>
              </a:p>
            </p:txBody>
          </p:sp>
        </mc:Fallback>
      </mc:AlternateContent>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EA780-E11F-E590-D175-C29EA34E8AB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44B5DE-7669-3AA6-C5CA-152F04C5FD9F}"/>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a:extLst>
              <a:ext uri="{FF2B5EF4-FFF2-40B4-BE49-F238E27FC236}">
                <a16:creationId xmlns:a16="http://schemas.microsoft.com/office/drawing/2014/main" id="{97BCE5B9-C1FA-3ADD-CF19-3BB124FE76E8}"/>
              </a:ext>
            </a:extLst>
          </p:cNvPr>
          <p:cNvSpPr>
            <a:spLocks noGrp="1"/>
          </p:cNvSpPr>
          <p:nvPr>
            <p:ph type="sldNum" sz="quarter" idx="12"/>
          </p:nvPr>
        </p:nvSpPr>
        <p:spPr/>
        <p:txBody>
          <a:bodyPr/>
          <a:lstStyle/>
          <a:p>
            <a:fld id="{4DBDE2CB-4801-494F-A0A4-D49D70804842}" type="slidenum">
              <a:rPr lang="zh-CN" altLang="en-US" smtClean="0"/>
              <a:t>24</a:t>
            </a:fld>
            <a:endParaRPr lang="zh-CN" altLang="en-US" dirty="0"/>
          </a:p>
        </p:txBody>
      </p:sp>
      <p:sp>
        <p:nvSpPr>
          <p:cNvPr id="6" name="文本框 5">
            <a:extLst>
              <a:ext uri="{FF2B5EF4-FFF2-40B4-BE49-F238E27FC236}">
                <a16:creationId xmlns:a16="http://schemas.microsoft.com/office/drawing/2014/main" id="{5CAA56D6-FB79-AA58-9A4F-79EC620DA759}"/>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6.1 </a:t>
            </a:r>
            <a:r>
              <a:rPr lang="zh-CN" altLang="en-US" sz="2400" b="1" dirty="0">
                <a:solidFill>
                  <a:srgbClr val="FF0000"/>
                </a:solidFill>
                <a:latin typeface="+mn-ea"/>
              </a:rPr>
              <a:t>零知识证明协议的基本概念</a:t>
            </a:r>
          </a:p>
        </p:txBody>
      </p:sp>
      <p:sp>
        <p:nvSpPr>
          <p:cNvPr id="9" name="文本框 8">
            <a:extLst>
              <a:ext uri="{FF2B5EF4-FFF2-40B4-BE49-F238E27FC236}">
                <a16:creationId xmlns:a16="http://schemas.microsoft.com/office/drawing/2014/main" id="{2D24DF56-5E7C-8504-9DE4-E9B9ECA1AB3D}"/>
              </a:ext>
            </a:extLst>
          </p:cNvPr>
          <p:cNvSpPr txBox="1"/>
          <p:nvPr/>
        </p:nvSpPr>
        <p:spPr>
          <a:xfrm>
            <a:off x="312517" y="1536766"/>
            <a:ext cx="8479945" cy="4853636"/>
          </a:xfrm>
          <a:prstGeom prst="rect">
            <a:avLst/>
          </a:prstGeom>
          <a:noFill/>
        </p:spPr>
        <p:txBody>
          <a:bodyPr wrap="square" rtlCol="0">
            <a:spAutoFit/>
          </a:bodyPr>
          <a:lstStyle/>
          <a:p>
            <a:pPr algn="just">
              <a:lnSpc>
                <a:spcPct val="130000"/>
              </a:lnSpc>
              <a:spcBef>
                <a:spcPts val="600"/>
              </a:spcBef>
            </a:pP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有一秘密，如果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出示该秘密，则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相信但同时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也知道了这一秘密，这是最大泄露证明；如果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有一秘密，向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证明自己知道这一秘密，但是又不向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泄露该秘密，这就是最小泄露证明。因此，如果以一种有效的方法，使得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除了知道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能证明某一事实外，不可能得到其他任何信息，这就是零知识证明。</a:t>
            </a:r>
            <a:endParaRPr lang="en-US" altLang="zh-CN" sz="2000" b="1" dirty="0">
              <a:solidFill>
                <a:srgbClr val="0000FF"/>
              </a:solidFill>
              <a:latin typeface="Times New Roman" panose="02020603050405020304" pitchFamily="18" charset="0"/>
              <a:cs typeface="Times New Roman" panose="02020603050405020304" pitchFamily="18" charset="0"/>
            </a:endParaRPr>
          </a:p>
          <a:p>
            <a:pPr algn="just">
              <a:lnSpc>
                <a:spcPct val="13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零知识证明协议（</a:t>
            </a:r>
            <a:r>
              <a:rPr lang="en-US" altLang="zh-CN" sz="2000" b="1" dirty="0">
                <a:solidFill>
                  <a:srgbClr val="0000FF"/>
                </a:solidFill>
                <a:latin typeface="Times New Roman" panose="02020603050405020304" pitchFamily="18" charset="0"/>
                <a:cs typeface="Times New Roman" panose="02020603050405020304" pitchFamily="18" charset="0"/>
              </a:rPr>
              <a:t>Zero-Knowledge Proof Protocol</a:t>
            </a:r>
            <a:r>
              <a:rPr lang="zh-CN" altLang="en-US" sz="2000" b="1" dirty="0">
                <a:solidFill>
                  <a:srgbClr val="0000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用于证明某人拥有某种信息或知识，而无需揭示实际的信息或知识内容。零知识证明协议的基本要素通常包括以下两个角色：</a:t>
            </a:r>
          </a:p>
          <a:p>
            <a:pPr marL="342900" indent="-342900" algn="just">
              <a:lnSpc>
                <a:spcPct val="120000"/>
              </a:lnSpc>
              <a:spcBef>
                <a:spcPts val="600"/>
              </a:spcBef>
              <a:buFont typeface="Wingdings" panose="05000000000000000000" pitchFamily="2" charset="2"/>
              <a:buChar char="l"/>
            </a:pPr>
            <a:r>
              <a:rPr lang="zh-CN" altLang="en-US" dirty="0">
                <a:latin typeface="Times New Roman" panose="02020603050405020304" pitchFamily="18" charset="0"/>
                <a:cs typeface="Times New Roman" panose="02020603050405020304" pitchFamily="18" charset="0"/>
              </a:rPr>
              <a:t>示证者（</a:t>
            </a:r>
            <a:r>
              <a:rPr lang="en-US" altLang="zh-CN" dirty="0">
                <a:latin typeface="Times New Roman" panose="02020603050405020304" pitchFamily="18" charset="0"/>
                <a:cs typeface="Times New Roman" panose="02020603050405020304" pitchFamily="18" charset="0"/>
              </a:rPr>
              <a:t>Prover</a:t>
            </a:r>
            <a:r>
              <a:rPr lang="zh-CN" altLang="en-US" dirty="0">
                <a:latin typeface="Times New Roman" panose="02020603050405020304" pitchFamily="18" charset="0"/>
                <a:cs typeface="Times New Roman" panose="02020603050405020304" pitchFamily="18" charset="0"/>
              </a:rPr>
              <a:t>，简记为 </a:t>
            </a:r>
            <a:r>
              <a:rPr lang="en-US" altLang="zh-CN"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）：拥有某个知识，并希望向验证者证明他们拥有这个知识，但不想揭示知识的具体内容。</a:t>
            </a:r>
          </a:p>
          <a:p>
            <a:pPr marL="342900" indent="-342900" algn="just">
              <a:lnSpc>
                <a:spcPct val="120000"/>
              </a:lnSpc>
              <a:spcBef>
                <a:spcPts val="600"/>
              </a:spcBef>
              <a:buFont typeface="Wingdings" panose="05000000000000000000" pitchFamily="2" charset="2"/>
              <a:buChar char="l"/>
            </a:pPr>
            <a:r>
              <a:rPr lang="zh-CN" altLang="en-US" dirty="0">
                <a:latin typeface="Times New Roman" panose="02020603050405020304" pitchFamily="18" charset="0"/>
                <a:cs typeface="Times New Roman" panose="02020603050405020304" pitchFamily="18" charset="0"/>
              </a:rPr>
              <a:t>验证者（</a:t>
            </a:r>
            <a:r>
              <a:rPr lang="en-US" altLang="zh-CN" dirty="0">
                <a:latin typeface="Times New Roman" panose="02020603050405020304" pitchFamily="18" charset="0"/>
                <a:cs typeface="Times New Roman" panose="02020603050405020304" pitchFamily="18" charset="0"/>
              </a:rPr>
              <a:t>Verifier</a:t>
            </a:r>
            <a:r>
              <a:rPr lang="zh-CN" altLang="en-US" dirty="0">
                <a:latin typeface="Times New Roman" panose="02020603050405020304" pitchFamily="18" charset="0"/>
                <a:cs typeface="Times New Roman" panose="02020603050405020304" pitchFamily="18" charset="0"/>
              </a:rPr>
              <a:t>，简记为 </a:t>
            </a:r>
            <a:r>
              <a:rPr lang="en-US" altLang="zh-CN" dirty="0">
                <a:latin typeface="Times New Roman" panose="02020603050405020304" pitchFamily="18" charset="0"/>
                <a:cs typeface="Times New Roman" panose="02020603050405020304" pitchFamily="18" charset="0"/>
              </a:rPr>
              <a:t>V</a:t>
            </a:r>
            <a:r>
              <a:rPr lang="zh-CN" altLang="en-US" dirty="0">
                <a:latin typeface="Times New Roman" panose="02020603050405020304" pitchFamily="18" charset="0"/>
                <a:cs typeface="Times New Roman" panose="02020603050405020304" pitchFamily="18" charset="0"/>
              </a:rPr>
              <a:t>）：想要验证示证者的知识，即确保示证者确实知道某个知识，但不知道具体的知识内容。</a:t>
            </a:r>
            <a:endParaRPr lang="en-US" altLang="zh-CN"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941040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9B074-2BC5-D4FA-9CB4-25D01721097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33307D-91FF-D604-8951-8065A534F686}"/>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a:extLst>
              <a:ext uri="{FF2B5EF4-FFF2-40B4-BE49-F238E27FC236}">
                <a16:creationId xmlns:a16="http://schemas.microsoft.com/office/drawing/2014/main" id="{57813FFB-8955-E00B-E6B5-47BE900158B0}"/>
              </a:ext>
            </a:extLst>
          </p:cNvPr>
          <p:cNvSpPr>
            <a:spLocks noGrp="1"/>
          </p:cNvSpPr>
          <p:nvPr>
            <p:ph type="sldNum" sz="quarter" idx="12"/>
          </p:nvPr>
        </p:nvSpPr>
        <p:spPr/>
        <p:txBody>
          <a:bodyPr/>
          <a:lstStyle/>
          <a:p>
            <a:fld id="{4DBDE2CB-4801-494F-A0A4-D49D70804842}" type="slidenum">
              <a:rPr lang="zh-CN" altLang="en-US" smtClean="0"/>
              <a:t>25</a:t>
            </a:fld>
            <a:endParaRPr lang="zh-CN" altLang="en-US" dirty="0"/>
          </a:p>
        </p:txBody>
      </p:sp>
      <p:sp>
        <p:nvSpPr>
          <p:cNvPr id="6" name="文本框 5">
            <a:extLst>
              <a:ext uri="{FF2B5EF4-FFF2-40B4-BE49-F238E27FC236}">
                <a16:creationId xmlns:a16="http://schemas.microsoft.com/office/drawing/2014/main" id="{7D7DF5C9-1C39-2D1D-61E9-50A3CA93B12F}"/>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6.1 </a:t>
            </a:r>
            <a:r>
              <a:rPr lang="zh-CN" altLang="en-US" sz="2400" b="1" dirty="0">
                <a:solidFill>
                  <a:srgbClr val="FF0000"/>
                </a:solidFill>
                <a:latin typeface="+mn-ea"/>
              </a:rPr>
              <a:t>零知识证明协议的基本概念</a:t>
            </a:r>
          </a:p>
        </p:txBody>
      </p:sp>
      <p:sp>
        <p:nvSpPr>
          <p:cNvPr id="5" name="文本框 4">
            <a:extLst>
              <a:ext uri="{FF2B5EF4-FFF2-40B4-BE49-F238E27FC236}">
                <a16:creationId xmlns:a16="http://schemas.microsoft.com/office/drawing/2014/main" id="{513D23FC-39FF-DBCA-73ED-AEDE24A54A63}"/>
              </a:ext>
            </a:extLst>
          </p:cNvPr>
          <p:cNvSpPr txBox="1"/>
          <p:nvPr/>
        </p:nvSpPr>
        <p:spPr>
          <a:xfrm>
            <a:off x="1070517" y="2903485"/>
            <a:ext cx="7002966" cy="369332"/>
          </a:xfrm>
          <a:prstGeom prst="rect">
            <a:avLst/>
          </a:prstGeom>
          <a:noFill/>
        </p:spPr>
        <p:txBody>
          <a:bodyPr wrap="square">
            <a:spAutoFit/>
          </a:bodyPr>
          <a:lstStyle/>
          <a:p>
            <a:r>
              <a:rPr lang="zh-CN" altLang="en-US" dirty="0">
                <a:hlinkClick r:id="rId4"/>
              </a:rPr>
              <a:t>https://www.zhihu.com/zvideo/1471193027721437184?utm_id=0</a:t>
            </a:r>
            <a:endParaRPr lang="zh-CN" altLang="en-US" dirty="0"/>
          </a:p>
        </p:txBody>
      </p:sp>
    </p:spTree>
    <p:custDataLst>
      <p:tags r:id="rId1"/>
    </p:custDataLst>
    <p:extLst>
      <p:ext uri="{BB962C8B-B14F-4D97-AF65-F5344CB8AC3E}">
        <p14:creationId xmlns:p14="http://schemas.microsoft.com/office/powerpoint/2010/main" val="2667866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26</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6.1 </a:t>
            </a:r>
            <a:r>
              <a:rPr lang="zh-CN" altLang="en-US" sz="2400" b="1" dirty="0">
                <a:solidFill>
                  <a:srgbClr val="FF0000"/>
                </a:solidFill>
                <a:latin typeface="+mn-ea"/>
              </a:rPr>
              <a:t>零知识证明协议的基本概念</a:t>
            </a:r>
          </a:p>
        </p:txBody>
      </p:sp>
      <p:sp>
        <p:nvSpPr>
          <p:cNvPr id="9" name="文本框 8"/>
          <p:cNvSpPr txBox="1"/>
          <p:nvPr/>
        </p:nvSpPr>
        <p:spPr>
          <a:xfrm>
            <a:off x="312517" y="1549061"/>
            <a:ext cx="8401715" cy="4793620"/>
          </a:xfrm>
          <a:prstGeom prst="rect">
            <a:avLst/>
          </a:prstGeom>
          <a:noFill/>
        </p:spPr>
        <p:txBody>
          <a:bodyPr wrap="square" rtlCol="0">
            <a:spAutoFit/>
          </a:bodyPr>
          <a:lstStyle/>
          <a:p>
            <a:pPr marL="342900" indent="-3429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最小泄露证明满足下述条件</a:t>
            </a:r>
            <a:r>
              <a:rPr lang="zh-CN" altLang="en-US" sz="2000" dirty="0">
                <a:latin typeface="Times New Roman" panose="02020603050405020304" pitchFamily="18" charset="0"/>
                <a:cs typeface="Times New Roman" panose="02020603050405020304" pitchFamily="18" charset="0"/>
              </a:rPr>
              <a:t>：</a:t>
            </a:r>
          </a:p>
          <a:p>
            <a:pPr marL="800100" lvl="1" indent="-342900" algn="just">
              <a:lnSpc>
                <a:spcPct val="13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示证者几乎不可能欺骗验证者。若 </a:t>
            </a:r>
            <a:r>
              <a:rPr lang="en-US" altLang="zh-CN" sz="1900" dirty="0">
                <a:latin typeface="Times New Roman" panose="02020603050405020304" pitchFamily="18" charset="0"/>
                <a:cs typeface="Times New Roman" panose="02020603050405020304" pitchFamily="18" charset="0"/>
              </a:rPr>
              <a:t>P </a:t>
            </a:r>
            <a:r>
              <a:rPr lang="zh-CN" altLang="en-US" sz="1900" dirty="0">
                <a:latin typeface="Times New Roman" panose="02020603050405020304" pitchFamily="18" charset="0"/>
                <a:cs typeface="Times New Roman" panose="02020603050405020304" pitchFamily="18" charset="0"/>
              </a:rPr>
              <a:t>知道证明，则可使 </a:t>
            </a:r>
            <a:r>
              <a:rPr lang="en-US" altLang="zh-CN" sz="1900" dirty="0">
                <a:latin typeface="Times New Roman" panose="02020603050405020304" pitchFamily="18" charset="0"/>
                <a:cs typeface="Times New Roman" panose="02020603050405020304" pitchFamily="18" charset="0"/>
              </a:rPr>
              <a:t>V </a:t>
            </a:r>
            <a:r>
              <a:rPr lang="zh-CN" altLang="en-US" sz="1900" dirty="0">
                <a:latin typeface="Times New Roman" panose="02020603050405020304" pitchFamily="18" charset="0"/>
                <a:cs typeface="Times New Roman" panose="02020603050405020304" pitchFamily="18" charset="0"/>
              </a:rPr>
              <a:t>几乎确信 </a:t>
            </a:r>
            <a:r>
              <a:rPr lang="en-US" altLang="zh-CN" sz="1900" dirty="0">
                <a:latin typeface="Times New Roman" panose="02020603050405020304" pitchFamily="18" charset="0"/>
                <a:cs typeface="Times New Roman" panose="02020603050405020304" pitchFamily="18" charset="0"/>
              </a:rPr>
              <a:t>P </a:t>
            </a:r>
            <a:r>
              <a:rPr lang="zh-CN" altLang="en-US" sz="1900" dirty="0">
                <a:latin typeface="Times New Roman" panose="02020603050405020304" pitchFamily="18" charset="0"/>
                <a:cs typeface="Times New Roman" panose="02020603050405020304" pitchFamily="18" charset="0"/>
              </a:rPr>
              <a:t>知道证明；若 </a:t>
            </a:r>
            <a:r>
              <a:rPr lang="en-US" altLang="zh-CN" sz="1900" dirty="0">
                <a:latin typeface="Times New Roman" panose="02020603050405020304" pitchFamily="18" charset="0"/>
                <a:cs typeface="Times New Roman" panose="02020603050405020304" pitchFamily="18" charset="0"/>
              </a:rPr>
              <a:t>P </a:t>
            </a:r>
            <a:r>
              <a:rPr lang="zh-CN" altLang="en-US" sz="1900" dirty="0">
                <a:latin typeface="Times New Roman" panose="02020603050405020304" pitchFamily="18" charset="0"/>
                <a:cs typeface="Times New Roman" panose="02020603050405020304" pitchFamily="18" charset="0"/>
              </a:rPr>
              <a:t>不知道证明，则他使 </a:t>
            </a:r>
            <a:r>
              <a:rPr lang="en-US" altLang="zh-CN" sz="1900" dirty="0">
                <a:latin typeface="Times New Roman" panose="02020603050405020304" pitchFamily="18" charset="0"/>
                <a:cs typeface="Times New Roman" panose="02020603050405020304" pitchFamily="18" charset="0"/>
              </a:rPr>
              <a:t>V </a:t>
            </a:r>
            <a:r>
              <a:rPr lang="zh-CN" altLang="en-US" sz="1900" dirty="0">
                <a:latin typeface="Times New Roman" panose="02020603050405020304" pitchFamily="18" charset="0"/>
                <a:cs typeface="Times New Roman" panose="02020603050405020304" pitchFamily="18" charset="0"/>
              </a:rPr>
              <a:t>相信他知道证明的概率近于零。</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验证者几乎不可能得到证明的信息，特别是他不可能向其他人出示此证明。</a:t>
            </a:r>
            <a:endParaRPr lang="en-US" altLang="zh-CN" sz="19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验证者从示证者那里得不到任何有关证明的知识。</a:t>
            </a:r>
            <a:endParaRPr lang="en-US" altLang="zh-CN" sz="1900" dirty="0">
              <a:latin typeface="Times New Roman" panose="02020603050405020304" pitchFamily="18" charset="0"/>
              <a:cs typeface="Times New Roman" panose="02020603050405020304" pitchFamily="18" charset="0"/>
            </a:endParaRPr>
          </a:p>
          <a:p>
            <a:pPr marL="0" lvl="1" indent="-3429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交互作用协议：</a:t>
            </a:r>
            <a:endParaRPr lang="en-US" altLang="zh-CN" sz="2000" b="1" dirty="0">
              <a:solidFill>
                <a:srgbClr val="0000FF"/>
              </a:solidFill>
              <a:latin typeface="Times New Roman" panose="02020603050405020304" pitchFamily="18" charset="0"/>
              <a:cs typeface="Times New Roman" panose="02020603050405020304" pitchFamily="18" charset="0"/>
            </a:endParaRPr>
          </a:p>
          <a:p>
            <a:pPr lvl="1" algn="just">
              <a:lnSpc>
                <a:spcPct val="130000"/>
              </a:lnSpc>
              <a:spcBef>
                <a:spcPts val="600"/>
              </a:spcBef>
            </a:pP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向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提问，若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知道证明则可正确回答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的提问；若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不知道证明，则对提问给出正确回答概率仅为</a:t>
            </a:r>
            <a:r>
              <a:rPr lang="en-US" altLang="zh-CN" sz="2000" dirty="0">
                <a:latin typeface="Times New Roman" panose="02020603050405020304" pitchFamily="18" charset="0"/>
                <a:cs typeface="Times New Roman" panose="02020603050405020304" pitchFamily="18" charset="0"/>
              </a:rPr>
              <a:t>1/2</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lvl="1" algn="just">
              <a:lnSpc>
                <a:spcPct val="130000"/>
              </a:lnSpc>
              <a:spcBef>
                <a:spcPts val="600"/>
              </a:spcBef>
            </a:pP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以足够多的提问就可推定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是否知道证明，且要保证这些提问及其相应的回答不会泄露出有关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所知道的知识。</a:t>
            </a:r>
            <a:endParaRPr lang="en-US" altLang="zh-CN" sz="20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27</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6.2 </a:t>
            </a:r>
            <a:r>
              <a:rPr lang="zh-CN" altLang="en-US" sz="2400" b="1" dirty="0">
                <a:solidFill>
                  <a:srgbClr val="FF0000"/>
                </a:solidFill>
                <a:latin typeface="+mn-ea"/>
              </a:rPr>
              <a:t>零知识证明协议</a:t>
            </a:r>
          </a:p>
        </p:txBody>
      </p:sp>
      <p:sp>
        <p:nvSpPr>
          <p:cNvPr id="9" name="文本框 8"/>
          <p:cNvSpPr txBox="1"/>
          <p:nvPr/>
        </p:nvSpPr>
        <p:spPr>
          <a:xfrm>
            <a:off x="312515" y="1678970"/>
            <a:ext cx="8479947" cy="461665"/>
          </a:xfrm>
          <a:prstGeom prst="rect">
            <a:avLst/>
          </a:prstGeom>
          <a:noFill/>
        </p:spPr>
        <p:txBody>
          <a:bodyPr wrap="square" rtlCol="0">
            <a:spAutoFit/>
          </a:bodyPr>
          <a:lstStyle/>
          <a:p>
            <a:pPr algn="just">
              <a:lnSpc>
                <a:spcPct val="12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咒语之门：</a:t>
            </a:r>
            <a:r>
              <a:rPr lang="zh-CN" altLang="en-US" sz="2000" dirty="0">
                <a:latin typeface="Times New Roman" panose="02020603050405020304" pitchFamily="18" charset="0"/>
                <a:cs typeface="Times New Roman" panose="02020603050405020304" pitchFamily="18" charset="0"/>
              </a:rPr>
              <a:t>当且仅当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知道咒语，可打开 </a:t>
            </a:r>
            <a:r>
              <a:rPr lang="en-US" altLang="zh-CN" sz="2000" dirty="0">
                <a:latin typeface="Times New Roman" panose="02020603050405020304" pitchFamily="18" charset="0"/>
                <a:cs typeface="Times New Roman" panose="02020603050405020304" pitchFamily="18" charset="0"/>
              </a:rPr>
              <a:t>C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D </a:t>
            </a:r>
            <a:r>
              <a:rPr lang="zh-CN" altLang="en-US" sz="2000" dirty="0">
                <a:latin typeface="Times New Roman" panose="02020603050405020304" pitchFamily="18" charset="0"/>
                <a:cs typeface="Times New Roman" panose="02020603050405020304" pitchFamily="18" charset="0"/>
              </a:rPr>
              <a:t>之间的秘密门并自由出入。</a:t>
            </a:r>
          </a:p>
        </p:txBody>
      </p:sp>
      <p:sp>
        <p:nvSpPr>
          <p:cNvPr id="4" name="矩形 3"/>
          <p:cNvSpPr/>
          <p:nvPr/>
        </p:nvSpPr>
        <p:spPr>
          <a:xfrm>
            <a:off x="312515" y="5768691"/>
            <a:ext cx="8446655" cy="584775"/>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[2] Quisquater, Jean-Jacques, et al. "How to explain zero-knowledge protocols to your children." In Conference on the Theory and Application of Cryptology. 1989. 628-631.</a:t>
            </a:r>
            <a:endParaRPr lang="zh-CN" altLang="en-US" sz="1600"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3060190" y="2593792"/>
            <a:ext cx="2886075" cy="2733675"/>
          </a:xfrm>
          <a:prstGeom prst="rect">
            <a:avLst/>
          </a:prstGeom>
        </p:spPr>
      </p:pic>
      <p:sp>
        <p:nvSpPr>
          <p:cNvPr id="8" name="文本框 7"/>
          <p:cNvSpPr txBox="1"/>
          <p:nvPr/>
        </p:nvSpPr>
        <p:spPr>
          <a:xfrm>
            <a:off x="3299211" y="5378802"/>
            <a:ext cx="2031325" cy="338554"/>
          </a:xfrm>
          <a:prstGeom prst="rect">
            <a:avLst/>
          </a:prstGeom>
          <a:noFill/>
        </p:spPr>
        <p:txBody>
          <a:bodyPr wrap="none" rtlCol="0">
            <a:spAutoFit/>
          </a:bodyPr>
          <a:lstStyle/>
          <a:p>
            <a:r>
              <a:rPr lang="zh-CN" altLang="en-US" sz="1600" dirty="0"/>
              <a:t>零知识证明概念图解</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28</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6.2 </a:t>
            </a:r>
            <a:r>
              <a:rPr lang="zh-CN" altLang="en-US" sz="2400" b="1" dirty="0">
                <a:solidFill>
                  <a:srgbClr val="FF0000"/>
                </a:solidFill>
                <a:latin typeface="+mn-ea"/>
              </a:rPr>
              <a:t>零知识证明协议</a:t>
            </a:r>
          </a:p>
        </p:txBody>
      </p:sp>
      <mc:AlternateContent xmlns:mc="http://schemas.openxmlformats.org/markup-compatibility/2006" xmlns:a14="http://schemas.microsoft.com/office/drawing/2010/main">
        <mc:Choice Requires="a14">
          <p:sp>
            <p:nvSpPr>
              <p:cNvPr id="9" name="文本框 8"/>
              <p:cNvSpPr txBox="1"/>
              <p:nvPr/>
            </p:nvSpPr>
            <p:spPr>
              <a:xfrm>
                <a:off x="411035" y="1568925"/>
                <a:ext cx="8381427" cy="4847481"/>
              </a:xfrm>
              <a:prstGeom prst="rect">
                <a:avLst/>
              </a:prstGeom>
              <a:noFill/>
            </p:spPr>
            <p:txBody>
              <a:bodyPr wrap="square" rtlCol="0">
                <a:spAutoFit/>
              </a:bodyPr>
              <a:lstStyle/>
              <a:p>
                <a:pPr algn="just">
                  <a:lnSpc>
                    <a:spcPct val="120000"/>
                  </a:lnSpc>
                  <a:spcBef>
                    <a:spcPts val="600"/>
                  </a:spcBef>
                </a:pPr>
                <a:r>
                  <a:rPr lang="zh-CN" altLang="en-US" sz="2000" dirty="0">
                    <a:latin typeface="Times New Roman" panose="02020603050405020304" pitchFamily="18" charset="0"/>
                    <a:cs typeface="Times New Roman" panose="02020603050405020304" pitchFamily="18" charset="0"/>
                  </a:rPr>
                  <a:t>协议：</a:t>
                </a:r>
              </a:p>
              <a:p>
                <a:pPr marL="342900" indent="-3429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站在 </a:t>
                </a:r>
                <a:r>
                  <a:rPr lang="en-US" altLang="zh-CN" sz="2000" dirty="0">
                    <a:latin typeface="Times New Roman" panose="02020603050405020304" pitchFamily="18" charset="0"/>
                    <a:cs typeface="Times New Roman" panose="02020603050405020304" pitchFamily="18" charset="0"/>
                  </a:rPr>
                  <a:t>A </a:t>
                </a:r>
                <a:r>
                  <a:rPr lang="zh-CN" altLang="en-US" sz="2000" dirty="0">
                    <a:latin typeface="Times New Roman" panose="02020603050405020304" pitchFamily="18" charset="0"/>
                    <a:cs typeface="Times New Roman" panose="02020603050405020304" pitchFamily="18" charset="0"/>
                  </a:rPr>
                  <a:t>点；</a:t>
                </a:r>
              </a:p>
              <a:p>
                <a:pPr marL="342900" indent="-3429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进入洞中任一点 </a:t>
                </a:r>
                <a:r>
                  <a:rPr lang="en-US" altLang="zh-CN" sz="2000" dirty="0">
                    <a:latin typeface="Times New Roman" panose="02020603050405020304" pitchFamily="18" charset="0"/>
                    <a:cs typeface="Times New Roman" panose="02020603050405020304" pitchFamily="18" charset="0"/>
                  </a:rPr>
                  <a:t>C </a:t>
                </a:r>
                <a:r>
                  <a:rPr lang="zh-CN" altLang="en-US" sz="2000" dirty="0">
                    <a:latin typeface="Times New Roman" panose="02020603050405020304" pitchFamily="18" charset="0"/>
                    <a:cs typeface="Times New Roman" panose="02020603050405020304" pitchFamily="18" charset="0"/>
                  </a:rPr>
                  <a:t>或 </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a:t>
                </a:r>
              </a:p>
              <a:p>
                <a:pPr marL="342900" indent="-3429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当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进洞之后，</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走到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点；</a:t>
                </a:r>
              </a:p>
              <a:p>
                <a:pPr marL="342900" indent="-3429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让 </a:t>
                </a:r>
                <a:r>
                  <a:rPr lang="en-US" altLang="zh-CN" sz="2000" dirty="0">
                    <a:latin typeface="Times New Roman" panose="02020603050405020304" pitchFamily="18" charset="0"/>
                    <a:cs typeface="Times New Roman" panose="02020603050405020304" pitchFamily="18" charset="0"/>
                  </a:rPr>
                  <a:t>P  (a) </a:t>
                </a:r>
                <a:r>
                  <a:rPr lang="zh-CN" altLang="en-US" sz="2000" dirty="0">
                    <a:latin typeface="Times New Roman" panose="02020603050405020304" pitchFamily="18" charset="0"/>
                    <a:cs typeface="Times New Roman" panose="02020603050405020304" pitchFamily="18" charset="0"/>
                  </a:rPr>
                  <a:t>从左边出来，或 </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从右边出来；</a:t>
                </a:r>
              </a:p>
              <a:p>
                <a:pPr marL="342900" indent="-3429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按要求实现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以咒语帮助</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p>
              <a:p>
                <a:pPr marL="342900" indent="-342900" algn="just">
                  <a:lnSpc>
                    <a:spcPct val="120000"/>
                  </a:lnSpc>
                  <a:spcBef>
                    <a:spcPts val="600"/>
                  </a:spcBef>
                  <a:spcAft>
                    <a:spcPts val="600"/>
                  </a:spcAft>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重复执行上述步骤共 𝑛 次。</a:t>
                </a: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pPr>
                <a:r>
                  <a:rPr lang="zh-CN" altLang="en-US" sz="2000" dirty="0">
                    <a:latin typeface="Times New Roman" panose="02020603050405020304" pitchFamily="18" charset="0"/>
                    <a:cs typeface="Times New Roman" panose="02020603050405020304" pitchFamily="18" charset="0"/>
                  </a:rPr>
                  <a:t>分析：</a:t>
                </a:r>
              </a:p>
              <a:p>
                <a:pPr algn="just">
                  <a:lnSpc>
                    <a:spcPct val="120000"/>
                  </a:lnSpc>
                  <a:spcBef>
                    <a:spcPts val="600"/>
                  </a:spcBef>
                </a:pPr>
                <a:r>
                  <a:rPr lang="zh-CN" altLang="en-US" sz="2000" dirty="0">
                    <a:latin typeface="Times New Roman" panose="02020603050405020304" pitchFamily="18" charset="0"/>
                    <a:cs typeface="Times New Roman" panose="02020603050405020304" pitchFamily="18" charset="0"/>
                  </a:rPr>
                  <a:t>若 </a:t>
                </a:r>
                <a:r>
                  <a:rPr lang="en-US" altLang="zh-CN" sz="2000" dirty="0">
                    <a:latin typeface="Times New Roman" panose="02020603050405020304" pitchFamily="18" charset="0"/>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不知咒语，则在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点，只有 </a:t>
                </a:r>
                <a:r>
                  <a:rPr lang="en-US" altLang="zh-CN" sz="2000" dirty="0">
                    <a:latin typeface="Times New Roman" panose="02020603050405020304" pitchFamily="18" charset="0"/>
                    <a:cs typeface="Times New Roman" panose="02020603050405020304" pitchFamily="18" charset="0"/>
                  </a:rPr>
                  <a:t>50% </a:t>
                </a:r>
                <a:r>
                  <a:rPr lang="zh-CN" altLang="en-US" sz="2000" dirty="0">
                    <a:latin typeface="Times New Roman" panose="02020603050405020304" pitchFamily="18" charset="0"/>
                    <a:cs typeface="Times New Roman" panose="02020603050405020304" pitchFamily="18" charset="0"/>
                  </a:rPr>
                  <a:t>的机会猜中 </a:t>
                </a:r>
                <a:r>
                  <a:rPr lang="en-US" altLang="zh-CN" sz="2000" dirty="0">
                    <a:latin typeface="Times New Roman" panose="02020603050405020304" pitchFamily="18" charset="0"/>
                    <a:cs typeface="Times New Roman" panose="02020603050405020304" pitchFamily="18" charset="0"/>
                  </a:rPr>
                  <a:t>V </a:t>
                </a:r>
                <a:r>
                  <a:rPr lang="zh-CN" altLang="en-US" sz="2000" dirty="0">
                    <a:latin typeface="Times New Roman" panose="02020603050405020304" pitchFamily="18" charset="0"/>
                    <a:cs typeface="Times New Roman" panose="02020603050405020304" pitchFamily="18" charset="0"/>
                  </a:rPr>
                  <a:t>的要求，协议执行 𝑛 次，则只有 </a:t>
                </a:r>
                <a14:m>
                  <m:oMath xmlns:m="http://schemas.openxmlformats.org/officeDocument/2006/math">
                    <m:sSup>
                      <m:sSupPr>
                        <m:ctrlPr>
                          <a:rPr lang="en-US" altLang="zh-CN" sz="2000" i="1" smtClean="0">
                            <a:latin typeface="Cambria Math" panose="02040503050406030204" pitchFamily="18" charset="0"/>
                            <a:cs typeface="Times New Roman" panose="02020603050405020304" pitchFamily="18" charset="0"/>
                          </a:rPr>
                        </m:ctrlPr>
                      </m:sSupPr>
                      <m:e>
                        <m:r>
                          <a:rPr lang="en-US" altLang="zh-CN" sz="2000" b="0" i="1" smtClean="0">
                            <a:latin typeface="Cambria Math" panose="02040503050406030204" pitchFamily="18" charset="0"/>
                            <a:cs typeface="Times New Roman" panose="02020603050405020304" pitchFamily="18" charset="0"/>
                          </a:rPr>
                          <m:t>2</m:t>
                        </m:r>
                      </m:e>
                      <m:sup>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𝑛</m:t>
                        </m:r>
                      </m:sup>
                    </m:sSup>
                  </m:oMath>
                </a14:m>
                <a:r>
                  <a:rPr lang="zh-CN" altLang="en-US" sz="2000" dirty="0">
                    <a:latin typeface="Times New Roman" panose="02020603050405020304" pitchFamily="18" charset="0"/>
                    <a:cs typeface="Times New Roman" panose="02020603050405020304" pitchFamily="18" charset="0"/>
                  </a:rPr>
                  <a:t> 的机会完全猜中；若 𝑛 </a:t>
                </a:r>
                <a:r>
                  <a:rPr lang="en-US" altLang="zh-CN" sz="2000" dirty="0">
                    <a:latin typeface="Times New Roman" panose="02020603050405020304" pitchFamily="18" charset="0"/>
                    <a:cs typeface="Times New Roman" panose="02020603050405020304" pitchFamily="18" charset="0"/>
                  </a:rPr>
                  <a:t>=16</a:t>
                </a:r>
                <a:r>
                  <a:rPr lang="zh-CN" altLang="en-US" sz="2000" dirty="0">
                    <a:latin typeface="Times New Roman" panose="02020603050405020304" pitchFamily="18" charset="0"/>
                    <a:cs typeface="Times New Roman" panose="02020603050405020304" pitchFamily="18" charset="0"/>
                  </a:rPr>
                  <a:t>，则若每次均通过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的检验，</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受骗机会仅为 </a:t>
                </a:r>
                <a:r>
                  <a:rPr lang="en-US" altLang="zh-CN" sz="2000" dirty="0">
                    <a:latin typeface="Times New Roman" panose="02020603050405020304" pitchFamily="18" charset="0"/>
                    <a:cs typeface="Times New Roman" panose="02020603050405020304" pitchFamily="18" charset="0"/>
                  </a:rPr>
                  <a:t>1/65536 </a:t>
                </a:r>
                <a:r>
                  <a:rPr lang="zh-CN" altLang="en-US" sz="2000" dirty="0">
                    <a:latin typeface="Times New Roman" panose="02020603050405020304" pitchFamily="18" charset="0"/>
                    <a:cs typeface="Times New Roman" panose="02020603050405020304" pitchFamily="18" charset="0"/>
                  </a:rPr>
                  <a:t>。若 𝑛 </a:t>
                </a:r>
                <a:r>
                  <a:rPr lang="en-US" altLang="zh-CN" sz="2000" dirty="0">
                    <a:latin typeface="Times New Roman" panose="02020603050405020304" pitchFamily="18" charset="0"/>
                    <a:cs typeface="Times New Roman" panose="02020603050405020304" pitchFamily="18" charset="0"/>
                  </a:rPr>
                  <a:t>=100</a:t>
                </a:r>
                <a:r>
                  <a:rPr lang="zh-CN" altLang="en-US" sz="2000" dirty="0">
                    <a:latin typeface="Times New Roman" panose="02020603050405020304" pitchFamily="18" charset="0"/>
                    <a:cs typeface="Times New Roman" panose="02020603050405020304" pitchFamily="18" charset="0"/>
                  </a:rPr>
                  <a:t>，则该概率可忽略。</a:t>
                </a:r>
              </a:p>
            </p:txBody>
          </p:sp>
        </mc:Choice>
        <mc:Fallback xmlns="">
          <p:sp>
            <p:nvSpPr>
              <p:cNvPr id="9" name="文本框 8"/>
              <p:cNvSpPr txBox="1">
                <a:spLocks noRot="1" noChangeAspect="1" noMove="1" noResize="1" noEditPoints="1" noAdjustHandles="1" noChangeArrowheads="1" noChangeShapeType="1" noTextEdit="1"/>
              </p:cNvSpPr>
              <p:nvPr/>
            </p:nvSpPr>
            <p:spPr>
              <a:xfrm>
                <a:off x="411035" y="1568925"/>
                <a:ext cx="8381427" cy="4847481"/>
              </a:xfrm>
              <a:prstGeom prst="rect">
                <a:avLst/>
              </a:prstGeom>
              <a:blipFill rotWithShape="1">
                <a:blip r:embed="rId4"/>
                <a:stretch>
                  <a:fillRect l="-2" t="-10" r="3" b="8"/>
                </a:stretch>
              </a:blipFill>
            </p:spPr>
            <p:txBody>
              <a:bodyPr/>
              <a:lstStyle/>
              <a:p>
                <a:r>
                  <a:rPr lang="zh-CN" altLang="en-US">
                    <a:noFill/>
                  </a:rPr>
                  <a:t> </a:t>
                </a:r>
              </a:p>
            </p:txBody>
          </p:sp>
        </mc:Fallback>
      </mc:AlternateContent>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1042D-1B0E-C1FB-DA8A-A33892622D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568212F-1D70-12C3-75AD-8D6C85E0A2A3}"/>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a:extLst>
              <a:ext uri="{FF2B5EF4-FFF2-40B4-BE49-F238E27FC236}">
                <a16:creationId xmlns:a16="http://schemas.microsoft.com/office/drawing/2014/main" id="{18292B2E-8A16-2DB3-14F4-C639D3FC7C47}"/>
              </a:ext>
            </a:extLst>
          </p:cNvPr>
          <p:cNvSpPr>
            <a:spLocks noGrp="1"/>
          </p:cNvSpPr>
          <p:nvPr>
            <p:ph type="sldNum" sz="quarter" idx="12"/>
          </p:nvPr>
        </p:nvSpPr>
        <p:spPr/>
        <p:txBody>
          <a:bodyPr/>
          <a:lstStyle/>
          <a:p>
            <a:fld id="{4DBDE2CB-4801-494F-A0A4-D49D70804842}" type="slidenum">
              <a:rPr lang="zh-CN" altLang="en-US" smtClean="0"/>
              <a:t>29</a:t>
            </a:fld>
            <a:endParaRPr lang="zh-CN" altLang="en-US" dirty="0"/>
          </a:p>
        </p:txBody>
      </p:sp>
      <p:sp>
        <p:nvSpPr>
          <p:cNvPr id="6" name="文本框 5">
            <a:extLst>
              <a:ext uri="{FF2B5EF4-FFF2-40B4-BE49-F238E27FC236}">
                <a16:creationId xmlns:a16="http://schemas.microsoft.com/office/drawing/2014/main" id="{D6FB15A6-AAE5-F956-F198-547A5CCE4B4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6.2 </a:t>
            </a:r>
            <a:r>
              <a:rPr lang="zh-CN" altLang="en-US" sz="2400" b="1" dirty="0">
                <a:solidFill>
                  <a:srgbClr val="FF0000"/>
                </a:solidFill>
                <a:latin typeface="+mn-ea"/>
              </a:rPr>
              <a:t>零知识证明协议</a:t>
            </a:r>
          </a:p>
        </p:txBody>
      </p:sp>
      <p:sp>
        <p:nvSpPr>
          <p:cNvPr id="8" name="文本框 7">
            <a:extLst>
              <a:ext uri="{FF2B5EF4-FFF2-40B4-BE49-F238E27FC236}">
                <a16:creationId xmlns:a16="http://schemas.microsoft.com/office/drawing/2014/main" id="{18BF7C30-03E6-B38C-40A4-CD136F26712A}"/>
              </a:ext>
            </a:extLst>
          </p:cNvPr>
          <p:cNvSpPr txBox="1"/>
          <p:nvPr/>
        </p:nvSpPr>
        <p:spPr>
          <a:xfrm>
            <a:off x="472190" y="1797705"/>
            <a:ext cx="8215341" cy="4464684"/>
          </a:xfrm>
          <a:prstGeom prst="rect">
            <a:avLst/>
          </a:prstGeom>
          <a:noFill/>
        </p:spPr>
        <p:txBody>
          <a:bodyPr wrap="square">
            <a:spAutoFit/>
          </a:bodyPr>
          <a:lstStyle/>
          <a:p>
            <a:pPr algn="l">
              <a:lnSpc>
                <a:spcPct val="150000"/>
              </a:lnSpc>
            </a:pPr>
            <a:r>
              <a:rPr lang="zh-CN" altLang="en-US" sz="2400" b="0" i="0" dirty="0">
                <a:solidFill>
                  <a:srgbClr val="333333"/>
                </a:solidFill>
                <a:effectLst/>
                <a:latin typeface="-apple-system"/>
              </a:rPr>
              <a:t>零知识证明具有以下三个主要性质：</a:t>
            </a:r>
          </a:p>
          <a:p>
            <a:pPr algn="l">
              <a:lnSpc>
                <a:spcPct val="150000"/>
              </a:lnSpc>
              <a:buFont typeface="+mj-lt"/>
              <a:buAutoNum type="arabicPeriod"/>
            </a:pPr>
            <a:r>
              <a:rPr lang="zh-CN" altLang="en-US" sz="2400" b="0" i="0" dirty="0">
                <a:solidFill>
                  <a:srgbClr val="333333"/>
                </a:solidFill>
                <a:effectLst/>
                <a:latin typeface="-apple-system"/>
              </a:rPr>
              <a:t>‌</a:t>
            </a:r>
            <a:r>
              <a:rPr lang="zh-CN" altLang="en-US" sz="2400" b="1" i="0" dirty="0">
                <a:solidFill>
                  <a:srgbClr val="333333"/>
                </a:solidFill>
                <a:effectLst/>
                <a:latin typeface="-apple-system"/>
              </a:rPr>
              <a:t>完备性（</a:t>
            </a:r>
            <a:r>
              <a:rPr lang="en" altLang="zh-CN" sz="2400" b="1" i="0" dirty="0">
                <a:solidFill>
                  <a:srgbClr val="333333"/>
                </a:solidFill>
                <a:effectLst/>
                <a:latin typeface="-apple-system"/>
              </a:rPr>
              <a:t>Completeness</a:t>
            </a:r>
            <a:r>
              <a:rPr lang="zh-CN" altLang="en" sz="2400" b="1" i="0" dirty="0">
                <a:solidFill>
                  <a:srgbClr val="333333"/>
                </a:solidFill>
                <a:effectLst/>
                <a:latin typeface="-apple-system"/>
              </a:rPr>
              <a:t>）</a:t>
            </a:r>
            <a:r>
              <a:rPr lang="en" altLang="zh-CN" sz="2400" b="0" i="0" dirty="0">
                <a:solidFill>
                  <a:srgbClr val="333333"/>
                </a:solidFill>
                <a:effectLst/>
                <a:latin typeface="-apple-system"/>
              </a:rPr>
              <a:t>‌</a:t>
            </a:r>
            <a:r>
              <a:rPr lang="zh-CN" altLang="en" sz="2400" b="0" i="0" dirty="0">
                <a:solidFill>
                  <a:srgbClr val="333333"/>
                </a:solidFill>
                <a:effectLst/>
                <a:latin typeface="-apple-system"/>
              </a:rPr>
              <a:t>：</a:t>
            </a:r>
            <a:r>
              <a:rPr lang="zh-CN" altLang="en-US" sz="2400" b="0" i="0" dirty="0">
                <a:solidFill>
                  <a:srgbClr val="333333"/>
                </a:solidFill>
                <a:effectLst/>
                <a:latin typeface="-apple-system"/>
              </a:rPr>
              <a:t>只要证明者正确地知道某一陈述，就能大概率让验证者相信自己知道该陈述，即成功向验证者证明‌</a:t>
            </a:r>
            <a:r>
              <a:rPr lang="en-US" altLang="zh-CN" sz="2400" b="0" i="0" dirty="0">
                <a:solidFill>
                  <a:srgbClr val="333333"/>
                </a:solidFill>
                <a:effectLst/>
                <a:latin typeface="-apple-system"/>
              </a:rPr>
              <a:t>2</a:t>
            </a:r>
            <a:r>
              <a:rPr lang="zh-CN" altLang="en-US" sz="2400" b="0" i="0" dirty="0">
                <a:solidFill>
                  <a:srgbClr val="333333"/>
                </a:solidFill>
                <a:effectLst/>
                <a:latin typeface="-apple-system"/>
              </a:rPr>
              <a:t>。</a:t>
            </a:r>
          </a:p>
          <a:p>
            <a:pPr algn="l">
              <a:lnSpc>
                <a:spcPct val="150000"/>
              </a:lnSpc>
              <a:buFont typeface="+mj-lt"/>
              <a:buAutoNum type="arabicPeriod"/>
            </a:pPr>
            <a:r>
              <a:rPr lang="zh-CN" altLang="en-US" sz="2400" b="0" i="0" dirty="0">
                <a:solidFill>
                  <a:srgbClr val="333333"/>
                </a:solidFill>
                <a:effectLst/>
                <a:latin typeface="-apple-system"/>
              </a:rPr>
              <a:t>‌</a:t>
            </a:r>
            <a:r>
              <a:rPr lang="zh-CN" altLang="en-US" sz="2400" b="1" i="0" dirty="0">
                <a:solidFill>
                  <a:srgbClr val="333333"/>
                </a:solidFill>
                <a:effectLst/>
                <a:latin typeface="-apple-system"/>
              </a:rPr>
              <a:t>可靠性（</a:t>
            </a:r>
            <a:r>
              <a:rPr lang="en" altLang="zh-CN" sz="2400" b="1" i="0" dirty="0">
                <a:solidFill>
                  <a:srgbClr val="333333"/>
                </a:solidFill>
                <a:effectLst/>
                <a:latin typeface="-apple-system"/>
              </a:rPr>
              <a:t>Soundness</a:t>
            </a:r>
            <a:r>
              <a:rPr lang="zh-CN" altLang="en" sz="2400" b="1" i="0" dirty="0">
                <a:solidFill>
                  <a:srgbClr val="333333"/>
                </a:solidFill>
                <a:effectLst/>
                <a:latin typeface="-apple-system"/>
              </a:rPr>
              <a:t>）</a:t>
            </a:r>
            <a:r>
              <a:rPr lang="en" altLang="zh-CN" sz="2400" b="0" i="0" dirty="0">
                <a:solidFill>
                  <a:srgbClr val="333333"/>
                </a:solidFill>
                <a:effectLst/>
                <a:latin typeface="-apple-system"/>
              </a:rPr>
              <a:t>‌</a:t>
            </a:r>
            <a:r>
              <a:rPr lang="zh-CN" altLang="en" sz="2400" b="0" i="0" dirty="0">
                <a:solidFill>
                  <a:srgbClr val="333333"/>
                </a:solidFill>
                <a:effectLst/>
                <a:latin typeface="-apple-system"/>
              </a:rPr>
              <a:t>：</a:t>
            </a:r>
            <a:r>
              <a:rPr lang="zh-CN" altLang="en-US" sz="2400" b="0" i="0" dirty="0">
                <a:solidFill>
                  <a:srgbClr val="333333"/>
                </a:solidFill>
                <a:effectLst/>
                <a:latin typeface="-apple-system"/>
              </a:rPr>
              <a:t>任何恶意证明者都不能以虚假陈述欺骗验证者接受该陈述‌</a:t>
            </a:r>
            <a:r>
              <a:rPr lang="en-US" altLang="zh-CN" sz="2400" b="0" i="0" dirty="0">
                <a:solidFill>
                  <a:srgbClr val="333333"/>
                </a:solidFill>
                <a:effectLst/>
                <a:latin typeface="-apple-system"/>
              </a:rPr>
              <a:t>2</a:t>
            </a:r>
            <a:r>
              <a:rPr lang="zh-CN" altLang="en-US" sz="2400" b="0" i="0" dirty="0">
                <a:solidFill>
                  <a:srgbClr val="333333"/>
                </a:solidFill>
                <a:effectLst/>
                <a:latin typeface="-apple-system"/>
              </a:rPr>
              <a:t>。</a:t>
            </a:r>
          </a:p>
          <a:p>
            <a:pPr algn="l">
              <a:lnSpc>
                <a:spcPct val="150000"/>
              </a:lnSpc>
              <a:buFont typeface="+mj-lt"/>
              <a:buAutoNum type="arabicPeriod"/>
            </a:pPr>
            <a:r>
              <a:rPr lang="zh-CN" altLang="en-US" sz="2400" b="0" i="0" dirty="0">
                <a:solidFill>
                  <a:srgbClr val="333333"/>
                </a:solidFill>
                <a:effectLst/>
                <a:latin typeface="-apple-system"/>
              </a:rPr>
              <a:t>‌</a:t>
            </a:r>
            <a:r>
              <a:rPr lang="zh-CN" altLang="en-US" sz="2400" b="1" i="0" dirty="0">
                <a:solidFill>
                  <a:srgbClr val="333333"/>
                </a:solidFill>
                <a:effectLst/>
                <a:latin typeface="-apple-system"/>
              </a:rPr>
              <a:t>零知识（</a:t>
            </a:r>
            <a:r>
              <a:rPr lang="en" altLang="zh-CN" sz="2400" b="1" i="0" dirty="0">
                <a:solidFill>
                  <a:srgbClr val="333333"/>
                </a:solidFill>
                <a:effectLst/>
                <a:latin typeface="-apple-system"/>
              </a:rPr>
              <a:t>Zero-knowledge</a:t>
            </a:r>
            <a:r>
              <a:rPr lang="zh-CN" altLang="en" sz="2400" b="1" i="0" dirty="0">
                <a:solidFill>
                  <a:srgbClr val="333333"/>
                </a:solidFill>
                <a:effectLst/>
                <a:latin typeface="-apple-system"/>
              </a:rPr>
              <a:t>）</a:t>
            </a:r>
            <a:r>
              <a:rPr lang="en" altLang="zh-CN" sz="2400" b="0" i="0" dirty="0">
                <a:solidFill>
                  <a:srgbClr val="333333"/>
                </a:solidFill>
                <a:effectLst/>
                <a:latin typeface="-apple-system"/>
              </a:rPr>
              <a:t>‌</a:t>
            </a:r>
            <a:r>
              <a:rPr lang="zh-CN" altLang="en" sz="2400" b="0" i="0" dirty="0">
                <a:solidFill>
                  <a:srgbClr val="333333"/>
                </a:solidFill>
                <a:effectLst/>
                <a:latin typeface="-apple-system"/>
              </a:rPr>
              <a:t>：</a:t>
            </a:r>
            <a:r>
              <a:rPr lang="zh-CN" altLang="en-US" sz="2400" b="0" i="0" dirty="0">
                <a:solidFill>
                  <a:srgbClr val="333333"/>
                </a:solidFill>
                <a:effectLst/>
                <a:latin typeface="-apple-system"/>
              </a:rPr>
              <a:t>证明者在向验证者提供证明的过程中不泄漏任何除陈述正确性之外的信息‌</a:t>
            </a:r>
            <a:r>
              <a:rPr lang="en-US" altLang="zh-CN" sz="2400" b="0" i="0" dirty="0">
                <a:solidFill>
                  <a:srgbClr val="333333"/>
                </a:solidFill>
                <a:effectLst/>
                <a:latin typeface="-apple-system"/>
              </a:rPr>
              <a:t>12</a:t>
            </a:r>
            <a:r>
              <a:rPr lang="zh-CN" altLang="en-US" sz="2400" b="0" i="0" dirty="0">
                <a:solidFill>
                  <a:srgbClr val="333333"/>
                </a:solidFill>
                <a:effectLst/>
                <a:latin typeface="-apple-system"/>
              </a:rPr>
              <a:t>。</a:t>
            </a:r>
          </a:p>
        </p:txBody>
      </p:sp>
    </p:spTree>
    <p:custDataLst>
      <p:tags r:id="rId1"/>
    </p:custDataLst>
    <p:extLst>
      <p:ext uri="{BB962C8B-B14F-4D97-AF65-F5344CB8AC3E}">
        <p14:creationId xmlns:p14="http://schemas.microsoft.com/office/powerpoint/2010/main" val="3866813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4E73F-47AE-9DDC-A685-B5D5731577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75953EF-2DDB-F852-A007-3C7C4E573E99}"/>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零知识证明协议</a:t>
            </a:r>
          </a:p>
        </p:txBody>
      </p:sp>
      <p:sp>
        <p:nvSpPr>
          <p:cNvPr id="3" name="灯片编号占位符 2">
            <a:extLst>
              <a:ext uri="{FF2B5EF4-FFF2-40B4-BE49-F238E27FC236}">
                <a16:creationId xmlns:a16="http://schemas.microsoft.com/office/drawing/2014/main" id="{432F65BC-2809-A20E-47D8-8345E3C18802}"/>
              </a:ext>
            </a:extLst>
          </p:cNvPr>
          <p:cNvSpPr>
            <a:spLocks noGrp="1"/>
          </p:cNvSpPr>
          <p:nvPr>
            <p:ph type="sldNum" sz="quarter" idx="12"/>
          </p:nvPr>
        </p:nvSpPr>
        <p:spPr/>
        <p:txBody>
          <a:bodyPr/>
          <a:lstStyle/>
          <a:p>
            <a:fld id="{4DBDE2CB-4801-494F-A0A4-D49D70804842}" type="slidenum">
              <a:rPr lang="zh-CN" altLang="en-US" smtClean="0"/>
              <a:t>30</a:t>
            </a:fld>
            <a:endParaRPr lang="zh-CN" altLang="en-US" dirty="0"/>
          </a:p>
        </p:txBody>
      </p:sp>
      <p:sp>
        <p:nvSpPr>
          <p:cNvPr id="6" name="文本框 5">
            <a:extLst>
              <a:ext uri="{FF2B5EF4-FFF2-40B4-BE49-F238E27FC236}">
                <a16:creationId xmlns:a16="http://schemas.microsoft.com/office/drawing/2014/main" id="{7DD1A4A5-2114-A1C3-14C3-369843237897}"/>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6.2 </a:t>
            </a:r>
            <a:r>
              <a:rPr lang="zh-CN" altLang="en-US" sz="2400" b="1" dirty="0">
                <a:solidFill>
                  <a:srgbClr val="FF0000"/>
                </a:solidFill>
                <a:latin typeface="+mn-ea"/>
              </a:rPr>
              <a:t>零知识证明协议</a:t>
            </a:r>
          </a:p>
        </p:txBody>
      </p:sp>
      <p:sp>
        <p:nvSpPr>
          <p:cNvPr id="5" name="Rectangle 3">
            <a:extLst>
              <a:ext uri="{FF2B5EF4-FFF2-40B4-BE49-F238E27FC236}">
                <a16:creationId xmlns:a16="http://schemas.microsoft.com/office/drawing/2014/main" id="{17291E13-5B79-A171-828B-70EDC6BCB664}"/>
              </a:ext>
            </a:extLst>
          </p:cNvPr>
          <p:cNvSpPr txBox="1">
            <a:spLocks noChangeArrowheads="1"/>
          </p:cNvSpPr>
          <p:nvPr/>
        </p:nvSpPr>
        <p:spPr>
          <a:xfrm>
            <a:off x="458850" y="1848458"/>
            <a:ext cx="8415338"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itchFamily="2" charset="2"/>
              <a:buNone/>
            </a:pPr>
            <a:r>
              <a:rPr lang="zh-CN" altLang="en-US" b="1" dirty="0">
                <a:solidFill>
                  <a:schemeClr val="folHlink"/>
                </a:solidFill>
                <a:latin typeface="Times New Roman" panose="02020603050405020304" pitchFamily="18" charset="0"/>
              </a:rPr>
              <a:t>关于零知识证明的若干说明</a:t>
            </a:r>
          </a:p>
          <a:p>
            <a:pPr>
              <a:buFont typeface="Wingdings" pitchFamily="2" charset="2"/>
              <a:buNone/>
            </a:pPr>
            <a:r>
              <a:rPr lang="en-US" altLang="zh-CN" b="1" dirty="0">
                <a:latin typeface="Times New Roman" panose="02020603050405020304" pitchFamily="18" charset="0"/>
              </a:rPr>
              <a:t>①</a:t>
            </a:r>
            <a:r>
              <a:rPr lang="zh-CN" altLang="en-US" dirty="0">
                <a:latin typeface="Times New Roman" panose="02020603050405020304" pitchFamily="18" charset="0"/>
              </a:rPr>
              <a:t>验证</a:t>
            </a:r>
            <a:r>
              <a:rPr lang="en-US" altLang="zh-CN" dirty="0">
                <a:latin typeface="Times New Roman" panose="02020603050405020304" pitchFamily="18" charset="0"/>
              </a:rPr>
              <a:t>/</a:t>
            </a:r>
            <a:r>
              <a:rPr lang="zh-CN" altLang="en-US" dirty="0">
                <a:latin typeface="Times New Roman" panose="02020603050405020304" pitchFamily="18" charset="0"/>
              </a:rPr>
              <a:t>证明过程不能由</a:t>
            </a:r>
            <a:r>
              <a:rPr lang="en-US" altLang="zh-CN" dirty="0">
                <a:latin typeface="Times New Roman" panose="02020603050405020304" pitchFamily="18" charset="0"/>
              </a:rPr>
              <a:t>P</a:t>
            </a:r>
            <a:r>
              <a:rPr lang="zh-CN" altLang="en-US" dirty="0">
                <a:latin typeface="Times New Roman" panose="02020603050405020304" pitchFamily="18" charset="0"/>
              </a:rPr>
              <a:t>决定，而应该由</a:t>
            </a:r>
            <a:r>
              <a:rPr lang="en-US" altLang="zh-CN" dirty="0">
                <a:latin typeface="Times New Roman" panose="02020603050405020304" pitchFamily="18" charset="0"/>
              </a:rPr>
              <a:t>V</a:t>
            </a:r>
            <a:r>
              <a:rPr lang="zh-CN" altLang="en-US" dirty="0">
                <a:latin typeface="Times New Roman" panose="02020603050405020304" pitchFamily="18" charset="0"/>
              </a:rPr>
              <a:t>决定。</a:t>
            </a:r>
            <a:r>
              <a:rPr lang="en-US" altLang="zh-CN" dirty="0">
                <a:latin typeface="Times New Roman" panose="02020603050405020304" pitchFamily="18" charset="0"/>
              </a:rPr>
              <a:t>V</a:t>
            </a:r>
            <a:r>
              <a:rPr lang="zh-CN" altLang="en-US" dirty="0">
                <a:latin typeface="Times New Roman" panose="02020603050405020304" pitchFamily="18" charset="0"/>
              </a:rPr>
              <a:t>提问（</a:t>
            </a:r>
            <a:r>
              <a:rPr lang="en-US" altLang="zh-CN" dirty="0">
                <a:latin typeface="Times New Roman" panose="02020603050405020304" pitchFamily="18" charset="0"/>
              </a:rPr>
              <a:t>challenge</a:t>
            </a:r>
            <a:r>
              <a:rPr lang="zh-CN" altLang="en-US" dirty="0">
                <a:latin typeface="Times New Roman" panose="02020603050405020304" pitchFamily="18" charset="0"/>
              </a:rPr>
              <a:t>），</a:t>
            </a:r>
            <a:r>
              <a:rPr lang="en-US" altLang="zh-CN" dirty="0">
                <a:latin typeface="Times New Roman" panose="02020603050405020304" pitchFamily="18" charset="0"/>
              </a:rPr>
              <a:t>P</a:t>
            </a:r>
            <a:r>
              <a:rPr lang="zh-CN" altLang="en-US" dirty="0">
                <a:latin typeface="Times New Roman" panose="02020603050405020304" pitchFamily="18" charset="0"/>
              </a:rPr>
              <a:t>回答（</a:t>
            </a:r>
            <a:r>
              <a:rPr lang="en-US" altLang="zh-CN" dirty="0">
                <a:latin typeface="Times New Roman" panose="02020603050405020304" pitchFamily="18" charset="0"/>
              </a:rPr>
              <a:t>reply</a:t>
            </a:r>
            <a:r>
              <a:rPr lang="zh-CN" altLang="en-US" dirty="0">
                <a:latin typeface="Times New Roman" panose="02020603050405020304" pitchFamily="18" charset="0"/>
              </a:rPr>
              <a:t>）。因此零知识证明是一个交互证明过程。</a:t>
            </a:r>
            <a:endParaRPr lang="en-US" altLang="zh-CN" dirty="0">
              <a:latin typeface="Times New Roman" panose="02020603050405020304" pitchFamily="18" charset="0"/>
            </a:endParaRPr>
          </a:p>
          <a:p>
            <a:pPr>
              <a:buFont typeface="Wingdings" pitchFamily="2" charset="2"/>
              <a:buNone/>
            </a:pPr>
            <a:r>
              <a:rPr lang="en-US" altLang="zh-CN" b="1" dirty="0">
                <a:latin typeface="Times New Roman" panose="02020603050405020304" pitchFamily="18" charset="0"/>
              </a:rPr>
              <a:t>②</a:t>
            </a:r>
            <a:r>
              <a:rPr lang="zh-CN" altLang="en-US" dirty="0">
                <a:latin typeface="Times New Roman" panose="02020603050405020304" pitchFamily="18" charset="0"/>
              </a:rPr>
              <a:t>每一次</a:t>
            </a:r>
            <a:r>
              <a:rPr lang="en-US" altLang="zh-CN" dirty="0">
                <a:latin typeface="Times New Roman" panose="02020603050405020304" pitchFamily="18" charset="0"/>
              </a:rPr>
              <a:t>V</a:t>
            </a:r>
            <a:r>
              <a:rPr lang="zh-CN" altLang="en-US" dirty="0">
                <a:latin typeface="Times New Roman" panose="02020603050405020304" pitchFamily="18" charset="0"/>
              </a:rPr>
              <a:t>向</a:t>
            </a:r>
            <a:r>
              <a:rPr lang="en-US" altLang="zh-CN" dirty="0">
                <a:latin typeface="Times New Roman" panose="02020603050405020304" pitchFamily="18" charset="0"/>
              </a:rPr>
              <a:t>P</a:t>
            </a:r>
            <a:r>
              <a:rPr lang="zh-CN" altLang="en-US" dirty="0">
                <a:latin typeface="Times New Roman" panose="02020603050405020304" pitchFamily="18" charset="0"/>
              </a:rPr>
              <a:t>提问，若</a:t>
            </a:r>
            <a:r>
              <a:rPr lang="en-US" altLang="zh-CN" dirty="0">
                <a:latin typeface="Times New Roman" panose="02020603050405020304" pitchFamily="18" charset="0"/>
              </a:rPr>
              <a:t>P</a:t>
            </a:r>
            <a:r>
              <a:rPr lang="zh-CN" altLang="en-US" dirty="0">
                <a:latin typeface="Times New Roman" panose="02020603050405020304" pitchFamily="18" charset="0"/>
              </a:rPr>
              <a:t>知道秘密则可正确回答</a:t>
            </a:r>
            <a:r>
              <a:rPr lang="en-US" altLang="zh-CN" dirty="0">
                <a:latin typeface="Times New Roman" panose="02020603050405020304" pitchFamily="18" charset="0"/>
              </a:rPr>
              <a:t>V</a:t>
            </a:r>
            <a:r>
              <a:rPr lang="zh-CN" altLang="en-US" dirty="0">
                <a:latin typeface="Times New Roman" panose="02020603050405020304" pitchFamily="18" charset="0"/>
              </a:rPr>
              <a:t>的提问；若</a:t>
            </a:r>
            <a:r>
              <a:rPr lang="en-US" altLang="zh-CN" dirty="0">
                <a:latin typeface="Times New Roman" panose="02020603050405020304" pitchFamily="18" charset="0"/>
              </a:rPr>
              <a:t>P</a:t>
            </a:r>
            <a:r>
              <a:rPr lang="zh-CN" altLang="en-US" dirty="0">
                <a:latin typeface="Times New Roman" panose="02020603050405020304" pitchFamily="18" charset="0"/>
              </a:rPr>
              <a:t>不知道秘密，则对提问给出正确回答概率仅为1/2。</a:t>
            </a:r>
            <a:r>
              <a:rPr lang="en-US" altLang="zh-CN" dirty="0">
                <a:latin typeface="Times New Roman" panose="02020603050405020304" pitchFamily="18" charset="0"/>
              </a:rPr>
              <a:t>V</a:t>
            </a:r>
            <a:r>
              <a:rPr lang="zh-CN" altLang="en-US" dirty="0">
                <a:latin typeface="Times New Roman" panose="02020603050405020304" pitchFamily="18" charset="0"/>
              </a:rPr>
              <a:t>以足够多的提问就可推定</a:t>
            </a:r>
            <a:r>
              <a:rPr lang="en-US" altLang="zh-CN" dirty="0">
                <a:latin typeface="Times New Roman" panose="02020603050405020304" pitchFamily="18" charset="0"/>
              </a:rPr>
              <a:t>P</a:t>
            </a:r>
            <a:r>
              <a:rPr lang="zh-CN" altLang="en-US" dirty="0">
                <a:latin typeface="Times New Roman" panose="02020603050405020304" pitchFamily="18" charset="0"/>
              </a:rPr>
              <a:t>是否知道秘密。</a:t>
            </a:r>
          </a:p>
          <a:p>
            <a:pPr>
              <a:buFont typeface="Wingdings" pitchFamily="2" charset="2"/>
              <a:buNone/>
            </a:pPr>
            <a:r>
              <a:rPr lang="en-US" altLang="zh-CN" b="1" dirty="0">
                <a:latin typeface="Times New Roman" panose="02020603050405020304" pitchFamily="18" charset="0"/>
              </a:rPr>
              <a:t>③</a:t>
            </a:r>
            <a:r>
              <a:rPr lang="zh-CN" altLang="en-US" dirty="0">
                <a:latin typeface="Times New Roman" panose="02020603050405020304" pitchFamily="18" charset="0"/>
              </a:rPr>
              <a:t>要保证这些提问及其相应的回答不会泄露秘密。</a:t>
            </a:r>
            <a:endParaRPr lang="en-US" altLang="zh-CN"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4260682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安全多方计算协议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31</a:t>
            </a:fld>
            <a:endParaRPr lang="zh-CN" altLang="en-US"/>
          </a:p>
        </p:txBody>
      </p:sp>
      <p:sp>
        <p:nvSpPr>
          <p:cNvPr id="5" name="文本框 4"/>
          <p:cNvSpPr txBox="1"/>
          <p:nvPr/>
        </p:nvSpPr>
        <p:spPr>
          <a:xfrm>
            <a:off x="312517" y="1576777"/>
            <a:ext cx="8502299" cy="4769960"/>
          </a:xfrm>
          <a:prstGeom prst="rect">
            <a:avLst/>
          </a:prstGeom>
          <a:noFill/>
        </p:spPr>
        <p:txBody>
          <a:bodyPr wrap="square" rtlCol="0">
            <a:spAutoFit/>
          </a:bodyPr>
          <a:lstStyle/>
          <a:p>
            <a:pPr marL="342900" indent="-342900" algn="just">
              <a:lnSpc>
                <a:spcPct val="130000"/>
              </a:lnSpc>
              <a:spcBef>
                <a:spcPts val="600"/>
              </a:spcBef>
              <a:buFont typeface="Wingdings" panose="05000000000000000000" pitchFamily="2" charset="2"/>
              <a:buChar char="l"/>
            </a:pPr>
            <a:r>
              <a:rPr lang="zh-CN" altLang="en-US" sz="1900" b="1" dirty="0">
                <a:solidFill>
                  <a:srgbClr val="0000FF"/>
                </a:solidFill>
              </a:rPr>
              <a:t>安全多方计算（</a:t>
            </a:r>
            <a:r>
              <a:rPr lang="en-US" altLang="zh-CN" sz="1900" b="1" dirty="0">
                <a:solidFill>
                  <a:srgbClr val="0000FF"/>
                </a:solidFill>
              </a:rPr>
              <a:t>Secure Multi-Party Computation</a:t>
            </a:r>
            <a:r>
              <a:rPr lang="zh-CN" altLang="en-US" sz="1900" b="1" dirty="0">
                <a:solidFill>
                  <a:srgbClr val="0000FF"/>
                </a:solidFill>
              </a:rPr>
              <a:t>，</a:t>
            </a:r>
            <a:r>
              <a:rPr lang="en-US" altLang="zh-CN" sz="1900" b="1" dirty="0">
                <a:solidFill>
                  <a:srgbClr val="0000FF"/>
                </a:solidFill>
              </a:rPr>
              <a:t>MPC</a:t>
            </a:r>
            <a:r>
              <a:rPr lang="zh-CN" altLang="en-US" sz="1900" b="1" dirty="0">
                <a:solidFill>
                  <a:srgbClr val="0000FF"/>
                </a:solidFill>
              </a:rPr>
              <a:t>）</a:t>
            </a:r>
            <a:r>
              <a:rPr lang="zh-CN" altLang="en-US" sz="1900" dirty="0"/>
              <a:t>起源于</a:t>
            </a:r>
            <a:r>
              <a:rPr lang="en-US" altLang="zh-CN" sz="1900" dirty="0"/>
              <a:t>1982</a:t>
            </a:r>
            <a:r>
              <a:rPr lang="zh-CN" altLang="en-US" sz="1900" dirty="0"/>
              <a:t>年姚期智的百万富翁问题。安全多方计算主要研究的是在无可信第三方且保护用户输入隐私的情况下，安全地计算一个约定函数的问题。安全多方计算是构造许多安全协议的基础模块。</a:t>
            </a:r>
            <a:endParaRPr lang="en-US" altLang="zh-CN" sz="1900" dirty="0"/>
          </a:p>
          <a:p>
            <a:pPr marL="342900" indent="-342900" algn="just">
              <a:lnSpc>
                <a:spcPct val="130000"/>
              </a:lnSpc>
              <a:spcBef>
                <a:spcPts val="600"/>
              </a:spcBef>
              <a:buFont typeface="Wingdings" panose="05000000000000000000" pitchFamily="2" charset="2"/>
              <a:buChar char="l"/>
            </a:pPr>
            <a:r>
              <a:rPr lang="zh-CN" altLang="en-US" sz="1900" b="1" dirty="0">
                <a:solidFill>
                  <a:srgbClr val="0000FF"/>
                </a:solidFill>
              </a:rPr>
              <a:t>安全外包计算（</a:t>
            </a:r>
            <a:r>
              <a:rPr lang="en-US" altLang="zh-CN" sz="1900" b="1" dirty="0">
                <a:solidFill>
                  <a:srgbClr val="0000FF"/>
                </a:solidFill>
              </a:rPr>
              <a:t>Secure Outsourced Computation</a:t>
            </a:r>
            <a:r>
              <a:rPr lang="zh-CN" altLang="en-US" sz="1900" b="1" dirty="0">
                <a:solidFill>
                  <a:srgbClr val="0000FF"/>
                </a:solidFill>
              </a:rPr>
              <a:t>）</a:t>
            </a:r>
            <a:r>
              <a:rPr lang="zh-CN" altLang="en-US" sz="1900" dirty="0"/>
              <a:t>指资源有限的用户讲计算或存储任务外包给资源丰富的实体如云服务器，并且以按需付费的方式购买服务。外包计算也要满足机密性、可验证性和高效性。</a:t>
            </a:r>
            <a:endParaRPr lang="en-US" altLang="zh-CN" sz="1900" dirty="0"/>
          </a:p>
          <a:p>
            <a:pPr marL="342900" indent="-342900" algn="just">
              <a:lnSpc>
                <a:spcPct val="130000"/>
              </a:lnSpc>
              <a:spcBef>
                <a:spcPts val="600"/>
              </a:spcBef>
              <a:buFont typeface="Wingdings" panose="05000000000000000000" pitchFamily="2" charset="2"/>
              <a:buChar char="l"/>
            </a:pPr>
            <a:r>
              <a:rPr lang="zh-CN" altLang="en-US" sz="1900" b="1" dirty="0">
                <a:solidFill>
                  <a:srgbClr val="0000FF"/>
                </a:solidFill>
              </a:rPr>
              <a:t>安全多方计算和外包计算的区别</a:t>
            </a:r>
            <a:r>
              <a:rPr lang="zh-CN" altLang="en-US" sz="1900" b="1" dirty="0"/>
              <a:t>：</a:t>
            </a:r>
            <a:r>
              <a:rPr lang="zh-CN" altLang="en-US" sz="1900" dirty="0"/>
              <a:t>在外包计算中，计算资源通常不对等，云服务器往往有更大的计算能力，而用户只是将计算任务外包给云服务器并参与极少的运算，云服务器将计算结果发给用户；而在安全多方计算中，有多个参与者共同参与计算，每个参与者拥有的计算资源通常是对等的而且每个参与者的计算量也是近似对等的。</a:t>
            </a:r>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7.1 </a:t>
            </a:r>
            <a:r>
              <a:rPr lang="zh-CN" altLang="en-US" sz="2400" b="1" dirty="0">
                <a:solidFill>
                  <a:srgbClr val="FF0000"/>
                </a:solidFill>
                <a:latin typeface="+mn-ea"/>
              </a:rPr>
              <a:t>安全多方计算协议的基本概念</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安全多方计算协议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32</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7.2 </a:t>
            </a:r>
            <a:r>
              <a:rPr lang="zh-CN" altLang="en-US" sz="2400" b="1" dirty="0">
                <a:solidFill>
                  <a:srgbClr val="FF0000"/>
                </a:solidFill>
                <a:latin typeface="+mn-ea"/>
              </a:rPr>
              <a:t>百万富翁问题</a:t>
            </a:r>
          </a:p>
        </p:txBody>
      </p:sp>
      <mc:AlternateContent xmlns:mc="http://schemas.openxmlformats.org/markup-compatibility/2006" xmlns:a14="http://schemas.microsoft.com/office/drawing/2010/main">
        <mc:Choice Requires="a14">
          <p:sp>
            <p:nvSpPr>
              <p:cNvPr id="11" name="文本框 10"/>
              <p:cNvSpPr txBox="1"/>
              <p:nvPr/>
            </p:nvSpPr>
            <p:spPr>
              <a:xfrm>
                <a:off x="312517" y="1675789"/>
                <a:ext cx="8479945" cy="3921202"/>
              </a:xfrm>
              <a:prstGeom prst="rect">
                <a:avLst/>
              </a:prstGeom>
              <a:noFill/>
            </p:spPr>
            <p:txBody>
              <a:bodyPr wrap="square" rtlCol="0">
                <a:spAutoFit/>
              </a:bodyPr>
              <a:lstStyle/>
              <a:p>
                <a:pPr algn="just">
                  <a:lnSpc>
                    <a:spcPct val="15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百万富翁问题 </a:t>
                </a:r>
                <a:r>
                  <a:rPr lang="zh-CN" altLang="en-US" sz="2000" dirty="0">
                    <a:latin typeface="Times New Roman" panose="02020603050405020304" pitchFamily="18" charset="0"/>
                    <a:cs typeface="Times New Roman" panose="02020603050405020304" pitchFamily="18" charset="0"/>
                  </a:rPr>
                  <a:t>最早在 </a:t>
                </a:r>
                <a:r>
                  <a:rPr lang="en-US" altLang="zh-CN" sz="2000" dirty="0">
                    <a:latin typeface="Times New Roman" panose="02020603050405020304" pitchFamily="18" charset="0"/>
                    <a:cs typeface="Times New Roman" panose="02020603050405020304" pitchFamily="18" charset="0"/>
                  </a:rPr>
                  <a:t>1982 </a:t>
                </a:r>
                <a:r>
                  <a:rPr lang="zh-CN" altLang="en-US" sz="2000" dirty="0">
                    <a:latin typeface="Times New Roman" panose="02020603050405020304" pitchFamily="18" charset="0"/>
                    <a:cs typeface="Times New Roman" panose="02020603050405020304" pitchFamily="18" charset="0"/>
                  </a:rPr>
                  <a:t>年由姚期智提出，即在没有可信第三方参与的情况下，两个富翁比较谁更富有，但是不能自己的财富泄露给对方。</a:t>
                </a:r>
                <a:endParaRPr lang="en-US" altLang="zh-CN" sz="2000"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zh-CN" altLang="en-US" sz="2000" dirty="0">
                    <a:latin typeface="Times New Roman" panose="02020603050405020304" pitchFamily="18" charset="0"/>
                    <a:cs typeface="Times New Roman" panose="02020603050405020304" pitchFamily="18" charset="0"/>
                  </a:rPr>
                  <a:t>       假设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的财富值为</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𝑖</m:t>
                    </m:r>
                    <m:r>
                      <a:rPr lang="en-US" altLang="zh-CN" sz="2000" i="1">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Bob </a:t>
                </a:r>
                <a:r>
                  <a:rPr lang="zh-CN" altLang="en-US" sz="2000" dirty="0">
                    <a:latin typeface="Times New Roman" panose="02020603050405020304" pitchFamily="18" charset="0"/>
                    <a:cs typeface="Times New Roman" panose="02020603050405020304" pitchFamily="18" charset="0"/>
                  </a:rPr>
                  <a:t>的财富值为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𝑗</m:t>
                    </m:r>
                  </m:oMath>
                </a14:m>
                <a:r>
                  <a:rPr lang="zh-CN" altLang="en-US" sz="2000" dirty="0">
                    <a:latin typeface="Times New Roman" panose="02020603050405020304" pitchFamily="18" charset="0"/>
                    <a:cs typeface="Times New Roman" panose="02020603050405020304" pitchFamily="18" charset="0"/>
                  </a:rPr>
                  <a:t>，其中 </a:t>
                </a:r>
                <a14:m>
                  <m:oMath xmlns:m="http://schemas.openxmlformats.org/officeDocument/2006/math">
                    <m:r>
                      <a:rPr lang="en-US" altLang="zh-CN" sz="2000" i="1">
                        <a:latin typeface="Cambria Math" panose="02040503050406030204" pitchFamily="18" charset="0"/>
                        <a:cs typeface="Times New Roman" panose="02020603050405020304" pitchFamily="18" charset="0"/>
                      </a:rPr>
                      <m:t>1</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𝑗</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≤10 </m:t>
                    </m:r>
                  </m:oMath>
                </a14:m>
                <a:r>
                  <a:rPr lang="zh-CN" altLang="en-US" sz="2000" dirty="0">
                    <a:latin typeface="Times New Roman" panose="02020603050405020304" pitchFamily="18" charset="0"/>
                    <a:cs typeface="Times New Roman" panose="02020603050405020304" pitchFamily="18" charset="0"/>
                  </a:rPr>
                  <a:t>。如何在不泄露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𝑖</m:t>
                    </m:r>
                  </m:oMath>
                </a14:m>
                <a:r>
                  <a:rPr lang="zh-CN" altLang="en-US" sz="2000" dirty="0">
                    <a:latin typeface="Times New Roman" panose="02020603050405020304" pitchFamily="18" charset="0"/>
                    <a:cs typeface="Times New Roman" panose="02020603050405020304" pitchFamily="18" charset="0"/>
                  </a:rPr>
                  <a:t> 和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𝑗</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的前提下获得两者之间的大小关系呢？协议如下：</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spcBef>
                    <a:spcPts val="1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选择一个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𝑁</m:t>
                    </m:r>
                  </m:oMath>
                </a14:m>
                <a:r>
                  <a:rPr lang="zh-CN" altLang="en-US" sz="1900" dirty="0">
                    <a:latin typeface="Times New Roman" panose="02020603050405020304" pitchFamily="18" charset="0"/>
                    <a:cs typeface="Times New Roman" panose="02020603050405020304" pitchFamily="18" charset="0"/>
                  </a:rPr>
                  <a:t> 比特的随机数</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𝑥</m:t>
                    </m:r>
                  </m:oMath>
                </a14:m>
                <a:r>
                  <a:rPr lang="zh-CN" altLang="en-US" sz="1900" dirty="0">
                    <a:latin typeface="Times New Roman" panose="02020603050405020304" pitchFamily="18" charset="0"/>
                    <a:cs typeface="Times New Roman" panose="02020603050405020304" pitchFamily="18" charset="0"/>
                  </a:rPr>
                  <a:t>，使用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的公钥对其加密得到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𝑘</m:t>
                    </m:r>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𝐸𝑛𝑐</m:t>
                        </m:r>
                      </m:e>
                      <m:sub>
                        <m:r>
                          <a:rPr lang="en-US" altLang="zh-CN" sz="1900" i="1">
                            <a:latin typeface="Cambria Math" panose="02040503050406030204" pitchFamily="18" charset="0"/>
                            <a:cs typeface="Times New Roman" panose="02020603050405020304" pitchFamily="18" charset="0"/>
                          </a:rPr>
                          <m:t>𝑝𝑘</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𝑥</m:t>
                    </m:r>
                    <m:r>
                      <a:rPr lang="en-US" altLang="zh-CN"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 ；</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50000"/>
                  </a:lnSpc>
                  <a:spcBef>
                    <a:spcPts val="1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计算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𝑆</m:t>
                        </m:r>
                      </m:e>
                      <m:sub>
                        <m:r>
                          <m:rPr>
                            <m:sty m:val="p"/>
                          </m:rPr>
                          <a:rPr lang="en-US" altLang="zh-CN" sz="1900" i="0">
                            <a:latin typeface="Cambria Math" panose="02040503050406030204" pitchFamily="18" charset="0"/>
                            <a:cs typeface="Times New Roman" panose="02020603050405020304" pitchFamily="18" charset="0"/>
                          </a:rPr>
                          <m:t>Bob</m:t>
                        </m:r>
                      </m:sub>
                    </m:sSub>
                    <m:d>
                      <m:dPr>
                        <m:ctrlPr>
                          <a:rPr lang="en-US" altLang="zh-CN" sz="1900" i="1">
                            <a:latin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cs typeface="Times New Roman" panose="02020603050405020304" pitchFamily="18" charset="0"/>
                          </a:rPr>
                          <m:t>𝑥</m:t>
                        </m:r>
                      </m:e>
                    </m:d>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𝑘</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+1</m:t>
                    </m:r>
                  </m:oMath>
                </a14:m>
                <a:r>
                  <a:rPr lang="zh-CN" altLang="en-US" sz="1900" dirty="0">
                    <a:latin typeface="Times New Roman" panose="02020603050405020304" pitchFamily="18" charset="0"/>
                    <a:cs typeface="Times New Roman" panose="02020603050405020304" pitchFamily="18" charset="0"/>
                  </a:rPr>
                  <a:t>，并将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𝑆</m:t>
                        </m:r>
                      </m:e>
                      <m:sub>
                        <m:r>
                          <m:rPr>
                            <m:sty m:val="p"/>
                          </m:rPr>
                          <a:rPr lang="en-US" altLang="zh-CN" sz="1900" i="0">
                            <a:latin typeface="Cambria Math" panose="02040503050406030204" pitchFamily="18" charset="0"/>
                            <a:cs typeface="Times New Roman" panose="02020603050405020304" pitchFamily="18" charset="0"/>
                          </a:rPr>
                          <m:t>Bob</m:t>
                        </m:r>
                      </m:sub>
                    </m:sSub>
                  </m:oMath>
                </a14:m>
                <a:r>
                  <a:rPr lang="zh-CN" altLang="en-US" sz="1900" dirty="0">
                    <a:latin typeface="Times New Roman" panose="02020603050405020304" pitchFamily="18" charset="0"/>
                    <a:cs typeface="Times New Roman" panose="02020603050405020304" pitchFamily="18" charset="0"/>
                  </a:rPr>
                  <a:t> 发送给 </a:t>
                </a:r>
                <a:r>
                  <a:rPr lang="en-US" altLang="zh-CN" sz="190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lgn="just">
                  <a:lnSpc>
                    <a:spcPct val="120000"/>
                  </a:lnSpc>
                  <a:spcBef>
                    <a:spcPts val="100"/>
                  </a:spcBef>
                </a:pP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12517" y="1675789"/>
                <a:ext cx="8479945" cy="3921202"/>
              </a:xfrm>
              <a:prstGeom prst="rect">
                <a:avLst/>
              </a:prstGeom>
              <a:blipFill rotWithShape="1">
                <a:blip r:embed="rId2"/>
                <a:stretch>
                  <a:fillRect l="-1" t="-1" r="3" b="3"/>
                </a:stretch>
              </a:blipFill>
            </p:spPr>
            <p:txBody>
              <a:bodyPr/>
              <a:lstStyle/>
              <a:p>
                <a:r>
                  <a:rPr lang="zh-CN" altLang="en-US">
                    <a:noFill/>
                  </a:rPr>
                  <a:t> </a:t>
                </a:r>
              </a:p>
            </p:txBody>
          </p:sp>
        </mc:Fallback>
      </mc:AlternateContent>
      <p:sp>
        <p:nvSpPr>
          <p:cNvPr id="5" name="矩形 4"/>
          <p:cNvSpPr/>
          <p:nvPr/>
        </p:nvSpPr>
        <p:spPr>
          <a:xfrm>
            <a:off x="312518" y="5917324"/>
            <a:ext cx="8479944" cy="584775"/>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[3] Yao, Andrew C. "Protocols for secure computations." In 23rd Annual Symposium on Foundations of Computer Science (FOCS 1982), 160-164.</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安全多方计算协议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33</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7.2 </a:t>
            </a:r>
            <a:r>
              <a:rPr lang="zh-CN" altLang="en-US" sz="2400" b="1" dirty="0">
                <a:solidFill>
                  <a:srgbClr val="FF0000"/>
                </a:solidFill>
                <a:latin typeface="+mn-ea"/>
              </a:rPr>
              <a:t>百万富翁问题</a:t>
            </a:r>
          </a:p>
        </p:txBody>
      </p:sp>
      <mc:AlternateContent xmlns:mc="http://schemas.openxmlformats.org/markup-compatibility/2006" xmlns:a14="http://schemas.microsoft.com/office/drawing/2010/main">
        <mc:Choice Requires="a14">
          <p:sp>
            <p:nvSpPr>
              <p:cNvPr id="11" name="文本框 10"/>
              <p:cNvSpPr txBox="1"/>
              <p:nvPr/>
            </p:nvSpPr>
            <p:spPr>
              <a:xfrm>
                <a:off x="248509" y="1652141"/>
                <a:ext cx="8479945" cy="4639860"/>
              </a:xfrm>
              <a:prstGeom prst="rect">
                <a:avLst/>
              </a:prstGeom>
              <a:noFill/>
            </p:spPr>
            <p:txBody>
              <a:bodyPr wrap="square" rtlCol="0">
                <a:spAutoFit/>
              </a:bodyPr>
              <a:lstStyle/>
              <a:p>
                <a:pPr marL="342900" indent="-342900" algn="just">
                  <a:lnSpc>
                    <a:spcPct val="150000"/>
                  </a:lnSpc>
                  <a:spcBef>
                    <a:spcPts val="6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利用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𝑆</m:t>
                        </m:r>
                      </m:e>
                      <m:sub>
                        <m:r>
                          <m:rPr>
                            <m:sty m:val="p"/>
                          </m:rPr>
                          <a:rPr lang="en-US" altLang="zh-CN" sz="1900">
                            <a:latin typeface="Cambria Math" panose="02040503050406030204" pitchFamily="18" charset="0"/>
                            <a:cs typeface="Times New Roman" panose="02020603050405020304" pitchFamily="18" charset="0"/>
                          </a:rPr>
                          <m:t>Bob</m:t>
                        </m:r>
                      </m:sub>
                    </m:sSub>
                  </m:oMath>
                </a14:m>
                <a:r>
                  <a:rPr lang="zh-CN" altLang="en-US" sz="1900" dirty="0">
                    <a:latin typeface="Times New Roman" panose="02020603050405020304" pitchFamily="18" charset="0"/>
                    <a:cs typeface="Times New Roman" panose="02020603050405020304" pitchFamily="18" charset="0"/>
                  </a:rPr>
                  <a:t> 计算 </a:t>
                </a:r>
                <a:r>
                  <a:rPr lang="en-US" altLang="zh-CN" sz="1900" dirty="0">
                    <a:latin typeface="Times New Roman" panose="02020603050405020304" pitchFamily="18" charset="0"/>
                    <a:cs typeface="Times New Roman" panose="02020603050405020304" pitchFamily="18" charset="0"/>
                  </a:rPr>
                  <a:t>10 </a:t>
                </a:r>
                <a:r>
                  <a:rPr lang="zh-CN" altLang="en-US" sz="1900" dirty="0">
                    <a:latin typeface="Times New Roman" panose="02020603050405020304" pitchFamily="18" charset="0"/>
                    <a:cs typeface="Times New Roman" panose="02020603050405020304" pitchFamily="18" charset="0"/>
                  </a:rPr>
                  <a:t>个数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𝑘</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+1,⋯,</m:t>
                    </m:r>
                  </m:oMath>
                </a14:m>
                <a:r>
                  <a:rPr lang="en-US" altLang="zh-CN" sz="1900" dirty="0">
                    <a:cs typeface="Times New Roman" panose="02020603050405020304" pitchFamily="18" charset="0"/>
                  </a:rPr>
                  <a:t>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𝑘</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+10 </m:t>
                    </m:r>
                    <m:r>
                      <a:rPr lang="en-US" altLang="zh-CN" sz="1900" i="1">
                        <a:latin typeface="Cambria Math" panose="02040503050406030204" pitchFamily="18" charset="0"/>
                        <a:cs typeface="Times New Roman" panose="02020603050405020304" pitchFamily="18" charset="0"/>
                      </a:rPr>
                      <m:t>（</m:t>
                    </m:r>
                    <m:r>
                      <a:rPr lang="zh-CN" altLang="en-US" sz="1900" i="1" smtClean="0">
                        <a:latin typeface="Cambria Math" panose="02040503050406030204" pitchFamily="18" charset="0"/>
                        <a:cs typeface="Times New Roman" panose="02020603050405020304" pitchFamily="18" charset="0"/>
                      </a:rPr>
                      <m:t>其中</m:t>
                    </m:r>
                    <m:r>
                      <a:rPr lang="zh-CN" altLang="en-US" sz="1900" i="1">
                        <a:latin typeface="Cambria Math" panose="02040503050406030204" pitchFamily="18" charset="0"/>
                        <a:cs typeface="Times New Roman" panose="02020603050405020304" pitchFamily="18" charset="0"/>
                      </a:rPr>
                      <m:t>必</m:t>
                    </m:r>
                    <m:r>
                      <a:rPr lang="zh-CN" altLang="en-US" sz="1900" i="1" smtClean="0">
                        <a:latin typeface="Cambria Math" panose="02040503050406030204" pitchFamily="18" charset="0"/>
                        <a:cs typeface="Times New Roman" panose="02020603050405020304" pitchFamily="18" charset="0"/>
                      </a:rPr>
                      <m:t>然</m:t>
                    </m:r>
                  </m:oMath>
                </a14:m>
                <a:r>
                  <a:rPr lang="zh-CN" altLang="en-US" sz="1900" dirty="0">
                    <a:latin typeface="Times New Roman" panose="02020603050405020304" pitchFamily="18" charset="0"/>
                    <a:cs typeface="Times New Roman" panose="02020603050405020304" pitchFamily="18" charset="0"/>
                  </a:rPr>
                  <a:t>包括 </a:t>
                </a:r>
                <a:r>
                  <a:rPr lang="en-US" altLang="zh-CN" sz="1900" i="1" dirty="0">
                    <a:latin typeface="Times New Roman" panose="02020603050405020304" pitchFamily="18" charset="0"/>
                    <a:cs typeface="Times New Roman" panose="02020603050405020304" pitchFamily="18" charset="0"/>
                  </a:rPr>
                  <a:t>k</a:t>
                </a:r>
                <a:r>
                  <a:rPr lang="zh-CN" altLang="en-US" sz="1900" dirty="0">
                    <a:latin typeface="Times New Roman" panose="02020603050405020304" pitchFamily="18" charset="0"/>
                    <a:cs typeface="Times New Roman" panose="02020603050405020304" pitchFamily="18" charset="0"/>
                  </a:rPr>
                  <a:t>）。对于 </a:t>
                </a:r>
                <a14:m>
                  <m:oMath xmlns:m="http://schemas.openxmlformats.org/officeDocument/2006/math">
                    <m:r>
                      <a:rPr lang="en-US" altLang="zh-CN" sz="1900" i="1">
                        <a:latin typeface="Cambria Math" panose="02040503050406030204" pitchFamily="18" charset="0"/>
                        <a:cs typeface="Times New Roman" panose="02020603050405020304" pitchFamily="18" charset="0"/>
                      </a:rPr>
                      <m:t>1</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𝑢</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≤10</m:t>
                    </m:r>
                  </m:oMath>
                </a14:m>
                <a:r>
                  <a:rPr lang="zh-CN" altLang="en-US" sz="1900" dirty="0">
                    <a:latin typeface="Times New Roman" panose="02020603050405020304" pitchFamily="18" charset="0"/>
                    <a:cs typeface="Times New Roman" panose="02020603050405020304" pitchFamily="18" charset="0"/>
                  </a:rPr>
                  <a:t>，计算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𝑦</m:t>
                        </m:r>
                      </m:e>
                      <m:sub>
                        <m:r>
                          <a:rPr lang="en-US" altLang="zh-CN" sz="1900" i="1">
                            <a:latin typeface="Cambria Math" panose="02040503050406030204" pitchFamily="18" charset="0"/>
                            <a:cs typeface="Times New Roman" panose="02020603050405020304" pitchFamily="18" charset="0"/>
                          </a:rPr>
                          <m:t>𝑢</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𝐷𝑒𝑐</m:t>
                        </m:r>
                      </m:e>
                      <m:sub>
                        <m:r>
                          <a:rPr lang="en-US" altLang="zh-CN" sz="1900" i="1">
                            <a:latin typeface="Cambria Math" panose="02040503050406030204" pitchFamily="18" charset="0"/>
                            <a:cs typeface="Times New Roman" panose="02020603050405020304" pitchFamily="18" charset="0"/>
                          </a:rPr>
                          <m:t>𝑠𝑘</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𝑘</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𝑢</m:t>
                    </m:r>
                    <m:r>
                      <a:rPr lang="en-US" altLang="zh-CN"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 得到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𝑦</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900" dirty="0">
                    <a:cs typeface="Times New Roman" panose="02020603050405020304" pitchFamily="18" charset="0"/>
                  </a:rPr>
                  <a:t>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𝑦</m:t>
                        </m:r>
                      </m:e>
                      <m:sub>
                        <m:r>
                          <a:rPr lang="en-US" altLang="zh-CN" sz="1900" i="1">
                            <a:latin typeface="Cambria Math" panose="02040503050406030204" pitchFamily="18" charset="0"/>
                            <a:cs typeface="Times New Roman" panose="02020603050405020304" pitchFamily="18" charset="0"/>
                          </a:rPr>
                          <m:t>10</m:t>
                        </m:r>
                      </m:sub>
                    </m:sSub>
                  </m:oMath>
                </a14:m>
                <a:r>
                  <a:rPr lang="zh-CN" altLang="en-US" sz="1900" dirty="0">
                    <a:latin typeface="Times New Roman" panose="02020603050405020304" pitchFamily="18" charset="0"/>
                    <a:cs typeface="Times New Roman" panose="02020603050405020304" pitchFamily="18" charset="0"/>
                  </a:rPr>
                  <a:t>；然后随机选择一个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𝑁</m:t>
                    </m:r>
                    <m:r>
                      <a:rPr lang="en-US" altLang="zh-CN" sz="1900" i="1">
                        <a:latin typeface="Cambria Math" panose="02040503050406030204" pitchFamily="18" charset="0"/>
                        <a:cs typeface="Times New Roman" panose="02020603050405020304" pitchFamily="18" charset="0"/>
                      </a:rPr>
                      <m:t>/2</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比特的素数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𝑝</m:t>
                    </m:r>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计算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𝑢</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𝑦</m:t>
                        </m:r>
                      </m:e>
                      <m:sub>
                        <m:r>
                          <a:rPr lang="en-US" altLang="zh-CN" sz="1900" i="1">
                            <a:latin typeface="Cambria Math" panose="02040503050406030204" pitchFamily="18" charset="0"/>
                            <a:cs typeface="Times New Roman" panose="02020603050405020304" pitchFamily="18" charset="0"/>
                          </a:rPr>
                          <m:t>𝑢</m:t>
                        </m:r>
                      </m:sub>
                    </m:sSub>
                    <m:r>
                      <a:rPr lang="en-US" altLang="zh-CN" sz="1900" i="1">
                        <a:latin typeface="Cambria Math" panose="02040503050406030204" pitchFamily="18" charset="0"/>
                        <a:cs typeface="Times New Roman" panose="02020603050405020304" pitchFamily="18" charset="0"/>
                      </a:rPr>
                      <m:t> </m:t>
                    </m:r>
                    <m:r>
                      <m:rPr>
                        <m:sty m:val="p"/>
                      </m:rPr>
                      <a:rPr lang="en-US" altLang="zh-CN" sz="1900">
                        <a:latin typeface="Cambria Math" panose="02040503050406030204" pitchFamily="18" charset="0"/>
                        <a:cs typeface="Times New Roman" panose="02020603050405020304" pitchFamily="18" charset="0"/>
                      </a:rPr>
                      <m:t>mod</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𝑝</m:t>
                    </m:r>
                  </m:oMath>
                </a14:m>
                <a:r>
                  <a:rPr lang="zh-CN" altLang="en-US" sz="1900" dirty="0">
                    <a:latin typeface="Times New Roman" panose="02020603050405020304" pitchFamily="18" charset="0"/>
                    <a:cs typeface="Times New Roman" panose="02020603050405020304" pitchFamily="18" charset="0"/>
                  </a:rPr>
                  <a:t> 得到</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900" dirty="0">
                    <a:cs typeface="Times New Roman" panose="02020603050405020304" pitchFamily="18" charset="0"/>
                  </a:rPr>
                  <a:t>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10</m:t>
                        </m:r>
                      </m:sub>
                    </m:sSub>
                    <m:r>
                      <a:rPr lang="en-US" altLang="zh-CN" sz="1900" b="0" i="1" smtClean="0">
                        <a:latin typeface="Cambria Math" panose="02040503050406030204" pitchFamily="18" charset="0"/>
                        <a:cs typeface="Times New Roman" panose="02020603050405020304" pitchFamily="18" charset="0"/>
                      </a:rPr>
                      <m:t> </m:t>
                    </m:r>
                    <m:r>
                      <a:rPr lang="zh-CN" altLang="en-US" sz="1900" i="1">
                        <a:latin typeface="Cambria Math" panose="02040503050406030204" pitchFamily="18" charset="0"/>
                        <a:cs typeface="Times New Roman" panose="02020603050405020304" pitchFamily="18" charset="0"/>
                      </a:rPr>
                      <m:t>（</m:t>
                    </m:r>
                    <m:r>
                      <a:rPr lang="zh-CN" altLang="en-US" sz="1900" i="1" smtClean="0">
                        <a:latin typeface="Cambria Math" panose="02040503050406030204" pitchFamily="18" charset="0"/>
                        <a:cs typeface="Times New Roman" panose="02020603050405020304" pitchFamily="18" charset="0"/>
                      </a:rPr>
                      <m:t>其中</m:t>
                    </m:r>
                    <m:r>
                      <a:rPr lang="zh-CN" altLang="en-US" sz="1900" i="1">
                        <a:latin typeface="Cambria Math" panose="02040503050406030204" pitchFamily="18" charset="0"/>
                        <a:cs typeface="Times New Roman" panose="02020603050405020304" pitchFamily="18" charset="0"/>
                      </a:rPr>
                      <m:t>必然</m:t>
                    </m:r>
                    <m:r>
                      <a:rPr lang="zh-CN" altLang="en-US" sz="1900" i="1" smtClean="0">
                        <a:latin typeface="Cambria Math" panose="02040503050406030204" pitchFamily="18" charset="0"/>
                        <a:cs typeface="Times New Roman" panose="02020603050405020304" pitchFamily="18" charset="0"/>
                      </a:rPr>
                      <m:t>包括</m:t>
                    </m:r>
                    <m:r>
                      <a:rPr lang="en-US" altLang="zh-CN" sz="1900" b="0" i="1" smtClean="0">
                        <a:latin typeface="Cambria Math" panose="02040503050406030204" pitchFamily="18" charset="0"/>
                        <a:cs typeface="Times New Roman" panose="02020603050405020304" pitchFamily="18" charset="0"/>
                      </a:rPr>
                      <m:t> </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𝑗</m:t>
                        </m:r>
                      </m:sub>
                    </m:sSub>
                    <m:r>
                      <a:rPr lang="en-US" altLang="zh-CN" sz="1900" b="0" i="1" smtClean="0">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𝑥</m:t>
                    </m:r>
                    <m:r>
                      <a:rPr lang="en-US" altLang="zh-CN" sz="1900" i="1">
                        <a:latin typeface="Cambria Math" panose="02040503050406030204" pitchFamily="18" charset="0"/>
                        <a:cs typeface="Times New Roman" panose="02020603050405020304" pitchFamily="18" charset="0"/>
                      </a:rPr>
                      <m:t> </m:t>
                    </m:r>
                    <m:r>
                      <m:rPr>
                        <m:sty m:val="p"/>
                      </m:rPr>
                      <a:rPr lang="en-US" altLang="zh-CN" sz="1900">
                        <a:latin typeface="Cambria Math" panose="02040503050406030204" pitchFamily="18" charset="0"/>
                        <a:cs typeface="Times New Roman" panose="02020603050405020304" pitchFamily="18" charset="0"/>
                      </a:rPr>
                      <m:t>mod</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𝑝</m:t>
                    </m:r>
                    <m:r>
                      <a:rPr lang="zh-CN" altLang="en-US" sz="1900" i="1">
                        <a:latin typeface="Cambria Math" panose="02040503050406030204" pitchFamily="18" charset="0"/>
                        <a:cs typeface="Times New Roman" panose="02020603050405020304" pitchFamily="18" charset="0"/>
                      </a:rPr>
                      <m:t>），并且需要</m:t>
                    </m:r>
                  </m:oMath>
                </a14:m>
                <a:r>
                  <a:rPr lang="zh-CN" altLang="en-US" sz="1900" dirty="0">
                    <a:latin typeface="Times New Roman" panose="02020603050405020304" pitchFamily="18" charset="0"/>
                    <a:cs typeface="Times New Roman" panose="02020603050405020304" pitchFamily="18" charset="0"/>
                  </a:rPr>
                  <a:t>验证这 </a:t>
                </a:r>
                <a:r>
                  <a:rPr lang="en-US" altLang="zh-CN" sz="1900" dirty="0">
                    <a:latin typeface="Times New Roman" panose="02020603050405020304" pitchFamily="18" charset="0"/>
                    <a:cs typeface="Times New Roman" panose="02020603050405020304" pitchFamily="18" charset="0"/>
                  </a:rPr>
                  <a:t>10 </a:t>
                </a:r>
                <a:r>
                  <a:rPr lang="zh-CN" altLang="en-US" sz="1900" dirty="0">
                    <a:latin typeface="Times New Roman" panose="02020603050405020304" pitchFamily="18" charset="0"/>
                    <a:cs typeface="Times New Roman" panose="02020603050405020304" pitchFamily="18" charset="0"/>
                  </a:rPr>
                  <a:t>个数任意两数之间的差值是否大于等于</a:t>
                </a:r>
                <a:r>
                  <a:rPr lang="en-US" altLang="zh-CN" sz="1900" dirty="0">
                    <a:latin typeface="Times New Roman" panose="02020603050405020304" pitchFamily="18" charset="0"/>
                    <a:cs typeface="Times New Roman" panose="02020603050405020304" pitchFamily="18" charset="0"/>
                  </a:rPr>
                  <a:t>2</a:t>
                </a:r>
                <a:r>
                  <a:rPr lang="zh-CN" altLang="en-US" sz="1900" dirty="0">
                    <a:latin typeface="Times New Roman" panose="02020603050405020304" pitchFamily="18" charset="0"/>
                    <a:cs typeface="Times New Roman" panose="02020603050405020304" pitchFamily="18" charset="0"/>
                  </a:rPr>
                  <a:t>（</a:t>
                </a:r>
                <a:r>
                  <a:rPr lang="zh-CN" altLang="en-US" sz="1900" dirty="0">
                    <a:solidFill>
                      <a:srgbClr val="FF0000"/>
                    </a:solidFill>
                    <a:latin typeface="Times New Roman" panose="02020603050405020304" pitchFamily="18" charset="0"/>
                    <a:cs typeface="Times New Roman" panose="02020603050405020304" pitchFamily="18" charset="0"/>
                  </a:rPr>
                  <a:t>保证后面的数列不会出现相同的两个数）</a:t>
                </a:r>
                <a:r>
                  <a:rPr lang="zh-CN" altLang="en-US" sz="1900" dirty="0">
                    <a:latin typeface="Times New Roman" panose="02020603050405020304" pitchFamily="18" charset="0"/>
                    <a:cs typeface="Times New Roman" panose="02020603050405020304" pitchFamily="18" charset="0"/>
                  </a:rPr>
                  <a:t>？</a:t>
                </a:r>
                <a:r>
                  <a:rPr lang="zh-CN" altLang="en-US" sz="1900" dirty="0"/>
                  <a:t>如果不是，则重新选择素数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𝑝</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；最后计算数列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𝑖</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𝑖</m:t>
                            </m:r>
                          </m:sub>
                        </m:sSub>
                        <m:r>
                          <a:rPr lang="en-US" altLang="zh-CN" sz="1900" i="1">
                            <a:latin typeface="Cambria Math" panose="02040503050406030204" pitchFamily="18" charset="0"/>
                            <a:cs typeface="Times New Roman" panose="02020603050405020304" pitchFamily="18" charset="0"/>
                          </a:rPr>
                          <m:t>+1</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10</m:t>
                        </m:r>
                      </m:sub>
                    </m:sSub>
                    <m:r>
                      <a:rPr lang="en-US" altLang="zh-CN" sz="1900" i="1">
                        <a:latin typeface="Cambria Math" panose="02040503050406030204" pitchFamily="18" charset="0"/>
                        <a:cs typeface="Times New Roman" panose="02020603050405020304" pitchFamily="18" charset="0"/>
                      </a:rPr>
                      <m:t>+1,</m:t>
                    </m:r>
                    <m:r>
                      <a:rPr lang="en-US" altLang="zh-CN" sz="1900" i="1">
                        <a:latin typeface="Cambria Math" panose="02040503050406030204" pitchFamily="18" charset="0"/>
                        <a:cs typeface="Times New Roman" panose="02020603050405020304" pitchFamily="18" charset="0"/>
                      </a:rPr>
                      <m:t>𝑝</m:t>
                    </m:r>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并将数列发送给 </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使用素数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𝑝</m:t>
                    </m:r>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计算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m:rPr>
                            <m:sty m:val="p"/>
                          </m:rPr>
                          <a:rPr lang="en-US" altLang="zh-CN" sz="1900" i="0">
                            <a:latin typeface="Cambria Math" panose="02040503050406030204" pitchFamily="18" charset="0"/>
                            <a:cs typeface="Times New Roman" panose="02020603050405020304" pitchFamily="18" charset="0"/>
                          </a:rPr>
                          <m:t>Bob</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𝑥</m:t>
                    </m:r>
                    <m:r>
                      <a:rPr lang="en-US" altLang="zh-CN" sz="1900" i="1">
                        <a:latin typeface="Cambria Math" panose="02040503050406030204" pitchFamily="18" charset="0"/>
                        <a:cs typeface="Times New Roman" panose="02020603050405020304" pitchFamily="18" charset="0"/>
                      </a:rPr>
                      <m:t> </m:t>
                    </m:r>
                    <m:r>
                      <m:rPr>
                        <m:sty m:val="p"/>
                      </m:rPr>
                      <a:rPr lang="en-US" altLang="zh-CN" sz="1900" i="0">
                        <a:latin typeface="Cambria Math" panose="02040503050406030204" pitchFamily="18" charset="0"/>
                        <a:cs typeface="Times New Roman" panose="02020603050405020304" pitchFamily="18" charset="0"/>
                      </a:rPr>
                      <m:t>mod</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𝑝</m:t>
                    </m:r>
                  </m:oMath>
                </a14:m>
                <a:r>
                  <a:rPr lang="zh-CN" altLang="en-US" sz="1900" dirty="0">
                    <a:latin typeface="Times New Roman" panose="02020603050405020304" pitchFamily="18" charset="0"/>
                    <a:cs typeface="Times New Roman" panose="02020603050405020304" pitchFamily="18" charset="0"/>
                  </a:rPr>
                  <a:t> ，然后比较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m:rPr>
                            <m:sty m:val="p"/>
                          </m:rPr>
                          <a:rPr lang="en-US" altLang="zh-CN" sz="1900" i="0">
                            <a:latin typeface="Cambria Math" panose="02040503050406030204" pitchFamily="18" charset="0"/>
                            <a:cs typeface="Times New Roman" panose="02020603050405020304" pitchFamily="18" charset="0"/>
                          </a:rPr>
                          <m:t>Bob</m:t>
                        </m:r>
                      </m:sub>
                    </m:sSub>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与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所发数列中的第</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𝑗</m:t>
                    </m:r>
                    <m:r>
                      <a:rPr lang="en-US" altLang="zh-CN" sz="190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个数字是否相等。如果相等，则说明第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个数字是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𝑗</m:t>
                        </m:r>
                      </m:sub>
                    </m:sSub>
                  </m:oMath>
                </a14:m>
                <a:r>
                  <a:rPr lang="zh-CN" altLang="en-US" sz="1900" dirty="0">
                    <a:latin typeface="Times New Roman" panose="02020603050405020304" pitchFamily="18" charset="0"/>
                    <a:cs typeface="Times New Roman" panose="02020603050405020304" pitchFamily="18" charset="0"/>
                  </a:rPr>
                  <a:t>，那么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𝑖</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𝑗</m:t>
                    </m:r>
                  </m:oMath>
                </a14:m>
                <a:r>
                  <a:rPr lang="zh-CN" altLang="en-US" sz="1900" dirty="0">
                    <a:latin typeface="Times New Roman" panose="02020603050405020304" pitchFamily="18" charset="0"/>
                    <a:cs typeface="Times New Roman" panose="02020603050405020304" pitchFamily="18" charset="0"/>
                  </a:rPr>
                  <a:t>；如果不相等，则说明第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个数字是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𝑗</m:t>
                        </m:r>
                      </m:sub>
                    </m:sSub>
                    <m:r>
                      <a:rPr lang="en-US" altLang="zh-CN" sz="1900" i="1">
                        <a:latin typeface="Cambria Math" panose="02040503050406030204" pitchFamily="18" charset="0"/>
                        <a:cs typeface="Times New Roman" panose="02020603050405020304" pitchFamily="18" charset="0"/>
                      </a:rPr>
                      <m:t>+1</m:t>
                    </m:r>
                  </m:oMath>
                </a14:m>
                <a:r>
                  <a:rPr lang="zh-CN" altLang="en-US" sz="1900" dirty="0">
                    <a:latin typeface="Times New Roman" panose="02020603050405020304" pitchFamily="18" charset="0"/>
                    <a:cs typeface="Times New Roman" panose="02020603050405020304" pitchFamily="18" charset="0"/>
                  </a:rPr>
                  <a:t>，那么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𝑖</m:t>
                    </m:r>
                    <m:r>
                      <a:rPr lang="en-US" altLang="zh-CN" sz="1900" i="1">
                        <a:latin typeface="Cambria Math" panose="02040503050406030204" pitchFamily="18" charset="0"/>
                        <a:cs typeface="Times New Roman" panose="02020603050405020304" pitchFamily="18" charset="0"/>
                      </a:rPr>
                      <m:t>&lt;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248509" y="1652141"/>
                <a:ext cx="8479945" cy="4639860"/>
              </a:xfrm>
              <a:prstGeom prst="rect">
                <a:avLst/>
              </a:prstGeom>
              <a:blipFill rotWithShape="1">
                <a:blip r:embed="rId2"/>
                <a:stretch>
                  <a:fillRect l="-3" t="-11" r="4" b="9"/>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安全多方计算协议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34</a:t>
            </a:fld>
            <a:endParaRPr lang="zh-CN" altLang="en-US"/>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7.2 </a:t>
            </a:r>
            <a:r>
              <a:rPr lang="zh-CN" altLang="en-US" sz="2400" b="1" dirty="0">
                <a:solidFill>
                  <a:srgbClr val="FF0000"/>
                </a:solidFill>
                <a:latin typeface="+mn-ea"/>
              </a:rPr>
              <a:t>百万富翁问题</a:t>
            </a:r>
          </a:p>
        </p:txBody>
      </p:sp>
      <mc:AlternateContent xmlns:mc="http://schemas.openxmlformats.org/markup-compatibility/2006" xmlns:a14="http://schemas.microsoft.com/office/drawing/2010/main">
        <mc:Choice Requires="a14">
          <p:sp>
            <p:nvSpPr>
              <p:cNvPr id="11" name="文本框 10"/>
              <p:cNvSpPr txBox="1"/>
              <p:nvPr/>
            </p:nvSpPr>
            <p:spPr>
              <a:xfrm>
                <a:off x="312517" y="1480765"/>
                <a:ext cx="8479945" cy="4767459"/>
              </a:xfrm>
              <a:prstGeom prst="rect">
                <a:avLst/>
              </a:prstGeom>
              <a:noFill/>
            </p:spPr>
            <p:txBody>
              <a:bodyPr wrap="square" rtlCol="0">
                <a:spAutoFit/>
              </a:bodyPr>
              <a:lstStyle/>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分析：</a:t>
                </a:r>
                <a:endParaRPr lang="en-US" altLang="zh-CN" sz="2000" dirty="0">
                  <a:latin typeface="Times New Roman" panose="02020603050405020304" pitchFamily="18" charset="0"/>
                  <a:cs typeface="Times New Roman" panose="02020603050405020304" pitchFamily="18" charset="0"/>
                </a:endParaRPr>
              </a:p>
              <a:p>
                <a:pPr algn="just">
                  <a:lnSpc>
                    <a:spcPct val="150000"/>
                  </a:lnSpc>
                  <a:spcBef>
                    <a:spcPts val="600"/>
                  </a:spcBef>
                </a:pPr>
                <a:r>
                  <a:rPr lang="zh-CN" altLang="en-US" sz="1900" dirty="0">
                    <a:latin typeface="Times New Roman" panose="02020603050405020304" pitchFamily="18" charset="0"/>
                    <a:cs typeface="Times New Roman" panose="02020603050405020304" pitchFamily="18" charset="0"/>
                  </a:rPr>
                  <a:t>在该协议中，</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将财富信息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𝑗</m:t>
                    </m:r>
                  </m:oMath>
                </a14:m>
                <a:r>
                  <a:rPr lang="zh-CN" altLang="en-US" sz="1900" dirty="0">
                    <a:latin typeface="Times New Roman" panose="02020603050405020304" pitchFamily="18" charset="0"/>
                    <a:cs typeface="Times New Roman" panose="02020603050405020304" pitchFamily="18" charset="0"/>
                  </a:rPr>
                  <a:t> 嵌入到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𝑆</m:t>
                        </m:r>
                      </m:e>
                      <m:sub>
                        <m:r>
                          <m:rPr>
                            <m:sty m:val="p"/>
                          </m:rPr>
                          <a:rPr lang="en-US" altLang="zh-CN" sz="1900" i="0">
                            <a:latin typeface="Cambria Math" panose="02040503050406030204" pitchFamily="18" charset="0"/>
                            <a:cs typeface="Times New Roman" panose="02020603050405020304" pitchFamily="18" charset="0"/>
                          </a:rPr>
                          <m:t>Bob</m:t>
                        </m:r>
                      </m:sub>
                    </m:sSub>
                  </m:oMath>
                </a14:m>
                <a:r>
                  <a:rPr lang="zh-CN" altLang="en-US" sz="1900" dirty="0">
                    <a:latin typeface="Times New Roman" panose="02020603050405020304" pitchFamily="18" charset="0"/>
                    <a:cs typeface="Times New Roman" panose="02020603050405020304" pitchFamily="18" charset="0"/>
                  </a:rPr>
                  <a:t> 中进行盲化处理，因为</a:t>
                </a:r>
                <a14:m>
                  <m:oMath xmlns:m="http://schemas.openxmlformats.org/officeDocument/2006/math">
                    <m:r>
                      <a:rPr lang="en-US" altLang="zh-CN" sz="1900" i="1">
                        <a:latin typeface="Cambria Math" panose="02040503050406030204" pitchFamily="18" charset="0"/>
                        <a:cs typeface="Times New Roman" panose="02020603050405020304" pitchFamily="18" charset="0"/>
                      </a:rPr>
                      <m:t>1</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𝑢</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≤10</m:t>
                    </m:r>
                  </m:oMath>
                </a14:m>
                <a:r>
                  <a:rPr lang="zh-CN" altLang="en-US" sz="1900" dirty="0">
                    <a:latin typeface="Times New Roman" panose="02020603050405020304" pitchFamily="18" charset="0"/>
                    <a:cs typeface="Times New Roman" panose="02020603050405020304" pitchFamily="18" charset="0"/>
                  </a:rPr>
                  <a:t>，所以必定存在一个</a:t>
                </a:r>
                <a14:m>
                  <m:oMath xmlns:m="http://schemas.openxmlformats.org/officeDocument/2006/math">
                    <m:r>
                      <a:rPr lang="en-US" altLang="zh-CN" sz="1900">
                        <a:latin typeface="Cambria Math" panose="02040503050406030204" pitchFamily="18" charset="0"/>
                        <a:ea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𝑗</m:t>
                    </m:r>
                  </m:oMath>
                </a14:m>
                <a:r>
                  <a:rPr lang="zh-CN" altLang="en-US" sz="1900" dirty="0">
                    <a:latin typeface="Times New Roman" panose="02020603050405020304" pitchFamily="18" charset="0"/>
                    <a:cs typeface="Times New Roman" panose="02020603050405020304" pitchFamily="18" charset="0"/>
                  </a:rPr>
                  <a:t> 使得</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𝐷𝑒𝑐</m:t>
                        </m:r>
                      </m:e>
                      <m:sub>
                        <m:r>
                          <a:rPr lang="en-US" altLang="zh-CN" sz="1900" i="1">
                            <a:latin typeface="Cambria Math" panose="02040503050406030204" pitchFamily="18" charset="0"/>
                            <a:cs typeface="Times New Roman" panose="02020603050405020304" pitchFamily="18" charset="0"/>
                          </a:rPr>
                          <m:t>𝑠𝑘</m:t>
                        </m:r>
                      </m:sub>
                    </m:sSub>
                    <m:d>
                      <m:dPr>
                        <m:ctrlPr>
                          <a:rPr lang="en-US" altLang="zh-CN" sz="1900" i="1">
                            <a:latin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cs typeface="Times New Roman" panose="02020603050405020304" pitchFamily="18" charset="0"/>
                          </a:rPr>
                          <m:t>𝑘</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𝑢</m:t>
                        </m:r>
                      </m:e>
                    </m:d>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𝐷𝑒𝑐</m:t>
                        </m:r>
                      </m:e>
                      <m:sub>
                        <m:r>
                          <a:rPr lang="en-US" altLang="zh-CN" sz="1900" i="1">
                            <a:latin typeface="Cambria Math" panose="02040503050406030204" pitchFamily="18" charset="0"/>
                            <a:cs typeface="Times New Roman" panose="02020603050405020304" pitchFamily="18" charset="0"/>
                          </a:rPr>
                          <m:t>𝑠𝑘</m:t>
                        </m:r>
                      </m:sub>
                    </m:sSub>
                    <m:d>
                      <m:dPr>
                        <m:ctrlPr>
                          <a:rPr lang="en-US" altLang="zh-CN" sz="1900" i="1">
                            <a:latin typeface="Cambria Math" panose="02040503050406030204" pitchFamily="18" charset="0"/>
                            <a:cs typeface="Times New Roman" panose="02020603050405020304" pitchFamily="18" charset="0"/>
                          </a:rPr>
                        </m:ctrlPr>
                      </m:dPr>
                      <m:e>
                        <m:r>
                          <a:rPr lang="en-US" altLang="zh-CN" sz="1900" i="1">
                            <a:latin typeface="Cambria Math" panose="02040503050406030204" pitchFamily="18" charset="0"/>
                            <a:cs typeface="Times New Roman" panose="02020603050405020304" pitchFamily="18" charset="0"/>
                          </a:rPr>
                          <m:t>𝑘</m:t>
                        </m:r>
                      </m:e>
                    </m:d>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𝑥</m:t>
                    </m:r>
                    <m:r>
                      <a:rPr lang="zh-CN" altLang="en-US" sz="1900" i="1">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那么在</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900" dirty="0">
                    <a:cs typeface="Times New Roman" panose="02020603050405020304" pitchFamily="18" charset="0"/>
                  </a:rPr>
                  <a:t>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10</m:t>
                        </m:r>
                      </m:sub>
                    </m:sSub>
                  </m:oMath>
                </a14:m>
                <a:r>
                  <a:rPr lang="zh-CN" altLang="en-US" sz="1900" dirty="0">
                    <a:latin typeface="Times New Roman" panose="02020603050405020304" pitchFamily="18" charset="0"/>
                    <a:cs typeface="Times New Roman" panose="02020603050405020304" pitchFamily="18" charset="0"/>
                  </a:rPr>
                  <a:t>中必定包含</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𝑗</m:t>
                        </m:r>
                      </m:sub>
                    </m:sSub>
                    <m:r>
                      <a:rPr lang="en-US" altLang="zh-CN" sz="1900" i="1">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𝑦</m:t>
                        </m:r>
                      </m:e>
                      <m:sub>
                        <m:r>
                          <a:rPr lang="en-US" altLang="zh-CN" sz="1900" i="1">
                            <a:latin typeface="Cambria Math" panose="02040503050406030204" pitchFamily="18" charset="0"/>
                            <a:cs typeface="Times New Roman" panose="02020603050405020304" pitchFamily="18" charset="0"/>
                          </a:rPr>
                          <m:t>𝑗</m:t>
                        </m:r>
                      </m:sub>
                    </m:sSub>
                    <m:r>
                      <a:rPr lang="en-US" altLang="zh-CN" sz="1900" i="1">
                        <a:latin typeface="Cambria Math" panose="02040503050406030204" pitchFamily="18" charset="0"/>
                        <a:cs typeface="Times New Roman" panose="02020603050405020304" pitchFamily="18" charset="0"/>
                      </a:rPr>
                      <m:t> </m:t>
                    </m:r>
                    <m:r>
                      <m:rPr>
                        <m:sty m:val="p"/>
                      </m:rPr>
                      <a:rPr lang="en-US" altLang="zh-CN" sz="1900" i="0">
                        <a:latin typeface="Cambria Math" panose="02040503050406030204" pitchFamily="18" charset="0"/>
                        <a:cs typeface="Times New Roman" panose="02020603050405020304" pitchFamily="18" charset="0"/>
                      </a:rPr>
                      <m:t>mod</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𝑝</m:t>
                    </m:r>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cs typeface="Times New Roman" panose="02020603050405020304" pitchFamily="18" charset="0"/>
                      </a:rPr>
                      <m:t>𝑥</m:t>
                    </m:r>
                    <m:r>
                      <a:rPr lang="en-US" altLang="zh-CN" sz="1900" i="1">
                        <a:latin typeface="Cambria Math" panose="02040503050406030204" pitchFamily="18" charset="0"/>
                        <a:cs typeface="Times New Roman" panose="02020603050405020304" pitchFamily="18" charset="0"/>
                      </a:rPr>
                      <m:t> </m:t>
                    </m:r>
                    <m:r>
                      <m:rPr>
                        <m:sty m:val="p"/>
                      </m:rPr>
                      <a:rPr lang="en-US" altLang="zh-CN" sz="1900" i="0">
                        <a:latin typeface="Cambria Math" panose="02040503050406030204" pitchFamily="18" charset="0"/>
                        <a:cs typeface="Times New Roman" panose="02020603050405020304" pitchFamily="18" charset="0"/>
                      </a:rPr>
                      <m:t>mod</m:t>
                    </m:r>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𝑝</m:t>
                    </m:r>
                  </m:oMath>
                </a14:m>
                <a:r>
                  <a:rPr lang="zh-CN" altLang="en-US" sz="1900" dirty="0">
                    <a:latin typeface="Times New Roman" panose="02020603050405020304" pitchFamily="18" charset="0"/>
                    <a:cs typeface="Times New Roman" panose="02020603050405020304" pitchFamily="18" charset="0"/>
                  </a:rPr>
                  <a:t>。然后，</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从序列</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m:t>
                        </m:r>
                      </m:sub>
                    </m:sSub>
                    <m:r>
                      <a:rPr lang="en-US" altLang="zh-CN" sz="1900" i="1">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900" dirty="0">
                    <a:cs typeface="Times New Roman" panose="02020603050405020304" pitchFamily="18" charset="0"/>
                  </a:rPr>
                  <a:t>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a:rPr lang="en-US" altLang="zh-CN" sz="1900" i="1">
                            <a:latin typeface="Cambria Math" panose="02040503050406030204" pitchFamily="18" charset="0"/>
                            <a:cs typeface="Times New Roman" panose="02020603050405020304" pitchFamily="18" charset="0"/>
                          </a:rPr>
                          <m:t>10</m:t>
                        </m:r>
                      </m:sub>
                    </m:sSub>
                  </m:oMath>
                </a14:m>
                <a:r>
                  <a:rPr lang="zh-CN" altLang="en-US" sz="1900" dirty="0">
                    <a:latin typeface="Times New Roman" panose="02020603050405020304" pitchFamily="18" charset="0"/>
                    <a:cs typeface="Times New Roman" panose="02020603050405020304" pitchFamily="18" charset="0"/>
                  </a:rPr>
                  <a:t> </a:t>
                </a:r>
                <a14:m>
                  <m:oMath xmlns:m="http://schemas.openxmlformats.org/officeDocument/2006/math">
                    <m:r>
                      <a:rPr lang="zh-CN" altLang="en-US" sz="1900" i="1" dirty="0">
                        <a:latin typeface="Cambria Math" panose="02040503050406030204" pitchFamily="18" charset="0"/>
                        <a:cs typeface="Times New Roman" panose="02020603050405020304" pitchFamily="18" charset="0"/>
                      </a:rPr>
                      <m:t>中</m:t>
                    </m:r>
                    <m:r>
                      <a:rPr lang="zh-CN" altLang="en-US" sz="1900" i="1" dirty="0" smtClean="0">
                        <a:latin typeface="Cambria Math" panose="02040503050406030204" pitchFamily="18" charset="0"/>
                        <a:cs typeface="Times New Roman" panose="02020603050405020304" pitchFamily="18" charset="0"/>
                      </a:rPr>
                      <m:t>从</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𝑧</m:t>
                        </m:r>
                      </m:e>
                      <m:sub>
                        <m:r>
                          <a:rPr lang="en-US" altLang="zh-CN" sz="1900" b="0" i="1" smtClean="0">
                            <a:latin typeface="Cambria Math" panose="02040503050406030204" pitchFamily="18" charset="0"/>
                            <a:cs typeface="Times New Roman" panose="02020603050405020304" pitchFamily="18" charset="0"/>
                          </a:rPr>
                          <m:t>𝑖</m:t>
                        </m:r>
                      </m:sub>
                    </m:sSub>
                  </m:oMath>
                </a14:m>
                <a:r>
                  <a:rPr lang="zh-CN" altLang="en-US" sz="1900" dirty="0">
                    <a:latin typeface="Times New Roman" panose="02020603050405020304" pitchFamily="18" charset="0"/>
                    <a:cs typeface="Times New Roman" panose="02020603050405020304" pitchFamily="18" charset="0"/>
                  </a:rPr>
                  <a:t> 后开始执行</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+1</m:t>
                    </m:r>
                  </m:oMath>
                </a14:m>
                <a:r>
                  <a:rPr lang="zh-CN" altLang="en-US" sz="1900" dirty="0">
                    <a:latin typeface="Times New Roman" panose="02020603050405020304" pitchFamily="18" charset="0"/>
                    <a:cs typeface="Times New Roman" panose="02020603050405020304" pitchFamily="18" charset="0"/>
                  </a:rPr>
                  <a:t> 操作，以此将财富信息 </a:t>
                </a:r>
                <a14:m>
                  <m:oMath xmlns:m="http://schemas.openxmlformats.org/officeDocument/2006/math">
                    <m:r>
                      <a:rPr lang="en-US" altLang="zh-CN" sz="1900" b="0" i="1" smtClean="0">
                        <a:latin typeface="Cambria Math" panose="02040503050406030204" pitchFamily="18" charset="0"/>
                        <a:cs typeface="Times New Roman" panose="02020603050405020304" pitchFamily="18" charset="0"/>
                      </a:rPr>
                      <m:t>𝑖</m:t>
                    </m:r>
                    <m:r>
                      <a:rPr lang="en-US" altLang="zh-CN" sz="1900" b="0" i="0"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嵌入其中。最后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比较 </a:t>
                </a:r>
                <a14:m>
                  <m:oMath xmlns:m="http://schemas.openxmlformats.org/officeDocument/2006/math">
                    <m:sSub>
                      <m:sSubPr>
                        <m:ctrlPr>
                          <a:rPr lang="en-US" altLang="zh-CN" sz="1900" i="1">
                            <a:latin typeface="Cambria Math" panose="02040503050406030204" pitchFamily="18" charset="0"/>
                            <a:cs typeface="Times New Roman" panose="02020603050405020304" pitchFamily="18" charset="0"/>
                          </a:rPr>
                        </m:ctrlPr>
                      </m:sSubPr>
                      <m:e>
                        <m:r>
                          <a:rPr lang="en-US" altLang="zh-CN" sz="1900" i="1">
                            <a:latin typeface="Cambria Math" panose="02040503050406030204" pitchFamily="18" charset="0"/>
                            <a:cs typeface="Times New Roman" panose="02020603050405020304" pitchFamily="18" charset="0"/>
                          </a:rPr>
                          <m:t>𝑧</m:t>
                        </m:r>
                      </m:e>
                      <m:sub>
                        <m:r>
                          <m:rPr>
                            <m:sty m:val="p"/>
                          </m:rPr>
                          <a:rPr lang="en-US" altLang="zh-CN" sz="1900" i="0">
                            <a:latin typeface="Cambria Math" panose="02040503050406030204" pitchFamily="18" charset="0"/>
                            <a:cs typeface="Times New Roman" panose="02020603050405020304" pitchFamily="18" charset="0"/>
                          </a:rPr>
                          <m:t>Bob</m:t>
                        </m:r>
                      </m:sub>
                    </m:sSub>
                  </m:oMath>
                </a14:m>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与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所发数列中的第</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𝑗</m:t>
                    </m:r>
                    <m:r>
                      <a:rPr lang="en-US" altLang="zh-CN" sz="190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个数字是否相等</a:t>
                </a:r>
                <a:r>
                  <a:rPr lang="en-US" altLang="zh-CN" sz="1900" dirty="0">
                    <a:latin typeface="Times New Roman" panose="02020603050405020304" pitchFamily="18" charset="0"/>
                    <a:cs typeface="Times New Roman" panose="02020603050405020304" pitchFamily="18" charset="0"/>
                  </a:rPr>
                  <a:t>? </a:t>
                </a:r>
              </a:p>
              <a:p>
                <a:pPr algn="just">
                  <a:lnSpc>
                    <a:spcPct val="150000"/>
                  </a:lnSpc>
                  <a:spcBef>
                    <a:spcPts val="600"/>
                  </a:spcBef>
                </a:pPr>
                <a:r>
                  <a:rPr lang="zh-CN" altLang="en-US" sz="1900" dirty="0">
                    <a:latin typeface="Times New Roman" panose="02020603050405020304" pitchFamily="18" charset="0"/>
                    <a:cs typeface="Times New Roman" panose="02020603050405020304" pitchFamily="18" charset="0"/>
                  </a:rPr>
                  <a:t>如果相等，说明嵌入 </a:t>
                </a:r>
                <a14:m>
                  <m:oMath xmlns:m="http://schemas.openxmlformats.org/officeDocument/2006/math">
                    <m:r>
                      <a:rPr lang="en-US" altLang="zh-CN" sz="1900" b="0" i="1" smtClean="0">
                        <a:latin typeface="Cambria Math" panose="02040503050406030204" pitchFamily="18" charset="0"/>
                        <a:ea typeface="Cambria Math" panose="02040503050406030204" pitchFamily="18" charset="0"/>
                        <a:cs typeface="Times New Roman" panose="02020603050405020304" pitchFamily="18" charset="0"/>
                      </a:rPr>
                      <m:t>𝑖</m:t>
                    </m:r>
                  </m:oMath>
                </a14:m>
                <a:r>
                  <a:rPr lang="zh-CN" altLang="en-US" sz="1900" dirty="0">
                    <a:latin typeface="Times New Roman" panose="02020603050405020304" pitchFamily="18" charset="0"/>
                    <a:cs typeface="Times New Roman" panose="02020603050405020304" pitchFamily="18" charset="0"/>
                  </a:rPr>
                  <a:t> 的位置在 </a:t>
                </a:r>
                <a14:m>
                  <m:oMath xmlns:m="http://schemas.openxmlformats.org/officeDocument/2006/math">
                    <m:r>
                      <a:rPr lang="en-US" altLang="zh-CN" sz="1900" b="0" i="1" smtClean="0">
                        <a:latin typeface="Cambria Math" panose="02040503050406030204" pitchFamily="18" charset="0"/>
                        <a:cs typeface="Times New Roman" panose="02020603050405020304" pitchFamily="18" charset="0"/>
                      </a:rPr>
                      <m:t>𝑗</m:t>
                    </m:r>
                  </m:oMath>
                </a14:m>
                <a:r>
                  <a:rPr lang="zh-CN" altLang="en-US" sz="1900" dirty="0">
                    <a:latin typeface="Times New Roman" panose="02020603050405020304" pitchFamily="18" charset="0"/>
                    <a:cs typeface="Times New Roman" panose="02020603050405020304" pitchFamily="18" charset="0"/>
                  </a:rPr>
                  <a:t> 之后，那么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𝑖</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𝑗</m:t>
                    </m:r>
                  </m:oMath>
                </a14:m>
                <a:r>
                  <a:rPr lang="zh-CN" altLang="en-US" sz="1900" dirty="0">
                    <a:latin typeface="Times New Roman" panose="02020603050405020304" pitchFamily="18" charset="0"/>
                    <a:cs typeface="Times New Roman" panose="02020603050405020304" pitchFamily="18" charset="0"/>
                  </a:rPr>
                  <a:t>，反之如果不相等，则说明嵌入 </a:t>
                </a:r>
                <a14:m>
                  <m:oMath xmlns:m="http://schemas.openxmlformats.org/officeDocument/2006/math">
                    <m:r>
                      <a:rPr lang="en-US" altLang="zh-CN" sz="1900" i="1">
                        <a:latin typeface="Cambria Math" panose="02040503050406030204" pitchFamily="18" charset="0"/>
                        <a:ea typeface="Cambria Math" panose="02040503050406030204" pitchFamily="18" charset="0"/>
                        <a:cs typeface="Times New Roman" panose="02020603050405020304" pitchFamily="18" charset="0"/>
                      </a:rPr>
                      <m:t>𝑖</m:t>
                    </m:r>
                  </m:oMath>
                </a14:m>
                <a:r>
                  <a:rPr lang="zh-CN" altLang="en-US" sz="1900" dirty="0">
                    <a:latin typeface="Times New Roman" panose="02020603050405020304" pitchFamily="18" charset="0"/>
                    <a:cs typeface="Times New Roman" panose="02020603050405020304" pitchFamily="18" charset="0"/>
                  </a:rPr>
                  <a:t> 的位置在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𝑗</m:t>
                    </m:r>
                  </m:oMath>
                </a14:m>
                <a:r>
                  <a:rPr lang="zh-CN" altLang="en-US" sz="1900" dirty="0">
                    <a:latin typeface="Times New Roman" panose="02020603050405020304" pitchFamily="18" charset="0"/>
                    <a:cs typeface="Times New Roman" panose="02020603050405020304" pitchFamily="18" charset="0"/>
                  </a:rPr>
                  <a:t> 之前，那么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𝑖</m:t>
                    </m:r>
                    <m:r>
                      <a:rPr lang="en-US" altLang="zh-CN" sz="1900" i="1">
                        <a:latin typeface="Cambria Math" panose="02040503050406030204" pitchFamily="18" charset="0"/>
                        <a:cs typeface="Times New Roman" panose="02020603050405020304" pitchFamily="18" charset="0"/>
                      </a:rPr>
                      <m:t>&lt;</m:t>
                    </m:r>
                    <m:r>
                      <a:rPr lang="en-US" altLang="zh-CN" sz="1900" i="1">
                        <a:latin typeface="Cambria Math" panose="02040503050406030204" pitchFamily="18" charset="0"/>
                        <a:cs typeface="Times New Roman" panose="02020603050405020304" pitchFamily="18" charset="0"/>
                      </a:rPr>
                      <m:t>𝑗</m:t>
                    </m:r>
                    <m:r>
                      <a:rPr lang="en-US" altLang="zh-CN" sz="1900" i="1">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lgn="just">
                  <a:lnSpc>
                    <a:spcPct val="150000"/>
                  </a:lnSpc>
                  <a:spcBef>
                    <a:spcPts val="600"/>
                  </a:spcBef>
                </a:pPr>
                <a:r>
                  <a:rPr lang="zh-CN" altLang="en-US" sz="1900" dirty="0">
                    <a:latin typeface="Times New Roman" panose="02020603050405020304" pitchFamily="18" charset="0"/>
                    <a:cs typeface="Times New Roman" panose="02020603050405020304" pitchFamily="18" charset="0"/>
                  </a:rPr>
                  <a:t>然而该协议的一个缺点是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先于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知道结果。如果他不愿意将真实结果告诉 </a:t>
                </a:r>
                <a:r>
                  <a:rPr lang="en-US" altLang="zh-CN" sz="190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也无可奈何。</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12517" y="1480765"/>
                <a:ext cx="8479945" cy="4767459"/>
              </a:xfrm>
              <a:prstGeom prst="rect">
                <a:avLst/>
              </a:prstGeom>
              <a:blipFill rotWithShape="1">
                <a:blip r:embed="rId2"/>
                <a:stretch>
                  <a:fillRect l="-1" t="-12" r="3" b="-656"/>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安全多方计算协议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35</a:t>
            </a:fld>
            <a:endParaRPr lang="zh-CN" altLang="en-US"/>
          </a:p>
        </p:txBody>
      </p:sp>
      <p:sp>
        <p:nvSpPr>
          <p:cNvPr id="5" name="文本框 4"/>
          <p:cNvSpPr txBox="1"/>
          <p:nvPr/>
        </p:nvSpPr>
        <p:spPr>
          <a:xfrm>
            <a:off x="312517" y="1480765"/>
            <a:ext cx="8410859" cy="4596451"/>
          </a:xfrm>
          <a:prstGeom prst="rect">
            <a:avLst/>
          </a:prstGeom>
          <a:noFill/>
        </p:spPr>
        <p:txBody>
          <a:bodyPr wrap="square" rtlCol="0">
            <a:spAutoFit/>
          </a:bodyPr>
          <a:lstStyle/>
          <a:p>
            <a:pPr algn="just">
              <a:lnSpc>
                <a:spcPct val="130000"/>
              </a:lnSpc>
              <a:spcBef>
                <a:spcPts val="600"/>
              </a:spcBef>
              <a:spcAft>
                <a:spcPts val="600"/>
              </a:spcAft>
            </a:pP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Carol </a:t>
            </a:r>
            <a:r>
              <a:rPr lang="zh-CN" altLang="en-US" sz="2000" dirty="0">
                <a:latin typeface="Times New Roman" panose="02020603050405020304" pitchFamily="18" charset="0"/>
                <a:cs typeface="Times New Roman" panose="02020603050405020304" pitchFamily="18" charset="0"/>
              </a:rPr>
              <a:t>三人在一起工作，他们想知道他们的平均工资，并且他们每个人都不想让其他人知道自己的工资，可使用如下安全多方计算协议：</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1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生成一个随机数，将其与自己的工资相加，然后使用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的公钥加密并发送给 </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30000"/>
              </a:lnSpc>
              <a:spcBef>
                <a:spcPts val="1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用其私钥解密，加上自己的工资，然后使用 </a:t>
            </a:r>
            <a:r>
              <a:rPr lang="en-US" altLang="zh-CN" sz="1900" dirty="0">
                <a:latin typeface="Times New Roman" panose="02020603050405020304" pitchFamily="18" charset="0"/>
                <a:cs typeface="Times New Roman" panose="02020603050405020304" pitchFamily="18" charset="0"/>
              </a:rPr>
              <a:t>Carol </a:t>
            </a:r>
            <a:r>
              <a:rPr lang="zh-CN" altLang="en-US" sz="1900" dirty="0">
                <a:latin typeface="Times New Roman" panose="02020603050405020304" pitchFamily="18" charset="0"/>
                <a:cs typeface="Times New Roman" panose="02020603050405020304" pitchFamily="18" charset="0"/>
              </a:rPr>
              <a:t>的公钥加密并发送给 </a:t>
            </a:r>
            <a:r>
              <a:rPr lang="en-US" altLang="zh-CN" sz="1900" dirty="0">
                <a:latin typeface="Times New Roman" panose="02020603050405020304" pitchFamily="18" charset="0"/>
                <a:cs typeface="Times New Roman" panose="02020603050405020304" pitchFamily="18" charset="0"/>
              </a:rPr>
              <a:t>Carol </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30000"/>
              </a:lnSpc>
              <a:spcBef>
                <a:spcPts val="1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Carol </a:t>
            </a:r>
            <a:r>
              <a:rPr lang="zh-CN" altLang="en-US" sz="1900" dirty="0">
                <a:latin typeface="Times New Roman" panose="02020603050405020304" pitchFamily="18" charset="0"/>
                <a:cs typeface="Times New Roman" panose="02020603050405020304" pitchFamily="18" charset="0"/>
              </a:rPr>
              <a:t>用其私钥解密，加上自己的工资，然后使用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的公钥加密并发送给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30000"/>
              </a:lnSpc>
              <a:spcBef>
                <a:spcPts val="100"/>
              </a:spcBef>
              <a:spcAft>
                <a:spcPts val="600"/>
              </a:spcAft>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用其私钥解密，并减去之前保留的随机数，可计算出三人的平均工资。</a:t>
            </a:r>
            <a:endParaRPr lang="en-US" altLang="zh-CN" sz="1900" dirty="0">
              <a:latin typeface="Times New Roman" panose="02020603050405020304" pitchFamily="18" charset="0"/>
              <a:cs typeface="Times New Roman" panose="02020603050405020304" pitchFamily="18" charset="0"/>
            </a:endParaRPr>
          </a:p>
          <a:p>
            <a:pPr algn="just">
              <a:lnSpc>
                <a:spcPct val="130000"/>
              </a:lnSpc>
              <a:spcBef>
                <a:spcPts val="600"/>
              </a:spcBef>
            </a:pPr>
            <a:r>
              <a:rPr lang="zh-CN" altLang="en-US" sz="2000" dirty="0">
                <a:latin typeface="Times New Roman" panose="02020603050405020304" pitchFamily="18" charset="0"/>
                <a:cs typeface="Times New Roman" panose="02020603050405020304" pitchFamily="18" charset="0"/>
              </a:rPr>
              <a:t>分析：协议要求所有人参与者都是诚实的，如果有一方不诚实，则协议最终得到都是错误结果；</a:t>
            </a:r>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7.3 </a:t>
            </a:r>
            <a:r>
              <a:rPr lang="zh-CN" altLang="en-US" sz="2400" b="1" dirty="0">
                <a:solidFill>
                  <a:srgbClr val="FF0000"/>
                </a:solidFill>
                <a:latin typeface="+mn-ea"/>
              </a:rPr>
              <a:t>求平均数协议</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不经意传输协议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36</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8.1 </a:t>
            </a:r>
            <a:r>
              <a:rPr lang="zh-CN" altLang="en-US" sz="2400" b="1" dirty="0">
                <a:solidFill>
                  <a:srgbClr val="FF0000"/>
                </a:solidFill>
                <a:latin typeface="+mn-ea"/>
              </a:rPr>
              <a:t>不经意传输协议的基本概念</a:t>
            </a:r>
          </a:p>
        </p:txBody>
      </p:sp>
      <p:sp>
        <p:nvSpPr>
          <p:cNvPr id="9" name="文本框 8"/>
          <p:cNvSpPr txBox="1"/>
          <p:nvPr/>
        </p:nvSpPr>
        <p:spPr>
          <a:xfrm>
            <a:off x="311961" y="1430390"/>
            <a:ext cx="8479945" cy="1653594"/>
          </a:xfrm>
          <a:prstGeom prst="rect">
            <a:avLst/>
          </a:prstGeom>
          <a:noFill/>
        </p:spPr>
        <p:txBody>
          <a:bodyPr wrap="square" rtlCol="0">
            <a:spAutoFit/>
          </a:bodyPr>
          <a:lstStyle/>
          <a:p>
            <a:pPr algn="just">
              <a:lnSpc>
                <a:spcPct val="130000"/>
              </a:lnSpc>
              <a:spcBef>
                <a:spcPts val="600"/>
              </a:spcBef>
            </a:pP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想从歌曲网站下载歌手 </a:t>
            </a:r>
            <a:r>
              <a:rPr lang="en-US" altLang="zh-CN" sz="2000" dirty="0">
                <a:latin typeface="Times New Roman" panose="02020603050405020304" pitchFamily="18" charset="0"/>
                <a:cs typeface="Times New Roman" panose="02020603050405020304" pitchFamily="18" charset="0"/>
              </a:rPr>
              <a:t>A </a:t>
            </a:r>
            <a:r>
              <a:rPr lang="zh-CN" altLang="en-US" sz="2000" dirty="0">
                <a:latin typeface="Times New Roman" panose="02020603050405020304" pitchFamily="18" charset="0"/>
                <a:cs typeface="Times New Roman" panose="02020603050405020304" pitchFamily="18" charset="0"/>
              </a:rPr>
              <a:t>和歌手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的歌曲。</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支付了一位歌手的歌曲下载费，因此只能下载歌手 </a:t>
            </a:r>
            <a:r>
              <a:rPr lang="en-US" altLang="zh-CN" sz="2000" dirty="0">
                <a:latin typeface="Times New Roman" panose="02020603050405020304" pitchFamily="18" charset="0"/>
                <a:cs typeface="Times New Roman" panose="02020603050405020304" pitchFamily="18" charset="0"/>
              </a:rPr>
              <a:t>A </a:t>
            </a:r>
            <a:r>
              <a:rPr lang="zh-CN" altLang="en-US" sz="2000" dirty="0">
                <a:latin typeface="Times New Roman" panose="02020603050405020304" pitchFamily="18" charset="0"/>
                <a:cs typeface="Times New Roman" panose="02020603050405020304" pitchFamily="18" charset="0"/>
              </a:rPr>
              <a:t>和歌手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中一位歌手的歌曲，但是她希望歌曲网站不知道她下载了哪一位歌手的歌曲，而歌曲网站也希望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无法下载其他歌手的歌曲，此时便可以使用不经意传输协议。</a:t>
            </a:r>
            <a:endParaRPr lang="en-US" altLang="zh-CN" sz="20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p:grpSp>
        <p:nvGrpSpPr>
          <p:cNvPr id="1364" name="组合 1363"/>
          <p:cNvGrpSpPr/>
          <p:nvPr/>
        </p:nvGrpSpPr>
        <p:grpSpPr>
          <a:xfrm>
            <a:off x="810883" y="4745180"/>
            <a:ext cx="7712930" cy="1860631"/>
            <a:chOff x="954031" y="4534507"/>
            <a:chExt cx="7712930" cy="1860631"/>
          </a:xfrm>
        </p:grpSpPr>
        <p:grpSp>
          <p:nvGrpSpPr>
            <p:cNvPr id="1360" name="组合 1359"/>
            <p:cNvGrpSpPr/>
            <p:nvPr/>
          </p:nvGrpSpPr>
          <p:grpSpPr>
            <a:xfrm>
              <a:off x="1876482" y="4534507"/>
              <a:ext cx="6065573" cy="1181905"/>
              <a:chOff x="1809807" y="4825490"/>
              <a:chExt cx="6065573" cy="1181905"/>
            </a:xfrm>
          </p:grpSpPr>
          <p:sp>
            <p:nvSpPr>
              <p:cNvPr id="14" name="矩形 13"/>
              <p:cNvSpPr/>
              <p:nvPr/>
            </p:nvSpPr>
            <p:spPr>
              <a:xfrm>
                <a:off x="1809807" y="5491916"/>
                <a:ext cx="1390593" cy="51547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user-black-shape-variant_36950"/>
              <p:cNvSpPr/>
              <p:nvPr/>
            </p:nvSpPr>
            <p:spPr>
              <a:xfrm>
                <a:off x="2320352" y="4927264"/>
                <a:ext cx="355607" cy="476332"/>
              </a:xfrm>
              <a:custGeom>
                <a:avLst/>
                <a:gdLst>
                  <a:gd name="T0" fmla="*/ 249 w 296"/>
                  <a:gd name="T1" fmla="*/ 408 h 408"/>
                  <a:gd name="T2" fmla="*/ 47 w 296"/>
                  <a:gd name="T3" fmla="*/ 408 h 408"/>
                  <a:gd name="T4" fmla="*/ 4 w 296"/>
                  <a:gd name="T5" fmla="*/ 358 h 408"/>
                  <a:gd name="T6" fmla="*/ 26 w 296"/>
                  <a:gd name="T7" fmla="*/ 230 h 408"/>
                  <a:gd name="T8" fmla="*/ 72 w 296"/>
                  <a:gd name="T9" fmla="*/ 182 h 408"/>
                  <a:gd name="T10" fmla="*/ 148 w 296"/>
                  <a:gd name="T11" fmla="*/ 211 h 408"/>
                  <a:gd name="T12" fmla="*/ 224 w 296"/>
                  <a:gd name="T13" fmla="*/ 182 h 408"/>
                  <a:gd name="T14" fmla="*/ 270 w 296"/>
                  <a:gd name="T15" fmla="*/ 230 h 408"/>
                  <a:gd name="T16" fmla="*/ 291 w 296"/>
                  <a:gd name="T17" fmla="*/ 358 h 408"/>
                  <a:gd name="T18" fmla="*/ 249 w 296"/>
                  <a:gd name="T19" fmla="*/ 408 h 408"/>
                  <a:gd name="T20" fmla="*/ 148 w 296"/>
                  <a:gd name="T21" fmla="*/ 192 h 408"/>
                  <a:gd name="T22" fmla="*/ 244 w 296"/>
                  <a:gd name="T23" fmla="*/ 96 h 408"/>
                  <a:gd name="T24" fmla="*/ 148 w 296"/>
                  <a:gd name="T25" fmla="*/ 0 h 408"/>
                  <a:gd name="T26" fmla="*/ 52 w 296"/>
                  <a:gd name="T27" fmla="*/ 96 h 408"/>
                  <a:gd name="T28" fmla="*/ 148 w 296"/>
                  <a:gd name="T29" fmla="*/ 19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6" h="408">
                    <a:moveTo>
                      <a:pt x="249" y="408"/>
                    </a:moveTo>
                    <a:lnTo>
                      <a:pt x="47" y="408"/>
                    </a:lnTo>
                    <a:cubicBezTo>
                      <a:pt x="19" y="408"/>
                      <a:pt x="0" y="385"/>
                      <a:pt x="4" y="358"/>
                    </a:cubicBezTo>
                    <a:lnTo>
                      <a:pt x="26" y="230"/>
                    </a:lnTo>
                    <a:cubicBezTo>
                      <a:pt x="30" y="207"/>
                      <a:pt x="49" y="188"/>
                      <a:pt x="72" y="182"/>
                    </a:cubicBezTo>
                    <a:cubicBezTo>
                      <a:pt x="92" y="200"/>
                      <a:pt x="119" y="211"/>
                      <a:pt x="148" y="211"/>
                    </a:cubicBezTo>
                    <a:cubicBezTo>
                      <a:pt x="177" y="211"/>
                      <a:pt x="204" y="200"/>
                      <a:pt x="224" y="182"/>
                    </a:cubicBezTo>
                    <a:cubicBezTo>
                      <a:pt x="247" y="188"/>
                      <a:pt x="266" y="207"/>
                      <a:pt x="270" y="230"/>
                    </a:cubicBezTo>
                    <a:lnTo>
                      <a:pt x="291" y="358"/>
                    </a:lnTo>
                    <a:cubicBezTo>
                      <a:pt x="296" y="385"/>
                      <a:pt x="277" y="408"/>
                      <a:pt x="249" y="408"/>
                    </a:cubicBezTo>
                    <a:close/>
                    <a:moveTo>
                      <a:pt x="148" y="192"/>
                    </a:moveTo>
                    <a:cubicBezTo>
                      <a:pt x="201" y="192"/>
                      <a:pt x="244" y="149"/>
                      <a:pt x="244" y="96"/>
                    </a:cubicBezTo>
                    <a:cubicBezTo>
                      <a:pt x="244" y="43"/>
                      <a:pt x="201" y="0"/>
                      <a:pt x="148" y="0"/>
                    </a:cubicBezTo>
                    <a:cubicBezTo>
                      <a:pt x="95" y="0"/>
                      <a:pt x="52" y="43"/>
                      <a:pt x="52" y="96"/>
                    </a:cubicBezTo>
                    <a:cubicBezTo>
                      <a:pt x="52" y="149"/>
                      <a:pt x="95" y="192"/>
                      <a:pt x="148" y="192"/>
                    </a:cubicBezTo>
                    <a:close/>
                  </a:path>
                </a:pathLst>
              </a:custGeom>
              <a:solidFill>
                <a:schemeClr val="accent5">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user-black-shape-variant_36950"/>
              <p:cNvSpPr/>
              <p:nvPr/>
            </p:nvSpPr>
            <p:spPr>
              <a:xfrm>
                <a:off x="6532130" y="4927264"/>
                <a:ext cx="348447" cy="476332"/>
              </a:xfrm>
              <a:custGeom>
                <a:avLst/>
                <a:gdLst>
                  <a:gd name="T0" fmla="*/ 249 w 296"/>
                  <a:gd name="T1" fmla="*/ 408 h 408"/>
                  <a:gd name="T2" fmla="*/ 47 w 296"/>
                  <a:gd name="T3" fmla="*/ 408 h 408"/>
                  <a:gd name="T4" fmla="*/ 4 w 296"/>
                  <a:gd name="T5" fmla="*/ 358 h 408"/>
                  <a:gd name="T6" fmla="*/ 26 w 296"/>
                  <a:gd name="T7" fmla="*/ 230 h 408"/>
                  <a:gd name="T8" fmla="*/ 72 w 296"/>
                  <a:gd name="T9" fmla="*/ 182 h 408"/>
                  <a:gd name="T10" fmla="*/ 148 w 296"/>
                  <a:gd name="T11" fmla="*/ 211 h 408"/>
                  <a:gd name="T12" fmla="*/ 224 w 296"/>
                  <a:gd name="T13" fmla="*/ 182 h 408"/>
                  <a:gd name="T14" fmla="*/ 270 w 296"/>
                  <a:gd name="T15" fmla="*/ 230 h 408"/>
                  <a:gd name="T16" fmla="*/ 291 w 296"/>
                  <a:gd name="T17" fmla="*/ 358 h 408"/>
                  <a:gd name="T18" fmla="*/ 249 w 296"/>
                  <a:gd name="T19" fmla="*/ 408 h 408"/>
                  <a:gd name="T20" fmla="*/ 148 w 296"/>
                  <a:gd name="T21" fmla="*/ 192 h 408"/>
                  <a:gd name="T22" fmla="*/ 244 w 296"/>
                  <a:gd name="T23" fmla="*/ 96 h 408"/>
                  <a:gd name="T24" fmla="*/ 148 w 296"/>
                  <a:gd name="T25" fmla="*/ 0 h 408"/>
                  <a:gd name="T26" fmla="*/ 52 w 296"/>
                  <a:gd name="T27" fmla="*/ 96 h 408"/>
                  <a:gd name="T28" fmla="*/ 148 w 296"/>
                  <a:gd name="T29" fmla="*/ 19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6" h="408">
                    <a:moveTo>
                      <a:pt x="249" y="408"/>
                    </a:moveTo>
                    <a:lnTo>
                      <a:pt x="47" y="408"/>
                    </a:lnTo>
                    <a:cubicBezTo>
                      <a:pt x="19" y="408"/>
                      <a:pt x="0" y="385"/>
                      <a:pt x="4" y="358"/>
                    </a:cubicBezTo>
                    <a:lnTo>
                      <a:pt x="26" y="230"/>
                    </a:lnTo>
                    <a:cubicBezTo>
                      <a:pt x="30" y="207"/>
                      <a:pt x="49" y="188"/>
                      <a:pt x="72" y="182"/>
                    </a:cubicBezTo>
                    <a:cubicBezTo>
                      <a:pt x="92" y="200"/>
                      <a:pt x="119" y="211"/>
                      <a:pt x="148" y="211"/>
                    </a:cubicBezTo>
                    <a:cubicBezTo>
                      <a:pt x="177" y="211"/>
                      <a:pt x="204" y="200"/>
                      <a:pt x="224" y="182"/>
                    </a:cubicBezTo>
                    <a:cubicBezTo>
                      <a:pt x="247" y="188"/>
                      <a:pt x="266" y="207"/>
                      <a:pt x="270" y="230"/>
                    </a:cubicBezTo>
                    <a:lnTo>
                      <a:pt x="291" y="358"/>
                    </a:lnTo>
                    <a:cubicBezTo>
                      <a:pt x="296" y="385"/>
                      <a:pt x="277" y="408"/>
                      <a:pt x="249" y="408"/>
                    </a:cubicBezTo>
                    <a:close/>
                    <a:moveTo>
                      <a:pt x="148" y="192"/>
                    </a:moveTo>
                    <a:cubicBezTo>
                      <a:pt x="201" y="192"/>
                      <a:pt x="244" y="149"/>
                      <a:pt x="244" y="96"/>
                    </a:cubicBezTo>
                    <a:cubicBezTo>
                      <a:pt x="244" y="43"/>
                      <a:pt x="201" y="0"/>
                      <a:pt x="148" y="0"/>
                    </a:cubicBezTo>
                    <a:cubicBezTo>
                      <a:pt x="95" y="0"/>
                      <a:pt x="52" y="43"/>
                      <a:pt x="52" y="96"/>
                    </a:cubicBezTo>
                    <a:cubicBezTo>
                      <a:pt x="52" y="149"/>
                      <a:pt x="95" y="192"/>
                      <a:pt x="148" y="192"/>
                    </a:cubicBezTo>
                    <a:close/>
                  </a:path>
                </a:pathLst>
              </a:cu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文本框 6"/>
                  <p:cNvSpPr txBox="1"/>
                  <p:nvPr/>
                </p:nvSpPr>
                <p:spPr>
                  <a:xfrm>
                    <a:off x="1859817" y="5550196"/>
                    <a:ext cx="1091709" cy="3702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6FA0C8"/>
                                  </a:solidFill>
                                  <a:latin typeface="Cambria Math" panose="02040503050406030204" pitchFamily="18" charset="0"/>
                                </a:rPr>
                              </m:ctrlPr>
                            </m:sSubPr>
                            <m:e>
                              <m:r>
                                <a:rPr lang="en-US" altLang="zh-CN" b="0" i="1" smtClean="0">
                                  <a:solidFill>
                                    <a:srgbClr val="6FA0C8"/>
                                  </a:solidFill>
                                  <a:latin typeface="Cambria Math" panose="02040503050406030204" pitchFamily="18" charset="0"/>
                                </a:rPr>
                                <m:t>𝑚</m:t>
                              </m:r>
                            </m:e>
                            <m:sub>
                              <m:r>
                                <a:rPr lang="en-US" altLang="zh-CN" b="0" i="1" smtClean="0">
                                  <a:solidFill>
                                    <a:srgbClr val="6FA0C8"/>
                                  </a:solidFill>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1859817" y="5550196"/>
                    <a:ext cx="1091709" cy="370294"/>
                  </a:xfrm>
                  <a:prstGeom prst="rect">
                    <a:avLst/>
                  </a:prstGeom>
                  <a:blipFill rotWithShape="1">
                    <a:blip r:embed="rId4"/>
                  </a:blipFill>
                </p:spPr>
                <p:txBody>
                  <a:bodyPr/>
                  <a:lstStyle/>
                  <a:p>
                    <a:r>
                      <a:rPr lang="zh-CN" altLang="en-US">
                        <a:noFill/>
                      </a:rPr>
                      <a:t> </a:t>
                    </a:r>
                  </a:p>
                </p:txBody>
              </p:sp>
            </mc:Fallback>
          </mc:AlternateContent>
          <p:cxnSp>
            <p:nvCxnSpPr>
              <p:cNvPr id="10" name="直接箭头连接符 9"/>
              <p:cNvCxnSpPr>
                <a:stCxn id="43" idx="7"/>
                <a:endCxn id="44" idx="3"/>
              </p:cNvCxnSpPr>
              <p:nvPr/>
            </p:nvCxnSpPr>
            <p:spPr>
              <a:xfrm>
                <a:off x="2644723" y="5195784"/>
                <a:ext cx="3918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本框 44"/>
                  <p:cNvSpPr txBox="1"/>
                  <p:nvPr/>
                </p:nvSpPr>
                <p:spPr>
                  <a:xfrm>
                    <a:off x="4021725" y="4825490"/>
                    <a:ext cx="1091709" cy="3702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𝑚</m:t>
                              </m:r>
                            </m:e>
                            <m:sub>
                              <m:r>
                                <a:rPr lang="en-US" altLang="zh-CN" b="0" i="1" smtClean="0">
                                  <a:solidFill>
                                    <a:schemeClr val="tx1"/>
                                  </a:solidFill>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45" name="文本框 44"/>
                  <p:cNvSpPr txBox="1">
                    <a:spLocks noRot="1" noChangeAspect="1" noMove="1" noResize="1" noEditPoints="1" noAdjustHandles="1" noChangeArrowheads="1" noChangeShapeType="1" noTextEdit="1"/>
                  </p:cNvSpPr>
                  <p:nvPr/>
                </p:nvSpPr>
                <p:spPr>
                  <a:xfrm>
                    <a:off x="4021725" y="4825490"/>
                    <a:ext cx="1091709" cy="370294"/>
                  </a:xfrm>
                  <a:prstGeom prst="rect">
                    <a:avLst/>
                  </a:prstGeom>
                  <a:blipFill rotWithShape="1">
                    <a:blip r:embed="rId5"/>
                  </a:blipFill>
                </p:spPr>
                <p:txBody>
                  <a:bodyPr/>
                  <a:lstStyle/>
                  <a:p>
                    <a:r>
                      <a:rPr lang="zh-CN" altLang="en-US">
                        <a:noFill/>
                      </a:rPr>
                      <a:t> </a:t>
                    </a:r>
                  </a:p>
                </p:txBody>
              </p:sp>
            </mc:Fallback>
          </mc:AlternateContent>
          <p:grpSp>
            <p:nvGrpSpPr>
              <p:cNvPr id="1348" name="组合 1347"/>
              <p:cNvGrpSpPr/>
              <p:nvPr/>
            </p:nvGrpSpPr>
            <p:grpSpPr>
              <a:xfrm>
                <a:off x="5594744" y="5483324"/>
                <a:ext cx="2280636" cy="515479"/>
                <a:chOff x="6528296" y="5571644"/>
                <a:chExt cx="2280636" cy="515479"/>
              </a:xfrm>
            </p:grpSpPr>
            <p:sp>
              <p:nvSpPr>
                <p:cNvPr id="46" name="矩形 45"/>
                <p:cNvSpPr/>
                <p:nvPr/>
              </p:nvSpPr>
              <p:spPr>
                <a:xfrm>
                  <a:off x="6528296" y="5571644"/>
                  <a:ext cx="2280636" cy="51547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矩形 12"/>
                    <p:cNvSpPr/>
                    <p:nvPr/>
                  </p:nvSpPr>
                  <p:spPr>
                    <a:xfrm>
                      <a:off x="6550552" y="5638997"/>
                      <a:ext cx="1492460" cy="369332"/>
                    </a:xfrm>
                    <a:prstGeom prst="rect">
                      <a:avLst/>
                    </a:prstGeom>
                  </p:spPr>
                  <p:txBody>
                    <a:bodyPr wrap="none">
                      <a:spAutoFit/>
                    </a:bodyPr>
                    <a:lstStyle/>
                    <a:p>
                      <a14:m>
                        <m:oMath xmlns:m="http://schemas.openxmlformats.org/officeDocument/2006/math">
                          <m:r>
                            <a:rPr lang="zh-CN" altLang="en-US" i="1" smtClean="0">
                              <a:solidFill>
                                <a:prstClr val="black"/>
                              </a:solidFill>
                              <a:latin typeface="Cambria Math" panose="02040503050406030204" pitchFamily="18" charset="0"/>
                            </a:rPr>
                            <m:t>𝜎𝜖</m:t>
                          </m:r>
                          <m:r>
                            <a:rPr lang="en-US" altLang="zh-CN" b="0" i="1" smtClean="0">
                              <a:solidFill>
                                <a:prstClr val="black"/>
                              </a:solidFill>
                              <a:latin typeface="Cambria Math" panose="02040503050406030204" pitchFamily="18" charset="0"/>
                            </a:rPr>
                            <m:t>{0,1}</m:t>
                          </m:r>
                        </m:oMath>
                      </a14:m>
                      <a:r>
                        <a:rPr lang="en-US" altLang="zh-CN" dirty="0"/>
                        <a:t>, </a:t>
                      </a:r>
                      <a14:m>
                        <m:oMath xmlns:m="http://schemas.openxmlformats.org/officeDocument/2006/math">
                          <m:sSub>
                            <m:sSubPr>
                              <m:ctrlPr>
                                <a:rPr lang="en-US" altLang="zh-CN" i="1" smtClean="0">
                                  <a:solidFill>
                                    <a:schemeClr val="accent2">
                                      <a:lumMod val="75000"/>
                                    </a:schemeClr>
                                  </a:solidFill>
                                  <a:latin typeface="Cambria Math" panose="02040503050406030204" pitchFamily="18" charset="0"/>
                                </a:rPr>
                              </m:ctrlPr>
                            </m:sSubPr>
                            <m:e>
                              <m:r>
                                <a:rPr lang="en-US" altLang="zh-CN" i="1">
                                  <a:solidFill>
                                    <a:schemeClr val="accent2">
                                      <a:lumMod val="75000"/>
                                    </a:schemeClr>
                                  </a:solidFill>
                                  <a:latin typeface="Cambria Math" panose="02040503050406030204" pitchFamily="18" charset="0"/>
                                </a:rPr>
                                <m:t>𝑚</m:t>
                              </m:r>
                            </m:e>
                            <m:sub>
                              <m:r>
                                <a:rPr lang="zh-CN" altLang="en-US" i="1">
                                  <a:solidFill>
                                    <a:schemeClr val="accent2">
                                      <a:lumMod val="75000"/>
                                    </a:schemeClr>
                                  </a:solidFill>
                                  <a:latin typeface="Cambria Math" panose="02040503050406030204" pitchFamily="18" charset="0"/>
                                </a:rPr>
                                <m:t>𝜎</m:t>
                              </m:r>
                            </m:sub>
                          </m:sSub>
                        </m:oMath>
                      </a14:m>
                      <a:r>
                        <a:rPr lang="en-US" altLang="zh-CN" dirty="0"/>
                        <a:t>,</a:t>
                      </a:r>
                      <a:r>
                        <a:rPr lang="en-US" altLang="zh-CN" dirty="0">
                          <a:solidFill>
                            <a:schemeClr val="accent2">
                              <a:lumMod val="75000"/>
                            </a:schemeClr>
                          </a:solidFill>
                        </a:rPr>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6550552" y="5638997"/>
                      <a:ext cx="1492460" cy="369332"/>
                    </a:xfrm>
                    <a:prstGeom prst="rect">
                      <a:avLst/>
                    </a:prstGeom>
                    <a:blipFill rotWithShape="1">
                      <a:blip r:embed="rId6"/>
                    </a:blipFill>
                  </p:spPr>
                  <p:txBody>
                    <a:bodyPr/>
                    <a:lstStyle/>
                    <a:p>
                      <a:r>
                        <a:rPr lang="zh-CN" altLang="en-US">
                          <a:noFill/>
                        </a:rPr>
                        <a:t> </a:t>
                      </a:r>
                    </a:p>
                  </p:txBody>
                </p:sp>
              </mc:Fallback>
            </mc:AlternateContent>
          </p:grpSp>
          <p:grpSp>
            <p:nvGrpSpPr>
              <p:cNvPr id="1351" name="组合 1350"/>
              <p:cNvGrpSpPr/>
              <p:nvPr/>
            </p:nvGrpSpPr>
            <p:grpSpPr>
              <a:xfrm>
                <a:off x="6971001" y="5534721"/>
                <a:ext cx="792761" cy="414820"/>
                <a:chOff x="5944239" y="6061733"/>
                <a:chExt cx="792761" cy="414820"/>
              </a:xfrm>
            </p:grpSpPr>
            <p:sp>
              <p:nvSpPr>
                <p:cNvPr id="1350" name="矩形 1349"/>
                <p:cNvSpPr/>
                <p:nvPr/>
              </p:nvSpPr>
              <p:spPr>
                <a:xfrm>
                  <a:off x="5944239" y="6112382"/>
                  <a:ext cx="699419" cy="364171"/>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1" name="矩形 80"/>
                    <p:cNvSpPr/>
                    <p:nvPr/>
                  </p:nvSpPr>
                  <p:spPr>
                    <a:xfrm>
                      <a:off x="5956081" y="6061733"/>
                      <a:ext cx="7809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𝑚</m:t>
                                </m:r>
                              </m:e>
                              <m:sub>
                                <m:r>
                                  <a:rPr lang="en-US" altLang="zh-CN" b="0" i="1" smtClean="0">
                                    <a:solidFill>
                                      <a:schemeClr val="tx1"/>
                                    </a:solidFill>
                                    <a:latin typeface="Cambria Math" panose="02040503050406030204" pitchFamily="18" charset="0"/>
                                  </a:rPr>
                                  <m:t>1−</m:t>
                                </m:r>
                                <m:r>
                                  <a:rPr lang="zh-CN" altLang="en-US" i="1">
                                    <a:solidFill>
                                      <a:schemeClr val="tx1"/>
                                    </a:solidFill>
                                    <a:latin typeface="Cambria Math" panose="02040503050406030204" pitchFamily="18" charset="0"/>
                                  </a:rPr>
                                  <m:t>𝜎</m:t>
                                </m:r>
                              </m:sub>
                            </m:sSub>
                          </m:oMath>
                        </m:oMathPara>
                      </a14:m>
                      <a:endParaRPr lang="zh-CN" altLang="en-US" dirty="0"/>
                    </a:p>
                  </p:txBody>
                </p:sp>
              </mc:Choice>
              <mc:Fallback xmlns="">
                <p:sp>
                  <p:nvSpPr>
                    <p:cNvPr id="81" name="矩形 80"/>
                    <p:cNvSpPr>
                      <a:spLocks noRot="1" noChangeAspect="1" noMove="1" noResize="1" noEditPoints="1" noAdjustHandles="1" noChangeArrowheads="1" noChangeShapeType="1" noTextEdit="1"/>
                    </p:cNvSpPr>
                    <p:nvPr/>
                  </p:nvSpPr>
                  <p:spPr>
                    <a:xfrm>
                      <a:off x="5956081" y="6061733"/>
                      <a:ext cx="780919" cy="369332"/>
                    </a:xfrm>
                    <a:prstGeom prst="rect">
                      <a:avLst/>
                    </a:prstGeom>
                    <a:blipFill rotWithShape="1">
                      <a:blip r:embed="rId7"/>
                    </a:blipFill>
                  </p:spPr>
                  <p:txBody>
                    <a:bodyPr/>
                    <a:lstStyle/>
                    <a:p>
                      <a:r>
                        <a:rPr lang="zh-CN" altLang="en-US">
                          <a:noFill/>
                        </a:rPr>
                        <a:t> </a:t>
                      </a:r>
                    </a:p>
                  </p:txBody>
                </p:sp>
              </mc:Fallback>
            </mc:AlternateContent>
            <p:cxnSp>
              <p:nvCxnSpPr>
                <p:cNvPr id="90" name="直接连接符 89"/>
                <p:cNvCxnSpPr/>
                <p:nvPr/>
              </p:nvCxnSpPr>
              <p:spPr>
                <a:xfrm flipV="1">
                  <a:off x="5991984" y="6205538"/>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5991046" y="6232110"/>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5994292" y="6257429"/>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5991911" y="6283375"/>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5995051" y="6307525"/>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5992964" y="6330951"/>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V="1">
                  <a:off x="5995807" y="6354334"/>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V="1">
                  <a:off x="5996971" y="6376715"/>
                  <a:ext cx="570741" cy="30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52" name="矩形 1351"/>
                  <p:cNvSpPr/>
                  <p:nvPr/>
                </p:nvSpPr>
                <p:spPr>
                  <a:xfrm>
                    <a:off x="2668847" y="5563607"/>
                    <a:ext cx="3890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solidFill>
                                <a:schemeClr val="accent2">
                                  <a:lumMod val="75000"/>
                                </a:schemeClr>
                              </a:solidFill>
                              <a:latin typeface="Cambria Math" panose="02040503050406030204" pitchFamily="18" charset="0"/>
                            </a:rPr>
                            <m:t>𝜎</m:t>
                          </m:r>
                        </m:oMath>
                      </m:oMathPara>
                    </a14:m>
                    <a:endParaRPr lang="zh-CN" altLang="en-US" dirty="0"/>
                  </a:p>
                </p:txBody>
              </p:sp>
            </mc:Choice>
            <mc:Fallback xmlns="">
              <p:sp>
                <p:nvSpPr>
                  <p:cNvPr id="1352" name="矩形 1351"/>
                  <p:cNvSpPr>
                    <a:spLocks noRot="1" noChangeAspect="1" noMove="1" noResize="1" noEditPoints="1" noAdjustHandles="1" noChangeArrowheads="1" noChangeShapeType="1" noTextEdit="1"/>
                  </p:cNvSpPr>
                  <p:nvPr/>
                </p:nvSpPr>
                <p:spPr>
                  <a:xfrm>
                    <a:off x="2668847" y="5563607"/>
                    <a:ext cx="389081" cy="369332"/>
                  </a:xfrm>
                  <a:prstGeom prst="rect">
                    <a:avLst/>
                  </a:prstGeom>
                  <a:blipFill rotWithShape="1">
                    <a:blip r:embed="rId8"/>
                  </a:blipFill>
                </p:spPr>
                <p:txBody>
                  <a:bodyPr/>
                  <a:lstStyle/>
                  <a:p>
                    <a:r>
                      <a:rPr lang="zh-CN" altLang="en-US">
                        <a:noFill/>
                      </a:rPr>
                      <a:t> </a:t>
                    </a:r>
                  </a:p>
                </p:txBody>
              </p:sp>
            </mc:Fallback>
          </mc:AlternateContent>
          <p:cxnSp>
            <p:nvCxnSpPr>
              <p:cNvPr id="1354" name="直接连接符 1353"/>
              <p:cNvCxnSpPr/>
              <p:nvPr/>
            </p:nvCxnSpPr>
            <p:spPr>
              <a:xfrm flipV="1">
                <a:off x="2788444" y="5717813"/>
                <a:ext cx="135103" cy="2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V="1">
                <a:off x="2788444" y="5740751"/>
                <a:ext cx="135103" cy="2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V="1">
                <a:off x="2785203" y="5761966"/>
                <a:ext cx="135103" cy="2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V="1">
                <a:off x="2785203" y="5788827"/>
                <a:ext cx="135103" cy="2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V="1">
                <a:off x="2785203" y="5813307"/>
                <a:ext cx="135103" cy="2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V="1">
                <a:off x="2787584" y="5834036"/>
                <a:ext cx="135103" cy="2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61" name="矩形 1360"/>
            <p:cNvSpPr/>
            <p:nvPr/>
          </p:nvSpPr>
          <p:spPr>
            <a:xfrm>
              <a:off x="5180109" y="5893359"/>
              <a:ext cx="3486852" cy="369332"/>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Bob</a:t>
              </a:r>
              <a:r>
                <a:rPr lang="zh-CN" altLang="en-US" dirty="0">
                  <a:latin typeface="Times New Roman" panose="02020603050405020304" pitchFamily="18" charset="0"/>
                  <a:cs typeface="Times New Roman" panose="02020603050405020304" pitchFamily="18" charset="0"/>
                </a:rPr>
                <a:t> </a:t>
              </a:r>
              <a:r>
                <a:rPr lang="zh-CN" altLang="en-US" dirty="0"/>
                <a:t>能够获得此秘密的概率是</a:t>
              </a:r>
              <a:r>
                <a:rPr lang="en-US" altLang="zh-CN" dirty="0"/>
                <a:t>1/2</a:t>
              </a:r>
              <a:endParaRPr lang="zh-CN" altLang="en-US" dirty="0"/>
            </a:p>
          </p:txBody>
        </p:sp>
        <p:sp>
          <p:nvSpPr>
            <p:cNvPr id="1362" name="文本框 1361"/>
            <p:cNvSpPr txBox="1"/>
            <p:nvPr/>
          </p:nvSpPr>
          <p:spPr>
            <a:xfrm>
              <a:off x="1731660" y="4636281"/>
              <a:ext cx="68480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Alice</a:t>
              </a:r>
              <a:endParaRPr lang="zh-CN" altLang="en-US" dirty="0">
                <a:latin typeface="Times New Roman" panose="02020603050405020304" pitchFamily="18" charset="0"/>
                <a:cs typeface="Times New Roman" panose="02020603050405020304" pitchFamily="18" charset="0"/>
              </a:endParaRPr>
            </a:p>
          </p:txBody>
        </p:sp>
        <p:sp>
          <p:nvSpPr>
            <p:cNvPr id="118" name="文本框 117"/>
            <p:cNvSpPr txBox="1"/>
            <p:nvPr/>
          </p:nvSpPr>
          <p:spPr>
            <a:xfrm>
              <a:off x="7106001" y="4636281"/>
              <a:ext cx="569387"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Bob</a:t>
              </a:r>
              <a:endParaRPr lang="zh-CN" altLang="en-US" dirty="0">
                <a:latin typeface="Times New Roman" panose="02020603050405020304" pitchFamily="18" charset="0"/>
                <a:cs typeface="Times New Roman" panose="02020603050405020304" pitchFamily="18" charset="0"/>
              </a:endParaRPr>
            </a:p>
          </p:txBody>
        </p:sp>
        <p:sp>
          <p:nvSpPr>
            <p:cNvPr id="1363" name="矩形 1362"/>
            <p:cNvSpPr/>
            <p:nvPr/>
          </p:nvSpPr>
          <p:spPr>
            <a:xfrm>
              <a:off x="954031" y="5748807"/>
              <a:ext cx="3294391" cy="646331"/>
            </a:xfrm>
            <a:prstGeom prst="rect">
              <a:avLst/>
            </a:prstGeom>
          </p:spPr>
          <p:txBody>
            <a:bodyPr wrap="square">
              <a:spAutoFit/>
            </a:bodyPr>
            <a:lstStyle/>
            <a:p>
              <a:pPr algn="ctr"/>
              <a:r>
                <a:rPr lang="zh-CN" altLang="en-US" dirty="0"/>
                <a:t>发送</a:t>
              </a:r>
              <a:r>
                <a:rPr lang="en-US" altLang="zh-CN" dirty="0"/>
                <a:t>/</a:t>
              </a:r>
              <a:r>
                <a:rPr lang="zh-CN" altLang="en-US" dirty="0"/>
                <a:t>接收过程完结时，</a:t>
              </a:r>
              <a:r>
                <a:rPr lang="en-US" altLang="zh-CN" dirty="0">
                  <a:latin typeface="Times New Roman" panose="02020603050405020304" pitchFamily="18" charset="0"/>
                  <a:cs typeface="Times New Roman" panose="02020603050405020304" pitchFamily="18" charset="0"/>
                </a:rPr>
                <a:t>Alice</a:t>
              </a:r>
              <a:r>
                <a:rPr lang="zh-CN" altLang="en-US" dirty="0">
                  <a:latin typeface="Times New Roman" panose="02020603050405020304" pitchFamily="18" charset="0"/>
                  <a:cs typeface="Times New Roman" panose="02020603050405020304" pitchFamily="18" charset="0"/>
                </a:rPr>
                <a:t> </a:t>
              </a:r>
              <a:r>
                <a:rPr lang="zh-CN" altLang="en-US" dirty="0"/>
                <a:t>无法确知 </a:t>
              </a:r>
              <a:r>
                <a:rPr lang="en-US" altLang="zh-CN" dirty="0">
                  <a:latin typeface="Times New Roman" panose="02020603050405020304" pitchFamily="18" charset="0"/>
                  <a:cs typeface="Times New Roman" panose="02020603050405020304" pitchFamily="18" charset="0"/>
                </a:rPr>
                <a:t>Bob </a:t>
              </a:r>
              <a:r>
                <a:rPr lang="zh-CN" altLang="en-US" dirty="0"/>
                <a:t>是 否得到了秘密</a:t>
              </a:r>
            </a:p>
          </p:txBody>
        </p:sp>
      </p:grpSp>
      <p:sp>
        <p:nvSpPr>
          <p:cNvPr id="8" name="矩形 7"/>
          <p:cNvSpPr/>
          <p:nvPr/>
        </p:nvSpPr>
        <p:spPr>
          <a:xfrm>
            <a:off x="287284" y="3131073"/>
            <a:ext cx="8479945" cy="1569660"/>
          </a:xfrm>
          <a:prstGeom prst="rect">
            <a:avLst/>
          </a:prstGeom>
        </p:spPr>
        <p:txBody>
          <a:bodyPr wrap="square">
            <a:spAutoFit/>
          </a:bodyPr>
          <a:lstStyle/>
          <a:p>
            <a:pPr lvl="0" algn="just">
              <a:lnSpc>
                <a:spcPct val="120000"/>
              </a:lnSpc>
              <a:spcBef>
                <a:spcPts val="600"/>
              </a:spcBef>
            </a:pPr>
            <a:r>
              <a:rPr lang="zh-CN" altLang="en-US" sz="2000" b="1" dirty="0">
                <a:solidFill>
                  <a:srgbClr val="0000FF"/>
                </a:solidFill>
                <a:latin typeface="Times New Roman" panose="02020603050405020304" pitchFamily="18" charset="0"/>
                <a:cs typeface="Times New Roman" panose="02020603050405020304" pitchFamily="18" charset="0"/>
              </a:rPr>
              <a:t>不经意传输协议（</a:t>
            </a:r>
            <a:r>
              <a:rPr lang="en-US" altLang="zh-CN" sz="2000" b="1" dirty="0">
                <a:solidFill>
                  <a:srgbClr val="0000FF"/>
                </a:solidFill>
                <a:latin typeface="Times New Roman" panose="02020603050405020304" pitchFamily="18" charset="0"/>
                <a:cs typeface="Times New Roman" panose="02020603050405020304" pitchFamily="18" charset="0"/>
              </a:rPr>
              <a:t>Oblivious transfer Protocol</a:t>
            </a:r>
            <a:r>
              <a:rPr lang="zh-CN" altLang="en-US" sz="2000" b="1" dirty="0">
                <a:solidFill>
                  <a:srgbClr val="0000FF"/>
                </a:solidFill>
                <a:latin typeface="Times New Roman" panose="02020603050405020304" pitchFamily="18" charset="0"/>
                <a:cs typeface="Times New Roman" panose="02020603050405020304" pitchFamily="18" charset="0"/>
              </a:rPr>
              <a:t>）</a:t>
            </a:r>
            <a:r>
              <a:rPr lang="zh-CN" altLang="en-US" sz="2000" dirty="0">
                <a:solidFill>
                  <a:prstClr val="black"/>
                </a:solidFill>
                <a:latin typeface="Times New Roman" panose="02020603050405020304" pitchFamily="18" charset="0"/>
                <a:cs typeface="Times New Roman" panose="02020603050405020304" pitchFamily="18" charset="0"/>
              </a:rPr>
              <a:t>最早由 </a:t>
            </a:r>
            <a:r>
              <a:rPr lang="en-US" altLang="zh-CN" sz="2000" dirty="0">
                <a:solidFill>
                  <a:prstClr val="black"/>
                </a:solidFill>
                <a:latin typeface="Times New Roman" panose="02020603050405020304" pitchFamily="18" charset="0"/>
                <a:cs typeface="Times New Roman" panose="02020603050405020304" pitchFamily="18" charset="0"/>
              </a:rPr>
              <a:t>Rabin </a:t>
            </a:r>
            <a:r>
              <a:rPr lang="zh-CN" altLang="en-US" sz="2000" dirty="0">
                <a:solidFill>
                  <a:prstClr val="black"/>
                </a:solidFill>
                <a:latin typeface="Times New Roman" panose="02020603050405020304" pitchFamily="18" charset="0"/>
                <a:cs typeface="Times New Roman" panose="02020603050405020304" pitchFamily="18" charset="0"/>
              </a:rPr>
              <a:t>提出：是指发送方向接收方发送 </a:t>
            </a:r>
            <a:r>
              <a:rPr lang="en-US" altLang="zh-CN" sz="2000" dirty="0">
                <a:solidFill>
                  <a:prstClr val="black"/>
                </a:solidFill>
                <a:latin typeface="Times New Roman" panose="02020603050405020304" pitchFamily="18" charset="0"/>
                <a:cs typeface="Times New Roman" panose="02020603050405020304" pitchFamily="18" charset="0"/>
              </a:rPr>
              <a:t>2 </a:t>
            </a:r>
            <a:r>
              <a:rPr lang="zh-CN" altLang="en-US" sz="2000" dirty="0">
                <a:solidFill>
                  <a:prstClr val="black"/>
                </a:solidFill>
                <a:latin typeface="Times New Roman" panose="02020603050405020304" pitchFamily="18" charset="0"/>
                <a:cs typeface="Times New Roman" panose="02020603050405020304" pitchFamily="18" charset="0"/>
              </a:rPr>
              <a:t>条消息，接收方通过 </a:t>
            </a:r>
            <a:r>
              <a:rPr lang="en-US" altLang="zh-CN" sz="2000" dirty="0">
                <a:solidFill>
                  <a:prstClr val="black"/>
                </a:solidFill>
                <a:latin typeface="Times New Roman" panose="02020603050405020304" pitchFamily="18" charset="0"/>
                <a:cs typeface="Times New Roman" panose="02020603050405020304" pitchFamily="18" charset="0"/>
              </a:rPr>
              <a:t>1 </a:t>
            </a:r>
            <a:r>
              <a:rPr lang="zh-CN" altLang="en-US" sz="2000" dirty="0">
                <a:solidFill>
                  <a:prstClr val="black"/>
                </a:solidFill>
                <a:latin typeface="Times New Roman" panose="02020603050405020304" pitchFamily="18" charset="0"/>
                <a:cs typeface="Times New Roman" panose="02020603050405020304" pitchFamily="18" charset="0"/>
              </a:rPr>
              <a:t>位选择比特能够选择性地接收其中一条消息，发送方无法确定接收方的选择比特</a:t>
            </a:r>
            <a:r>
              <a:rPr lang="en-US" altLang="zh-CN" sz="2000" dirty="0">
                <a:solidFill>
                  <a:prstClr val="black"/>
                </a:solidFill>
                <a:latin typeface="Times New Roman" panose="02020603050405020304" pitchFamily="18" charset="0"/>
                <a:cs typeface="Times New Roman" panose="02020603050405020304" pitchFamily="18" charset="0"/>
              </a:rPr>
              <a:t>, </a:t>
            </a:r>
            <a:r>
              <a:rPr lang="zh-CN" altLang="en-US" sz="2000" dirty="0">
                <a:solidFill>
                  <a:prstClr val="black"/>
                </a:solidFill>
                <a:latin typeface="Times New Roman" panose="02020603050405020304" pitchFamily="18" charset="0"/>
                <a:cs typeface="Times New Roman" panose="02020603050405020304" pitchFamily="18" charset="0"/>
              </a:rPr>
              <a:t>而接收方对未选择消息一无所知。</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不经意传输协议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37</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8.2 </a:t>
            </a:r>
            <a:r>
              <a:rPr lang="zh-CN" altLang="en-US" sz="2400" b="1" dirty="0">
                <a:solidFill>
                  <a:srgbClr val="FF0000"/>
                </a:solidFill>
                <a:latin typeface="+mn-ea"/>
              </a:rPr>
              <a:t>基于整数分解问题的不经意传输协议</a:t>
            </a:r>
          </a:p>
        </p:txBody>
      </p:sp>
      <mc:AlternateContent xmlns:mc="http://schemas.openxmlformats.org/markup-compatibility/2006" xmlns:a14="http://schemas.microsoft.com/office/drawing/2010/main">
        <mc:Choice Requires="a14">
          <p:sp>
            <p:nvSpPr>
              <p:cNvPr id="9" name="文本框 8"/>
              <p:cNvSpPr txBox="1"/>
              <p:nvPr/>
            </p:nvSpPr>
            <p:spPr>
              <a:xfrm>
                <a:off x="312517" y="1716435"/>
                <a:ext cx="8479945" cy="4052969"/>
              </a:xfrm>
              <a:prstGeom prst="rect">
                <a:avLst/>
              </a:prstGeom>
              <a:noFill/>
            </p:spPr>
            <p:txBody>
              <a:bodyPr wrap="square" rtlCol="0">
                <a:spAutoFit/>
              </a:bodyPr>
              <a:lstStyle/>
              <a:p>
                <a:pPr algn="just">
                  <a:lnSpc>
                    <a:spcPct val="150000"/>
                  </a:lnSpc>
                  <a:spcBef>
                    <a:spcPts val="600"/>
                  </a:spcBef>
                  <a:spcAft>
                    <a:spcPts val="600"/>
                  </a:spcAft>
                </a:pPr>
                <a:r>
                  <a:rPr lang="zh-CN" altLang="en-US" sz="2000" dirty="0">
                    <a:latin typeface="Times New Roman" panose="02020603050405020304" pitchFamily="18" charset="0"/>
                    <a:cs typeface="Times New Roman" panose="02020603050405020304" pitchFamily="18" charset="0"/>
                  </a:rPr>
                  <a:t>设 </a:t>
                </a:r>
                <a:r>
                  <a:rPr lang="en-US" altLang="zh-CN" sz="2000" dirty="0">
                    <a:latin typeface="Times New Roman" panose="02020603050405020304" pitchFamily="18" charset="0"/>
                    <a:cs typeface="Times New Roman" panose="02020603050405020304" pitchFamily="18" charset="0"/>
                  </a:rPr>
                  <a:t>A </a:t>
                </a:r>
                <a:r>
                  <a:rPr lang="zh-CN" altLang="en-US" sz="2000" dirty="0">
                    <a:latin typeface="Times New Roman" panose="02020603050405020304" pitchFamily="18" charset="0"/>
                    <a:cs typeface="Times New Roman" panose="02020603050405020304" pitchFamily="18" charset="0"/>
                  </a:rPr>
                  <a:t>想通过不经意传输协议传递给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的秘密是整数</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𝑛</m:t>
                    </m:r>
                    <m:r>
                      <a:rPr lang="en-US" altLang="zh-CN" sz="2000" b="0" i="0" smtClean="0">
                        <a:latin typeface="Cambria Math" panose="02040503050406030204" pitchFamily="18" charset="0"/>
                        <a:cs typeface="Times New Roman" panose="02020603050405020304" pitchFamily="18" charset="0"/>
                      </a:rPr>
                      <m:t> </m:t>
                    </m:r>
                  </m:oMath>
                </a14:m>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为两个大素数之积</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的因数分解。</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随机选择一个整数</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𝑥</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，并且计算</a:t>
                </a:r>
                <a14:m>
                  <m:oMath xmlns:m="http://schemas.openxmlformats.org/officeDocument/2006/math">
                    <m:sSup>
                      <m:sSupPr>
                        <m:ctrlPr>
                          <a:rPr lang="en-US" altLang="zh-CN" sz="2000" i="1" smtClean="0">
                            <a:latin typeface="Cambria Math" panose="02040503050406030204" pitchFamily="18" charset="0"/>
                            <a:cs typeface="Times New Roman" panose="02020603050405020304" pitchFamily="18" charset="0"/>
                          </a:rPr>
                        </m:ctrlPr>
                      </m:sSupPr>
                      <m:e>
                        <m:r>
                          <a:rPr lang="en-US" altLang="zh-CN" sz="2000" b="0" i="1"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𝑥</m:t>
                        </m:r>
                      </m:e>
                      <m:sup>
                        <m:r>
                          <a:rPr lang="en-US" altLang="zh-CN" sz="2000" b="0" i="1" smtClean="0">
                            <a:latin typeface="Cambria Math" panose="02040503050406030204" pitchFamily="18" charset="0"/>
                            <a:cs typeface="Times New Roman" panose="02020603050405020304" pitchFamily="18" charset="0"/>
                          </a:rPr>
                          <m:t>2</m:t>
                        </m:r>
                      </m:sup>
                    </m:sSup>
                    <m:r>
                      <a:rPr lang="en-US" altLang="zh-CN" sz="2000" b="0" i="0" smtClean="0">
                        <a:latin typeface="Cambria Math" panose="02040503050406030204" pitchFamily="18" charset="0"/>
                        <a:cs typeface="Times New Roman" panose="02020603050405020304" pitchFamily="18" charset="0"/>
                      </a:rPr>
                      <m:t> </m:t>
                    </m:r>
                    <m:r>
                      <m:rPr>
                        <m:sty m:val="p"/>
                      </m:rPr>
                      <a:rPr lang="en-US" altLang="zh-CN" sz="2000" b="0" i="0" smtClean="0">
                        <a:latin typeface="Cambria Math" panose="02040503050406030204" pitchFamily="18" charset="0"/>
                        <a:cs typeface="Times New Roman" panose="02020603050405020304" pitchFamily="18" charset="0"/>
                      </a:rPr>
                      <m:t>mod</m:t>
                    </m:r>
                    <m:r>
                      <a:rPr lang="en-US" altLang="zh-CN" sz="2000" b="0" i="1"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𝑛</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发送给 </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（掌握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𝑛</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𝑝𝑞</m:t>
                    </m:r>
                    <m:r>
                      <a:rPr lang="en-US" altLang="zh-CN" sz="2000" b="0" i="1" smtClean="0">
                        <a:latin typeface="Cambria Math" panose="02040503050406030204" pitchFamily="18" charset="0"/>
                        <a:cs typeface="Times New Roman" panose="02020603050405020304" pitchFamily="18" charset="0"/>
                      </a:rPr>
                      <m:t> </m:t>
                    </m:r>
                    <m:r>
                      <a:rPr lang="zh-CN" altLang="en-US" sz="2000" i="1">
                        <a:latin typeface="Cambria Math" panose="02040503050406030204" pitchFamily="18" charset="0"/>
                        <a:cs typeface="Times New Roman" panose="02020603050405020304" pitchFamily="18" charset="0"/>
                      </a:rPr>
                      <m:t>的</m:t>
                    </m:r>
                  </m:oMath>
                </a14:m>
                <a:r>
                  <a:rPr lang="zh-CN" altLang="en-US" sz="2000" dirty="0">
                    <a:latin typeface="Times New Roman" panose="02020603050405020304" pitchFamily="18" charset="0"/>
                    <a:cs typeface="Times New Roman" panose="02020603050405020304" pitchFamily="18" charset="0"/>
                  </a:rPr>
                  <a:t>分解）计算</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e>
                      <m:sup>
                        <m:r>
                          <a:rPr lang="en-US" altLang="zh-CN" sz="2000" i="1">
                            <a:latin typeface="Cambria Math" panose="02040503050406030204" pitchFamily="18" charset="0"/>
                            <a:cs typeface="Times New Roman" panose="02020603050405020304" pitchFamily="18" charset="0"/>
                          </a:rPr>
                          <m:t>2</m:t>
                        </m:r>
                      </m:sup>
                    </m:sSup>
                    <m:r>
                      <m:rPr>
                        <m:sty m:val="p"/>
                      </m:rPr>
                      <a:rPr lang="en-US" altLang="zh-CN" sz="2000" i="0">
                        <a:latin typeface="Cambria Math" panose="02040503050406030204" pitchFamily="18" charset="0"/>
                        <a:cs typeface="Times New Roman" panose="02020603050405020304" pitchFamily="18" charset="0"/>
                      </a:rPr>
                      <m:t>mod</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 </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个平方根</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 和±</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𝑦</m:t>
                    </m:r>
                    <m:r>
                      <a:rPr lang="zh-CN" altLang="en-US" sz="2000" i="1">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并将其中之一发送给</a:t>
                </a: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，但是 </a:t>
                </a:r>
                <a:r>
                  <a:rPr lang="en-US" altLang="zh-CN" sz="2000" dirty="0">
                    <a:latin typeface="Times New Roman" panose="02020603050405020304" pitchFamily="18" charset="0"/>
                    <a:cs typeface="Times New Roman" panose="02020603050405020304" pitchFamily="18" charset="0"/>
                  </a:rPr>
                  <a:t>Bob</a:t>
                </a:r>
                <a:r>
                  <a:rPr lang="zh-CN" altLang="en-US" sz="2000" dirty="0">
                    <a:latin typeface="Times New Roman" panose="02020603050405020304" pitchFamily="18" charset="0"/>
                    <a:cs typeface="Times New Roman" panose="02020603050405020304" pitchFamily="18" charset="0"/>
                  </a:rPr>
                  <a:t>之中不知道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选择的是哪个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𝑥</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检查收到的数与</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是否在模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下同余？如果是，则</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没有得到任何新消息；否则</a:t>
                </a: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就掌握了</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e>
                      <m:sup>
                        <m:r>
                          <a:rPr lang="en-US" altLang="zh-CN" sz="2000" i="1">
                            <a:latin typeface="Cambria Math" panose="02040503050406030204" pitchFamily="18" charset="0"/>
                            <a:cs typeface="Times New Roman" panose="02020603050405020304" pitchFamily="18" charset="0"/>
                          </a:rPr>
                          <m:t>2</m:t>
                        </m:r>
                      </m:sup>
                    </m:sSup>
                    <m:r>
                      <m:rPr>
                        <m:sty m:val="p"/>
                      </m:rPr>
                      <a:rPr lang="en-US" altLang="zh-CN" sz="2000" i="0">
                        <a:latin typeface="Cambria Math" panose="02040503050406030204" pitchFamily="18" charset="0"/>
                        <a:cs typeface="Times New Roman" panose="02020603050405020304" pitchFamily="18" charset="0"/>
                      </a:rPr>
                      <m:t>mod</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的两个不同的平方根，从而能够分解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，而</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可以分解</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的概率为</a:t>
                </a:r>
                <a:r>
                  <a:rPr lang="en-US" altLang="zh-CN"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f>
                      <m:fPr>
                        <m:ctrlPr>
                          <a:rPr lang="en-US" altLang="zh-CN" sz="2000" i="1" smtClean="0">
                            <a:latin typeface="Cambria Math" panose="02040503050406030204" pitchFamily="18" charset="0"/>
                            <a:cs typeface="Times New Roman" panose="02020603050405020304" pitchFamily="18" charset="0"/>
                          </a:rPr>
                        </m:ctrlPr>
                      </m:fPr>
                      <m:num>
                        <m:r>
                          <a:rPr lang="en-US" altLang="zh-CN" sz="2000" b="0" i="1" smtClean="0">
                            <a:latin typeface="Cambria Math" panose="02040503050406030204" pitchFamily="18" charset="0"/>
                            <a:cs typeface="Times New Roman" panose="02020603050405020304" pitchFamily="18" charset="0"/>
                          </a:rPr>
                          <m:t>1</m:t>
                        </m:r>
                      </m:num>
                      <m:den>
                        <m:r>
                          <a:rPr lang="en-US" altLang="zh-CN" sz="2000" b="0" i="1" smtClean="0">
                            <a:latin typeface="Cambria Math" panose="02040503050406030204" pitchFamily="18" charset="0"/>
                            <a:cs typeface="Times New Roman" panose="02020603050405020304" pitchFamily="18" charset="0"/>
                          </a:rPr>
                          <m:t>2</m:t>
                        </m:r>
                      </m:den>
                    </m:f>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12517" y="1716435"/>
                <a:ext cx="8479945" cy="4052969"/>
              </a:xfrm>
              <a:prstGeom prst="rect">
                <a:avLst/>
              </a:prstGeom>
              <a:blipFill rotWithShape="1">
                <a:blip r:embed="rId4"/>
                <a:stretch>
                  <a:fillRect l="-1" t="-1" r="3" b="11"/>
                </a:stretch>
              </a:blipFill>
            </p:spPr>
            <p:txBody>
              <a:bodyPr/>
              <a:lstStyle/>
              <a:p>
                <a:r>
                  <a:rPr lang="zh-CN" altLang="en-US">
                    <a:noFill/>
                  </a:rPr>
                  <a:t> </a:t>
                </a:r>
              </a:p>
            </p:txBody>
          </p:sp>
        </mc:Fallback>
      </mc:AlternateContent>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不经意传输协议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38</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8.3 </a:t>
            </a:r>
            <a:r>
              <a:rPr lang="zh-CN" altLang="en-US" sz="2400" b="1" dirty="0">
                <a:solidFill>
                  <a:srgbClr val="FF0000"/>
                </a:solidFill>
                <a:latin typeface="+mn-ea"/>
              </a:rPr>
              <a:t>基于混合加密的不经意传输协议</a:t>
            </a:r>
          </a:p>
        </p:txBody>
      </p:sp>
      <mc:AlternateContent xmlns:mc="http://schemas.openxmlformats.org/markup-compatibility/2006" xmlns:a14="http://schemas.microsoft.com/office/drawing/2010/main">
        <mc:Choice Requires="a14">
          <p:sp>
            <p:nvSpPr>
              <p:cNvPr id="11" name="矩形 10"/>
              <p:cNvSpPr/>
              <p:nvPr/>
            </p:nvSpPr>
            <p:spPr>
              <a:xfrm>
                <a:off x="230221" y="1652141"/>
                <a:ext cx="8406611" cy="4798878"/>
              </a:xfrm>
              <a:prstGeom prst="rect">
                <a:avLst/>
              </a:prstGeom>
            </p:spPr>
            <p:txBody>
              <a:bodyPr wrap="square">
                <a:spAutoFit/>
              </a:bodyPr>
              <a:lstStyle/>
              <a:p>
                <a:pPr marL="342900" indent="-342900" algn="just">
                  <a:lnSpc>
                    <a:spcPct val="140000"/>
                  </a:lnSpc>
                  <a:spcBef>
                    <a:spcPts val="6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拥有</a:t>
                </a:r>
                <a14:m>
                  <m:oMath xmlns:m="http://schemas.openxmlformats.org/officeDocument/2006/math">
                    <m:r>
                      <a:rPr lang="zh-CN" altLang="en-US" sz="1900" i="1">
                        <a:latin typeface="Cambria Math" panose="02040503050406030204" pitchFamily="18" charset="0"/>
                      </a:rPr>
                      <m:t>消息序列</m:t>
                    </m:r>
                    <m:r>
                      <a:rPr lang="en-US" altLang="zh-CN" sz="1900" i="1">
                        <a:latin typeface="Cambria Math" panose="02040503050406030204" pitchFamily="18" charset="0"/>
                      </a:rPr>
                      <m:t> </m:t>
                    </m:r>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𝑚</m:t>
                            </m:r>
                          </m:e>
                          <m:sub>
                            <m:r>
                              <a:rPr lang="en-US" altLang="zh-CN" sz="1900" i="1">
                                <a:latin typeface="Cambria Math" panose="02040503050406030204" pitchFamily="18" charset="0"/>
                              </a:rPr>
                              <m:t>1</m:t>
                            </m:r>
                          </m:sub>
                        </m:sSub>
                        <m:r>
                          <a:rPr lang="en-US" altLang="zh-CN" sz="1900" i="1">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𝑚</m:t>
                            </m:r>
                          </m:e>
                          <m:sub>
                            <m:r>
                              <a:rPr lang="en-US" altLang="zh-CN" sz="1900" i="1">
                                <a:latin typeface="Cambria Math" panose="02040503050406030204" pitchFamily="18" charset="0"/>
                              </a:rPr>
                              <m:t>𝑛</m:t>
                            </m:r>
                          </m:sub>
                        </m:sSub>
                      </m:e>
                    </m:d>
                  </m:oMath>
                </a14:m>
                <a:r>
                  <a:rPr lang="zh-CN" altLang="en-US" sz="1900" dirty="0">
                    <a:latin typeface="Times New Roman" panose="02020603050405020304" pitchFamily="18" charset="0"/>
                    <a:cs typeface="Times New Roman" panose="02020603050405020304" pitchFamily="18" charset="0"/>
                  </a:rPr>
                  <a:t>，此外她选择</a:t>
                </a:r>
                <a14:m>
                  <m:oMath xmlns:m="http://schemas.openxmlformats.org/officeDocument/2006/math">
                    <m:r>
                      <a:rPr lang="en-US" altLang="zh-CN" sz="1900" i="1">
                        <a:latin typeface="Cambria Math" panose="02040503050406030204" pitchFamily="18" charset="0"/>
                      </a:rPr>
                      <m:t>𝑛</m:t>
                    </m:r>
                    <m:r>
                      <a:rPr lang="en-US" altLang="zh-CN" sz="1900" i="1">
                        <a:latin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rPr>
                  <a:t>个</a:t>
                </a:r>
                <a:r>
                  <a:rPr lang="en-US" altLang="zh-CN" sz="1900" dirty="0">
                    <a:latin typeface="Times New Roman" panose="02020603050405020304" pitchFamily="18" charset="0"/>
                    <a:cs typeface="Times New Roman" panose="02020603050405020304" pitchFamily="18" charset="0"/>
                  </a:rPr>
                  <a:t>RSA</a:t>
                </a:r>
                <a:r>
                  <a:rPr lang="zh-CN" altLang="en-US" sz="1900" dirty="0">
                    <a:latin typeface="Cambria Math" panose="02040503050406030204" pitchFamily="18" charset="0"/>
                  </a:rPr>
                  <a:t>密钥</a:t>
                </a:r>
                <a14:m>
                  <m:oMath xmlns:m="http://schemas.openxmlformats.org/officeDocument/2006/math">
                    <m:r>
                      <m:rPr>
                        <m:nor/>
                      </m:rPr>
                      <a:rPr lang="zh-CN" altLang="en-US" sz="1900" dirty="0">
                        <a:latin typeface="Cambria Math" panose="02040503050406030204" pitchFamily="18" charset="0"/>
                      </a:rPr>
                      <m:t>对</m:t>
                    </m:r>
                    <m:d>
                      <m:dPr>
                        <m:begChr m:val="{"/>
                        <m:endChr m:val="}"/>
                        <m:ctrlPr>
                          <a:rPr lang="en-US" altLang="zh-CN" sz="1900" i="1">
                            <a:latin typeface="Cambria Math" panose="02040503050406030204" pitchFamily="18" charset="0"/>
                          </a:rPr>
                        </m:ctrlPr>
                      </m:dPr>
                      <m:e>
                        <m:d>
                          <m:dPr>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𝑝𝑘</m:t>
                                </m:r>
                              </m:e>
                              <m:sub>
                                <m:r>
                                  <a:rPr lang="en-US" altLang="zh-CN" sz="1900" i="1">
                                    <a:latin typeface="Cambria Math" panose="02040503050406030204" pitchFamily="18" charset="0"/>
                                  </a:rPr>
                                  <m:t>1</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𝑠𝑘</m:t>
                                </m:r>
                              </m:e>
                              <m:sub>
                                <m:r>
                                  <a:rPr lang="en-US" altLang="zh-CN" sz="1900" i="1">
                                    <a:latin typeface="Cambria Math" panose="02040503050406030204" pitchFamily="18" charset="0"/>
                                  </a:rPr>
                                  <m:t>1</m:t>
                                </m:r>
                              </m:sub>
                            </m:sSub>
                          </m:e>
                        </m:d>
                        <m:r>
                          <a:rPr lang="en-US" altLang="zh-CN" sz="1900" i="1">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𝑝𝑘</m:t>
                            </m:r>
                          </m:e>
                          <m:sub>
                            <m:r>
                              <a:rPr lang="en-US" altLang="zh-CN" sz="1900" i="1">
                                <a:latin typeface="Cambria Math" panose="02040503050406030204" pitchFamily="18" charset="0"/>
                              </a:rPr>
                              <m:t>𝑛</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𝑠𝑘</m:t>
                            </m:r>
                          </m:e>
                          <m:sub>
                            <m:r>
                              <a:rPr lang="en-US" altLang="zh-CN" sz="1900" i="1">
                                <a:latin typeface="Cambria Math" panose="02040503050406030204" pitchFamily="18" charset="0"/>
                              </a:rPr>
                              <m:t>𝑛</m:t>
                            </m:r>
                          </m:sub>
                        </m:sSub>
                        <m:r>
                          <a:rPr lang="en-US" altLang="zh-CN" sz="1900" i="1">
                            <a:latin typeface="Cambria Math" panose="02040503050406030204" pitchFamily="18" charset="0"/>
                          </a:rPr>
                          <m:t>)</m:t>
                        </m:r>
                      </m:e>
                    </m:d>
                  </m:oMath>
                </a14:m>
                <a:r>
                  <a:rPr lang="zh-CN" altLang="en-US" sz="1900" dirty="0">
                    <a:latin typeface="Times New Roman" panose="02020603050405020304" pitchFamily="18" charset="0"/>
                    <a:cs typeface="Times New Roman" panose="02020603050405020304" pitchFamily="18" charset="0"/>
                  </a:rPr>
                  <a:t>，并且将</a:t>
                </a:r>
                <a14:m>
                  <m:oMath xmlns:m="http://schemas.openxmlformats.org/officeDocument/2006/math">
                    <m:r>
                      <a:rPr lang="en-US" altLang="zh-CN" sz="1900">
                        <a:latin typeface="Cambria Math" panose="02040503050406030204" pitchFamily="18" charset="0"/>
                      </a:rPr>
                      <m:t> </m:t>
                    </m:r>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𝑝𝑘</m:t>
                            </m:r>
                          </m:e>
                          <m:sub>
                            <m:r>
                              <a:rPr lang="en-US" altLang="zh-CN" sz="1900" i="1">
                                <a:latin typeface="Cambria Math" panose="02040503050406030204" pitchFamily="18" charset="0"/>
                              </a:rPr>
                              <m:t>1</m:t>
                            </m:r>
                          </m:sub>
                        </m:sSub>
                        <m:r>
                          <a:rPr lang="en-US" altLang="zh-CN" sz="1900" i="1">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𝑝𝑘</m:t>
                            </m:r>
                          </m:e>
                          <m:sub>
                            <m:r>
                              <a:rPr lang="en-US" altLang="zh-CN" sz="1900" i="1">
                                <a:latin typeface="Cambria Math" panose="02040503050406030204" pitchFamily="18" charset="0"/>
                              </a:rPr>
                              <m:t>𝑛</m:t>
                            </m:r>
                          </m:sub>
                        </m:sSub>
                      </m:e>
                    </m:d>
                    <m:r>
                      <a:rPr lang="en-US" altLang="zh-CN" sz="1900" i="1">
                        <a:latin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rPr>
                  <a:t>发送给 </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40000"/>
                  </a:lnSpc>
                  <a:spcBef>
                    <a:spcPts val="6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想获得</a:t>
                </a:r>
                <a14:m>
                  <m:oMath xmlns:m="http://schemas.openxmlformats.org/officeDocument/2006/math">
                    <m:r>
                      <a:rPr lang="zh-CN" altLang="en-US" sz="1900" i="1">
                        <a:latin typeface="Cambria Math" panose="02040503050406030204" pitchFamily="18" charset="0"/>
                      </a:rPr>
                      <m:t>消息序列</m:t>
                    </m:r>
                    <m:r>
                      <a:rPr lang="en-US" altLang="zh-CN" sz="1900" b="0" i="1" smtClean="0">
                        <a:latin typeface="Cambria Math" panose="02040503050406030204" pitchFamily="18" charset="0"/>
                      </a:rPr>
                      <m:t> </m:t>
                    </m:r>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𝑚</m:t>
                            </m:r>
                          </m:e>
                          <m:sub>
                            <m:r>
                              <a:rPr lang="en-US" altLang="zh-CN" sz="1900" i="1">
                                <a:latin typeface="Cambria Math" panose="02040503050406030204" pitchFamily="18" charset="0"/>
                              </a:rPr>
                              <m:t>1</m:t>
                            </m:r>
                          </m:sub>
                        </m:sSub>
                        <m:r>
                          <a:rPr lang="en-US" altLang="zh-CN" sz="1900" i="1">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𝑚</m:t>
                            </m:r>
                          </m:e>
                          <m:sub>
                            <m:r>
                              <a:rPr lang="en-US" altLang="zh-CN" sz="1900" i="1">
                                <a:latin typeface="Cambria Math" panose="02040503050406030204" pitchFamily="18" charset="0"/>
                              </a:rPr>
                              <m:t>𝑛</m:t>
                            </m:r>
                          </m:sub>
                        </m:sSub>
                      </m:e>
                    </m:d>
                  </m:oMath>
                </a14:m>
                <a:r>
                  <a:rPr lang="zh-CN" altLang="en-US" sz="1900" dirty="0">
                    <a:latin typeface="Times New Roman" panose="02020603050405020304" pitchFamily="18" charset="0"/>
                    <a:cs typeface="Times New Roman" panose="02020603050405020304" pitchFamily="18" charset="0"/>
                  </a:rPr>
                  <a:t> 中的第</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𝑡</m:t>
                    </m:r>
                  </m:oMath>
                </a14:m>
                <a:r>
                  <a:rPr lang="zh-CN" altLang="en-US" sz="1900" dirty="0"/>
                  <a:t> 条消息，他</a:t>
                </a:r>
                <a:r>
                  <a:rPr lang="zh-CN" altLang="en-US" sz="1900" dirty="0">
                    <a:latin typeface="Cambria Math" panose="02040503050406030204" pitchFamily="18" charset="0"/>
                  </a:rPr>
                  <a:t>随机选择一个</a:t>
                </a:r>
                <a:r>
                  <a:rPr lang="en-US" altLang="zh-CN" sz="1900" dirty="0">
                    <a:latin typeface="Times New Roman" panose="02020603050405020304" pitchFamily="18" charset="0"/>
                    <a:cs typeface="Times New Roman" panose="02020603050405020304" pitchFamily="18" charset="0"/>
                  </a:rPr>
                  <a:t>AES</a:t>
                </a:r>
                <a:r>
                  <a:rPr lang="zh-CN" altLang="en-US" sz="1900" dirty="0">
                    <a:latin typeface="Cambria Math" panose="02040503050406030204" pitchFamily="18" charset="0"/>
                  </a:rPr>
                  <a:t>密钥</a:t>
                </a:r>
                <a:r>
                  <a:rPr lang="en-US" altLang="zh-CN" sz="1900" i="1" dirty="0">
                    <a:latin typeface="Times New Roman" panose="02020603050405020304" pitchFamily="18" charset="0"/>
                    <a:cs typeface="Times New Roman" panose="02020603050405020304" pitchFamily="18" charset="0"/>
                  </a:rPr>
                  <a:t>Key</a:t>
                </a:r>
                <a:r>
                  <a:rPr lang="zh-CN" altLang="en-US" sz="1900" dirty="0">
                    <a:latin typeface="Times New Roman" panose="02020603050405020304" pitchFamily="18" charset="0"/>
                    <a:cs typeface="Times New Roman" panose="02020603050405020304" pitchFamily="18" charset="0"/>
                  </a:rPr>
                  <a:t>，使用</a:t>
                </a:r>
                <a:r>
                  <a:rPr lang="en-US" altLang="zh-CN" sz="1900" dirty="0">
                    <a:latin typeface="Times New Roman" panose="02020603050405020304" pitchFamily="18" charset="0"/>
                    <a:cs typeface="Times New Roman" panose="02020603050405020304" pitchFamily="18" charset="0"/>
                  </a:rPr>
                  <a:t>RSA</a:t>
                </a:r>
                <a:r>
                  <a:rPr lang="zh-CN" altLang="en-US" sz="1900" dirty="0">
                    <a:latin typeface="Times New Roman" panose="02020603050405020304" pitchFamily="18" charset="0"/>
                    <a:cs typeface="Times New Roman" panose="02020603050405020304" pitchFamily="18" charset="0"/>
                  </a:rPr>
                  <a:t>加密算法对</a:t>
                </a:r>
                <a:r>
                  <a:rPr lang="zh-CN" altLang="en-US" sz="1900" dirty="0">
                    <a:latin typeface="Cambria Math" panose="02040503050406030204" pitchFamily="18" charset="0"/>
                  </a:rPr>
                  <a:t>密钥</a:t>
                </a:r>
                <a:r>
                  <a:rPr lang="en-US" altLang="zh-CN" sz="1900" i="1" dirty="0">
                    <a:latin typeface="Times New Roman" panose="02020603050405020304" pitchFamily="18" charset="0"/>
                    <a:cs typeface="Times New Roman" panose="02020603050405020304" pitchFamily="18" charset="0"/>
                  </a:rPr>
                  <a:t>Key</a:t>
                </a:r>
                <a:r>
                  <a:rPr lang="zh-CN" altLang="en-US" sz="1900" dirty="0">
                    <a:latin typeface="Times New Roman" panose="02020603050405020304" pitchFamily="18" charset="0"/>
                    <a:cs typeface="Times New Roman" panose="02020603050405020304" pitchFamily="18" charset="0"/>
                  </a:rPr>
                  <a:t>进行加密得到 </a:t>
                </a:r>
                <a14:m>
                  <m:oMath xmlns:m="http://schemas.openxmlformats.org/officeDocument/2006/math">
                    <m:r>
                      <a:rPr lang="en-US" altLang="zh-CN" sz="1900" i="1">
                        <a:latin typeface="Cambria Math" panose="02040503050406030204" pitchFamily="18" charset="0"/>
                      </a:rPr>
                      <m:t>𝑠</m:t>
                    </m:r>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𝐸𝑛𝑐</m:t>
                        </m:r>
                      </m:e>
                      <m:sub>
                        <m:r>
                          <a:rPr lang="en-US" altLang="zh-CN" sz="1900" i="1">
                            <a:latin typeface="Cambria Math" panose="02040503050406030204" pitchFamily="18" charset="0"/>
                          </a:rPr>
                          <m:t>𝑅𝑆𝐴</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𝑝𝑘</m:t>
                        </m:r>
                      </m:e>
                      <m:sub>
                        <m:r>
                          <a:rPr lang="en-US" altLang="zh-CN" sz="1900" i="1">
                            <a:latin typeface="Cambria Math" panose="02040503050406030204" pitchFamily="18" charset="0"/>
                          </a:rPr>
                          <m:t>𝑡</m:t>
                        </m:r>
                      </m:sub>
                    </m:sSub>
                    <m:r>
                      <a:rPr lang="en-US" altLang="zh-CN" sz="1900" i="1">
                        <a:latin typeface="Cambria Math" panose="02040503050406030204" pitchFamily="18" charset="0"/>
                      </a:rPr>
                      <m:t>,</m:t>
                    </m:r>
                    <m:r>
                      <a:rPr lang="en-US" altLang="zh-CN" sz="1900" i="1">
                        <a:latin typeface="Cambria Math" panose="02040503050406030204" pitchFamily="18" charset="0"/>
                      </a:rPr>
                      <m:t>𝐾𝑒𝑦</m:t>
                    </m:r>
                    <m:r>
                      <a:rPr lang="en-US" altLang="zh-CN" sz="1900" i="1">
                        <a:latin typeface="Cambria Math" panose="02040503050406030204" pitchFamily="18" charset="0"/>
                      </a:rPr>
                      <m:t>)</m:t>
                    </m:r>
                  </m:oMath>
                </a14:m>
                <a:r>
                  <a:rPr lang="zh-CN" altLang="en-US" sz="1900" dirty="0"/>
                  <a:t>，然后将 </a:t>
                </a:r>
                <a14:m>
                  <m:oMath xmlns:m="http://schemas.openxmlformats.org/officeDocument/2006/math">
                    <m:r>
                      <a:rPr lang="en-US" altLang="zh-CN" sz="1900" i="1">
                        <a:latin typeface="Cambria Math" panose="02040503050406030204" pitchFamily="18" charset="0"/>
                      </a:rPr>
                      <m:t>𝑠</m:t>
                    </m:r>
                  </m:oMath>
                </a14:m>
                <a:r>
                  <a:rPr lang="zh-CN" altLang="en-US" sz="1900" dirty="0"/>
                  <a:t> 发送给 </a:t>
                </a:r>
                <a:r>
                  <a:rPr lang="en-US" altLang="zh-CN" sz="1900" dirty="0">
                    <a:latin typeface="Times New Roman" panose="02020603050405020304" pitchFamily="18" charset="0"/>
                    <a:cs typeface="Times New Roman" panose="02020603050405020304" pitchFamily="18" charset="0"/>
                  </a:rPr>
                  <a:t>Alice</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40000"/>
                  </a:lnSpc>
                  <a:spcBef>
                    <a:spcPts val="6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得到</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𝑠</m:t>
                    </m:r>
                  </m:oMath>
                </a14:m>
                <a:r>
                  <a:rPr lang="zh-CN" altLang="en-US" sz="1900" dirty="0">
                    <a:latin typeface="Times New Roman" panose="02020603050405020304" pitchFamily="18" charset="0"/>
                    <a:cs typeface="Times New Roman" panose="02020603050405020304" pitchFamily="18" charset="0"/>
                  </a:rPr>
                  <a:t>后，用 </a:t>
                </a:r>
                <a14:m>
                  <m:oMath xmlns:m="http://schemas.openxmlformats.org/officeDocument/2006/math">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𝑠</m:t>
                            </m:r>
                            <m:r>
                              <a:rPr lang="en-US" altLang="zh-CN" sz="1900" i="1">
                                <a:latin typeface="Cambria Math" panose="02040503050406030204" pitchFamily="18" charset="0"/>
                              </a:rPr>
                              <m:t>𝑘</m:t>
                            </m:r>
                          </m:e>
                          <m:sub>
                            <m:r>
                              <a:rPr lang="en-US" altLang="zh-CN" sz="1900" i="1">
                                <a:latin typeface="Cambria Math" panose="02040503050406030204" pitchFamily="18" charset="0"/>
                              </a:rPr>
                              <m:t>1</m:t>
                            </m:r>
                          </m:sub>
                        </m:sSub>
                        <m:r>
                          <a:rPr lang="en-US" altLang="zh-CN" sz="1900" b="0" i="1" smtClean="0">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sSub>
                          <m:sSubPr>
                            <m:ctrlPr>
                              <a:rPr lang="en-US" altLang="zh-CN" sz="1900" i="1" smtClean="0">
                                <a:latin typeface="Cambria Math" panose="02040503050406030204" pitchFamily="18" charset="0"/>
                              </a:rPr>
                            </m:ctrlPr>
                          </m:sSubPr>
                          <m:e>
                            <m:r>
                              <a:rPr lang="en-US" altLang="zh-CN" sz="1900" b="0" i="1" smtClean="0">
                                <a:latin typeface="Cambria Math" panose="02040503050406030204" pitchFamily="18" charset="0"/>
                              </a:rPr>
                              <m:t>𝑠</m:t>
                            </m:r>
                            <m:r>
                              <a:rPr lang="en-US" altLang="zh-CN" sz="1900" i="1">
                                <a:latin typeface="Cambria Math" panose="02040503050406030204" pitchFamily="18" charset="0"/>
                              </a:rPr>
                              <m:t>𝑘</m:t>
                            </m:r>
                          </m:e>
                          <m:sub>
                            <m:r>
                              <a:rPr lang="en-US" altLang="zh-CN" sz="1900" i="1">
                                <a:latin typeface="Cambria Math" panose="02040503050406030204" pitchFamily="18" charset="0"/>
                              </a:rPr>
                              <m:t>𝑛</m:t>
                            </m:r>
                          </m:sub>
                        </m:sSub>
                      </m:e>
                    </m:d>
                  </m:oMath>
                </a14:m>
                <a:r>
                  <a:rPr lang="zh-CN" altLang="en-US" sz="1900" dirty="0">
                    <a:latin typeface="Times New Roman" panose="02020603050405020304" pitchFamily="18" charset="0"/>
                    <a:cs typeface="Times New Roman" panose="02020603050405020304" pitchFamily="18" charset="0"/>
                  </a:rPr>
                  <a:t> 依次对</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𝑠</m:t>
                    </m:r>
                  </m:oMath>
                </a14:m>
                <a:r>
                  <a:rPr lang="zh-CN" altLang="en-US" sz="1900" dirty="0">
                    <a:latin typeface="Times New Roman" panose="02020603050405020304" pitchFamily="18" charset="0"/>
                    <a:cs typeface="Times New Roman" panose="02020603050405020304" pitchFamily="18" charset="0"/>
                  </a:rPr>
                  <a:t> 进行解密得到</a:t>
                </a:r>
                <a14:m>
                  <m:oMath xmlns:m="http://schemas.openxmlformats.org/officeDocument/2006/math">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𝐾𝑒𝑦</m:t>
                            </m:r>
                          </m:e>
                          <m:sub>
                            <m:r>
                              <a:rPr lang="en-US" altLang="zh-CN" sz="1900" i="1">
                                <a:latin typeface="Cambria Math" panose="02040503050406030204" pitchFamily="18" charset="0"/>
                              </a:rPr>
                              <m:t>1</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𝐾𝑒𝑦</m:t>
                            </m:r>
                          </m:e>
                          <m:sub>
                            <m:r>
                              <a:rPr lang="en-US" altLang="zh-CN" sz="1900" i="1">
                                <a:latin typeface="Cambria Math" panose="02040503050406030204" pitchFamily="18" charset="0"/>
                              </a:rPr>
                              <m:t>𝑛</m:t>
                            </m:r>
                          </m:sub>
                        </m:sSub>
                      </m:e>
                    </m:d>
                    <m:r>
                      <a:rPr lang="zh-CN" altLang="en-US" sz="1900" i="1">
                        <a:latin typeface="Cambria Math" panose="02040503050406030204" pitchFamily="18" charset="0"/>
                      </a:rPr>
                      <m:t>，</m:t>
                    </m:r>
                  </m:oMath>
                </a14:m>
                <a:r>
                  <a:rPr lang="zh-CN" altLang="en-US" sz="1900" dirty="0">
                    <a:latin typeface="Times New Roman" panose="02020603050405020304" pitchFamily="18" charset="0"/>
                    <a:cs typeface="Times New Roman" panose="02020603050405020304" pitchFamily="18" charset="0"/>
                  </a:rPr>
                  <a:t>然后使用</a:t>
                </a:r>
                <a14:m>
                  <m:oMath xmlns:m="http://schemas.openxmlformats.org/officeDocument/2006/math">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 </m:t>
                        </m:r>
                        <m:r>
                          <a:rPr lang="en-US" altLang="zh-CN" sz="1900" i="1">
                            <a:latin typeface="Cambria Math" panose="02040503050406030204" pitchFamily="18" charset="0"/>
                          </a:rPr>
                          <m:t>𝐾𝑒𝑦</m:t>
                        </m:r>
                      </m:e>
                      <m:sub>
                        <m:r>
                          <a:rPr lang="en-US" altLang="zh-CN" sz="1900" i="1">
                            <a:latin typeface="Cambria Math" panose="02040503050406030204" pitchFamily="18" charset="0"/>
                          </a:rPr>
                          <m:t>𝑖</m:t>
                        </m:r>
                      </m:sub>
                    </m:sSub>
                    <m:r>
                      <a:rPr lang="en-US" altLang="zh-CN" sz="1900" b="0" i="1" smtClean="0">
                        <a:latin typeface="Cambria Math" panose="02040503050406030204" pitchFamily="18" charset="0"/>
                      </a:rPr>
                      <m:t> </m:t>
                    </m:r>
                    <m:r>
                      <a:rPr lang="zh-CN" altLang="en-US" sz="1900" i="1" smtClean="0">
                        <a:latin typeface="Cambria Math" panose="02040503050406030204" pitchFamily="18" charset="0"/>
                      </a:rPr>
                      <m:t>对</m:t>
                    </m:r>
                    <m:r>
                      <a:rPr lang="en-US" altLang="zh-CN" sz="1900" b="0" i="1" smtClean="0">
                        <a:latin typeface="Cambria Math" panose="02040503050406030204" pitchFamily="18" charset="0"/>
                      </a:rPr>
                      <m:t> </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𝑚</m:t>
                        </m:r>
                      </m:e>
                      <m:sub>
                        <m:r>
                          <a:rPr lang="en-US" altLang="zh-CN" sz="1900" b="0" i="1" smtClean="0">
                            <a:latin typeface="Cambria Math" panose="02040503050406030204" pitchFamily="18" charset="0"/>
                          </a:rPr>
                          <m:t>𝑖</m:t>
                        </m:r>
                      </m:sub>
                    </m:sSub>
                    <m:r>
                      <a:rPr lang="en-US" altLang="zh-CN" sz="1900" b="0" i="1" smtClean="0">
                        <a:latin typeface="Cambria Math" panose="02040503050406030204" pitchFamily="18" charset="0"/>
                      </a:rPr>
                      <m:t> </m:t>
                    </m:r>
                    <m:r>
                      <a:rPr lang="zh-CN" altLang="en-US" sz="1900" i="1">
                        <a:latin typeface="Cambria Math" panose="02040503050406030204" pitchFamily="18" charset="0"/>
                      </a:rPr>
                      <m:t>使用</m:t>
                    </m:r>
                    <m:r>
                      <a:rPr lang="en-US" altLang="zh-CN" sz="1900" b="0" i="1" smtClean="0">
                        <a:latin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AES </a:t>
                </a:r>
                <a:r>
                  <a:rPr lang="zh-CN" altLang="en-US" sz="1900" dirty="0">
                    <a:latin typeface="Times New Roman" panose="02020603050405020304" pitchFamily="18" charset="0"/>
                    <a:cs typeface="Times New Roman" panose="02020603050405020304" pitchFamily="18" charset="0"/>
                  </a:rPr>
                  <a:t>加密算法得到密文</a:t>
                </a:r>
                <a14:m>
                  <m:oMath xmlns:m="http://schemas.openxmlformats.org/officeDocument/2006/math">
                    <m:r>
                      <a:rPr lang="zh-CN" altLang="en-US" sz="1900" i="1" smtClean="0">
                        <a:latin typeface="Cambria Math" panose="02040503050406030204" pitchFamily="18" charset="0"/>
                      </a:rPr>
                      <m:t>序列</m:t>
                    </m:r>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𝑀</m:t>
                            </m:r>
                          </m:e>
                          <m:sub>
                            <m:r>
                              <a:rPr lang="en-US" altLang="zh-CN" sz="1900" i="1">
                                <a:latin typeface="Cambria Math" panose="02040503050406030204" pitchFamily="18" charset="0"/>
                              </a:rPr>
                              <m:t>1</m:t>
                            </m:r>
                          </m:sub>
                        </m:sSub>
                        <m:r>
                          <a:rPr lang="en-US" altLang="zh-CN" sz="1900" i="1">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𝑀</m:t>
                            </m:r>
                          </m:e>
                          <m:sub>
                            <m:r>
                              <a:rPr lang="en-US" altLang="zh-CN" sz="1900" i="1">
                                <a:latin typeface="Cambria Math" panose="02040503050406030204" pitchFamily="18" charset="0"/>
                              </a:rPr>
                              <m:t>𝑛</m:t>
                            </m:r>
                          </m:sub>
                        </m:sSub>
                      </m:e>
                    </m:d>
                  </m:oMath>
                </a14:m>
                <a:r>
                  <a:rPr lang="zh-CN" altLang="en-US" sz="1900" dirty="0">
                    <a:latin typeface="Times New Roman" panose="02020603050405020304" pitchFamily="18" charset="0"/>
                    <a:cs typeface="Times New Roman" panose="02020603050405020304" pitchFamily="18" charset="0"/>
                  </a:rPr>
                  <a:t>，然后将其发送给 </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342900" indent="-342900" algn="just">
                  <a:lnSpc>
                    <a:spcPct val="140000"/>
                  </a:lnSpc>
                  <a:spcBef>
                    <a:spcPts val="600"/>
                  </a:spcBef>
                  <a:buFont typeface="Wingdings" panose="05000000000000000000" pitchFamily="2" charset="2"/>
                  <a:buChar char="l"/>
                </a:pP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得到密文</a:t>
                </a:r>
                <a14:m>
                  <m:oMath xmlns:m="http://schemas.openxmlformats.org/officeDocument/2006/math">
                    <m:r>
                      <a:rPr lang="zh-CN" altLang="en-US" sz="1900" i="1">
                        <a:latin typeface="Cambria Math" panose="02040503050406030204" pitchFamily="18" charset="0"/>
                      </a:rPr>
                      <m:t>序列</m:t>
                    </m:r>
                    <m:r>
                      <a:rPr lang="en-US" altLang="zh-CN" sz="1900" b="0" i="1" smtClean="0">
                        <a:latin typeface="Cambria Math" panose="02040503050406030204" pitchFamily="18" charset="0"/>
                      </a:rPr>
                      <m:t> </m:t>
                    </m:r>
                    <m:d>
                      <m:dPr>
                        <m:begChr m:val="{"/>
                        <m:endChr m:val="}"/>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𝑀</m:t>
                            </m:r>
                          </m:e>
                          <m:sub>
                            <m:r>
                              <a:rPr lang="en-US" altLang="zh-CN" sz="1900" i="1">
                                <a:latin typeface="Cambria Math" panose="02040503050406030204" pitchFamily="18" charset="0"/>
                              </a:rPr>
                              <m:t>1</m:t>
                            </m:r>
                          </m:sub>
                        </m:sSub>
                        <m:r>
                          <a:rPr lang="en-US" altLang="zh-CN" sz="1900" i="1">
                            <a:latin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𝑀</m:t>
                            </m:r>
                          </m:e>
                          <m:sub>
                            <m:r>
                              <a:rPr lang="en-US" altLang="zh-CN" sz="1900" i="1">
                                <a:latin typeface="Cambria Math" panose="02040503050406030204" pitchFamily="18" charset="0"/>
                              </a:rPr>
                              <m:t>𝑛</m:t>
                            </m:r>
                          </m:sub>
                        </m:sSub>
                      </m:e>
                    </m:d>
                  </m:oMath>
                </a14:m>
                <a:r>
                  <a:rPr lang="zh-CN" altLang="en-US" sz="1900" dirty="0">
                    <a:latin typeface="Times New Roman" panose="02020603050405020304" pitchFamily="18" charset="0"/>
                    <a:cs typeface="Times New Roman" panose="02020603050405020304" pitchFamily="18" charset="0"/>
                  </a:rPr>
                  <a:t>后，用 </a:t>
                </a:r>
                <a:r>
                  <a:rPr lang="en-US" altLang="zh-CN" sz="1900" i="1" dirty="0">
                    <a:latin typeface="Times New Roman" panose="02020603050405020304" pitchFamily="18" charset="0"/>
                    <a:cs typeface="Times New Roman" panose="02020603050405020304" pitchFamily="18" charset="0"/>
                  </a:rPr>
                  <a:t>Key </a:t>
                </a:r>
                <a:r>
                  <a:rPr lang="zh-CN" altLang="en-US" sz="1900" dirty="0">
                    <a:latin typeface="Times New Roman" panose="02020603050405020304" pitchFamily="18" charset="0"/>
                    <a:cs typeface="Times New Roman" panose="02020603050405020304" pitchFamily="18" charset="0"/>
                  </a:rPr>
                  <a:t>和 </a:t>
                </a:r>
                <a:r>
                  <a:rPr lang="en-US" altLang="zh-CN" sz="1900" dirty="0">
                    <a:latin typeface="Times New Roman" panose="02020603050405020304" pitchFamily="18" charset="0"/>
                    <a:cs typeface="Times New Roman" panose="02020603050405020304" pitchFamily="18" charset="0"/>
                  </a:rPr>
                  <a:t>AES </a:t>
                </a:r>
                <a:r>
                  <a:rPr lang="zh-CN" altLang="en-US" sz="1900" dirty="0">
                    <a:latin typeface="Times New Roman" panose="02020603050405020304" pitchFamily="18" charset="0"/>
                    <a:cs typeface="Times New Roman" panose="02020603050405020304" pitchFamily="18" charset="0"/>
                  </a:rPr>
                  <a:t>解密算法得到 </a:t>
                </a:r>
                <a14:m>
                  <m:oMath xmlns:m="http://schemas.openxmlformats.org/officeDocument/2006/math">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𝑚</m:t>
                        </m:r>
                      </m:e>
                      <m:sub>
                        <m:r>
                          <a:rPr lang="en-US" altLang="zh-CN" sz="1900" i="1">
                            <a:latin typeface="Cambria Math" panose="02040503050406030204" pitchFamily="18" charset="0"/>
                          </a:rPr>
                          <m:t>𝑡</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𝐷𝑒𝑐</m:t>
                        </m:r>
                      </m:e>
                      <m:sub>
                        <m:r>
                          <a:rPr lang="en-US" altLang="zh-CN" sz="1900" i="1">
                            <a:latin typeface="Cambria Math" panose="02040503050406030204" pitchFamily="18" charset="0"/>
                          </a:rPr>
                          <m:t>𝐴𝐸𝑆</m:t>
                        </m:r>
                      </m:sub>
                    </m:sSub>
                    <m:r>
                      <a:rPr lang="en-US" altLang="zh-CN" sz="1900" i="1">
                        <a:latin typeface="Cambria Math" panose="02040503050406030204" pitchFamily="18" charset="0"/>
                      </a:rPr>
                      <m:t>(</m:t>
                    </m:r>
                    <m:r>
                      <a:rPr lang="en-US" altLang="zh-CN" sz="1900" i="1">
                        <a:latin typeface="Cambria Math" panose="02040503050406030204" pitchFamily="18" charset="0"/>
                      </a:rPr>
                      <m:t>𝐾𝑒𝑦</m:t>
                    </m:r>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𝑀</m:t>
                        </m:r>
                      </m:e>
                      <m:sub>
                        <m:r>
                          <a:rPr lang="en-US" altLang="zh-CN" sz="1900" i="1">
                            <a:latin typeface="Cambria Math" panose="02040503050406030204" pitchFamily="18" charset="0"/>
                          </a:rPr>
                          <m:t>𝑡</m:t>
                        </m:r>
                      </m:sub>
                    </m:sSub>
                    <m:r>
                      <a:rPr lang="en-US" altLang="zh-CN" sz="1900" i="1">
                        <a:latin typeface="Cambria Math" panose="02040503050406030204" pitchFamily="18" charset="0"/>
                      </a:rPr>
                      <m:t>)</m:t>
                    </m:r>
                  </m:oMath>
                </a14:m>
                <a:r>
                  <a:rPr lang="zh-CN" altLang="en-US" sz="1900" dirty="0">
                    <a:latin typeface="Times New Roman" panose="02020603050405020304" pitchFamily="18" charset="0"/>
                    <a:cs typeface="Times New Roman" panose="02020603050405020304" pitchFamily="18" charset="0"/>
                  </a:rPr>
                  <a:t>。即 </a:t>
                </a:r>
                <a:r>
                  <a:rPr lang="en-US" altLang="zh-CN" sz="1900" dirty="0">
                    <a:latin typeface="Times New Roman" panose="02020603050405020304" pitchFamily="18" charset="0"/>
                    <a:cs typeface="Times New Roman" panose="02020603050405020304" pitchFamily="18" charset="0"/>
                  </a:rPr>
                  <a:t>Alice </a:t>
                </a:r>
                <a:r>
                  <a:rPr lang="zh-CN" altLang="en-US" sz="1900" dirty="0">
                    <a:latin typeface="Times New Roman" panose="02020603050405020304" pitchFamily="18" charset="0"/>
                    <a:cs typeface="Times New Roman" panose="02020603050405020304" pitchFamily="18" charset="0"/>
                  </a:rPr>
                  <a:t>在不知道 </a:t>
                </a:r>
                <a:r>
                  <a:rPr lang="en-US" altLang="zh-CN" sz="1900" dirty="0">
                    <a:latin typeface="Times New Roman" panose="02020603050405020304" pitchFamily="18" charset="0"/>
                    <a:cs typeface="Times New Roman" panose="02020603050405020304" pitchFamily="18" charset="0"/>
                  </a:rPr>
                  <a:t>Bob </a:t>
                </a:r>
                <a:r>
                  <a:rPr lang="zh-CN" altLang="en-US" sz="1900" dirty="0">
                    <a:latin typeface="Times New Roman" panose="02020603050405020304" pitchFamily="18" charset="0"/>
                    <a:cs typeface="Times New Roman" panose="02020603050405020304" pitchFamily="18" charset="0"/>
                  </a:rPr>
                  <a:t>选择哪条消息的情况下，完成了信息传输，</a:t>
                </a:r>
                <a:r>
                  <a:rPr lang="en-US" altLang="zh-CN" sz="1900" dirty="0">
                    <a:latin typeface="Times New Roman" panose="02020603050405020304" pitchFamily="18" charset="0"/>
                    <a:cs typeface="Times New Roman" panose="02020603050405020304" pitchFamily="18" charset="0"/>
                  </a:rPr>
                  <a:t>Bob</a:t>
                </a:r>
                <a:r>
                  <a:rPr lang="zh-CN" altLang="en-US" sz="1900" dirty="0">
                    <a:latin typeface="Times New Roman" panose="02020603050405020304" pitchFamily="18" charset="0"/>
                    <a:cs typeface="Times New Roman" panose="02020603050405020304" pitchFamily="18" charset="0"/>
                  </a:rPr>
                  <a:t>也仅能得到</a:t>
                </a:r>
                <a14:m>
                  <m:oMath xmlns:m="http://schemas.openxmlformats.org/officeDocument/2006/math">
                    <m:r>
                      <a:rPr lang="zh-CN" altLang="en-US" sz="1900" i="1">
                        <a:latin typeface="Cambria Math" panose="02040503050406030204" pitchFamily="18" charset="0"/>
                      </a:rPr>
                      <m:t>消息序列</m:t>
                    </m:r>
                    <m:r>
                      <a:rPr lang="en-US" altLang="zh-CN" sz="1900" i="1">
                        <a:latin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rPr>
                  <a:t>中的第</a:t>
                </a:r>
                <a14:m>
                  <m:oMath xmlns:m="http://schemas.openxmlformats.org/officeDocument/2006/math">
                    <m:r>
                      <a:rPr lang="en-US" altLang="zh-CN" sz="1900">
                        <a:latin typeface="Cambria Math" panose="02040503050406030204" pitchFamily="18" charset="0"/>
                      </a:rPr>
                      <m:t> </m:t>
                    </m:r>
                    <m:r>
                      <a:rPr lang="en-US" altLang="zh-CN" sz="1900" i="1">
                        <a:latin typeface="Cambria Math" panose="02040503050406030204" pitchFamily="18" charset="0"/>
                      </a:rPr>
                      <m:t>𝑡</m:t>
                    </m:r>
                  </m:oMath>
                </a14:m>
                <a:r>
                  <a:rPr lang="zh-CN" altLang="en-US" sz="1900" dirty="0"/>
                  <a:t> 条消息。</a:t>
                </a:r>
                <a:endParaRPr lang="en-US" altLang="zh-CN" sz="1900" dirty="0">
                  <a:latin typeface="Times New Roman" panose="02020603050405020304" pitchFamily="18" charset="0"/>
                  <a:cs typeface="Times New Roman" panose="02020603050405020304" pitchFamily="18"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230221" y="1652141"/>
                <a:ext cx="8406611" cy="4798878"/>
              </a:xfrm>
              <a:prstGeom prst="rect">
                <a:avLst/>
              </a:prstGeom>
              <a:blipFill rotWithShape="1">
                <a:blip r:embed="rId4"/>
                <a:stretch>
                  <a:fillRect l="-4" t="-11" r="2" b="-17068"/>
                </a:stretch>
              </a:blipFill>
            </p:spPr>
            <p:txBody>
              <a:bodyPr/>
              <a:lstStyle/>
              <a:p>
                <a:r>
                  <a:rPr lang="zh-CN" altLang="en-US">
                    <a:noFill/>
                  </a:rPr>
                  <a:t> </a:t>
                </a:r>
              </a:p>
            </p:txBody>
          </p:sp>
        </mc:Fallback>
      </mc:AlternateContent>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39</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9.1 </a:t>
            </a:r>
            <a:r>
              <a:rPr lang="zh-CN" altLang="en-US" sz="2400" b="1" dirty="0">
                <a:solidFill>
                  <a:srgbClr val="FF0000"/>
                </a:solidFill>
                <a:latin typeface="+mn-ea"/>
              </a:rPr>
              <a:t>金融密码协议</a:t>
            </a:r>
          </a:p>
        </p:txBody>
      </p:sp>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5" name="文本框 4"/>
          <p:cNvSpPr txBox="1"/>
          <p:nvPr/>
        </p:nvSpPr>
        <p:spPr>
          <a:xfrm>
            <a:off x="312517" y="1532327"/>
            <a:ext cx="8502299" cy="5077460"/>
          </a:xfrm>
          <a:prstGeom prst="rect">
            <a:avLst/>
          </a:prstGeom>
          <a:noFill/>
        </p:spPr>
        <p:txBody>
          <a:bodyPr wrap="square" rtlCol="0">
            <a:spAutoFit/>
          </a:bodyPr>
          <a:lstStyle/>
          <a:p>
            <a:pPr algn="just">
              <a:lnSpc>
                <a:spcPct val="130000"/>
              </a:lnSpc>
              <a:spcBef>
                <a:spcPts val="600"/>
              </a:spcBef>
              <a:spcAft>
                <a:spcPts val="0"/>
              </a:spcAft>
            </a:pPr>
            <a:r>
              <a:rPr lang="zh-CN" altLang="en-US" sz="2000" dirty="0">
                <a:latin typeface="Times New Roman" panose="02020603050405020304" pitchFamily="18" charset="0"/>
                <a:cs typeface="Times New Roman" panose="02020603050405020304" pitchFamily="18" charset="0"/>
              </a:rPr>
              <a:t>金融密码协议是指应用于金融领域的一系列安全密码协议，是保障金融系统安全运行和用户隐私的重要基础。</a:t>
            </a:r>
          </a:p>
          <a:p>
            <a:pPr marL="342900" indent="-342900" algn="just">
              <a:lnSpc>
                <a:spcPct val="130000"/>
              </a:lnSpc>
              <a:spcBef>
                <a:spcPts val="600"/>
              </a:spcBef>
              <a:spcAft>
                <a:spcPts val="0"/>
              </a:spcAft>
              <a:buFont typeface="Wingdings" panose="05000000000000000000" pitchFamily="2" charset="2"/>
              <a:buChar char="l"/>
            </a:pPr>
            <a:r>
              <a:rPr lang="zh-CN" altLang="en-US" sz="1900" b="1" dirty="0">
                <a:solidFill>
                  <a:srgbClr val="0000FF"/>
                </a:solidFill>
              </a:rPr>
              <a:t>电子现金</a:t>
            </a:r>
            <a:r>
              <a:rPr lang="zh-CN" altLang="en-US" sz="1900" b="1" dirty="0">
                <a:solidFill>
                  <a:srgbClr val="0000FF"/>
                </a:solidFill>
                <a:sym typeface="+mn-ea"/>
              </a:rPr>
              <a:t>协议</a:t>
            </a:r>
            <a:r>
              <a:rPr lang="zh-CN" altLang="en-US" sz="1900" b="1" dirty="0">
                <a:solidFill>
                  <a:srgbClr val="0000FF"/>
                </a:solidFill>
              </a:rPr>
              <a:t>（</a:t>
            </a:r>
            <a:r>
              <a:rPr lang="en-US" altLang="zh-CN" sz="2000" b="1" dirty="0">
                <a:solidFill>
                  <a:srgbClr val="0000FF"/>
                </a:solidFill>
                <a:latin typeface="Times New Roman" panose="02020603050405020304" pitchFamily="18" charset="0"/>
                <a:cs typeface="Times New Roman" panose="02020603050405020304" pitchFamily="18" charset="0"/>
              </a:rPr>
              <a:t>Electronic Cash</a:t>
            </a:r>
            <a:r>
              <a:rPr lang="zh-CN" altLang="en-US" sz="1900" b="1" dirty="0">
                <a:solidFill>
                  <a:srgbClr val="0000FF"/>
                </a:solidFill>
              </a:rPr>
              <a:t>）</a:t>
            </a:r>
            <a:r>
              <a:rPr lang="zh-CN" altLang="en-US" sz="1900" dirty="0"/>
              <a:t>是一种以电子形式存在和流通的货币，是现代支付系统的重要组成部分。</a:t>
            </a:r>
            <a:r>
              <a:rPr lang="zh-CN" sz="1900" dirty="0">
                <a:sym typeface="+mn-ea"/>
              </a:rPr>
              <a:t>协议中通常包括</a:t>
            </a:r>
            <a:r>
              <a:rPr lang="zh-CN" altLang="en-US" sz="1900" dirty="0">
                <a:latin typeface="Times New Roman" panose="02020603050405020304" pitchFamily="18" charset="0"/>
                <a:cs typeface="Times New Roman" panose="02020603050405020304" pitchFamily="18" charset="0"/>
                <a:sym typeface="+mn-ea"/>
              </a:rPr>
              <a:t>用户</a:t>
            </a:r>
            <a:r>
              <a:rPr sz="1900" dirty="0">
                <a:sym typeface="+mn-ea"/>
              </a:rPr>
              <a:t>、</a:t>
            </a:r>
            <a:r>
              <a:rPr lang="en-US" altLang="zh-CN" sz="1900" dirty="0" err="1">
                <a:latin typeface="Times New Roman" panose="02020603050405020304" pitchFamily="18" charset="0"/>
                <a:cs typeface="Times New Roman" panose="02020603050405020304" pitchFamily="18" charset="0"/>
                <a:sym typeface="+mn-ea"/>
              </a:rPr>
              <a:t>商家</a:t>
            </a:r>
            <a:r>
              <a:rPr lang="zh-CN" altLang="en-US" sz="1900" dirty="0">
                <a:sym typeface="+mn-ea"/>
              </a:rPr>
              <a:t>和</a:t>
            </a:r>
            <a:r>
              <a:rPr lang="en-US" altLang="zh-CN" sz="1900" dirty="0" err="1">
                <a:latin typeface="Times New Roman" panose="02020603050405020304" pitchFamily="18" charset="0"/>
                <a:cs typeface="Times New Roman" panose="02020603050405020304" pitchFamily="18" charset="0"/>
                <a:sym typeface="+mn-ea"/>
              </a:rPr>
              <a:t>银行</a:t>
            </a:r>
            <a:r>
              <a:rPr lang="zh-CN" sz="1900" dirty="0">
                <a:sym typeface="+mn-ea"/>
              </a:rPr>
              <a:t>。</a:t>
            </a:r>
            <a:endParaRPr lang="en-US" altLang="zh-CN" sz="1900" b="1" dirty="0">
              <a:solidFill>
                <a:srgbClr val="0000FF"/>
              </a:solidFill>
            </a:endParaRPr>
          </a:p>
          <a:p>
            <a:pPr marL="342900" indent="-342900" algn="just">
              <a:lnSpc>
                <a:spcPct val="130000"/>
              </a:lnSpc>
              <a:spcBef>
                <a:spcPts val="600"/>
              </a:spcBef>
              <a:spcAft>
                <a:spcPts val="0"/>
              </a:spcAft>
              <a:buFont typeface="Wingdings" panose="05000000000000000000" pitchFamily="2" charset="2"/>
              <a:buChar char="l"/>
            </a:pPr>
            <a:r>
              <a:rPr lang="zh-CN" altLang="en-US" sz="1900" b="1" dirty="0">
                <a:solidFill>
                  <a:srgbClr val="0000FF"/>
                </a:solidFill>
              </a:rPr>
              <a:t>电子投票</a:t>
            </a:r>
            <a:r>
              <a:rPr lang="zh-CN" altLang="en-US" sz="1900" b="1" dirty="0">
                <a:solidFill>
                  <a:srgbClr val="0000FF"/>
                </a:solidFill>
                <a:sym typeface="+mn-ea"/>
              </a:rPr>
              <a:t>协议</a:t>
            </a:r>
            <a:r>
              <a:rPr lang="zh-CN" altLang="en-US" sz="1900" b="1" dirty="0">
                <a:solidFill>
                  <a:srgbClr val="0000FF"/>
                </a:solidFill>
              </a:rPr>
              <a:t>（</a:t>
            </a:r>
            <a:r>
              <a:rPr lang="en-US" altLang="zh-CN" sz="2000" b="1" dirty="0">
                <a:solidFill>
                  <a:srgbClr val="0000FF"/>
                </a:solidFill>
                <a:latin typeface="Times New Roman" panose="02020603050405020304" pitchFamily="18" charset="0"/>
                <a:cs typeface="Times New Roman" panose="02020603050405020304" pitchFamily="18" charset="0"/>
              </a:rPr>
              <a:t>Electronic Voting</a:t>
            </a:r>
            <a:r>
              <a:rPr lang="zh-CN" altLang="en-US" sz="1900" b="1" dirty="0">
                <a:solidFill>
                  <a:srgbClr val="0000FF"/>
                </a:solidFill>
              </a:rPr>
              <a:t>）</a:t>
            </a:r>
            <a:r>
              <a:rPr sz="1900" dirty="0"/>
              <a:t>是</a:t>
            </a:r>
            <a:r>
              <a:rPr lang="zh-CN" altLang="en-US" sz="1900" dirty="0"/>
              <a:t>一种</a:t>
            </a:r>
            <a:r>
              <a:rPr sz="1900" dirty="0" err="1"/>
              <a:t>利用</a:t>
            </a:r>
            <a:r>
              <a:rPr lang="zh-CN" sz="1900" dirty="0"/>
              <a:t>互联网</a:t>
            </a:r>
            <a:r>
              <a:rPr sz="1900" dirty="0" err="1"/>
              <a:t>技术进行选举和投票的方法</a:t>
            </a:r>
            <a:r>
              <a:rPr lang="zh-CN" sz="1900" dirty="0"/>
              <a:t>。相比传统的纸质</a:t>
            </a:r>
            <a:r>
              <a:rPr sz="1900" dirty="0"/>
              <a:t>投票</a:t>
            </a:r>
            <a:r>
              <a:rPr lang="zh-CN" sz="1900" dirty="0"/>
              <a:t>，电子投票具有更高的</a:t>
            </a:r>
            <a:r>
              <a:rPr sz="1900" dirty="0"/>
              <a:t>效率和准确性。</a:t>
            </a:r>
            <a:r>
              <a:rPr lang="zh-CN" sz="1900" dirty="0">
                <a:sym typeface="+mn-ea"/>
              </a:rPr>
              <a:t>协议中通常包括</a:t>
            </a:r>
            <a:r>
              <a:rPr lang="zh-CN" altLang="en-US" sz="1900" dirty="0">
                <a:latin typeface="Times New Roman" panose="02020603050405020304" pitchFamily="18" charset="0"/>
                <a:cs typeface="Times New Roman" panose="02020603050405020304" pitchFamily="18" charset="0"/>
                <a:sym typeface="+mn-ea"/>
              </a:rPr>
              <a:t>投票者</a:t>
            </a:r>
            <a:r>
              <a:rPr sz="1900" dirty="0">
                <a:sym typeface="+mn-ea"/>
              </a:rPr>
              <a:t>、</a:t>
            </a:r>
            <a:r>
              <a:rPr sz="1900" dirty="0" err="1">
                <a:sym typeface="+mn-ea"/>
              </a:rPr>
              <a:t>管理机构</a:t>
            </a:r>
            <a:r>
              <a:rPr lang="zh-CN" altLang="en-US" sz="1900" dirty="0">
                <a:sym typeface="+mn-ea"/>
              </a:rPr>
              <a:t>和</a:t>
            </a:r>
            <a:r>
              <a:rPr sz="1900" dirty="0" err="1">
                <a:sym typeface="+mn-ea"/>
              </a:rPr>
              <a:t>计票机构</a:t>
            </a:r>
            <a:r>
              <a:rPr lang="zh-CN" sz="1900" dirty="0">
                <a:sym typeface="+mn-ea"/>
              </a:rPr>
              <a:t>。</a:t>
            </a:r>
            <a:endParaRPr sz="1900" dirty="0"/>
          </a:p>
          <a:p>
            <a:pPr marL="342900" indent="-342900" algn="just">
              <a:lnSpc>
                <a:spcPct val="130000"/>
              </a:lnSpc>
              <a:spcBef>
                <a:spcPts val="600"/>
              </a:spcBef>
              <a:spcAft>
                <a:spcPts val="0"/>
              </a:spcAft>
              <a:buFont typeface="Wingdings" panose="05000000000000000000" pitchFamily="2" charset="2"/>
              <a:buChar char="l"/>
            </a:pPr>
            <a:r>
              <a:rPr lang="zh-CN" altLang="en-US" sz="1900" b="1" dirty="0">
                <a:solidFill>
                  <a:srgbClr val="0000FF"/>
                </a:solidFill>
              </a:rPr>
              <a:t>电子拍卖</a:t>
            </a:r>
            <a:r>
              <a:rPr lang="zh-CN" altLang="en-US" sz="1900" b="1" dirty="0">
                <a:solidFill>
                  <a:srgbClr val="0000FF"/>
                </a:solidFill>
                <a:sym typeface="+mn-ea"/>
              </a:rPr>
              <a:t>协议</a:t>
            </a:r>
            <a:r>
              <a:rPr lang="zh-CN" altLang="en-US" sz="1900" b="1" dirty="0">
                <a:solidFill>
                  <a:srgbClr val="0000FF"/>
                </a:solidFill>
              </a:rPr>
              <a:t>（</a:t>
            </a:r>
            <a:r>
              <a:rPr lang="en-US" altLang="zh-CN" sz="2000" b="1" dirty="0">
                <a:solidFill>
                  <a:srgbClr val="0000FF"/>
                </a:solidFill>
                <a:latin typeface="Times New Roman" panose="02020603050405020304" pitchFamily="18" charset="0"/>
                <a:cs typeface="Times New Roman" panose="02020603050405020304" pitchFamily="18" charset="0"/>
              </a:rPr>
              <a:t>Electronic Auctions</a:t>
            </a:r>
            <a:r>
              <a:rPr lang="zh-CN" altLang="en-US" sz="1900" b="1" dirty="0">
                <a:solidFill>
                  <a:srgbClr val="0000FF"/>
                </a:solidFill>
              </a:rPr>
              <a:t>）</a:t>
            </a:r>
            <a:r>
              <a:rPr sz="1900" dirty="0">
                <a:sym typeface="+mn-ea"/>
              </a:rPr>
              <a:t>是</a:t>
            </a:r>
            <a:r>
              <a:rPr lang="zh-CN" altLang="en-US" sz="1900" dirty="0"/>
              <a:t>一种</a:t>
            </a:r>
            <a:r>
              <a:rPr sz="1900" dirty="0" err="1">
                <a:sym typeface="+mn-ea"/>
              </a:rPr>
              <a:t>利用</a:t>
            </a:r>
            <a:r>
              <a:rPr lang="zh-CN" sz="1900" dirty="0">
                <a:sym typeface="+mn-ea"/>
              </a:rPr>
              <a:t>互联网</a:t>
            </a:r>
            <a:r>
              <a:rPr sz="1900" dirty="0">
                <a:sym typeface="+mn-ea"/>
              </a:rPr>
              <a:t>技术进行</a:t>
            </a:r>
            <a:r>
              <a:rPr lang="zh-CN" sz="1900" dirty="0">
                <a:sym typeface="+mn-ea"/>
              </a:rPr>
              <a:t>拍卖</a:t>
            </a:r>
            <a:r>
              <a:rPr sz="1900" dirty="0">
                <a:sym typeface="+mn-ea"/>
              </a:rPr>
              <a:t>的方法</a:t>
            </a:r>
            <a:r>
              <a:rPr lang="zh-CN" sz="1900" dirty="0">
                <a:sym typeface="+mn-ea"/>
              </a:rPr>
              <a:t>。相比传统的实体拍卖</a:t>
            </a:r>
            <a:r>
              <a:rPr lang="zh-CN" altLang="en-US" sz="1900" dirty="0"/>
              <a:t>，</a:t>
            </a:r>
            <a:r>
              <a:rPr lang="zh-CN" sz="1900" dirty="0">
                <a:sym typeface="+mn-ea"/>
              </a:rPr>
              <a:t>电子拍卖具有更强的安全</a:t>
            </a:r>
            <a:r>
              <a:rPr sz="1900" dirty="0">
                <a:sym typeface="+mn-ea"/>
              </a:rPr>
              <a:t>性。</a:t>
            </a:r>
            <a:r>
              <a:rPr lang="zh-CN" sz="1900" dirty="0">
                <a:sym typeface="+mn-ea"/>
              </a:rPr>
              <a:t>协议中通常包括</a:t>
            </a:r>
            <a:r>
              <a:rPr sz="1900" dirty="0" err="1">
                <a:sym typeface="+mn-ea"/>
              </a:rPr>
              <a:t>投标者、卖方</a:t>
            </a:r>
            <a:r>
              <a:rPr lang="zh-CN" altLang="en-US" sz="1900" dirty="0">
                <a:sym typeface="+mn-ea"/>
              </a:rPr>
              <a:t>和</a:t>
            </a:r>
            <a:r>
              <a:rPr sz="1900" dirty="0" err="1">
                <a:sym typeface="+mn-ea"/>
              </a:rPr>
              <a:t>拍卖服务器</a:t>
            </a:r>
            <a:r>
              <a:rPr lang="zh-CN" sz="1900" dirty="0">
                <a:sym typeface="+mn-ea"/>
              </a:rPr>
              <a:t>。</a:t>
            </a:r>
            <a:endParaRPr lang="en-US" altLang="zh-CN" sz="1900" dirty="0"/>
          </a:p>
          <a:p>
            <a:pPr marL="342900" indent="-342900" algn="just">
              <a:lnSpc>
                <a:spcPct val="130000"/>
              </a:lnSpc>
              <a:spcBef>
                <a:spcPts val="600"/>
              </a:spcBef>
              <a:spcAft>
                <a:spcPts val="0"/>
              </a:spcAft>
              <a:buClrTx/>
              <a:buSzTx/>
              <a:buFont typeface="Wingdings" panose="05000000000000000000" pitchFamily="2" charset="2"/>
              <a:buChar char="l"/>
            </a:pPr>
            <a:r>
              <a:rPr lang="zh-CN" altLang="en-US" sz="1900" b="1" dirty="0">
                <a:solidFill>
                  <a:srgbClr val="0000FF"/>
                </a:solidFill>
              </a:rPr>
              <a:t>公平交换</a:t>
            </a:r>
            <a:r>
              <a:rPr lang="zh-CN" altLang="en-US" sz="1900" b="1" dirty="0">
                <a:solidFill>
                  <a:srgbClr val="0000FF"/>
                </a:solidFill>
                <a:sym typeface="+mn-ea"/>
              </a:rPr>
              <a:t>协议</a:t>
            </a:r>
            <a:r>
              <a:rPr lang="zh-CN" altLang="en-US" sz="1900" b="1" dirty="0">
                <a:solidFill>
                  <a:srgbClr val="0000FF"/>
                </a:solidFill>
              </a:rPr>
              <a:t>（</a:t>
            </a:r>
            <a:r>
              <a:rPr lang="en-US" altLang="zh-CN" sz="2000" b="1" dirty="0">
                <a:solidFill>
                  <a:srgbClr val="0000FF"/>
                </a:solidFill>
                <a:latin typeface="Times New Roman" panose="02020603050405020304" pitchFamily="18" charset="0"/>
                <a:cs typeface="Times New Roman" panose="02020603050405020304" pitchFamily="18" charset="0"/>
              </a:rPr>
              <a:t>Fair Exchange</a:t>
            </a:r>
            <a:r>
              <a:rPr lang="zh-CN" altLang="en-US" sz="1900" b="1" dirty="0">
                <a:solidFill>
                  <a:srgbClr val="0000FF"/>
                </a:solidFill>
              </a:rPr>
              <a:t>）</a:t>
            </a:r>
            <a:r>
              <a:rPr lang="zh-CN" altLang="en-US" sz="1900" dirty="0">
                <a:sym typeface="+mn-ea"/>
              </a:rPr>
              <a:t>是</a:t>
            </a:r>
            <a:r>
              <a:rPr lang="zh-CN" altLang="en-US" sz="1900" dirty="0"/>
              <a:t>一种实现在两个潜在互不信任的主体之间</a:t>
            </a:r>
            <a:r>
              <a:rPr lang="zh-CN" altLang="en-US" sz="1900"/>
              <a:t>公平地进行数据</a:t>
            </a:r>
            <a:r>
              <a:rPr lang="zh-CN" altLang="en-US" sz="1900" dirty="0"/>
              <a:t>交换</a:t>
            </a:r>
            <a:r>
              <a:rPr lang="zh-CN" altLang="en-US" sz="1900" dirty="0">
                <a:sym typeface="+mn-ea"/>
              </a:rPr>
              <a:t>的方法。</a:t>
            </a:r>
            <a:endParaRPr lang="zh-CN" altLang="en-US" sz="1900" dirty="0"/>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40</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9.2 </a:t>
            </a:r>
            <a:r>
              <a:rPr lang="zh-CN" altLang="en-US" sz="2400" b="1" dirty="0">
                <a:solidFill>
                  <a:srgbClr val="FF0000"/>
                </a:solidFill>
                <a:latin typeface="+mn-ea"/>
              </a:rPr>
              <a:t>电子现金协议 </a:t>
            </a:r>
            <a:r>
              <a:rPr lang="en-US" altLang="zh-CN" sz="2400" b="1" dirty="0">
                <a:solidFill>
                  <a:srgbClr val="FF0000"/>
                </a:solidFill>
                <a:latin typeface="+mn-ea"/>
              </a:rPr>
              <a:t>(</a:t>
            </a:r>
            <a:r>
              <a:rPr lang="zh-CN" altLang="en-US" sz="2400" b="1" dirty="0">
                <a:solidFill>
                  <a:srgbClr val="FF0000"/>
                </a:solidFill>
                <a:latin typeface="+mn-ea"/>
              </a:rPr>
              <a:t>结合文献</a:t>
            </a:r>
            <a:r>
              <a:rPr lang="en-US" altLang="zh-CN" sz="2400" b="1" dirty="0">
                <a:solidFill>
                  <a:srgbClr val="FF0000"/>
                </a:solidFill>
                <a:latin typeface="+mn-ea"/>
              </a:rPr>
              <a:t>)</a:t>
            </a:r>
            <a:endParaRPr lang="zh-CN" altLang="en-US" sz="2400" b="1" dirty="0">
              <a:solidFill>
                <a:srgbClr val="FF0000"/>
              </a:solidFill>
              <a:latin typeface="+mn-ea"/>
            </a:endParaRPr>
          </a:p>
        </p:txBody>
      </p:sp>
      <p:sp>
        <p:nvSpPr>
          <p:cNvPr id="9" name="文本框 8"/>
          <p:cNvSpPr txBox="1"/>
          <p:nvPr/>
        </p:nvSpPr>
        <p:spPr>
          <a:xfrm>
            <a:off x="311961" y="1565075"/>
            <a:ext cx="8479945" cy="815351"/>
          </a:xfrm>
          <a:prstGeom prst="rect">
            <a:avLst/>
          </a:prstGeom>
          <a:noFill/>
        </p:spPr>
        <p:txBody>
          <a:bodyPr wrap="square" rtlCol="0">
            <a:spAutoFit/>
          </a:bodyPr>
          <a:lstStyle/>
          <a:p>
            <a:pPr algn="just">
              <a:lnSpc>
                <a:spcPct val="130000"/>
              </a:lnSpc>
              <a:spcBef>
                <a:spcPts val="600"/>
              </a:spcBef>
            </a:pPr>
            <a:r>
              <a:rPr lang="en-US" altLang="zh-CN" sz="1900" dirty="0">
                <a:latin typeface="Times New Roman" panose="02020603050405020304" pitchFamily="18" charset="0"/>
                <a:cs typeface="Times New Roman" panose="02020603050405020304" pitchFamily="18" charset="0"/>
              </a:rPr>
              <a:t>1982 </a:t>
            </a:r>
            <a:r>
              <a:rPr lang="zh-CN" altLang="en-US" sz="1900" dirty="0">
                <a:latin typeface="Times New Roman" panose="02020603050405020304" pitchFamily="18" charset="0"/>
                <a:cs typeface="Times New Roman" panose="02020603050405020304" pitchFamily="18" charset="0"/>
              </a:rPr>
              <a:t>年， </a:t>
            </a:r>
            <a:r>
              <a:rPr lang="en-US" altLang="zh-CN" sz="1900" dirty="0">
                <a:latin typeface="Times New Roman" panose="02020603050405020304" pitchFamily="18" charset="0"/>
                <a:cs typeface="Times New Roman" panose="02020603050405020304" pitchFamily="18" charset="0"/>
              </a:rPr>
              <a:t>David </a:t>
            </a:r>
            <a:r>
              <a:rPr lang="en-US" altLang="zh-CN" sz="1900" dirty="0" err="1">
                <a:latin typeface="Times New Roman" panose="02020603050405020304" pitchFamily="18" charset="0"/>
                <a:cs typeface="Times New Roman" panose="02020603050405020304" pitchFamily="18" charset="0"/>
              </a:rPr>
              <a:t>Chaum</a:t>
            </a:r>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提出了第一个匿名电子现金方案，该方案通过采用 </a:t>
            </a:r>
            <a:r>
              <a:rPr lang="en-US" altLang="zh-CN" sz="1900" dirty="0">
                <a:solidFill>
                  <a:srgbClr val="0000FF"/>
                </a:solidFill>
                <a:latin typeface="Times New Roman" panose="02020603050405020304" pitchFamily="18" charset="0"/>
                <a:cs typeface="Times New Roman" panose="02020603050405020304" pitchFamily="18" charset="0"/>
                <a:sym typeface="+mn-ea"/>
              </a:rPr>
              <a:t>RSA </a:t>
            </a:r>
            <a:r>
              <a:rPr lang="zh-CN" altLang="en-US" sz="1900" dirty="0">
                <a:solidFill>
                  <a:srgbClr val="0000FF"/>
                </a:solidFill>
                <a:latin typeface="Times New Roman" panose="02020603050405020304" pitchFamily="18" charset="0"/>
                <a:cs typeface="Times New Roman" panose="02020603050405020304" pitchFamily="18" charset="0"/>
              </a:rPr>
              <a:t>盲签名</a:t>
            </a:r>
            <a:r>
              <a:rPr lang="zh-CN" altLang="en-US" sz="1900" dirty="0">
                <a:latin typeface="Times New Roman" panose="02020603050405020304" pitchFamily="18" charset="0"/>
                <a:cs typeface="Times New Roman" panose="02020603050405020304" pitchFamily="18" charset="0"/>
              </a:rPr>
              <a:t>技术，从而保护了</a:t>
            </a:r>
            <a:r>
              <a:rPr lang="zh-CN" altLang="en-US" sz="1900" dirty="0">
                <a:latin typeface="Times New Roman" panose="02020603050405020304" pitchFamily="18" charset="0"/>
                <a:cs typeface="Times New Roman" panose="02020603050405020304" pitchFamily="18" charset="0"/>
                <a:sym typeface="+mn-ea"/>
              </a:rPr>
              <a:t>用户</a:t>
            </a:r>
            <a:r>
              <a:rPr lang="zh-CN" altLang="en-US" sz="1900" dirty="0">
                <a:latin typeface="Times New Roman" panose="02020603050405020304" pitchFamily="18" charset="0"/>
                <a:cs typeface="Times New Roman" panose="02020603050405020304" pitchFamily="18" charset="0"/>
              </a:rPr>
              <a:t>的隐私权。</a:t>
            </a:r>
            <a:endParaRPr lang="en-US" altLang="zh-CN" sz="19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11" name="文本框 10"/>
              <p:cNvSpPr txBox="1"/>
              <p:nvPr/>
            </p:nvSpPr>
            <p:spPr>
              <a:xfrm>
                <a:off x="311962" y="2397714"/>
                <a:ext cx="8479944" cy="4159921"/>
              </a:xfrm>
              <a:prstGeom prst="rect">
                <a:avLst/>
              </a:prstGeom>
              <a:noFill/>
            </p:spPr>
            <p:txBody>
              <a:bodyPr wrap="square">
                <a:spAutoFit/>
              </a:bodyPr>
              <a:lstStyle/>
              <a:p>
                <a:pPr marL="285750" indent="-285750" algn="just">
                  <a:lnSpc>
                    <a:spcPct val="130000"/>
                  </a:lnSpc>
                  <a:spcBef>
                    <a:spcPts val="500"/>
                  </a:spcBef>
                  <a:spcAft>
                    <a:spcPts val="0"/>
                  </a:spcAft>
                  <a:buClrTx/>
                  <a:buSzTx/>
                  <a:buFont typeface="Wingdings" panose="05000000000000000000" pitchFamily="2" charset="2"/>
                  <a:buChar char="l"/>
                </a:pPr>
                <a:r>
                  <a:rPr lang="zh-CN" altLang="en-US" sz="1900" b="1" dirty="0">
                    <a:latin typeface="Times New Roman" panose="02020603050405020304" pitchFamily="18" charset="0"/>
                    <a:cs typeface="Times New Roman" panose="02020603050405020304" pitchFamily="18" charset="0"/>
                    <a:sym typeface="+mn-ea"/>
                  </a:rPr>
                  <a:t>系统</a:t>
                </a:r>
                <a:r>
                  <a:rPr lang="en-US" altLang="zh-CN" sz="1900" b="1" dirty="0" err="1">
                    <a:latin typeface="Times New Roman" panose="02020603050405020304" pitchFamily="18" charset="0"/>
                    <a:cs typeface="Times New Roman" panose="02020603050405020304" pitchFamily="18" charset="0"/>
                    <a:sym typeface="+mn-ea"/>
                  </a:rPr>
                  <a:t>参数：</a:t>
                </a:r>
                <a:r>
                  <a:rPr lang="en-US" altLang="zh-CN" sz="1900" dirty="0" err="1">
                    <a:latin typeface="Times New Roman" panose="02020603050405020304" pitchFamily="18" charset="0"/>
                    <a:cs typeface="Times New Roman" panose="02020603050405020304" pitchFamily="18" charset="0"/>
                    <a:sym typeface="+mn-ea"/>
                  </a:rPr>
                  <a:t>银行生成</a:t>
                </a:r>
                <a:r>
                  <a:rPr lang="zh-CN" altLang="en-US" sz="1900" dirty="0">
                    <a:latin typeface="Times New Roman" panose="02020603050405020304" pitchFamily="18" charset="0"/>
                    <a:cs typeface="Times New Roman" panose="02020603050405020304" pitchFamily="18" charset="0"/>
                    <a:sym typeface="+mn-ea"/>
                  </a:rPr>
                  <a:t>自己的一对</a:t>
                </a:r>
                <a:r>
                  <a:rPr lang="en-US" altLang="zh-CN" sz="1900" dirty="0">
                    <a:latin typeface="Times New Roman" panose="02020603050405020304" pitchFamily="18" charset="0"/>
                    <a:cs typeface="Times New Roman" panose="02020603050405020304" pitchFamily="18" charset="0"/>
                    <a:sym typeface="+mn-ea"/>
                  </a:rPr>
                  <a:t> RSA </a:t>
                </a:r>
                <a:r>
                  <a:rPr lang="zh-CN" altLang="en-US" sz="1900" dirty="0">
                    <a:latin typeface="Times New Roman" panose="02020603050405020304" pitchFamily="18" charset="0"/>
                    <a:cs typeface="Times New Roman" panose="02020603050405020304" pitchFamily="18" charset="0"/>
                    <a:sym typeface="+mn-ea"/>
                  </a:rPr>
                  <a:t>密钥，包括公钥</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sym typeface="+mn-ea"/>
                      </a:rPr>
                      <m:t>(</m:t>
                    </m:r>
                    <m:r>
                      <a:rPr lang="en-US" altLang="zh-CN" sz="1900" i="1" dirty="0">
                        <a:latin typeface="Cambria Math" panose="02040503050406030204" pitchFamily="18" charset="0"/>
                        <a:cs typeface="Cambria Math" panose="02040503050406030204" pitchFamily="18" charset="0"/>
                        <a:sym typeface="+mn-ea"/>
                      </a:rPr>
                      <m:t>𝑛</m:t>
                    </m:r>
                    <m:r>
                      <a:rPr lang="en-US" altLang="zh-CN" sz="1900" i="1" dirty="0">
                        <a:latin typeface="Cambria Math" panose="02040503050406030204" pitchFamily="18" charset="0"/>
                        <a:cs typeface="Cambria Math" panose="02040503050406030204" pitchFamily="18" charset="0"/>
                        <a:sym typeface="+mn-ea"/>
                      </a:rPr>
                      <m:t>,</m:t>
                    </m:r>
                    <m:r>
                      <a:rPr lang="en-US" altLang="zh-CN" sz="1900" i="1" dirty="0">
                        <a:latin typeface="Cambria Math" panose="02040503050406030204" pitchFamily="18" charset="0"/>
                        <a:cs typeface="Cambria Math" panose="02040503050406030204" pitchFamily="18" charset="0"/>
                        <a:sym typeface="+mn-ea"/>
                      </a:rPr>
                      <m:t>𝑒</m:t>
                    </m:r>
                    <m:r>
                      <a:rPr lang="en-US" altLang="zh-CN" sz="1900" i="1" dirty="0">
                        <a:latin typeface="Cambria Math" panose="02040503050406030204" pitchFamily="18" charset="0"/>
                        <a:cs typeface="Cambria Math" panose="02040503050406030204" pitchFamily="18" charset="0"/>
                        <a:sym typeface="+mn-ea"/>
                      </a:rPr>
                      <m:t>) </m:t>
                    </m:r>
                  </m:oMath>
                </a14:m>
                <a:r>
                  <a:rPr lang="zh-CN" altLang="en-US" sz="1900" dirty="0">
                    <a:latin typeface="Times New Roman" panose="02020603050405020304" pitchFamily="18" charset="0"/>
                    <a:cs typeface="Times New Roman" panose="02020603050405020304" pitchFamily="18" charset="0"/>
                    <a:sym typeface="+mn-ea"/>
                  </a:rPr>
                  <a:t>和私钥</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sym typeface="+mn-ea"/>
                      </a:rPr>
                      <m:t>𝑑</m:t>
                    </m:r>
                  </m:oMath>
                </a14:m>
                <a:r>
                  <a:rPr lang="zh-CN" altLang="en-US" sz="1900" dirty="0">
                    <a:latin typeface="Times New Roman" panose="02020603050405020304" pitchFamily="18" charset="0"/>
                    <a:cs typeface="Times New Roman" panose="02020603050405020304" pitchFamily="18" charset="0"/>
                    <a:sym typeface="+mn-ea"/>
                  </a:rPr>
                  <a:t>。其中，</a:t>
                </a:r>
                <a14:m>
                  <m:oMath xmlns:m="http://schemas.openxmlformats.org/officeDocument/2006/math">
                    <m:r>
                      <a:rPr lang="en-US" altLang="zh-CN" sz="1900" i="1" dirty="0">
                        <a:latin typeface="Cambria Math" panose="02040503050406030204" pitchFamily="18" charset="0"/>
                        <a:cs typeface="Cambria Math" panose="02040503050406030204" pitchFamily="18" charset="0"/>
                        <a:sym typeface="+mn-ea"/>
                      </a:rPr>
                      <m:t>𝑛</m:t>
                    </m:r>
                    <m:r>
                      <a:rPr lang="en-US" altLang="zh-CN" sz="1900" i="1" dirty="0">
                        <a:latin typeface="Cambria Math" panose="02040503050406030204" pitchFamily="18" charset="0"/>
                        <a:cs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sym typeface="+mn-ea"/>
                  </a:rPr>
                  <a:t>为模数，</a:t>
                </a:r>
                <a14:m>
                  <m:oMath xmlns:m="http://schemas.openxmlformats.org/officeDocument/2006/math">
                    <m:r>
                      <a:rPr lang="en-US" altLang="zh-CN" sz="1900" i="1" dirty="0">
                        <a:latin typeface="Cambria Math" panose="02040503050406030204" pitchFamily="18" charset="0"/>
                        <a:cs typeface="Cambria Math" panose="02040503050406030204" pitchFamily="18" charset="0"/>
                        <a:sym typeface="+mn-ea"/>
                      </a:rPr>
                      <m:t>𝑒𝑑</m:t>
                    </m:r>
                    <m:r>
                      <a:rPr lang="en-US" altLang="zh-CN" sz="1900" i="1" dirty="0">
                        <a:latin typeface="Cambria Math" panose="02040503050406030204" pitchFamily="18" charset="0"/>
                        <a:cs typeface="Cambria Math" panose="02040503050406030204" pitchFamily="18" charset="0"/>
                        <a:sym typeface="+mn-ea"/>
                      </a:rPr>
                      <m:t>=1 </m:t>
                    </m:r>
                    <m:r>
                      <m:rPr>
                        <m:sty m:val="p"/>
                      </m:rPr>
                      <a:rPr lang="en-US" altLang="zh-CN" sz="1900" dirty="0">
                        <a:latin typeface="Cambria Math" panose="02040503050406030204" pitchFamily="18" charset="0"/>
                        <a:cs typeface="Cambria Math" panose="02040503050406030204" pitchFamily="18" charset="0"/>
                        <a:sym typeface="+mn-ea"/>
                      </a:rPr>
                      <m:t>mod</m:t>
                    </m:r>
                    <m:r>
                      <a:rPr lang="en-US" altLang="zh-CN" sz="1900" dirty="0">
                        <a:latin typeface="Cambria Math" panose="02040503050406030204" pitchFamily="18" charset="0"/>
                        <a:cs typeface="Cambria Math" panose="02040503050406030204" pitchFamily="18" charset="0"/>
                        <a:sym typeface="+mn-ea"/>
                      </a:rPr>
                      <m:t> </m:t>
                    </m:r>
                    <m:r>
                      <a:rPr lang="en-US" altLang="zh-CN" sz="1900" i="1" dirty="0">
                        <a:latin typeface="Cambria Math" panose="02040503050406030204" pitchFamily="18" charset="0"/>
                        <a:cs typeface="Cambria Math" panose="02040503050406030204" pitchFamily="18" charset="0"/>
                        <a:sym typeface="+mn-ea"/>
                      </a:rPr>
                      <m:t>𝜑</m:t>
                    </m:r>
                    <m:d>
                      <m:dPr>
                        <m:ctrlPr>
                          <a:rPr lang="en-US" altLang="zh-CN" sz="1900" i="1" dirty="0">
                            <a:latin typeface="Cambria Math" panose="02040503050406030204" pitchFamily="18" charset="0"/>
                            <a:cs typeface="Cambria Math" panose="02040503050406030204" pitchFamily="18" charset="0"/>
                            <a:sym typeface="+mn-ea"/>
                          </a:rPr>
                        </m:ctrlPr>
                      </m:dPr>
                      <m:e>
                        <m:r>
                          <a:rPr lang="en-US" altLang="zh-CN" sz="1900" i="1" dirty="0">
                            <a:latin typeface="Cambria Math" panose="02040503050406030204" pitchFamily="18" charset="0"/>
                            <a:cs typeface="Cambria Math" panose="02040503050406030204" pitchFamily="18" charset="0"/>
                            <a:sym typeface="+mn-ea"/>
                          </a:rPr>
                          <m:t>𝑛</m:t>
                        </m:r>
                      </m:e>
                    </m:d>
                  </m:oMath>
                </a14:m>
                <a:r>
                  <a:rPr lang="en-US" altLang="zh-CN" sz="1900" dirty="0">
                    <a:latin typeface="Times New Roman" panose="02020603050405020304" pitchFamily="18" charset="0"/>
                    <a:cs typeface="Times New Roman" panose="02020603050405020304" pitchFamily="18" charset="0"/>
                    <a:sym typeface="+mn-ea"/>
                  </a:rPr>
                  <a:t>。</a:t>
                </a:r>
              </a:p>
              <a:p>
                <a:pPr marL="285750" indent="-285750" algn="just">
                  <a:lnSpc>
                    <a:spcPct val="130000"/>
                  </a:lnSpc>
                  <a:spcBef>
                    <a:spcPts val="500"/>
                  </a:spcBef>
                  <a:buFont typeface="Wingdings" panose="05000000000000000000" pitchFamily="2" charset="2"/>
                  <a:buChar char="l"/>
                </a:pPr>
                <a:r>
                  <a:rPr lang="en-US" altLang="zh-CN" sz="1900" b="1" dirty="0" err="1">
                    <a:latin typeface="Times New Roman" panose="02020603050405020304" pitchFamily="18" charset="0"/>
                    <a:cs typeface="Times New Roman" panose="02020603050405020304" pitchFamily="18" charset="0"/>
                    <a:sym typeface="+mn-ea"/>
                  </a:rPr>
                  <a:t>电子</a:t>
                </a:r>
                <a:r>
                  <a:rPr lang="zh-CN" altLang="en-US" sz="1900" b="1" dirty="0">
                    <a:latin typeface="Times New Roman" panose="02020603050405020304" pitchFamily="18" charset="0"/>
                    <a:cs typeface="Times New Roman" panose="02020603050405020304" pitchFamily="18" charset="0"/>
                  </a:rPr>
                  <a:t>现金</a:t>
                </a:r>
                <a:r>
                  <a:rPr lang="en-US" altLang="zh-CN" sz="1900" b="1" dirty="0" err="1">
                    <a:latin typeface="Times New Roman" panose="02020603050405020304" pitchFamily="18" charset="0"/>
                    <a:cs typeface="Times New Roman" panose="02020603050405020304" pitchFamily="18" charset="0"/>
                  </a:rPr>
                  <a:t>生成</a:t>
                </a:r>
                <a:r>
                  <a:rPr lang="en-US" altLang="zh-CN" sz="1900" b="1" dirty="0">
                    <a:latin typeface="Times New Roman" panose="02020603050405020304" pitchFamily="18" charset="0"/>
                    <a:cs typeface="Times New Roman" panose="02020603050405020304" pitchFamily="18" charset="0"/>
                  </a:rPr>
                  <a:t>：</a:t>
                </a:r>
                <a:r>
                  <a:rPr lang="en-US" altLang="zh-CN" sz="1900" dirty="0">
                    <a:latin typeface="Times New Roman" panose="02020603050405020304" pitchFamily="18" charset="0"/>
                    <a:cs typeface="Times New Roman" panose="02020603050405020304" pitchFamily="18" charset="0"/>
                  </a:rPr>
                  <a:t>(1) </a:t>
                </a:r>
                <a:r>
                  <a:rPr lang="zh-CN" altLang="en-US" sz="1900" dirty="0">
                    <a:latin typeface="Times New Roman" panose="02020603050405020304" pitchFamily="18" charset="0"/>
                    <a:cs typeface="Times New Roman" panose="02020603050405020304" pitchFamily="18" charset="0"/>
                    <a:sym typeface="+mn-ea"/>
                  </a:rPr>
                  <a:t>用户</a:t>
                </a:r>
                <a:r>
                  <a:rPr lang="en-US" altLang="zh-CN" sz="1900" dirty="0">
                    <a:latin typeface="Times New Roman" panose="02020603050405020304" pitchFamily="18" charset="0"/>
                    <a:cs typeface="Times New Roman" panose="02020603050405020304" pitchFamily="18" charset="0"/>
                  </a:rPr>
                  <a:t>对</a:t>
                </a:r>
                <a:r>
                  <a:rPr lang="zh-CN" altLang="en-US" sz="1900" dirty="0">
                    <a:latin typeface="Times New Roman" panose="02020603050405020304" pitchFamily="18" charset="0"/>
                    <a:cs typeface="Times New Roman" panose="02020603050405020304" pitchFamily="18" charset="0"/>
                  </a:rPr>
                  <a:t>电子现金</a:t>
                </a:r>
                <a:r>
                  <a:rPr lang="en-US" altLang="zh-CN" sz="1900" dirty="0">
                    <a:latin typeface="Times New Roman" panose="02020603050405020304" pitchFamily="18" charset="0"/>
                    <a:cs typeface="Times New Roman" panose="02020603050405020304" pitchFamily="18" charset="0"/>
                  </a:rPr>
                  <a:t>生成一串</a:t>
                </a:r>
                <a:r>
                  <a:rPr lang="en-US" altLang="zh-CN" sz="1900" dirty="0">
                    <a:latin typeface="Times New Roman" panose="02020603050405020304" pitchFamily="18" charset="0"/>
                    <a:cs typeface="Times New Roman" panose="02020603050405020304" pitchFamily="18" charset="0"/>
                    <a:sym typeface="+mn-ea"/>
                  </a:rPr>
                  <a:t>序列数</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dirty="0">
                        <a:latin typeface="Cambria Math" panose="02040503050406030204" pitchFamily="18" charset="0"/>
                        <a:cs typeface="Cambria Math" panose="02040503050406030204" pitchFamily="18" charset="0"/>
                      </a:rPr>
                      <m:t>𝑚</m:t>
                    </m:r>
                    <m:r>
                      <a:rPr lang="en-US" altLang="zh-CN" sz="1900" i="1" dirty="0">
                        <a:latin typeface="Cambria Math" panose="02040503050406030204" pitchFamily="18" charset="0"/>
                        <a:cs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、随机数</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𝑟</m:t>
                    </m:r>
                    <m:r>
                      <a:rPr lang="en-US" altLang="zh-CN" sz="1900" dirty="0">
                        <a:latin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𝑟</m:t>
                    </m:r>
                    <m:r>
                      <a:rPr lang="en-US" altLang="zh-CN" sz="1900" i="1" dirty="0" smtClean="0">
                        <a:latin typeface="Cambria Math" panose="02040503050406030204" pitchFamily="18" charset="0"/>
                        <a:cs typeface="Cambria Math" panose="02040503050406030204" pitchFamily="18" charset="0"/>
                      </a:rPr>
                      <m:t> </m:t>
                    </m:r>
                  </m:oMath>
                </a14:m>
                <a:r>
                  <a:rPr lang="en-US" altLang="zh-CN" sz="1900" dirty="0" err="1">
                    <a:latin typeface="Times New Roman" panose="02020603050405020304" pitchFamily="18" charset="0"/>
                    <a:cs typeface="Times New Roman" panose="02020603050405020304" pitchFamily="18" charset="0"/>
                    <a:sym typeface="+mn-ea"/>
                  </a:rPr>
                  <a:t>作为盲因子</a:t>
                </a:r>
                <a:r>
                  <a:rPr lang="en-US" altLang="zh-CN" sz="1900" dirty="0">
                    <a:latin typeface="Times New Roman" panose="02020603050405020304" pitchFamily="18" charset="0"/>
                    <a:cs typeface="Times New Roman" panose="02020603050405020304" pitchFamily="18" charset="0"/>
                    <a:sym typeface="+mn-ea"/>
                  </a:rPr>
                  <a:t>)</a:t>
                </a:r>
                <a:r>
                  <a:rPr lang="zh-CN" altLang="en-US" sz="1900" dirty="0">
                    <a:latin typeface="Times New Roman" panose="02020603050405020304" pitchFamily="18" charset="0"/>
                    <a:cs typeface="Times New Roman" panose="02020603050405020304" pitchFamily="18" charset="0"/>
                    <a:sym typeface="+mn-ea"/>
                  </a:rPr>
                  <a:t>， </a:t>
                </a:r>
                <a:r>
                  <a:rPr lang="en-US" altLang="zh-CN" sz="1900" dirty="0">
                    <a:latin typeface="Times New Roman" panose="02020603050405020304" pitchFamily="18" charset="0"/>
                    <a:cs typeface="Times New Roman" panose="02020603050405020304" pitchFamily="18" charset="0"/>
                  </a:rPr>
                  <a:t>计算</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𝑥</m:t>
                    </m:r>
                    <m:r>
                      <a:rPr lang="en-US" altLang="zh-CN" sz="1900" i="1" dirty="0">
                        <a:latin typeface="Cambria Math" panose="02040503050406030204" pitchFamily="18" charset="0"/>
                        <a:cs typeface="Cambria Math" panose="02040503050406030204" pitchFamily="18" charset="0"/>
                      </a:rPr>
                      <m:t>=</m:t>
                    </m:r>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𝑚𝑟</m:t>
                        </m:r>
                      </m:e>
                      <m:sup>
                        <m:r>
                          <a:rPr lang="en-US" altLang="zh-CN" sz="1900" i="1" dirty="0">
                            <a:latin typeface="Cambria Math" panose="02040503050406030204" pitchFamily="18" charset="0"/>
                            <a:cs typeface="Cambria Math" panose="02040503050406030204" pitchFamily="18" charset="0"/>
                          </a:rPr>
                          <m:t>𝑒</m:t>
                        </m:r>
                      </m:sup>
                    </m:sSup>
                    <m:r>
                      <a:rPr lang="en-US" altLang="zh-CN" sz="1900" i="1" dirty="0">
                        <a:latin typeface="Cambria Math" panose="02040503050406030204" pitchFamily="18" charset="0"/>
                        <a:cs typeface="Cambria Math" panose="02040503050406030204" pitchFamily="18" charset="0"/>
                      </a:rPr>
                      <m:t>(</m:t>
                    </m:r>
                    <m:r>
                      <m:rPr>
                        <m:sty m:val="p"/>
                      </m:rPr>
                      <a:rPr lang="en-US" altLang="zh-CN" sz="1900" dirty="0">
                        <a:latin typeface="Cambria Math" panose="02040503050406030204" pitchFamily="18" charset="0"/>
                        <a:cs typeface="Cambria Math" panose="02040503050406030204" pitchFamily="18" charset="0"/>
                      </a:rPr>
                      <m:t>mod</m:t>
                    </m:r>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𝑛</m:t>
                    </m:r>
                    <m:r>
                      <a:rPr lang="en-US" altLang="zh-CN" sz="1900" i="1" dirty="0">
                        <a:latin typeface="Cambria Math" panose="02040503050406030204" pitchFamily="18" charset="0"/>
                        <a:cs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rPr>
                  <a:t>并发送给银行。</a:t>
                </a:r>
                <a:r>
                  <a:rPr lang="en-US" altLang="zh-CN" sz="1900" dirty="0">
                    <a:latin typeface="Times New Roman" panose="02020603050405020304" pitchFamily="18" charset="0"/>
                    <a:cs typeface="Times New Roman" panose="02020603050405020304" pitchFamily="18" charset="0"/>
                  </a:rPr>
                  <a:t>(2) </a:t>
                </a:r>
                <a:r>
                  <a:rPr lang="en-US" altLang="zh-CN" sz="1900" dirty="0" err="1">
                    <a:latin typeface="Times New Roman" panose="02020603050405020304" pitchFamily="18" charset="0"/>
                    <a:cs typeface="Times New Roman" panose="02020603050405020304" pitchFamily="18" charset="0"/>
                    <a:sym typeface="+mn-ea"/>
                  </a:rPr>
                  <a:t>银行</a:t>
                </a:r>
                <a:r>
                  <a:rPr lang="zh-CN" altLang="en-US" sz="1900" dirty="0">
                    <a:latin typeface="Times New Roman" panose="02020603050405020304" pitchFamily="18" charset="0"/>
                    <a:cs typeface="Times New Roman" panose="02020603050405020304" pitchFamily="18" charset="0"/>
                    <a:sym typeface="+mn-ea"/>
                  </a:rPr>
                  <a:t>对</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𝑥</m:t>
                    </m:r>
                    <m:r>
                      <a:rPr lang="en-US" altLang="zh-CN" sz="1900" i="1" dirty="0">
                        <a:latin typeface="Cambria Math" panose="02040503050406030204" pitchFamily="18" charset="0"/>
                        <a:cs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sym typeface="+mn-ea"/>
                  </a:rPr>
                  <a:t>进行签名，即</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𝑦</m:t>
                    </m:r>
                    <m:r>
                      <a:rPr lang="en-US" altLang="zh-CN" sz="1900" i="1" dirty="0">
                        <a:latin typeface="Cambria Math" panose="02040503050406030204" pitchFamily="18" charset="0"/>
                        <a:cs typeface="Cambria Math" panose="02040503050406030204" pitchFamily="18" charset="0"/>
                      </a:rPr>
                      <m:t>=</m:t>
                    </m:r>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𝑥</m:t>
                        </m:r>
                      </m:e>
                      <m:sup>
                        <m:r>
                          <a:rPr lang="en-US" altLang="zh-CN" sz="1900" i="1" dirty="0">
                            <a:latin typeface="Cambria Math" panose="02040503050406030204" pitchFamily="18" charset="0"/>
                            <a:cs typeface="Cambria Math" panose="02040503050406030204" pitchFamily="18" charset="0"/>
                          </a:rPr>
                          <m:t>𝑑</m:t>
                        </m:r>
                      </m:sup>
                    </m:sSup>
                    <m:r>
                      <a:rPr lang="en-US" altLang="zh-CN" sz="1900" i="1" dirty="0">
                        <a:latin typeface="Cambria Math" panose="02040503050406030204" pitchFamily="18" charset="0"/>
                        <a:cs typeface="Cambria Math" panose="02040503050406030204" pitchFamily="18" charset="0"/>
                      </a:rPr>
                      <m:t>(</m:t>
                    </m:r>
                    <m:r>
                      <m:rPr>
                        <m:sty m:val="p"/>
                      </m:rPr>
                      <a:rPr lang="zh-CN" altLang="en-US" sz="1900" dirty="0">
                        <a:latin typeface="Cambria Math" panose="02040503050406030204" pitchFamily="18" charset="0"/>
                        <a:cs typeface="Times New Roman" panose="02020603050405020304" pitchFamily="18" charset="0"/>
                      </a:rPr>
                      <m:t>m</m:t>
                    </m:r>
                    <m:r>
                      <m:rPr>
                        <m:sty m:val="p"/>
                      </m:rPr>
                      <a:rPr lang="en-US" altLang="zh-CN" sz="1900" dirty="0">
                        <a:latin typeface="Cambria Math" panose="02040503050406030204" pitchFamily="18" charset="0"/>
                        <a:cs typeface="Cambria Math" panose="02040503050406030204" pitchFamily="18" charset="0"/>
                      </a:rPr>
                      <m:t>od</m:t>
                    </m:r>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𝑛</m:t>
                    </m:r>
                    <m:r>
                      <a:rPr lang="en-US" altLang="zh-CN" sz="1900" i="1" dirty="0">
                        <a:latin typeface="Cambria Math" panose="02040503050406030204" pitchFamily="18" charset="0"/>
                        <a:cs typeface="Cambria Math" panose="02040503050406030204" pitchFamily="18" charset="0"/>
                      </a:rPr>
                      <m:t>)</m:t>
                    </m:r>
                  </m:oMath>
                </a14:m>
                <a:r>
                  <a:rPr lang="zh-CN" altLang="en-US" sz="1900" dirty="0">
                    <a:latin typeface="Times New Roman" panose="02020603050405020304" pitchFamily="18" charset="0"/>
                    <a:cs typeface="Times New Roman" panose="02020603050405020304" pitchFamily="18" charset="0"/>
                  </a:rPr>
                  <a:t>，</a:t>
                </a:r>
                <a:r>
                  <a:rPr lang="en-US" altLang="zh-CN" sz="1900" dirty="0">
                    <a:latin typeface="Times New Roman" panose="02020603050405020304" pitchFamily="18" charset="0"/>
                    <a:cs typeface="Times New Roman" panose="02020603050405020304" pitchFamily="18" charset="0"/>
                  </a:rPr>
                  <a:t>并将</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𝑦</m:t>
                    </m:r>
                    <m:r>
                      <a:rPr lang="en-US" altLang="zh-CN" sz="1900" i="1" dirty="0">
                        <a:latin typeface="Cambria Math" panose="02040503050406030204" pitchFamily="18" charset="0"/>
                        <a:cs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rPr>
                  <a:t>返回</a:t>
                </a:r>
                <a:r>
                  <a:rPr lang="en-US" altLang="zh-CN" sz="1900" dirty="0">
                    <a:latin typeface="Times New Roman" panose="02020603050405020304" pitchFamily="18" charset="0"/>
                    <a:cs typeface="Times New Roman" panose="02020603050405020304" pitchFamily="18" charset="0"/>
                  </a:rPr>
                  <a:t>给</a:t>
                </a:r>
                <a:r>
                  <a:rPr lang="zh-CN" altLang="en-US" sz="1900" dirty="0">
                    <a:latin typeface="Times New Roman" panose="02020603050405020304" pitchFamily="18" charset="0"/>
                    <a:cs typeface="Times New Roman" panose="02020603050405020304" pitchFamily="18" charset="0"/>
                    <a:sym typeface="+mn-ea"/>
                  </a:rPr>
                  <a:t>用户</a:t>
                </a:r>
                <a:r>
                  <a:rPr lang="en-US" altLang="zh-CN"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同时，银行从</a:t>
                </a:r>
                <a:r>
                  <a:rPr lang="zh-CN" altLang="en-US" sz="1900" dirty="0">
                    <a:latin typeface="Times New Roman" panose="02020603050405020304" pitchFamily="18" charset="0"/>
                    <a:cs typeface="Times New Roman" panose="02020603050405020304" pitchFamily="18" charset="0"/>
                    <a:sym typeface="+mn-ea"/>
                  </a:rPr>
                  <a:t>用户</a:t>
                </a:r>
                <a:r>
                  <a:rPr lang="en-US" altLang="zh-CN" sz="1900" dirty="0" err="1">
                    <a:latin typeface="Times New Roman" panose="02020603050405020304" pitchFamily="18" charset="0"/>
                    <a:cs typeface="Times New Roman" panose="02020603050405020304" pitchFamily="18" charset="0"/>
                  </a:rPr>
                  <a:t>的账上减掉相应的钱数</a:t>
                </a:r>
                <a:r>
                  <a:rPr lang="en-US" altLang="zh-CN" sz="1900" dirty="0">
                    <a:latin typeface="Times New Roman" panose="02020603050405020304" pitchFamily="18" charset="0"/>
                    <a:cs typeface="Times New Roman" panose="02020603050405020304" pitchFamily="18" charset="0"/>
                  </a:rPr>
                  <a:t>。(3) </a:t>
                </a:r>
                <a:r>
                  <a:rPr lang="zh-CN" altLang="en-US" sz="1900" dirty="0">
                    <a:latin typeface="Times New Roman" panose="02020603050405020304" pitchFamily="18" charset="0"/>
                    <a:cs typeface="Times New Roman" panose="02020603050405020304" pitchFamily="18" charset="0"/>
                    <a:sym typeface="+mn-ea"/>
                  </a:rPr>
                  <a:t>用户通过计算</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𝑟</m:t>
                    </m:r>
                    <m:r>
                      <a:rPr lang="en-US" altLang="zh-CN" sz="1900" i="1" dirty="0">
                        <a:latin typeface="Cambria Math" panose="02040503050406030204" pitchFamily="18" charset="0"/>
                        <a:cs typeface="Cambria Math" panose="02040503050406030204" pitchFamily="18" charset="0"/>
                      </a:rPr>
                      <m:t> </m:t>
                    </m:r>
                  </m:oMath>
                </a14:m>
                <a:r>
                  <a:rPr lang="zh-CN" altLang="en-US" sz="1900" dirty="0">
                    <a:latin typeface="Times New Roman" panose="02020603050405020304" pitchFamily="18" charset="0"/>
                    <a:cs typeface="Times New Roman" panose="02020603050405020304" pitchFamily="18" charset="0"/>
                    <a:sym typeface="+mn-ea"/>
                  </a:rPr>
                  <a:t>除</a:t>
                </a:r>
                <a:r>
                  <a:rPr lang="en-US" altLang="zh-CN" sz="19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𝑦</m:t>
                    </m:r>
                    <m:r>
                      <a:rPr lang="en-US" altLang="zh-CN" sz="1900" i="1" dirty="0">
                        <a:latin typeface="Cambria Math" panose="02040503050406030204" pitchFamily="18" charset="0"/>
                        <a:cs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可以</a:t>
                </a:r>
                <a:r>
                  <a:rPr lang="en-US" altLang="zh-CN" sz="1900" dirty="0">
                    <a:latin typeface="Times New Roman" panose="02020603050405020304" pitchFamily="18" charset="0"/>
                    <a:cs typeface="Times New Roman" panose="02020603050405020304" pitchFamily="18" charset="0"/>
                  </a:rPr>
                  <a:t>得到银行对</a:t>
                </a:r>
                <a14:m>
                  <m:oMath xmlns:m="http://schemas.openxmlformats.org/officeDocument/2006/math">
                    <m:r>
                      <a:rPr lang="en-US" altLang="zh-CN" sz="1900" b="0" i="0" dirty="0" smtClean="0">
                        <a:latin typeface="Cambria Math" panose="02040503050406030204" pitchFamily="18" charset="0"/>
                        <a:cs typeface="Cambria Math" panose="02040503050406030204" pitchFamily="18" charset="0"/>
                      </a:rPr>
                      <m:t> </m:t>
                    </m:r>
                    <m:r>
                      <a:rPr lang="en-US" altLang="zh-CN" sz="1900" dirty="0">
                        <a:latin typeface="Cambria Math" panose="02040503050406030204" pitchFamily="18" charset="0"/>
                        <a:cs typeface="Cambria Math" panose="02040503050406030204" pitchFamily="18" charset="0"/>
                      </a:rPr>
                      <m:t>𝑚</m:t>
                    </m:r>
                    <m:r>
                      <a:rPr lang="en-US" altLang="zh-CN" sz="1900" dirty="0">
                        <a:latin typeface="Cambria Math" panose="02040503050406030204" pitchFamily="18" charset="0"/>
                        <a:cs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的</a:t>
                </a:r>
                <a:r>
                  <a:rPr lang="zh-CN" altLang="en-US" sz="1900" dirty="0">
                    <a:latin typeface="Times New Roman" panose="02020603050405020304" pitchFamily="18" charset="0"/>
                    <a:cs typeface="Times New Roman" panose="02020603050405020304" pitchFamily="18" charset="0"/>
                    <a:sym typeface="+mn-ea"/>
                  </a:rPr>
                  <a:t>签名</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𝑧</m:t>
                    </m:r>
                  </m:oMath>
                </a14:m>
                <a:r>
                  <a:rPr lang="en-US" altLang="zh-CN" sz="1900" dirty="0">
                    <a:latin typeface="Times New Roman" panose="02020603050405020304" pitchFamily="18" charset="0"/>
                    <a:cs typeface="Times New Roman" panose="02020603050405020304" pitchFamily="18" charset="0"/>
                  </a:rPr>
                  <a:t>：</a:t>
                </a:r>
              </a:p>
              <a:p>
                <a:pPr algn="just">
                  <a:lnSpc>
                    <a:spcPct val="130000"/>
                  </a:lnSpc>
                  <a:spcBef>
                    <a:spcPts val="500"/>
                  </a:spcBef>
                  <a:spcAft>
                    <a:spcPts val="500"/>
                  </a:spcAft>
                  <a:buClrTx/>
                  <a:buSzTx/>
                  <a:buFontTx/>
                </a:pPr>
                <a14:m>
                  <m:oMathPara xmlns:m="http://schemas.openxmlformats.org/officeDocument/2006/math">
                    <m:oMathParaPr>
                      <m:jc m:val="center"/>
                    </m:oMathParaPr>
                    <m:oMath xmlns:m="http://schemas.openxmlformats.org/officeDocument/2006/math">
                      <m:r>
                        <a:rPr lang="en-US" altLang="zh-CN" sz="1900" i="1" dirty="0">
                          <a:latin typeface="Cambria Math" panose="02040503050406030204" pitchFamily="18" charset="0"/>
                          <a:cs typeface="Cambria Math" panose="02040503050406030204" pitchFamily="18" charset="0"/>
                        </a:rPr>
                        <m:t>𝑧</m:t>
                      </m:r>
                      <m:r>
                        <a:rPr lang="en-US" altLang="zh-CN" sz="1900" i="1" dirty="0">
                          <a:latin typeface="Cambria Math" panose="02040503050406030204" pitchFamily="18" charset="0"/>
                          <a:cs typeface="Cambria Math" panose="02040503050406030204" pitchFamily="18" charset="0"/>
                        </a:rPr>
                        <m:t>=</m:t>
                      </m:r>
                      <m:f>
                        <m:fPr>
                          <m:ctrlPr>
                            <a:rPr lang="en-US" altLang="zh-CN" sz="1900" i="1" dirty="0">
                              <a:latin typeface="Cambria Math" panose="02040503050406030204" pitchFamily="18" charset="0"/>
                              <a:cs typeface="Cambria Math" panose="02040503050406030204" pitchFamily="18" charset="0"/>
                            </a:rPr>
                          </m:ctrlPr>
                        </m:fPr>
                        <m:num>
                          <m:r>
                            <a:rPr lang="en-US" altLang="zh-CN" sz="1900" i="1" dirty="0">
                              <a:latin typeface="Cambria Math" panose="02040503050406030204" pitchFamily="18" charset="0"/>
                              <a:cs typeface="Cambria Math" panose="02040503050406030204" pitchFamily="18" charset="0"/>
                            </a:rPr>
                            <m:t>𝑦</m:t>
                          </m:r>
                        </m:num>
                        <m:den>
                          <m:r>
                            <a:rPr lang="en-US" altLang="zh-CN" sz="1900" i="1" dirty="0">
                              <a:latin typeface="Cambria Math" panose="02040503050406030204" pitchFamily="18" charset="0"/>
                              <a:cs typeface="Cambria Math" panose="02040503050406030204" pitchFamily="18" charset="0"/>
                            </a:rPr>
                            <m:t>𝑟</m:t>
                          </m:r>
                        </m:den>
                      </m:f>
                      <m:r>
                        <a:rPr lang="en-US" altLang="zh-CN" sz="1900" i="1" dirty="0">
                          <a:latin typeface="Cambria Math" panose="02040503050406030204" pitchFamily="18" charset="0"/>
                          <a:cs typeface="Cambria Math" panose="02040503050406030204" pitchFamily="18" charset="0"/>
                        </a:rPr>
                        <m:t>=</m:t>
                      </m:r>
                      <m:f>
                        <m:fPr>
                          <m:ctrlPr>
                            <a:rPr lang="en-US" altLang="zh-CN" sz="1900" i="1" dirty="0">
                              <a:latin typeface="Cambria Math" panose="02040503050406030204" pitchFamily="18" charset="0"/>
                              <a:cs typeface="Cambria Math" panose="02040503050406030204" pitchFamily="18" charset="0"/>
                            </a:rPr>
                          </m:ctrlPr>
                        </m:fPr>
                        <m:num>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𝑥</m:t>
                              </m:r>
                            </m:e>
                            <m:sup>
                              <m:r>
                                <a:rPr lang="en-US" altLang="zh-CN" sz="1900" i="1" dirty="0">
                                  <a:latin typeface="Cambria Math" panose="02040503050406030204" pitchFamily="18" charset="0"/>
                                  <a:cs typeface="Cambria Math" panose="02040503050406030204" pitchFamily="18" charset="0"/>
                                </a:rPr>
                                <m:t>𝑑</m:t>
                              </m:r>
                            </m:sup>
                          </m:sSup>
                        </m:num>
                        <m:den>
                          <m:r>
                            <a:rPr lang="en-US" altLang="zh-CN" sz="1900" i="1" dirty="0">
                              <a:latin typeface="Cambria Math" panose="02040503050406030204" pitchFamily="18" charset="0"/>
                              <a:cs typeface="Cambria Math" panose="02040503050406030204" pitchFamily="18" charset="0"/>
                            </a:rPr>
                            <m:t>𝑟</m:t>
                          </m:r>
                        </m:den>
                      </m:f>
                      <m:r>
                        <a:rPr lang="en-US" altLang="zh-CN" sz="1900" i="1" dirty="0">
                          <a:latin typeface="Cambria Math" panose="02040503050406030204" pitchFamily="18" charset="0"/>
                          <a:cs typeface="Cambria Math" panose="02040503050406030204" pitchFamily="18" charset="0"/>
                        </a:rPr>
                        <m:t>=</m:t>
                      </m:r>
                      <m:f>
                        <m:fPr>
                          <m:ctrlPr>
                            <a:rPr lang="en-US" altLang="zh-CN" sz="1900" i="1" dirty="0">
                              <a:latin typeface="Cambria Math" panose="02040503050406030204" pitchFamily="18" charset="0"/>
                              <a:cs typeface="Cambria Math" panose="02040503050406030204" pitchFamily="18" charset="0"/>
                            </a:rPr>
                          </m:ctrlPr>
                        </m:fPr>
                        <m:num>
                          <m:sSup>
                            <m:sSupPr>
                              <m:ctrlPr>
                                <a:rPr lang="en-US" altLang="zh-CN" sz="1900" i="1" dirty="0">
                                  <a:latin typeface="Cambria Math" panose="02040503050406030204" pitchFamily="18" charset="0"/>
                                  <a:cs typeface="Cambria Math" panose="02040503050406030204" pitchFamily="18" charset="0"/>
                                </a:rPr>
                              </m:ctrlPr>
                            </m:sSupPr>
                            <m:e>
                              <m:d>
                                <m:dPr>
                                  <m:ctrlPr>
                                    <a:rPr lang="en-US" altLang="zh-CN" sz="1900" i="1" dirty="0">
                                      <a:latin typeface="Cambria Math" panose="02040503050406030204" pitchFamily="18" charset="0"/>
                                      <a:cs typeface="Cambria Math" panose="02040503050406030204" pitchFamily="18" charset="0"/>
                                    </a:rPr>
                                  </m:ctrlPr>
                                </m:dPr>
                                <m:e>
                                  <m:r>
                                    <a:rPr lang="en-US" altLang="zh-CN" sz="1900" i="1" dirty="0">
                                      <a:latin typeface="Cambria Math" panose="02040503050406030204" pitchFamily="18" charset="0"/>
                                      <a:cs typeface="Cambria Math" panose="02040503050406030204" pitchFamily="18" charset="0"/>
                                    </a:rPr>
                                    <m:t>𝑚</m:t>
                                  </m:r>
                                  <m:d>
                                    <m:dPr>
                                      <m:ctrlPr>
                                        <a:rPr lang="en-US" altLang="zh-CN" sz="1900" i="1" dirty="0">
                                          <a:latin typeface="Cambria Math" panose="02040503050406030204" pitchFamily="18" charset="0"/>
                                          <a:cs typeface="Cambria Math" panose="02040503050406030204" pitchFamily="18" charset="0"/>
                                        </a:rPr>
                                      </m:ctrlPr>
                                    </m:dPr>
                                    <m:e>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𝑟</m:t>
                                          </m:r>
                                        </m:e>
                                        <m:sup>
                                          <m:r>
                                            <a:rPr lang="en-US" altLang="zh-CN" sz="1900" i="1" dirty="0">
                                              <a:latin typeface="Cambria Math" panose="02040503050406030204" pitchFamily="18" charset="0"/>
                                              <a:cs typeface="Cambria Math" panose="02040503050406030204" pitchFamily="18" charset="0"/>
                                            </a:rPr>
                                            <m:t>𝑒</m:t>
                                          </m:r>
                                        </m:sup>
                                      </m:sSup>
                                    </m:e>
                                  </m:d>
                                </m:e>
                              </m:d>
                            </m:e>
                            <m:sup>
                              <m:r>
                                <a:rPr lang="en-US" altLang="zh-CN" sz="1900" i="1" dirty="0">
                                  <a:latin typeface="Cambria Math" panose="02040503050406030204" pitchFamily="18" charset="0"/>
                                  <a:cs typeface="Cambria Math" panose="02040503050406030204" pitchFamily="18" charset="0"/>
                                </a:rPr>
                                <m:t>𝑑</m:t>
                              </m:r>
                            </m:sup>
                          </m:sSup>
                        </m:num>
                        <m:den>
                          <m:r>
                            <a:rPr lang="en-US" altLang="zh-CN" sz="1900" i="1" dirty="0">
                              <a:latin typeface="Cambria Math" panose="02040503050406030204" pitchFamily="18" charset="0"/>
                              <a:cs typeface="Cambria Math" panose="02040503050406030204" pitchFamily="18" charset="0"/>
                            </a:rPr>
                            <m:t>𝑟</m:t>
                          </m:r>
                        </m:den>
                      </m:f>
                      <m:r>
                        <a:rPr lang="en-US" altLang="zh-CN" sz="1900" i="1" dirty="0">
                          <a:latin typeface="Cambria Math" panose="02040503050406030204" pitchFamily="18" charset="0"/>
                          <a:cs typeface="Cambria Math" panose="02040503050406030204" pitchFamily="18" charset="0"/>
                        </a:rPr>
                        <m:t>=</m:t>
                      </m:r>
                      <m:f>
                        <m:fPr>
                          <m:ctrlPr>
                            <a:rPr lang="en-US" altLang="zh-CN" sz="1900" i="1" dirty="0">
                              <a:latin typeface="Cambria Math" panose="02040503050406030204" pitchFamily="18" charset="0"/>
                              <a:cs typeface="Cambria Math" panose="02040503050406030204" pitchFamily="18" charset="0"/>
                            </a:rPr>
                          </m:ctrlPr>
                        </m:fPr>
                        <m:num>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𝑚</m:t>
                              </m:r>
                            </m:e>
                            <m:sup>
                              <m:r>
                                <a:rPr lang="en-US" altLang="zh-CN" sz="1900" i="1" dirty="0">
                                  <a:latin typeface="Cambria Math" panose="02040503050406030204" pitchFamily="18" charset="0"/>
                                  <a:cs typeface="Cambria Math" panose="02040503050406030204" pitchFamily="18" charset="0"/>
                                </a:rPr>
                                <m:t>𝑑</m:t>
                              </m:r>
                            </m:sup>
                          </m:sSup>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𝑟</m:t>
                              </m:r>
                            </m:e>
                            <m:sup>
                              <m:r>
                                <a:rPr lang="en-US" altLang="zh-CN" sz="1900" i="1" dirty="0">
                                  <a:latin typeface="Cambria Math" panose="02040503050406030204" pitchFamily="18" charset="0"/>
                                  <a:cs typeface="Cambria Math" panose="02040503050406030204" pitchFamily="18" charset="0"/>
                                </a:rPr>
                                <m:t>𝑒𝑑</m:t>
                              </m:r>
                            </m:sup>
                          </m:sSup>
                        </m:num>
                        <m:den>
                          <m:r>
                            <a:rPr lang="en-US" altLang="zh-CN" sz="1900" i="1" dirty="0">
                              <a:latin typeface="Cambria Math" panose="02040503050406030204" pitchFamily="18" charset="0"/>
                              <a:cs typeface="Cambria Math" panose="02040503050406030204" pitchFamily="18" charset="0"/>
                            </a:rPr>
                            <m:t>𝑟</m:t>
                          </m:r>
                        </m:den>
                      </m:f>
                      <m:r>
                        <a:rPr lang="en-US" altLang="zh-CN" sz="1900" i="1" dirty="0">
                          <a:latin typeface="Cambria Math" panose="02040503050406030204" pitchFamily="18" charset="0"/>
                          <a:cs typeface="Cambria Math" panose="02040503050406030204" pitchFamily="18" charset="0"/>
                        </a:rPr>
                        <m:t>=</m:t>
                      </m:r>
                      <m:f>
                        <m:fPr>
                          <m:ctrlPr>
                            <a:rPr lang="en-US" altLang="zh-CN" sz="1900" i="1" dirty="0">
                              <a:latin typeface="Cambria Math" panose="02040503050406030204" pitchFamily="18" charset="0"/>
                              <a:cs typeface="Cambria Math" panose="02040503050406030204" pitchFamily="18" charset="0"/>
                            </a:rPr>
                          </m:ctrlPr>
                        </m:fPr>
                        <m:num>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𝑚</m:t>
                              </m:r>
                            </m:e>
                            <m:sup>
                              <m:r>
                                <a:rPr lang="en-US" altLang="zh-CN" sz="1900" i="1" dirty="0">
                                  <a:latin typeface="Cambria Math" panose="02040503050406030204" pitchFamily="18" charset="0"/>
                                  <a:cs typeface="Cambria Math" panose="02040503050406030204" pitchFamily="18" charset="0"/>
                                </a:rPr>
                                <m:t>𝑑</m:t>
                              </m:r>
                            </m:sup>
                          </m:sSup>
                          <m:r>
                            <a:rPr lang="en-US" altLang="zh-CN" sz="1900" i="1" dirty="0">
                              <a:latin typeface="Cambria Math" panose="02040503050406030204" pitchFamily="18" charset="0"/>
                              <a:cs typeface="Cambria Math" panose="02040503050406030204" pitchFamily="18" charset="0"/>
                            </a:rPr>
                            <m:t>𝑟</m:t>
                          </m:r>
                        </m:num>
                        <m:den>
                          <m:r>
                            <a:rPr lang="en-US" altLang="zh-CN" sz="1900" i="1" dirty="0">
                              <a:latin typeface="Cambria Math" panose="02040503050406030204" pitchFamily="18" charset="0"/>
                              <a:cs typeface="Cambria Math" panose="02040503050406030204" pitchFamily="18" charset="0"/>
                            </a:rPr>
                            <m:t>𝑟</m:t>
                          </m:r>
                        </m:den>
                      </m:f>
                      <m:r>
                        <a:rPr lang="en-US" altLang="zh-CN" sz="1900" i="1" dirty="0">
                          <a:latin typeface="Cambria Math" panose="02040503050406030204" pitchFamily="18" charset="0"/>
                          <a:cs typeface="Cambria Math" panose="02040503050406030204" pitchFamily="18" charset="0"/>
                        </a:rPr>
                        <m:t>=</m:t>
                      </m:r>
                      <m:sSup>
                        <m:sSupPr>
                          <m:ctrlPr>
                            <a:rPr lang="en-US" altLang="zh-CN" sz="1900" i="1" dirty="0">
                              <a:latin typeface="Cambria Math" panose="02040503050406030204" pitchFamily="18" charset="0"/>
                              <a:cs typeface="Cambria Math" panose="02040503050406030204" pitchFamily="18" charset="0"/>
                            </a:rPr>
                          </m:ctrlPr>
                        </m:sSupPr>
                        <m:e>
                          <m:r>
                            <a:rPr lang="en-US" altLang="zh-CN" sz="1900" i="1" dirty="0">
                              <a:latin typeface="Cambria Math" panose="02040503050406030204" pitchFamily="18" charset="0"/>
                              <a:cs typeface="Cambria Math" panose="02040503050406030204" pitchFamily="18" charset="0"/>
                            </a:rPr>
                            <m:t>𝑚</m:t>
                          </m:r>
                        </m:e>
                        <m:sup>
                          <m:r>
                            <a:rPr lang="en-US" altLang="zh-CN" sz="1900" i="1" dirty="0">
                              <a:latin typeface="Cambria Math" panose="02040503050406030204" pitchFamily="18" charset="0"/>
                              <a:cs typeface="Cambria Math" panose="02040503050406030204" pitchFamily="18" charset="0"/>
                            </a:rPr>
                            <m:t>𝑑</m:t>
                          </m:r>
                        </m:sup>
                      </m:sSup>
                      <m:r>
                        <a:rPr lang="en-US" altLang="zh-CN" sz="1900" i="1" dirty="0">
                          <a:latin typeface="Cambria Math" panose="02040503050406030204" pitchFamily="18" charset="0"/>
                          <a:cs typeface="Cambria Math" panose="02040503050406030204" pitchFamily="18" charset="0"/>
                        </a:rPr>
                        <m:t>(</m:t>
                      </m:r>
                      <m:r>
                        <m:rPr>
                          <m:sty m:val="p"/>
                        </m:rPr>
                        <a:rPr lang="en-US" altLang="zh-CN" sz="1900" dirty="0">
                          <a:latin typeface="Cambria Math" panose="02040503050406030204" pitchFamily="18" charset="0"/>
                          <a:cs typeface="Cambria Math" panose="02040503050406030204" pitchFamily="18" charset="0"/>
                        </a:rPr>
                        <m:t>mod</m:t>
                      </m:r>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𝑛</m:t>
                      </m:r>
                      <m:r>
                        <a:rPr lang="en-US" altLang="zh-CN" sz="1900" i="1" dirty="0">
                          <a:latin typeface="Cambria Math" panose="02040503050406030204" pitchFamily="18" charset="0"/>
                          <a:cs typeface="Cambria Math" panose="02040503050406030204" pitchFamily="18" charset="0"/>
                        </a:rPr>
                        <m:t>)</m:t>
                      </m:r>
                    </m:oMath>
                  </m:oMathPara>
                </a14:m>
                <a:endParaRPr lang="en-US" altLang="zh-CN" sz="1900" b="1" dirty="0">
                  <a:latin typeface="Times New Roman" panose="02020603050405020304" pitchFamily="18" charset="0"/>
                  <a:cs typeface="Times New Roman" panose="02020603050405020304" pitchFamily="18" charset="0"/>
                </a:endParaRPr>
              </a:p>
              <a:p>
                <a:pPr marL="285750" indent="-285750" algn="just">
                  <a:lnSpc>
                    <a:spcPct val="130000"/>
                  </a:lnSpc>
                  <a:spcBef>
                    <a:spcPts val="500"/>
                  </a:spcBef>
                  <a:buFont typeface="Wingdings" panose="05000000000000000000" pitchFamily="2" charset="2"/>
                  <a:buChar char="l"/>
                </a:pPr>
                <a:r>
                  <a:rPr lang="en-US" altLang="zh-CN" sz="1900" b="1" dirty="0" err="1">
                    <a:latin typeface="Times New Roman" panose="02020603050405020304" pitchFamily="18" charset="0"/>
                    <a:cs typeface="Times New Roman" panose="02020603050405020304" pitchFamily="18" charset="0"/>
                    <a:sym typeface="+mn-ea"/>
                  </a:rPr>
                  <a:t>电子</a:t>
                </a:r>
                <a:r>
                  <a:rPr lang="zh-CN" altLang="en-US" sz="1900" b="1" dirty="0">
                    <a:latin typeface="Times New Roman" panose="02020603050405020304" pitchFamily="18" charset="0"/>
                    <a:cs typeface="Times New Roman" panose="02020603050405020304" pitchFamily="18" charset="0"/>
                  </a:rPr>
                  <a:t>现金</a:t>
                </a:r>
                <a:r>
                  <a:rPr lang="en-US" altLang="zh-CN" sz="1900" b="1" dirty="0" err="1">
                    <a:latin typeface="Times New Roman" panose="02020603050405020304" pitchFamily="18" charset="0"/>
                    <a:cs typeface="Times New Roman" panose="02020603050405020304" pitchFamily="18" charset="0"/>
                  </a:rPr>
                  <a:t>支付</a:t>
                </a:r>
                <a:r>
                  <a:rPr lang="en-US" altLang="zh-CN" sz="1900" b="1"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sym typeface="+mn-ea"/>
                  </a:rPr>
                  <a:t>用户使</a:t>
                </a:r>
                <a:r>
                  <a:rPr lang="en-US" altLang="zh-CN" sz="1900" dirty="0" err="1">
                    <a:latin typeface="Times New Roman" panose="02020603050405020304" pitchFamily="18" charset="0"/>
                    <a:cs typeface="Times New Roman" panose="02020603050405020304" pitchFamily="18" charset="0"/>
                  </a:rPr>
                  <a:t>用</a:t>
                </a:r>
                <a:r>
                  <a:rPr lang="zh-CN" altLang="en-US" sz="1900" dirty="0">
                    <a:latin typeface="Times New Roman" panose="02020603050405020304" pitchFamily="18" charset="0"/>
                    <a:cs typeface="Times New Roman" panose="02020603050405020304" pitchFamily="18" charset="0"/>
                  </a:rPr>
                  <a:t>电子现金</a:t>
                </a:r>
                <a14:m>
                  <m:oMath xmlns:m="http://schemas.openxmlformats.org/officeDocument/2006/math">
                    <m:r>
                      <a:rPr lang="en-US" altLang="zh-CN" sz="1900" b="0" i="0" dirty="0" smtClean="0">
                        <a:latin typeface="Cambria Math" panose="02040503050406030204" pitchFamily="18" charset="0"/>
                        <a:cs typeface="Cambria Math" panose="02040503050406030204" pitchFamily="18" charset="0"/>
                      </a:rPr>
                      <m:t> </m:t>
                    </m:r>
                    <m:d>
                      <m:dPr>
                        <m:ctrlPr>
                          <a:rPr lang="en-US" altLang="zh-CN" sz="1900" i="1" dirty="0">
                            <a:latin typeface="Cambria Math" panose="02040503050406030204" pitchFamily="18" charset="0"/>
                            <a:cs typeface="Cambria Math" panose="02040503050406030204" pitchFamily="18" charset="0"/>
                          </a:rPr>
                        </m:ctrlPr>
                      </m:dPr>
                      <m:e>
                        <m:r>
                          <a:rPr lang="en-US" altLang="zh-CN" sz="1900" dirty="0">
                            <a:latin typeface="Cambria Math" panose="02040503050406030204" pitchFamily="18" charset="0"/>
                            <a:cs typeface="Cambria Math" panose="02040503050406030204" pitchFamily="18" charset="0"/>
                          </a:rPr>
                          <m:t>𝑚</m:t>
                        </m:r>
                        <m:r>
                          <a:rPr lang="en-US" altLang="zh-CN" sz="1900" dirty="0">
                            <a:latin typeface="Cambria Math" panose="02040503050406030204" pitchFamily="18" charset="0"/>
                            <a:cs typeface="Cambria Math" panose="02040503050406030204" pitchFamily="18" charset="0"/>
                          </a:rPr>
                          <m:t>,</m:t>
                        </m:r>
                        <m:r>
                          <a:rPr lang="en-US" altLang="zh-CN" sz="1900" i="1" dirty="0">
                            <a:latin typeface="Cambria Math" panose="02040503050406030204" pitchFamily="18" charset="0"/>
                            <a:cs typeface="Cambria Math" panose="02040503050406030204" pitchFamily="18" charset="0"/>
                          </a:rPr>
                          <m:t>𝑧</m:t>
                        </m:r>
                      </m:e>
                    </m:d>
                    <m:r>
                      <a:rPr lang="en-US" altLang="zh-CN" sz="1900" i="1" dirty="0">
                        <a:latin typeface="Cambria Math" panose="02040503050406030204" pitchFamily="18" charset="0"/>
                        <a:cs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从商家</a:t>
                </a:r>
                <a:r>
                  <a:rPr lang="zh-CN" altLang="en-US" sz="1900" dirty="0">
                    <a:latin typeface="Times New Roman" panose="02020603050405020304" pitchFamily="18" charset="0"/>
                    <a:cs typeface="Times New Roman" panose="02020603050405020304" pitchFamily="18" charset="0"/>
                  </a:rPr>
                  <a:t>处</a:t>
                </a:r>
                <a:r>
                  <a:rPr lang="en-US" altLang="zh-CN" sz="1900" dirty="0">
                    <a:latin typeface="Times New Roman" panose="02020603050405020304" pitchFamily="18" charset="0"/>
                    <a:cs typeface="Times New Roman" panose="02020603050405020304" pitchFamily="18" charset="0"/>
                  </a:rPr>
                  <a:t>购买商品或服务</a:t>
                </a:r>
                <a:r>
                  <a:rPr lang="zh-CN" altLang="en-US" sz="1900" dirty="0">
                    <a:latin typeface="Times New Roman" panose="02020603050405020304" pitchFamily="18" charset="0"/>
                    <a:cs typeface="Times New Roman" panose="02020603050405020304" pitchFamily="18" charset="0"/>
                  </a:rPr>
                  <a:t>，</a:t>
                </a:r>
                <a:r>
                  <a:rPr lang="en-US" altLang="zh-CN" sz="1900" dirty="0">
                    <a:latin typeface="Times New Roman" panose="02020603050405020304" pitchFamily="18" charset="0"/>
                    <a:cs typeface="Times New Roman" panose="02020603050405020304" pitchFamily="18" charset="0"/>
                  </a:rPr>
                  <a:t>商家可以用公钥</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d>
                      <m:dPr>
                        <m:ctrlPr>
                          <a:rPr lang="en-US" altLang="zh-CN" sz="1900" i="1" dirty="0">
                            <a:latin typeface="Cambria Math" panose="02040503050406030204" pitchFamily="18" charset="0"/>
                            <a:cs typeface="Cambria Math" panose="02040503050406030204" pitchFamily="18" charset="0"/>
                          </a:rPr>
                        </m:ctrlPr>
                      </m:dPr>
                      <m:e>
                        <m:r>
                          <a:rPr lang="en-US" altLang="zh-CN" sz="1900" i="1" dirty="0">
                            <a:latin typeface="Cambria Math" panose="02040503050406030204" pitchFamily="18" charset="0"/>
                            <a:cs typeface="Cambria Math" panose="02040503050406030204" pitchFamily="18" charset="0"/>
                            <a:sym typeface="+mn-ea"/>
                          </a:rPr>
                          <m:t>𝑛</m:t>
                        </m:r>
                        <m:r>
                          <a:rPr lang="en-US" altLang="zh-CN" sz="1900" i="1" dirty="0">
                            <a:latin typeface="Cambria Math" panose="02040503050406030204" pitchFamily="18" charset="0"/>
                            <a:cs typeface="Cambria Math" panose="02040503050406030204" pitchFamily="18" charset="0"/>
                            <a:sym typeface="+mn-ea"/>
                          </a:rPr>
                          <m:t>,</m:t>
                        </m:r>
                        <m:r>
                          <a:rPr lang="en-US" altLang="zh-CN" sz="1900" i="1" dirty="0">
                            <a:latin typeface="Cambria Math" panose="02040503050406030204" pitchFamily="18" charset="0"/>
                            <a:cs typeface="Cambria Math" panose="02040503050406030204" pitchFamily="18" charset="0"/>
                            <a:sym typeface="+mn-ea"/>
                          </a:rPr>
                          <m:t>𝑒</m:t>
                        </m:r>
                      </m:e>
                    </m:d>
                    <m:r>
                      <a:rPr lang="en-US" altLang="zh-CN" sz="1900" i="1" dirty="0">
                        <a:latin typeface="Cambria Math" panose="02040503050406030204" pitchFamily="18" charset="0"/>
                        <a:cs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对</a:t>
                </a:r>
                <a:r>
                  <a:rPr lang="en-US" altLang="zh-CN" sz="1900" dirty="0">
                    <a:latin typeface="Times New Roman" panose="02020603050405020304" pitchFamily="18" charset="0"/>
                    <a:cs typeface="Times New Roman" panose="02020603050405020304" pitchFamily="18" charset="0"/>
                    <a:sym typeface="+mn-ea"/>
                  </a:rPr>
                  <a:t>银行</a:t>
                </a:r>
                <a:r>
                  <a:rPr lang="en-US" altLang="zh-CN" sz="1900" dirty="0">
                    <a:latin typeface="Times New Roman" panose="02020603050405020304" pitchFamily="18" charset="0"/>
                    <a:cs typeface="Times New Roman" panose="02020603050405020304" pitchFamily="18" charset="0"/>
                  </a:rPr>
                  <a:t>的</a:t>
                </a:r>
                <a:r>
                  <a:rPr lang="zh-CN" altLang="en-US" sz="1900" dirty="0">
                    <a:latin typeface="Times New Roman" panose="02020603050405020304" pitchFamily="18" charset="0"/>
                    <a:cs typeface="Times New Roman" panose="02020603050405020304" pitchFamily="18" charset="0"/>
                  </a:rPr>
                  <a:t>签名</a:t>
                </a:r>
                <a14:m>
                  <m:oMath xmlns:m="http://schemas.openxmlformats.org/officeDocument/2006/math">
                    <m:r>
                      <a:rPr lang="en-US" altLang="zh-CN" sz="1900" i="1" dirty="0">
                        <a:latin typeface="Cambria Math" panose="02040503050406030204" pitchFamily="18" charset="0"/>
                        <a:cs typeface="Cambria Math" panose="02040503050406030204" pitchFamily="18" charset="0"/>
                      </a:rPr>
                      <m:t> </m:t>
                    </m:r>
                    <m:r>
                      <a:rPr lang="en-US" altLang="zh-CN" sz="1900" i="1" dirty="0">
                        <a:latin typeface="Cambria Math" panose="02040503050406030204" pitchFamily="18" charset="0"/>
                        <a:cs typeface="Cambria Math" panose="02040503050406030204" pitchFamily="18" charset="0"/>
                      </a:rPr>
                      <m:t>𝑧</m:t>
                    </m:r>
                    <m:r>
                      <a:rPr lang="en-US" altLang="zh-CN" sz="1900" i="1" dirty="0">
                        <a:latin typeface="Cambria Math" panose="02040503050406030204" pitchFamily="18" charset="0"/>
                        <a:cs typeface="Cambria Math" panose="02040503050406030204" pitchFamily="18" charset="0"/>
                      </a:rPr>
                      <m:t> </m:t>
                    </m:r>
                  </m:oMath>
                </a14:m>
                <a:r>
                  <a:rPr lang="en-US" altLang="zh-CN" sz="1900" dirty="0">
                    <a:latin typeface="Times New Roman" panose="02020603050405020304" pitchFamily="18" charset="0"/>
                    <a:cs typeface="Times New Roman" panose="02020603050405020304" pitchFamily="18" charset="0"/>
                  </a:rPr>
                  <a:t>进行证实。</a:t>
                </a:r>
              </a:p>
            </p:txBody>
          </p:sp>
        </mc:Choice>
        <mc:Fallback xmlns="">
          <p:sp>
            <p:nvSpPr>
              <p:cNvPr id="11" name="文本框 10"/>
              <p:cNvSpPr txBox="1">
                <a:spLocks noRot="1" noChangeAspect="1" noMove="1" noResize="1" noEditPoints="1" noAdjustHandles="1" noChangeArrowheads="1" noChangeShapeType="1" noTextEdit="1"/>
              </p:cNvSpPr>
              <p:nvPr/>
            </p:nvSpPr>
            <p:spPr>
              <a:xfrm>
                <a:off x="311962" y="2397714"/>
                <a:ext cx="8479944" cy="4159921"/>
              </a:xfrm>
              <a:prstGeom prst="rect">
                <a:avLst/>
              </a:prstGeom>
              <a:blipFill rotWithShape="1">
                <a:blip r:embed="rId4"/>
                <a:stretch>
                  <a:fillRect l="-2" t="-14" r="-932" b="15"/>
                </a:stretch>
              </a:blipFill>
            </p:spPr>
            <p:txBody>
              <a:bodyPr/>
              <a:lstStyle/>
              <a:p>
                <a:r>
                  <a:rPr lang="zh-CN" altLang="en-US">
                    <a:noFill/>
                  </a:rPr>
                  <a:t> </a:t>
                </a:r>
              </a:p>
            </p:txBody>
          </p:sp>
        </mc:Fallback>
      </mc:AlternateContent>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41</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9.3 </a:t>
            </a:r>
            <a:r>
              <a:rPr lang="zh-CN" altLang="en-US" sz="2400" b="1" dirty="0">
                <a:solidFill>
                  <a:srgbClr val="FF0000"/>
                </a:solidFill>
                <a:latin typeface="+mn-ea"/>
              </a:rPr>
              <a:t>电子投票协议 </a:t>
            </a:r>
            <a:r>
              <a:rPr lang="en-US" altLang="zh-CN" sz="2400" b="1" dirty="0">
                <a:solidFill>
                  <a:srgbClr val="FF0000"/>
                </a:solidFill>
                <a:latin typeface="+mn-ea"/>
              </a:rPr>
              <a:t>(</a:t>
            </a:r>
            <a:r>
              <a:rPr lang="zh-CN" altLang="en-US" sz="2400" b="1" dirty="0">
                <a:solidFill>
                  <a:srgbClr val="FF0000"/>
                </a:solidFill>
                <a:latin typeface="+mn-ea"/>
              </a:rPr>
              <a:t>结合文献</a:t>
            </a:r>
            <a:r>
              <a:rPr lang="en-US" altLang="zh-CN" sz="2400" b="1" dirty="0">
                <a:solidFill>
                  <a:srgbClr val="FF0000"/>
                </a:solidFill>
                <a:latin typeface="+mn-ea"/>
              </a:rPr>
              <a:t>)</a:t>
            </a:r>
            <a:endParaRPr lang="zh-CN" altLang="en-US" sz="2400" b="1" dirty="0">
              <a:solidFill>
                <a:srgbClr val="FF0000"/>
              </a:solidFill>
              <a:latin typeface="+mn-ea"/>
            </a:endParaRPr>
          </a:p>
        </p:txBody>
      </p:sp>
      <p:sp>
        <p:nvSpPr>
          <p:cNvPr id="5" name="文本框 4"/>
          <p:cNvSpPr txBox="1"/>
          <p:nvPr/>
        </p:nvSpPr>
        <p:spPr>
          <a:xfrm>
            <a:off x="311961" y="1565075"/>
            <a:ext cx="8479945" cy="1422762"/>
          </a:xfrm>
          <a:prstGeom prst="rect">
            <a:avLst/>
          </a:prstGeom>
          <a:noFill/>
        </p:spPr>
        <p:txBody>
          <a:bodyPr wrap="square" rtlCol="0">
            <a:spAutoFit/>
          </a:bodyPr>
          <a:lstStyle/>
          <a:p>
            <a:pPr algn="just">
              <a:lnSpc>
                <a:spcPct val="150000"/>
              </a:lnSpc>
              <a:spcBef>
                <a:spcPts val="600"/>
              </a:spcBef>
            </a:pPr>
            <a:r>
              <a:rPr lang="en-US" altLang="zh-CN" sz="2000" dirty="0">
                <a:latin typeface="Times New Roman" panose="02020603050405020304" pitchFamily="18" charset="0"/>
                <a:cs typeface="Times New Roman" panose="02020603050405020304" pitchFamily="18" charset="0"/>
              </a:rPr>
              <a:t>1992 </a:t>
            </a:r>
            <a:r>
              <a:rPr lang="zh-CN" altLang="en-US" sz="2000" dirty="0">
                <a:latin typeface="Times New Roman" panose="02020603050405020304" pitchFamily="18" charset="0"/>
                <a:cs typeface="Times New Roman" panose="02020603050405020304" pitchFamily="18" charset="0"/>
              </a:rPr>
              <a:t>年，日本学者 </a:t>
            </a:r>
            <a:r>
              <a:rPr lang="en-US" altLang="zh-CN" sz="2000" dirty="0" err="1">
                <a:latin typeface="Times New Roman" panose="02020603050405020304" pitchFamily="18" charset="0"/>
                <a:cs typeface="Times New Roman" panose="02020603050405020304" pitchFamily="18" charset="0"/>
              </a:rPr>
              <a:t>Fujilka</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等人提出了第一个适于大规模选举的电子投票方案。该方案使用了</a:t>
            </a:r>
            <a:r>
              <a:rPr lang="zh-CN" altLang="en-US" sz="2000" dirty="0">
                <a:solidFill>
                  <a:srgbClr val="0000FF"/>
                </a:solidFill>
                <a:latin typeface="Times New Roman" panose="02020603050405020304" pitchFamily="18" charset="0"/>
                <a:cs typeface="Times New Roman" panose="02020603050405020304" pitchFamily="18" charset="0"/>
              </a:rPr>
              <a:t>比特承诺</a:t>
            </a:r>
            <a:r>
              <a:rPr lang="zh-CN" altLang="en-US" sz="2000" dirty="0">
                <a:latin typeface="Times New Roman" panose="02020603050405020304" pitchFamily="18" charset="0"/>
                <a:cs typeface="Times New Roman" panose="02020603050405020304" pitchFamily="18" charset="0"/>
              </a:rPr>
              <a:t>和</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RSA </a:t>
            </a:r>
            <a:r>
              <a:rPr lang="zh-CN" altLang="en-US" sz="2000" dirty="0">
                <a:solidFill>
                  <a:srgbClr val="0000FF"/>
                </a:solidFill>
                <a:latin typeface="Times New Roman" panose="02020603050405020304" pitchFamily="18" charset="0"/>
                <a:cs typeface="Times New Roman" panose="02020603050405020304" pitchFamily="18" charset="0"/>
              </a:rPr>
              <a:t>盲签名</a:t>
            </a:r>
            <a:r>
              <a:rPr lang="zh-CN" altLang="en-US" sz="2000" dirty="0">
                <a:latin typeface="Times New Roman" panose="02020603050405020304" pitchFamily="18" charset="0"/>
                <a:cs typeface="Times New Roman" panose="02020603050405020304" pitchFamily="18" charset="0"/>
              </a:rPr>
              <a:t>技术，保证了选票的秘密性和选举的公平性，并在一定程度上解决了投票者身份的匿名性问题。</a:t>
            </a:r>
            <a:endParaRPr lang="en-US" altLang="zh-CN" sz="20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794397" y="2962814"/>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311962" y="2991270"/>
                <a:ext cx="8479944" cy="3387090"/>
              </a:xfrm>
              <a:prstGeom prst="rect">
                <a:avLst/>
              </a:prstGeom>
              <a:noFill/>
            </p:spPr>
            <p:txBody>
              <a:bodyPr wrap="square">
                <a:spAutoFit/>
              </a:bodyPr>
              <a:lstStyle/>
              <a:p>
                <a:pPr marL="285750" indent="-285750" algn="just">
                  <a:lnSpc>
                    <a:spcPct val="150000"/>
                  </a:lnSpc>
                  <a:spcBef>
                    <a:spcPts val="5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sym typeface="+mn-ea"/>
                  </a:rPr>
                  <a:t>初始化阶段：</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投票者</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选择并填好一张选票</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，选择一个随机数</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𝑘</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作为比特承诺的密钥，用位比特承诺方案加密</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，即</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𝑥</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r>
                      <a:rPr lang="en-US" altLang="zh-CN" sz="2000" dirty="0">
                        <a:latin typeface="Cambria Math" panose="02040503050406030204" pitchFamily="18" charset="0"/>
                        <a:ea typeface="MS Mincho" charset="0"/>
                        <a:cs typeface="Cambria Math" panose="02040503050406030204" pitchFamily="18" charset="0"/>
                      </a:rPr>
                      <m:t>𝜀</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𝑘</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。再</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随机选取一个盲化因子</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r>
                          <a:rPr lang="en-US" altLang="zh-CN" sz="2000" dirty="0">
                            <a:latin typeface="Cambria Math" panose="02040503050406030204" pitchFamily="18" charset="0"/>
                            <a:ea typeface="MS Mincho" charset="0"/>
                            <a:cs typeface="Cambria Math" panose="02040503050406030204" pitchFamily="18" charset="0"/>
                          </a:rPr>
                          <m:t> </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并盲化</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𝑥</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，即</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𝑒</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r>
                      <a:rPr lang="en-US" altLang="zh-CN" sz="2000" dirty="0">
                        <a:latin typeface="Cambria Math" panose="02040503050406030204" pitchFamily="18" charset="0"/>
                        <a:ea typeface="MS Mincho" charset="0"/>
                        <a:cs typeface="Cambria Math" panose="02040503050406030204" pitchFamily="18" charset="0"/>
                      </a:rPr>
                      <m:t>𝜒</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𝑥</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对</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𝑒</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进行签名，即</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𝑠</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𝜎</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𝑒</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。最后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将 </a:t>
                </a:r>
                <a14:m>
                  <m:oMath xmlns:m="http://schemas.openxmlformats.org/officeDocument/2006/math">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𝐼𝐷</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𝑒</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𝑠</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发送给管理机构</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gn="just">
                  <a:lnSpc>
                    <a:spcPct val="150000"/>
                  </a:lnSpc>
                  <a:spcBef>
                    <a:spcPts val="5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sym typeface="+mn-ea"/>
                  </a:rPr>
                  <a:t>注册阶段：</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管理机构</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先</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验证</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的</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𝐼𝐷</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是否合法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，然后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验证</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的签名</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𝑠</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。若签名</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𝑠</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有效，则</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对</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𝑒</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进行签名，即</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𝑑</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MS Mincho" charset="0"/>
                            <a:cs typeface="Cambria Math" panose="02040503050406030204" pitchFamily="18" charset="0"/>
                          </a:rPr>
                          <m:t>𝜎</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sub>
                    </m:sSub>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𝑒</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，并将</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𝑑</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作为投票授权证书发送给</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若</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已提交过申请，则拒绝给</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颁发证书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mc:Choice>
        <mc:Fallback xmlns="">
          <p:sp>
            <p:nvSpPr>
              <p:cNvPr id="12" name="文本框 11"/>
              <p:cNvSpPr txBox="1">
                <a:spLocks noRot="1" noChangeAspect="1" noMove="1" noResize="1" noEditPoints="1" noAdjustHandles="1" noChangeArrowheads="1" noChangeShapeType="1" noTextEdit="1"/>
              </p:cNvSpPr>
              <p:nvPr/>
            </p:nvSpPr>
            <p:spPr>
              <a:xfrm>
                <a:off x="311962" y="2991270"/>
                <a:ext cx="8479944" cy="3387090"/>
              </a:xfrm>
              <a:prstGeom prst="rect">
                <a:avLst/>
              </a:prstGeom>
              <a:blipFill rotWithShape="1">
                <a:blip r:embed="rId4"/>
                <a:stretch>
                  <a:fillRect l="-2" t="-12" r="4" b="12"/>
                </a:stretch>
              </a:blipFill>
            </p:spPr>
            <p:txBody>
              <a:bodyPr/>
              <a:lstStyle/>
              <a:p>
                <a:r>
                  <a:rPr lang="zh-CN" altLang="en-US">
                    <a:noFill/>
                  </a:rPr>
                  <a:t> </a:t>
                </a:r>
              </a:p>
            </p:txBody>
          </p:sp>
        </mc:Fallback>
      </mc:AlternateContent>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42</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9.3 </a:t>
            </a:r>
            <a:r>
              <a:rPr lang="zh-CN" altLang="en-US" sz="2400" b="1" dirty="0">
                <a:solidFill>
                  <a:srgbClr val="FF0000"/>
                </a:solidFill>
                <a:latin typeface="+mn-ea"/>
              </a:rPr>
              <a:t>电子投票协议</a:t>
            </a:r>
          </a:p>
        </p:txBody>
      </p:sp>
      <mc:AlternateContent xmlns:mc="http://schemas.openxmlformats.org/markup-compatibility/2006" xmlns:a14="http://schemas.microsoft.com/office/drawing/2010/main">
        <mc:Choice Requires="a14">
          <p:sp>
            <p:nvSpPr>
              <p:cNvPr id="5" name="文本框 4"/>
              <p:cNvSpPr txBox="1"/>
              <p:nvPr/>
            </p:nvSpPr>
            <p:spPr>
              <a:xfrm>
                <a:off x="311961" y="1586339"/>
                <a:ext cx="8479945" cy="4836160"/>
              </a:xfrm>
              <a:prstGeom prst="rect">
                <a:avLst/>
              </a:prstGeom>
              <a:noFill/>
            </p:spPr>
            <p:txBody>
              <a:bodyPr wrap="square" rtlCol="0">
                <a:spAutoFit/>
              </a:bodyPr>
              <a:lstStyle/>
              <a:p>
                <a:pPr marL="285750" indent="-285750" algn="just">
                  <a:lnSpc>
                    <a:spcPct val="150000"/>
                  </a:lnSpc>
                  <a:spcBef>
                    <a:spcPts val="5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sym typeface="+mn-ea"/>
                  </a:rPr>
                  <a:t>投票阶段：</a:t>
                </a:r>
                <a:r>
                  <a:rPr lang="zh-CN" altLang="en-US" sz="2000" dirty="0">
                    <a:sym typeface="+mn-ea"/>
                  </a:rPr>
                  <a:t>投票者</a:t>
                </a:r>
                <a14:m>
                  <m:oMath xmlns:m="http://schemas.openxmlformats.org/officeDocument/2006/math">
                    <m:r>
                      <a:rPr lang="en-US" altLang="zh-CN" sz="2000" dirty="0">
                        <a:latin typeface="Cambria Math" panose="02040503050406030204" pitchFamily="18" charset="0"/>
                        <a:sym typeface="+mn-ea"/>
                      </a:rPr>
                      <m:t> </m:t>
                    </m:r>
                    <m:sSub>
                      <m:sSubPr>
                        <m:ctrlPr>
                          <a:rPr lang="zh-CN" altLang="en-US" sz="2000" i="1" dirty="0">
                            <a:latin typeface="Cambria Math" panose="02040503050406030204" pitchFamily="18" charset="0"/>
                          </a:rPr>
                        </m:ctrlPr>
                      </m:sSubPr>
                      <m:e>
                        <m:r>
                          <a:rPr lang="zh-CN" altLang="en-US" sz="2000" dirty="0">
                            <a:latin typeface="Cambria Math" panose="02040503050406030204" pitchFamily="18" charset="0"/>
                          </a:rPr>
                          <m:t>𝑉</m:t>
                        </m:r>
                      </m:e>
                      <m:sub>
                        <m:r>
                          <a:rPr lang="zh-CN" altLang="en-US" sz="2000" dirty="0">
                            <a:latin typeface="Cambria Math" panose="02040503050406030204" pitchFamily="18" charset="0"/>
                          </a:rPr>
                          <m:t>𝑖</m:t>
                        </m:r>
                      </m:sub>
                    </m:sSub>
                    <m:r>
                      <a:rPr lang="zh-CN" altLang="en-US" sz="2000" dirty="0">
                        <a:latin typeface="Cambria Math" panose="02040503050406030204" pitchFamily="18" charset="0"/>
                      </a:rPr>
                      <m:t> </m:t>
                    </m:r>
                  </m:oMath>
                </a14:m>
                <a:r>
                  <a:rPr lang="zh-CN" altLang="en-US" sz="2000" dirty="0">
                    <a:latin typeface="Cambria Math" panose="02040503050406030204" pitchFamily="18" charset="0"/>
                  </a:rPr>
                  <a:t>对</a:t>
                </a:r>
                <a14:m>
                  <m:oMath xmlns:m="http://schemas.openxmlformats.org/officeDocument/2006/math">
                    <m:r>
                      <a:rPr lang="en-US" altLang="zh-CN" sz="2000" dirty="0">
                        <a:latin typeface="Cambria Math" panose="02040503050406030204" pitchFamily="18" charset="0"/>
                        <a:sym typeface="+mn-ea"/>
                      </a:rPr>
                      <m:t> </m:t>
                    </m:r>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𝑑</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Cambria Math" panose="02040503050406030204" pitchFamily="18" charset="0"/>
                  </a:rPr>
                  <a:t>脱盲，恢复出</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Cambria Math" panose="02040503050406030204" pitchFamily="18" charset="0"/>
                  </a:rPr>
                  <a:t>关于</a:t>
                </a:r>
                <a14:m>
                  <m:oMath xmlns:m="http://schemas.openxmlformats.org/officeDocument/2006/math">
                    <m:sSub>
                      <m:sSubPr>
                        <m:ctrlPr>
                          <a:rPr lang="zh-CN" altLang="en-US" sz="2000" i="1" dirty="0">
                            <a:latin typeface="Cambria Math" panose="02040503050406030204" pitchFamily="18" charset="0"/>
                          </a:rPr>
                        </m:ctrlPr>
                      </m:sSubPr>
                      <m:e>
                        <m:r>
                          <a:rPr lang="zh-CN" altLang="en-US" sz="2000" dirty="0">
                            <a:latin typeface="Cambria Math" panose="02040503050406030204" pitchFamily="18" charset="0"/>
                          </a:rPr>
                          <m:t> </m:t>
                        </m:r>
                        <m:r>
                          <a:rPr lang="zh-CN" altLang="en-US" sz="2000" dirty="0">
                            <a:latin typeface="Cambria Math" panose="02040503050406030204" pitchFamily="18" charset="0"/>
                          </a:rPr>
                          <m:t>𝑥</m:t>
                        </m:r>
                      </m:e>
                      <m:sub>
                        <m:r>
                          <a:rPr lang="zh-CN" altLang="en-US" sz="2000" dirty="0">
                            <a:latin typeface="Cambria Math" panose="02040503050406030204" pitchFamily="18" charset="0"/>
                          </a:rPr>
                          <m:t>𝑖</m:t>
                        </m:r>
                      </m:sub>
                    </m:sSub>
                    <m:r>
                      <a:rPr lang="en-US" altLang="zh-CN" sz="2000" dirty="0">
                        <a:latin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Cambria Math" panose="02040503050406030204" pitchFamily="18" charset="0"/>
                  </a:rPr>
                  <a:t>的签名</a:t>
                </a:r>
                <a:r>
                  <a:rPr lang="en-US" altLang="zh-CN" sz="2000" dirty="0">
                    <a:latin typeface="微软雅黑" panose="020B0503020204020204" pitchFamily="34" charset="-122"/>
                    <a:ea typeface="微软雅黑" panose="020B0503020204020204" pitchFamily="34" charset="-122"/>
                    <a:cs typeface="Cambria Math" panose="02040503050406030204" pitchFamily="18" charset="0"/>
                  </a:rPr>
                  <a:t> </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2000" i="1" dirty="0">
                        <a:latin typeface="Cambria Math" panose="02040503050406030204" pitchFamily="18" charset="0"/>
                        <a:ea typeface="MS Mincho" charset="0"/>
                        <a:cs typeface="Cambria Math" panose="02040503050406030204" pitchFamily="18" charset="0"/>
                      </a:rPr>
                      <m:t>=</m:t>
                    </m:r>
                    <m:r>
                      <a:rPr lang="en-US" altLang="zh-CN" sz="2000" i="1" dirty="0">
                        <a:latin typeface="Cambria Math" panose="02040503050406030204" pitchFamily="18" charset="0"/>
                        <a:ea typeface="MS Mincho" charset="0"/>
                        <a:cs typeface="Cambria Math" panose="02040503050406030204" pitchFamily="18" charset="0"/>
                      </a:rPr>
                      <m:t>𝛿</m:t>
                    </m:r>
                    <m:d>
                      <m:d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dPr>
                      <m:e>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𝑑</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2000" i="1"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𝑟</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e>
                    </m:d>
                  </m:oMath>
                </a14:m>
                <a:r>
                  <a:rPr lang="zh-CN" altLang="en-US" sz="2000" dirty="0">
                    <a:sym typeface="+mn-ea"/>
                  </a:rPr>
                  <a:t>。</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𝑉</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sym typeface="+mn-ea"/>
                  </a:rPr>
                  <a:t>验证</a:t>
                </a:r>
                <a:r>
                  <a:rPr lang="zh-CN" altLang="en-US" sz="2000" dirty="0">
                    <a:latin typeface="微软雅黑" panose="020B0503020204020204" pitchFamily="34" charset="-122"/>
                    <a:ea typeface="微软雅黑" panose="020B0503020204020204" pitchFamily="34" charset="-122"/>
                    <a:cs typeface="Cambria Math" panose="02040503050406030204" pitchFamily="18" charset="0"/>
                    <a:sym typeface="+mn-ea"/>
                  </a:rPr>
                  <a:t>签名</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oMath>
                </a14:m>
                <a:r>
                  <a:rPr lang="zh-CN" altLang="en-US" sz="2000" dirty="0">
                    <a:sym typeface="+mn-ea"/>
                  </a:rPr>
                  <a:t>。若签名无效，则</a:t>
                </a:r>
                <a:r>
                  <a:rPr lang="en-US" altLang="zh-CN" sz="2000" dirty="0">
                    <a:sym typeface="+mn-ea"/>
                  </a:rPr>
                  <a:t> </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𝑉</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Cambria Math" panose="02040503050406030204" pitchFamily="18" charset="0"/>
                  </a:rPr>
                  <a:t>向</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证明签名</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d>
                      <m:d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dPr>
                      <m:e>
                        <m:sSub>
                          <m:sSubPr>
                            <m:ctrlPr>
                              <a:rPr lang="zh-CN" altLang="en-US" sz="2000" i="1" dirty="0">
                                <a:latin typeface="Cambria Math" panose="02040503050406030204" pitchFamily="18" charset="0"/>
                              </a:rPr>
                            </m:ctrlPr>
                          </m:sSubPr>
                          <m:e>
                            <m:r>
                              <a:rPr lang="zh-CN" altLang="en-US" sz="2000" dirty="0">
                                <a:latin typeface="Cambria Math" panose="02040503050406030204" pitchFamily="18" charset="0"/>
                              </a:rPr>
                              <m:t>𝑥</m:t>
                            </m:r>
                          </m:e>
                          <m:sub>
                            <m:r>
                              <a:rPr lang="zh-CN" altLang="en-US" sz="2000" dirty="0">
                                <a:latin typeface="Cambria Math" panose="02040503050406030204" pitchFamily="18" charset="0"/>
                              </a:rPr>
                              <m:t>𝑖</m:t>
                            </m:r>
                          </m:sub>
                        </m:sSub>
                        <m:r>
                          <a:rPr lang="en-US" altLang="zh-CN" sz="2000" dirty="0">
                            <a:latin typeface="Cambria Math" panose="02040503050406030204" pitchFamily="18" charset="0"/>
                          </a:rPr>
                          <m:t>,</m:t>
                        </m:r>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e>
                    </m:d>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不合法，并选用另一个</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𝑟</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sym typeface="+mn-ea"/>
                  </a:rPr>
                  <a:t>重新获取投票授权证书</a:t>
                </a:r>
                <a:r>
                  <a:rPr lang="zh-CN" altLang="en-US" sz="2000" dirty="0">
                    <a:sym typeface="+mn-ea"/>
                  </a:rPr>
                  <a:t>；若签名有效，则</a:t>
                </a:r>
                <a14:m>
                  <m:oMath xmlns:m="http://schemas.openxmlformats.org/officeDocument/2006/math">
                    <m:r>
                      <a:rPr lang="en-US" altLang="zh-CN" sz="2000" dirty="0">
                        <a:latin typeface="Cambria Math" panose="02040503050406030204" pitchFamily="18" charset="0"/>
                        <a:sym typeface="+mn-ea"/>
                      </a:rPr>
                      <m:t> </m:t>
                    </m:r>
                    <m:sSub>
                      <m:sSubPr>
                        <m:ctrlPr>
                          <a:rPr lang="zh-CN" altLang="en-US" sz="2000" i="1" dirty="0">
                            <a:latin typeface="Cambria Math" panose="02040503050406030204" pitchFamily="18" charset="0"/>
                          </a:rPr>
                        </m:ctrlPr>
                      </m:sSubPr>
                      <m:e>
                        <m:r>
                          <a:rPr lang="zh-CN" altLang="en-US" sz="2000" dirty="0">
                            <a:latin typeface="Cambria Math" panose="02040503050406030204" pitchFamily="18" charset="0"/>
                          </a:rPr>
                          <m:t>𝑉</m:t>
                        </m:r>
                      </m:e>
                      <m:sub>
                        <m:r>
                          <a:rPr lang="zh-CN" altLang="en-US" sz="2000" dirty="0">
                            <a:latin typeface="Cambria Math" panose="02040503050406030204" pitchFamily="18" charset="0"/>
                          </a:rPr>
                          <m:t>𝑖</m:t>
                        </m:r>
                      </m:sub>
                    </m:sSub>
                    <m:r>
                      <a:rPr lang="zh-CN" altLang="en-US" sz="2000" dirty="0">
                        <a:latin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匿名地将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d>
                      <m:dPr>
                        <m:ctrlPr>
                          <a:rPr lang="en-US" altLang="zh-CN" sz="2000" i="1" dirty="0">
                            <a:latin typeface="Cambria Math" panose="02040503050406030204" pitchFamily="18" charset="0"/>
                            <a:cs typeface="Cambria Math" panose="02040503050406030204" pitchFamily="18" charset="0"/>
                          </a:rPr>
                        </m:ctrlPr>
                      </m:dPr>
                      <m:e>
                        <m:sSub>
                          <m:sSubPr>
                            <m:ctrlPr>
                              <a:rPr lang="zh-CN" altLang="en-US" sz="2000" i="1" dirty="0">
                                <a:latin typeface="Cambria Math" panose="02040503050406030204" pitchFamily="18" charset="0"/>
                              </a:rPr>
                            </m:ctrlPr>
                          </m:sSubPr>
                          <m:e>
                            <m:r>
                              <a:rPr lang="zh-CN" altLang="en-US" sz="2000" dirty="0">
                                <a:latin typeface="Cambria Math" panose="02040503050406030204" pitchFamily="18" charset="0"/>
                              </a:rPr>
                              <m:t>𝑥</m:t>
                            </m:r>
                          </m:e>
                          <m:sub>
                            <m:r>
                              <a:rPr lang="zh-CN" altLang="en-US" sz="2000" dirty="0">
                                <a:latin typeface="Cambria Math" panose="02040503050406030204" pitchFamily="18" charset="0"/>
                              </a:rPr>
                              <m:t>𝑖</m:t>
                            </m:r>
                          </m:sub>
                        </m:sSub>
                        <m:r>
                          <a:rPr lang="en-US" altLang="zh-CN" sz="2000" dirty="0">
                            <a:latin typeface="Cambria Math" panose="02040503050406030204" pitchFamily="18" charset="0"/>
                          </a:rPr>
                          <m:t>,</m:t>
                        </m:r>
                        <m:sSub>
                          <m:sSubPr>
                            <m:ctrlPr>
                              <a:rPr lang="en-US" altLang="zh-CN" sz="20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latin typeface="Cambria Math" panose="02040503050406030204" pitchFamily="18" charset="0"/>
                                <a:ea typeface="黑体" panose="02010609060101010101" pitchFamily="49" charset="-122"/>
                                <a:cs typeface="Cambria Math" panose="02040503050406030204" pitchFamily="18" charset="0"/>
                              </a:rPr>
                              <m:t>𝑖</m:t>
                            </m:r>
                          </m:sub>
                        </m:sSub>
                      </m:e>
                    </m:d>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发送给计票机构</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oMath>
                </a14:m>
                <a:r>
                  <a:rPr lang="zh-CN" altLang="en-US" sz="2000" dirty="0">
                    <a:latin typeface="Cambria Math" panose="02040503050406030204" pitchFamily="18" charset="0"/>
                    <a:ea typeface="黑体" panose="02010609060101010101" pitchFamily="49" charset="-122"/>
                    <a:cs typeface="Cambria Math" panose="02040503050406030204" pitchFamily="18" charset="0"/>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just">
                  <a:lnSpc>
                    <a:spcPct val="150000"/>
                  </a:lnSpc>
                  <a:spcBef>
                    <a:spcPts val="500"/>
                  </a:spcBef>
                  <a:spcAft>
                    <a:spcPts val="0"/>
                  </a:spcAft>
                  <a:buClrTx/>
                  <a:buSzTx/>
                  <a:buFont typeface="Wingdings" panose="05000000000000000000" pitchFamily="2" charset="2"/>
                  <a:buChar char="l"/>
                </a:pPr>
                <a:r>
                  <a:rPr lang="zh-CN" altLang="en-US" sz="2000" b="1" dirty="0">
                    <a:sym typeface="+mn-ea"/>
                  </a:rPr>
                  <a:t>收票阶段：</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计票机构</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验证签名</a:t>
                </a:r>
                <a14:m>
                  <m:oMath xmlns:m="http://schemas.openxmlformats.org/officeDocument/2006/math">
                    <m:sSub>
                      <m:sSubPr>
                        <m:ctrlP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 </m:t>
                        </m:r>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Cambria Math" panose="02040503050406030204" pitchFamily="18" charset="0"/>
                    <a:ea typeface="微软雅黑" panose="020B0503020204020204" pitchFamily="34" charset="-122"/>
                    <a:cs typeface="Cambria Math" panose="02040503050406030204" pitchFamily="18" charset="0"/>
                    <a:sym typeface="+mn-ea"/>
                  </a:rPr>
                  <a:t>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签名</a:t>
                </a:r>
                <a:r>
                  <a:rPr lang="zh-CN" altLang="en-US" sz="2000" dirty="0">
                    <a:sym typeface="+mn-ea"/>
                  </a:rPr>
                  <a:t>有效</a:t>
                </a:r>
                <a:r>
                  <a:rPr lang="zh-CN" altLang="en-US" sz="2000" dirty="0">
                    <a:latin typeface="Cambria Math" panose="02040503050406030204" pitchFamily="18" charset="0"/>
                    <a:cs typeface="Cambria Math" panose="02040503050406030204" pitchFamily="18" charset="0"/>
                    <a:sym typeface="+mn-ea"/>
                  </a:rPr>
                  <a:t>，则</a:t>
                </a:r>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将</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𝑙</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zh-CN" altLang="en-US" sz="2000" i="1" dirty="0">
                                <a:solidFill>
                                  <a:schemeClr val="tx1"/>
                                </a:solidFill>
                                <a:latin typeface="Cambria Math" panose="02040503050406030204" pitchFamily="18" charset="0"/>
                              </a:rPr>
                            </m:ctrlPr>
                          </m:sSubPr>
                          <m:e>
                            <m:r>
                              <a:rPr lang="zh-CN" altLang="en-US" sz="2000" dirty="0">
                                <a:solidFill>
                                  <a:schemeClr val="tx1"/>
                                </a:solidFill>
                                <a:latin typeface="Cambria Math" panose="02040503050406030204" pitchFamily="18" charset="0"/>
                              </a:rPr>
                              <m:t>𝑥</m:t>
                            </m:r>
                          </m:e>
                          <m:sub>
                            <m:r>
                              <a:rPr lang="zh-CN" altLang="en-US" sz="2000" dirty="0">
                                <a:solidFill>
                                  <a:schemeClr val="tx1"/>
                                </a:solidFill>
                                <a:latin typeface="Cambria Math" panose="02040503050406030204" pitchFamily="18" charset="0"/>
                              </a:rPr>
                              <m:t>𝑖</m:t>
                            </m:r>
                          </m:sub>
                        </m:sSub>
                        <m:r>
                          <a:rPr lang="en-US" altLang="zh-CN" sz="2000" dirty="0">
                            <a:solidFill>
                              <a:schemeClr val="tx1"/>
                            </a:solidFill>
                            <a:latin typeface="Cambria Math" panose="02040503050406030204" pitchFamily="18" charset="0"/>
                          </a:rPr>
                          <m:t>,</m:t>
                        </m:r>
                        <m:sSub>
                          <m:sSubPr>
                            <m:ctrlP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保存在合法选票列表中，其中</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𝑙</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是</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zh-CN" altLang="en-US" sz="2000" i="1" dirty="0">
                                <a:solidFill>
                                  <a:schemeClr val="tx1"/>
                                </a:solidFill>
                                <a:latin typeface="Cambria Math" panose="02040503050406030204" pitchFamily="18" charset="0"/>
                              </a:rPr>
                            </m:ctrlPr>
                          </m:sSubPr>
                          <m:e>
                            <m:r>
                              <a:rPr lang="zh-CN" altLang="en-US" sz="2000" dirty="0">
                                <a:solidFill>
                                  <a:schemeClr val="tx1"/>
                                </a:solidFill>
                                <a:latin typeface="Cambria Math" panose="02040503050406030204" pitchFamily="18" charset="0"/>
                              </a:rPr>
                              <m:t>𝑥</m:t>
                            </m:r>
                          </m:e>
                          <m:sub>
                            <m:r>
                              <a:rPr lang="zh-CN" altLang="en-US" sz="2000" dirty="0">
                                <a:solidFill>
                                  <a:schemeClr val="tx1"/>
                                </a:solidFill>
                                <a:latin typeface="Cambria Math" panose="02040503050406030204" pitchFamily="18" charset="0"/>
                              </a:rPr>
                              <m:t>𝑖</m:t>
                            </m:r>
                          </m:sub>
                        </m:sSub>
                        <m:r>
                          <a:rPr lang="en-US" altLang="zh-CN" sz="2000" dirty="0">
                            <a:solidFill>
                              <a:schemeClr val="tx1"/>
                            </a:solidFill>
                            <a:latin typeface="Cambria Math" panose="02040503050406030204" pitchFamily="18" charset="0"/>
                          </a:rPr>
                          <m:t>,</m:t>
                        </m:r>
                        <m:sSub>
                          <m:sSubPr>
                            <m:ctrlP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20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r>
                      <a:rPr lang="en-US" altLang="zh-CN" sz="2000" dirty="0">
                        <a:solidFill>
                          <a:schemeClr val="tx1"/>
                        </a:solidFill>
                        <a:latin typeface="Cambria Math" panose="02040503050406030204" pitchFamily="18" charset="0"/>
                        <a:ea typeface="微软雅黑" panose="020B0503020204020204" pitchFamily="34" charset="-122"/>
                        <a:cs typeface="微软雅黑" panose="020B0503020204020204" pitchFamily="34" charset="-122"/>
                      </a:rPr>
                      <m:t> </m:t>
                    </m:r>
                  </m:oMath>
                </a14:m>
                <a:r>
                  <a:rPr lang="en-US" altLang="zh-CN" sz="20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编号</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所有计票结束后，</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公布</a:t>
                </a:r>
                <a:r>
                  <a:rPr lang="zh-CN" altLang="en-US" sz="2000" dirty="0">
                    <a:latin typeface="Cambria Math" panose="02040503050406030204" pitchFamily="18" charset="0"/>
                    <a:ea typeface="微软雅黑" panose="020B0503020204020204" pitchFamily="34" charset="-122"/>
                    <a:cs typeface="Cambria Math" panose="02040503050406030204" pitchFamily="18" charset="0"/>
                    <a:sym typeface="+mn-ea"/>
                  </a:rPr>
                  <a:t>合法选票列表。</a:t>
                </a:r>
                <a:endParaRPr lang="en-US" altLang="zh-CN" sz="2000" dirty="0">
                  <a:latin typeface="Cambria Math" panose="02040503050406030204" pitchFamily="18" charset="0"/>
                  <a:ea typeface="微软雅黑" panose="020B0503020204020204" pitchFamily="34" charset="-122"/>
                  <a:cs typeface="Cambria Math" panose="02040503050406030204" pitchFamily="18" charset="0"/>
                  <a:sym typeface="+mn-ea"/>
                </a:endParaRPr>
              </a:p>
              <a:p>
                <a:pPr marL="285750" indent="-285750" algn="just">
                  <a:lnSpc>
                    <a:spcPct val="150000"/>
                  </a:lnSpc>
                  <a:spcBef>
                    <a:spcPts val="500"/>
                  </a:spcBef>
                  <a:spcAft>
                    <a:spcPts val="0"/>
                  </a:spcAft>
                  <a:buClrTx/>
                  <a:buSzTx/>
                  <a:buFont typeface="Wingdings" panose="05000000000000000000" pitchFamily="2" charset="2"/>
                  <a:buChar char="l"/>
                </a:pPr>
                <a:r>
                  <a:rPr lang="zh-CN" altLang="en-US" sz="2000" b="1" dirty="0">
                    <a:sym typeface="+mn-ea"/>
                  </a:rPr>
                  <a:t>核票阶段：</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计票机构</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核查</a:t>
                </a:r>
                <a14:m>
                  <m:oMath xmlns:m="http://schemas.openxmlformats.org/officeDocument/2006/math">
                    <m:r>
                      <a:rPr lang="en-US" altLang="zh-CN" sz="2000" dirty="0">
                        <a:solidFill>
                          <a:schemeClr val="tx1"/>
                        </a:solidFill>
                        <a:latin typeface="Cambria Math" panose="02040503050406030204" pitchFamily="18" charset="0"/>
                        <a:ea typeface="MS Mincho" charset="0"/>
                        <a:cs typeface="Cambria Math" panose="02040503050406030204" pitchFamily="18" charset="0"/>
                      </a:rPr>
                      <m:t> </m:t>
                    </m:r>
                    <m:r>
                      <a:rPr lang="en-US" altLang="zh-CN" sz="20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dirty="0">
                        <a:solidFill>
                          <a:schemeClr val="tx1"/>
                        </a:solidFill>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公布的投票者数量和 </a:t>
                </a:r>
                <a14:m>
                  <m:oMath xmlns:m="http://schemas.openxmlformats.org/officeDocument/2006/math">
                    <m:r>
                      <a:rPr lang="en-US" altLang="zh-CN" sz="20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dirty="0">
                        <a:solidFill>
                          <a:schemeClr val="tx1"/>
                        </a:solidFill>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公布的投票数量是否相等。如果不等，则要求投票者公布缺少选票对应的盲因子 </a:t>
                </a:r>
                <a14:m>
                  <m:oMath xmlns:m="http://schemas.openxmlformats.org/officeDocument/2006/math">
                    <m:sSub>
                      <m:sSubPr>
                        <m:ctrlPr>
                          <a:rPr lang="en-US" altLang="zh-CN" sz="20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20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投票者</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zh-CN" altLang="en-US"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检查自己的选票是否在</a:t>
                </a:r>
                <a14:m>
                  <m:oMath xmlns:m="http://schemas.openxmlformats.org/officeDocument/2006/math">
                    <m:r>
                      <a:rPr lang="en-US" altLang="zh-CN" sz="2000" i="1" dirty="0">
                        <a:solidFill>
                          <a:schemeClr val="tx1"/>
                        </a:solidFill>
                        <a:latin typeface="Cambria Math" panose="02040503050406030204" pitchFamily="18" charset="0"/>
                        <a:ea typeface="MS Mincho" charset="0"/>
                        <a:cs typeface="Cambria Math" panose="02040503050406030204" pitchFamily="18" charset="0"/>
                      </a:rPr>
                      <m:t> </m:t>
                    </m:r>
                    <m:r>
                      <a:rPr lang="en-US" altLang="zh-CN" sz="20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i="1" dirty="0">
                        <a:solidFill>
                          <a:schemeClr val="tx1"/>
                        </a:solidFill>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公布的合法选票列表中。</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11961" y="1586339"/>
                <a:ext cx="8479945" cy="4836160"/>
              </a:xfrm>
              <a:prstGeom prst="rect">
                <a:avLst/>
              </a:prstGeom>
              <a:blipFill rotWithShape="1">
                <a:blip r:embed="rId4"/>
                <a:stretch>
                  <a:fillRect l="-2" t="-2" r="4" b="2"/>
                </a:stretch>
              </a:blipFill>
            </p:spPr>
            <p:txBody>
              <a:bodyPr/>
              <a:lstStyle/>
              <a:p>
                <a:r>
                  <a:rPr lang="zh-CN" altLang="en-US">
                    <a:noFill/>
                  </a:rPr>
                  <a:t> </a:t>
                </a:r>
              </a:p>
            </p:txBody>
          </p:sp>
        </mc:Fallback>
      </mc:AlternateContent>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43</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9.3 </a:t>
            </a:r>
            <a:r>
              <a:rPr lang="zh-CN" altLang="en-US" sz="2400" b="1" dirty="0">
                <a:solidFill>
                  <a:srgbClr val="FF0000"/>
                </a:solidFill>
                <a:latin typeface="+mn-ea"/>
              </a:rPr>
              <a:t>电子投票协议</a:t>
            </a:r>
          </a:p>
        </p:txBody>
      </p:sp>
      <mc:AlternateContent xmlns:mc="http://schemas.openxmlformats.org/markup-compatibility/2006" xmlns:a14="http://schemas.microsoft.com/office/drawing/2010/main">
        <mc:Choice Requires="a14">
          <p:sp>
            <p:nvSpPr>
              <p:cNvPr id="5" name="文本框 4"/>
              <p:cNvSpPr txBox="1"/>
              <p:nvPr/>
            </p:nvSpPr>
            <p:spPr>
              <a:xfrm>
                <a:off x="311961" y="1586339"/>
                <a:ext cx="8479945" cy="2925445"/>
              </a:xfrm>
              <a:prstGeom prst="rect">
                <a:avLst/>
              </a:prstGeom>
              <a:noFill/>
            </p:spPr>
            <p:txBody>
              <a:bodyPr wrap="square" rtlCol="0">
                <a:spAutoFit/>
              </a:bodyPr>
              <a:lstStyle/>
              <a:p>
                <a:pPr marL="288290" lvl="1" algn="just">
                  <a:lnSpc>
                    <a:spcPct val="150000"/>
                  </a:lnSpc>
                  <a:spcBef>
                    <a:spcPts val="500"/>
                  </a:spcBef>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如果不在，</a:t>
                </a:r>
                <a14:m>
                  <m:oMath xmlns:m="http://schemas.openxmlformats.org/officeDocument/2006/math">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zh-CN" altLang="en-US"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公开自己的合法选票及其签名</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𝑥</m:t>
                            </m:r>
                          </m:e>
                          <m:sub>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𝑦</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e>
                    </m:d>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，并要求</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计票机构</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将其加入选票列表。投票者</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sym typeface="+mn-ea"/>
                      </a:rPr>
                      <m:t> </m:t>
                    </m:r>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𝑉</m:t>
                        </m:r>
                      </m:e>
                      <m:sub>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用序号</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𝑙</m:t>
                    </m:r>
                    <m:r>
                      <a:rPr lang="en-US"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来对应自己的密钥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𝑘</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，并将</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𝑙</m:t>
                        </m:r>
                        <m:r>
                          <a:rPr lang="en-US" altLang="zh-CN" sz="2000" dirty="0">
                            <a:latin typeface="Cambria Math" panose="02040503050406030204" pitchFamily="18" charset="0"/>
                            <a:ea typeface="MS Mincho" charset="0"/>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𝑘</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r>
                      <a:rPr lang="en-US"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匿名地发送给</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计票机构</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ym typeface="+mn-ea"/>
                </a:endParaRPr>
              </a:p>
              <a:p>
                <a:pPr marL="285750" indent="-285750" algn="just">
                  <a:lnSpc>
                    <a:spcPct val="150000"/>
                  </a:lnSpc>
                  <a:spcBef>
                    <a:spcPts val="500"/>
                  </a:spcBef>
                  <a:buFont typeface="Wingdings" panose="05000000000000000000" pitchFamily="2" charset="2"/>
                  <a:buChar char="l"/>
                </a:pPr>
                <a:r>
                  <a:rPr lang="zh-CN" altLang="en-US" sz="2000" b="1" dirty="0">
                    <a:sym typeface="+mn-ea"/>
                  </a:rPr>
                  <a:t>计票阶段：</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计票机构</a:t>
                </a:r>
                <a14:m>
                  <m:oMath xmlns:m="http://schemas.openxmlformats.org/officeDocument/2006/math">
                    <m:r>
                      <a:rPr lang="en-US" altLang="zh-CN" sz="2000" i="1" dirty="0">
                        <a:latin typeface="Cambria Math" panose="02040503050406030204" pitchFamily="18" charset="0"/>
                        <a:ea typeface="MS Mincho" charset="0"/>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使用</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𝑙</m:t>
                        </m:r>
                        <m:r>
                          <a:rPr lang="en-US" altLang="zh-CN" sz="2000"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𝑘</m:t>
                            </m:r>
                          </m:e>
                          <m:sub>
                            <m:r>
                              <a:rPr lang="en-US" altLang="zh-CN" sz="2000" dirty="0">
                                <a:latin typeface="Cambria Math" panose="02040503050406030204" pitchFamily="18" charset="0"/>
                              </a:rPr>
                              <m:t>𝑖</m:t>
                            </m:r>
                          </m:sub>
                        </m:sSub>
                      </m:e>
                    </m:d>
                    <m:r>
                      <a:rPr lang="en-US" altLang="zh-CN" sz="2000" i="1" dirty="0">
                        <a:latin typeface="Cambria Math" panose="02040503050406030204" pitchFamily="18" charset="0"/>
                        <a:ea typeface="黑体" panose="02010609060101010101" pitchFamily="49"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打开选票的位承诺</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𝑥</m:t>
                        </m:r>
                      </m:e>
                      <m:sub>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，恢复出选票内容</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𝑣</m:t>
                        </m:r>
                      </m:e>
                      <m:sub>
                        <m:r>
                          <a:rPr lang="en-US" altLang="zh-CN" sz="2000" dirty="0">
                            <a:latin typeface="Cambria Math" panose="02040503050406030204" pitchFamily="18" charset="0"/>
                          </a:rPr>
                          <m:t>𝑖</m:t>
                        </m:r>
                      </m:sub>
                    </m:sSub>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，并检查</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𝑣</m:t>
                        </m:r>
                      </m:e>
                      <m:sub>
                        <m:r>
                          <a:rPr lang="en-US" altLang="zh-CN" sz="2000" dirty="0">
                            <a:latin typeface="Cambria Math" panose="02040503050406030204" pitchFamily="18" charset="0"/>
                          </a:rPr>
                          <m:t>𝑖</m:t>
                        </m:r>
                      </m:sub>
                    </m:sSub>
                    <m:r>
                      <a:rPr lang="en-US" altLang="zh-CN" sz="2000" dirty="0">
                        <a:latin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的格式及内容是否有效</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若有效，则将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𝑘</m:t>
                            </m:r>
                          </m:e>
                          <m:sub>
                            <m:r>
                              <a:rPr lang="en-US" altLang="zh-CN" sz="2000" dirty="0">
                                <a:latin typeface="Cambria Math" panose="02040503050406030204" pitchFamily="18" charset="0"/>
                              </a:rPr>
                              <m:t>𝑖</m:t>
                            </m:r>
                          </m:sub>
                        </m:sSub>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m:t>
                            </m:r>
                            <m:r>
                              <a:rPr lang="en-US" altLang="zh-CN" sz="2000" dirty="0">
                                <a:latin typeface="Cambria Math" panose="02040503050406030204" pitchFamily="18" charset="0"/>
                              </a:rPr>
                              <m:t>𝑣</m:t>
                            </m:r>
                          </m:e>
                          <m:sub>
                            <m:r>
                              <a:rPr lang="en-US" altLang="zh-CN" sz="2000" dirty="0">
                                <a:latin typeface="Cambria Math" panose="02040503050406030204" pitchFamily="18" charset="0"/>
                              </a:rPr>
                              <m:t>𝑖</m:t>
                            </m:r>
                          </m:sub>
                        </m:sSub>
                      </m:e>
                    </m:d>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添加至选票列表。</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11961" y="1586339"/>
                <a:ext cx="8479945" cy="2925445"/>
              </a:xfrm>
              <a:prstGeom prst="rect">
                <a:avLst/>
              </a:prstGeom>
              <a:blipFill rotWithShape="1">
                <a:blip r:embed="rId4"/>
                <a:stretch>
                  <a:fillRect l="-2" t="-4" r="4" b="4"/>
                </a:stretch>
              </a:blipFill>
            </p:spPr>
            <p:txBody>
              <a:bodyPr/>
              <a:lstStyle/>
              <a:p>
                <a:r>
                  <a:rPr lang="zh-CN" altLang="en-US">
                    <a:noFill/>
                  </a:rPr>
                  <a:t> </a:t>
                </a:r>
              </a:p>
            </p:txBody>
          </p:sp>
        </mc:Fallback>
      </mc:AlternateContent>
      <p:grpSp>
        <p:nvGrpSpPr>
          <p:cNvPr id="66" name="组合 65"/>
          <p:cNvGrpSpPr/>
          <p:nvPr/>
        </p:nvGrpSpPr>
        <p:grpSpPr>
          <a:xfrm>
            <a:off x="539115" y="4511040"/>
            <a:ext cx="8025765" cy="2078990"/>
            <a:chOff x="553266" y="4541148"/>
            <a:chExt cx="8025693" cy="1989192"/>
          </a:xfrm>
        </p:grpSpPr>
        <p:sp>
          <p:nvSpPr>
            <p:cNvPr id="7" name="文本框 36"/>
            <p:cNvSpPr txBox="1"/>
            <p:nvPr/>
          </p:nvSpPr>
          <p:spPr>
            <a:xfrm>
              <a:off x="619941" y="5177790"/>
              <a:ext cx="184785"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sz="1400" dirty="0"/>
            </a:p>
          </p:txBody>
        </p:sp>
        <p:sp>
          <p:nvSpPr>
            <p:cNvPr id="8" name="圆角矩形 5"/>
            <p:cNvSpPr/>
            <p:nvPr/>
          </p:nvSpPr>
          <p:spPr>
            <a:xfrm>
              <a:off x="553266" y="4881880"/>
              <a:ext cx="3476274" cy="164846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lnSpc>
                  <a:spcPct val="110000"/>
                </a:lnSpc>
              </a:pPr>
              <a:endParaRPr lang="zh-CN" altLang="en-US" sz="1400"/>
            </a:p>
          </p:txBody>
        </p:sp>
        <mc:AlternateContent xmlns:mc="http://schemas.openxmlformats.org/markup-compatibility/2006" xmlns:a14="http://schemas.microsoft.com/office/drawing/2010/main">
          <mc:Choice Requires="a14">
            <p:sp>
              <p:nvSpPr>
                <p:cNvPr id="9" name="文本框 10"/>
                <p:cNvSpPr txBox="1"/>
                <p:nvPr/>
              </p:nvSpPr>
              <p:spPr>
                <a:xfrm>
                  <a:off x="1755424" y="4561779"/>
                  <a:ext cx="1047750"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r>
                    <a:rPr lang="zh-CN" altLang="en-US" sz="1400" dirty="0">
                      <a:latin typeface="黑体" panose="02010609060101010101" pitchFamily="49" charset="-122"/>
                      <a:ea typeface="黑体" panose="02010609060101010101" pitchFamily="49" charset="-122"/>
                    </a:rPr>
                    <a:t>计票机构</a:t>
                  </a:r>
                  <a14:m>
                    <m:oMath xmlns:m="http://schemas.openxmlformats.org/officeDocument/2006/math">
                      <m:r>
                        <a:rPr lang="en-US" altLang="zh-CN" sz="1400" i="1" dirty="0">
                          <a:latin typeface="Cambria Math" panose="02040503050406030204" pitchFamily="18" charset="0"/>
                          <a:ea typeface="黑体" panose="02010609060101010101" pitchFamily="49" charset="-122"/>
                          <a:cs typeface="Cambria Math" panose="02040503050406030204" pitchFamily="18" charset="0"/>
                        </a:rPr>
                        <m:t>𝐶</m:t>
                      </m:r>
                    </m:oMath>
                  </a14:m>
                  <a:endParaRPr lang="en-US" altLang="zh-CN" sz="1400" i="1" dirty="0">
                    <a:latin typeface="黑体" panose="02010609060101010101" pitchFamily="49" charset="-122"/>
                    <a:ea typeface="黑体" panose="02010609060101010101" pitchFamily="49" charset="-122"/>
                    <a:cs typeface="Cambria Math" panose="02040503050406030204" pitchFamily="18" charset="0"/>
                  </a:endParaRPr>
                </a:p>
              </p:txBody>
            </p:sp>
          </mc:Choice>
          <mc:Fallback xmlns="">
            <p:sp>
              <p:nvSpPr>
                <p:cNvPr id="9" name="文本框 10"/>
                <p:cNvSpPr txBox="1">
                  <a:spLocks noRot="1" noChangeAspect="1" noMove="1" noResize="1" noEditPoints="1" noAdjustHandles="1" noChangeArrowheads="1" noChangeShapeType="1" noTextEdit="1"/>
                </p:cNvSpPr>
                <p:nvPr/>
              </p:nvSpPr>
              <p:spPr>
                <a:xfrm>
                  <a:off x="1755424" y="4561779"/>
                  <a:ext cx="1047750" cy="334165"/>
                </a:xfrm>
                <a:prstGeom prst="rect">
                  <a:avLst/>
                </a:prstGeom>
                <a:blipFill rotWithShape="1">
                  <a:blip r:embed="rId5"/>
                </a:blipFill>
              </p:spPr>
              <p:txBody>
                <a:bodyPr/>
                <a:lstStyle/>
                <a:p>
                  <a:r>
                    <a:rPr lang="zh-CN" altLang="en-US">
                      <a:noFill/>
                    </a:rPr>
                    <a:t> </a:t>
                  </a:r>
                </a:p>
              </p:txBody>
            </p:sp>
          </mc:Fallback>
        </mc:AlternateContent>
        <p:sp>
          <p:nvSpPr>
            <p:cNvPr id="10" name="文本框 11"/>
            <p:cNvSpPr txBox="1"/>
            <p:nvPr/>
          </p:nvSpPr>
          <p:spPr>
            <a:xfrm>
              <a:off x="1687236" y="4831040"/>
              <a:ext cx="112458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r>
                <a:rPr lang="zh-CN" altLang="en-US" sz="1400" b="1" dirty="0">
                  <a:latin typeface="黑体" panose="02010609060101010101" pitchFamily="49" charset="-122"/>
                  <a:ea typeface="黑体" panose="02010609060101010101" pitchFamily="49" charset="-122"/>
                </a:rPr>
                <a:t>④收票阶段</a:t>
              </a:r>
            </a:p>
          </p:txBody>
        </p:sp>
        <mc:AlternateContent xmlns:mc="http://schemas.openxmlformats.org/markup-compatibility/2006" xmlns:a14="http://schemas.microsoft.com/office/drawing/2010/main">
          <mc:Choice Requires="a14">
            <p:sp>
              <p:nvSpPr>
                <p:cNvPr id="11" name="圆角矩形 12"/>
                <p:cNvSpPr/>
                <p:nvPr/>
              </p:nvSpPr>
              <p:spPr>
                <a:xfrm>
                  <a:off x="668149" y="5126528"/>
                  <a:ext cx="3244635" cy="24307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zh-CN" altLang="en-US" sz="1400" dirty="0">
                      <a:solidFill>
                        <a:schemeClr val="tx1"/>
                      </a:solidFill>
                      <a:latin typeface="黑体" panose="02010609060101010101" pitchFamily="49" charset="-122"/>
                      <a:ea typeface="黑体" panose="02010609060101010101" pitchFamily="49" charset="-122"/>
                      <a:cs typeface="黑体" panose="02010609060101010101" pitchFamily="49" charset="-122"/>
                    </a:rPr>
                    <a:t>将</a:t>
                  </a:r>
                  <a14:m>
                    <m:oMath xmlns:m="http://schemas.openxmlformats.org/officeDocument/2006/math">
                      <m:r>
                        <a:rPr lang="en-US" altLang="zh-CN" sz="1400" dirty="0">
                          <a:solidFill>
                            <a:schemeClr val="tx1"/>
                          </a:solidFill>
                          <a:latin typeface="Cambria Math" panose="02040503050406030204" pitchFamily="18" charset="0"/>
                          <a:ea typeface="MS Mincho" charset="0"/>
                          <a:cs typeface="Cambria Math" panose="02040503050406030204" pitchFamily="18" charset="0"/>
                        </a:rPr>
                        <m:t> </m:t>
                      </m:r>
                      <m:d>
                        <m:d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d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𝑙</m:t>
                          </m:r>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𝑥</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r>
                        <a:rPr lang="en-US" altLang="zh-CN" sz="1400" i="1" dirty="0">
                          <a:solidFill>
                            <a:schemeClr val="tx1"/>
                          </a:solidFill>
                          <a:latin typeface="Cambria Math" panose="02040503050406030204" pitchFamily="18" charset="0"/>
                          <a:ea typeface="MS Mincho" charset="0"/>
                          <a:cs typeface="Cambria Math" panose="02040503050406030204" pitchFamily="18" charset="0"/>
                        </a:rPr>
                        <m:t> </m:t>
                      </m:r>
                    </m:oMath>
                  </a14:m>
                  <a:r>
                    <a:rPr lang="zh-CN" altLang="en-US" sz="1400" dirty="0">
                      <a:solidFill>
                        <a:schemeClr val="tx1"/>
                      </a:solidFill>
                      <a:latin typeface="黑体" panose="02010609060101010101" pitchFamily="49" charset="-122"/>
                      <a:ea typeface="黑体" panose="02010609060101010101" pitchFamily="49" charset="-122"/>
                      <a:cs typeface="黑体" panose="02010609060101010101" pitchFamily="49" charset="-122"/>
                    </a:rPr>
                    <a:t>加入到</a:t>
                  </a:r>
                  <a:r>
                    <a:rPr sz="1400" dirty="0" err="1">
                      <a:solidFill>
                        <a:schemeClr val="tx1"/>
                      </a:solidFill>
                      <a:latin typeface="黑体" panose="02010609060101010101" pitchFamily="49" charset="-122"/>
                      <a:ea typeface="黑体" panose="02010609060101010101" pitchFamily="49" charset="-122"/>
                      <a:cs typeface="黑体" panose="02010609060101010101" pitchFamily="49" charset="-122"/>
                    </a:rPr>
                    <a:t>合法选票列表</a:t>
                  </a:r>
                  <a:endParaRPr lang="en-US" altLang="zh-CN" sz="1400" dirty="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mc:Choice>
          <mc:Fallback xmlns="">
            <p:sp>
              <p:nvSpPr>
                <p:cNvPr id="11" name="圆角矩形 12"/>
                <p:cNvSpPr>
                  <a:spLocks noRot="1" noChangeAspect="1" noMove="1" noResize="1" noEditPoints="1" noAdjustHandles="1" noChangeArrowheads="1" noChangeShapeType="1" noTextEdit="1"/>
                </p:cNvSpPr>
                <p:nvPr/>
              </p:nvSpPr>
              <p:spPr>
                <a:xfrm>
                  <a:off x="668149" y="5126528"/>
                  <a:ext cx="3244635" cy="243074"/>
                </a:xfrm>
                <a:prstGeom prst="roundRect">
                  <a:avLst/>
                </a:prstGeom>
                <a:blipFill rotWithShape="1">
                  <a:blip r:embed="rId6"/>
                </a:blipFill>
                <a:ln>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sp>
          <p:nvSpPr>
            <p:cNvPr id="12" name="圆角矩形 13"/>
            <p:cNvSpPr/>
            <p:nvPr/>
          </p:nvSpPr>
          <p:spPr>
            <a:xfrm>
              <a:off x="658041" y="5620385"/>
              <a:ext cx="3254744" cy="24307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zh-CN" altLang="en-US" sz="1400" dirty="0">
                  <a:solidFill>
                    <a:schemeClr val="tx1"/>
                  </a:solidFill>
                  <a:latin typeface="黑体" panose="02010609060101010101" pitchFamily="49" charset="-122"/>
                  <a:ea typeface="黑体" panose="02010609060101010101" pitchFamily="49" charset="-122"/>
                  <a:cs typeface="Cambria Math" panose="02040503050406030204" pitchFamily="18" charset="0"/>
                </a:rPr>
                <a:t>核查投票者数量和投票的数量是否相等</a:t>
              </a:r>
            </a:p>
          </p:txBody>
        </p:sp>
        <p:sp>
          <p:nvSpPr>
            <p:cNvPr id="13" name="圆角矩形 14"/>
            <p:cNvSpPr/>
            <p:nvPr/>
          </p:nvSpPr>
          <p:spPr>
            <a:xfrm>
              <a:off x="661851" y="6125341"/>
              <a:ext cx="3250933" cy="24307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zh-CN" altLang="en-US" sz="1400" dirty="0">
                  <a:solidFill>
                    <a:schemeClr val="tx1"/>
                  </a:solidFill>
                  <a:latin typeface="黑体" panose="02010609060101010101" pitchFamily="49" charset="-122"/>
                  <a:ea typeface="黑体" panose="02010609060101010101" pitchFamily="49" charset="-122"/>
                  <a:cs typeface="Cambria Math" panose="02040503050406030204" pitchFamily="18" charset="0"/>
                </a:rPr>
                <a:t>恢复选票，统计结果并公布</a:t>
              </a:r>
            </a:p>
          </p:txBody>
        </p:sp>
        <p:cxnSp>
          <p:nvCxnSpPr>
            <p:cNvPr id="14" name="直接箭头连接符 13"/>
            <p:cNvCxnSpPr>
              <a:stCxn id="11" idx="2"/>
              <a:endCxn id="12" idx="0"/>
            </p:cNvCxnSpPr>
            <p:nvPr/>
          </p:nvCxnSpPr>
          <p:spPr>
            <a:xfrm flipH="1">
              <a:off x="2285413" y="5369602"/>
              <a:ext cx="5054" cy="250783"/>
            </a:xfrm>
            <a:prstGeom prst="straightConnector1">
              <a:avLst/>
            </a:prstGeom>
            <a:ln w="12700" cmpd="sng">
              <a:solidFill>
                <a:schemeClr val="tx1"/>
              </a:solidFill>
              <a:prstDash val="solid"/>
              <a:tailEnd type="triangle" w="med" len="med"/>
            </a:ln>
          </p:spPr>
          <p:style>
            <a:lnRef idx="1">
              <a:schemeClr val="dk1"/>
            </a:lnRef>
            <a:fillRef idx="0">
              <a:schemeClr val="dk1"/>
            </a:fillRef>
            <a:effectRef idx="0">
              <a:schemeClr val="dk1"/>
            </a:effectRef>
            <a:fontRef idx="minor">
              <a:schemeClr val="tx1"/>
            </a:fontRef>
          </p:style>
        </p:cxnSp>
        <p:cxnSp>
          <p:nvCxnSpPr>
            <p:cNvPr id="15" name="直接箭头连接符 14"/>
            <p:cNvCxnSpPr>
              <a:stCxn id="12" idx="2"/>
              <a:endCxn id="13" idx="0"/>
            </p:cNvCxnSpPr>
            <p:nvPr/>
          </p:nvCxnSpPr>
          <p:spPr>
            <a:xfrm>
              <a:off x="2285413" y="5863459"/>
              <a:ext cx="1905" cy="261882"/>
            </a:xfrm>
            <a:prstGeom prst="straightConnector1">
              <a:avLst/>
            </a:prstGeom>
            <a:ln w="12700" cmpd="sng">
              <a:solidFill>
                <a:schemeClr val="tx1"/>
              </a:solidFill>
              <a:prstDash val="solid"/>
              <a:tailEnd type="triangle" w="med" len="med"/>
            </a:ln>
          </p:spPr>
          <p:style>
            <a:lnRef idx="1">
              <a:schemeClr val="dk1"/>
            </a:lnRef>
            <a:fillRef idx="0">
              <a:schemeClr val="dk1"/>
            </a:fillRef>
            <a:effectRef idx="0">
              <a:schemeClr val="dk1"/>
            </a:effectRef>
            <a:fontRef idx="minor">
              <a:schemeClr val="tx1"/>
            </a:fontRef>
          </p:style>
        </p:cxnSp>
        <p:sp>
          <p:nvSpPr>
            <p:cNvPr id="16" name="文本框 17"/>
            <p:cNvSpPr txBox="1"/>
            <p:nvPr/>
          </p:nvSpPr>
          <p:spPr>
            <a:xfrm>
              <a:off x="1616994" y="5322661"/>
              <a:ext cx="1186180"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r>
                <a:rPr lang="zh-CN" altLang="en-US" sz="1400" b="1" dirty="0">
                  <a:latin typeface="黑体" panose="02010609060101010101" pitchFamily="49" charset="-122"/>
                  <a:ea typeface="黑体" panose="02010609060101010101" pitchFamily="49" charset="-122"/>
                  <a:cs typeface="黑体" panose="02010609060101010101" pitchFamily="49" charset="-122"/>
                </a:rPr>
                <a:t>⑤核票</a:t>
              </a:r>
              <a:r>
                <a:rPr lang="en-US" altLang="zh-CN" sz="1400" b="1" dirty="0">
                  <a:latin typeface="黑体" panose="02010609060101010101" pitchFamily="49" charset="-122"/>
                  <a:ea typeface="黑体" panose="02010609060101010101" pitchFamily="49" charset="-122"/>
                  <a:cs typeface="黑体" panose="02010609060101010101" pitchFamily="49" charset="-122"/>
                </a:rPr>
                <a:t> </a:t>
              </a:r>
              <a:r>
                <a:rPr lang="zh-CN" altLang="en-US" sz="1400" b="1" dirty="0">
                  <a:latin typeface="黑体" panose="02010609060101010101" pitchFamily="49" charset="-122"/>
                  <a:ea typeface="黑体" panose="02010609060101010101" pitchFamily="49" charset="-122"/>
                  <a:cs typeface="黑体" panose="02010609060101010101" pitchFamily="49" charset="-122"/>
                </a:rPr>
                <a:t>阶段</a:t>
              </a:r>
            </a:p>
          </p:txBody>
        </p:sp>
        <p:sp>
          <p:nvSpPr>
            <p:cNvPr id="17" name="文本框 18"/>
            <p:cNvSpPr txBox="1"/>
            <p:nvPr/>
          </p:nvSpPr>
          <p:spPr>
            <a:xfrm>
              <a:off x="1616994" y="5824052"/>
              <a:ext cx="121348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r>
                <a:rPr lang="zh-CN" altLang="en-US" sz="1400" b="1" dirty="0">
                  <a:latin typeface="黑体" panose="02010609060101010101" pitchFamily="49" charset="-122"/>
                  <a:ea typeface="黑体" panose="02010609060101010101" pitchFamily="49" charset="-122"/>
                  <a:cs typeface="黑体" panose="02010609060101010101" pitchFamily="49" charset="-122"/>
                </a:rPr>
                <a:t>⑥计票</a:t>
              </a:r>
              <a:r>
                <a:rPr lang="en-US" altLang="zh-CN" sz="1400" b="1" dirty="0">
                  <a:latin typeface="黑体" panose="02010609060101010101" pitchFamily="49" charset="-122"/>
                  <a:ea typeface="黑体" panose="02010609060101010101" pitchFamily="49" charset="-122"/>
                  <a:cs typeface="黑体" panose="02010609060101010101" pitchFamily="49" charset="-122"/>
                </a:rPr>
                <a:t> </a:t>
              </a:r>
              <a:r>
                <a:rPr lang="zh-CN" altLang="en-US" sz="1400" b="1" dirty="0">
                  <a:latin typeface="黑体" panose="02010609060101010101" pitchFamily="49" charset="-122"/>
                  <a:ea typeface="黑体" panose="02010609060101010101" pitchFamily="49" charset="-122"/>
                  <a:cs typeface="黑体" panose="02010609060101010101" pitchFamily="49" charset="-122"/>
                </a:rPr>
                <a:t>阶段</a:t>
              </a:r>
            </a:p>
          </p:txBody>
        </p:sp>
        <p:sp>
          <p:nvSpPr>
            <p:cNvPr id="18" name="圆角矩形 29"/>
            <p:cNvSpPr/>
            <p:nvPr/>
          </p:nvSpPr>
          <p:spPr>
            <a:xfrm>
              <a:off x="4953541" y="4880609"/>
              <a:ext cx="1418590" cy="134298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lnSpc>
                  <a:spcPct val="110000"/>
                </a:lnSpc>
              </a:pPr>
              <a:endParaRPr lang="zh-CN" altLang="en-US" sz="140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19" name="文本框 30"/>
                <p:cNvSpPr txBox="1"/>
                <p:nvPr/>
              </p:nvSpPr>
              <p:spPr>
                <a:xfrm>
                  <a:off x="5219897" y="4560275"/>
                  <a:ext cx="91630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r>
                    <a:rPr lang="zh-CN" altLang="en-US" sz="1400" dirty="0">
                      <a:latin typeface="黑体" panose="02010609060101010101" pitchFamily="49" charset="-122"/>
                      <a:ea typeface="黑体" panose="02010609060101010101" pitchFamily="49" charset="-122"/>
                      <a:cs typeface="黑体" panose="02010609060101010101" pitchFamily="49" charset="-122"/>
                    </a:rPr>
                    <a:t>投票者</a:t>
                  </a:r>
                  <a14:m>
                    <m:oMath xmlns:m="http://schemas.openxmlformats.org/officeDocument/2006/math">
                      <m:sSub>
                        <m:sSubPr>
                          <m:ctrlPr>
                            <a:rPr lang="en-US" altLang="zh-CN" sz="1400" i="1" dirty="0">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latin typeface="Cambria Math" panose="02040503050406030204" pitchFamily="18" charset="0"/>
                              <a:ea typeface="黑体" panose="02010609060101010101" pitchFamily="49" charset="-122"/>
                              <a:cs typeface="Cambria Math" panose="02040503050406030204" pitchFamily="18" charset="0"/>
                            </a:rPr>
                            <m:t>𝑉</m:t>
                          </m:r>
                        </m:e>
                        <m:sub>
                          <m:r>
                            <a:rPr lang="en-US" altLang="zh-CN" sz="1400" i="1" dirty="0">
                              <a:latin typeface="Cambria Math" panose="02040503050406030204" pitchFamily="18" charset="0"/>
                              <a:ea typeface="黑体" panose="02010609060101010101" pitchFamily="49" charset="-122"/>
                              <a:cs typeface="Cambria Math" panose="02040503050406030204" pitchFamily="18" charset="0"/>
                            </a:rPr>
                            <m:t>𝑖</m:t>
                          </m:r>
                        </m:sub>
                      </m:sSub>
                    </m:oMath>
                  </a14:m>
                  <a:endParaRPr lang="en-US" altLang="zh-CN" sz="1400" i="1" dirty="0">
                    <a:latin typeface="黑体" panose="02010609060101010101" pitchFamily="49" charset="-122"/>
                    <a:ea typeface="黑体" panose="02010609060101010101" pitchFamily="49" charset="-122"/>
                    <a:cs typeface="黑体" panose="02010609060101010101" pitchFamily="49" charset="-122"/>
                  </a:endParaRPr>
                </a:p>
              </p:txBody>
            </p:sp>
          </mc:Choice>
          <mc:Fallback xmlns="">
            <p:sp>
              <p:nvSpPr>
                <p:cNvPr id="19" name="文本框 30"/>
                <p:cNvSpPr txBox="1">
                  <a:spLocks noRot="1" noChangeAspect="1" noMove="1" noResize="1" noEditPoints="1" noAdjustHandles="1" noChangeArrowheads="1" noChangeShapeType="1" noTextEdit="1"/>
                </p:cNvSpPr>
                <p:nvPr/>
              </p:nvSpPr>
              <p:spPr>
                <a:xfrm>
                  <a:off x="5219897" y="4560275"/>
                  <a:ext cx="916305" cy="334165"/>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圆角矩形 32"/>
                <p:cNvSpPr/>
                <p:nvPr/>
              </p:nvSpPr>
              <p:spPr>
                <a:xfrm>
                  <a:off x="5051280" y="5102860"/>
                  <a:ext cx="1253541" cy="66865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𝑥</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1400" i="1" dirty="0">
                            <a:solidFill>
                              <a:schemeClr val="tx1"/>
                            </a:solidFill>
                            <a:latin typeface="Cambria Math" panose="02040503050406030204" pitchFamily="18" charset="0"/>
                            <a:ea typeface="MS Mincho" charset="0"/>
                            <a:cs typeface="Cambria Math" panose="02040503050406030204" pitchFamily="18" charset="0"/>
                          </a:rPr>
                          <m:t>𝜀</m:t>
                        </m:r>
                        <m:d>
                          <m:d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dPr>
                          <m:e>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𝑣</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𝑘</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en-US" altLang="zh-CN" sz="1400" i="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𝑒</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1400" i="1" dirty="0">
                            <a:solidFill>
                              <a:schemeClr val="tx1"/>
                            </a:solidFill>
                            <a:latin typeface="Cambria Math" panose="02040503050406030204" pitchFamily="18" charset="0"/>
                            <a:ea typeface="MS Mincho" charset="0"/>
                            <a:cs typeface="Cambria Math" panose="02040503050406030204" pitchFamily="18" charset="0"/>
                          </a:rPr>
                          <m:t>𝜒</m:t>
                        </m:r>
                        <m:d>
                          <m:d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dPr>
                          <m:e>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𝑥</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𝑟</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en-US" altLang="zh-CN" sz="1400" i="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𝑠</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MS Mincho" charset="0"/>
                                <a:cs typeface="Cambria Math" panose="02040503050406030204" pitchFamily="18" charset="0"/>
                              </a:rPr>
                              <m:t>𝜎</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d>
                          <m:d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dPr>
                          <m:e>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𝑒</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en-US" altLang="zh-CN" sz="1400" i="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mc:Choice>
          <mc:Fallback xmlns="">
            <p:sp>
              <p:nvSpPr>
                <p:cNvPr id="20" name="圆角矩形 32"/>
                <p:cNvSpPr>
                  <a:spLocks noRot="1" noChangeAspect="1" noMove="1" noResize="1" noEditPoints="1" noAdjustHandles="1" noChangeArrowheads="1" noChangeShapeType="1" noTextEdit="1"/>
                </p:cNvSpPr>
                <p:nvPr/>
              </p:nvSpPr>
              <p:spPr>
                <a:xfrm>
                  <a:off x="5051280" y="5102860"/>
                  <a:ext cx="1253541" cy="668655"/>
                </a:xfrm>
                <a:prstGeom prst="roundRect">
                  <a:avLst/>
                </a:prstGeom>
                <a:blipFill rotWithShape="1">
                  <a:blip r:embed="rId8"/>
                </a:blipFill>
                <a:ln>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圆角矩形 34"/>
                <p:cNvSpPr/>
                <p:nvPr/>
              </p:nvSpPr>
              <p:spPr>
                <a:xfrm>
                  <a:off x="5061570" y="5822315"/>
                  <a:ext cx="1253540" cy="30302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1400" i="1" dirty="0">
                            <a:solidFill>
                              <a:schemeClr val="tx1"/>
                            </a:solidFill>
                            <a:latin typeface="Cambria Math" panose="02040503050406030204" pitchFamily="18" charset="0"/>
                            <a:ea typeface="MS Mincho" charset="0"/>
                            <a:cs typeface="Cambria Math" panose="02040503050406030204" pitchFamily="18" charset="0"/>
                          </a:rPr>
                          <m:t>𝛿</m:t>
                        </m:r>
                        <m:d>
                          <m:d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dPr>
                          <m:e>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𝑑</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𝑟</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zh-CN" altLang="en-US" sz="1400" dirty="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mc:Choice>
          <mc:Fallback xmlns="">
            <p:sp>
              <p:nvSpPr>
                <p:cNvPr id="21" name="圆角矩形 34"/>
                <p:cNvSpPr>
                  <a:spLocks noRot="1" noChangeAspect="1" noMove="1" noResize="1" noEditPoints="1" noAdjustHandles="1" noChangeArrowheads="1" noChangeShapeType="1" noTextEdit="1"/>
                </p:cNvSpPr>
                <p:nvPr/>
              </p:nvSpPr>
              <p:spPr>
                <a:xfrm>
                  <a:off x="5061570" y="5822315"/>
                  <a:ext cx="1253540" cy="303026"/>
                </a:xfrm>
                <a:prstGeom prst="roundRect">
                  <a:avLst/>
                </a:prstGeom>
                <a:blipFill rotWithShape="1">
                  <a:blip r:embed="rId9"/>
                </a:blipFill>
                <a:ln>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sp>
          <p:nvSpPr>
            <p:cNvPr id="22" name="文本框 38"/>
            <p:cNvSpPr txBox="1"/>
            <p:nvPr/>
          </p:nvSpPr>
          <p:spPr>
            <a:xfrm>
              <a:off x="5033151" y="4828530"/>
              <a:ext cx="1337933" cy="29345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spcBef>
                  <a:spcPts val="600"/>
                </a:spcBef>
                <a:buFont typeface="+mj-ea"/>
                <a:buNone/>
              </a:pPr>
              <a:r>
                <a:rPr lang="zh-CN" altLang="en-US" sz="1400" b="1" dirty="0">
                  <a:latin typeface="黑体" panose="02010609060101010101" pitchFamily="49" charset="-122"/>
                  <a:ea typeface="黑体" panose="02010609060101010101" pitchFamily="49" charset="-122"/>
                </a:rPr>
                <a:t>①初始化阶段</a:t>
              </a:r>
            </a:p>
          </p:txBody>
        </p:sp>
        <mc:AlternateContent xmlns:mc="http://schemas.openxmlformats.org/markup-compatibility/2006" xmlns:a14="http://schemas.microsoft.com/office/drawing/2010/main">
          <mc:Choice Requires="a14">
            <p:sp>
              <p:nvSpPr>
                <p:cNvPr id="23" name="文本框 40"/>
                <p:cNvSpPr txBox="1"/>
                <p:nvPr/>
              </p:nvSpPr>
              <p:spPr>
                <a:xfrm>
                  <a:off x="7446274" y="4541148"/>
                  <a:ext cx="104711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r>
                    <a:rPr lang="zh-CN" altLang="en-US" sz="1400" dirty="0">
                      <a:latin typeface="黑体" panose="02010609060101010101" pitchFamily="49" charset="-122"/>
                      <a:ea typeface="黑体" panose="02010609060101010101" pitchFamily="49" charset="-122"/>
                    </a:rPr>
                    <a:t>管理机构</a:t>
                  </a:r>
                  <a14:m>
                    <m:oMath xmlns:m="http://schemas.openxmlformats.org/officeDocument/2006/math">
                      <m:r>
                        <a:rPr lang="en-US" altLang="zh-CN" sz="1400" i="1" dirty="0">
                          <a:latin typeface="Cambria Math" panose="02040503050406030204" pitchFamily="18" charset="0"/>
                          <a:ea typeface="黑体" panose="02010609060101010101" pitchFamily="49" charset="-122"/>
                          <a:cs typeface="Cambria Math" panose="02040503050406030204" pitchFamily="18" charset="0"/>
                        </a:rPr>
                        <m:t>𝐴</m:t>
                      </m:r>
                    </m:oMath>
                  </a14:m>
                  <a:endParaRPr lang="en-US" altLang="zh-CN" sz="1400" dirty="0">
                    <a:latin typeface="黑体" panose="02010609060101010101" pitchFamily="49" charset="-122"/>
                    <a:ea typeface="黑体" panose="02010609060101010101" pitchFamily="49" charset="-122"/>
                  </a:endParaRPr>
                </a:p>
              </p:txBody>
            </p:sp>
          </mc:Choice>
          <mc:Fallback xmlns="">
            <p:sp>
              <p:nvSpPr>
                <p:cNvPr id="23" name="文本框 40"/>
                <p:cNvSpPr txBox="1">
                  <a:spLocks noRot="1" noChangeAspect="1" noMove="1" noResize="1" noEditPoints="1" noAdjustHandles="1" noChangeArrowheads="1" noChangeShapeType="1" noTextEdit="1"/>
                </p:cNvSpPr>
                <p:nvPr/>
              </p:nvSpPr>
              <p:spPr>
                <a:xfrm>
                  <a:off x="7446274" y="4541148"/>
                  <a:ext cx="1047115" cy="334165"/>
                </a:xfrm>
                <a:prstGeom prst="rect">
                  <a:avLst/>
                </a:prstGeom>
                <a:blipFill rotWithShape="1">
                  <a:blip r:embed="rId10"/>
                </a:blipFill>
              </p:spPr>
              <p:txBody>
                <a:bodyPr/>
                <a:lstStyle/>
                <a:p>
                  <a:r>
                    <a:rPr lang="zh-CN" altLang="en-US">
                      <a:noFill/>
                    </a:rPr>
                    <a:t> </a:t>
                  </a:r>
                </a:p>
              </p:txBody>
            </p:sp>
          </mc:Fallback>
        </mc:AlternateContent>
        <p:sp>
          <p:nvSpPr>
            <p:cNvPr id="24" name="圆角矩形 49"/>
            <p:cNvSpPr/>
            <p:nvPr/>
          </p:nvSpPr>
          <p:spPr>
            <a:xfrm>
              <a:off x="7276759" y="4880610"/>
              <a:ext cx="1302200" cy="67979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lang="zh-CN" altLang="en-US" sz="140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25" name="圆角矩形 50"/>
                <p:cNvSpPr/>
                <p:nvPr/>
              </p:nvSpPr>
              <p:spPr>
                <a:xfrm>
                  <a:off x="7385015" y="5103756"/>
                  <a:ext cx="1085688" cy="34026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𝑑</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MS Mincho" charset="0"/>
                                <a:cs typeface="Cambria Math" panose="02040503050406030204" pitchFamily="18" charset="0"/>
                              </a:rPr>
                              <m:t>𝜎</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𝐴</m:t>
                            </m:r>
                          </m:sub>
                        </m:sSub>
                        <m:d>
                          <m:d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dPr>
                          <m:e>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𝑒</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zh-CN" altLang="en-US" sz="1400" dirty="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mc:Choice>
          <mc:Fallback xmlns="">
            <p:sp>
              <p:nvSpPr>
                <p:cNvPr id="25" name="圆角矩形 50"/>
                <p:cNvSpPr>
                  <a:spLocks noRot="1" noChangeAspect="1" noMove="1" noResize="1" noEditPoints="1" noAdjustHandles="1" noChangeArrowheads="1" noChangeShapeType="1" noTextEdit="1"/>
                </p:cNvSpPr>
                <p:nvPr/>
              </p:nvSpPr>
              <p:spPr>
                <a:xfrm>
                  <a:off x="7385015" y="5103756"/>
                  <a:ext cx="1085688" cy="340265"/>
                </a:xfrm>
                <a:prstGeom prst="roundRect">
                  <a:avLst/>
                </a:prstGeom>
                <a:blipFill rotWithShape="1">
                  <a:blip r:embed="rId11"/>
                </a:blipFill>
                <a:ln>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cxnSp>
          <p:nvCxnSpPr>
            <p:cNvPr id="26" name="直接箭头连接符 25"/>
            <p:cNvCxnSpPr>
              <a:endCxn id="25" idx="1"/>
            </p:cNvCxnSpPr>
            <p:nvPr/>
          </p:nvCxnSpPr>
          <p:spPr>
            <a:xfrm>
              <a:off x="6305930" y="5273889"/>
              <a:ext cx="1079085" cy="0"/>
            </a:xfrm>
            <a:prstGeom prst="straightConnector1">
              <a:avLst/>
            </a:prstGeom>
            <a:ln w="12700" cmpd="sng">
              <a:solidFill>
                <a:schemeClr val="tx1"/>
              </a:solidFill>
              <a:prstDash val="solid"/>
              <a:tailEnd type="triangle" w="med" len="med"/>
            </a:ln>
          </p:spPr>
          <p:style>
            <a:lnRef idx="1">
              <a:schemeClr val="dk1"/>
            </a:lnRef>
            <a:fillRef idx="0">
              <a:schemeClr val="dk1"/>
            </a:fillRef>
            <a:effectRef idx="0">
              <a:schemeClr val="dk1"/>
            </a:effectRef>
            <a:fontRef idx="minor">
              <a:schemeClr val="tx1"/>
            </a:fontRef>
          </p:style>
        </p:cxnSp>
        <p:cxnSp>
          <p:nvCxnSpPr>
            <p:cNvPr id="27" name="直接箭头连接符 26"/>
            <p:cNvCxnSpPr>
              <a:endCxn id="21" idx="3"/>
            </p:cNvCxnSpPr>
            <p:nvPr/>
          </p:nvCxnSpPr>
          <p:spPr>
            <a:xfrm flipH="1">
              <a:off x="6315110" y="5280977"/>
              <a:ext cx="1062817" cy="692851"/>
            </a:xfrm>
            <a:prstGeom prst="straightConnector1">
              <a:avLst/>
            </a:prstGeom>
            <a:ln w="12700" cmpd="sng">
              <a:solidFill>
                <a:schemeClr val="tx1"/>
              </a:solidFill>
              <a:prstDash val="solid"/>
              <a:tailEnd type="triangle" w="med" len="med"/>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21" idx="1"/>
              <a:endCxn id="11" idx="3"/>
            </p:cNvCxnSpPr>
            <p:nvPr/>
          </p:nvCxnSpPr>
          <p:spPr>
            <a:xfrm flipH="1" flipV="1">
              <a:off x="3912784" y="5248065"/>
              <a:ext cx="1148786" cy="725763"/>
            </a:xfrm>
            <a:prstGeom prst="straightConnector1">
              <a:avLst/>
            </a:prstGeom>
            <a:ln w="12700" cmpd="sng">
              <a:solidFill>
                <a:schemeClr val="tx1"/>
              </a:solidFill>
              <a:prstDash val="solid"/>
              <a:tailEnd type="triangle" w="med" len="med"/>
            </a:ln>
          </p:spPr>
          <p:style>
            <a:lnRef idx="1">
              <a:schemeClr val="dk1"/>
            </a:lnRef>
            <a:fillRef idx="0">
              <a:schemeClr val="dk1"/>
            </a:fillRef>
            <a:effectRef idx="0">
              <a:schemeClr val="dk1"/>
            </a:effectRef>
            <a:fontRef idx="minor">
              <a:schemeClr val="tx1"/>
            </a:fontRef>
          </p:style>
        </p:cxnSp>
        <p:cxnSp>
          <p:nvCxnSpPr>
            <p:cNvPr id="29" name="直接箭头连接符 28"/>
            <p:cNvCxnSpPr/>
            <p:nvPr/>
          </p:nvCxnSpPr>
          <p:spPr>
            <a:xfrm flipH="1" flipV="1">
              <a:off x="3930788" y="5271661"/>
              <a:ext cx="1026512" cy="9807"/>
            </a:xfrm>
            <a:prstGeom prst="straightConnector1">
              <a:avLst/>
            </a:prstGeom>
            <a:ln w="12700" cmpd="sng">
              <a:solidFill>
                <a:schemeClr val="tx1"/>
              </a:solidFill>
              <a:prstDash val="solid"/>
              <a:tailEnd type="triangle" w="med" len="med"/>
            </a:ln>
          </p:spPr>
          <p:style>
            <a:lnRef idx="1">
              <a:schemeClr val="dk1"/>
            </a:lnRef>
            <a:fillRef idx="0">
              <a:schemeClr val="dk1"/>
            </a:fillRef>
            <a:effectRef idx="0">
              <a:schemeClr val="dk1"/>
            </a:effectRef>
            <a:fontRef idx="minor">
              <a:schemeClr val="tx1"/>
            </a:fontRef>
          </p:style>
        </p:cxnSp>
        <p:sp>
          <p:nvSpPr>
            <p:cNvPr id="30" name="文本框 19"/>
            <p:cNvSpPr txBox="1"/>
            <p:nvPr/>
          </p:nvSpPr>
          <p:spPr>
            <a:xfrm>
              <a:off x="6295018" y="4978802"/>
              <a:ext cx="1151256"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lnSpc>
                  <a:spcPct val="120000"/>
                </a:lnSpc>
                <a:spcBef>
                  <a:spcPts val="600"/>
                </a:spcBef>
                <a:buFont typeface="+mj-ea"/>
                <a:buNone/>
              </a:pPr>
              <a:r>
                <a:rPr lang="zh-CN" altLang="en-US" sz="1400" b="1" dirty="0">
                  <a:latin typeface="黑体" panose="02010609060101010101" pitchFamily="49" charset="-122"/>
                  <a:ea typeface="黑体" panose="02010609060101010101" pitchFamily="49" charset="-122"/>
                </a:rPr>
                <a:t>②注册阶段</a:t>
              </a:r>
            </a:p>
          </p:txBody>
        </p:sp>
        <mc:AlternateContent xmlns:mc="http://schemas.openxmlformats.org/markup-compatibility/2006" xmlns:a14="http://schemas.microsoft.com/office/drawing/2010/main">
          <mc:Choice Requires="a14">
            <p:sp>
              <p:nvSpPr>
                <p:cNvPr id="31" name="文本框 20"/>
                <p:cNvSpPr txBox="1"/>
                <p:nvPr/>
              </p:nvSpPr>
              <p:spPr>
                <a:xfrm>
                  <a:off x="6288166" y="5207974"/>
                  <a:ext cx="90360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14:m>
                    <m:oMathPara xmlns:m="http://schemas.openxmlformats.org/officeDocument/2006/math">
                      <m:oMathParaPr>
                        <m:jc m:val="centerGroup"/>
                      </m:oMathParaPr>
                      <m:oMath xmlns:m="http://schemas.openxmlformats.org/officeDocument/2006/math">
                        <m:d>
                          <m:dPr>
                            <m:ctrlPr>
                              <a:rPr lang="en-US" altLang="zh-CN" sz="1400" i="1" dirty="0">
                                <a:latin typeface="Cambria Math" panose="02040503050406030204" pitchFamily="18" charset="0"/>
                                <a:cs typeface="Cambria Math" panose="02040503050406030204" pitchFamily="18" charset="0"/>
                              </a:rPr>
                            </m:ctrlPr>
                          </m:dPr>
                          <m:e>
                            <m:sSub>
                              <m:sSubPr>
                                <m:ctrlPr>
                                  <a:rPr lang="en-US" altLang="zh-CN" sz="1400" i="1" dirty="0">
                                    <a:latin typeface="Cambria Math" panose="02040503050406030204" pitchFamily="18" charset="0"/>
                                    <a:cs typeface="Cambria Math" panose="02040503050406030204" pitchFamily="18" charset="0"/>
                                  </a:rPr>
                                </m:ctrlPr>
                              </m:sSubPr>
                              <m:e>
                                <m:r>
                                  <a:rPr lang="en-US" altLang="zh-CN" sz="1400" i="1" dirty="0">
                                    <a:latin typeface="Cambria Math" panose="02040503050406030204" pitchFamily="18" charset="0"/>
                                    <a:cs typeface="Cambria Math" panose="02040503050406030204" pitchFamily="18" charset="0"/>
                                  </a:rPr>
                                  <m:t>𝐼𝐷</m:t>
                                </m:r>
                              </m:e>
                              <m:sub>
                                <m:r>
                                  <a:rPr lang="en-US" altLang="zh-CN" sz="1400" i="1" dirty="0">
                                    <a:latin typeface="Cambria Math" panose="02040503050406030204" pitchFamily="18" charset="0"/>
                                    <a:cs typeface="Cambria Math" panose="02040503050406030204" pitchFamily="18" charset="0"/>
                                  </a:rPr>
                                  <m:t>𝑖</m:t>
                                </m:r>
                              </m:sub>
                            </m:sSub>
                            <m:r>
                              <a:rPr lang="en-US" altLang="zh-CN" sz="1400" i="1" dirty="0">
                                <a:latin typeface="Cambria Math" panose="02040503050406030204" pitchFamily="18"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𝑒</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𝑠</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en-US" altLang="zh-CN" sz="1400" i="1" dirty="0">
                    <a:latin typeface="Cambria Math" panose="02040503050406030204" pitchFamily="18" charset="0"/>
                    <a:cs typeface="Cambria Math" panose="02040503050406030204" pitchFamily="18" charset="0"/>
                  </a:endParaRPr>
                </a:p>
              </p:txBody>
            </p:sp>
          </mc:Choice>
          <mc:Fallback xmlns="">
            <p:sp>
              <p:nvSpPr>
                <p:cNvPr id="31" name="文本框 20"/>
                <p:cNvSpPr txBox="1">
                  <a:spLocks noRot="1" noChangeAspect="1" noMove="1" noResize="1" noEditPoints="1" noAdjustHandles="1" noChangeArrowheads="1" noChangeShapeType="1" noTextEdit="1"/>
                </p:cNvSpPr>
                <p:nvPr/>
              </p:nvSpPr>
              <p:spPr>
                <a:xfrm>
                  <a:off x="6288166" y="5207974"/>
                  <a:ext cx="903605" cy="334165"/>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21"/>
                <p:cNvSpPr txBox="1"/>
                <p:nvPr/>
              </p:nvSpPr>
              <p:spPr>
                <a:xfrm rot="19200000">
                  <a:off x="6590571" y="5621037"/>
                  <a:ext cx="354330" cy="334165"/>
                </a:xfrm>
                <a:prstGeom prst="rect">
                  <a:avLst/>
                </a:prstGeom>
                <a:noFill/>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𝑑</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oMath>
                    </m:oMathPara>
                  </a14:m>
                  <a:endPar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endParaRPr>
                </a:p>
              </p:txBody>
            </p:sp>
          </mc:Choice>
          <mc:Fallback xmlns="">
            <p:sp>
              <p:nvSpPr>
                <p:cNvPr id="32" name="文本框 21"/>
                <p:cNvSpPr txBox="1">
                  <a:spLocks noRot="1" noChangeAspect="1" noMove="1" noResize="1" noEditPoints="1" noAdjustHandles="1" noChangeArrowheads="1" noChangeShapeType="1" noTextEdit="1"/>
                </p:cNvSpPr>
                <p:nvPr/>
              </p:nvSpPr>
              <p:spPr>
                <a:xfrm rot="19200000">
                  <a:off x="6590571" y="5621037"/>
                  <a:ext cx="354330" cy="334165"/>
                </a:xfrm>
                <a:prstGeom prst="rect">
                  <a:avLst/>
                </a:prstGeom>
                <a:blipFill rotWithShape="1">
                  <a:blip r:embed="rId13"/>
                </a:blipFill>
              </p:spPr>
              <p:txBody>
                <a:bodyPr/>
                <a:lstStyle/>
                <a:p>
                  <a:r>
                    <a:rPr lang="zh-CN" altLang="en-US">
                      <a:noFill/>
                    </a:rPr>
                    <a:t> </a:t>
                  </a:r>
                </a:p>
              </p:txBody>
            </p:sp>
          </mc:Fallback>
        </mc:AlternateContent>
        <p:sp>
          <p:nvSpPr>
            <p:cNvPr id="33" name="文本框 22"/>
            <p:cNvSpPr txBox="1"/>
            <p:nvPr/>
          </p:nvSpPr>
          <p:spPr>
            <a:xfrm>
              <a:off x="3942896" y="4990728"/>
              <a:ext cx="109791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lnSpc>
                  <a:spcPct val="120000"/>
                </a:lnSpc>
                <a:spcBef>
                  <a:spcPts val="600"/>
                </a:spcBef>
                <a:buFont typeface="+mj-ea"/>
                <a:buNone/>
              </a:pPr>
              <a:r>
                <a:rPr lang="zh-CN" altLang="en-US" sz="1400" b="1" dirty="0">
                  <a:latin typeface="黑体" panose="02010609060101010101" pitchFamily="49" charset="-122"/>
                  <a:ea typeface="黑体" panose="02010609060101010101" pitchFamily="49" charset="-122"/>
                </a:rPr>
                <a:t>③投票阶段</a:t>
              </a:r>
            </a:p>
          </p:txBody>
        </p:sp>
        <mc:AlternateContent xmlns:mc="http://schemas.openxmlformats.org/markup-compatibility/2006" xmlns:a14="http://schemas.microsoft.com/office/drawing/2010/main">
          <mc:Choice Requires="a14">
            <p:sp>
              <p:nvSpPr>
                <p:cNvPr id="34" name="文本框 23"/>
                <p:cNvSpPr txBox="1"/>
                <p:nvPr/>
              </p:nvSpPr>
              <p:spPr>
                <a:xfrm>
                  <a:off x="4182881" y="5225033"/>
                  <a:ext cx="903605" cy="3341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20000"/>
                    </a:lnSpc>
                    <a:spcBef>
                      <a:spcPts val="600"/>
                    </a:spcBef>
                  </a:pPr>
                  <a14:m>
                    <m:oMathPara xmlns:m="http://schemas.openxmlformats.org/officeDocument/2006/math">
                      <m:oMathParaPr>
                        <m:jc m:val="centerGroup"/>
                      </m:oMathParaPr>
                      <m:oMath xmlns:m="http://schemas.openxmlformats.org/officeDocument/2006/math">
                        <m:d>
                          <m:dPr>
                            <m:ctrlPr>
                              <a:rPr lang="en-US" altLang="zh-CN" sz="1400" i="1" dirty="0">
                                <a:latin typeface="Cambria Math" panose="02040503050406030204" pitchFamily="18" charset="0"/>
                                <a:cs typeface="Cambria Math" panose="02040503050406030204" pitchFamily="18" charset="0"/>
                              </a:rPr>
                            </m:ctrlPr>
                          </m:dPr>
                          <m:e>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𝑥</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r>
                              <a:rPr lang="en-US" altLang="zh-CN" sz="1400" i="1" dirty="0">
                                <a:latin typeface="Cambria Math" panose="02040503050406030204" pitchFamily="18" charset="0"/>
                                <a:cs typeface="Cambria Math" panose="02040503050406030204" pitchFamily="18" charset="0"/>
                              </a:rPr>
                              <m:t>,</m:t>
                            </m:r>
                            <m:sSub>
                              <m:sSubPr>
                                <m:ctrlP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ctrlPr>
                              </m:sSubPr>
                              <m:e>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𝑦</m:t>
                                </m:r>
                              </m:e>
                              <m:sub>
                                <m:r>
                                  <a:rPr lang="en-US" altLang="zh-CN" sz="1400" i="1" dirty="0">
                                    <a:solidFill>
                                      <a:schemeClr val="tx1"/>
                                    </a:solidFill>
                                    <a:latin typeface="Cambria Math" panose="02040503050406030204" pitchFamily="18" charset="0"/>
                                    <a:ea typeface="黑体" panose="02010609060101010101" pitchFamily="49" charset="-122"/>
                                    <a:cs typeface="Cambria Math" panose="02040503050406030204" pitchFamily="18" charset="0"/>
                                  </a:rPr>
                                  <m:t>𝑖</m:t>
                                </m:r>
                              </m:sub>
                            </m:sSub>
                          </m:e>
                        </m:d>
                      </m:oMath>
                    </m:oMathPara>
                  </a14:m>
                  <a:endParaRPr lang="en-US" altLang="zh-CN" sz="1400" i="1" dirty="0">
                    <a:latin typeface="Cambria Math" panose="02040503050406030204" pitchFamily="18" charset="0"/>
                    <a:cs typeface="Cambria Math" panose="02040503050406030204" pitchFamily="18" charset="0"/>
                  </a:endParaRPr>
                </a:p>
              </p:txBody>
            </p:sp>
          </mc:Choice>
          <mc:Fallback xmlns="">
            <p:sp>
              <p:nvSpPr>
                <p:cNvPr id="34" name="文本框 23"/>
                <p:cNvSpPr txBox="1">
                  <a:spLocks noRot="1" noChangeAspect="1" noMove="1" noResize="1" noEditPoints="1" noAdjustHandles="1" noChangeArrowheads="1" noChangeShapeType="1" noTextEdit="1"/>
                </p:cNvSpPr>
                <p:nvPr/>
              </p:nvSpPr>
              <p:spPr>
                <a:xfrm>
                  <a:off x="4182881" y="5225033"/>
                  <a:ext cx="903605" cy="334165"/>
                </a:xfrm>
                <a:prstGeom prst="rect">
                  <a:avLst/>
                </a:prstGeom>
                <a:blipFill rotWithShape="1">
                  <a:blip r:embed="rId14"/>
                </a:blipFill>
              </p:spPr>
              <p:txBody>
                <a:bodyPr/>
                <a:lstStyle/>
                <a:p>
                  <a:r>
                    <a:rPr lang="zh-CN" altLang="en-US">
                      <a:noFill/>
                    </a:rPr>
                    <a:t> </a:t>
                  </a:r>
                </a:p>
              </p:txBody>
            </p:sp>
          </mc:Fallback>
        </mc:AlternateContent>
      </p:gr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44</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9.4 </a:t>
            </a:r>
            <a:r>
              <a:rPr lang="zh-CN" altLang="en-US" sz="2400" b="1" dirty="0">
                <a:solidFill>
                  <a:srgbClr val="FF0000"/>
                </a:solidFill>
                <a:latin typeface="+mn-ea"/>
              </a:rPr>
              <a:t>电子拍卖协议 </a:t>
            </a:r>
            <a:r>
              <a:rPr lang="en-US" altLang="zh-CN" sz="2400" b="1" dirty="0">
                <a:solidFill>
                  <a:srgbClr val="FF0000"/>
                </a:solidFill>
                <a:latin typeface="+mn-ea"/>
              </a:rPr>
              <a:t>(</a:t>
            </a:r>
            <a:r>
              <a:rPr lang="zh-CN" altLang="en-US" sz="2400" b="1" dirty="0">
                <a:solidFill>
                  <a:srgbClr val="FF0000"/>
                </a:solidFill>
                <a:latin typeface="+mn-ea"/>
              </a:rPr>
              <a:t>结合文献</a:t>
            </a:r>
            <a:r>
              <a:rPr lang="en-US" altLang="zh-CN" sz="2400" b="1" dirty="0">
                <a:solidFill>
                  <a:srgbClr val="FF0000"/>
                </a:solidFill>
                <a:latin typeface="+mn-ea"/>
              </a:rPr>
              <a:t>)</a:t>
            </a:r>
            <a:endParaRPr lang="zh-CN" altLang="en-US" sz="2400" b="1" dirty="0">
              <a:solidFill>
                <a:srgbClr val="FF0000"/>
              </a:solidFill>
              <a:latin typeface="+mn-ea"/>
            </a:endParaRPr>
          </a:p>
        </p:txBody>
      </p:sp>
      <p:sp>
        <p:nvSpPr>
          <p:cNvPr id="5" name="文本框 4"/>
          <p:cNvSpPr txBox="1"/>
          <p:nvPr/>
        </p:nvSpPr>
        <p:spPr>
          <a:xfrm>
            <a:off x="311961" y="1565075"/>
            <a:ext cx="8479945" cy="1422762"/>
          </a:xfrm>
          <a:prstGeom prst="rect">
            <a:avLst/>
          </a:prstGeom>
          <a:noFill/>
        </p:spPr>
        <p:txBody>
          <a:bodyPr wrap="square" rtlCol="0">
            <a:spAutoFit/>
          </a:bodyPr>
          <a:lstStyle/>
          <a:p>
            <a:pPr algn="just">
              <a:lnSpc>
                <a:spcPct val="150000"/>
              </a:lnSpc>
              <a:spcBef>
                <a:spcPts val="600"/>
              </a:spcBef>
            </a:pPr>
            <a:r>
              <a:rPr lang="en-US" altLang="zh-CN" sz="2000" dirty="0">
                <a:latin typeface="Times New Roman" panose="02020603050405020304" pitchFamily="18" charset="0"/>
                <a:cs typeface="Times New Roman" panose="02020603050405020304" pitchFamily="18" charset="0"/>
              </a:rPr>
              <a:t>2000 </a:t>
            </a:r>
            <a:r>
              <a:rPr lang="zh-CN" altLang="en-US" sz="2000" dirty="0">
                <a:latin typeface="Times New Roman" panose="02020603050405020304" pitchFamily="18" charset="0"/>
                <a:cs typeface="Times New Roman" panose="02020603050405020304" pitchFamily="18" charset="0"/>
              </a:rPr>
              <a:t>年，</a:t>
            </a:r>
            <a:r>
              <a:rPr lang="en-US" altLang="zh-CN" sz="2000" dirty="0" err="1">
                <a:latin typeface="Times New Roman" panose="02020603050405020304" pitchFamily="18" charset="0"/>
                <a:cs typeface="Times New Roman" panose="02020603050405020304" pitchFamily="18" charset="0"/>
              </a:rPr>
              <a:t>Sako</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等人提出了一个基于</a:t>
            </a:r>
            <a:r>
              <a:rPr lang="zh-CN" altLang="en-US" sz="2000" dirty="0">
                <a:solidFill>
                  <a:srgbClr val="0000FF"/>
                </a:solidFill>
                <a:latin typeface="Times New Roman" panose="02020603050405020304" pitchFamily="18" charset="0"/>
                <a:cs typeface="Times New Roman" panose="02020603050405020304" pitchFamily="18" charset="0"/>
              </a:rPr>
              <a:t>概率加密</a:t>
            </a:r>
            <a:r>
              <a:rPr lang="zh-CN" altLang="en-US" sz="2000" dirty="0">
                <a:latin typeface="Times New Roman" panose="02020603050405020304" pitchFamily="18" charset="0"/>
                <a:cs typeface="Times New Roman" panose="02020603050405020304" pitchFamily="18" charset="0"/>
              </a:rPr>
              <a:t>的电子拍卖方案。该方案隐藏了非中标者的出价，且仍然可以公开验证中标者（最高出价者）的有效性。该方案具体过程如下：</a:t>
            </a:r>
            <a:endParaRPr lang="en-US" altLang="zh-CN" sz="20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794397" y="2962814"/>
            <a:ext cx="184731" cy="369332"/>
          </a:xfrm>
          <a:prstGeom prst="rect">
            <a:avLst/>
          </a:prstGeom>
          <a:noFill/>
        </p:spPr>
        <p:txBody>
          <a:bodyPr wrap="none" rtlCol="0">
            <a:spAutoFit/>
          </a:bodyPr>
          <a:lstStyle/>
          <a:p>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311961" y="3092987"/>
                <a:ext cx="8479944" cy="2988447"/>
              </a:xfrm>
              <a:prstGeom prst="rect">
                <a:avLst/>
              </a:prstGeom>
              <a:noFill/>
            </p:spPr>
            <p:txBody>
              <a:bodyPr wrap="square">
                <a:spAutoFit/>
              </a:bodyPr>
              <a:lstStyle/>
              <a:p>
                <a:pPr marL="285750" indent="-285750" algn="just">
                  <a:lnSpc>
                    <a:spcPct val="150000"/>
                  </a:lnSpc>
                  <a:spcBef>
                    <a:spcPts val="500"/>
                  </a:spcBef>
                  <a:spcAft>
                    <a:spcPts val="500"/>
                  </a:spcAft>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系统准备</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拍卖服务器</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发布要拍卖的物品，并按照从小到大的顺序发布可接受的拍卖价</a:t>
                </a:r>
                <a14:m>
                  <m:oMath xmlns:m="http://schemas.openxmlformats.org/officeDocument/2006/math">
                    <m:r>
                      <a:rPr lang="en-US" altLang="zh-CN" sz="2000" b="0" i="0" dirty="0" smtClean="0">
                        <a:latin typeface="Cambria Math" panose="02040503050406030204" pitchFamily="18" charset="0"/>
                        <a:ea typeface="微软雅黑" panose="020B0503020204020204" pitchFamily="34" charset="-122"/>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r>
                          <a:rPr lang="en-US" altLang="zh-CN" sz="2000" dirty="0">
                            <a:latin typeface="Cambria Math" panose="02040503050406030204" pitchFamily="18" charset="0"/>
                            <a:ea typeface="MS Mincho" charset="0"/>
                            <a:cs typeface="Cambria Math" panose="02040503050406030204" pitchFamily="18" charset="0"/>
                          </a:rPr>
                          <m:t>＝</m:t>
                        </m:r>
                        <m:r>
                          <a:rPr lang="en-US" altLang="zh-CN" sz="2000" dirty="0">
                            <a:latin typeface="Cambria Math" panose="02040503050406030204" pitchFamily="18" charset="0"/>
                            <a:ea typeface="MS Mincho" charset="0"/>
                            <a:cs typeface="Cambria Math" panose="02040503050406030204" pitchFamily="18" charset="0"/>
                          </a:rPr>
                          <m:t>1,2,⋯,</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𝑙</m:t>
                        </m:r>
                      </m:e>
                    </m:d>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为每个拍卖价</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规定相应的概率加密算法</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𝐸</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、解密算法</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𝐷</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2000" i="1" dirty="0">
                        <a:latin typeface="Cambria Math" panose="02040503050406030204" pitchFamily="18" charset="0"/>
                        <a:ea typeface="MS Mincho" charset="0"/>
                        <a:cs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以及消息</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𝑀</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，并将</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d>
                      <m:dPr>
                        <m:begChr m:val="{"/>
                        <m:endChr m:val="}"/>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𝐸</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e>
                    </m:d>
                    <m:r>
                      <a:rPr lang="en-US" altLang="zh-CN" sz="2000" i="1" dirty="0">
                        <a:latin typeface="Cambria Math" panose="02040503050406030204" pitchFamily="18" charset="0"/>
                        <a:ea typeface="MS Mincho" charset="0"/>
                        <a:cs typeface="Cambria Math" panose="02040503050406030204" pitchFamily="18" charset="0"/>
                      </a:rPr>
                      <m:t>,</m:t>
                    </m:r>
                    <m:d>
                      <m:dPr>
                        <m:begChr m:val="{"/>
                        <m:endChr m:val="}"/>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𝑀</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e>
                    </m:d>
                    <m:r>
                      <a:rPr lang="en-US" altLang="zh-CN" sz="2000" i="1" dirty="0">
                        <a:latin typeface="Cambria Math" panose="02040503050406030204" pitchFamily="18" charset="0"/>
                        <a:ea typeface="MS Mincho" charset="0"/>
                        <a:cs typeface="Cambria Math" panose="02040503050406030204" pitchFamily="18" charset="0"/>
                      </a:rPr>
                      <m:t> </m:t>
                    </m:r>
                    <m:d>
                      <m:d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r>
                          <a:rPr lang="en-US" altLang="zh-CN" sz="2000" dirty="0">
                            <a:latin typeface="Cambria Math" panose="02040503050406030204" pitchFamily="18" charset="0"/>
                            <a:ea typeface="MS Mincho" charset="0"/>
                            <a:cs typeface="Cambria Math" panose="02040503050406030204" pitchFamily="18" charset="0"/>
                          </a:rPr>
                          <m:t>＝</m:t>
                        </m:r>
                        <m:r>
                          <a:rPr lang="en-US" altLang="zh-CN" sz="2000" dirty="0">
                            <a:latin typeface="Cambria Math" panose="02040503050406030204" pitchFamily="18" charset="0"/>
                            <a:ea typeface="MS Mincho" charset="0"/>
                            <a:cs typeface="Cambria Math" panose="02040503050406030204" pitchFamily="18" charset="0"/>
                          </a:rPr>
                          <m:t>1,2,⋯,</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𝑙</m:t>
                        </m:r>
                      </m:e>
                    </m:d>
                    <m:r>
                      <a:rPr lang="en-US" altLang="zh-CN"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发布出去。</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spcBef>
                    <a:spcPts val="500"/>
                  </a:spcBef>
                  <a:spcAft>
                    <a:spcPts val="500"/>
                  </a:spcAft>
                  <a:buFont typeface="Wingdings" panose="05000000000000000000" pitchFamily="2" charset="2"/>
                  <a:buChar char="l"/>
                </a:pPr>
                <a:r>
                  <a:rPr lang="en-US" altLang="zh-CN" sz="2000" b="1" dirty="0" err="1">
                    <a:latin typeface="微软雅黑" panose="020B0503020204020204" pitchFamily="34" charset="-122"/>
                    <a:ea typeface="微软雅黑" panose="020B0503020204020204" pitchFamily="34" charset="-122"/>
                    <a:cs typeface="微软雅黑" panose="020B0503020204020204" pitchFamily="34" charset="-122"/>
                    <a:sym typeface="+mn-ea"/>
                  </a:rPr>
                  <a:t>投标</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每个投标者</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从</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d>
                      <m:dPr>
                        <m:begChr m:val="{"/>
                        <m:endChr m:val="}"/>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𝑖</m:t>
                            </m:r>
                          </m:sub>
                        </m:sSub>
                      </m:e>
                    </m:d>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中选择自己的竞标价</a:t>
                </a:r>
                <a:r>
                  <a:rPr lang="en-US" altLang="zh-CN" sz="20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sub>
                    </m:sSub>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，然后对相应的消息</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𝑀</m:t>
                        </m:r>
                      </m:e>
                      <m:sub>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进行加密，即</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𝐸</m:t>
                        </m:r>
                      </m:e>
                      <m:sub>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𝑀</m:t>
                        </m:r>
                      </m:e>
                      <m:sub>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，然后将</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 </m:t>
                    </m:r>
                    <m:sSub>
                      <m:sSubPr>
                        <m:ctrlP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𝐵</m:t>
                        </m:r>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 </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发送给</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拍卖服务器</a:t>
                </a:r>
                <a14:m>
                  <m:oMath xmlns:m="http://schemas.openxmlformats.org/officeDocument/2006/math">
                    <m:r>
                      <a:rPr lang="en-US" altLang="zh-CN" sz="2000" dirty="0">
                        <a:latin typeface="Cambria Math" panose="02040503050406030204" pitchFamily="18" charset="0"/>
                        <a:ea typeface="MS Mincho" charset="0"/>
                        <a:cs typeface="Cambria Math" panose="02040503050406030204" pitchFamily="18" charset="0"/>
                      </a:rPr>
                      <m:t> </m:t>
                    </m:r>
                    <m:r>
                      <a:rPr lang="en-US" altLang="zh-CN" sz="2000" dirty="0">
                        <a:latin typeface="Cambria Math" panose="02040503050406030204" pitchFamily="18" charset="0"/>
                        <a:ea typeface="微软雅黑" panose="020B0503020204020204" pitchFamily="34" charset="-122"/>
                        <a:cs typeface="Cambria Math" panose="02040503050406030204" pitchFamily="18" charset="0"/>
                      </a:rPr>
                      <m:t>𝐴</m:t>
                    </m:r>
                  </m:oMath>
                </a14:m>
                <a:r>
                  <a:rPr lang="zh-CN" altLang="en-US" sz="2000" dirty="0">
                    <a:latin typeface="Cambria Math" panose="02040503050406030204" pitchFamily="18" charset="0"/>
                    <a:ea typeface="微软雅黑" panose="020B0503020204020204" pitchFamily="34" charset="-122"/>
                    <a:cs typeface="Cambria Math" panose="02040503050406030204" pitchFamily="18" charset="0"/>
                  </a:rPr>
                  <a:t>。</a:t>
                </a:r>
                <a:endParaRPr lang="en-US" altLang="zh-CN" sz="2000" dirty="0">
                  <a:latin typeface="Cambria Math" panose="02040503050406030204" pitchFamily="18" charset="0"/>
                  <a:ea typeface="微软雅黑" panose="020B0503020204020204" pitchFamily="34" charset="-122"/>
                  <a:cs typeface="Cambria Math" panose="020405030504060302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11961" y="3092987"/>
                <a:ext cx="8479944" cy="2988447"/>
              </a:xfrm>
              <a:prstGeom prst="rect">
                <a:avLst/>
              </a:prstGeom>
              <a:blipFill rotWithShape="1">
                <a:blip r:embed="rId4"/>
                <a:stretch>
                  <a:fillRect l="-2" t="-18" r="4" b="1"/>
                </a:stretch>
              </a:blipFill>
            </p:spPr>
            <p:txBody>
              <a:bodyPr/>
              <a:lstStyle/>
              <a:p>
                <a:r>
                  <a:rPr lang="zh-CN" altLang="en-US">
                    <a:noFill/>
                  </a:rPr>
                  <a:t> </a:t>
                </a:r>
              </a:p>
            </p:txBody>
          </p:sp>
        </mc:Fallback>
      </mc:AlternateContent>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45</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9.4 </a:t>
            </a:r>
            <a:r>
              <a:rPr lang="zh-CN" altLang="en-US" sz="2400" b="1" dirty="0">
                <a:solidFill>
                  <a:srgbClr val="FF0000"/>
                </a:solidFill>
                <a:latin typeface="+mn-ea"/>
              </a:rPr>
              <a:t>电子拍卖协议 </a:t>
            </a:r>
          </a:p>
        </p:txBody>
      </p:sp>
      <mc:AlternateContent xmlns:mc="http://schemas.openxmlformats.org/markup-compatibility/2006" xmlns:a14="http://schemas.microsoft.com/office/drawing/2010/main">
        <mc:Choice Requires="a14">
          <p:sp>
            <p:nvSpPr>
              <p:cNvPr id="5" name="文本框 4"/>
              <p:cNvSpPr txBox="1"/>
              <p:nvPr/>
            </p:nvSpPr>
            <p:spPr>
              <a:xfrm>
                <a:off x="311961" y="1579253"/>
                <a:ext cx="8479945" cy="4566285"/>
              </a:xfrm>
              <a:prstGeom prst="rect">
                <a:avLst/>
              </a:prstGeom>
              <a:noFill/>
            </p:spPr>
            <p:txBody>
              <a:bodyPr wrap="square" rtlCol="0">
                <a:spAutoFit/>
              </a:bodyPr>
              <a:lstStyle/>
              <a:p>
                <a:pPr marL="285750" indent="-285750" algn="just">
                  <a:lnSpc>
                    <a:spcPct val="140000"/>
                  </a:lnSpc>
                  <a:spcBef>
                    <a:spcPts val="500"/>
                  </a:spcBef>
                  <a:spcAft>
                    <a:spcPts val="5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开标：</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当所有投标者提交投标后，拍卖服务器</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rPr>
                      <m:t> </m:t>
                    </m:r>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𝐴</m:t>
                    </m:r>
                    <m:r>
                      <a:rPr lang="zh-CN" altLang="en-US"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进行如下步骤：</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0" algn="just">
                  <a:lnSpc>
                    <a:spcPct val="14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首先，取</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r>
                      <a:rPr lang="en-US" altLang="zh-CN" sz="2000" i="1" dirty="0">
                        <a:latin typeface="Cambria Math" panose="02040503050406030204" pitchFamily="18" charset="0"/>
                        <a:ea typeface="微软雅黑" panose="020B0503020204020204" pitchFamily="34" charset="-122"/>
                        <a:cs typeface="Cambria Math" panose="02040503050406030204" pitchFamily="18" charset="0"/>
                        <a:sym typeface="+mn-ea"/>
                      </a:rPr>
                      <m:t>=</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rPr>
                      <m:t>𝑙</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（此时为最高价），并用</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r>
                      <a:rPr lang="ar-AE"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算法对所有的</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sub>
                    </m:sSub>
                    <m:r>
                      <a:rPr lang="ar-AE" altLang="zh-CN"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进行解密；</a:t>
                </a:r>
              </a:p>
              <a:p>
                <a:pPr lvl="0" algn="just">
                  <a:lnSpc>
                    <a:spcPct val="14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若存在</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sub>
                    </m:sSub>
                    <m:r>
                      <a:rPr lang="ar-AE" altLang="zh-CN"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满足</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𝑀</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则公布</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中标者为</a:t>
                </a:r>
                <a14:m>
                  <m:oMath xmlns:m="http://schemas.openxmlformats.org/officeDocument/2006/math">
                    <m:r>
                      <a:rPr lang="zh-CN" altLang="en-US" sz="2000" i="1" dirty="0">
                        <a:latin typeface="Cambria Math" panose="02040503050406030204" pitchFamily="18" charset="0"/>
                        <a:ea typeface="MS Mincho" charset="0"/>
                        <a:cs typeface="Cambria Math" panose="02040503050406030204" pitchFamily="18" charset="0"/>
                      </a:rPr>
                      <m:t> </m:t>
                    </m:r>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且中标价为</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algn="just">
                  <a:lnSpc>
                    <a:spcPct val="140000"/>
                  </a:lnSpc>
                </a:pPr>
                <a:r>
                  <a:rPr lang="zh-CN" altLang="ar-AE"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此外，对于所有</a:t>
                </a:r>
                <a14:m>
                  <m:oMath xmlns:m="http://schemas.openxmlformats.org/officeDocument/2006/math">
                    <m:r>
                      <a:rPr lang="zh-CN" altLang="en-US" sz="2000" i="1" dirty="0">
                        <a:latin typeface="Cambria Math" panose="02040503050406030204" pitchFamily="18" charset="0"/>
                        <a:ea typeface="MS Mincho" charset="0"/>
                        <a:cs typeface="Cambria Math" panose="02040503050406030204" pitchFamily="18" charset="0"/>
                        <a:sym typeface="+mn-ea"/>
                      </a:rPr>
                      <m:t> </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r>
                      <a:rPr lang="zh-CN" altLang="en-US" sz="2000" i="1" dirty="0">
                        <a:latin typeface="Cambria Math" panose="02040503050406030204" pitchFamily="18" charset="0"/>
                        <a:ea typeface="MS Mincho" charset="0"/>
                        <a:cs typeface="Cambria Math" panose="02040503050406030204" pitchFamily="18" charset="0"/>
                        <a:sym typeface="+mn-ea"/>
                      </a:rPr>
                      <m:t>≥</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14:m>
                  <m:oMath xmlns:m="http://schemas.openxmlformats.org/officeDocument/2006/math">
                    <m:r>
                      <a:rPr lang="zh-CN" altLang="en-US" sz="2000" dirty="0">
                        <a:latin typeface="Cambria Math" panose="02040503050406030204" pitchFamily="18" charset="0"/>
                        <a:ea typeface="微软雅黑" panose="020B0503020204020204" pitchFamily="34" charset="-122"/>
                        <a:cs typeface="Cambria Math" panose="02040503050406030204" pitchFamily="18" charset="0"/>
                      </a:rPr>
                      <m:t>𝐴</m:t>
                    </m:r>
                    <m:r>
                      <a:rPr lang="zh-CN" altLang="en-US"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计算</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r>
                      <a:rPr lang="ar-AE"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并公开；</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algn="just">
                  <a:lnSpc>
                    <a:spcPct val="14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若对于所有的</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sub>
                    </m:sSub>
                    <m:r>
                      <a:rPr lang="ar-AE" altLang="zh-CN" sz="2000"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都有</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r>
                      <a:rPr lang="ar-AE" altLang="zh-CN" sz="2000" i="1" dirty="0">
                        <a:latin typeface="Cambria Math" panose="02040503050406030204" pitchFamily="18" charset="0"/>
                        <a:ea typeface="MS Mincho" charset="0"/>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𝑀</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令</a:t>
                </a:r>
                <a14:m>
                  <m:oMath xmlns:m="http://schemas.openxmlformats.org/officeDocument/2006/math">
                    <m:r>
                      <a:rPr lang="zh-CN" altLang="en-US" sz="2000" i="1" dirty="0">
                        <a:latin typeface="Cambria Math" panose="02040503050406030204" pitchFamily="18" charset="0"/>
                        <a:ea typeface="MS Mincho" charset="0"/>
                        <a:cs typeface="Cambria Math" panose="02040503050406030204" pitchFamily="18" charset="0"/>
                        <a:sym typeface="+mn-ea"/>
                      </a:rPr>
                      <m:t> </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r>
                      <a:rPr lang="en-US" altLang="zh-CN" sz="2000" i="1" dirty="0">
                        <a:latin typeface="Cambria Math" panose="02040503050406030204" pitchFamily="18" charset="0"/>
                        <a:ea typeface="MS Mincho" charset="0"/>
                        <a:cs typeface="Cambria Math" panose="02040503050406030204" pitchFamily="18" charset="0"/>
                        <a:sym typeface="+mn-ea"/>
                      </a:rPr>
                      <m:t>=</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−1</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，并重复上述步骤。</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just">
                  <a:lnSpc>
                    <a:spcPct val="140000"/>
                  </a:lnSpc>
                  <a:spcBef>
                    <a:spcPts val="1000"/>
                  </a:spcBef>
                  <a:spcAft>
                    <a:spcPts val="500"/>
                  </a:spcAft>
                  <a:buClrTx/>
                  <a:buSzTx/>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验证：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每个投标者都可以对以下内容进行验证：</a:t>
                </a:r>
              </a:p>
              <a:p>
                <a:pPr algn="just">
                  <a:lnSpc>
                    <a:spcPct val="140000"/>
                  </a:lnSpc>
                  <a:spcBef>
                    <a:spcPts val="0"/>
                  </a:spcBef>
                  <a:spcAft>
                    <a:spcPts val="0"/>
                  </a:spcAft>
                  <a:buClrTx/>
                  <a:buSzTx/>
                  <a:buFont typeface="+mj-ea"/>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对于所有</a:t>
                </a:r>
                <a14:m>
                  <m:oMath xmlns:m="http://schemas.openxmlformats.org/officeDocument/2006/math">
                    <m:r>
                      <a:rPr lang="zh-CN" altLang="en-US" sz="2000" i="1" dirty="0">
                        <a:latin typeface="Cambria Math" panose="02040503050406030204" pitchFamily="18" charset="0"/>
                        <a:ea typeface="MS Mincho" charset="0"/>
                        <a:cs typeface="Cambria Math" panose="02040503050406030204" pitchFamily="18" charset="0"/>
                        <a:sym typeface="+mn-ea"/>
                      </a:rPr>
                      <m:t> </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r>
                      <a:rPr lang="zh-CN" altLang="en-US" sz="2000" i="1" dirty="0">
                        <a:latin typeface="Cambria Math" panose="02040503050406030204" pitchFamily="18" charset="0"/>
                        <a:ea typeface="MS Mincho" charset="0"/>
                        <a:cs typeface="Cambria Math" panose="02040503050406030204" pitchFamily="18" charset="0"/>
                        <a:sym typeface="+mn-ea"/>
                      </a:rPr>
                      <m:t>≥</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14:m>
                  <m:oMath xmlns:m="http://schemas.openxmlformats.org/officeDocument/2006/math">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r>
                      <a:rPr lang="ar-AE" altLang="zh-CN" sz="2000" i="1" dirty="0">
                        <a:latin typeface="Cambria Math" panose="02040503050406030204" pitchFamily="18" charset="0"/>
                        <a:ea typeface="MS Mincho" charset="0"/>
                        <a:cs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是通过算法</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sub>
                        </m:sSub>
                      </m:sub>
                    </m:sSub>
                    <m:r>
                      <a:rPr lang="ar-AE" altLang="zh-CN" sz="2000" i="1" dirty="0">
                        <a:latin typeface="Cambria Math" panose="02040503050406030204" pitchFamily="18" charset="0"/>
                        <a:ea typeface="MS Mincho" charset="0"/>
                        <a:cs typeface="Cambria Math" panose="02040503050406030204" pitchFamily="18" charset="0"/>
                        <a:sym typeface="+mn-ea"/>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得出的解密结果；</a:t>
                </a:r>
              </a:p>
              <a:p>
                <a:pPr algn="just">
                  <a:lnSpc>
                    <a:spcPct val="140000"/>
                  </a:lnSpc>
                  <a:spcBef>
                    <a:spcPts val="0"/>
                  </a:spcBef>
                  <a:spcAft>
                    <a:spcPts val="0"/>
                  </a:spcAft>
                  <a:buClrTx/>
                  <a:buSzTx/>
                  <a:buFont typeface="+mj-ea"/>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对于所有</a:t>
                </a:r>
                <a14:m>
                  <m:oMath xmlns:m="http://schemas.openxmlformats.org/officeDocument/2006/math">
                    <m:r>
                      <a:rPr lang="zh-CN" altLang="en-US" sz="2000" i="1" dirty="0">
                        <a:latin typeface="Cambria Math" panose="02040503050406030204" pitchFamily="18" charset="0"/>
                        <a:ea typeface="MS Mincho" charset="0"/>
                        <a:cs typeface="Cambria Math" panose="02040503050406030204" pitchFamily="18" charset="0"/>
                        <a:sym typeface="+mn-ea"/>
                      </a:rPr>
                      <m:t> </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r>
                      <a:rPr lang="zh-CN" altLang="en-US" sz="2000" i="1" dirty="0">
                        <a:latin typeface="Cambria Math" panose="02040503050406030204" pitchFamily="18" charset="0"/>
                        <a:ea typeface="MS Mincho" charset="0"/>
                        <a:cs typeface="Cambria Math" panose="02040503050406030204" pitchFamily="18" charset="0"/>
                        <a:sym typeface="+mn-ea"/>
                      </a:rPr>
                      <m:t>≥</m:t>
                    </m:r>
                    <m:r>
                      <a:rPr lang="zh-CN" altLang="en-US"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r>
                      <a:rPr lang="zh-CN" altLang="en-US" sz="2000" i="1" dirty="0">
                        <a:latin typeface="Cambria Math" panose="02040503050406030204" pitchFamily="18" charset="0"/>
                        <a:ea typeface="MS Mincho" charset="0"/>
                        <a:cs typeface="Cambria Math" panose="02040503050406030204" pitchFamily="18" charset="0"/>
                        <a:sym typeface="+mn-ea"/>
                      </a:rPr>
                      <m:t> </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且</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sub>
                    </m:sSub>
                    <m:r>
                      <a:rPr lang="ar-AE" altLang="zh-CN" sz="2000" i="1" dirty="0">
                        <a:latin typeface="Cambria Math" panose="02040503050406030204" pitchFamily="18" charset="0"/>
                        <a:ea typeface="MS Mincho" charset="0"/>
                        <a:cs typeface="Cambria Math" panose="02040503050406030204" pitchFamily="18" charset="0"/>
                        <a:sym typeface="+mn-ea"/>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有</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r>
                      <a:rPr lang="ar-AE" altLang="zh-CN" sz="2000" i="1" dirty="0">
                        <a:latin typeface="Cambria Math" panose="02040503050406030204" pitchFamily="18" charset="0"/>
                        <a:ea typeface="MS Mincho" charset="0"/>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𝑀</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𝑗</m:t>
                            </m:r>
                          </m:sub>
                        </m:sSub>
                      </m:sub>
                    </m:sSub>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rPr>
                  <a:t>；</a:t>
                </a:r>
              </a:p>
              <a:p>
                <a:pPr algn="just">
                  <a:lnSpc>
                    <a:spcPct val="140000"/>
                  </a:lnSpc>
                  <a:spcBef>
                    <a:spcPts val="0"/>
                  </a:spcBef>
                  <a:spcAft>
                    <a:spcPts val="0"/>
                  </a:spcAft>
                  <a:buClrTx/>
                  <a:buSzTx/>
                  <a:buFont typeface="+mj-ea"/>
                  <a:buNone/>
                </a:pPr>
                <a:r>
                  <a:rPr lang="ar-AE"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对于中标者</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有</a:t>
                </a:r>
                <a14:m>
                  <m:oMath xmlns:m="http://schemas.openxmlformats.org/officeDocument/2006/math">
                    <m:r>
                      <a:rPr lang="zh-CN" altLang="en-US" sz="2000" dirty="0">
                        <a:latin typeface="Cambria Math" panose="02040503050406030204" pitchFamily="18" charset="0"/>
                        <a:ea typeface="MS Mincho" charset="0"/>
                        <a:cs typeface="Cambria Math" panose="02040503050406030204" pitchFamily="18" charset="0"/>
                        <a:sym typeface="+mn-ea"/>
                      </a:rPr>
                      <m:t> </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𝐷</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𝐶</m:t>
                        </m:r>
                      </m:e>
                      <m:sub>
                        <m:sSup>
                          <m:sSupPr>
                            <m:ctrlPr>
                              <a:rPr lang="ar-AE" altLang="zh-CN" sz="2000" i="1" dirty="0">
                                <a:latin typeface="Cambria Math" panose="02040503050406030204" pitchFamily="18" charset="0"/>
                                <a:ea typeface="MS Mincho" charset="0"/>
                                <a:cs typeface="Cambria Math" panose="02040503050406030204" pitchFamily="18" charset="0"/>
                              </a:rPr>
                            </m:ctrlPr>
                          </m:sSup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𝐵</m:t>
                            </m:r>
                          </m:e>
                          <m:sup>
                            <m:r>
                              <a:rPr lang="ar-AE" altLang="zh-CN" sz="2000" i="1" dirty="0">
                                <a:latin typeface="Cambria Math" panose="02040503050406030204" pitchFamily="18" charset="0"/>
                                <a:ea typeface="MS Mincho" charset="0"/>
                                <a:cs typeface="Cambria Math" panose="02040503050406030204" pitchFamily="18" charset="0"/>
                              </a:rPr>
                              <m:t>∗</m:t>
                            </m:r>
                          </m:sup>
                        </m:sSup>
                      </m:sub>
                    </m:s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m:t>
                    </m:r>
                    <m:r>
                      <a:rPr lang="ar-AE" altLang="zh-CN" sz="2000" i="1" dirty="0">
                        <a:latin typeface="Cambria Math" panose="02040503050406030204" pitchFamily="18" charset="0"/>
                        <a:ea typeface="MS Mincho" charset="0"/>
                        <a:cs typeface="Cambria Math" panose="02040503050406030204" pitchFamily="18" charset="0"/>
                        <a:sym typeface="+mn-ea"/>
                      </a:rPr>
                      <m:t>=</m:t>
                    </m:r>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𝑀</m:t>
                        </m:r>
                      </m:e>
                      <m:sub>
                        <m:sSub>
                          <m:sSubPr>
                            <m:ctrlPr>
                              <a:rPr lang="ar-AE"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zh-CN" altLang="ar-AE" sz="2000" i="1" dirty="0">
                                <a:latin typeface="Cambria Math" panose="02040503050406030204" pitchFamily="18" charset="0"/>
                                <a:ea typeface="微软雅黑" panose="020B0503020204020204" pitchFamily="34" charset="-122"/>
                                <a:cs typeface="Cambria Math" panose="02040503050406030204" pitchFamily="18" charset="0"/>
                              </a:rPr>
                              <m:t>𝑣</m:t>
                            </m:r>
                          </m:e>
                          <m:sub>
                            <m:r>
                              <a:rPr lang="zh-CN" altLang="ar-AE" sz="2000" i="1" dirty="0">
                                <a:latin typeface="Cambria Math" panose="02040503050406030204" pitchFamily="18" charset="0"/>
                                <a:ea typeface="微软雅黑" panose="020B0503020204020204" pitchFamily="34" charset="-122"/>
                                <a:cs typeface="Cambria Math" panose="02040503050406030204" pitchFamily="18" charset="0"/>
                                <a:sym typeface="+mn-ea"/>
                              </a:rPr>
                              <m:t>𝑘</m:t>
                            </m:r>
                          </m:sub>
                        </m:sSub>
                      </m:sub>
                    </m:sSub>
                  </m:oMath>
                </a14:m>
                <a:r>
                  <a:rPr lang="zh-CN" altLang="ar-AE"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mc:Choice>
        <mc:Fallback xmlns="">
          <p:sp>
            <p:nvSpPr>
              <p:cNvPr id="5" name="文本框 4"/>
              <p:cNvSpPr txBox="1">
                <a:spLocks noRot="1" noChangeAspect="1" noMove="1" noResize="1" noEditPoints="1" noAdjustHandles="1" noChangeArrowheads="1" noChangeShapeType="1" noTextEdit="1"/>
              </p:cNvSpPr>
              <p:nvPr/>
            </p:nvSpPr>
            <p:spPr>
              <a:xfrm>
                <a:off x="311961" y="1579253"/>
                <a:ext cx="8479945" cy="4566285"/>
              </a:xfrm>
              <a:prstGeom prst="rect">
                <a:avLst/>
              </a:prstGeom>
              <a:blipFill rotWithShape="1">
                <a:blip r:embed="rId4"/>
                <a:stretch>
                  <a:fillRect l="-2" r="-326"/>
                </a:stretch>
              </a:blipFill>
            </p:spPr>
            <p:txBody>
              <a:bodyPr/>
              <a:lstStyle/>
              <a:p>
                <a:r>
                  <a:rPr lang="zh-CN" altLang="en-US">
                    <a:noFill/>
                  </a:rPr>
                  <a:t> </a:t>
                </a:r>
              </a:p>
            </p:txBody>
          </p:sp>
        </mc:Fallback>
      </mc:AlternateContent>
      <p:sp>
        <p:nvSpPr>
          <p:cNvPr id="11" name="文本框 10"/>
          <p:cNvSpPr txBox="1"/>
          <p:nvPr/>
        </p:nvSpPr>
        <p:spPr>
          <a:xfrm>
            <a:off x="794397" y="2962814"/>
            <a:ext cx="184731" cy="369332"/>
          </a:xfrm>
          <a:prstGeom prst="rect">
            <a:avLst/>
          </a:prstGeom>
          <a:noFill/>
        </p:spPr>
        <p:txBody>
          <a:bodyPr wrap="none" rtlCol="0">
            <a:spAutoFit/>
          </a:bodyPr>
          <a:lstStyle/>
          <a:p>
            <a:endParaRPr lang="zh-CN" altLang="en-US" dirty="0"/>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文本框 56"/>
          <p:cNvSpPr txBox="1"/>
          <p:nvPr/>
        </p:nvSpPr>
        <p:spPr>
          <a:xfrm>
            <a:off x="311961" y="1565075"/>
            <a:ext cx="8479945" cy="961097"/>
          </a:xfrm>
          <a:prstGeom prst="rect">
            <a:avLst/>
          </a:prstGeom>
          <a:noFill/>
        </p:spPr>
        <p:txBody>
          <a:bodyPr wrap="square" rtlCol="0">
            <a:spAutoFit/>
          </a:bodyPr>
          <a:lstStyle/>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适配器签名是由 </a:t>
            </a:r>
            <a:r>
              <a:rPr lang="en-US" altLang="zh-CN" sz="2000" dirty="0" err="1">
                <a:latin typeface="Times New Roman" panose="02020603050405020304" pitchFamily="18" charset="0"/>
                <a:cs typeface="Times New Roman" panose="02020603050405020304" pitchFamily="18" charset="0"/>
              </a:rPr>
              <a:t>Poelstra</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引入的一个新概念，能够在区块链中提供很好的原子交换性。目前应用最广泛的是基于 </a:t>
            </a:r>
            <a:r>
              <a:rPr lang="en-US" altLang="zh-CN" sz="2000" dirty="0" err="1">
                <a:latin typeface="Times New Roman" panose="02020603050405020304" pitchFamily="18" charset="0"/>
                <a:cs typeface="Times New Roman" panose="02020603050405020304" pitchFamily="18" charset="0"/>
              </a:rPr>
              <a:t>Schnorr</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签名的适配器签名。</a:t>
            </a:r>
          </a:p>
        </p:txBody>
      </p:sp>
      <p:sp>
        <p:nvSpPr>
          <p:cNvPr id="2" name="标题 1"/>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金融密码协议</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46</a:t>
            </a:fld>
            <a:endParaRPr lang="zh-CN" altLang="en-US" dirty="0"/>
          </a:p>
        </p:txBody>
      </p:sp>
      <p:sp>
        <p:nvSpPr>
          <p:cNvPr id="6" name="文本框 5"/>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mn-ea"/>
              </a:rPr>
              <a:t>9.5 </a:t>
            </a:r>
            <a:r>
              <a:rPr lang="zh-CN" altLang="en-US" sz="2400" b="1" dirty="0">
                <a:solidFill>
                  <a:srgbClr val="FF0000"/>
                </a:solidFill>
                <a:latin typeface="+mn-ea"/>
              </a:rPr>
              <a:t>公平交换协议 </a:t>
            </a:r>
            <a:r>
              <a:rPr lang="en-US" altLang="zh-CN" sz="2400" b="1" dirty="0">
                <a:solidFill>
                  <a:srgbClr val="FF0000"/>
                </a:solidFill>
                <a:latin typeface="+mn-ea"/>
              </a:rPr>
              <a:t>(</a:t>
            </a:r>
            <a:r>
              <a:rPr lang="zh-CN" altLang="en-US" sz="2400" b="1" dirty="0">
                <a:solidFill>
                  <a:srgbClr val="FF0000"/>
                </a:solidFill>
                <a:latin typeface="+mn-ea"/>
              </a:rPr>
              <a:t>结合文献</a:t>
            </a:r>
            <a:r>
              <a:rPr lang="en-US" altLang="zh-CN" sz="2400" b="1" dirty="0">
                <a:solidFill>
                  <a:srgbClr val="FF0000"/>
                </a:solidFill>
                <a:latin typeface="+mn-ea"/>
              </a:rPr>
              <a:t>)</a:t>
            </a:r>
            <a:endParaRPr lang="zh-CN" altLang="en-US" sz="2400" b="1" dirty="0">
              <a:solidFill>
                <a:srgbClr val="FF0000"/>
              </a:solidFill>
              <a:latin typeface="+mn-ea"/>
            </a:endParaRPr>
          </a:p>
        </p:txBody>
      </p:sp>
      <p:grpSp>
        <p:nvGrpSpPr>
          <p:cNvPr id="1376" name="组合 1375"/>
          <p:cNvGrpSpPr/>
          <p:nvPr/>
        </p:nvGrpSpPr>
        <p:grpSpPr>
          <a:xfrm>
            <a:off x="2051362" y="4910145"/>
            <a:ext cx="5348585" cy="1789039"/>
            <a:chOff x="1939625" y="4739215"/>
            <a:chExt cx="5348585" cy="1980996"/>
          </a:xfrm>
        </p:grpSpPr>
        <mc:AlternateContent xmlns:mc="http://schemas.openxmlformats.org/markup-compatibility/2006" xmlns:a14="http://schemas.microsoft.com/office/drawing/2010/main">
          <mc:Choice Requires="a14">
            <p:sp>
              <p:nvSpPr>
                <p:cNvPr id="24" name="矩形 23"/>
                <p:cNvSpPr/>
                <p:nvPr/>
              </p:nvSpPr>
              <p:spPr>
                <a:xfrm>
                  <a:off x="1939625" y="5683036"/>
                  <a:ext cx="964111" cy="36657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right"/>
                      </m:oMathParaPr>
                      <m:oMath xmlns:m="http://schemas.openxmlformats.org/officeDocument/2006/math">
                        <m:d>
                          <m:dPr>
                            <m:ctrlPr>
                              <a:rPr lang="en-US" altLang="zh-CN" sz="1800" i="1" smtClean="0">
                                <a:solidFill>
                                  <a:srgbClr val="0070C0"/>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r>
                              <a:rPr lang="en-US" altLang="zh-CN" sz="1800" i="1">
                                <a:solidFill>
                                  <a:srgbClr val="0070C0"/>
                                </a:solidFill>
                                <a:latin typeface="Cambria Math" panose="02040503050406030204" pitchFamily="18" charset="0"/>
                                <a:cs typeface="Cambria Math" panose="02040503050406030204" pitchFamily="18" charset="0"/>
                              </a:rPr>
                              <m:t>𝑝𝑘</m:t>
                            </m:r>
                            <m:r>
                              <a:rPr lang="en-US" altLang="zh-CN" sz="1800" i="1">
                                <a:solidFill>
                                  <a:srgbClr val="0070C0"/>
                                </a:solidFill>
                                <a:latin typeface="Cambria Math" panose="02040503050406030204" pitchFamily="18" charset="0"/>
                                <a:cs typeface="Cambria Math" panose="02040503050406030204" pitchFamily="18" charset="0"/>
                              </a:rPr>
                              <m:t>,</m:t>
                            </m:r>
                            <m:r>
                              <a:rPr lang="en-US" altLang="zh-CN" sz="1800" i="1">
                                <a:solidFill>
                                  <a:srgbClr val="0070C0"/>
                                </a:solidFill>
                                <a:latin typeface="Cambria Math" panose="02040503050406030204" pitchFamily="18" charset="0"/>
                                <a:cs typeface="Cambria Math" panose="02040503050406030204" pitchFamily="18" charset="0"/>
                              </a:rPr>
                              <m:t>𝑠𝑘</m:t>
                            </m:r>
                          </m:e>
                        </m:d>
                      </m:oMath>
                    </m:oMathPara>
                  </a14:m>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1939625" y="5683036"/>
                  <a:ext cx="964111" cy="366572"/>
                </a:xfrm>
                <a:prstGeom prst="rect">
                  <a:avLst/>
                </a:prstGeom>
                <a:blipFill rotWithShape="1">
                  <a:blip r:embed="rId4"/>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5" name="user-black-shape-variant_36950"/>
            <p:cNvSpPr/>
            <p:nvPr/>
          </p:nvSpPr>
          <p:spPr>
            <a:xfrm>
              <a:off x="2243879" y="4846954"/>
              <a:ext cx="355607" cy="476332"/>
            </a:xfrm>
            <a:custGeom>
              <a:avLst/>
              <a:gdLst>
                <a:gd name="T0" fmla="*/ 249 w 296"/>
                <a:gd name="T1" fmla="*/ 408 h 408"/>
                <a:gd name="T2" fmla="*/ 47 w 296"/>
                <a:gd name="T3" fmla="*/ 408 h 408"/>
                <a:gd name="T4" fmla="*/ 4 w 296"/>
                <a:gd name="T5" fmla="*/ 358 h 408"/>
                <a:gd name="T6" fmla="*/ 26 w 296"/>
                <a:gd name="T7" fmla="*/ 230 h 408"/>
                <a:gd name="T8" fmla="*/ 72 w 296"/>
                <a:gd name="T9" fmla="*/ 182 h 408"/>
                <a:gd name="T10" fmla="*/ 148 w 296"/>
                <a:gd name="T11" fmla="*/ 211 h 408"/>
                <a:gd name="T12" fmla="*/ 224 w 296"/>
                <a:gd name="T13" fmla="*/ 182 h 408"/>
                <a:gd name="T14" fmla="*/ 270 w 296"/>
                <a:gd name="T15" fmla="*/ 230 h 408"/>
                <a:gd name="T16" fmla="*/ 291 w 296"/>
                <a:gd name="T17" fmla="*/ 358 h 408"/>
                <a:gd name="T18" fmla="*/ 249 w 296"/>
                <a:gd name="T19" fmla="*/ 408 h 408"/>
                <a:gd name="T20" fmla="*/ 148 w 296"/>
                <a:gd name="T21" fmla="*/ 192 h 408"/>
                <a:gd name="T22" fmla="*/ 244 w 296"/>
                <a:gd name="T23" fmla="*/ 96 h 408"/>
                <a:gd name="T24" fmla="*/ 148 w 296"/>
                <a:gd name="T25" fmla="*/ 0 h 408"/>
                <a:gd name="T26" fmla="*/ 52 w 296"/>
                <a:gd name="T27" fmla="*/ 96 h 408"/>
                <a:gd name="T28" fmla="*/ 148 w 296"/>
                <a:gd name="T29" fmla="*/ 19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6" h="408">
                  <a:moveTo>
                    <a:pt x="249" y="408"/>
                  </a:moveTo>
                  <a:lnTo>
                    <a:pt x="47" y="408"/>
                  </a:lnTo>
                  <a:cubicBezTo>
                    <a:pt x="19" y="408"/>
                    <a:pt x="0" y="385"/>
                    <a:pt x="4" y="358"/>
                  </a:cubicBezTo>
                  <a:lnTo>
                    <a:pt x="26" y="230"/>
                  </a:lnTo>
                  <a:cubicBezTo>
                    <a:pt x="30" y="207"/>
                    <a:pt x="49" y="188"/>
                    <a:pt x="72" y="182"/>
                  </a:cubicBezTo>
                  <a:cubicBezTo>
                    <a:pt x="92" y="200"/>
                    <a:pt x="119" y="211"/>
                    <a:pt x="148" y="211"/>
                  </a:cubicBezTo>
                  <a:cubicBezTo>
                    <a:pt x="177" y="211"/>
                    <a:pt x="204" y="200"/>
                    <a:pt x="224" y="182"/>
                  </a:cubicBezTo>
                  <a:cubicBezTo>
                    <a:pt x="247" y="188"/>
                    <a:pt x="266" y="207"/>
                    <a:pt x="270" y="230"/>
                  </a:cubicBezTo>
                  <a:lnTo>
                    <a:pt x="291" y="358"/>
                  </a:lnTo>
                  <a:cubicBezTo>
                    <a:pt x="296" y="385"/>
                    <a:pt x="277" y="408"/>
                    <a:pt x="249" y="408"/>
                  </a:cubicBezTo>
                  <a:close/>
                  <a:moveTo>
                    <a:pt x="148" y="192"/>
                  </a:moveTo>
                  <a:cubicBezTo>
                    <a:pt x="201" y="192"/>
                    <a:pt x="244" y="149"/>
                    <a:pt x="244" y="96"/>
                  </a:cubicBezTo>
                  <a:cubicBezTo>
                    <a:pt x="244" y="43"/>
                    <a:pt x="201" y="0"/>
                    <a:pt x="148" y="0"/>
                  </a:cubicBezTo>
                  <a:cubicBezTo>
                    <a:pt x="95" y="0"/>
                    <a:pt x="52" y="43"/>
                    <a:pt x="52" y="96"/>
                  </a:cubicBezTo>
                  <a:cubicBezTo>
                    <a:pt x="52" y="149"/>
                    <a:pt x="95" y="192"/>
                    <a:pt x="148" y="192"/>
                  </a:cubicBezTo>
                  <a:close/>
                </a:path>
              </a:pathLst>
            </a:custGeom>
            <a:solidFill>
              <a:schemeClr val="accent5">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user-black-shape-variant_36950"/>
            <p:cNvSpPr/>
            <p:nvPr/>
          </p:nvSpPr>
          <p:spPr>
            <a:xfrm>
              <a:off x="4286613" y="4846954"/>
              <a:ext cx="348447" cy="476332"/>
            </a:xfrm>
            <a:custGeom>
              <a:avLst/>
              <a:gdLst>
                <a:gd name="T0" fmla="*/ 249 w 296"/>
                <a:gd name="T1" fmla="*/ 408 h 408"/>
                <a:gd name="T2" fmla="*/ 47 w 296"/>
                <a:gd name="T3" fmla="*/ 408 h 408"/>
                <a:gd name="T4" fmla="*/ 4 w 296"/>
                <a:gd name="T5" fmla="*/ 358 h 408"/>
                <a:gd name="T6" fmla="*/ 26 w 296"/>
                <a:gd name="T7" fmla="*/ 230 h 408"/>
                <a:gd name="T8" fmla="*/ 72 w 296"/>
                <a:gd name="T9" fmla="*/ 182 h 408"/>
                <a:gd name="T10" fmla="*/ 148 w 296"/>
                <a:gd name="T11" fmla="*/ 211 h 408"/>
                <a:gd name="T12" fmla="*/ 224 w 296"/>
                <a:gd name="T13" fmla="*/ 182 h 408"/>
                <a:gd name="T14" fmla="*/ 270 w 296"/>
                <a:gd name="T15" fmla="*/ 230 h 408"/>
                <a:gd name="T16" fmla="*/ 291 w 296"/>
                <a:gd name="T17" fmla="*/ 358 h 408"/>
                <a:gd name="T18" fmla="*/ 249 w 296"/>
                <a:gd name="T19" fmla="*/ 408 h 408"/>
                <a:gd name="T20" fmla="*/ 148 w 296"/>
                <a:gd name="T21" fmla="*/ 192 h 408"/>
                <a:gd name="T22" fmla="*/ 244 w 296"/>
                <a:gd name="T23" fmla="*/ 96 h 408"/>
                <a:gd name="T24" fmla="*/ 148 w 296"/>
                <a:gd name="T25" fmla="*/ 0 h 408"/>
                <a:gd name="T26" fmla="*/ 52 w 296"/>
                <a:gd name="T27" fmla="*/ 96 h 408"/>
                <a:gd name="T28" fmla="*/ 148 w 296"/>
                <a:gd name="T29" fmla="*/ 19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6" h="408">
                  <a:moveTo>
                    <a:pt x="249" y="408"/>
                  </a:moveTo>
                  <a:lnTo>
                    <a:pt x="47" y="408"/>
                  </a:lnTo>
                  <a:cubicBezTo>
                    <a:pt x="19" y="408"/>
                    <a:pt x="0" y="385"/>
                    <a:pt x="4" y="358"/>
                  </a:cubicBezTo>
                  <a:lnTo>
                    <a:pt x="26" y="230"/>
                  </a:lnTo>
                  <a:cubicBezTo>
                    <a:pt x="30" y="207"/>
                    <a:pt x="49" y="188"/>
                    <a:pt x="72" y="182"/>
                  </a:cubicBezTo>
                  <a:cubicBezTo>
                    <a:pt x="92" y="200"/>
                    <a:pt x="119" y="211"/>
                    <a:pt x="148" y="211"/>
                  </a:cubicBezTo>
                  <a:cubicBezTo>
                    <a:pt x="177" y="211"/>
                    <a:pt x="204" y="200"/>
                    <a:pt x="224" y="182"/>
                  </a:cubicBezTo>
                  <a:cubicBezTo>
                    <a:pt x="247" y="188"/>
                    <a:pt x="266" y="207"/>
                    <a:pt x="270" y="230"/>
                  </a:cubicBezTo>
                  <a:lnTo>
                    <a:pt x="291" y="358"/>
                  </a:lnTo>
                  <a:cubicBezTo>
                    <a:pt x="296" y="385"/>
                    <a:pt x="277" y="408"/>
                    <a:pt x="249" y="408"/>
                  </a:cubicBezTo>
                  <a:close/>
                  <a:moveTo>
                    <a:pt x="148" y="192"/>
                  </a:moveTo>
                  <a:cubicBezTo>
                    <a:pt x="201" y="192"/>
                    <a:pt x="244" y="149"/>
                    <a:pt x="244" y="96"/>
                  </a:cubicBezTo>
                  <a:cubicBezTo>
                    <a:pt x="244" y="43"/>
                    <a:pt x="201" y="0"/>
                    <a:pt x="148" y="0"/>
                  </a:cubicBezTo>
                  <a:cubicBezTo>
                    <a:pt x="95" y="0"/>
                    <a:pt x="52" y="43"/>
                    <a:pt x="52" y="96"/>
                  </a:cubicBezTo>
                  <a:cubicBezTo>
                    <a:pt x="52" y="149"/>
                    <a:pt x="95" y="192"/>
                    <a:pt x="148" y="192"/>
                  </a:cubicBezTo>
                  <a:close/>
                </a:path>
              </a:pathLst>
            </a:cu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直接箭头连接符 27"/>
            <p:cNvCxnSpPr>
              <a:stCxn id="25" idx="7"/>
              <a:endCxn id="26" idx="3"/>
            </p:cNvCxnSpPr>
            <p:nvPr/>
          </p:nvCxnSpPr>
          <p:spPr>
            <a:xfrm>
              <a:off x="2568250" y="5115474"/>
              <a:ext cx="17489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079280" y="5321216"/>
              <a:ext cx="68480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Alice</a:t>
              </a:r>
              <a:endParaRPr lang="zh-CN" altLang="en-US" dirty="0">
                <a:latin typeface="Times New Roman" panose="02020603050405020304" pitchFamily="18" charset="0"/>
                <a:cs typeface="Times New Roman" panose="02020603050405020304" pitchFamily="18" charset="0"/>
              </a:endParaRPr>
            </a:p>
          </p:txBody>
        </p:sp>
        <p:sp>
          <p:nvSpPr>
            <p:cNvPr id="22" name="文本框 21"/>
            <p:cNvSpPr txBox="1"/>
            <p:nvPr/>
          </p:nvSpPr>
          <p:spPr>
            <a:xfrm>
              <a:off x="4176142" y="5313704"/>
              <a:ext cx="569387"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Bob</a:t>
              </a:r>
              <a:endParaRPr lang="zh-CN" altLang="en-US" dirty="0">
                <a:latin typeface="Times New Roman" panose="02020603050405020304" pitchFamily="18" charset="0"/>
                <a:cs typeface="Times New Roman" panose="02020603050405020304" pitchFamily="18" charset="0"/>
              </a:endParaRPr>
            </a:p>
          </p:txBody>
        </p:sp>
        <p:pic>
          <p:nvPicPr>
            <p:cNvPr id="58" name="图形 57" descr="3b32313536353637313bc7f8bfe9c1b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88322" y="4877470"/>
              <a:ext cx="467955" cy="476331"/>
            </a:xfrm>
            <a:prstGeom prst="rect">
              <a:avLst/>
            </a:prstGeom>
          </p:spPr>
        </p:pic>
        <p:cxnSp>
          <p:nvCxnSpPr>
            <p:cNvPr id="59" name="直接箭头连接符 58"/>
            <p:cNvCxnSpPr>
              <a:stCxn id="26" idx="7"/>
              <a:endCxn id="58" idx="1"/>
            </p:cNvCxnSpPr>
            <p:nvPr/>
          </p:nvCxnSpPr>
          <p:spPr>
            <a:xfrm>
              <a:off x="4604453" y="5115474"/>
              <a:ext cx="1783869" cy="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6010296" y="5321216"/>
              <a:ext cx="1277914"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Blockchain</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44" name="矩形 1343"/>
                <p:cNvSpPr/>
                <p:nvPr/>
              </p:nvSpPr>
              <p:spPr>
                <a:xfrm>
                  <a:off x="3821878" y="5678438"/>
                  <a:ext cx="1277914" cy="36657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right"/>
                      </m:oMathParaPr>
                      <m:oMath xmlns:m="http://schemas.openxmlformats.org/officeDocument/2006/math">
                        <m:d>
                          <m:dPr>
                            <m:ctrlPr>
                              <a:rPr lang="en-US" altLang="zh-CN" i="1" smtClean="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r>
                              <a:rPr lang="en-US" altLang="zh-CN" i="1">
                                <a:solidFill>
                                  <a:schemeClr val="accent2"/>
                                </a:solidFill>
                                <a:latin typeface="Cambria Math" panose="02040503050406030204" pitchFamily="18" charset="0"/>
                                <a:cs typeface="Cambria Math" panose="02040503050406030204" pitchFamily="18" charset="0"/>
                              </a:rPr>
                              <m:t>𝑌</m:t>
                            </m:r>
                            <m:r>
                              <a:rPr lang="en-US" altLang="zh-CN" i="1">
                                <a:solidFill>
                                  <a:schemeClr val="accent2"/>
                                </a:solidFill>
                                <a:latin typeface="Cambria Math" panose="02040503050406030204" pitchFamily="18" charset="0"/>
                                <a:cs typeface="Cambria Math" panose="02040503050406030204" pitchFamily="18" charset="0"/>
                              </a:rPr>
                              <m:t>,</m:t>
                            </m:r>
                            <m:r>
                              <a:rPr lang="en-US" altLang="zh-CN" i="1">
                                <a:solidFill>
                                  <a:schemeClr val="accent2"/>
                                </a:solidFill>
                                <a:latin typeface="Cambria Math" panose="02040503050406030204" pitchFamily="18" charset="0"/>
                                <a:cs typeface="Cambria Math" panose="02040503050406030204" pitchFamily="18" charset="0"/>
                              </a:rPr>
                              <m:t>𝑦</m:t>
                            </m:r>
                          </m:e>
                        </m:d>
                        <m:r>
                          <a:rPr lang="en-US" altLang="zh-CN">
                            <a:solidFill>
                              <a:schemeClr val="accent2"/>
                            </a:solidFill>
                            <a:latin typeface="Cambria Math" panose="02040503050406030204" pitchFamily="18" charset="0"/>
                            <a:cs typeface="Cambria Math" panose="02040503050406030204" pitchFamily="18" charset="0"/>
                          </a:rPr>
                          <m:t>∈</m:t>
                        </m:r>
                        <m:sSub>
                          <m:sSubPr>
                            <m:ctrlPr>
                              <a:rPr lang="en-US" altLang="zh-CN" i="1">
                                <a:solidFill>
                                  <a:schemeClr val="accent2"/>
                                </a:solidFill>
                                <a:latin typeface="Cambria Math" panose="02040503050406030204" pitchFamily="18" charset="0"/>
                                <a:cs typeface="Cambria Math" panose="02040503050406030204" pitchFamily="18" charset="0"/>
                              </a:rPr>
                            </m:ctrlPr>
                          </m:sSubPr>
                          <m:e>
                            <m:r>
                              <a:rPr lang="en-US" altLang="zh-CN" i="1">
                                <a:solidFill>
                                  <a:schemeClr val="accent2"/>
                                </a:solidFill>
                                <a:latin typeface="Cambria Math" panose="02040503050406030204" pitchFamily="18" charset="0"/>
                                <a:cs typeface="Cambria Math" panose="02040503050406030204" pitchFamily="18" charset="0"/>
                              </a:rPr>
                              <m:t>𝑅</m:t>
                            </m:r>
                          </m:e>
                          <m:sub>
                            <m:r>
                              <a:rPr lang="en-US" altLang="zh-CN" i="1">
                                <a:solidFill>
                                  <a:schemeClr val="accent2"/>
                                </a:solidFill>
                                <a:latin typeface="Cambria Math" panose="02040503050406030204" pitchFamily="18" charset="0"/>
                                <a:cs typeface="Cambria Math" panose="02040503050406030204" pitchFamily="18" charset="0"/>
                              </a:rPr>
                              <m:t>𝑔</m:t>
                            </m:r>
                          </m:sub>
                        </m:sSub>
                      </m:oMath>
                    </m:oMathPara>
                  </a14:m>
                  <a:endParaRPr lang="zh-CN" altLang="en-US" dirty="0">
                    <a:solidFill>
                      <a:schemeClr val="accent2"/>
                    </a:solidFill>
                  </a:endParaRPr>
                </a:p>
              </p:txBody>
            </p:sp>
          </mc:Choice>
          <mc:Fallback xmlns="">
            <p:sp>
              <p:nvSpPr>
                <p:cNvPr id="1344" name="矩形 1343"/>
                <p:cNvSpPr>
                  <a:spLocks noRot="1" noChangeAspect="1" noMove="1" noResize="1" noEditPoints="1" noAdjustHandles="1" noChangeArrowheads="1" noChangeShapeType="1" noTextEdit="1"/>
                </p:cNvSpPr>
                <p:nvPr/>
              </p:nvSpPr>
              <p:spPr>
                <a:xfrm>
                  <a:off x="3821878" y="5678438"/>
                  <a:ext cx="1277914" cy="366572"/>
                </a:xfrm>
                <a:prstGeom prst="rect">
                  <a:avLst/>
                </a:prstGeom>
                <a:blipFill rotWithShape="1">
                  <a:blip r:embed="rId7"/>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6" name="文本框 1345"/>
                <p:cNvSpPr txBox="1"/>
                <p:nvPr/>
              </p:nvSpPr>
              <p:spPr>
                <a:xfrm>
                  <a:off x="3219154" y="4739215"/>
                  <a:ext cx="3134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r>
                              <a:rPr lang="en-US" altLang="zh-CN" i="1">
                                <a:latin typeface="Cambria Math" panose="02040503050406030204" pitchFamily="18" charset="0"/>
                                <a:cs typeface="Cambria Math" panose="02040503050406030204" pitchFamily="18" charset="0"/>
                              </a:rPr>
                              <m:t>𝜎</m:t>
                            </m:r>
                          </m:e>
                        </m:acc>
                      </m:oMath>
                    </m:oMathPara>
                  </a14:m>
                  <a:endParaRPr lang="zh-CN" altLang="en-US" dirty="0"/>
                </a:p>
              </p:txBody>
            </p:sp>
          </mc:Choice>
          <mc:Fallback xmlns="">
            <p:sp>
              <p:nvSpPr>
                <p:cNvPr id="1346" name="文本框 1345"/>
                <p:cNvSpPr txBox="1">
                  <a:spLocks noRot="1" noChangeAspect="1" noMove="1" noResize="1" noEditPoints="1" noAdjustHandles="1" noChangeArrowheads="1" noChangeShapeType="1" noTextEdit="1"/>
                </p:cNvSpPr>
                <p:nvPr/>
              </p:nvSpPr>
              <p:spPr>
                <a:xfrm>
                  <a:off x="3219154" y="4739215"/>
                  <a:ext cx="313486" cy="369332"/>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7" name="文本框 1346"/>
                <p:cNvSpPr txBox="1"/>
                <p:nvPr/>
              </p:nvSpPr>
              <p:spPr>
                <a:xfrm>
                  <a:off x="5297876" y="4746142"/>
                  <a:ext cx="3134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a:latin typeface="Cambria Math" panose="02040503050406030204" pitchFamily="18" charset="0"/>
                            <a:cs typeface="Cambria Math" panose="02040503050406030204" pitchFamily="18" charset="0"/>
                          </a:rPr>
                          <m:t>𝜎</m:t>
                        </m:r>
                      </m:oMath>
                    </m:oMathPara>
                  </a14:m>
                  <a:endParaRPr lang="zh-CN" altLang="en-US" dirty="0"/>
                </a:p>
              </p:txBody>
            </p:sp>
          </mc:Choice>
          <mc:Fallback xmlns="">
            <p:sp>
              <p:nvSpPr>
                <p:cNvPr id="1347" name="文本框 1346"/>
                <p:cNvSpPr txBox="1">
                  <a:spLocks noRot="1" noChangeAspect="1" noMove="1" noResize="1" noEditPoints="1" noAdjustHandles="1" noChangeArrowheads="1" noChangeShapeType="1" noTextEdit="1"/>
                </p:cNvSpPr>
                <p:nvPr/>
              </p:nvSpPr>
              <p:spPr>
                <a:xfrm>
                  <a:off x="5297876" y="4746142"/>
                  <a:ext cx="313486" cy="369332"/>
                </a:xfrm>
                <a:prstGeom prst="rect">
                  <a:avLst/>
                </a:prstGeom>
                <a:blipFill rotWithShape="1">
                  <a:blip r:embed="rId9"/>
                </a:blipFill>
              </p:spPr>
              <p:txBody>
                <a:bodyPr/>
                <a:lstStyle/>
                <a:p>
                  <a:r>
                    <a:rPr lang="zh-CN" altLang="en-US">
                      <a:noFill/>
                    </a:rPr>
                    <a:t> </a:t>
                  </a:r>
                </a:p>
              </p:txBody>
            </p:sp>
          </mc:Fallback>
        </mc:AlternateContent>
        <p:cxnSp>
          <p:nvCxnSpPr>
            <p:cNvPr id="1356" name="直接箭头连接符 1355"/>
            <p:cNvCxnSpPr/>
            <p:nvPr/>
          </p:nvCxnSpPr>
          <p:spPr>
            <a:xfrm flipV="1">
              <a:off x="2415264" y="6101506"/>
              <a:ext cx="1561" cy="216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5" name="直接连接符 1364"/>
            <p:cNvCxnSpPr/>
            <p:nvPr/>
          </p:nvCxnSpPr>
          <p:spPr>
            <a:xfrm>
              <a:off x="2415264" y="6316775"/>
              <a:ext cx="4233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8" name="直接连接符 1367"/>
            <p:cNvCxnSpPr>
              <a:stCxn id="62" idx="2"/>
            </p:cNvCxnSpPr>
            <p:nvPr/>
          </p:nvCxnSpPr>
          <p:spPr>
            <a:xfrm>
              <a:off x="6649253" y="5690548"/>
              <a:ext cx="0" cy="62726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75" name="文本框 23"/>
                <p:cNvSpPr txBox="1"/>
                <p:nvPr/>
              </p:nvSpPr>
              <p:spPr>
                <a:xfrm>
                  <a:off x="4262715" y="6356991"/>
                  <a:ext cx="396240" cy="363220"/>
                </a:xfrm>
                <a:prstGeom prst="rect">
                  <a:avLst/>
                </a:prstGeom>
                <a:noFill/>
              </p:spPr>
              <p:txBody>
                <a:bodyPr wrap="square"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zh-CN" altLang="en-US" sz="1600" b="1" dirty="0">
                      <a:solidFill>
                        <a:srgbClr val="FF0000"/>
                      </a:solidFill>
                      <a:latin typeface="微软雅黑" panose="020B0503020204020204" pitchFamily="34" charset="-122"/>
                      <a:ea typeface="微软雅黑" panose="020B0503020204020204" pitchFamily="34" charset="-122"/>
                      <a:cs typeface="Cambria Math" panose="02040503050406030204" pitchFamily="18" charset="0"/>
                    </a:rPr>
                    <a:t> </a:t>
                  </a:r>
                  <a14:m>
                    <m:oMath xmlns:m="http://schemas.openxmlformats.org/officeDocument/2006/math">
                      <m:r>
                        <a:rPr lang="zh-CN" altLang="en-US" sz="1600" b="1" smtClean="0">
                          <a:solidFill>
                            <a:schemeClr val="accent2"/>
                          </a:solidFill>
                          <a:latin typeface="Cambria Math" panose="02040503050406030204" pitchFamily="18" charset="0"/>
                          <a:ea typeface="微软雅黑" panose="020B0503020204020204" pitchFamily="34" charset="-122"/>
                          <a:cs typeface="Cambria Math" panose="02040503050406030204" pitchFamily="18" charset="0"/>
                        </a:rPr>
                        <m:t>𝑦</m:t>
                      </m:r>
                    </m:oMath>
                  </a14:m>
                  <a:endParaRPr lang="zh-CN" altLang="en-US" sz="1600" b="1" i="1" dirty="0">
                    <a:solidFill>
                      <a:srgbClr val="00B050"/>
                    </a:solidFill>
                    <a:latin typeface="微软雅黑" panose="020B0503020204020204" pitchFamily="34" charset="-122"/>
                    <a:ea typeface="微软雅黑" panose="020B0503020204020204" pitchFamily="34" charset="-122"/>
                    <a:cs typeface="Cambria Math" panose="02040503050406030204" pitchFamily="18" charset="0"/>
                  </a:endParaRPr>
                </a:p>
              </p:txBody>
            </p:sp>
          </mc:Choice>
          <mc:Fallback xmlns="">
            <p:sp>
              <p:nvSpPr>
                <p:cNvPr id="1375" name="文本框 23"/>
                <p:cNvSpPr txBox="1">
                  <a:spLocks noRot="1" noChangeAspect="1" noMove="1" noResize="1" noEditPoints="1" noAdjustHandles="1" noChangeArrowheads="1" noChangeShapeType="1" noTextEdit="1"/>
                </p:cNvSpPr>
                <p:nvPr/>
              </p:nvSpPr>
              <p:spPr>
                <a:xfrm>
                  <a:off x="4262715" y="6356991"/>
                  <a:ext cx="396240" cy="363220"/>
                </a:xfrm>
                <a:prstGeom prst="rect">
                  <a:avLst/>
                </a:prstGeom>
                <a:blipFill rotWithShape="1">
                  <a:blip r:embed="rId10"/>
                </a:blipFill>
              </p:spPr>
              <p:txBody>
                <a:bodyPr/>
                <a:lstStyle/>
                <a:p>
                  <a:r>
                    <a:rPr lang="zh-CN" altLang="en-US">
                      <a:noFill/>
                    </a:rPr>
                    <a:t> </a:t>
                  </a:r>
                </a:p>
              </p:txBody>
            </p:sp>
          </mc:Fallback>
        </mc:AlternateContent>
      </p:grpSp>
      <p:grpSp>
        <p:nvGrpSpPr>
          <p:cNvPr id="66" name="组合 65"/>
          <p:cNvGrpSpPr/>
          <p:nvPr/>
        </p:nvGrpSpPr>
        <p:grpSpPr>
          <a:xfrm>
            <a:off x="422595" y="2680396"/>
            <a:ext cx="8362222" cy="2015744"/>
            <a:chOff x="489098" y="2523093"/>
            <a:chExt cx="8168777" cy="1862262"/>
          </a:xfrm>
        </p:grpSpPr>
        <p:sp>
          <p:nvSpPr>
            <p:cNvPr id="4" name="文本框 3"/>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11" name="文本框 10"/>
            <p:cNvSpPr txBox="1"/>
            <p:nvPr/>
          </p:nvSpPr>
          <p:spPr>
            <a:xfrm>
              <a:off x="794397" y="2962814"/>
              <a:ext cx="184731" cy="369332"/>
            </a:xfrm>
            <a:prstGeom prst="rect">
              <a:avLst/>
            </a:prstGeom>
            <a:noFill/>
          </p:spPr>
          <p:txBody>
            <a:bodyPr wrap="none" rtlCol="0">
              <a:spAutoFit/>
            </a:bodyPr>
            <a:lstStyle/>
            <a:p>
              <a:endParaRPr lang="zh-CN" altLang="en-US" dirty="0"/>
            </a:p>
          </p:txBody>
        </p:sp>
        <p:sp>
          <p:nvSpPr>
            <p:cNvPr id="1392" name="文本框 93"/>
            <p:cNvSpPr txBox="1"/>
            <p:nvPr/>
          </p:nvSpPr>
          <p:spPr>
            <a:xfrm>
              <a:off x="489098" y="2523093"/>
              <a:ext cx="8107166" cy="1862262"/>
            </a:xfrm>
            <a:prstGeom prst="rect">
              <a:avLst/>
            </a:prstGeom>
            <a:noFill/>
            <a:ln w="28575">
              <a:solidFill>
                <a:schemeClr val="accent1"/>
              </a:solidFill>
            </a:ln>
          </p:spPr>
          <p:txBody>
            <a:bodyPr wrap="square"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lgn="l">
                <a:lnSpc>
                  <a:spcPct val="100000"/>
                </a:lnSpc>
                <a:spcBef>
                  <a:spcPts val="500"/>
                </a:spcBef>
                <a:spcAft>
                  <a:spcPts val="0"/>
                </a:spcAft>
                <a:buClrTx/>
                <a:buSzTx/>
                <a:buFont typeface="Wingdings" panose="05000000000000000000" charset="0"/>
                <a:buNone/>
              </a:pPr>
              <a:endParaRPr lang="en-US" altLang="zh-CN" sz="1400" i="1">
                <a:latin typeface="Cambria Math" panose="02040503050406030204" pitchFamily="18" charset="0"/>
                <a:ea typeface="微软雅黑" panose="020B0503020204020204" pitchFamily="34" charset="-122"/>
                <a:cs typeface="Cambria Math" panose="02040503050406030204" pitchFamily="18" charset="0"/>
                <a:sym typeface="+mn-ea"/>
              </a:endParaRPr>
            </a:p>
          </p:txBody>
        </p:sp>
        <mc:AlternateContent xmlns:mc="http://schemas.openxmlformats.org/markup-compatibility/2006" xmlns:a14="http://schemas.microsoft.com/office/drawing/2010/main">
          <mc:Choice Requires="a14">
            <p:sp>
              <p:nvSpPr>
                <p:cNvPr id="1393" name="文本框 94"/>
                <p:cNvSpPr txBox="1"/>
                <p:nvPr/>
              </p:nvSpPr>
              <p:spPr>
                <a:xfrm>
                  <a:off x="7038778" y="2576134"/>
                  <a:ext cx="1619097" cy="1089696"/>
                </a:xfrm>
                <a:prstGeom prst="rect">
                  <a:avLst/>
                </a:prstGeom>
                <a:noFill/>
              </p:spPr>
              <p:txBody>
                <a:bodyPr wrap="square"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lgn="l" fontAlgn="auto">
                    <a:lnSpc>
                      <a:spcPct val="125000"/>
                    </a:lnSpc>
                    <a:spcBef>
                      <a:spcPts val="0"/>
                    </a:spcBef>
                    <a:spcAft>
                      <a:spcPts val="0"/>
                    </a:spcAft>
                    <a:buClrTx/>
                    <a:buSzTx/>
                    <a:buFont typeface="Wingdings" panose="05000000000000000000" charset="0"/>
                    <a:buNone/>
                  </a:pPr>
                  <a:r>
                    <a:rPr lang="zh-CN" altLang="en-US" sz="1600" b="1" dirty="0">
                      <a:solidFill>
                        <a:schemeClr val="tx1"/>
                      </a:solidFill>
                      <a:ea typeface="微软雅黑" panose="020B0503020204020204" pitchFamily="34" charset="-122"/>
                    </a:rPr>
                    <a:t>提取</a:t>
                  </a:r>
                  <a14:m>
                    <m:oMath xmlns:m="http://schemas.openxmlformats.org/officeDocument/2006/math">
                      <m:r>
                        <a:rPr lang="en-US" altLang="zh-CN" sz="1600" b="1" smtClean="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cs typeface="Cambria Math" panose="02040503050406030204" pitchFamily="18" charset="0"/>
                        </a:rPr>
                        <m:t>𝑌</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acc>
                        <m:accPr>
                          <m:chr m:val="̃"/>
                          <m:ctrlPr>
                            <a:rPr lang="en-US" altLang="zh-CN" sz="1600" i="1">
                              <a:solidFill>
                                <a:schemeClr val="tx1"/>
                              </a:solidFill>
                              <a:latin typeface="Cambria Math" panose="02040503050406030204" pitchFamily="18" charset="0"/>
                              <a:cs typeface="Cambria Math" panose="02040503050406030204" pitchFamily="18" charset="0"/>
                            </a:rPr>
                          </m:ctrlPr>
                        </m:accPr>
                        <m:e>
                          <m:r>
                            <a:rPr lang="en-US" altLang="zh-CN" sz="1600" i="1">
                              <a:solidFill>
                                <a:schemeClr val="tx1"/>
                              </a:solidFill>
                              <a:latin typeface="Cambria Math" panose="02040503050406030204" pitchFamily="18" charset="0"/>
                              <a:cs typeface="Cambria Math" panose="02040503050406030204" pitchFamily="18" charset="0"/>
                            </a:rPr>
                            <m:t>𝜎</m:t>
                          </m:r>
                        </m:e>
                      </m:acc>
                      <m:r>
                        <a:rPr lang="en-US" altLang="zh-CN" sz="1600" i="1">
                          <a:solidFill>
                            <a:schemeClr val="tx1"/>
                          </a:solidFill>
                          <a:latin typeface="Cambria Math" panose="02040503050406030204" pitchFamily="18" charset="0"/>
                          <a:cs typeface="Cambria Math" panose="02040503050406030204" pitchFamily="18" charset="0"/>
                        </a:rPr>
                        <m:t>,</m:t>
                      </m:r>
                      <m:r>
                        <a:rPr lang="en-US" altLang="zh-CN" sz="1600" i="1">
                          <a:solidFill>
                            <a:schemeClr val="tx1"/>
                          </a:solidFill>
                          <a:latin typeface="Cambria Math" panose="02040503050406030204" pitchFamily="18" charset="0"/>
                          <a:cs typeface="Cambria Math" panose="02040503050406030204" pitchFamily="18" charset="0"/>
                        </a:rPr>
                        <m:t>𝜎</m:t>
                      </m:r>
                      <m:r>
                        <a:rPr lang="en-US" altLang="zh-CN" sz="1600" b="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oMath>
                  </a14:m>
                  <a:endParaRPr lang="en-US" sz="1600" b="1" dirty="0">
                    <a:solidFill>
                      <a:schemeClr val="tx1"/>
                    </a:solidFill>
                    <a:ea typeface="微软雅黑" panose="020B0503020204020204" pitchFamily="34" charset="-122"/>
                  </a:endParaRPr>
                </a:p>
                <a:p>
                  <a:pPr indent="0" algn="l" fontAlgn="auto">
                    <a:lnSpc>
                      <a:spcPct val="125000"/>
                    </a:lnSpc>
                    <a:spcBef>
                      <a:spcPts val="0"/>
                    </a:spcBef>
                    <a:spcAft>
                      <a:spcPts val="0"/>
                    </a:spcAft>
                    <a:buClrTx/>
                    <a:buSzTx/>
                    <a:buFont typeface="Wingdings" panose="05000000000000000000" charset="0"/>
                    <a:buNone/>
                  </a:pPr>
                  <a14:m>
                    <m:oMathPara xmlns:m="http://schemas.openxmlformats.org/officeDocument/2006/math">
                      <m:oMathParaPr>
                        <m:jc m:val="left"/>
                      </m:oMathParaPr>
                      <m:oMath xmlns:m="http://schemas.openxmlformats.org/officeDocument/2006/math">
                        <m:r>
                          <a:rPr lang="en-US" sz="1600" i="1" smtClean="0">
                            <a:solidFill>
                              <a:schemeClr val="accent2"/>
                            </a:solidFill>
                            <a:latin typeface="Cambria Math" panose="02040503050406030204" pitchFamily="18" charset="0"/>
                            <a:cs typeface="Cambria Math" panose="02040503050406030204" pitchFamily="18" charset="0"/>
                          </a:rPr>
                          <m:t>𝑦</m:t>
                        </m:r>
                        <m:r>
                          <a:rPr lang="en-US" sz="1600" i="1" smtClean="0">
                            <a:solidFill>
                              <a:schemeClr val="accent2"/>
                            </a:solidFill>
                            <a:latin typeface="Cambria Math" panose="02040503050406030204" pitchFamily="18" charset="0"/>
                            <a:cs typeface="Cambria Math" panose="02040503050406030204" pitchFamily="18" charset="0"/>
                          </a:rPr>
                          <m:t>’=</m:t>
                        </m:r>
                        <m:r>
                          <a:rPr lang="en-US" sz="1600">
                            <a:latin typeface="Cambria Math" panose="02040503050406030204" pitchFamily="18" charset="0"/>
                            <a:cs typeface="Cambria Math" panose="02040503050406030204" pitchFamily="18" charset="0"/>
                            <a:sym typeface="+mn-ea"/>
                          </a:rPr>
                          <m:t>𝑠</m:t>
                        </m:r>
                        <m:r>
                          <a:rPr lang="en-US" sz="1600" i="1">
                            <a:solidFill>
                              <a:schemeClr val="tx1"/>
                            </a:solidFill>
                            <a:latin typeface="Cambria Math" panose="02040503050406030204" pitchFamily="18" charset="0"/>
                            <a:cs typeface="Cambria Math" panose="02040503050406030204" pitchFamily="18" charset="0"/>
                            <a:sym typeface="+mn-ea"/>
                          </a:rPr>
                          <m:t>−</m:t>
                        </m:r>
                        <m:acc>
                          <m:accPr>
                            <m:chr m:val="̃"/>
                            <m:ctrlPr>
                              <a:rPr lang="en-US" altLang="zh-CN" sz="1600" b="1" i="1">
                                <a:solidFill>
                                  <a:schemeClr val="tx1"/>
                                </a:solidFill>
                                <a:latin typeface="Cambria Math" panose="02040503050406030204" pitchFamily="18" charset="0"/>
                                <a:cs typeface="Cambria Math" panose="02040503050406030204" pitchFamily="18" charset="0"/>
                              </a:rPr>
                            </m:ctrlPr>
                          </m:accPr>
                          <m:e>
                            <m:r>
                              <a:rPr lang="en-US" sz="1600">
                                <a:latin typeface="Cambria Math" panose="02040503050406030204" pitchFamily="18" charset="0"/>
                                <a:cs typeface="Cambria Math" panose="02040503050406030204" pitchFamily="18" charset="0"/>
                                <a:sym typeface="+mn-ea"/>
                              </a:rPr>
                              <m:t>𝑠</m:t>
                            </m:r>
                          </m:e>
                        </m:acc>
                      </m:oMath>
                    </m:oMathPara>
                  </a14:m>
                  <a:endParaRPr lang="en-US" altLang="zh-CN" sz="1600" i="1" dirty="0">
                    <a:solidFill>
                      <a:schemeClr val="tx1"/>
                    </a:solidFill>
                    <a:latin typeface="Cambria Math" panose="02040503050406030204" pitchFamily="18" charset="0"/>
                    <a:cs typeface="Cambria Math" panose="02040503050406030204" pitchFamily="18" charset="0"/>
                  </a:endParaRPr>
                </a:p>
                <a:p>
                  <a:pPr indent="0" algn="l" fontAlgn="auto">
                    <a:lnSpc>
                      <a:spcPct val="125000"/>
                    </a:lnSpc>
                    <a:spcBef>
                      <a:spcPts val="0"/>
                    </a:spcBef>
                    <a:spcAft>
                      <a:spcPts val="0"/>
                    </a:spcAft>
                    <a:buClrTx/>
                    <a:buSzTx/>
                    <a:buFont typeface="Wingdings" panose="05000000000000000000" charset="0"/>
                    <a:buNone/>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如果</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d>
                        <m:dPr>
                          <m:ctrlPr>
                            <a:rPr lang="en-US" sz="1600" i="1">
                              <a:latin typeface="Cambria Math" panose="02040503050406030204" pitchFamily="18" charset="0"/>
                              <a:cs typeface="Cambria Math" panose="02040503050406030204" pitchFamily="18" charset="0"/>
                            </a:rPr>
                          </m:ctrlPr>
                        </m:dPr>
                        <m:e>
                          <m:r>
                            <a:rPr lang="en-US" sz="1600" i="1">
                              <a:latin typeface="Cambria Math" panose="02040503050406030204" pitchFamily="18" charset="0"/>
                              <a:cs typeface="Cambria Math" panose="02040503050406030204" pitchFamily="18" charset="0"/>
                            </a:rPr>
                            <m:t>𝑌</m:t>
                          </m:r>
                          <m:r>
                            <a:rPr lang="en-US" sz="1600" i="1">
                              <a:latin typeface="Cambria Math" panose="02040503050406030204" pitchFamily="18" charset="0"/>
                              <a:cs typeface="Cambria Math" panose="02040503050406030204" pitchFamily="18" charset="0"/>
                              <a:sym typeface="+mn-ea"/>
                            </a:rPr>
                            <m:t>,</m:t>
                          </m:r>
                          <m:r>
                            <a:rPr lang="en-US" sz="1600" i="1">
                              <a:latin typeface="Cambria Math" panose="02040503050406030204" pitchFamily="18" charset="0"/>
                              <a:cs typeface="Cambria Math" panose="02040503050406030204" pitchFamily="18" charset="0"/>
                            </a:rPr>
                            <m:t>𝑦</m:t>
                          </m:r>
                          <m:r>
                            <a:rPr lang="en-US" sz="1600" i="1">
                              <a:latin typeface="Cambria Math" panose="02040503050406030204" pitchFamily="18" charset="0"/>
                              <a:cs typeface="Cambria Math" panose="02040503050406030204" pitchFamily="18" charset="0"/>
                            </a:rPr>
                            <m:t>’</m:t>
                          </m:r>
                        </m:e>
                      </m:d>
                      <m:r>
                        <a:rPr lang="en-US" sz="1600">
                          <a:latin typeface="Cambria Math" panose="02040503050406030204" pitchFamily="18" charset="0"/>
                          <a:cs typeface="Cambria Math" panose="02040503050406030204" pitchFamily="18" charset="0"/>
                        </a:rPr>
                        <m:t>∈</m:t>
                      </m:r>
                      <m:sSub>
                        <m:sSubPr>
                          <m:ctrlPr>
                            <a:rPr lang="en-US" sz="1600" i="1">
                              <a:solidFill>
                                <a:schemeClr val="tx1"/>
                              </a:solidFill>
                              <a:latin typeface="Cambria Math" panose="02040503050406030204" pitchFamily="18" charset="0"/>
                              <a:cs typeface="Cambria Math" panose="02040503050406030204" pitchFamily="18" charset="0"/>
                            </a:rPr>
                          </m:ctrlPr>
                        </m:sSubPr>
                        <m:e>
                          <m:r>
                            <a:rPr lang="en-US" sz="1600" i="1">
                              <a:solidFill>
                                <a:schemeClr val="tx1"/>
                              </a:solidFill>
                              <a:latin typeface="Cambria Math" panose="02040503050406030204" pitchFamily="18" charset="0"/>
                              <a:cs typeface="Cambria Math" panose="02040503050406030204" pitchFamily="18" charset="0"/>
                            </a:rPr>
                            <m:t>𝑅</m:t>
                          </m:r>
                        </m:e>
                        <m:sub>
                          <m:r>
                            <a:rPr lang="en-US" sz="1600" i="1">
                              <a:solidFill>
                                <a:schemeClr val="tx1"/>
                              </a:solidFill>
                              <a:latin typeface="Cambria Math" panose="02040503050406030204" pitchFamily="18" charset="0"/>
                              <a:cs typeface="Cambria Math" panose="02040503050406030204" pitchFamily="18" charset="0"/>
                            </a:rPr>
                            <m:t>𝑔</m:t>
                          </m:r>
                        </m:sub>
                      </m:sSub>
                    </m:oMath>
                  </a14:m>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nSpc>
                      <a:spcPct val="125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输出 </a:t>
                  </a:r>
                  <a14:m>
                    <m:oMath xmlns:m="http://schemas.openxmlformats.org/officeDocument/2006/math">
                      <m:r>
                        <a:rPr lang="en-US" sz="1600" i="1">
                          <a:latin typeface="Cambria Math" panose="02040503050406030204" pitchFamily="18" charset="0"/>
                          <a:cs typeface="Cambria Math" panose="02040503050406030204" pitchFamily="18" charset="0"/>
                        </a:rPr>
                        <m:t>𝑦</m:t>
                      </m:r>
                      <m:r>
                        <a:rPr lang="en-US" sz="1600" i="1">
                          <a:latin typeface="Cambria Math" panose="02040503050406030204" pitchFamily="18" charset="0"/>
                          <a:cs typeface="Cambria Math" panose="02040503050406030204" pitchFamily="18" charset="0"/>
                        </a:rPr>
                        <m:t>’</m:t>
                      </m:r>
                    </m:oMath>
                  </a14:m>
                  <a:endParaRPr lang="en-US" altLang="zh-CN" sz="16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393" name="文本框 94"/>
                <p:cNvSpPr txBox="1">
                  <a:spLocks noRot="1" noChangeAspect="1" noMove="1" noResize="1" noEditPoints="1" noAdjustHandles="1" noChangeArrowheads="1" noChangeShapeType="1" noTextEdit="1"/>
                </p:cNvSpPr>
                <p:nvPr/>
              </p:nvSpPr>
              <p:spPr>
                <a:xfrm>
                  <a:off x="7038778" y="2576134"/>
                  <a:ext cx="1619097" cy="1089696"/>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4" name="文本框 95"/>
                <p:cNvSpPr txBox="1"/>
                <p:nvPr/>
              </p:nvSpPr>
              <p:spPr>
                <a:xfrm>
                  <a:off x="489098" y="2571681"/>
                  <a:ext cx="1417835" cy="1209994"/>
                </a:xfrm>
                <a:prstGeom prst="rect">
                  <a:avLst/>
                </a:prstGeom>
                <a:noFill/>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lgn="l">
                    <a:lnSpc>
                      <a:spcPct val="125000"/>
                    </a:lnSpc>
                    <a:spcBef>
                      <a:spcPct val="0"/>
                    </a:spcBef>
                    <a:spcAft>
                      <a:spcPts val="0"/>
                    </a:spcAft>
                    <a:buClrTx/>
                    <a:buSzTx/>
                    <a:buFont typeface="Wingdings" panose="05000000000000000000" charset="0"/>
                    <a:buNone/>
                  </a:pPr>
                  <a:r>
                    <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密钥生成</a:t>
                  </a:r>
                  <a14:m>
                    <m:oMath xmlns:m="http://schemas.openxmlformats.org/officeDocument/2006/math">
                      <m:r>
                        <a:rPr lang="en-US" altLang="zh-CN" sz="1600" b="1" smtClean="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sSup>
                        <m:sSupPr>
                          <m:ctrlP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ctrlPr>
                        </m:sSupPr>
                        <m:e>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1</m:t>
                          </m:r>
                        </m:e>
                        <m:sup>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𝜆</m:t>
                          </m:r>
                        </m:sup>
                      </m:sSup>
                      <m:r>
                        <a:rPr lang="en-US" altLang="zh-CN" sz="1600" b="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oMath>
                  </a14:m>
                  <a:endPar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5000"/>
                    </a:lnSpc>
                    <a:spcBef>
                      <a:spcPct val="0"/>
                    </a:spcBef>
                    <a:spcAft>
                      <a:spcPts val="0"/>
                    </a:spcAft>
                    <a:buClrTx/>
                    <a:buSzTx/>
                    <a:buFont typeface="Wingdings" panose="05000000000000000000" charset="0"/>
                    <a:buNone/>
                  </a:pPr>
                  <a14:m>
                    <m:oMathPara xmlns:m="http://schemas.openxmlformats.org/officeDocument/2006/math">
                      <m:oMathParaPr>
                        <m:jc m:val="left"/>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𝑠𝑘</m:t>
                        </m:r>
                        <m:r>
                          <a:rPr lang="en-US" sz="1600" i="1">
                            <a:latin typeface="Cambria Math" panose="02040503050406030204" pitchFamily="18" charset="0"/>
                            <a:cs typeface="Cambria Math" panose="02040503050406030204" pitchFamily="18" charset="0"/>
                          </a:rPr>
                          <m:t>=</m:t>
                        </m:r>
                        <m:r>
                          <a:rPr lang="en-US" sz="1600" i="1">
                            <a:latin typeface="Cambria Math" panose="02040503050406030204" pitchFamily="18" charset="0"/>
                            <a:cs typeface="Cambria Math" panose="02040503050406030204" pitchFamily="18" charset="0"/>
                            <a:sym typeface="+mn-ea"/>
                          </a:rPr>
                          <m:t>𝑥</m:t>
                        </m:r>
                      </m:oMath>
                    </m:oMathPara>
                  </a14:m>
                  <a:endParaRPr lang="en-US" sz="1600" i="1" dirty="0">
                    <a:latin typeface="Cambria Math" panose="02040503050406030204" pitchFamily="18" charset="0"/>
                    <a:cs typeface="Cambria Math" panose="02040503050406030204" pitchFamily="18" charset="0"/>
                  </a:endParaRPr>
                </a:p>
                <a:p>
                  <a:pPr algn="l">
                    <a:lnSpc>
                      <a:spcPct val="125000"/>
                    </a:lnSpc>
                    <a:spcBef>
                      <a:spcPct val="0"/>
                    </a:spcBef>
                    <a:spcAft>
                      <a:spcPts val="0"/>
                    </a:spcAft>
                    <a:buClrTx/>
                    <a:buSzTx/>
                    <a:buFont typeface="Wingdings" panose="05000000000000000000" charset="0"/>
                    <a:buNone/>
                  </a:pPr>
                  <a14:m>
                    <m:oMathPara xmlns:m="http://schemas.openxmlformats.org/officeDocument/2006/math">
                      <m:oMathParaPr>
                        <m:jc m:val="left"/>
                      </m:oMathParaPr>
                      <m:oMath xmlns:m="http://schemas.openxmlformats.org/officeDocument/2006/math">
                        <m:r>
                          <a:rPr lang="en-US" altLang="zh-CN" sz="1600" i="1">
                            <a:solidFill>
                              <a:schemeClr val="tx1"/>
                            </a:solidFill>
                            <a:latin typeface="Cambria Math" panose="02040503050406030204" pitchFamily="18" charset="0"/>
                            <a:cs typeface="Cambria Math" panose="02040503050406030204" pitchFamily="18" charset="0"/>
                          </a:rPr>
                          <m:t>𝑝𝑘</m:t>
                        </m:r>
                        <m:r>
                          <a:rPr lang="en-US" sz="1600" i="1">
                            <a:solidFill>
                              <a:schemeClr val="tx1"/>
                            </a:solidFill>
                            <a:latin typeface="Cambria Math" panose="02040503050406030204" pitchFamily="18" charset="0"/>
                            <a:cs typeface="Cambria Math" panose="02040503050406030204" pitchFamily="18" charset="0"/>
                          </a:rPr>
                          <m:t>=</m:t>
                        </m:r>
                        <m:r>
                          <a:rPr lang="en-US" sz="1600" i="1">
                            <a:solidFill>
                              <a:schemeClr val="tx1"/>
                            </a:solidFill>
                            <a:latin typeface="Cambria Math" panose="02040503050406030204" pitchFamily="18" charset="0"/>
                            <a:cs typeface="Cambria Math" panose="02040503050406030204" pitchFamily="18" charset="0"/>
                          </a:rPr>
                          <m:t>𝑋</m:t>
                        </m:r>
                        <m:r>
                          <a:rPr lang="en-US" sz="1600" i="1">
                            <a:solidFill>
                              <a:schemeClr val="tx1"/>
                            </a:solidFill>
                            <a:latin typeface="Cambria Math" panose="02040503050406030204" pitchFamily="18" charset="0"/>
                            <a:cs typeface="Cambria Math" panose="02040503050406030204" pitchFamily="18" charset="0"/>
                          </a:rPr>
                          <m:t>=</m:t>
                        </m:r>
                        <m:sSup>
                          <m:sSupPr>
                            <m:ctrlPr>
                              <a:rPr lang="en-US" sz="1600" i="1">
                                <a:solidFill>
                                  <a:schemeClr val="tx1"/>
                                </a:solidFill>
                                <a:latin typeface="Cambria Math" panose="02040503050406030204" pitchFamily="18" charset="0"/>
                                <a:cs typeface="Cambria Math" panose="02040503050406030204" pitchFamily="18" charset="0"/>
                              </a:rPr>
                            </m:ctrlPr>
                          </m:sSupPr>
                          <m:e>
                            <m:r>
                              <a:rPr lang="en-US" sz="1600" i="1">
                                <a:solidFill>
                                  <a:schemeClr val="tx1"/>
                                </a:solidFill>
                                <a:latin typeface="Cambria Math" panose="02040503050406030204" pitchFamily="18" charset="0"/>
                                <a:cs typeface="Cambria Math" panose="02040503050406030204" pitchFamily="18" charset="0"/>
                              </a:rPr>
                              <m:t>𝑔</m:t>
                            </m:r>
                          </m:e>
                          <m:sup>
                            <m:r>
                              <a:rPr lang="en-US" sz="1600" i="1">
                                <a:solidFill>
                                  <a:schemeClr val="tx1"/>
                                </a:solidFill>
                                <a:latin typeface="Cambria Math" panose="02040503050406030204" pitchFamily="18" charset="0"/>
                                <a:cs typeface="Cambria Math" panose="02040503050406030204" pitchFamily="18" charset="0"/>
                                <a:sym typeface="+mn-ea"/>
                              </a:rPr>
                              <m:t>𝑥</m:t>
                            </m:r>
                          </m:sup>
                        </m:sSup>
                      </m:oMath>
                    </m:oMathPara>
                  </a14:m>
                  <a:endParaRPr lang="en-US" sz="1600" i="1" dirty="0">
                    <a:solidFill>
                      <a:schemeClr val="tx1"/>
                    </a:solidFill>
                    <a:latin typeface="Cambria Math" panose="02040503050406030204" pitchFamily="18" charset="0"/>
                    <a:cs typeface="Cambria Math" panose="02040503050406030204" pitchFamily="18" charset="0"/>
                    <a:sym typeface="+mn-ea"/>
                  </a:endParaRPr>
                </a:p>
                <a:p>
                  <a:pPr algn="l">
                    <a:lnSpc>
                      <a:spcPct val="125000"/>
                    </a:lnSpc>
                    <a:spcBef>
                      <a:spcPct val="0"/>
                    </a:spcBef>
                    <a:spcAft>
                      <a:spcPts val="0"/>
                    </a:spcAft>
                    <a:buClrTx/>
                    <a:buSzTx/>
                    <a:buFont typeface="Wingdings" panose="05000000000000000000" charset="0"/>
                    <a:buNone/>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输出</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d>
                        <m:dPr>
                          <m:ctrlPr>
                            <a:rPr lang="en-US" sz="1600" i="1">
                              <a:latin typeface="Cambria Math" panose="02040503050406030204" pitchFamily="18" charset="0"/>
                              <a:cs typeface="Cambria Math" panose="02040503050406030204" pitchFamily="18" charset="0"/>
                            </a:rPr>
                          </m:ctrlPr>
                        </m:dPr>
                        <m:e>
                          <m:r>
                            <a:rPr lang="en-US" altLang="zh-CN" sz="1600" i="1">
                              <a:solidFill>
                                <a:schemeClr val="tx1"/>
                              </a:solidFill>
                              <a:latin typeface="Cambria Math" panose="02040503050406030204" pitchFamily="18" charset="0"/>
                              <a:cs typeface="Cambria Math" panose="02040503050406030204" pitchFamily="18" charset="0"/>
                            </a:rPr>
                            <m:t>𝑝𝑘</m:t>
                          </m:r>
                          <m:r>
                            <a:rPr lang="en-US" sz="1600">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rPr>
                            <m:t>𝑠𝑘</m:t>
                          </m:r>
                        </m:e>
                      </m:d>
                    </m:oMath>
                  </a14:m>
                  <a:endParaRPr lang="zh-CN" altLang="en-US" sz="16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mc:Choice>
          <mc:Fallback xmlns="">
            <p:sp>
              <p:nvSpPr>
                <p:cNvPr id="1394" name="文本框 95"/>
                <p:cNvSpPr txBox="1">
                  <a:spLocks noRot="1" noChangeAspect="1" noMove="1" noResize="1" noEditPoints="1" noAdjustHandles="1" noChangeArrowheads="1" noChangeShapeType="1" noTextEdit="1"/>
                </p:cNvSpPr>
                <p:nvPr/>
              </p:nvSpPr>
              <p:spPr>
                <a:xfrm>
                  <a:off x="489098" y="2571681"/>
                  <a:ext cx="1417835" cy="1209994"/>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5" name="文本框 96"/>
                <p:cNvSpPr txBox="1"/>
                <p:nvPr/>
              </p:nvSpPr>
              <p:spPr>
                <a:xfrm>
                  <a:off x="1819373" y="2576134"/>
                  <a:ext cx="1971794" cy="1748403"/>
                </a:xfrm>
                <a:prstGeom prst="rect">
                  <a:avLst/>
                </a:prstGeom>
                <a:noFill/>
              </p:spPr>
              <p:txBody>
                <a:bodyPr wrap="square"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lvl="1" indent="0" algn="l">
                    <a:lnSpc>
                      <a:spcPct val="125000"/>
                    </a:lnSpc>
                    <a:spcBef>
                      <a:spcPts val="0"/>
                    </a:spcBef>
                    <a:spcAft>
                      <a:spcPts val="0"/>
                    </a:spcAft>
                    <a:buClrTx/>
                    <a:buSzTx/>
                    <a:buFont typeface="+mj-lt"/>
                    <a:buNone/>
                  </a:pPr>
                  <a:r>
                    <a:rPr lang="zh-CN" altLang="en-US" sz="1600" b="1" dirty="0">
                      <a:solidFill>
                        <a:schemeClr val="tx1"/>
                      </a:solidFill>
                      <a:latin typeface="微软雅黑" panose="020B0503020204020204" pitchFamily="34" charset="-122"/>
                      <a:ea typeface="微软雅黑" panose="020B0503020204020204" pitchFamily="34" charset="-122"/>
                      <a:sym typeface="+mn-ea"/>
                    </a:rPr>
                    <a:t>预签名</a:t>
                  </a:r>
                  <a14:m>
                    <m:oMath xmlns:m="http://schemas.openxmlformats.org/officeDocument/2006/math">
                      <m:r>
                        <a:rPr lang="en-US" altLang="zh-CN" sz="1600" b="1" smtClean="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cs typeface="Cambria Math" panose="02040503050406030204" pitchFamily="18" charset="0"/>
                        </a:rPr>
                        <m:t>𝑠𝑘</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cs typeface="Cambria Math" panose="02040503050406030204" pitchFamily="18" charset="0"/>
                        </a:rPr>
                        <m:t>𝑝𝑘</m:t>
                      </m:r>
                      <m:r>
                        <a:rPr lang="en-US" altLang="zh-CN" sz="1600" i="1">
                          <a:solidFill>
                            <a:schemeClr val="tx1"/>
                          </a:solidFill>
                          <a:latin typeface="Cambria Math" panose="02040503050406030204" pitchFamily="18" charset="0"/>
                          <a:cs typeface="Cambria Math" panose="02040503050406030204" pitchFamily="18" charset="0"/>
                        </a:rPr>
                        <m:t>,</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𝑚</m:t>
                      </m:r>
                      <m:r>
                        <a:rPr lang="en-US" altLang="zh-CN" sz="1600" i="1">
                          <a:solidFill>
                            <a:schemeClr val="tx1"/>
                          </a:solidFill>
                          <a:latin typeface="Cambria Math" panose="02040503050406030204" pitchFamily="18" charset="0"/>
                          <a:cs typeface="Cambria Math" panose="02040503050406030204" pitchFamily="18" charset="0"/>
                        </a:rPr>
                        <m:t>,</m:t>
                      </m:r>
                      <m:r>
                        <a:rPr lang="en-US" altLang="zh-CN" sz="1600" i="1">
                          <a:solidFill>
                            <a:schemeClr val="tx1"/>
                          </a:solidFill>
                          <a:latin typeface="Cambria Math" panose="02040503050406030204" pitchFamily="18" charset="0"/>
                          <a:cs typeface="Cambria Math" panose="02040503050406030204" pitchFamily="18" charset="0"/>
                        </a:rPr>
                        <m:t>𝑌</m:t>
                      </m:r>
                      <m:r>
                        <a:rPr lang="en-US" altLang="zh-CN" sz="1600" b="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oMath>
                  </a14:m>
                  <a:endParaRPr lang="en-US" sz="1600" b="1" dirty="0">
                    <a:solidFill>
                      <a:schemeClr val="tx1"/>
                    </a:solidFill>
                    <a:latin typeface="微软雅黑" panose="020B0503020204020204" pitchFamily="34" charset="-122"/>
                    <a:ea typeface="微软雅黑" panose="020B0503020204020204" pitchFamily="34" charset="-122"/>
                    <a:sym typeface="+mn-ea"/>
                  </a:endParaRPr>
                </a:p>
                <a:p>
                  <a:pPr marL="0" lvl="1" indent="0" algn="l">
                    <a:lnSpc>
                      <a:spcPct val="125000"/>
                    </a:lnSpc>
                    <a:spcBef>
                      <a:spcPts val="0"/>
                    </a:spcBef>
                    <a:spcAft>
                      <a:spcPts val="0"/>
                    </a:spcAft>
                    <a:buClrTx/>
                    <a:buSzTx/>
                    <a:buFont typeface="+mj-lt"/>
                    <a:buNone/>
                  </a:pPr>
                  <a14:m>
                    <m:oMathPara xmlns:m="http://schemas.openxmlformats.org/officeDocument/2006/math">
                      <m:oMathParaPr>
                        <m:jc m:val="left"/>
                      </m:oMathParaPr>
                      <m:oMath xmlns:m="http://schemas.openxmlformats.org/officeDocument/2006/math">
                        <m:r>
                          <a:rPr lang="en-US" sz="1600">
                            <a:solidFill>
                              <a:schemeClr val="tx1"/>
                            </a:solidFill>
                            <a:latin typeface="Cambria Math" panose="02040503050406030204" pitchFamily="18" charset="0"/>
                            <a:cs typeface="Cambria Math" panose="02040503050406030204" pitchFamily="18" charset="0"/>
                            <a:sym typeface="+mn-ea"/>
                          </a:rPr>
                          <m:t>𝑟</m:t>
                        </m:r>
                        <m:sSub>
                          <m:sSubPr>
                            <m:ctrlPr>
                              <a:rPr lang="en-US" sz="1600" i="1">
                                <a:solidFill>
                                  <a:schemeClr val="tx1"/>
                                </a:solidFill>
                                <a:latin typeface="Cambria Math" panose="02040503050406030204" pitchFamily="18" charset="0"/>
                                <a:cs typeface="Cambria Math" panose="02040503050406030204" pitchFamily="18" charset="0"/>
                                <a:sym typeface="+mn-ea"/>
                              </a:rPr>
                            </m:ctrlPr>
                          </m:sSubPr>
                          <m:e>
                            <m:r>
                              <a:rPr lang="en-US" sz="1600" i="1">
                                <a:solidFill>
                                  <a:schemeClr val="tx1"/>
                                </a:solidFill>
                                <a:latin typeface="Cambria Math" panose="02040503050406030204" pitchFamily="18" charset="0"/>
                                <a:cs typeface="Cambria Math" panose="02040503050406030204" pitchFamily="18" charset="0"/>
                                <a:sym typeface="+mn-ea"/>
                              </a:rPr>
                              <m:t>←</m:t>
                            </m:r>
                          </m:e>
                          <m:sub>
                            <m:r>
                              <a:rPr lang="en-US" sz="1600" i="1">
                                <a:solidFill>
                                  <a:schemeClr val="tx1"/>
                                </a:solidFill>
                                <a:latin typeface="Cambria Math" panose="02040503050406030204" pitchFamily="18" charset="0"/>
                                <a:cs typeface="Cambria Math" panose="02040503050406030204" pitchFamily="18" charset="0"/>
                                <a:sym typeface="+mn-ea"/>
                              </a:rPr>
                              <m:t>$</m:t>
                            </m:r>
                          </m:sub>
                        </m:sSub>
                        <m:sSub>
                          <m:sSubPr>
                            <m:ctrlPr>
                              <a:rPr lang="en-US" sz="1600" i="1">
                                <a:solidFill>
                                  <a:schemeClr val="tx1"/>
                                </a:solidFill>
                                <a:latin typeface="Cambria Math" panose="02040503050406030204" pitchFamily="18" charset="0"/>
                                <a:cs typeface="Cambria Math" panose="02040503050406030204" pitchFamily="18" charset="0"/>
                                <a:sym typeface="+mn-ea"/>
                              </a:rPr>
                            </m:ctrlPr>
                          </m:sSubPr>
                          <m:e>
                            <m:r>
                              <a:rPr lang="en-US" sz="1600" i="1">
                                <a:solidFill>
                                  <a:schemeClr val="tx1"/>
                                </a:solidFill>
                                <a:latin typeface="Cambria Math" panose="02040503050406030204" pitchFamily="18" charset="0"/>
                                <a:cs typeface="Cambria Math" panose="02040503050406030204" pitchFamily="18" charset="0"/>
                                <a:sym typeface="+mn-ea"/>
                              </a:rPr>
                              <m:t>ℤ</m:t>
                            </m:r>
                          </m:e>
                          <m:sub>
                            <m:r>
                              <a:rPr lang="en-US" altLang="zh-CN" sz="1600" i="1">
                                <a:solidFill>
                                  <a:schemeClr val="tx1"/>
                                </a:solidFill>
                                <a:latin typeface="Cambria Math" panose="02040503050406030204" pitchFamily="18" charset="0"/>
                                <a:ea typeface="MS Mincho" charset="0"/>
                                <a:cs typeface="Cambria Math" panose="02040503050406030204" pitchFamily="18" charset="0"/>
                              </a:rPr>
                              <m:t>𝑞</m:t>
                            </m:r>
                          </m:sub>
                        </m:sSub>
                        <m:r>
                          <a:rPr lang="en-US" altLang="zh-CN" sz="1600" i="1">
                            <a:latin typeface="Cambria Math" panose="02040503050406030204" pitchFamily="18" charset="0"/>
                            <a:ea typeface="微软雅黑" panose="020B0503020204020204" pitchFamily="34" charset="-122"/>
                            <a:cs typeface="Cambria Math" panose="02040503050406030204" pitchFamily="18" charset="0"/>
                          </a:rPr>
                          <m:t> </m:t>
                        </m:r>
                      </m:oMath>
                    </m:oMathPara>
                  </a14:m>
                  <a:endParaRPr lang="en-US" altLang="zh-CN" sz="1600" i="1" dirty="0">
                    <a:latin typeface="Cambria Math" panose="02040503050406030204" pitchFamily="18" charset="0"/>
                    <a:ea typeface="微软雅黑" panose="020B0503020204020204" pitchFamily="34" charset="-122"/>
                    <a:cs typeface="Cambria Math" panose="02040503050406030204" pitchFamily="18" charset="0"/>
                  </a:endParaRPr>
                </a:p>
                <a:p>
                  <a:pPr marL="0" lvl="1" indent="0" algn="l">
                    <a:lnSpc>
                      <a:spcPct val="125000"/>
                    </a:lnSpc>
                    <a:spcBef>
                      <a:spcPts val="0"/>
                    </a:spcBef>
                    <a:spcAft>
                      <a:spcPts val="0"/>
                    </a:spcAft>
                    <a:buClrTx/>
                    <a:buSzTx/>
                    <a:buFont typeface="+mj-lt"/>
                    <a:buNone/>
                  </a:pPr>
                  <a14:m>
                    <m:oMathPara xmlns:m="http://schemas.openxmlformats.org/officeDocument/2006/math">
                      <m:oMathParaPr>
                        <m:jc m:val="left"/>
                      </m:oMathParaPr>
                      <m:oMath xmlns:m="http://schemas.openxmlformats.org/officeDocument/2006/math">
                        <m:r>
                          <a:rPr lang="en-US" sz="1600">
                            <a:latin typeface="Cambria Math" panose="02040503050406030204" pitchFamily="18" charset="0"/>
                            <a:cs typeface="Cambria Math" panose="02040503050406030204" pitchFamily="18" charset="0"/>
                            <a:sym typeface="+mn-ea"/>
                          </a:rPr>
                          <m:t>𝑅</m:t>
                        </m:r>
                        <m:r>
                          <a:rPr lang="en-US" sz="1600">
                            <a:latin typeface="Cambria Math" panose="02040503050406030204" pitchFamily="18" charset="0"/>
                            <a:cs typeface="Cambria Math" panose="02040503050406030204" pitchFamily="18" charset="0"/>
                          </a:rPr>
                          <m:t>=</m:t>
                        </m:r>
                        <m:sSup>
                          <m:sSupPr>
                            <m:ctrlPr>
                              <a:rPr lang="en-US" sz="1600" i="1">
                                <a:latin typeface="Cambria Math" panose="02040503050406030204" pitchFamily="18" charset="0"/>
                                <a:cs typeface="Cambria Math" panose="02040503050406030204" pitchFamily="18" charset="0"/>
                              </a:rPr>
                            </m:ctrlPr>
                          </m:sSupPr>
                          <m:e>
                            <m:r>
                              <a:rPr lang="en-US" sz="1600">
                                <a:latin typeface="Cambria Math" panose="02040503050406030204" pitchFamily="18" charset="0"/>
                                <a:cs typeface="Cambria Math" panose="02040503050406030204" pitchFamily="18" charset="0"/>
                              </a:rPr>
                              <m:t>𝑔</m:t>
                            </m:r>
                          </m:e>
                          <m:sup>
                            <m:r>
                              <a:rPr lang="en-US" sz="1600">
                                <a:latin typeface="Cambria Math" panose="02040503050406030204" pitchFamily="18" charset="0"/>
                                <a:cs typeface="Cambria Math" panose="02040503050406030204" pitchFamily="18" charset="0"/>
                                <a:sym typeface="+mn-ea"/>
                              </a:rPr>
                              <m:t>𝑟</m:t>
                            </m:r>
                          </m:sup>
                        </m:sSup>
                      </m:oMath>
                    </m:oMathPara>
                  </a14:m>
                  <a:endParaRPr lang="en-US" sz="1600" dirty="0">
                    <a:latin typeface="Cambria Math" panose="02040503050406030204" pitchFamily="18" charset="0"/>
                    <a:cs typeface="Cambria Math" panose="02040503050406030204" pitchFamily="18" charset="0"/>
                    <a:sym typeface="+mn-ea"/>
                  </a:endParaRPr>
                </a:p>
                <a:p>
                  <a:pPr marL="0" lvl="1" indent="0">
                    <a:lnSpc>
                      <a:spcPct val="125000"/>
                    </a:lnSpc>
                    <a:spcBef>
                      <a:spcPts val="0"/>
                    </a:spcBef>
                    <a:spcAft>
                      <a:spcPts val="0"/>
                    </a:spcAft>
                    <a:buFont typeface="+mj-lt"/>
                    <a:buNone/>
                  </a:pPr>
                  <a14:m>
                    <m:oMathPara xmlns:m="http://schemas.openxmlformats.org/officeDocument/2006/math">
                      <m:oMathParaPr>
                        <m:jc m:val="left"/>
                      </m:oMathParaPr>
                      <m:oMath xmlns:m="http://schemas.openxmlformats.org/officeDocument/2006/math">
                        <m:r>
                          <a:rPr lang="en-US" sz="1600" i="1">
                            <a:latin typeface="Cambria Math" panose="02040503050406030204" pitchFamily="18" charset="0"/>
                            <a:cs typeface="Cambria Math" panose="02040503050406030204" pitchFamily="18" charset="0"/>
                          </a:rPr>
                          <m:t>𝑐</m:t>
                        </m:r>
                        <m:r>
                          <a:rPr lang="en-US" sz="1600" i="1">
                            <a:latin typeface="Cambria Math" panose="02040503050406030204" pitchFamily="18" charset="0"/>
                            <a:cs typeface="Cambria Math" panose="02040503050406030204" pitchFamily="18" charset="0"/>
                          </a:rPr>
                          <m:t>=</m:t>
                        </m:r>
                        <m:r>
                          <a:rPr lang="en-US" sz="1600" i="1">
                            <a:latin typeface="Cambria Math" panose="02040503050406030204" pitchFamily="18" charset="0"/>
                            <a:cs typeface="Cambria Math" panose="02040503050406030204" pitchFamily="18" charset="0"/>
                          </a:rPr>
                          <m:t>𝐻</m:t>
                        </m:r>
                        <m:d>
                          <m:dPr>
                            <m:ctrlPr>
                              <a:rPr lang="en-US" sz="1600" i="1">
                                <a:latin typeface="Cambria Math" panose="02040503050406030204" pitchFamily="18" charset="0"/>
                                <a:cs typeface="Cambria Math" panose="02040503050406030204" pitchFamily="18" charset="0"/>
                              </a:rPr>
                            </m:ctrlPr>
                          </m:dPr>
                          <m:e>
                            <m:r>
                              <a:rPr lang="en-US" sz="1600" i="1">
                                <a:solidFill>
                                  <a:schemeClr val="tx1"/>
                                </a:solidFill>
                                <a:latin typeface="Cambria Math" panose="02040503050406030204" pitchFamily="18" charset="0"/>
                                <a:cs typeface="Cambria Math" panose="02040503050406030204" pitchFamily="18" charset="0"/>
                              </a:rPr>
                              <m:t>𝑋</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𝑅𝑌</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t>𝑚</m:t>
                            </m:r>
                          </m:e>
                        </m:d>
                      </m:oMath>
                    </m:oMathPara>
                  </a14:m>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lgn="l">
                    <a:lnSpc>
                      <a:spcPct val="125000"/>
                    </a:lnSpc>
                    <a:spcBef>
                      <a:spcPts val="0"/>
                    </a:spcBef>
                    <a:spcAft>
                      <a:spcPts val="0"/>
                    </a:spcAft>
                    <a:buClrTx/>
                    <a:buSzTx/>
                    <a:buFont typeface="+mj-lt"/>
                    <a:buNone/>
                  </a:pPr>
                  <a14:m>
                    <m:oMathPara xmlns:m="http://schemas.openxmlformats.org/officeDocument/2006/math">
                      <m:oMathParaPr>
                        <m:jc m:val="left"/>
                      </m:oMathParaPr>
                      <m:oMath xmlns:m="http://schemas.openxmlformats.org/officeDocument/2006/math">
                        <m:acc>
                          <m:accPr>
                            <m:chr m:val="̃"/>
                            <m:ctrlPr>
                              <a:rPr lang="en-US" altLang="zh-CN" sz="1600" b="1" i="1">
                                <a:solidFill>
                                  <a:schemeClr val="tx1"/>
                                </a:solidFill>
                                <a:latin typeface="Cambria Math" panose="02040503050406030204" pitchFamily="18" charset="0"/>
                                <a:cs typeface="Cambria Math" panose="02040503050406030204" pitchFamily="18" charset="0"/>
                              </a:rPr>
                            </m:ctrlPr>
                          </m:accPr>
                          <m:e>
                            <m:r>
                              <a:rPr lang="en-US" sz="1600">
                                <a:latin typeface="Cambria Math" panose="02040503050406030204" pitchFamily="18" charset="0"/>
                                <a:cs typeface="Cambria Math" panose="02040503050406030204" pitchFamily="18" charset="0"/>
                                <a:sym typeface="+mn-ea"/>
                              </a:rPr>
                              <m:t>𝑠</m:t>
                            </m:r>
                          </m:e>
                        </m:acc>
                        <m:r>
                          <a:rPr lang="en-US" sz="1600">
                            <a:latin typeface="Cambria Math" panose="02040503050406030204" pitchFamily="18" charset="0"/>
                            <a:cs typeface="Cambria Math" panose="02040503050406030204" pitchFamily="18" charset="0"/>
                          </a:rPr>
                          <m:t>=</m:t>
                        </m:r>
                        <m:r>
                          <a:rPr lang="en-US" sz="1600">
                            <a:latin typeface="Cambria Math" panose="02040503050406030204" pitchFamily="18" charset="0"/>
                            <a:cs typeface="Cambria Math" panose="02040503050406030204" pitchFamily="18" charset="0"/>
                          </a:rPr>
                          <m:t>𝑐𝑥</m:t>
                        </m:r>
                        <m:r>
                          <a:rPr lang="en-US" sz="1600">
                            <a:latin typeface="Cambria Math" panose="02040503050406030204" pitchFamily="18" charset="0"/>
                            <a:cs typeface="Cambria Math" panose="02040503050406030204" pitchFamily="18" charset="0"/>
                            <a:sym typeface="+mn-ea"/>
                          </a:rPr>
                          <m:t>+</m:t>
                        </m:r>
                        <m:r>
                          <a:rPr lang="en-US" sz="1600">
                            <a:latin typeface="Cambria Math" panose="02040503050406030204" pitchFamily="18" charset="0"/>
                            <a:cs typeface="Cambria Math" panose="02040503050406030204" pitchFamily="18" charset="0"/>
                            <a:sym typeface="+mn-ea"/>
                          </a:rPr>
                          <m:t>𝑟</m:t>
                        </m:r>
                      </m:oMath>
                    </m:oMathPara>
                  </a14:m>
                  <a:endParaRPr lang="en-US" altLang="zh-CN" sz="1600" i="1" dirty="0">
                    <a:latin typeface="Cambria Math" panose="02040503050406030204" pitchFamily="18" charset="0"/>
                    <a:ea typeface="微软雅黑" panose="020B0503020204020204" pitchFamily="34" charset="-122"/>
                    <a:cs typeface="Cambria Math" panose="02040503050406030204" pitchFamily="18" charset="0"/>
                  </a:endParaRPr>
                </a:p>
                <a:p>
                  <a:pPr marL="0" lvl="1">
                    <a:lnSpc>
                      <a:spcPct val="125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输出</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acc>
                        <m:accPr>
                          <m:chr m:val="̃"/>
                          <m:ctrlPr>
                            <a:rPr lang="en-US" altLang="zh-CN" sz="1600" i="1">
                              <a:solidFill>
                                <a:schemeClr val="tx1"/>
                              </a:solidFill>
                              <a:latin typeface="Cambria Math" panose="02040503050406030204" pitchFamily="18" charset="0"/>
                              <a:cs typeface="Cambria Math" panose="02040503050406030204" pitchFamily="18" charset="0"/>
                            </a:rPr>
                          </m:ctrlPr>
                        </m:accPr>
                        <m:e>
                          <m:r>
                            <a:rPr lang="en-US" altLang="zh-CN" sz="1600" i="1">
                              <a:solidFill>
                                <a:schemeClr val="tx1"/>
                              </a:solidFill>
                              <a:latin typeface="Cambria Math" panose="02040503050406030204" pitchFamily="18" charset="0"/>
                              <a:cs typeface="Cambria Math" panose="02040503050406030204" pitchFamily="18" charset="0"/>
                            </a:rPr>
                            <m:t>𝜎</m:t>
                          </m:r>
                        </m:e>
                      </m:acc>
                      <m:r>
                        <a:rPr lang="en-US" sz="1600" i="1">
                          <a:latin typeface="Cambria Math" panose="02040503050406030204" pitchFamily="18" charset="0"/>
                          <a:cs typeface="Cambria Math" panose="02040503050406030204" pitchFamily="18" charset="0"/>
                        </a:rPr>
                        <m:t>=</m:t>
                      </m:r>
                      <m:d>
                        <m:dPr>
                          <m:ctrlPr>
                            <a:rPr lang="en-US" sz="1600" i="1">
                              <a:latin typeface="Cambria Math" panose="02040503050406030204" pitchFamily="18" charset="0"/>
                              <a:cs typeface="Cambria Math" panose="02040503050406030204" pitchFamily="18" charset="0"/>
                            </a:rPr>
                          </m:ctrlPr>
                        </m:dPr>
                        <m:e>
                          <m:r>
                            <a:rPr lang="en-US" sz="1600" i="1">
                              <a:latin typeface="Cambria Math" panose="02040503050406030204" pitchFamily="18" charset="0"/>
                              <a:cs typeface="Cambria Math" panose="02040503050406030204" pitchFamily="18" charset="0"/>
                            </a:rPr>
                            <m:t>𝑐</m:t>
                          </m:r>
                          <m:r>
                            <a:rPr lang="en-US" sz="1600">
                              <a:latin typeface="Cambria Math" panose="02040503050406030204" pitchFamily="18" charset="0"/>
                              <a:cs typeface="Cambria Math" panose="02040503050406030204" pitchFamily="18" charset="0"/>
                              <a:sym typeface="+mn-ea"/>
                            </a:rPr>
                            <m:t>,</m:t>
                          </m:r>
                          <m:acc>
                            <m:accPr>
                              <m:chr m:val="̃"/>
                              <m:ctrlPr>
                                <a:rPr lang="en-US" altLang="zh-CN" sz="1600" b="1" i="1">
                                  <a:solidFill>
                                    <a:schemeClr val="tx1"/>
                                  </a:solidFill>
                                  <a:latin typeface="Cambria Math" panose="02040503050406030204" pitchFamily="18" charset="0"/>
                                  <a:cs typeface="Cambria Math" panose="02040503050406030204" pitchFamily="18" charset="0"/>
                                </a:rPr>
                              </m:ctrlPr>
                            </m:accPr>
                            <m:e>
                              <m:r>
                                <a:rPr lang="en-US" sz="1600">
                                  <a:latin typeface="Cambria Math" panose="02040503050406030204" pitchFamily="18" charset="0"/>
                                  <a:cs typeface="Cambria Math" panose="02040503050406030204" pitchFamily="18" charset="0"/>
                                  <a:sym typeface="+mn-ea"/>
                                </a:rPr>
                                <m:t>𝑠</m:t>
                              </m:r>
                            </m:e>
                          </m:acc>
                        </m:e>
                      </m:d>
                    </m:oMath>
                  </a14:m>
                  <a:endParaRPr lang="en-US" sz="1600" dirty="0">
                    <a:solidFill>
                      <a:schemeClr val="tx1"/>
                    </a:solidFill>
                    <a:latin typeface="Cambria Math" panose="02040503050406030204" pitchFamily="18" charset="0"/>
                    <a:cs typeface="Cambria Math" panose="02040503050406030204" pitchFamily="18" charset="0"/>
                    <a:sym typeface="+mn-ea"/>
                  </a:endParaRPr>
                </a:p>
              </p:txBody>
            </p:sp>
          </mc:Choice>
          <mc:Fallback xmlns="">
            <p:sp>
              <p:nvSpPr>
                <p:cNvPr id="1395" name="文本框 96"/>
                <p:cNvSpPr txBox="1">
                  <a:spLocks noRot="1" noChangeAspect="1" noMove="1" noResize="1" noEditPoints="1" noAdjustHandles="1" noChangeArrowheads="1" noChangeShapeType="1" noTextEdit="1"/>
                </p:cNvSpPr>
                <p:nvPr/>
              </p:nvSpPr>
              <p:spPr>
                <a:xfrm>
                  <a:off x="1819373" y="2576134"/>
                  <a:ext cx="1971794" cy="1748403"/>
                </a:xfrm>
                <a:prstGeom prst="rect">
                  <a:avLst/>
                </a:prstGeom>
                <a:blipFill rotWithShape="1">
                  <a:blip r:embed="rId13"/>
                </a:blipFill>
              </p:spPr>
              <p:txBody>
                <a:bodyPr/>
                <a:lstStyle/>
                <a:p>
                  <a:r>
                    <a:rPr lang="zh-CN" altLang="en-US">
                      <a:noFill/>
                    </a:rPr>
                    <a:t> </a:t>
                  </a:r>
                </a:p>
              </p:txBody>
            </p:sp>
          </mc:Fallback>
        </mc:AlternateContent>
        <p:cxnSp>
          <p:nvCxnSpPr>
            <p:cNvPr id="1396" name="直接连接符 1395"/>
            <p:cNvCxnSpPr/>
            <p:nvPr/>
          </p:nvCxnSpPr>
          <p:spPr>
            <a:xfrm>
              <a:off x="1812224" y="2594034"/>
              <a:ext cx="0" cy="1716969"/>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399" name="文本框 100"/>
                <p:cNvSpPr txBox="1"/>
                <p:nvPr/>
              </p:nvSpPr>
              <p:spPr>
                <a:xfrm>
                  <a:off x="5625041" y="2578229"/>
                  <a:ext cx="1437954" cy="1060358"/>
                </a:xfrm>
                <a:prstGeom prst="rect">
                  <a:avLst/>
                </a:prstGeom>
                <a:noFill/>
              </p:spPr>
              <p:txBody>
                <a:bodyPr wrap="square"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algn="l">
                    <a:lnSpc>
                      <a:spcPct val="125000"/>
                    </a:lnSpc>
                    <a:spcBef>
                      <a:spcPts val="500"/>
                    </a:spcBef>
                    <a:spcAft>
                      <a:spcPts val="0"/>
                    </a:spcAft>
                    <a:buClrTx/>
                    <a:buSzTx/>
                    <a:buFont typeface="Wingdings" panose="05000000000000000000" charset="0"/>
                    <a:buNone/>
                  </a:pPr>
                  <a:r>
                    <a:rPr lang="zh-CN" altLang="en-US" sz="1600" b="1" dirty="0">
                      <a:solidFill>
                        <a:schemeClr val="tx1"/>
                      </a:solidFill>
                      <a:ea typeface="微软雅黑" panose="020B0503020204020204" pitchFamily="34" charset="-122"/>
                      <a:cs typeface="Cambria Math" panose="02040503050406030204" pitchFamily="18" charset="0"/>
                    </a:rPr>
                    <a:t>适配</a:t>
                  </a:r>
                  <a14:m>
                    <m:oMath xmlns:m="http://schemas.openxmlformats.org/officeDocument/2006/math">
                      <m:r>
                        <a:rPr lang="en-US" altLang="zh-CN" sz="1600" b="1" smtClean="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zh-CN" altLang="en-US" sz="1600" b="1">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𝑦</m:t>
                      </m:r>
                      <m:r>
                        <a:rPr lang="en-US" altLang="zh-CN" sz="1600" i="1">
                          <a:solidFill>
                            <a:schemeClr val="tx1"/>
                          </a:solidFill>
                          <a:latin typeface="Cambria Math" panose="02040503050406030204" pitchFamily="18" charset="0"/>
                          <a:cs typeface="Cambria Math" panose="02040503050406030204" pitchFamily="18" charset="0"/>
                        </a:rPr>
                        <m:t>,</m:t>
                      </m:r>
                      <m:acc>
                        <m:accPr>
                          <m:chr m:val="̃"/>
                          <m:ctrlPr>
                            <a:rPr lang="en-US" altLang="zh-CN" sz="1600" i="1">
                              <a:solidFill>
                                <a:schemeClr val="tx1"/>
                              </a:solidFill>
                              <a:latin typeface="Cambria Math" panose="02040503050406030204" pitchFamily="18" charset="0"/>
                              <a:cs typeface="Cambria Math" panose="02040503050406030204" pitchFamily="18" charset="0"/>
                            </a:rPr>
                          </m:ctrlPr>
                        </m:accPr>
                        <m:e>
                          <m:r>
                            <a:rPr lang="en-US" altLang="zh-CN" sz="1600" i="1">
                              <a:solidFill>
                                <a:schemeClr val="tx1"/>
                              </a:solidFill>
                              <a:latin typeface="Cambria Math" panose="02040503050406030204" pitchFamily="18" charset="0"/>
                              <a:cs typeface="Cambria Math" panose="02040503050406030204" pitchFamily="18" charset="0"/>
                            </a:rPr>
                            <m:t>𝜎</m:t>
                          </m:r>
                        </m:e>
                      </m:acc>
                      <m:r>
                        <a:rPr lang="en-US" altLang="zh-CN" sz="1600" b="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oMath>
                  </a14:m>
                  <a:endParaRPr lang="en-US" altLang="zh-CN" sz="1600" i="1" dirty="0">
                    <a:solidFill>
                      <a:schemeClr val="tx1"/>
                    </a:solidFill>
                    <a:latin typeface="Cambria Math" panose="02040503050406030204" pitchFamily="18" charset="0"/>
                    <a:cs typeface="Cambria Math" panose="02040503050406030204" pitchFamily="18" charset="0"/>
                  </a:endParaRPr>
                </a:p>
                <a:p>
                  <a:pPr indent="0" algn="l">
                    <a:lnSpc>
                      <a:spcPct val="125000"/>
                    </a:lnSpc>
                    <a:spcBef>
                      <a:spcPts val="500"/>
                    </a:spcBef>
                    <a:spcAft>
                      <a:spcPts val="0"/>
                    </a:spcAft>
                    <a:buClrTx/>
                    <a:buSzTx/>
                    <a:buFont typeface="Wingdings" panose="05000000000000000000" charset="0"/>
                    <a:buNone/>
                  </a:pPr>
                  <a14:m>
                    <m:oMathPara xmlns:m="http://schemas.openxmlformats.org/officeDocument/2006/math">
                      <m:oMathParaPr>
                        <m:jc m:val="left"/>
                      </m:oMathParaPr>
                      <m:oMath xmlns:m="http://schemas.openxmlformats.org/officeDocument/2006/math">
                        <m:r>
                          <a:rPr lang="en-US" sz="1600">
                            <a:latin typeface="Cambria Math" panose="02040503050406030204" pitchFamily="18" charset="0"/>
                            <a:cs typeface="Cambria Math" panose="02040503050406030204" pitchFamily="18" charset="0"/>
                            <a:sym typeface="+mn-ea"/>
                          </a:rPr>
                          <m:t>𝑠</m:t>
                        </m:r>
                        <m:r>
                          <a:rPr lang="en-US" sz="1600" i="1">
                            <a:solidFill>
                              <a:schemeClr val="tx1"/>
                            </a:solidFill>
                            <a:latin typeface="Cambria Math" panose="02040503050406030204" pitchFamily="18" charset="0"/>
                            <a:cs typeface="Cambria Math" panose="02040503050406030204" pitchFamily="18" charset="0"/>
                          </a:rPr>
                          <m:t>=</m:t>
                        </m:r>
                        <m:acc>
                          <m:accPr>
                            <m:chr m:val="̃"/>
                            <m:ctrlPr>
                              <a:rPr lang="en-US" altLang="zh-CN" sz="1600" b="1" i="1">
                                <a:solidFill>
                                  <a:schemeClr val="tx1"/>
                                </a:solidFill>
                                <a:latin typeface="Cambria Math" panose="02040503050406030204" pitchFamily="18" charset="0"/>
                                <a:cs typeface="Cambria Math" panose="02040503050406030204" pitchFamily="18" charset="0"/>
                              </a:rPr>
                            </m:ctrlPr>
                          </m:accPr>
                          <m:e>
                            <m:r>
                              <a:rPr lang="en-US" sz="1600">
                                <a:latin typeface="Cambria Math" panose="02040503050406030204" pitchFamily="18" charset="0"/>
                                <a:cs typeface="Cambria Math" panose="02040503050406030204" pitchFamily="18" charset="0"/>
                                <a:sym typeface="+mn-ea"/>
                              </a:rPr>
                              <m:t>𝑠</m:t>
                            </m:r>
                          </m:e>
                        </m:acc>
                        <m:r>
                          <a:rPr lang="en-US" altLang="zh-CN" sz="1600" i="1">
                            <a:solidFill>
                              <a:schemeClr val="tx1"/>
                            </a:solidFill>
                            <a:latin typeface="Cambria Math" panose="02040503050406030204" pitchFamily="18" charset="0"/>
                            <a:cs typeface="Cambria Math" panose="02040503050406030204" pitchFamily="18" charset="0"/>
                          </a:rPr>
                          <m:t>+</m:t>
                        </m:r>
                        <m:r>
                          <a:rPr lang="en-US" sz="1600" i="1" smtClean="0">
                            <a:solidFill>
                              <a:schemeClr val="accent2"/>
                            </a:solidFill>
                            <a:latin typeface="Cambria Math" panose="02040503050406030204" pitchFamily="18" charset="0"/>
                            <a:cs typeface="Cambria Math" panose="02040503050406030204" pitchFamily="18" charset="0"/>
                          </a:rPr>
                          <m:t>𝑦</m:t>
                        </m:r>
                      </m:oMath>
                    </m:oMathPara>
                  </a14:m>
                  <a:endParaRPr lang="en-US" sz="1600" i="1" dirty="0">
                    <a:solidFill>
                      <a:schemeClr val="tx1"/>
                    </a:solidFill>
                    <a:latin typeface="Cambria Math" panose="02040503050406030204" pitchFamily="18" charset="0"/>
                    <a:cs typeface="Cambria Math" panose="02040503050406030204" pitchFamily="18" charset="0"/>
                  </a:endParaRPr>
                </a:p>
                <a:p>
                  <a:pPr indent="0" fontAlgn="auto">
                    <a:lnSpc>
                      <a:spcPct val="125000"/>
                    </a:lnSpc>
                    <a:spcBef>
                      <a:spcPts val="0"/>
                    </a:spcBef>
                    <a:spcAft>
                      <a:spcPts val="0"/>
                    </a:spcAft>
                    <a:buFont typeface="Wingdings" panose="05000000000000000000" charset="0"/>
                    <a:buNone/>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输出</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r>
                        <a:rPr lang="en-US" altLang="zh-CN" sz="1600" i="1">
                          <a:solidFill>
                            <a:schemeClr val="tx1"/>
                          </a:solidFill>
                          <a:latin typeface="Cambria Math" panose="02040503050406030204" pitchFamily="18" charset="0"/>
                          <a:cs typeface="Cambria Math" panose="02040503050406030204" pitchFamily="18" charset="0"/>
                        </a:rPr>
                        <m:t>𝜎</m:t>
                      </m:r>
                      <m:r>
                        <a:rPr lang="en-US" sz="1600" i="1">
                          <a:latin typeface="Cambria Math" panose="02040503050406030204" pitchFamily="18" charset="0"/>
                          <a:cs typeface="Cambria Math" panose="02040503050406030204" pitchFamily="18" charset="0"/>
                        </a:rPr>
                        <m:t>=</m:t>
                      </m:r>
                      <m:d>
                        <m:dPr>
                          <m:ctrlPr>
                            <a:rPr lang="en-US" sz="1600" i="1">
                              <a:latin typeface="Cambria Math" panose="02040503050406030204" pitchFamily="18" charset="0"/>
                              <a:cs typeface="Cambria Math" panose="02040503050406030204" pitchFamily="18" charset="0"/>
                            </a:rPr>
                          </m:ctrlPr>
                        </m:dPr>
                        <m:e>
                          <m:r>
                            <a:rPr lang="en-US" sz="1600" i="1">
                              <a:solidFill>
                                <a:schemeClr val="tx1"/>
                              </a:solidFill>
                              <a:latin typeface="Cambria Math" panose="02040503050406030204" pitchFamily="18" charset="0"/>
                              <a:cs typeface="Cambria Math" panose="02040503050406030204" pitchFamily="18" charset="0"/>
                            </a:rPr>
                            <m:t>𝑐</m:t>
                          </m:r>
                          <m:r>
                            <a:rPr lang="en-US" sz="1600">
                              <a:latin typeface="Cambria Math" panose="02040503050406030204" pitchFamily="18" charset="0"/>
                              <a:cs typeface="Cambria Math" panose="02040503050406030204" pitchFamily="18" charset="0"/>
                              <a:sym typeface="+mn-ea"/>
                            </a:rPr>
                            <m:t>,</m:t>
                          </m:r>
                          <m:r>
                            <a:rPr lang="en-US" sz="1600">
                              <a:latin typeface="Cambria Math" panose="02040503050406030204" pitchFamily="18" charset="0"/>
                              <a:cs typeface="Cambria Math" panose="02040503050406030204" pitchFamily="18" charset="0"/>
                              <a:sym typeface="+mn-ea"/>
                            </a:rPr>
                            <m:t>𝑠</m:t>
                          </m:r>
                        </m:e>
                      </m:d>
                    </m:oMath>
                  </a14:m>
                  <a:endParaRPr lang="en-US" altLang="zh-CN" sz="16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399" name="文本框 100"/>
                <p:cNvSpPr txBox="1">
                  <a:spLocks noRot="1" noChangeAspect="1" noMove="1" noResize="1" noEditPoints="1" noAdjustHandles="1" noChangeArrowheads="1" noChangeShapeType="1" noTextEdit="1"/>
                </p:cNvSpPr>
                <p:nvPr/>
              </p:nvSpPr>
              <p:spPr>
                <a:xfrm>
                  <a:off x="5625041" y="2578229"/>
                  <a:ext cx="1437954" cy="1060358"/>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00" name="文本框 101"/>
                <p:cNvSpPr txBox="1"/>
                <p:nvPr/>
              </p:nvSpPr>
              <p:spPr>
                <a:xfrm>
                  <a:off x="3678983" y="2581024"/>
                  <a:ext cx="2047603" cy="1054071"/>
                </a:xfrm>
                <a:prstGeom prst="rect">
                  <a:avLst/>
                </a:prstGeom>
                <a:noFill/>
              </p:spPr>
              <p:txBody>
                <a:bodyPr wrap="square"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lvl="1">
                    <a:lnSpc>
                      <a:spcPct val="125000"/>
                    </a:lnSpc>
                  </a:pPr>
                  <a:r>
                    <a:rPr lang="zh-CN" altLang="en-US" sz="1600" b="1" dirty="0">
                      <a:solidFill>
                        <a:schemeClr val="tx1"/>
                      </a:solidFill>
                      <a:latin typeface="微软雅黑" panose="020B0503020204020204" pitchFamily="34" charset="-122"/>
                      <a:ea typeface="微软雅黑" panose="020B0503020204020204" pitchFamily="34" charset="-122"/>
                      <a:sym typeface="+mn-ea"/>
                    </a:rPr>
                    <a:t>预验证</a:t>
                  </a:r>
                  <a14:m>
                    <m:oMath xmlns:m="http://schemas.openxmlformats.org/officeDocument/2006/math">
                      <m:r>
                        <a:rPr lang="en-US" altLang="zh-CN" sz="1600" b="1" smtClean="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cs typeface="Cambria Math" panose="02040503050406030204" pitchFamily="18" charset="0"/>
                        </a:rPr>
                        <m:t>𝑝𝑘</m:t>
                      </m:r>
                      <m:r>
                        <a:rPr lang="en-US" altLang="zh-CN" sz="1600" i="1">
                          <a:solidFill>
                            <a:schemeClr val="tx1"/>
                          </a:solidFill>
                          <a:latin typeface="Cambria Math" panose="02040503050406030204" pitchFamily="18" charset="0"/>
                          <a:cs typeface="Cambria Math" panose="02040503050406030204" pitchFamily="18" charset="0"/>
                        </a:rPr>
                        <m:t>,</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𝑚</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cs typeface="Cambria Math" panose="02040503050406030204" pitchFamily="18" charset="0"/>
                        </a:rPr>
                        <m:t>𝑌</m:t>
                      </m:r>
                      <m:r>
                        <a:rPr lang="en-US" altLang="zh-CN" sz="1600" i="1">
                          <a:solidFill>
                            <a:schemeClr val="tx1"/>
                          </a:solidFill>
                          <a:latin typeface="Cambria Math" panose="02040503050406030204" pitchFamily="18" charset="0"/>
                          <a:cs typeface="Cambria Math" panose="02040503050406030204" pitchFamily="18" charset="0"/>
                        </a:rPr>
                        <m:t>,</m:t>
                      </m:r>
                      <m:acc>
                        <m:accPr>
                          <m:chr m:val="̃"/>
                          <m:ctrlPr>
                            <a:rPr lang="en-US" altLang="zh-CN" sz="1600" i="1">
                              <a:solidFill>
                                <a:schemeClr val="tx1"/>
                              </a:solidFill>
                              <a:latin typeface="Cambria Math" panose="02040503050406030204" pitchFamily="18" charset="0"/>
                              <a:cs typeface="Cambria Math" panose="02040503050406030204" pitchFamily="18" charset="0"/>
                            </a:rPr>
                          </m:ctrlPr>
                        </m:accPr>
                        <m:e>
                          <m:r>
                            <a:rPr lang="en-US" altLang="zh-CN" sz="1600" i="1">
                              <a:solidFill>
                                <a:schemeClr val="tx1"/>
                              </a:solidFill>
                              <a:latin typeface="Cambria Math" panose="02040503050406030204" pitchFamily="18" charset="0"/>
                              <a:cs typeface="Cambria Math" panose="02040503050406030204" pitchFamily="18" charset="0"/>
                            </a:rPr>
                            <m:t>𝜎</m:t>
                          </m:r>
                        </m:e>
                      </m:acc>
                      <m:r>
                        <a:rPr lang="en-US" altLang="zh-CN" sz="1600" b="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oMath>
                  </a14:m>
                  <a:endParaRPr lang="en-US" altLang="zh-CN" sz="1600" b="1" dirty="0">
                    <a:solidFill>
                      <a:schemeClr val="tx1"/>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Wingdings" panose="05000000000000000000" charset="0"/>
                    <a:buNone/>
                  </a:pPr>
                  <a14:m>
                    <m:oMathPara xmlns:m="http://schemas.openxmlformats.org/officeDocument/2006/math">
                      <m:oMathParaPr>
                        <m:jc m:val="left"/>
                      </m:oMathParaPr>
                      <m:oMath xmlns:m="http://schemas.openxmlformats.org/officeDocument/2006/math">
                        <m:r>
                          <a:rPr lang="en-US" sz="1600" i="1" smtClean="0">
                            <a:solidFill>
                              <a:schemeClr val="tx1"/>
                            </a:solidFill>
                            <a:latin typeface="Cambria Math" panose="02040503050406030204" pitchFamily="18" charset="0"/>
                            <a:cs typeface="Cambria Math" panose="02040503050406030204" pitchFamily="18" charset="0"/>
                          </a:rPr>
                          <m:t>𝑐</m:t>
                        </m:r>
                        <m:r>
                          <a:rPr lang="en-US" sz="1600" i="1" smtClean="0">
                            <a:solidFill>
                              <a:schemeClr val="tx1"/>
                            </a:solidFill>
                            <a:latin typeface="Cambria Math" panose="02040503050406030204" pitchFamily="18" charset="0"/>
                            <a:cs typeface="Cambria Math" panose="02040503050406030204" pitchFamily="18" charset="0"/>
                          </a:rPr>
                          <m:t>’=</m:t>
                        </m:r>
                        <m:r>
                          <a:rPr lang="en-US" sz="1600" i="1">
                            <a:solidFill>
                              <a:schemeClr val="tx1"/>
                            </a:solidFill>
                            <a:latin typeface="Cambria Math" panose="02040503050406030204" pitchFamily="18" charset="0"/>
                            <a:cs typeface="Cambria Math" panose="02040503050406030204" pitchFamily="18" charset="0"/>
                          </a:rPr>
                          <m:t>𝐻</m:t>
                        </m:r>
                        <m:d>
                          <m:dPr>
                            <m:ctrlPr>
                              <a:rPr lang="en-US" sz="1600" i="1">
                                <a:solidFill>
                                  <a:schemeClr val="tx1"/>
                                </a:solidFill>
                                <a:latin typeface="Cambria Math" panose="02040503050406030204" pitchFamily="18" charset="0"/>
                                <a:cs typeface="Cambria Math" panose="02040503050406030204" pitchFamily="18" charset="0"/>
                              </a:rPr>
                            </m:ctrlPr>
                          </m:dPr>
                          <m:e>
                            <m:r>
                              <a:rPr lang="en-US" sz="1600" i="1">
                                <a:solidFill>
                                  <a:schemeClr val="tx1"/>
                                </a:solidFill>
                                <a:latin typeface="Cambria Math" panose="02040503050406030204" pitchFamily="18" charset="0"/>
                                <a:cs typeface="Cambria Math" panose="02040503050406030204" pitchFamily="18" charset="0"/>
                              </a:rPr>
                              <m:t>𝑋</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sSup>
                              <m:sSupPr>
                                <m:ctrlPr>
                                  <a:rPr lang="en-US" sz="1600" i="1">
                                    <a:solidFill>
                                      <a:schemeClr val="tx1"/>
                                    </a:solidFill>
                                    <a:latin typeface="Cambria Math" panose="02040503050406030204" pitchFamily="18" charset="0"/>
                                    <a:cs typeface="Cambria Math" panose="02040503050406030204" pitchFamily="18" charset="0"/>
                                  </a:rPr>
                                </m:ctrlPr>
                              </m:sSupPr>
                              <m:e>
                                <m:r>
                                  <a:rPr lang="en-US" sz="1600" i="1">
                                    <a:solidFill>
                                      <a:schemeClr val="tx1"/>
                                    </a:solidFill>
                                    <a:latin typeface="Cambria Math" panose="02040503050406030204" pitchFamily="18" charset="0"/>
                                    <a:cs typeface="Cambria Math" panose="02040503050406030204" pitchFamily="18" charset="0"/>
                                  </a:rPr>
                                  <m:t>𝑔</m:t>
                                </m:r>
                              </m:e>
                              <m:sup>
                                <m:acc>
                                  <m:accPr>
                                    <m:chr m:val="̃"/>
                                    <m:ctrlPr>
                                      <a:rPr lang="en-US" altLang="zh-CN" sz="1600" b="1" i="1">
                                        <a:solidFill>
                                          <a:schemeClr val="tx1"/>
                                        </a:solidFill>
                                        <a:latin typeface="Cambria Math" panose="02040503050406030204" pitchFamily="18" charset="0"/>
                                        <a:cs typeface="Cambria Math" panose="02040503050406030204" pitchFamily="18" charset="0"/>
                                      </a:rPr>
                                    </m:ctrlPr>
                                  </m:accPr>
                                  <m:e>
                                    <m:r>
                                      <a:rPr lang="en-US" sz="1600">
                                        <a:latin typeface="Cambria Math" panose="02040503050406030204" pitchFamily="18" charset="0"/>
                                        <a:cs typeface="Cambria Math" panose="02040503050406030204" pitchFamily="18" charset="0"/>
                                        <a:sym typeface="+mn-ea"/>
                                      </a:rPr>
                                      <m:t>𝑠</m:t>
                                    </m:r>
                                  </m:e>
                                </m:acc>
                              </m:sup>
                            </m:sSup>
                            <m:sSup>
                              <m:sSupPr>
                                <m:ctrlP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ctrlPr>
                              </m:sSupPr>
                              <m:e>
                                <m:r>
                                  <a:rPr lang="en-US" sz="1600" i="1">
                                    <a:solidFill>
                                      <a:schemeClr val="tx1"/>
                                    </a:solidFill>
                                    <a:latin typeface="Cambria Math" panose="02040503050406030204" pitchFamily="18" charset="0"/>
                                    <a:cs typeface="Cambria Math" panose="02040503050406030204" pitchFamily="18" charset="0"/>
                                  </a:rPr>
                                  <m:t>𝑋</m:t>
                                </m:r>
                              </m:e>
                              <m:sup>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𝑐</m:t>
                                </m:r>
                              </m:sup>
                            </m:sSup>
                            <m:r>
                              <a:rPr lang="en-US" altLang="zh-CN" sz="1600" i="1" smtClean="0">
                                <a:solidFill>
                                  <a:schemeClr val="accent2"/>
                                </a:solidFill>
                                <a:latin typeface="Cambria Math" panose="02040503050406030204" pitchFamily="18" charset="0"/>
                                <a:cs typeface="Cambria Math" panose="02040503050406030204" pitchFamily="18" charset="0"/>
                              </a:rPr>
                              <m:t>𝑌</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sz="1600" i="1">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m:t>𝑚</m:t>
                            </m:r>
                          </m:e>
                        </m:d>
                      </m:oMath>
                    </m:oMathPara>
                  </a14:m>
                  <a:endParaRPr lang="en-US" altLang="zh-CN" sz="16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lvl="0">
                    <a:lnSpc>
                      <a:spcPct val="125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输出</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r>
                        <a:rPr lang="en-US" sz="1600" i="1">
                          <a:solidFill>
                            <a:schemeClr val="tx1"/>
                          </a:solidFill>
                          <a:latin typeface="Cambria Math" panose="02040503050406030204" pitchFamily="18" charset="0"/>
                          <a:cs typeface="Cambria Math" panose="02040503050406030204" pitchFamily="18" charset="0"/>
                        </a:rPr>
                        <m:t>𝑐</m:t>
                      </m:r>
                      <m:r>
                        <a:rPr lang="en-US" sz="1600" i="1">
                          <a:latin typeface="Cambria Math" panose="02040503050406030204" pitchFamily="18" charset="0"/>
                        </a:rPr>
                        <m:t>=</m:t>
                      </m:r>
                      <m:r>
                        <a:rPr lang="en-US" sz="1600" i="1">
                          <a:solidFill>
                            <a:schemeClr val="tx1"/>
                          </a:solidFill>
                          <a:latin typeface="Cambria Math" panose="02040503050406030204" pitchFamily="18" charset="0"/>
                          <a:cs typeface="Cambria Math" panose="02040503050406030204" pitchFamily="18" charset="0"/>
                        </a:rPr>
                        <m:t>𝑐</m:t>
                      </m:r>
                      <m:r>
                        <a:rPr lang="en-US" sz="1600" i="1">
                          <a:solidFill>
                            <a:schemeClr val="tx1"/>
                          </a:solidFill>
                          <a:latin typeface="Cambria Math" panose="02040503050406030204" pitchFamily="18" charset="0"/>
                          <a:cs typeface="Cambria Math" panose="02040503050406030204" pitchFamily="18" charset="0"/>
                        </a:rPr>
                        <m:t>’</m:t>
                      </m:r>
                    </m:oMath>
                  </a14:m>
                  <a:endParaRPr lang="en-US" altLang="zh-CN" sz="16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indent="0" algn="l">
                    <a:lnSpc>
                      <a:spcPct val="125000"/>
                    </a:lnSpc>
                    <a:spcBef>
                      <a:spcPts val="0"/>
                    </a:spcBef>
                    <a:spcAft>
                      <a:spcPts val="0"/>
                    </a:spcAft>
                    <a:buClrTx/>
                    <a:buSzTx/>
                    <a:buFont typeface="Wingdings" panose="05000000000000000000" charset="0"/>
                    <a:buNone/>
                  </a:pPr>
                  <a:endParaRPr lang="en-US" altLang="zh-CN" sz="16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400" name="文本框 101"/>
                <p:cNvSpPr txBox="1">
                  <a:spLocks noRot="1" noChangeAspect="1" noMove="1" noResize="1" noEditPoints="1" noAdjustHandles="1" noChangeArrowheads="1" noChangeShapeType="1" noTextEdit="1"/>
                </p:cNvSpPr>
                <p:nvPr/>
              </p:nvSpPr>
              <p:spPr>
                <a:xfrm>
                  <a:off x="3678983" y="2581024"/>
                  <a:ext cx="2047603" cy="1054071"/>
                </a:xfrm>
                <a:prstGeom prst="rect">
                  <a:avLst/>
                </a:prstGeom>
                <a:blipFill rotWithShape="1">
                  <a:blip r:embed="rId15"/>
                </a:blipFill>
              </p:spPr>
              <p:txBody>
                <a:bodyPr/>
                <a:lstStyle/>
                <a:p>
                  <a:r>
                    <a:rPr lang="zh-CN" altLang="en-US">
                      <a:noFill/>
                    </a:rPr>
                    <a:t> </a:t>
                  </a:r>
                </a:p>
              </p:txBody>
            </p:sp>
          </mc:Fallback>
        </mc:AlternateContent>
        <p:cxnSp>
          <p:nvCxnSpPr>
            <p:cNvPr id="1407" name="直接连接符 1406"/>
            <p:cNvCxnSpPr/>
            <p:nvPr/>
          </p:nvCxnSpPr>
          <p:spPr>
            <a:xfrm>
              <a:off x="3683128" y="2589230"/>
              <a:ext cx="0" cy="1716969"/>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64" name="直接连接符 63"/>
            <p:cNvCxnSpPr/>
            <p:nvPr/>
          </p:nvCxnSpPr>
          <p:spPr>
            <a:xfrm>
              <a:off x="5652906" y="2589230"/>
              <a:ext cx="0" cy="1716969"/>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65" name="直接连接符 64"/>
            <p:cNvCxnSpPr/>
            <p:nvPr/>
          </p:nvCxnSpPr>
          <p:spPr>
            <a:xfrm>
              <a:off x="7036084" y="2601020"/>
              <a:ext cx="0" cy="1716969"/>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小结</a:t>
            </a:r>
          </a:p>
        </p:txBody>
      </p:sp>
      <p:sp>
        <p:nvSpPr>
          <p:cNvPr id="3" name="灯片编号占位符 2"/>
          <p:cNvSpPr>
            <a:spLocks noGrp="1"/>
          </p:cNvSpPr>
          <p:nvPr>
            <p:ph type="sldNum" sz="quarter" idx="12"/>
          </p:nvPr>
        </p:nvSpPr>
        <p:spPr/>
        <p:txBody>
          <a:bodyPr/>
          <a:lstStyle/>
          <a:p>
            <a:fld id="{4DBDE2CB-4801-494F-A0A4-D49D70804842}" type="slidenum">
              <a:rPr lang="zh-CN" altLang="en-US" smtClean="0"/>
              <a:t>47</a:t>
            </a:fld>
            <a:endParaRPr lang="zh-CN" altLang="en-US"/>
          </a:p>
        </p:txBody>
      </p:sp>
      <p:sp>
        <p:nvSpPr>
          <p:cNvPr id="2" name="文本框 1"/>
          <p:cNvSpPr txBox="1"/>
          <p:nvPr/>
        </p:nvSpPr>
        <p:spPr>
          <a:xfrm>
            <a:off x="312517" y="1387965"/>
            <a:ext cx="8479945" cy="4402744"/>
          </a:xfrm>
          <a:prstGeom prst="rect">
            <a:avLst/>
          </a:prstGeom>
          <a:noFill/>
        </p:spPr>
        <p:txBody>
          <a:bodyPr wrap="square" rtlCol="0">
            <a:spAutoFit/>
          </a:bodyPr>
          <a:lstStyle/>
          <a:p>
            <a:pPr marL="342900" indent="-342900" algn="just">
              <a:lnSpc>
                <a:spcPct val="150000"/>
              </a:lnSpc>
              <a:spcBef>
                <a:spcPts val="1200"/>
              </a:spcBef>
              <a:buClr>
                <a:srgbClr val="FF0000"/>
              </a:buClr>
              <a:buFont typeface="Wingdings" panose="05000000000000000000" pitchFamily="2" charset="2"/>
              <a:buChar char="p"/>
            </a:pPr>
            <a:r>
              <a:rPr lang="zh-CN" altLang="en-US" sz="2200" dirty="0">
                <a:latin typeface="Times New Roman" panose="02020603050405020304" pitchFamily="18" charset="0"/>
                <a:cs typeface="Times New Roman" panose="02020603050405020304" pitchFamily="18" charset="0"/>
              </a:rPr>
              <a:t>协议 </a:t>
            </a:r>
            <a:r>
              <a:rPr lang="en-US" altLang="zh-CN" sz="2200" dirty="0">
                <a:latin typeface="Times New Roman" panose="02020603050405020304" pitchFamily="18" charset="0"/>
                <a:cs typeface="Times New Roman" panose="02020603050405020304" pitchFamily="18" charset="0"/>
              </a:rPr>
              <a:t>(Protocol) </a:t>
            </a:r>
            <a:r>
              <a:rPr lang="zh-CN" altLang="en-US" sz="2200" dirty="0">
                <a:latin typeface="Times New Roman" panose="02020603050405020304" pitchFamily="18" charset="0"/>
                <a:cs typeface="Times New Roman" panose="02020603050405020304" pitchFamily="18" charset="0"/>
              </a:rPr>
              <a:t>，就是</a:t>
            </a:r>
            <a:r>
              <a:rPr lang="zh-CN" altLang="en-US" sz="2200" dirty="0">
                <a:solidFill>
                  <a:srgbClr val="0000FF"/>
                </a:solidFill>
                <a:latin typeface="Times New Roman" panose="02020603050405020304" pitchFamily="18" charset="0"/>
                <a:cs typeface="Times New Roman" panose="02020603050405020304" pitchFamily="18" charset="0"/>
              </a:rPr>
              <a:t>两个或两个以上的参与者为完成某项特定的任务而采取的一系列步骤</a:t>
            </a:r>
            <a:r>
              <a:rPr lang="zh-CN" altLang="en-US" sz="2200" dirty="0">
                <a:latin typeface="Times New Roman" panose="02020603050405020304" pitchFamily="18" charset="0"/>
                <a:cs typeface="Times New Roman" panose="02020603050405020304" pitchFamily="18" charset="0"/>
              </a:rPr>
              <a:t>。密码协议是使用</a:t>
            </a:r>
            <a:r>
              <a:rPr lang="zh-CN" altLang="en-US" sz="2200" b="1" dirty="0">
                <a:latin typeface="Times New Roman" panose="02020603050405020304" pitchFamily="18" charset="0"/>
                <a:cs typeface="Times New Roman" panose="02020603050405020304" pitchFamily="18" charset="0"/>
              </a:rPr>
              <a:t>密码技术</a:t>
            </a:r>
            <a:r>
              <a:rPr lang="zh-CN" altLang="en-US" sz="2200" dirty="0">
                <a:latin typeface="Times New Roman" panose="02020603050405020304" pitchFamily="18" charset="0"/>
                <a:cs typeface="Times New Roman" panose="02020603050405020304" pitchFamily="18" charset="0"/>
              </a:rPr>
              <a:t>来完成某项特定任务的协议。</a:t>
            </a:r>
            <a:endParaRPr lang="en-US" altLang="zh-CN" sz="2200" dirty="0">
              <a:latin typeface="Times New Roman" panose="02020603050405020304" pitchFamily="18" charset="0"/>
              <a:cs typeface="Times New Roman" panose="02020603050405020304" pitchFamily="18" charset="0"/>
            </a:endParaRPr>
          </a:p>
          <a:p>
            <a:pPr marL="342900" indent="-342900" algn="just">
              <a:lnSpc>
                <a:spcPct val="150000"/>
              </a:lnSpc>
              <a:spcBef>
                <a:spcPts val="1200"/>
              </a:spcBef>
              <a:buClr>
                <a:srgbClr val="FF0000"/>
              </a:buClr>
              <a:buFont typeface="Wingdings" panose="05000000000000000000" pitchFamily="2" charset="2"/>
              <a:buChar char="p"/>
            </a:pPr>
            <a:r>
              <a:rPr lang="zh-CN" altLang="en-US" sz="2200" dirty="0">
                <a:latin typeface="Times New Roman" panose="02020603050405020304" pitchFamily="18" charset="0"/>
                <a:cs typeface="Times New Roman" panose="02020603050405020304" pitchFamily="18" charset="0"/>
              </a:rPr>
              <a:t>秘密共享协议、电话投币协议、选择分割协议是进行机密信息共享、可信结果生成、公平资源分配的重要原语，是信息安全和密码学中的重要手段。</a:t>
            </a:r>
            <a:endParaRPr lang="en-US" altLang="zh-CN" sz="2200" dirty="0">
              <a:latin typeface="Times New Roman" panose="02020603050405020304" pitchFamily="18" charset="0"/>
              <a:cs typeface="Times New Roman" panose="02020603050405020304" pitchFamily="18" charset="0"/>
            </a:endParaRPr>
          </a:p>
          <a:p>
            <a:pPr marL="342900" indent="-342900" algn="just">
              <a:lnSpc>
                <a:spcPct val="150000"/>
              </a:lnSpc>
              <a:spcBef>
                <a:spcPts val="1200"/>
              </a:spcBef>
              <a:buClr>
                <a:srgbClr val="FF0000"/>
              </a:buClr>
              <a:buFont typeface="Wingdings" panose="05000000000000000000" pitchFamily="2" charset="2"/>
              <a:buChar char="p"/>
            </a:pPr>
            <a:r>
              <a:rPr lang="zh-CN" altLang="en-US" sz="2200" dirty="0">
                <a:latin typeface="Times New Roman" panose="02020603050405020304" pitchFamily="18" charset="0"/>
                <a:cs typeface="Times New Roman" panose="02020603050405020304" pitchFamily="18" charset="0"/>
              </a:rPr>
              <a:t>承诺协议、零知识证明协议、安全多方计算协议、不经意传输协议是密码学的四大基础原语，是构造其他更为复杂协议的基础。</a:t>
            </a:r>
            <a:endParaRPr lang="en-US" altLang="zh-C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0" y="0"/>
            <a:ext cx="9144000" cy="6857999"/>
          </a:xfrm>
          <a:prstGeom prst="rect">
            <a:avLst/>
          </a:prstGeom>
        </p:spPr>
      </p:pic>
      <p:sp>
        <p:nvSpPr>
          <p:cNvPr id="15" name="矩形 14"/>
          <p:cNvSpPr/>
          <p:nvPr/>
        </p:nvSpPr>
        <p:spPr>
          <a:xfrm>
            <a:off x="-1" y="-19760"/>
            <a:ext cx="9144000" cy="6877760"/>
          </a:xfrm>
          <a:prstGeom prst="rect">
            <a:avLst/>
          </a:prstGeom>
          <a:gradFill>
            <a:gsLst>
              <a:gs pos="42000">
                <a:schemeClr val="bg1">
                  <a:alpha val="75000"/>
                </a:schemeClr>
              </a:gs>
              <a:gs pos="23000">
                <a:schemeClr val="bg1">
                  <a:alpha val="94000"/>
                </a:schemeClr>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15240" y="4800781"/>
            <a:ext cx="9174480" cy="2075436"/>
            <a:chOff x="-15240" y="4117778"/>
            <a:chExt cx="9174480" cy="2758440"/>
          </a:xfrm>
        </p:grpSpPr>
        <p:grpSp>
          <p:nvGrpSpPr>
            <p:cNvPr id="23" name="组合 22"/>
            <p:cNvGrpSpPr/>
            <p:nvPr/>
          </p:nvGrpSpPr>
          <p:grpSpPr>
            <a:xfrm>
              <a:off x="-15240" y="4117778"/>
              <a:ext cx="9128760" cy="2758440"/>
              <a:chOff x="-15240" y="4117778"/>
              <a:chExt cx="9128760" cy="2758440"/>
            </a:xfrm>
          </p:grpSpPr>
          <p:sp>
            <p:nvSpPr>
              <p:cNvPr id="30" name="任意多边形: 形状 29"/>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任意多边形: 形状 31"/>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任意多边形: 形状 32"/>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任意多边形: 形状 33"/>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 name="组合 24"/>
            <p:cNvGrpSpPr/>
            <p:nvPr/>
          </p:nvGrpSpPr>
          <p:grpSpPr>
            <a:xfrm flipH="1">
              <a:off x="30480" y="4117778"/>
              <a:ext cx="9128760" cy="2758440"/>
              <a:chOff x="-15240" y="4117778"/>
              <a:chExt cx="9128760" cy="2758440"/>
            </a:xfrm>
          </p:grpSpPr>
          <p:sp>
            <p:nvSpPr>
              <p:cNvPr id="26" name="任意多边形: 形状 25"/>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任意多边形: 形状 26"/>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形状 27"/>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任意多边形: 形状 28"/>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1" fmla="*/ 2606040 w 3413760"/>
                  <a:gd name="connsiteY0-2" fmla="*/ 0 h 1005840"/>
                  <a:gd name="connsiteX1-3" fmla="*/ 2606040 w 3413760"/>
                  <a:gd name="connsiteY1-4" fmla="*/ 0 h 1005840"/>
                  <a:gd name="connsiteX2-5" fmla="*/ 1737360 w 3413760"/>
                  <a:gd name="connsiteY2-6" fmla="*/ 381000 h 1005840"/>
                  <a:gd name="connsiteX3-7" fmla="*/ 0 w 3413760"/>
                  <a:gd name="connsiteY3-8" fmla="*/ 518160 h 1005840"/>
                  <a:gd name="connsiteX4-9" fmla="*/ 2042160 w 3413760"/>
                  <a:gd name="connsiteY4-10" fmla="*/ 1005840 h 1005840"/>
                  <a:gd name="connsiteX5-11" fmla="*/ 3413760 w 3413760"/>
                  <a:gd name="connsiteY5-12" fmla="*/ 762000 h 1005840"/>
                  <a:gd name="connsiteX6-13" fmla="*/ 2606040 w 3413760"/>
                  <a:gd name="connsiteY6-14" fmla="*/ 0 h 1005840"/>
                  <a:gd name="connsiteX0-15" fmla="*/ 2606040 w 3413760"/>
                  <a:gd name="connsiteY0-16" fmla="*/ 0 h 1920240"/>
                  <a:gd name="connsiteX1-17" fmla="*/ 2606040 w 3413760"/>
                  <a:gd name="connsiteY1-18" fmla="*/ 0 h 1920240"/>
                  <a:gd name="connsiteX2-19" fmla="*/ 1737360 w 3413760"/>
                  <a:gd name="connsiteY2-20" fmla="*/ 381000 h 1920240"/>
                  <a:gd name="connsiteX3-21" fmla="*/ 0 w 3413760"/>
                  <a:gd name="connsiteY3-22" fmla="*/ 518160 h 1920240"/>
                  <a:gd name="connsiteX4-23" fmla="*/ 502920 w 3413760"/>
                  <a:gd name="connsiteY4-24" fmla="*/ 1920240 h 1920240"/>
                  <a:gd name="connsiteX5-25" fmla="*/ 3413760 w 3413760"/>
                  <a:gd name="connsiteY5-26" fmla="*/ 762000 h 1920240"/>
                  <a:gd name="connsiteX6-27" fmla="*/ 2606040 w 3413760"/>
                  <a:gd name="connsiteY6-28" fmla="*/ 0 h 1920240"/>
                  <a:gd name="connsiteX0-29" fmla="*/ 2606040 w 3185160"/>
                  <a:gd name="connsiteY0-30" fmla="*/ 0 h 1920240"/>
                  <a:gd name="connsiteX1-31" fmla="*/ 2606040 w 3185160"/>
                  <a:gd name="connsiteY1-32" fmla="*/ 0 h 1920240"/>
                  <a:gd name="connsiteX2-33" fmla="*/ 1737360 w 3185160"/>
                  <a:gd name="connsiteY2-34" fmla="*/ 381000 h 1920240"/>
                  <a:gd name="connsiteX3-35" fmla="*/ 0 w 3185160"/>
                  <a:gd name="connsiteY3-36" fmla="*/ 518160 h 1920240"/>
                  <a:gd name="connsiteX4-37" fmla="*/ 502920 w 3185160"/>
                  <a:gd name="connsiteY4-38" fmla="*/ 1920240 h 1920240"/>
                  <a:gd name="connsiteX5-39" fmla="*/ 3185160 w 3185160"/>
                  <a:gd name="connsiteY5-40" fmla="*/ 1143000 h 1920240"/>
                  <a:gd name="connsiteX6-41" fmla="*/ 2606040 w 3185160"/>
                  <a:gd name="connsiteY6-42" fmla="*/ 0 h 1920240"/>
                  <a:gd name="connsiteX0-43" fmla="*/ 2606040 w 3185160"/>
                  <a:gd name="connsiteY0-44" fmla="*/ 0 h 1920240"/>
                  <a:gd name="connsiteX1-45" fmla="*/ 2606040 w 3185160"/>
                  <a:gd name="connsiteY1-46" fmla="*/ 0 h 1920240"/>
                  <a:gd name="connsiteX2-47" fmla="*/ 1325880 w 3185160"/>
                  <a:gd name="connsiteY2-48" fmla="*/ 670560 h 1920240"/>
                  <a:gd name="connsiteX3-49" fmla="*/ 0 w 3185160"/>
                  <a:gd name="connsiteY3-50" fmla="*/ 518160 h 1920240"/>
                  <a:gd name="connsiteX4-51" fmla="*/ 502920 w 3185160"/>
                  <a:gd name="connsiteY4-52" fmla="*/ 1920240 h 1920240"/>
                  <a:gd name="connsiteX5-53" fmla="*/ 3185160 w 3185160"/>
                  <a:gd name="connsiteY5-54" fmla="*/ 1143000 h 1920240"/>
                  <a:gd name="connsiteX6-55" fmla="*/ 2606040 w 3185160"/>
                  <a:gd name="connsiteY6-56" fmla="*/ 0 h 1920240"/>
                  <a:gd name="connsiteX0-57" fmla="*/ 2606040 w 3185160"/>
                  <a:gd name="connsiteY0-58" fmla="*/ 0 h 1920240"/>
                  <a:gd name="connsiteX1-59" fmla="*/ 2606040 w 3185160"/>
                  <a:gd name="connsiteY1-60" fmla="*/ 0 h 1920240"/>
                  <a:gd name="connsiteX2-61" fmla="*/ 1325880 w 3185160"/>
                  <a:gd name="connsiteY2-62" fmla="*/ 670560 h 1920240"/>
                  <a:gd name="connsiteX3-63" fmla="*/ 0 w 3185160"/>
                  <a:gd name="connsiteY3-64" fmla="*/ 518160 h 1920240"/>
                  <a:gd name="connsiteX4-65" fmla="*/ 502920 w 3185160"/>
                  <a:gd name="connsiteY4-66" fmla="*/ 1920240 h 1920240"/>
                  <a:gd name="connsiteX5-67" fmla="*/ 3185160 w 3185160"/>
                  <a:gd name="connsiteY5-68" fmla="*/ 1143000 h 1920240"/>
                  <a:gd name="connsiteX6-69" fmla="*/ 2606040 w 3185160"/>
                  <a:gd name="connsiteY6-70" fmla="*/ 0 h 1920240"/>
                  <a:gd name="connsiteX0-71" fmla="*/ 2606040 w 3185160"/>
                  <a:gd name="connsiteY0-72" fmla="*/ 0 h 1920240"/>
                  <a:gd name="connsiteX1-73" fmla="*/ 2606040 w 3185160"/>
                  <a:gd name="connsiteY1-74" fmla="*/ 0 h 1920240"/>
                  <a:gd name="connsiteX2-75" fmla="*/ 1325880 w 3185160"/>
                  <a:gd name="connsiteY2-76" fmla="*/ 670560 h 1920240"/>
                  <a:gd name="connsiteX3-77" fmla="*/ 0 w 3185160"/>
                  <a:gd name="connsiteY3-78" fmla="*/ 518160 h 1920240"/>
                  <a:gd name="connsiteX4-79" fmla="*/ 502920 w 3185160"/>
                  <a:gd name="connsiteY4-80" fmla="*/ 1920240 h 1920240"/>
                  <a:gd name="connsiteX5-81" fmla="*/ 3185160 w 3185160"/>
                  <a:gd name="connsiteY5-82" fmla="*/ 1143000 h 1920240"/>
                  <a:gd name="connsiteX6-83" fmla="*/ 2606040 w 3185160"/>
                  <a:gd name="connsiteY6-84" fmla="*/ 0 h 1920240"/>
                  <a:gd name="connsiteX0-85" fmla="*/ 2606040 w 9128760"/>
                  <a:gd name="connsiteY0-86" fmla="*/ 0 h 3230880"/>
                  <a:gd name="connsiteX1-87" fmla="*/ 2606040 w 9128760"/>
                  <a:gd name="connsiteY1-88" fmla="*/ 0 h 3230880"/>
                  <a:gd name="connsiteX2-89" fmla="*/ 1325880 w 9128760"/>
                  <a:gd name="connsiteY2-90" fmla="*/ 670560 h 3230880"/>
                  <a:gd name="connsiteX3-91" fmla="*/ 0 w 9128760"/>
                  <a:gd name="connsiteY3-92" fmla="*/ 518160 h 3230880"/>
                  <a:gd name="connsiteX4-93" fmla="*/ 502920 w 9128760"/>
                  <a:gd name="connsiteY4-94" fmla="*/ 1920240 h 3230880"/>
                  <a:gd name="connsiteX5-95" fmla="*/ 9128760 w 9128760"/>
                  <a:gd name="connsiteY5-96" fmla="*/ 3230880 h 3230880"/>
                  <a:gd name="connsiteX6-97" fmla="*/ 2606040 w 9128760"/>
                  <a:gd name="connsiteY6-98" fmla="*/ 0 h 3230880"/>
                  <a:gd name="connsiteX0-99" fmla="*/ 2621280 w 9144000"/>
                  <a:gd name="connsiteY0-100" fmla="*/ 0 h 3276600"/>
                  <a:gd name="connsiteX1-101" fmla="*/ 2621280 w 9144000"/>
                  <a:gd name="connsiteY1-102" fmla="*/ 0 h 3276600"/>
                  <a:gd name="connsiteX2-103" fmla="*/ 1341120 w 9144000"/>
                  <a:gd name="connsiteY2-104" fmla="*/ 670560 h 3276600"/>
                  <a:gd name="connsiteX3-105" fmla="*/ 15240 w 9144000"/>
                  <a:gd name="connsiteY3-106" fmla="*/ 518160 h 3276600"/>
                  <a:gd name="connsiteX4-107" fmla="*/ 0 w 9144000"/>
                  <a:gd name="connsiteY4-108" fmla="*/ 3276600 h 3276600"/>
                  <a:gd name="connsiteX5-109" fmla="*/ 9144000 w 9144000"/>
                  <a:gd name="connsiteY5-110" fmla="*/ 3230880 h 3276600"/>
                  <a:gd name="connsiteX6-111" fmla="*/ 2621280 w 9144000"/>
                  <a:gd name="connsiteY6-112" fmla="*/ 0 h 3276600"/>
                  <a:gd name="connsiteX0-113" fmla="*/ 4754880 w 9144000"/>
                  <a:gd name="connsiteY0-114" fmla="*/ 2209800 h 3276600"/>
                  <a:gd name="connsiteX1-115" fmla="*/ 2621280 w 9144000"/>
                  <a:gd name="connsiteY1-116" fmla="*/ 0 h 3276600"/>
                  <a:gd name="connsiteX2-117" fmla="*/ 1341120 w 9144000"/>
                  <a:gd name="connsiteY2-118" fmla="*/ 670560 h 3276600"/>
                  <a:gd name="connsiteX3-119" fmla="*/ 15240 w 9144000"/>
                  <a:gd name="connsiteY3-120" fmla="*/ 518160 h 3276600"/>
                  <a:gd name="connsiteX4-121" fmla="*/ 0 w 9144000"/>
                  <a:gd name="connsiteY4-122" fmla="*/ 3276600 h 3276600"/>
                  <a:gd name="connsiteX5-123" fmla="*/ 9144000 w 9144000"/>
                  <a:gd name="connsiteY5-124" fmla="*/ 3230880 h 3276600"/>
                  <a:gd name="connsiteX6-125" fmla="*/ 4754880 w 9144000"/>
                  <a:gd name="connsiteY6-126" fmla="*/ 2209800 h 3276600"/>
                  <a:gd name="connsiteX0-127" fmla="*/ 4754880 w 9144000"/>
                  <a:gd name="connsiteY0-128" fmla="*/ 1691640 h 2758440"/>
                  <a:gd name="connsiteX1-129" fmla="*/ 2727960 w 9144000"/>
                  <a:gd name="connsiteY1-130" fmla="*/ 960120 h 2758440"/>
                  <a:gd name="connsiteX2-131" fmla="*/ 1341120 w 9144000"/>
                  <a:gd name="connsiteY2-132" fmla="*/ 152400 h 2758440"/>
                  <a:gd name="connsiteX3-133" fmla="*/ 15240 w 9144000"/>
                  <a:gd name="connsiteY3-134" fmla="*/ 0 h 2758440"/>
                  <a:gd name="connsiteX4-135" fmla="*/ 0 w 9144000"/>
                  <a:gd name="connsiteY4-136" fmla="*/ 2758440 h 2758440"/>
                  <a:gd name="connsiteX5-137" fmla="*/ 9144000 w 9144000"/>
                  <a:gd name="connsiteY5-138" fmla="*/ 2712720 h 2758440"/>
                  <a:gd name="connsiteX6-139" fmla="*/ 4754880 w 9144000"/>
                  <a:gd name="connsiteY6-140" fmla="*/ 1691640 h 2758440"/>
                  <a:gd name="connsiteX0-141" fmla="*/ 4754880 w 9144000"/>
                  <a:gd name="connsiteY0-142" fmla="*/ 1691640 h 2758440"/>
                  <a:gd name="connsiteX1-143" fmla="*/ 2727960 w 9144000"/>
                  <a:gd name="connsiteY1-144" fmla="*/ 960120 h 2758440"/>
                  <a:gd name="connsiteX2-145" fmla="*/ 1325880 w 9144000"/>
                  <a:gd name="connsiteY2-146" fmla="*/ 868680 h 2758440"/>
                  <a:gd name="connsiteX3-147" fmla="*/ 15240 w 9144000"/>
                  <a:gd name="connsiteY3-148" fmla="*/ 0 h 2758440"/>
                  <a:gd name="connsiteX4-149" fmla="*/ 0 w 9144000"/>
                  <a:gd name="connsiteY4-150" fmla="*/ 2758440 h 2758440"/>
                  <a:gd name="connsiteX5-151" fmla="*/ 9144000 w 9144000"/>
                  <a:gd name="connsiteY5-152" fmla="*/ 2712720 h 2758440"/>
                  <a:gd name="connsiteX6-153" fmla="*/ 4754880 w 9144000"/>
                  <a:gd name="connsiteY6-154" fmla="*/ 1691640 h 2758440"/>
                  <a:gd name="connsiteX0-155" fmla="*/ 4754880 w 9144000"/>
                  <a:gd name="connsiteY0-156" fmla="*/ 1691640 h 2758440"/>
                  <a:gd name="connsiteX1-157" fmla="*/ 2727960 w 9144000"/>
                  <a:gd name="connsiteY1-158" fmla="*/ 960120 h 2758440"/>
                  <a:gd name="connsiteX2-159" fmla="*/ 1844040 w 9144000"/>
                  <a:gd name="connsiteY2-160" fmla="*/ 1569720 h 2758440"/>
                  <a:gd name="connsiteX3-161" fmla="*/ 15240 w 9144000"/>
                  <a:gd name="connsiteY3-162" fmla="*/ 0 h 2758440"/>
                  <a:gd name="connsiteX4-163" fmla="*/ 0 w 9144000"/>
                  <a:gd name="connsiteY4-164" fmla="*/ 2758440 h 2758440"/>
                  <a:gd name="connsiteX5-165" fmla="*/ 9144000 w 9144000"/>
                  <a:gd name="connsiteY5-166" fmla="*/ 2712720 h 2758440"/>
                  <a:gd name="connsiteX6-167" fmla="*/ 4754880 w 9144000"/>
                  <a:gd name="connsiteY6-168" fmla="*/ 1691640 h 2758440"/>
                  <a:gd name="connsiteX0-169" fmla="*/ 4754880 w 9144000"/>
                  <a:gd name="connsiteY0-170" fmla="*/ 1691640 h 2758440"/>
                  <a:gd name="connsiteX1-171" fmla="*/ 2727960 w 9144000"/>
                  <a:gd name="connsiteY1-172" fmla="*/ 960120 h 2758440"/>
                  <a:gd name="connsiteX2-173" fmla="*/ 1844040 w 9144000"/>
                  <a:gd name="connsiteY2-174" fmla="*/ 1569720 h 2758440"/>
                  <a:gd name="connsiteX3-175" fmla="*/ 15240 w 9144000"/>
                  <a:gd name="connsiteY3-176" fmla="*/ 0 h 2758440"/>
                  <a:gd name="connsiteX4-177" fmla="*/ 0 w 9144000"/>
                  <a:gd name="connsiteY4-178" fmla="*/ 2758440 h 2758440"/>
                  <a:gd name="connsiteX5-179" fmla="*/ 9144000 w 9144000"/>
                  <a:gd name="connsiteY5-180" fmla="*/ 2712720 h 2758440"/>
                  <a:gd name="connsiteX6-181" fmla="*/ 4754880 w 9144000"/>
                  <a:gd name="connsiteY6-182" fmla="*/ 1691640 h 2758440"/>
                  <a:gd name="connsiteX0-183" fmla="*/ 4754880 w 9144000"/>
                  <a:gd name="connsiteY0-184" fmla="*/ 1691640 h 2758440"/>
                  <a:gd name="connsiteX1-185" fmla="*/ 2727960 w 9144000"/>
                  <a:gd name="connsiteY1-186" fmla="*/ 960120 h 2758440"/>
                  <a:gd name="connsiteX2-187" fmla="*/ 563880 w 9144000"/>
                  <a:gd name="connsiteY2-188" fmla="*/ 777240 h 2758440"/>
                  <a:gd name="connsiteX3-189" fmla="*/ 15240 w 9144000"/>
                  <a:gd name="connsiteY3-190" fmla="*/ 0 h 2758440"/>
                  <a:gd name="connsiteX4-191" fmla="*/ 0 w 9144000"/>
                  <a:gd name="connsiteY4-192" fmla="*/ 2758440 h 2758440"/>
                  <a:gd name="connsiteX5-193" fmla="*/ 9144000 w 9144000"/>
                  <a:gd name="connsiteY5-194" fmla="*/ 2712720 h 2758440"/>
                  <a:gd name="connsiteX6-195" fmla="*/ 4754880 w 9144000"/>
                  <a:gd name="connsiteY6-196" fmla="*/ 1691640 h 2758440"/>
                  <a:gd name="connsiteX0-197" fmla="*/ 4754880 w 9144000"/>
                  <a:gd name="connsiteY0-198" fmla="*/ 1691640 h 2758440"/>
                  <a:gd name="connsiteX1-199" fmla="*/ 2727960 w 9144000"/>
                  <a:gd name="connsiteY1-200" fmla="*/ 960120 h 2758440"/>
                  <a:gd name="connsiteX2-201" fmla="*/ 1188720 w 9144000"/>
                  <a:gd name="connsiteY2-202" fmla="*/ 1203960 h 2758440"/>
                  <a:gd name="connsiteX3-203" fmla="*/ 15240 w 9144000"/>
                  <a:gd name="connsiteY3-204" fmla="*/ 0 h 2758440"/>
                  <a:gd name="connsiteX4-205" fmla="*/ 0 w 9144000"/>
                  <a:gd name="connsiteY4-206" fmla="*/ 2758440 h 2758440"/>
                  <a:gd name="connsiteX5-207" fmla="*/ 9144000 w 9144000"/>
                  <a:gd name="connsiteY5-208" fmla="*/ 2712720 h 2758440"/>
                  <a:gd name="connsiteX6-209" fmla="*/ 4754880 w 9144000"/>
                  <a:gd name="connsiteY6-210" fmla="*/ 1691640 h 2758440"/>
                  <a:gd name="connsiteX0-211" fmla="*/ 4754880 w 9144000"/>
                  <a:gd name="connsiteY0-212" fmla="*/ 1691640 h 2758440"/>
                  <a:gd name="connsiteX1-213" fmla="*/ 2727960 w 9144000"/>
                  <a:gd name="connsiteY1-214" fmla="*/ 960120 h 2758440"/>
                  <a:gd name="connsiteX2-215" fmla="*/ 3627120 w 9144000"/>
                  <a:gd name="connsiteY2-216" fmla="*/ 2087880 h 2758440"/>
                  <a:gd name="connsiteX3-217" fmla="*/ 15240 w 9144000"/>
                  <a:gd name="connsiteY3-218" fmla="*/ 0 h 2758440"/>
                  <a:gd name="connsiteX4-219" fmla="*/ 0 w 9144000"/>
                  <a:gd name="connsiteY4-220" fmla="*/ 2758440 h 2758440"/>
                  <a:gd name="connsiteX5-221" fmla="*/ 9144000 w 9144000"/>
                  <a:gd name="connsiteY5-222" fmla="*/ 2712720 h 2758440"/>
                  <a:gd name="connsiteX6-223" fmla="*/ 4754880 w 9144000"/>
                  <a:gd name="connsiteY6-224" fmla="*/ 1691640 h 2758440"/>
                  <a:gd name="connsiteX0-225" fmla="*/ 4754880 w 9144000"/>
                  <a:gd name="connsiteY0-226" fmla="*/ 1691640 h 2758440"/>
                  <a:gd name="connsiteX1-227" fmla="*/ 5212080 w 9144000"/>
                  <a:gd name="connsiteY1-228" fmla="*/ 2148840 h 2758440"/>
                  <a:gd name="connsiteX2-229" fmla="*/ 3627120 w 9144000"/>
                  <a:gd name="connsiteY2-230" fmla="*/ 2087880 h 2758440"/>
                  <a:gd name="connsiteX3-231" fmla="*/ 15240 w 9144000"/>
                  <a:gd name="connsiteY3-232" fmla="*/ 0 h 2758440"/>
                  <a:gd name="connsiteX4-233" fmla="*/ 0 w 9144000"/>
                  <a:gd name="connsiteY4-234" fmla="*/ 2758440 h 2758440"/>
                  <a:gd name="connsiteX5-235" fmla="*/ 9144000 w 9144000"/>
                  <a:gd name="connsiteY5-236" fmla="*/ 2712720 h 2758440"/>
                  <a:gd name="connsiteX6-237" fmla="*/ 4754880 w 9144000"/>
                  <a:gd name="connsiteY6-238" fmla="*/ 1691640 h 2758440"/>
                  <a:gd name="connsiteX0-239" fmla="*/ 6614160 w 9144000"/>
                  <a:gd name="connsiteY0-240" fmla="*/ 2148840 h 2758440"/>
                  <a:gd name="connsiteX1-241" fmla="*/ 5212080 w 9144000"/>
                  <a:gd name="connsiteY1-242" fmla="*/ 2148840 h 2758440"/>
                  <a:gd name="connsiteX2-243" fmla="*/ 3627120 w 9144000"/>
                  <a:gd name="connsiteY2-244" fmla="*/ 2087880 h 2758440"/>
                  <a:gd name="connsiteX3-245" fmla="*/ 15240 w 9144000"/>
                  <a:gd name="connsiteY3-246" fmla="*/ 0 h 2758440"/>
                  <a:gd name="connsiteX4-247" fmla="*/ 0 w 9144000"/>
                  <a:gd name="connsiteY4-248" fmla="*/ 2758440 h 2758440"/>
                  <a:gd name="connsiteX5-249" fmla="*/ 9144000 w 9144000"/>
                  <a:gd name="connsiteY5-250" fmla="*/ 2712720 h 2758440"/>
                  <a:gd name="connsiteX6-251" fmla="*/ 6614160 w 9144000"/>
                  <a:gd name="connsiteY6-252" fmla="*/ 2148840 h 2758440"/>
                  <a:gd name="connsiteX0-253" fmla="*/ 6614160 w 9144000"/>
                  <a:gd name="connsiteY0-254" fmla="*/ 2148840 h 2758440"/>
                  <a:gd name="connsiteX1-255" fmla="*/ 5212080 w 9144000"/>
                  <a:gd name="connsiteY1-256" fmla="*/ 2148840 h 2758440"/>
                  <a:gd name="connsiteX2-257" fmla="*/ 3627120 w 9144000"/>
                  <a:gd name="connsiteY2-258" fmla="*/ 2087880 h 2758440"/>
                  <a:gd name="connsiteX3-259" fmla="*/ 15240 w 9144000"/>
                  <a:gd name="connsiteY3-260" fmla="*/ 0 h 2758440"/>
                  <a:gd name="connsiteX4-261" fmla="*/ 0 w 9144000"/>
                  <a:gd name="connsiteY4-262" fmla="*/ 2758440 h 2758440"/>
                  <a:gd name="connsiteX5-263" fmla="*/ 9144000 w 9144000"/>
                  <a:gd name="connsiteY5-264" fmla="*/ 2712720 h 2758440"/>
                  <a:gd name="connsiteX6-265" fmla="*/ 6614160 w 9144000"/>
                  <a:gd name="connsiteY6-266" fmla="*/ 2148840 h 2758440"/>
                  <a:gd name="connsiteX0-267" fmla="*/ 6614160 w 9144000"/>
                  <a:gd name="connsiteY0-268" fmla="*/ 2148840 h 2758440"/>
                  <a:gd name="connsiteX1-269" fmla="*/ 5212080 w 9144000"/>
                  <a:gd name="connsiteY1-270" fmla="*/ 2148840 h 2758440"/>
                  <a:gd name="connsiteX2-271" fmla="*/ 3627120 w 9144000"/>
                  <a:gd name="connsiteY2-272" fmla="*/ 2087880 h 2758440"/>
                  <a:gd name="connsiteX3-273" fmla="*/ 15240 w 9144000"/>
                  <a:gd name="connsiteY3-274" fmla="*/ 0 h 2758440"/>
                  <a:gd name="connsiteX4-275" fmla="*/ 0 w 9144000"/>
                  <a:gd name="connsiteY4-276" fmla="*/ 2758440 h 2758440"/>
                  <a:gd name="connsiteX5-277" fmla="*/ 9144000 w 9144000"/>
                  <a:gd name="connsiteY5-278" fmla="*/ 2712720 h 2758440"/>
                  <a:gd name="connsiteX6-279" fmla="*/ 6614160 w 9144000"/>
                  <a:gd name="connsiteY6-280" fmla="*/ 2148840 h 2758440"/>
                  <a:gd name="connsiteX0-281" fmla="*/ 6614160 w 9144000"/>
                  <a:gd name="connsiteY0-282" fmla="*/ 2148840 h 2758440"/>
                  <a:gd name="connsiteX1-283" fmla="*/ 5212080 w 9144000"/>
                  <a:gd name="connsiteY1-284" fmla="*/ 2148840 h 2758440"/>
                  <a:gd name="connsiteX2-285" fmla="*/ 3627120 w 9144000"/>
                  <a:gd name="connsiteY2-286" fmla="*/ 2087880 h 2758440"/>
                  <a:gd name="connsiteX3-287" fmla="*/ 15240 w 9144000"/>
                  <a:gd name="connsiteY3-288" fmla="*/ 0 h 2758440"/>
                  <a:gd name="connsiteX4-289" fmla="*/ 0 w 9144000"/>
                  <a:gd name="connsiteY4-290" fmla="*/ 2758440 h 2758440"/>
                  <a:gd name="connsiteX5-291" fmla="*/ 9144000 w 9144000"/>
                  <a:gd name="connsiteY5-292" fmla="*/ 2712720 h 2758440"/>
                  <a:gd name="connsiteX6-293" fmla="*/ 6614160 w 9144000"/>
                  <a:gd name="connsiteY6-294" fmla="*/ 2148840 h 2758440"/>
                  <a:gd name="connsiteX0-295" fmla="*/ 6614160 w 9144000"/>
                  <a:gd name="connsiteY0-296" fmla="*/ 2148840 h 2758440"/>
                  <a:gd name="connsiteX1-297" fmla="*/ 5212080 w 9144000"/>
                  <a:gd name="connsiteY1-298" fmla="*/ 2148840 h 2758440"/>
                  <a:gd name="connsiteX2-299" fmla="*/ 3627120 w 9144000"/>
                  <a:gd name="connsiteY2-300" fmla="*/ 2087880 h 2758440"/>
                  <a:gd name="connsiteX3-301" fmla="*/ 15240 w 9144000"/>
                  <a:gd name="connsiteY3-302" fmla="*/ 0 h 2758440"/>
                  <a:gd name="connsiteX4-303" fmla="*/ 0 w 9144000"/>
                  <a:gd name="connsiteY4-304" fmla="*/ 2758440 h 2758440"/>
                  <a:gd name="connsiteX5-305" fmla="*/ 9144000 w 9144000"/>
                  <a:gd name="connsiteY5-306" fmla="*/ 2712720 h 2758440"/>
                  <a:gd name="connsiteX6-307" fmla="*/ 6614160 w 9144000"/>
                  <a:gd name="connsiteY6-308" fmla="*/ 2148840 h 2758440"/>
                  <a:gd name="connsiteX0-309" fmla="*/ 9144000 w 9144000"/>
                  <a:gd name="connsiteY0-310" fmla="*/ 2712720 h 2758440"/>
                  <a:gd name="connsiteX1-311" fmla="*/ 5212080 w 9144000"/>
                  <a:gd name="connsiteY1-312" fmla="*/ 2148840 h 2758440"/>
                  <a:gd name="connsiteX2-313" fmla="*/ 3627120 w 9144000"/>
                  <a:gd name="connsiteY2-314" fmla="*/ 2087880 h 2758440"/>
                  <a:gd name="connsiteX3-315" fmla="*/ 15240 w 9144000"/>
                  <a:gd name="connsiteY3-316" fmla="*/ 0 h 2758440"/>
                  <a:gd name="connsiteX4-317" fmla="*/ 0 w 9144000"/>
                  <a:gd name="connsiteY4-318" fmla="*/ 2758440 h 2758440"/>
                  <a:gd name="connsiteX5-319" fmla="*/ 9144000 w 9144000"/>
                  <a:gd name="connsiteY5-320" fmla="*/ 2712720 h 2758440"/>
                  <a:gd name="connsiteX0-321" fmla="*/ 9144000 w 9144000"/>
                  <a:gd name="connsiteY0-322" fmla="*/ 2712720 h 2758440"/>
                  <a:gd name="connsiteX1-323" fmla="*/ 6949440 w 9144000"/>
                  <a:gd name="connsiteY1-324" fmla="*/ 2453640 h 2758440"/>
                  <a:gd name="connsiteX2-325" fmla="*/ 3627120 w 9144000"/>
                  <a:gd name="connsiteY2-326" fmla="*/ 2087880 h 2758440"/>
                  <a:gd name="connsiteX3-327" fmla="*/ 15240 w 9144000"/>
                  <a:gd name="connsiteY3-328" fmla="*/ 0 h 2758440"/>
                  <a:gd name="connsiteX4-329" fmla="*/ 0 w 9144000"/>
                  <a:gd name="connsiteY4-330" fmla="*/ 2758440 h 2758440"/>
                  <a:gd name="connsiteX5-331" fmla="*/ 9144000 w 9144000"/>
                  <a:gd name="connsiteY5-332" fmla="*/ 2712720 h 2758440"/>
                  <a:gd name="connsiteX0-333" fmla="*/ 9144000 w 9144000"/>
                  <a:gd name="connsiteY0-334" fmla="*/ 2712720 h 2758440"/>
                  <a:gd name="connsiteX1-335" fmla="*/ 7025640 w 9144000"/>
                  <a:gd name="connsiteY1-336" fmla="*/ 2407920 h 2758440"/>
                  <a:gd name="connsiteX2-337" fmla="*/ 3627120 w 9144000"/>
                  <a:gd name="connsiteY2-338" fmla="*/ 2087880 h 2758440"/>
                  <a:gd name="connsiteX3-339" fmla="*/ 15240 w 9144000"/>
                  <a:gd name="connsiteY3-340" fmla="*/ 0 h 2758440"/>
                  <a:gd name="connsiteX4-341" fmla="*/ 0 w 9144000"/>
                  <a:gd name="connsiteY4-342" fmla="*/ 2758440 h 2758440"/>
                  <a:gd name="connsiteX5-343" fmla="*/ 9144000 w 9144000"/>
                  <a:gd name="connsiteY5-344" fmla="*/ 2712720 h 2758440"/>
                  <a:gd name="connsiteX0-345" fmla="*/ 9144000 w 9144000"/>
                  <a:gd name="connsiteY0-346" fmla="*/ 2712720 h 2758440"/>
                  <a:gd name="connsiteX1-347" fmla="*/ 7025640 w 9144000"/>
                  <a:gd name="connsiteY1-348" fmla="*/ 2407920 h 2758440"/>
                  <a:gd name="connsiteX2-349" fmla="*/ 3627120 w 9144000"/>
                  <a:gd name="connsiteY2-350" fmla="*/ 2087880 h 2758440"/>
                  <a:gd name="connsiteX3-351" fmla="*/ 15240 w 9144000"/>
                  <a:gd name="connsiteY3-352" fmla="*/ 0 h 2758440"/>
                  <a:gd name="connsiteX4-353" fmla="*/ 0 w 9144000"/>
                  <a:gd name="connsiteY4-354" fmla="*/ 2758440 h 2758440"/>
                  <a:gd name="connsiteX5-355" fmla="*/ 9144000 w 9144000"/>
                  <a:gd name="connsiteY5-356" fmla="*/ 2712720 h 2758440"/>
                  <a:gd name="connsiteX0-357" fmla="*/ 9144000 w 9144000"/>
                  <a:gd name="connsiteY0-358" fmla="*/ 2712720 h 2758440"/>
                  <a:gd name="connsiteX1-359" fmla="*/ 6979920 w 9144000"/>
                  <a:gd name="connsiteY1-360" fmla="*/ 2468880 h 2758440"/>
                  <a:gd name="connsiteX2-361" fmla="*/ 3627120 w 9144000"/>
                  <a:gd name="connsiteY2-362" fmla="*/ 2087880 h 2758440"/>
                  <a:gd name="connsiteX3-363" fmla="*/ 15240 w 9144000"/>
                  <a:gd name="connsiteY3-364" fmla="*/ 0 h 2758440"/>
                  <a:gd name="connsiteX4-365" fmla="*/ 0 w 9144000"/>
                  <a:gd name="connsiteY4-366" fmla="*/ 2758440 h 2758440"/>
                  <a:gd name="connsiteX5-367" fmla="*/ 9144000 w 9144000"/>
                  <a:gd name="connsiteY5-368" fmla="*/ 2712720 h 2758440"/>
                  <a:gd name="connsiteX0-369" fmla="*/ 9144000 w 9144000"/>
                  <a:gd name="connsiteY0-370" fmla="*/ 2712720 h 2758440"/>
                  <a:gd name="connsiteX1-371" fmla="*/ 6979920 w 9144000"/>
                  <a:gd name="connsiteY1-372" fmla="*/ 2468880 h 2758440"/>
                  <a:gd name="connsiteX2-373" fmla="*/ 3627120 w 9144000"/>
                  <a:gd name="connsiteY2-374" fmla="*/ 2087880 h 2758440"/>
                  <a:gd name="connsiteX3-375" fmla="*/ 15240 w 9144000"/>
                  <a:gd name="connsiteY3-376" fmla="*/ 0 h 2758440"/>
                  <a:gd name="connsiteX4-377" fmla="*/ 0 w 9144000"/>
                  <a:gd name="connsiteY4-378" fmla="*/ 2758440 h 2758440"/>
                  <a:gd name="connsiteX5-379" fmla="*/ 9144000 w 9144000"/>
                  <a:gd name="connsiteY5-380" fmla="*/ 2712720 h 2758440"/>
                  <a:gd name="connsiteX0-381" fmla="*/ 9144000 w 9144000"/>
                  <a:gd name="connsiteY0-382" fmla="*/ 2712720 h 2758440"/>
                  <a:gd name="connsiteX1-383" fmla="*/ 6934200 w 9144000"/>
                  <a:gd name="connsiteY1-384" fmla="*/ 2545080 h 2758440"/>
                  <a:gd name="connsiteX2-385" fmla="*/ 3627120 w 9144000"/>
                  <a:gd name="connsiteY2-386" fmla="*/ 2087880 h 2758440"/>
                  <a:gd name="connsiteX3-387" fmla="*/ 15240 w 9144000"/>
                  <a:gd name="connsiteY3-388" fmla="*/ 0 h 2758440"/>
                  <a:gd name="connsiteX4-389" fmla="*/ 0 w 9144000"/>
                  <a:gd name="connsiteY4-390" fmla="*/ 2758440 h 2758440"/>
                  <a:gd name="connsiteX5-391" fmla="*/ 9144000 w 9144000"/>
                  <a:gd name="connsiteY5-392" fmla="*/ 2712720 h 2758440"/>
                  <a:gd name="connsiteX0-393" fmla="*/ 9144000 w 9144000"/>
                  <a:gd name="connsiteY0-394" fmla="*/ 2712720 h 2758440"/>
                  <a:gd name="connsiteX1-395" fmla="*/ 6934200 w 9144000"/>
                  <a:gd name="connsiteY1-396" fmla="*/ 2545080 h 2758440"/>
                  <a:gd name="connsiteX2-397" fmla="*/ 3627120 w 9144000"/>
                  <a:gd name="connsiteY2-398" fmla="*/ 2087880 h 2758440"/>
                  <a:gd name="connsiteX3-399" fmla="*/ 15240 w 9144000"/>
                  <a:gd name="connsiteY3-400" fmla="*/ 0 h 2758440"/>
                  <a:gd name="connsiteX4-401" fmla="*/ 0 w 9144000"/>
                  <a:gd name="connsiteY4-402" fmla="*/ 2758440 h 2758440"/>
                  <a:gd name="connsiteX5-403" fmla="*/ 9144000 w 9144000"/>
                  <a:gd name="connsiteY5-404" fmla="*/ 2712720 h 2758440"/>
                  <a:gd name="connsiteX0-405" fmla="*/ 9144000 w 9144000"/>
                  <a:gd name="connsiteY0-406" fmla="*/ 2712720 h 2758440"/>
                  <a:gd name="connsiteX1-407" fmla="*/ 6934200 w 9144000"/>
                  <a:gd name="connsiteY1-408" fmla="*/ 2545080 h 2758440"/>
                  <a:gd name="connsiteX2-409" fmla="*/ 3611880 w 9144000"/>
                  <a:gd name="connsiteY2-410" fmla="*/ 2164080 h 2758440"/>
                  <a:gd name="connsiteX3-411" fmla="*/ 15240 w 9144000"/>
                  <a:gd name="connsiteY3-412" fmla="*/ 0 h 2758440"/>
                  <a:gd name="connsiteX4-413" fmla="*/ 0 w 9144000"/>
                  <a:gd name="connsiteY4-414" fmla="*/ 2758440 h 2758440"/>
                  <a:gd name="connsiteX5-415" fmla="*/ 9144000 w 9144000"/>
                  <a:gd name="connsiteY5-416" fmla="*/ 2712720 h 2758440"/>
                  <a:gd name="connsiteX0-417" fmla="*/ 9144000 w 9144000"/>
                  <a:gd name="connsiteY0-418" fmla="*/ 2712720 h 2758440"/>
                  <a:gd name="connsiteX1-419" fmla="*/ 6934200 w 9144000"/>
                  <a:gd name="connsiteY1-420" fmla="*/ 2545080 h 2758440"/>
                  <a:gd name="connsiteX2-421" fmla="*/ 3611880 w 9144000"/>
                  <a:gd name="connsiteY2-422" fmla="*/ 2164080 h 2758440"/>
                  <a:gd name="connsiteX3-423" fmla="*/ 15240 w 9144000"/>
                  <a:gd name="connsiteY3-424" fmla="*/ 0 h 2758440"/>
                  <a:gd name="connsiteX4-425" fmla="*/ 0 w 9144000"/>
                  <a:gd name="connsiteY4-426" fmla="*/ 2758440 h 2758440"/>
                  <a:gd name="connsiteX5-427" fmla="*/ 9144000 w 9144000"/>
                  <a:gd name="connsiteY5-428" fmla="*/ 2712720 h 2758440"/>
                  <a:gd name="connsiteX0-429" fmla="*/ 9128760 w 9128760"/>
                  <a:gd name="connsiteY0-430" fmla="*/ 2758440 h 2758440"/>
                  <a:gd name="connsiteX1-431" fmla="*/ 6934200 w 9128760"/>
                  <a:gd name="connsiteY1-432" fmla="*/ 2545080 h 2758440"/>
                  <a:gd name="connsiteX2-433" fmla="*/ 3611880 w 9128760"/>
                  <a:gd name="connsiteY2-434" fmla="*/ 2164080 h 2758440"/>
                  <a:gd name="connsiteX3-435" fmla="*/ 15240 w 9128760"/>
                  <a:gd name="connsiteY3-436" fmla="*/ 0 h 2758440"/>
                  <a:gd name="connsiteX4-437" fmla="*/ 0 w 9128760"/>
                  <a:gd name="connsiteY4-438" fmla="*/ 2758440 h 2758440"/>
                  <a:gd name="connsiteX5-439" fmla="*/ 9128760 w 9128760"/>
                  <a:gd name="connsiteY5-440" fmla="*/ 2758440 h 2758440"/>
                  <a:gd name="connsiteX0-441" fmla="*/ 9128760 w 9128760"/>
                  <a:gd name="connsiteY0-442" fmla="*/ 2758440 h 2758440"/>
                  <a:gd name="connsiteX1-443" fmla="*/ 6934200 w 9128760"/>
                  <a:gd name="connsiteY1-444" fmla="*/ 2545080 h 2758440"/>
                  <a:gd name="connsiteX2-445" fmla="*/ 3611880 w 9128760"/>
                  <a:gd name="connsiteY2-446" fmla="*/ 2164080 h 2758440"/>
                  <a:gd name="connsiteX3-447" fmla="*/ 15240 w 9128760"/>
                  <a:gd name="connsiteY3-448" fmla="*/ 0 h 2758440"/>
                  <a:gd name="connsiteX4-449" fmla="*/ 0 w 9128760"/>
                  <a:gd name="connsiteY4-450" fmla="*/ 2758440 h 2758440"/>
                  <a:gd name="connsiteX5-451" fmla="*/ 9128760 w 9128760"/>
                  <a:gd name="connsiteY5-452" fmla="*/ 2758440 h 2758440"/>
                  <a:gd name="connsiteX0-453" fmla="*/ 9128760 w 9128760"/>
                  <a:gd name="connsiteY0-454" fmla="*/ 2758440 h 2758440"/>
                  <a:gd name="connsiteX1-455" fmla="*/ 6934200 w 9128760"/>
                  <a:gd name="connsiteY1-456" fmla="*/ 2545080 h 2758440"/>
                  <a:gd name="connsiteX2-457" fmla="*/ 3672840 w 9128760"/>
                  <a:gd name="connsiteY2-458" fmla="*/ 1896471 h 2758440"/>
                  <a:gd name="connsiteX3-459" fmla="*/ 15240 w 9128760"/>
                  <a:gd name="connsiteY3-460" fmla="*/ 0 h 2758440"/>
                  <a:gd name="connsiteX4-461" fmla="*/ 0 w 9128760"/>
                  <a:gd name="connsiteY4-462" fmla="*/ 2758440 h 2758440"/>
                  <a:gd name="connsiteX5-463" fmla="*/ 9128760 w 9128760"/>
                  <a:gd name="connsiteY5-464" fmla="*/ 2758440 h 2758440"/>
                  <a:gd name="connsiteX0-465" fmla="*/ 9128760 w 9128760"/>
                  <a:gd name="connsiteY0-466" fmla="*/ 2758440 h 2758440"/>
                  <a:gd name="connsiteX1-467" fmla="*/ 6934200 w 9128760"/>
                  <a:gd name="connsiteY1-468" fmla="*/ 2545080 h 2758440"/>
                  <a:gd name="connsiteX2-469" fmla="*/ 3672840 w 9128760"/>
                  <a:gd name="connsiteY2-470" fmla="*/ 1896471 h 2758440"/>
                  <a:gd name="connsiteX3-471" fmla="*/ 15240 w 9128760"/>
                  <a:gd name="connsiteY3-472" fmla="*/ 0 h 2758440"/>
                  <a:gd name="connsiteX4-473" fmla="*/ 0 w 9128760"/>
                  <a:gd name="connsiteY4-474" fmla="*/ 2758440 h 2758440"/>
                  <a:gd name="connsiteX5-475" fmla="*/ 9128760 w 9128760"/>
                  <a:gd name="connsiteY5-476" fmla="*/ 2758440 h 2758440"/>
                  <a:gd name="connsiteX0-477" fmla="*/ 9128760 w 9128760"/>
                  <a:gd name="connsiteY0-478" fmla="*/ 2758440 h 2758440"/>
                  <a:gd name="connsiteX1-479" fmla="*/ 6934200 w 9128760"/>
                  <a:gd name="connsiteY1-480" fmla="*/ 2545080 h 2758440"/>
                  <a:gd name="connsiteX2-481" fmla="*/ 3657600 w 9128760"/>
                  <a:gd name="connsiteY2-482" fmla="*/ 1999398 h 2758440"/>
                  <a:gd name="connsiteX3-483" fmla="*/ 15240 w 9128760"/>
                  <a:gd name="connsiteY3-484" fmla="*/ 0 h 2758440"/>
                  <a:gd name="connsiteX4-485" fmla="*/ 0 w 9128760"/>
                  <a:gd name="connsiteY4-486" fmla="*/ 2758440 h 2758440"/>
                  <a:gd name="connsiteX5-487" fmla="*/ 9128760 w 9128760"/>
                  <a:gd name="connsiteY5-488" fmla="*/ 2758440 h 2758440"/>
                  <a:gd name="connsiteX0-489" fmla="*/ 9128760 w 9128760"/>
                  <a:gd name="connsiteY0-490" fmla="*/ 2758440 h 2758440"/>
                  <a:gd name="connsiteX1-491" fmla="*/ 6934200 w 9128760"/>
                  <a:gd name="connsiteY1-492" fmla="*/ 2545080 h 2758440"/>
                  <a:gd name="connsiteX2-493" fmla="*/ 3657600 w 9128760"/>
                  <a:gd name="connsiteY2-494" fmla="*/ 1999398 h 2758440"/>
                  <a:gd name="connsiteX3-495" fmla="*/ 15240 w 9128760"/>
                  <a:gd name="connsiteY3-496" fmla="*/ 0 h 2758440"/>
                  <a:gd name="connsiteX4-497" fmla="*/ 0 w 9128760"/>
                  <a:gd name="connsiteY4-498" fmla="*/ 2758440 h 2758440"/>
                  <a:gd name="connsiteX5-499" fmla="*/ 9128760 w 9128760"/>
                  <a:gd name="connsiteY5-500" fmla="*/ 2758440 h 2758440"/>
                  <a:gd name="connsiteX0-501" fmla="*/ 9128760 w 9128760"/>
                  <a:gd name="connsiteY0-502" fmla="*/ 2758440 h 2758440"/>
                  <a:gd name="connsiteX1-503" fmla="*/ 6934200 w 9128760"/>
                  <a:gd name="connsiteY1-504" fmla="*/ 2545080 h 2758440"/>
                  <a:gd name="connsiteX2-505" fmla="*/ 3657600 w 9128760"/>
                  <a:gd name="connsiteY2-506" fmla="*/ 1999398 h 2758440"/>
                  <a:gd name="connsiteX3-507" fmla="*/ 15240 w 9128760"/>
                  <a:gd name="connsiteY3-508" fmla="*/ 0 h 2758440"/>
                  <a:gd name="connsiteX4-509" fmla="*/ 0 w 9128760"/>
                  <a:gd name="connsiteY4-510" fmla="*/ 2758440 h 2758440"/>
                  <a:gd name="connsiteX5-511" fmla="*/ 9128760 w 9128760"/>
                  <a:gd name="connsiteY5-512" fmla="*/ 2758440 h 2758440"/>
                  <a:gd name="connsiteX0-513" fmla="*/ 9128760 w 9128760"/>
                  <a:gd name="connsiteY0-514" fmla="*/ 2758440 h 2758440"/>
                  <a:gd name="connsiteX1-515" fmla="*/ 6934200 w 9128760"/>
                  <a:gd name="connsiteY1-516" fmla="*/ 2545080 h 2758440"/>
                  <a:gd name="connsiteX2-517" fmla="*/ 3657600 w 9128760"/>
                  <a:gd name="connsiteY2-518" fmla="*/ 1999398 h 2758440"/>
                  <a:gd name="connsiteX3-519" fmla="*/ 15240 w 9128760"/>
                  <a:gd name="connsiteY3-520" fmla="*/ 0 h 2758440"/>
                  <a:gd name="connsiteX4-521" fmla="*/ 0 w 9128760"/>
                  <a:gd name="connsiteY4-522" fmla="*/ 2758440 h 2758440"/>
                  <a:gd name="connsiteX5-523" fmla="*/ 9128760 w 9128760"/>
                  <a:gd name="connsiteY5-524" fmla="*/ 2758440 h 2758440"/>
                  <a:gd name="connsiteX0-525" fmla="*/ 9128760 w 9128760"/>
                  <a:gd name="connsiteY0-526" fmla="*/ 2758440 h 2758440"/>
                  <a:gd name="connsiteX1-527" fmla="*/ 7391400 w 9128760"/>
                  <a:gd name="connsiteY1-528" fmla="*/ 2604083 h 2758440"/>
                  <a:gd name="connsiteX2-529" fmla="*/ 3657600 w 9128760"/>
                  <a:gd name="connsiteY2-530" fmla="*/ 1999398 h 2758440"/>
                  <a:gd name="connsiteX3-531" fmla="*/ 15240 w 9128760"/>
                  <a:gd name="connsiteY3-532" fmla="*/ 0 h 2758440"/>
                  <a:gd name="connsiteX4-533" fmla="*/ 0 w 9128760"/>
                  <a:gd name="connsiteY4-534" fmla="*/ 2758440 h 2758440"/>
                  <a:gd name="connsiteX5-535" fmla="*/ 9128760 w 9128760"/>
                  <a:gd name="connsiteY5-536" fmla="*/ 2758440 h 2758440"/>
                  <a:gd name="connsiteX0-537" fmla="*/ 9128760 w 9128760"/>
                  <a:gd name="connsiteY0-538" fmla="*/ 2758440 h 2758440"/>
                  <a:gd name="connsiteX1-539" fmla="*/ 7391400 w 9128760"/>
                  <a:gd name="connsiteY1-540" fmla="*/ 2604083 h 2758440"/>
                  <a:gd name="connsiteX2-541" fmla="*/ 3657600 w 9128760"/>
                  <a:gd name="connsiteY2-542" fmla="*/ 1999398 h 2758440"/>
                  <a:gd name="connsiteX3-543" fmla="*/ 15240 w 9128760"/>
                  <a:gd name="connsiteY3-544" fmla="*/ 0 h 2758440"/>
                  <a:gd name="connsiteX4-545" fmla="*/ 0 w 9128760"/>
                  <a:gd name="connsiteY4-546" fmla="*/ 2758440 h 2758440"/>
                  <a:gd name="connsiteX5-547" fmla="*/ 9128760 w 9128760"/>
                  <a:gd name="connsiteY5-548" fmla="*/ 2758440 h 2758440"/>
                  <a:gd name="connsiteX0-549" fmla="*/ 9128760 w 9128760"/>
                  <a:gd name="connsiteY0-550" fmla="*/ 2758440 h 2758440"/>
                  <a:gd name="connsiteX1-551" fmla="*/ 7391400 w 9128760"/>
                  <a:gd name="connsiteY1-552" fmla="*/ 2604083 h 2758440"/>
                  <a:gd name="connsiteX2-553" fmla="*/ 3657600 w 9128760"/>
                  <a:gd name="connsiteY2-554" fmla="*/ 1999398 h 2758440"/>
                  <a:gd name="connsiteX3-555" fmla="*/ 15240 w 9128760"/>
                  <a:gd name="connsiteY3-556" fmla="*/ 0 h 2758440"/>
                  <a:gd name="connsiteX4-557" fmla="*/ 0 w 9128760"/>
                  <a:gd name="connsiteY4-558" fmla="*/ 2758440 h 2758440"/>
                  <a:gd name="connsiteX5-559" fmla="*/ 9128760 w 9128760"/>
                  <a:gd name="connsiteY5-560" fmla="*/ 2758440 h 2758440"/>
                  <a:gd name="connsiteX0-561" fmla="*/ 9128760 w 9128760"/>
                  <a:gd name="connsiteY0-562" fmla="*/ 2758440 h 2758440"/>
                  <a:gd name="connsiteX1-563" fmla="*/ 7391400 w 9128760"/>
                  <a:gd name="connsiteY1-564" fmla="*/ 2604083 h 2758440"/>
                  <a:gd name="connsiteX2-565" fmla="*/ 3657600 w 9128760"/>
                  <a:gd name="connsiteY2-566" fmla="*/ 1999398 h 2758440"/>
                  <a:gd name="connsiteX3-567" fmla="*/ 15240 w 9128760"/>
                  <a:gd name="connsiteY3-568" fmla="*/ 0 h 2758440"/>
                  <a:gd name="connsiteX4-569" fmla="*/ 0 w 9128760"/>
                  <a:gd name="connsiteY4-570" fmla="*/ 2758440 h 2758440"/>
                  <a:gd name="connsiteX5-571" fmla="*/ 9128760 w 9128760"/>
                  <a:gd name="connsiteY5-572" fmla="*/ 2758440 h 2758440"/>
                  <a:gd name="connsiteX0-573" fmla="*/ 9128760 w 9128760"/>
                  <a:gd name="connsiteY0-574" fmla="*/ 2758440 h 2758440"/>
                  <a:gd name="connsiteX1-575" fmla="*/ 7391400 w 9128760"/>
                  <a:gd name="connsiteY1-576" fmla="*/ 2604083 h 2758440"/>
                  <a:gd name="connsiteX2-577" fmla="*/ 3657600 w 9128760"/>
                  <a:gd name="connsiteY2-578" fmla="*/ 1999398 h 2758440"/>
                  <a:gd name="connsiteX3-579" fmla="*/ 15240 w 9128760"/>
                  <a:gd name="connsiteY3-580" fmla="*/ 0 h 2758440"/>
                  <a:gd name="connsiteX4-581" fmla="*/ 0 w 9128760"/>
                  <a:gd name="connsiteY4-582" fmla="*/ 2758440 h 2758440"/>
                  <a:gd name="connsiteX5-583" fmla="*/ 9128760 w 9128760"/>
                  <a:gd name="connsiteY5-584" fmla="*/ 2758440 h 27584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5" name="组合 34"/>
          <p:cNvGrpSpPr/>
          <p:nvPr/>
        </p:nvGrpSpPr>
        <p:grpSpPr>
          <a:xfrm>
            <a:off x="2957745" y="2625211"/>
            <a:ext cx="3839514" cy="1273669"/>
            <a:chOff x="4176244" y="2503544"/>
            <a:chExt cx="3839514" cy="1273669"/>
          </a:xfrm>
        </p:grpSpPr>
        <p:sp>
          <p:nvSpPr>
            <p:cNvPr id="36" name="文本框 35"/>
            <p:cNvSpPr txBox="1"/>
            <p:nvPr/>
          </p:nvSpPr>
          <p:spPr>
            <a:xfrm>
              <a:off x="4176244" y="2503544"/>
              <a:ext cx="3839514" cy="923330"/>
            </a:xfrm>
            <a:prstGeom prst="rect">
              <a:avLst/>
            </a:prstGeom>
            <a:noFill/>
          </p:spPr>
          <p:txBody>
            <a:bodyPr wrap="square" rtlCol="0">
              <a:spAutoFit/>
            </a:bodyPr>
            <a:lstStyle/>
            <a:p>
              <a:pPr algn="ctr"/>
              <a:r>
                <a:rPr kumimoji="1" lang="zh-CN" altLang="en-US" sz="5400" b="1" spc="300" dirty="0">
                  <a:ln w="9525">
                    <a:noFill/>
                  </a:ln>
                  <a:solidFill>
                    <a:srgbClr val="C00000"/>
                  </a:solidFill>
                  <a:latin typeface="Arial" panose="020B0604020202020204" pitchFamily="34" charset="0"/>
                  <a:ea typeface="微软雅黑" panose="020B0503020204020204" pitchFamily="34" charset="-122"/>
                  <a:cs typeface="Arial" panose="020B0604020202020204" pitchFamily="34" charset="0"/>
                </a:rPr>
                <a:t>谢 谢 ！</a:t>
              </a:r>
            </a:p>
          </p:txBody>
        </p:sp>
        <p:sp>
          <p:nvSpPr>
            <p:cNvPr id="37" name="文本框 36"/>
            <p:cNvSpPr txBox="1"/>
            <p:nvPr/>
          </p:nvSpPr>
          <p:spPr>
            <a:xfrm>
              <a:off x="4750718" y="3377103"/>
              <a:ext cx="2140522" cy="400110"/>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微软雅黑" panose="020B0503020204020204" pitchFamily="34" charset="-122"/>
                  <a:cs typeface="Arial" panose="020B0604020202020204" pitchFamily="34" charset="0"/>
                </a:rPr>
                <a:t>THANK YOU</a:t>
              </a:r>
              <a:endParaRPr kumimoji="1" lang="zh-CN" altLang="en-US" sz="2000" spc="4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grpSp>
      <p:pic>
        <p:nvPicPr>
          <p:cNvPr id="38" name="图片 37"/>
          <p:cNvPicPr>
            <a:picLocks noChangeAspect="1"/>
          </p:cNvPicPr>
          <p:nvPr/>
        </p:nvPicPr>
        <p:blipFill>
          <a:blip r:embed="rId4"/>
          <a:stretch>
            <a:fillRect/>
          </a:stretch>
        </p:blipFill>
        <p:spPr>
          <a:xfrm>
            <a:off x="335655" y="331579"/>
            <a:ext cx="2430253" cy="5718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ab53e43-27c5-447a-bdd1-f9f34c0f73f4"/>
  <p:tag name="COMMONDATA" val="eyJoZGlkIjoiY2QxYTk3NDU3ZTE1ZWE3ODAwYzBmODdkMWIxMzg5YmMifQ=="/>
</p:tagLst>
</file>

<file path=ppt/tags/tag2.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4.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5.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6.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7.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8.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9.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10.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11.xml><?xml version="1.0" encoding="utf-8"?>
<p:tagLst xmlns:a="http://schemas.openxmlformats.org/drawingml/2006/main" xmlns:r="http://schemas.openxmlformats.org/officeDocument/2006/relationships" xmlns:p="http://schemas.openxmlformats.org/presentationml/2006/main">
  <p:tag name="ISLIDE.ICON" val="#160291;#44057;#35785;#153139;#40521;"/>
</p:tagLst>
</file>

<file path=ppt/tags/tag12.xml><?xml version="1.0" encoding="utf-8"?>
<p:tagLst xmlns:a="http://schemas.openxmlformats.org/drawingml/2006/main" xmlns:r="http://schemas.openxmlformats.org/officeDocument/2006/relationships" xmlns:p="http://schemas.openxmlformats.org/presentationml/2006/main">
  <p:tag name="ISLIDE.ICON" val="#160291;#44057;#35785;#153139;#40521;"/>
</p:tagLst>
</file>

<file path=ppt/tags/tag13.xml><?xml version="1.0" encoding="utf-8"?>
<p:tagLst xmlns:a="http://schemas.openxmlformats.org/drawingml/2006/main" xmlns:r="http://schemas.openxmlformats.org/officeDocument/2006/relationships" xmlns:p="http://schemas.openxmlformats.org/presentationml/2006/main">
  <p:tag name="ISLIDE.ICON" val="#160291;#44057;#35785;#153139;#40521;"/>
</p:tagLst>
</file>

<file path=ppt/tags/tag14.xml><?xml version="1.0" encoding="utf-8"?>
<p:tagLst xmlns:a="http://schemas.openxmlformats.org/drawingml/2006/main" xmlns:r="http://schemas.openxmlformats.org/officeDocument/2006/relationships" xmlns:p="http://schemas.openxmlformats.org/presentationml/2006/main">
  <p:tag name="ISLIDE.ICON" val="#160291;#44057;#35785;#153139;#40521;"/>
</p:tagLst>
</file>

<file path=ppt/tags/tag15.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16.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17.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18.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19.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0.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1.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2.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3.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4.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5.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6.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7.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8.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29.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0.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1.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2.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3.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4.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5.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ags/tag36.xml><?xml version="1.0" encoding="utf-8"?>
<p:tagLst xmlns:a="http://schemas.openxmlformats.org/drawingml/2006/main" xmlns:r="http://schemas.openxmlformats.org/officeDocument/2006/relationships" xmlns:p="http://schemas.openxmlformats.org/presentationml/2006/main">
  <p:tag name="ISLIDE.ICON" val="#393631;#182144;"/>
  <p:tag name="ISLIDE.VECTOR" val="#209404;#209366;#191058;"/>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jAyMjcyMzIwOTQ4IiwKCSJHcm91cElkIiA6ICI0NDYxMTMyODIiLAoJIkltYWdlIiA6ICJpVkJPUncwS0dnb0FBQUFOU1VoRVVnQUFCUkVBQUFRaENBWUFBQUM2RDhnR0FBQUFDWEJJV1hNQUFBc1RBQUFMRXdFQW1wd1lBQUFnQUVsRVFWUjRuT3pkZVZqVTVmNy84ZGV3cjdLSmlFb2k3dUJDN2l0SE15M1hMTnN0NjVRbjI3VTZuY3J5bEpXbGRxeGpWclp5YkxHME10ZktEZmNGS0hkeEYwVU1GUVNFa0hXRytmM2hqL21Hd0RBSU1xTFB4M1Z4NVh3KzkvMjUzd05jQmkvdnhXQTJtODBDQUFBQUFBQUFjTTB5R0F3R2EvY2RhcXNRQUFBQUFBQUFBSFVUSVNJQUFBQUFBQUFBcXdnUkFRQUFBQUFBQUZoRmlBZ0FBQUFBQUFEQUtrSkVBQUFBQUFBQUFGWVJJZ0lBQUFBQUFBQ3dpaEFSQUFBQUFBQUFnRldFaUFBQUFBQUFBQUNzSWtRRUFBQUFBQUFBWUJVaElnQUFBQUFBQUFDckNCRUJBQUFBQUFBQVdFV0lDQUFBQUFBQUFNQXFRa1FBQUFBQUFBQUFWaEVpQWdBQUFBQUFBTENLRUJFQUFBQUFBQUNBVllTSUFBQUFBQUFBQUt3aVJBUUFBQUFBQUFCZ0ZTRWlBQUFBQUFBQUFLc0lFUUVBQUFBQUFBQllSWWdJQUFBQUFBQUF3Q3BDUkFBQUFBQUFBQUJXRVNJQ0FBQUFBQUFBc0lvUUVRQUFBQUFBQUlCVmhJZ0FBQUFBQUFBQXJDSkVCQUFBQUFBQUFHQVZJU0lBQUFBQUFBQUFxd2dSQVFBQUFBQUFBRmhGaUFnQUFBQUFBQURBS2tKRUFBQUFBQUFBQUZZUklnSUFBQUFBQUFDd2loQVJBQUFBQUFBQWdGV0VpQUFBQUFBQUFBQ3NJa1FFQUFBQUFBQUFZQlVoSWdBQUFBQUFBQUNyQ0JFQkFBQUFBQUFBV0VXSUNBQUFBQUFBQU1BcVFrUUFBQUFBQUFBQVZoRWlBZ0FBQUFBQUFMQ0tFQkVBQUFBQUFBQ0FWWVNJQUFBQUFBQUFBS3dpUkFRQUFBQUFBQUJnRlNFaUFBQUFBQUFBQUtzSUVRRUFBQUFBQUFCWVJZZ0lBQUFBQUFBQXdDcENSQUFBQUFBQUFBQldFU0lDQUFBQUFBQUFzSW9RRVFBQUFBQUFBSUJWaElnQUFBQUFBQUFBckNKRUJBQUFBQUFBQUdBVklTSUFBQUFBQUFBQXF3Z1JBUUFBQUFBQUFGaEZpQWdBQUFBQUFBREFLa0pFQUFBQUFBQUFBRllSSWdJQUFBQUFBQUN3aWhBUkFBQUFBQUFBZ0ZXRWlBQUFBQUFBQUFDc2NySjNBUUFBNE5wbE5CcVZsSlNrdExRMDVlWGx5V1F5MmJzazFBSkhSMGU1dTdzck1EQlFUWnMybFpNVFA1TCsxWjQ5ZTNUZ3dBSGRjY2NkVmU1NzRNQUJIVDU4V0lNSEQ3NXNuOWNEQnc0b1BUMWR2WHIxa3NGZ3VDeGpYS3JpNG1LdFhidFc3dTd1NnRXcmw3M0wwZkhqeCtYdDdhMkFnQUI3bHdJQVFMWHhFeHNBQUxDTGpJd003ZHUzVHdFQkFXcmJ0cTI4dkx6azZPaG83N0pRQzB3bWszSnljcFNTa3FMWTJGaUZoNGZMMzkvZjNtVmRNZUxpNGpSLy92eExDaEdYTGwycXVMZzREUmt5eEhMTmJEYnIvUG56eXM3T3RueWNPM2RPbVptWnlzek1WSHA2dW02NTVSYTFhOWZPcGpIbXpKbWpYYnQyNmRkZmY2MXlmWmRiVVZHUm9xT2pWVnhjckM1ZHVzakZ4Y1htdmg5OTlKRVdMbHhZNVRGWHJWcFY3bld6MmF5MzMzNWI1OCtmMTVkZmZpbEhSMGN0VzdhczB1ZTFhOWRPb2FHaGxiWXJLQ2hRYW1xcVRUVUdCQVRJdzhQRHByWUFBRlNFRUJFQUFOUzZqSXdNSlNRa3FGMjdkdkx6ODdOM09haGxqbzZPOHZIeGtZK1Bqekl6TTdWMzcxNUZSRVJjVTBIaXdJRURxOVdtWHIxNldyQmdRYWxyQlFVRjJyUnBrd1lNR0tDOWUvZHErdlRwT24vK3ZISnpjMlUybTh0OWpzRmdrTGUzdHpwMTZtUnppSmlkbmExNjllcloxUFp5aUltSnNYcS9YYnQyV3JObWpXYlBubTMxUFhsNmVxcEhqeDVscnIvNDRvczIxYkY2OVdyOS92dnZGZDdmdEdtVEVoTVQ5ZUtMTDFyK2dXVG16Sm1WUHZmSko1KzBoSWd2dmZSU2hXTzg5OTU3ZXVhWloyeXE5Y1VYWDlTQUFRTnNhZ3NBUUVVSUVRRUFRSzB5R28zYXQyOGZBU0lrU1g1K2ZtclhycDBTRWhMVW8wZVBhMlpwYzNSMGRJWDNmdnp4Ui8zeXl5OVcyNVEzYTNmMTZ0WEt6YzNWalRmZXFLQ2dJTFZ2MzE3dTd1N3k5UFNVaDRlSFBEdzh0R2JOR3UzZnYxOGZmdmloL1B6ODVPZm5WK1hQK2Rtelo5V2dRWU1xOWFsSlU2ZE90YW5kc21YTHJNNzhDdzBOTFRkRXREVnNPM2p3WUlVQm45Rm8xT2VmZjY3MjdkdVhlbDVGc3hhTlJxTW1UcHlvcEtTa1VzdXc3N3JyTHQxNDQ0M0t5OHZUekprek5YVG9VTFZ2Mzc1VTMvZmZmMTl0MjdhVkpQMzAwMCthUFh1MlpaeU1qQXpkZGRkZE5yMGZBQUFxYzIzOGxBWUFBSzRZU1VsSkNnZ0lJRUNFaForZm53SUNBcFNVbEtUbXpadmJ1NXhhRVJJU1V1RTliMi92U3R0Y3pHdzJhOEdDQlFvTkRWVjRlTGlrOG1mVUhUaHdRUHYzNzFlclZxMnFXUEVGdWJtNXlzek10SXhoRDh1WEx5LzFldXZXcmNyTnphMHcvRHR6NW94Mjd0eXBRWU1HbGRyRDhYTHU1L2pERHo4b05UVlZreWRQbGlUdDNyMWI3ZHExazRORDJYTXRDd3NMOWZycnIrdkFnUU9hUG4yNkFnTURMZmNpSXlNbFNWbFpXWm81YzZiQ3c4TXQ3M1B2M3IyWHJYNEFBTXBEaUFnQUFHcFZXbHFhWmRZTVVLSlJvMFk2Y09EQU5STWlTcFV2YWE3b2ZubExtYmR1M2FyazVHU05HaldxeHVvcno3Rmp4eVJKUjQ0Y3FkSG5tczFtbTBPOXY4N0NOSnZOV3Jod29mYnQyNmZHalJzcklpS2lUUHZaczJjck5qWld3Y0hCdXY3NjYydXM1b29rSnlmcjY2Ky8xcjMzM3F2UTBGQWxKQ1Rvbi8vOHA4YVBINitoUTRlV2FudjI3RmxObmp4WnljbkptanAxcXRxMGFWUGw4YzZjT1NNdkx5OUowcmx6NXl3MVNCZkNSd0FBYWdvaElnQUFxRlY1ZVhtV1gzaUJFbDVlWHNyTnpiVjNHYldxb3VYS2xTMW52bmdwYzNGeHNhWHQ1VDR0ZWYvKy9aSXVCRmRKU1VscTJyUnB0Wi81NnF1dmFzZU9IWm95WlVxWnBicVZNUmdNZXZubGx6VnUzRGhObVRKRnMyZlBsbytQaitYK2hnMGJGQnNicTFHalJ0a2NJQllXRnRyVXJyaTR1TnkrYjc3NXBrSkRRM1hQUGZlb3NMQlE3NzMzbnBvM2I2N0Jnd2VYYXJ0NjlXcDkrT0dIeXNuSmthK3ZyL2J0MjZld3NEQzV1Ym5aTkg2SktWT21sTG4yMEVNUFZla1pBQURZZ2hBUkFBRFVLcFBKeENuTUtNUFIwVkVtazhuZVpkU0t0TFEwU2Fvd0xDclpvOUJhbUpTV2xpWVhGeGY1K1Bob3hZb1ZTa3BLcXZsQ3k3RjkrM1k1T0RqSTJkbFpHemR1ckpFUWNmLysvY3JMeTFOaVltS1ZRMFJKOHZmMzE0UUpFN1IzNzk1U243Tno1ODdwL2ZmZlYyUmtwUDd4ajMvWS9MeUxad3RXeGNtVEo1V1ltQ2dIQndjTkdUSkVack5aam82T21qVnJsbVVwOCsrLy82NnZ2dnBLKy9mdlYxUlVsTWFORzZlZmZ2cEpYM3p4aGViTm02Yzc3cmhESTBlT2xLdXJxMDFqc2ljaUFLQzJFQ0lDQUFBQXRlamVlKyt0a1hadDJyVFI2NisvcnM4KysweE5temE5N0VIaStmUG50V1BIRGtWRVJNalgxMWNyVnF6UTZOR2pxejM3Y2RxMGFUcDY5S2o2OWV0bmM1OVpzMlpweVpJbFphNy8rT09QWmE3dDNMbFROOTk4YzVuclgzNzVwUm8xYW1SNUhSSVNvdXV2djc3TWpNR0s3TisvWDhlUEh5OTFMU3dzVEZPblRwVzN0N2NPSFRxa21UTm42czQ3NzFTalJvMDBiOTQ4clZ5NVVzbkp5V3JVcUpFbVQ1NXNPVVRsMFVjZjFkQ2hRL1hoaHgvcTg4OC8xNElGQzNUZmZmZXBYYnQyT25ic21QTHk4aVJKKy9idGs2T2pvenc5UFpuUkRRQ29kWVNJQUFBQVFDMHFML3k2RkE0T0RwbytmYnB5Y25MMCt1dXY2NWxubnJIY216dDNicmw5U3ZZMExPOSsxNjVkclI2NHNuYnRXaG1OUnZYdDIxY0JBUUhhdUhHajR1UGoxYjE3OTJxOWoyYk5tcWxaczJhWDFQZjU1NSsvNUhGOWZYMUx2UjQrZkxpR0R4OXVjLy8rL2Z1WGU3MXo1ODdLemMzVjY2Ky9ydWJObTJ2TW1ER1NMaHdJNCtUa3BHZWZmVmFEQmcwcU15TTdKQ1JFVTZkTzFhcFZxL1R4eHg4ckxTMU42OWV2MTdmZmZtdHA4L1BQUCt2bm4zOVdTRWlJbm4zMldVbnNpUWdBcUQyRWlBQUFBSUNrdzRjUGE5ZXVYVXBKU1ZGUlVWR2w3WHYyN0dtWlNWWVY3dTd1a3FUczdPeExDbm44L2YzbDZlbHBlY2FvVWFQVXJsMjdVbTNtekpsajlSbmwzZmZ5OHFvd1JEU2J6VnEwYUpHY25aMDFZTUFBZVhoNHlNL1BUM1BuenExMmlGZ2Rnd1lOcXZZekVoTVRyUjRVVXpLR3JlMGs2YjMzM3RPNWMrYzBaY29VeS9MMC8vNzN2MldDeS9JTUhEaFEzYnAxazdlM3R4d2NIUFQzdi85ZFdWbFp1djMyMi9YODg4OWJ4aWs1blprOUVRRUF0WVVRRVFBQUFOZTB2THc4eGNURTZPREJnd29JQ0ZDTEZpM2s0K05UNlRMZGtKQ1FhbzI3ZE9uU1NzTys4ano3N0xPV0piZC8vL3ZmeXczK1N2YkV1OWpVcVZNVkV4TlQ0ZjJLckZ1M1RrbEpTUm8wYUpEcTFhc242Y0xNdmErKytrb2JObXhRVkZSVUZkOUY5UlFYRjlmWTNxcGJ0MjYxK25Vb0NlMXNiZmY5OTk5cjNicDF1dSsrKzVTZW5xNWR1M1lwT1RsWmQ5OTl0MGFOR3FYczdPeEthN0xsNitQcDZha09IVHJvNmFlZnR1eE5lZkdlaUgvKythZGVlKzAxbThKTEFBQXFRNGdJQUFDQWExWnhjYkVXTEZpZzdPeHNEUjgrM09weTNzdmw0c0FvTlRWVmFXbHBpb2lJS0hXOXZFTXl3c1BETDN0OXVibTUrdXl6eitUbzZLajc3cnZQY3YyMjIyN1RUei85cEE4Ly9GQ2RPbldxMVQzNkNnb0s1T0xpVXFQUHZQanJNSGZ1M0hKRFEydnRqRWFqL3ZlLy8wbVN2dm5tRzBtU2g0ZUhHamR1TEhkM2Q0MGJONjdVNmM4Yk4yN1U5dTNiTlg3OCtDclgyNnhaTTgyWU1jTnFHMjl2NzByYkFBQmdLMEpFQUFBQVhMTmlZMk9WbHBhbTBhTkhxMEdEQnZZdVI5S0ZmZSsrLy81Ny9mcnJyL1l1UmRLRlEwelMwdEoweHgxM0tEZzQySExkMDlOVER6NzRvRDc0NEFOTm5UcFZiN3p4UnJVUFdiRlZWbGJXRlhtd2lKT1RreDU4OEVHNXVibnB1dXV1MDNYWFhhZUFnQURML1l1WFgvL3h4eC9hdm4yN2hnMGJWdVd4L3ZqakR4MDRjS0RVdFVPSERrbVNZbUppeXJRZk1HQkFsY2NBQU9DdkNCRUJBQUJ3VGNyTHkxTmNYSnk2ZHUxNnhRU0kwb1Y5RHIyOXZlMWRocVFMcHgydlhyMWFUWm8wMFFNUFBGRG0vb2dSSTdSMjdWckZ4Y1hwd3c4LzFKTlBQbG5sTVhKemM1V2VubDZsNWVHblRwMjZvcjVtZjNYeGJORVNCUVVGY25WMXJaRXhjbk56dFdQSERzMmNPYlBjKzFPblRpMXpqUkFSQUZCZGhJZ0FBQUM0SmgwN2RrekZ4Y1dYZkRMdzViSnYzejQ1T0RobzgrYk42dEtsUzQwRlQxVzFiTmt5ZmZycHAzSjNkOWRycjcxV2JoMEdnMEV2di95eUhuLzhjUzFldkZnRkJRVWFQMzY4NVRBUld6ejk5Tk5LU2tyU3l5Ky9ySDc5K2xYYVBpc3JTeWRQbnRRdHQ5eFNsYmRUcTNKemMzWG8wQ0VkUEhoUSsvYnRVMEpDZ2g1KytHSExYcFpWVmJJRU9pWW1Sb3NYTDFaYVdwcSsvLzc3TWpNWUw5NFRFUUNBbWtTSUNBQUFnR3RTeWNuSWdZR0JkaGwveUpBaDZ0R2poK1cxeVdUU25EbHpsSmlZS0g5L2YwdHcxN2x6Wi9YcDAwZmR1blhUbDE5K2Vka1B5VENaVElxT2p0YjMzMzh2RnhjWFRaNDgyWEp3UjNrQ0F3UDE1cHR2Nm9VWFh0RHk1Y3QxOU9oUi9ldGYvMUpvYUtoTjQ1bk41bEwvcmN5cVZhdGtOcHRMZmU1cXdsLzNLcFF1ZkI2cUtqazVXYSsrK3FwT25qd3BzOW1zK3ZYckt5SWlRdmZlZTYrNmRPbFM1ZWRGUjBkcjI3WnRPbnIwcUtRTHk1VWpJeU12T1l3RUFLQTZDQkVCQUFCd1RTb0pyV3I2Z0E1YitmbjV5ZG5aV1R0Mzd0VDI3ZHUxWnMwYXBhYW02cjc3N3RNRER6eWdJMGVPYU11V0xkcXdZWU9tVDU4dVIwZEhYWC85OVlxS2lsTGZ2bjJ0N2drNFljSUVKU1FrVkhoLzRNQ0JaYTZ0V3JWS3g0OGYxN3Z2dnF2OSsvZkx5OHRMcjc3NnFpSWpJeXQ5TDYxYnQ5YjA2ZFAxNzMvL1c0Y1BIOVlqanp5aXA1OSsycWE5L3Q1Ly8zMmxwYVhaRkRwbVptYnF1KysrVTJob3FEcDE2bFJwKzZvWU9uU29UZTNLKzl5VkNBNE9WcnQyN1hUbm5YZXFZOGVPcGZhUXROYXZ2SHNqUm96UStmUG5aVEFZZE04OTk2aGJ0MjVxMDZhTkRBYURWcTVjcVpVclY1YnBVN0pIWW5uMzJyWnRXKzBUeFFFQTF6WkNSQUFBQUtDVzVPVGs2SzIzM2xKNmVyck9uajJyN094c1NaSzd1N3Q2OU9paGYvLzczNVlUb2x1MGFLRVdMVnBvekpneE9uNzh1TmFzV2FQVnExZnIzWGZmMWZ2dnY2LzMzMzlmTFZ1MkxIZWMyMjY3VFZGUlVWV3VMemMzVjBlT0hGR3JWcTAwY2VKRU5XN2MyT2ErclZxMTBrY2ZmYVFaTTJZb05UVlYvZnYzdDZtZnA2ZW5QRDA5YldxYmxwYW12THc4UGZYVVV6VitpTXRubjMxVzZ2WFBQLytzUllzV2xXa1hIUjFkNnZYU3BVdTFjT0ZDU1JjT1ZubjIyV2ZMZlg1VlQyQU9EUTFWUkVSRXVlL3puWGZlc2RxM3ZQdmp4NDhuUkFRQVZBc2hJZ0FBQUZCTHZMeTgxTEZqUiszZXZWc1JFUkVLQ1FsUnk1WXQxYnAxYXprN08xZllMelEwVkE4OTlKRCsvdmUvNjdmZmZsTmNYSnhhdEdoUnFzM2d3WVBWdG0xYlNicWtBRkdTd3NQRE5YUG1URFZ2M2x3T0RnNVY3dS92NzY4cFU2WW9OemRYSGg0ZWwxU0ROYTFhdGRJbm4zeFNvMkZZYUdpbyt2WHJWMlltWkdSa3BNNmRPMWVtM2NWamQrellVWm1abVpXT2N5a25NRmVFUFE4QkFQWmdNTnU2K1FnQUFFQU5XTDE2dFc2ODhVWjdsNEVyVUcxL2Iyelpza1ZidDI3VmM4ODlWMnRqQWdBQVhLa01sVXp6ci9vL0x3SUFBQUFBQUFDNHBoQWlBZ0FBQUFBQUFMQ0tFQkVBQUFBQUFBQ0FWWVNJQUFBQUFBQUFBS3dpUkFRQUFGYzF6cEFEQUFBQXFvOFFFUUFBWEpWeWNuSTBlL1pzVFpnd1FTYVR5ZDdsWERabXMxazVPVG5LejgrM2R5a0FBQUM0aWhFaUFnQ0FxOUw1OCtmMXl5Ky9hTisrZlpvN2Q2Njl5N2xzNXM2ZHExdHZ2VlZ6NXN5cGN0L2MzRnlscHFicXlKRWoyclp0bTJKaVlyUnMyYkthTHhJQUFBQjFucE85Q3dBQUFMZ2Nnb0tDOU1BREQraVRUejdSZDk5OXA2aW9LSVdHaHRib0dMR3hzWm8wYWRJbDkxKytmTGtjSFIwbFNRTUhEcXl3M1Z0dnZhV3VYYnVXdVg3OCtIRkxRTHBwMHlhTkdUTkdIaDRlVnNkODl0bG5sWlNVcFBQbnoxYzRRN05YcjE3eTkvZlhuWGZlcWN6TVRLdlBXN1ZxbGRYN0FBQUF1RG9RSWdJQWdLdldyYmZlcWw5Ly9WVW5UcHpRN05tek5XM2FOSnY3dnZ2dXU5cTdkNi9WTnVQSGoxZElTRWlaNjdtNXVVcFBUNWVqbzZNYU5XcFVZWCtEd1ZEcTljWHRUNTgrcmFLaUlqazRsRjA4VWxSVXBQLzg1ejh5R28wS0RBelVtVE5uOVBISEgrdlpaNSsxV25OcWFxcXlzN1BsNHVJaUh4OGZ5NGVmbjUvOC9QeFV2Mzc5TXZ0SWx2Y2UvL2pqRHhVWEYxc2RDd0FBQUZjUFFrUUFBSERWY25SMDFMaHg0eFFURTZOSEhubWtTbjNUMHRLVW5KeHN0VTNIamgwVkhSMWQ1dnJjdVhNMVo4NGNSVVpHYXVyVXFUYVBXYjkrZmN2ekNnb0tOR3JVS0RrN082dDE2OVpsMnM2WU1VTUhEeDVVV0ZpWVpzeVlvUWtUSnVqWFgzOVZ1M2J0TkdqUW9Fckgrdm5ubjIydXE3ejNhTXNzUlFBQUFGdzlDQkVCQUVDZEV4c2JxeWxUcGxTcHo1WXRXMnh1dTNUcFVyMzk5dHVscmcwY09GQU9EZzVhc1dKRnBmMzM3TmtqU2JyKyt1dXJWT05meGNmSHE2Q2dRSDM3OXBXWGwxZXBlMTk5OVpWaVltTGs0ZUdoVjE1NVJWNWVYcG80Y2FLZWZ2cHB6Wmd4UTk3ZTN1clpzK2NsajEwaU56ZFhycTZ1MVg0T0FBQUE2ajRPVmdFQUFIV095V1JTZm43K1pmdW9qdUxpWXUzZnYxK1MxS2xUcDB0K3pzYU5HeVZKTjk1NFk2bnIwZEhSK3ZycnIrWHM3S3pKa3lkYmxocUhoWVhwbFZkZWtjRmcwSnR2dnFuVnExZGY4dGpTaGRPdEN3b0tGQkFRVUszbkFBQUE0T3JBVEVRQUFGRG45TzdkKzRvNTBPT21tMjZxY0cvQXh4OS92TnpybGMxb0xDd3NWRnhjbkh4OGZOU3RXemRKa3RGbzFIdnZ2YWVWSzFmS3ljbEpMNy84c2lJakkwdjE2OUdqaDE1NDRRVk5telpOMDZaTjAvNzkrL1hJSTQrVU81dndvWWNlS25mczBhTkhhOENBQWZydHQ5OGtTVTJiTnEyd1RnQUFBRnc3Q0JFQkFFQ2RkL3IwYWNYRnhlbVdXMjZwVXI5MTY5WXBOalpXQXdjT1ZLZE9uY29jZEZJVjVSMCtVcDdLOWxtVUxpeGx6czNOMVcyMzNTWW5KeWNkT1hKRTA2Wk4wL0hqeCtYcDZhbkpreWVyWThlTzVmYnQzNysvL1B6OE5IbnlaQzFac2tTYk5tM1M2TkdqTldUSUVEazUvZCtQZmhYVmtaT1RJNlBScUI5Ly9GR1NOR0RBZ0hMYnVidTdLek16VTRtSmlRb0xDNU1rbWMzbWFuME9BUUFBY09VaVJBUUFBSFhhbVRObk5HYk1HSm5OWnJWdjM5NFNhTmxpMWFwVmlvK1AxNzU5Ky9UbGwxOVdxNDd5RGg4cHo4Q0JBeXR0czM3OWVrbFNuejU5bEphV3BtZWVlVWI1K2ZscTJyU3BKazJhVk9uc3dNaklTSDMwMFVkNjk5MTN0WFBuVHNYRnhXbm8wS0dsMmxRMGs3T3dzRkR2dmZlZURoMDZwSll0VzZwMzc5N2x0bXZkdXJWU1VsTDA2S09QeXNYRlJZV0ZoZnJtbTIvVW9FR0RTdDhmQUFBQTZoNUNSQUFBVUNWbXMxbEZSVVVxTEN4VVVWR1Jpb3VMSy8wd204MldQOWUwb0tBZ2hZZUhLeUVoUVV1WEx0WDQ4ZU50NnBlVGs2UHQyN2RMa2dZTkdsVGpNK2ptenAwcms4bWtNV1BHVkxsdlJFU0UxcTFicCsrLy8xNXZ2UEdHbm52dU9lM2F0VXVQUHZxb1hGMWRkZE5OTjhuTHkwc0xGaXdvMC9lbW0yNlNqNCtQdnYvK2U3M3p6anRhdTNhdHVuZnZMa2RIUjV2R1hyZHVuVmF1WENsL2YzKzkvUExMcFdZdi90VWpqenlpL1B4OEhUcDBTQ2FUU1EwYk5pUkFCQUFBdUlvUklnSUFjSTByS0NoUWJtNnU4dlB6VlZoWWFOTkhkZmo1K2RWUTVmOW4rUERoU2toSVVFeE1qUDd4ajMvSXc4T2owajZiTjIrVzBXaVV3V0N3YVhaZ1ZjMmRPMWRGUlVXWEZDTGVjc3N0MnJoeG8ySmpZN1Y1ODJiMTY5ZFAvZnIxczl3dkxpNld5V1FxdCsvRjkvcjM3MStsc1FjTkdxUlRwMDVwK1BEaDh2ZjNyN0JkL2ZyMTlmcnJyMWZwMmJhWU1XTkdqVDhUQUFBQTFVZUlDQURBVmF5NHVGaTV1YmxXUDhvTG93d0dnNXlkbmVYaTRtTDU4UEx5S3ZYYXhjVkZ6czdPY25Cd3FOTEhtalZyYXZ4OTl1M2JWeDk4OElGeWNuSzBldlZxalJneG90SStKYWNYZCtqUVFVRkJRVFZlVTNVWURBWTkrdWlqZXZ6eHh6Vm56cHdLbHhSZkx2djM3N2NzcWJhRnJVdTViZEdrU1pNYWUxWmxUcDQ4V1d0akFRQUExSFdFaUFBQVhBVnljM09WbFpXbDdPeHNaV1ZsNmM4Ly83VE1McnlZbTV1YlBEdzg1T3ZycTBhTkdzbkR3ME1lSGg1eWMzT1RxNnVyWEZ4YzVPVGtWS2NPeUhCeGNkR0FBUU8wZVBGaUxWMjZ0TklRTVRVMVZidDI3WklrRFJreXBEWktyTEtXTFZzcVBEeGMrL2J0MDlHalI5VzhlZk1hZlg1RnN5OG5UcHlvVTZkT0tTVWxwVWJIczlWZGQ5MVZhMk50MmJKRlc3ZHVyYlh4QUFBQTZqSkNSQUFBNnBDOHZEeExVUGpYL3hxTlJrc2JOemMzZVh0N3EySERocGFBME5QVFV4NGVIbkozZDdkNWI3eTZadkRnd1ZxOGVMR09Ieit1aElRRVJVUkVWTmgyNWNxVk1wdk44dmIyVnQrK2ZTOUxQV2F6V1E0T0R0VjZSdnYyN2JWdjN6NGRPblRJRWlLV2ZLMHIycXZRVmhXZEp1M3A2YWt2di94U3MyYk4wcElsU3pSNThtVDE2dFdyVEx1TWpBeU5HVE9HZlJBQkFBQ3VFWVNJQUFCY29YSnljcFNlbnE3MDlIUmxaV1VwS3l0TFJVVkZsdnN1TGk3eThmRlJhR2lvNnRXcnAzcjE2c25IeDBjdUxpNTJyTnArbWpkdnJtYk5tdW5Zc1dOYXZueDVoU0dpMld5Mm5FdzhjT0JBT1RzNzEzZ3RoWVdGTWhxTnFsZXZYcldlRXhBUUlFazZkKzZjNWRyNTgrY2xYUWlMcTZPeUpjaC8rOXZmdEdUSkVpMVpzcVRjRVBIYmI3OVZRVUdCYnIzMTFtclZBUUFBZ0xxQkVCRUFnQ3VBMFdoVVJrYUdKVFRNeU1oUVFVR0JwQXN6em54OWZSVVNFaUlmSHg5TFlGamRFT2xxZE9PTk4rcXp6ejdUK3ZYcjlmampqOHZkM2IxTW0yM2J0aWtsSlVVR2cwSERodysvTEhWa1pHUklrcnk5dmF2MW5KTHc4Syt6RHMrY09TUHAvd0xHeTZWOSsvWUtEUTNWdG0zYnRHZlBIclZ2Mzk1eTc4Q0JBMXF5WkltQ2dvSjA4ODAzWDlZNkFBQUFjR1VnUkFRQW9KYVp6ZVpTc3d6VDA5T1ZuWjB0czlrczZVTHdGQndjcklDQUFBVUVCS2hldlhwMWFuOUNlN3JoaGh2MCtlZWZLeTh2VCt2V3JkUGd3WVBMdEZtOGVMRWtxWFBuenBkMGlJZlJhTlRCZ3dlMWE5Y3VlWGw1bGR2bXlKRWprcVRRME5BcVAzL05talh5OFBCUVZsYVdsaTFiSmtrS0N3dXozRDkwNkpBa3FYSGp4bFYrZGxVWURBYmRjODg5ZXZ2dHR6Vno1a3g5OU5GSGNuRnhVVlpXbHQ1ODgwMlp6V1k5OHNnamwyVW1Kd0FBQUs0OGhJZ0FBTlNDdkx3OG5UbHp4dkpSTXN2UTJkbFovdjcrYXR5NHNRSUNBdVR2NzMvTkxrZXVDZlhyMTFlN2R1MjBaODhlL2ZycnIyVkN4RE5uemlndUxrNlNOSExrU0p1ZW1aZVhwd01IRGtpNmNOcjF5SkVqTFYrL2l2WlQzTFJwa3lTcFk4ZU9WWDRQR3pkdXRQU1hwUER3Y0hYcTFNbnkrdmZmZjVja3RXblRwc3JQL3F0ejU4NHBOVFhWOG5INjlHbWRPWE5HcDArZjFrTVBQYVR1M2J1cmYvLytXckpraVJJU0VqUnIxaXc5OXRoam1qUnBrczZjT2FPb3FDaEZSVVZWcXdZQUFBRFVIWVNJQUFCY0JrYWpVV2ZQbnJVRU05bloyWkl1N0dQWHNHRkRCUVlHS2lBZ1FON2Uzc3d5ckdIOSsvZlhuajE3NU9MaW9vS0NBcm02dWxydUxWaXdRR2F6V1UyYU5GRzNidDBxZkVaeGNiSGVmLzk5N2QrL1g4ZVBIMWR4Y2JIbFhsRlJrVnEyYkttT0hUdXFaOCtlMnJ4NWM2bStKMCtlMVByMTZ5VkpxMWF0VW9zV0xVb3RCYTdNVFRmZFpEa2x1M256NXJyNTVwc3QzeU5aV1ZtV0VOUmEvZVdaTTJlT2R1M2FwZlQwZEVuU0hYZmNVVzY3djU3TWJUQVk5UHp6eit1Sko1N1E4dVhMRlI4ZnI0eU1ESVdFaE9pWlo1NnAwdmdBQUFDbzJ3Z1JBUUNvQVdheldWbFpXWmJROE96WnN5b3VMcGFqbzZQcTE2K3ZaczJhS1Nnb1NENCtQdll1OWFyWHYzOS95MzUrZjVXVmxhVmZmdmxGa25UNzdiZGJEVzhkSEJ4MDhPQkJKU1lteW1Bd3FHWExsb3FNakZTSERoM1VvVU1IZVhoNFdOcE9talRKRWpMbTVPVG9qVGZla05Gb2xKZVhsdzRmUHF4bm4zMVdVVkZSR2p0MnJJS0RnelZwMGlTcnB6YjM2TkZEUFhyMEtQZmV2SG56WkRRYUZSRVJvWVlORzlyNktaRjBZVWJsM3IxN0xhK3Z2LzU2Tld6WVVNSEJ3V3JZc0tFYU5HaWdCZzBhcUg3OStxVStONDBiTjlhd1ljTTBmLzU4eTE2UEV5Wk1xSEFwTndBQUFLNU9oSWdBQUZ5aTR1SmlwYWFtNnVUSmswcEpTYkVzY2ZYeDhWR0xGaTNVc0dGRDFhOWZYNDZPam5hdTlOcmk1ZVZWYnNDMWNPRkNGUlFVeU5mWFZ3TUhEcXowT1E4ODhJQk1KcE02ZHV4b05URHIwNmVQSk9uVXFWTjY0NDAzbEppWXFLQ2dJTTJhTlV2YnQyL1hwNTkrcWcwYk5tanIxcTI2N2JiYmRQLzk5NWVhSFdtcnc0Y1BhOUdpUlpLa3UrNjZxOHI5Nzdyckx0MXl5eTE2L3ZubmxacWFxdW5UcDFmYUp6czdXNTk5OXBtV0wxOHU2VUs0V2x4Y3JFbVRKdW5CQngvVTBLRkRXWDRQQUFCd2pTQkVCQUNnQ2t3bWs4NmNPV01KRG91S2l1VHM3R3laelJVVUZNU3B5YlhBbGhDd0l1Zk9uZFBRb1VPdHRybjExbHYxK09PUDIvUThvOUdvcFV1WGFzNmNPY3JOelZWZ1lLQ21UWnNtUHo4L0RSZ3dRRDE3OXRSWFgzMmxSWXNXYWY3OCtWcS9mcjBtVEppZ3pwMDcyMXh6UmthR0prK2VMS1BScU02ZE82dG56NTQyOXkzaDcrOHZTVFl0bjgvTHk5UFNwVXYxM1hmZktTY25Sd2FEUVhmZmZiZUdEYkVPM2lVQUFDQUFTVVJCVkJ1bWQ5NTVSenQzN3RSSEgzMmtlZlBtNmVhYmI5YUFBUU4wM1hYWFZia21BQUFBMUIyRWlBQUFWTUprTXVuMDZkT1c0TkJvTk1yWjJWbU5HemRXa3laTkZCUVVaSFY1S21yZTVRNXFiWmxkbDVXVnBWV3JWbW5od29WS1RVMlZKSFhwMGtVdnZ2aGlxV1hySGg0ZWV2VFJSelZvMENCTm16Wk5pWW1KZXZIRkZ6Vmd3QUE5L2ZUVHBaWkdseWNqSTBQUFBmZWN6cHc1STE5Zlh6MzMzSFBWZTNOV3BLU2s2SmRmZnRHdnYvNXEyY2V6ZWZQbUdqOSt2TnEyYlN0Sm1qNTl1dGF1WGF2bzZHaWRPWE5HMzM3N3JiNzk5bHNGQlFYcC9mZmZ0NFNWQUFBQXVMb1FJZ0lBVUE2ajBXZ0pEaytkT2lXajBTZ1hGeGVGaElTb1NaTW1hdENnQWNHaEhTMWR1dFN1NCtmbTV1cmhoeDlXVmxhV0pLbFJvMFlhTzNac2hhYzFTMUpZV0pnKy9QQkR6Wmt6Ujk5Ly83Mk9IVHRtMDdKbVB6OC9EUjA2VlBQbXpkT2JiNzZwd01CQXErMkRnb0xrN2UxZHRUZjAveVVsSlduKy9QbVNwSkNRRUkwZVBWcjkrL2N2OWIxdU1CaDB3dzAzcUYrL2Z0cTRjYU4rK2VVWDdkeTVVd01IRGlSQUJBQUF1SW9aekdhejJkNUZBQUJ3cFVoUFQ5ZXhZOGVVbkp3c285RW9WMWRYeTR6RHdNQkFnc01hc0hyMWF0MTQ0NDMyTHFQYVZxNWNxWmlZR0kwWU1VSTllL2FzMHZkR1FrS0NYRnhjMUxKbFM1djdGQllXMXNqK2cvUG56OWVmZi82cHNXUEhsbnYveHg5L1ZHaG9xRHAzN216enllRlpXVm55OFBDUXM3Tnp0V3FyN2UrTkxWdTJhT3ZXclpkMWRpY0FBRUJkWWFqa2h6OW1JZ0lBcm5rRkJRVktTa3JTc1dQSGxKMmRMVWRIUnpWcDBrU2hvYUVLREF5ME9VakJ0V1hRb0VFYU5HalFKZldOaUlpb2NwK2FPc0Nrc2tOWmJyLzk5aW8vazFQSEFRQUFybjZFaUFDQWE1TFpiTmJwMDZkMTdOZ3hwYVNreUd3Mnk5L2ZYNTA3ZDFaSVNFaTFaMVFCQUFBQXdOV0VFQkVBY0UzSnljblJzV1BIbEpTVXBMeThQTG02dXFwbHk1WUtEUTFsTmhXQVdoTWRIUzBmSHgrTkdqV3F3alliTm16UVR6LzlwTURBUUUyY09QR1NaMFd2V0xGQzJkblp1dU9PT3k2MVhJdTB0RFF0WGJwVTk5eHpqOXpkM2F2OXZKcVdtSmlvdUxnNDNYUFBQVlh1YXpLWjVPRGdZUFh6WEZoWUtDY25KN2EyQUFCY2t3Z1JBUUJYdlpKWmg0Y1BIOWFaTTJka01CZ1VGQlNreU1oSU5XclVpRjhHQWRTNjMzLy9YZGRmZjMyRjkxTlNValJqeGd6bDV1Ykt3Y0ZCbzBhTlVwczJiUzVwclBuejV5czVPYmxHUXNSTm16YnB1KysrVTNaMnRpWk1tRkJwKzd5OFBJMFlNYUxhNDByU3FsV3JLbTJ6WU1FQ3JWeTVVaUVoSWVyVHA0L056eTRzTE5UUW9VUDE1Sk5QNnBaYmJxbXczZENoUS9YZ2d3OXE5T2pSbG10bXM1bHRMd0FBMXdSQ1JBREFWY3RrTWlrcEtVbUhEaDNTbjMvK0tYZDNkMFZFUktoWnMyWlg1QXdhQU5lRzR1SmluVGh4b3NKWmlILysrYWRlZmZWVm1Vd21UWm8wU1o5KytxbmVmUE5OZmZEQkIvTDE5UzIzejMvKzh4K2xwcVpxK3ZUcFZhcWxxdjF1dWVVV3JWaXhRai8vL0xOdXVPRUdkZWpRd1dwN056YzNSVWRIbDdtK1lzVUt6WjgvdjlTOThxNVYxY01QUDZ3Tkd6Ym80NDgvVnRldVhXMDZBYjA4R1JrWmV1V1ZWelIyN0ZoMTZ0VEphdHUzM25wTGJtNXVldWFaWnk3YlAwb05IRGhRa3VUdDdhM3Z2dnZPcHZjMWJ0dzRKU1lteXMzTnJjeUo5aVhQSzJFd0dPVHI2NnNPSFRyb3Z2dnVVMmhvYUlVMWxIQnljcEtQajQ5YXRteXAzcjE3NjhZYmI1U1RFNzllQXNEVmpML2xBUUJYbmZ6OGZCMDVja1JIang1VllXR2hmSDE5MWExYk40V0VoRERyRUlCZG5UeDVVbWZPbkZGQlFZSGMzTnlVbkp4c3VSY1NFcUxjM0Z4Tm5EaFJLU2twZXUyMTE5UzFhMWMxYTlaTXp6MzNuRjU2NlNWTm56NWQzdDdlWlo2N2I5KytVcyt5MWNYOVRDYVRjbkp5clBhNS8vNzd0V2JOR25sNmVpb3JLNnZjTmw1ZVhuSjBkSlRCWUZCSVNFaVoreVhiUi96MVhublhMbmIwNk5GSzYrdlNwWXNjSEJ5MGQrOWVxNkZXeDQ0ZEs3em41K2NuZDNkM1RaMDZWUjkvL0xIOC9mM0xiZmY3Nzc5cjNicDFHajU4ZUszOC8rWFBQLy9VeXBVck5YejRjS3Z0dG0zYnBzVEVSS3R0bkp5Y05HVElFRWtYdnU2SERoM1MrdlhyRlJzYnF4a3pacWgxNjlaVyt4aU5ScVducHlzaElVR3hzYkg2NXB0djlOSkxMMTNTd1ZFQWdMcUJFQkVBY05VNGQrNmNEaDgrckJNblRxaTR1RmlOR2pWU3ExYXRGQmdZYU8vU0FGekJhbk01Nm1PUFBhYjgvSHhKMG11dnZWYnEzcmZmZnF1WFgzNVphV2xwbWpadG10cTFheWZwUXFnMmE5WXN2ZkxLSzNyNjZhZjE2cXV2bGp0VHJDWWNPblJJVHovOXRFMXROMnpZVU9HOUR6LzhVSzFhdFpJa25UOS9YaGtaR2FYdWw0U1BmdzB3eTd0V29pUlkvT2lqajdSNzkrNXExeWRkV0I1ZE1sWlJVWkVrS1RNejAzSnR3b1FKZXVLSkp6Ump4Z3hObVRLbFRQL2MzRnk5OTk1N2F0eTRzUjU1NUJHYmFxb09YMTlmNWVUa2FPSENoUm8yYkpqVjc5a2ZmdmhCTGk0dWNuTnpVMkZoWWJsdG5KeWM5TlJUVDVXNkZoMGRyZSsrKzA2ZmYvNjUzbm5uSFp2NkdJMUdMVisrWEo5OTlwbisrYzkvNnZYWFgxZlhybDB2NFIwQ0FLNTBoSWdBZ0RydjFLbFRPblRva0ZKVFUrWG82S2htelpxcFpjdVc1YzdXQVlBU0xpNHVraTZFVnhVdEU2NXBTNWN1MVZ0dnZTVkptamh4b3VWNmZIeThubmppQ1JVVUZNaloyVm5QUFBOTXVmMDdkdXlveHg5L1hIZmNjWWZ1dnZ2dUd0K2FJVGc0V09QSGo3ZmFadWJNbWZMejg5T1lNV01xYkJNVUZHVDU4K2JObThzTnBDVHBvWWNlc3VsYXlYNkl6ejMzblBMeThpUmRXQlkrZnZ4NDllelpVL2ZlZTIrRnRjVEh4eXM2T2xxUFAvNTRtZVhYRjQ4MWQrNWN6WjA3VjlLRlFPMkJCeDdReHg5L3JGOSsrY1V5QTYvRXpKa3psWkdSb1prelo4ck56YTNDOGN0ektjRjFjWEd4T25YcXBQajRlTVhIeDZ0NzkrN2x0anQyN0ppMmJkdW1QbjM2YU51MmJWVWE0OTU3NzlXOGVmTjA0TUFCbS9zNE9UbHAyTEJoYXRteXBaNTc3am05L2ZiYit0Ly8vc2RoWlFCd0ZTSkVCQURVV1NrcEtVcElTTkM1YytmazV1YW05dTNiS3l3c3pCSU1BSUExalJvMWtpU2xwcWJXV29ob05wdTFZOGNPalJzM1RrZVBIdFYxMTEybkV5ZE82TzIzMzFiSGpoMzF4Qk5QeUd3MnE2Q2dvTnorVFpvMDBVOC8vYVNqUjQvSzJkbTV4dXZ6OWZYVnNHSERyTGFaT1hPbXZMeThLbTEzc1lVTEY4ckx5MHZTaFpseW4zNzZhYW5EVXNxNzl0TlBQMm4yN05tVzF5VmZzeEp0MnJUUnFWT24xTHg1OHdySFhiMTZ0U1RwYjMvN1c1bGx5U1ZqSFRod1FFODk5VlNaZzFVYU4yNHNrOG1rZnYzNmxYbnVzR0hEMUxselo4dU1TMXU5K3VxcjJyRmpoNlpNbWFMMjdkdmIzTTlvTk9xMjIyNVRmSHk4ZnZ6eHh3cER4QjkvL0ZHU2ROdHR0Mm56NXMxVjJoZlMxZFZWRGc0T01wdk5OdmNwMGJwMWE0MGNPVkx6NTgvWGtpVkxkUC85OTFmNUdRQ0FLeHNoSWdDZ3pqbDE2cFFTRWhLVW1aa3BUMDlQZGVuU1JVMmJObVcvUXdCVkVod2NyTURBUU1YRnhhbDU4K1p5ZEhTODdHTWVQbnhZV1ZsWjZ0cTFxMjYvL1haRlIwZXJlZlBtbWo5L3ZzMy9BSEwrL0htTkd6ZU9ReXdrZGV2V1RkSFIwVXBMUzZ0dzY0cjQrSGcxYjk2OHduME5KU2syTnJiTXRZMGJOOHBvTkZxK1Iwb2NPM1pNYTlldWxTUTVPenRyN2RxMUNnc0xVOU9tVFcycWVmLysvY3JMeTFOaVltS1ZRa1N6MmF6T25UdXJXYk5tMnJsenB4SVRFeFVXRmxhcVRYcDZ1dGFzV2FQV3JWdXJmZnYyVlE0RHQyM2JKcFBKVktXNi9xcC8vLzZhUDMrK3RtN2RTb2dJQUZjaGZ2SUFBTlFaZncwUFBUdzhDQThCVkl2QllORGd3WVAxelRmZmFPM2F0ZXJmdi85bER4STNiOTZzdG0zYmxsbnE2ZUxpVXViMFcrbkNrdHFRa0JDbHBhWEozOTlmam82Tyt2cnJyOVcvZi85eWw0dVc5d3hiN3RXR1AvNzRReDRlSHBKczN4UHgzTGx6VnA5NXd3MDNLRG82V2l0V3JOQjk5OTFYNXY2UkkwZDA0c1FKUGZ6d3cxYWZVN0ovWW54OHZCbzBhS0NlUFh0cSt2VHBsdjByLzJyOSt2VmF2MzU5cVdzUFB2aWd6U0hpdEduVGRQVG8wWEpuTjFwVEVnamVmdnZ0ZXVlZGQ3Umd3UUk5Ly96enBkb3NXclJJUnFPeHdwTy9LMUpZV0tqdDI3ZnIzWGZmbFl1TFM3bEx5bTFSOGprNGVmTGtKZlVIQUZ6WkNCRUJBRmU4MDZkUEt5RWhRUmtaR2ZMdzhGRG56cDBWR2hwS2VBaWcyZ0lEQXpWZ3dBREZ4TVFvSlNWRjNidDNWMUJRa0h4OGZDN0xZU3NiTm16UXpUZmZYT0g5S1ZPbUtEZzRXRkxwL2ZydXZmZGVTNkJZbnR0dXU2M0NrNUlYTGx5b3JLd3NQZmpnZ3hYZXUxaEtTb3ExdHlHajBWaGhHNFBCWUhrUGYvWGtrMCtXdVdicm5vZ1ZhZENnZ1hyMTZxVkZpeFpwMUtoUlpmYUlYTEJnZ1p5Y25EUm8wS0FLbjVHUWtLQXpaODVJdXJDc2VkZXVYWm8rZmJwKytPRUhtMmJ5alJneHd1WjZKYWxaczJacTFxeFpsZnI4MVEwMzNLQXZ2dmhDYTlldTFkaXhZK1huNXlkSnlzdkwwN0pseTlTZ1FRTkZSVVZWK3B6OC9QeFN3YkxCWUZDblRwMzA4TU1QcTJYTGxwZFVtNU9UazV5Y25DcGNqZzhBcU5zSUVRRUFWNnkvaG9mdTd1N3ExS21UbWpWclJuZ0lvRVoxNk5CQndjSEIrdlhYWDdWczJUS2IrL1hzMlZPOWV2V3EwbGduVDU3VTU1OS9yczgvLzF6Uy93Vm1KWWV0QkFjSFZ4Z1VXbU50ZjhLWW1CaGxaV1ZwOU9qUlplNlZkMDJTSG5qZ0FhdmpuVHAxcXNJMnpzN08rdVdYWHl5dnI3dnVPbzBZTVVLUFBQS0laWCsrMk5oWWZmbmxsNW93WVlKYXQyNWQ0VGk3ZHUycTlKVGxNV1BHNk5GSEg5WGN1WE0xZHV4WXkvWERodzhySmlaR3c0WU5zN3FVK1ljZmZsQ3ZYcjIwYnQwNjNYWFhYWXFKaWRHLy8vMXZ6Wm8xcTl3dzFONmNuSncwY3VSSVJVZEhhOG1TSlphdncvTGx5NVdUazZQUm8wZmJOS1BXeWNsSlE0WU1VV0Zob2JadDI2YU1qQXlGaDRkZmNvQW9YUWdtalVZamg2b0F3RldLRUJFQWNNVTVkKzZjZHUzYXBkVFVWTUpEQUxVaU1EQlE5OTkvdjA2ZE9xV1VsQlFWRmhaVzJ1ZFN3cjdvNkdqTG54OTY2Q0hMek1PUy9md3VkUm5wYzg4OXB3WU5HdWlGRjE2NHBMNmRPM2N1ZGNMeFgwK092dGhiYjcybGdJQUFqUnMzcnR6N2Z3MndrcE9UNWVucHFaRWpSeW8xTlZXU1pES1pOR3ZXTEJtTlJqazdPNWRhdm53eGYzOS9qUnc1VXNuSnlmTDM5NWVucDJlWk5tRmhZUm8rZkxoKytPRUhkZXZXVFIwNmRGQkJRWUdtVDU4dWIyOXZxNmRJSHo5K1hGdTJiTkgwNmRPMWJ0MDZ1YnE2YXRLa1NYcnNzY2NVRnhlbmtTTkhWdGpYbm9ZUEg2NXZ2LzFXUzVjdTFUMzMzQ01uSnlmOTlOTlA4dkR3S0hPS2RFV2NuSnowMUZOUFNib1EvdjNyWC8vUzExOS9yYUNnSU4xMDAwMlhWTmVoUTRja3llcEJOd0NBdW9zUUVRQnd4Y2pQejlmZXZYdDE3Tmd4dWJpNEtESXlVbUZoWWJWeTJBRUFHQXdHTldyVXFNd0p3RFhwNHVEeDRwbUg3NzMzbm1YOHUrNjZ5K2JuN3Q2OSs1SkN6WksrRng5SzByOS8vd3Jidi9YV1cvTHc4TERhcGtSbG9XaEZRV1I1bm4zMldRMGVQTGpjZTJQSGp0V09IVHYwK3V1dmEvcjA2ZnJxcTY5MC9QaHhUWm8weWVySjJ4OSsrS0ZhdDI2dDhQQnd5N1VtVFpyb2d3OCtVRjVlbnVVQWxTdU5sNWVYYnJycEppMWV2Rmd4TVRHcVY2K2VUcDgrclZHalJsbjJuYXdLTnpjM3ZmVFNTeG83ZHF3Ky92aGpkZS9lL1pKT0xGK3hZb1VrcVcvZnZsWHVDd0M0OGhFaUFnRHN6bVF5NmZEaHc5cS9mNzlNSnBOYXRteXA4UEJ3bTA4cVJkM2k2T2dvazhsRU9JeFNydFh2aVJNblR1amt5Wk9xVjYrZUpNbkh4OGZxMHR1Nlp0V3FWYVZlTDF1MlRETm56dFRMTDc5YzdzRWlCdzRjMERQUFBLT0lpQWk5ODg0N051OUw2ZTd1cnRkZWUwM2p4NC9YWTQ4OXB1TGlZbzBlUGRycTNvQlpXVm5hczJlUHBreVpVdVplMDZaTjljNDc3MmpseXBVMmpXOFBvMGFOMHBJbFMvVExMNy9JMTlkWERnNE91dlhXV3kvNWVjSEJ3Um8xYXBTKysrNDdmZnJwcC9yWHYvNVZwZjd4OGZGYXRXcVZnb09EcmU1QkNRQ291d2dSQVFCMmxaeWNyTjI3ZHlzM04xZkJ3Y0hxMkxHanZMMjk3VjBXTGlOM2QzZmw1T1N3WnhaS3ljbkp1YVFaVkhYTjFLbFRkZnIwYVowNmRVcVM5TnBycjhsZ01HajgrUEdTTG4wNWMxMlFtSmlvanovK1dQNysvbkoyZGxaK2ZyN2MzTndzOXc4ZlBxeFhYbmxGOWVyVjB3c3Z2RkRsZzIxeWNuTGs1ZVdsbkp3Y0dRd0dlWGw1V1EybmZYeDg5UHp6ejZ0ejU4N2xMbDkvL3Zubnk1eCtYSjZxbm5xZG01dXI5UFQwUzU0NVdpSTRPRmg5K3ZUUnBrMmJKRWxSVVZFS0NncXExalB2dnZ0dUxWKytYS3RYcjlhUUlVUFVybDI3U3ZzVUZoWnF5WklsK3VLTEwrVHU3cTVKa3lieGo0QUFjSlVpUkFRQTJFVkdSb1oyN3R5cDlQUjArZmo0MU1ndlA2Z2JBZ01EbFpLU1FvaUlVbEpTVWxTL2ZuMTdsM0haclYyN1ZrMmJObFhYcmwyMVlzVUtUWmt5UlpHUmtYSnhjZEYvLy92ZlMxN09YQmY0K2ZucGtVY2UwY2FORy9YNjY2L0wwZEZSSFRwMFVQZnUzV1UwR3ZYbGwxL0swOU5UMDZaTks3TzgycHJrNUdSOTg4MDNXcnQycmR6YzNEUjI3Rml0V0xGQ24zenlpWll0VzZaNzdybEhOOXh3ZzV5ZG5jdjBIVEJnUUUyK1JaczgvZlRUU2twS3FuQTJabFhjZnZ2dDJyaHhvK1hQMWVYaDRhRUhIM3hRNzczM25tYk5tcVhaczJlWDJvL1lhRFJxMXF4WmtxU2lvaUtscDZjcklTRkI1OCtmVjlPbVRUVng0a1NGaFlWVnV3NEF3SldKRUJFQVVLdnk4L08xZS9kdUpTVWx5ZFhWVlowNmRWSllXRmlWWjV5ZzdtcmF0S2xpWTJPVm1aa3BQejgvZTVlREswQm1acWJTMDlQVnMyZFBlNWR5MlMxZXZOZ3krMjdGaWhVS0RnNHVOV3Vyb3VYTUZ5OEx2bHp5OHZKc2FtYzJteXR0Nis3dVh1cTFuNStmUm93WW9SRWpSdWpjdVhOYXRXcVZ2dnp5UzIzYnRzM1NwaytmUHZyenp6OVZYRnhzOVRDdDR1SmkvZjc3NzFxNmRLbmk0dUlrWFppSk4yN2NPQVVHQnVyV1cyL1Z2SG56OVAzMzMrcy8vL21QUHYzMFU5MXd3dzNxMTYrZndzUEQ3ZnIvSExQWlhPcS8xUkVlSG01NVAyM2F0S24yOHlScDhPREJXcng0c1JJVEU3VjQ4ZUpTUzZTTlJxT1dMRmtpNmNMV0ZINStmdXJRb1lQKzlyZS9xVisvZnRma2xnUUFjQzBoUkFRQTFBcXoyYXhqeDQ1cDkrN2RNcGxNYXQyNnRkcTJiVnZ1ekJCYzNaeWNuQlFlSHE2OWUvZXFYYnQyQkluWHVNek1UTzNkdTFjUkVSSFhSQUR4MStXN0ZURWFqY3JPenJhOEx0azMxczNOVFVsSlNaTEtCblRTaFJsNTFwYlcyckxzZHNTSUVaVzJrYVNUSjA5VzJuYmh3b1h5OHZLeXZDNHFLbEpTVXBMMjc5K3ZIVHQyNkxmZmZsTkJRWUhhdEdtanZuMzdhdnYyN1ZxM2JwMWlZbUxrNWVXbHJsMjdxa2VQSHVyV3JadmxPWHYyN05HR0RSdTBZY01HWldSa3lHQXdxRStmUHJybm5udlVzbVZMeTFndUxpNGFNMmFNaGc4ZnJoOS8vRkhMbGkzVG9rV0x0R2pSSXZuNys2dFhyMTU2OHNrbksveWVtemR2bnI3NDRndWJQaGRWOWY3Nzd5c3RMVTJob2FFMjk3RVdJcytjT2JQSy9hdzl6MkF3NkpOUFBxbFNId0RBdFlFUUVRQncyV1ZuWjJ2YnRtMDZlL2FzNnRldnI4NmRPMXNPRWNDMXlkL2ZYeEVSRVVwSVNGQkFRSUFhTldva0x5K3ZheUpFd29WUUxDY25SeWtwS1VwUFQxZEVSTVJWZFpoSWRSUVhGK3ZXVzI5VmZuNitKTW5iMjF1T2pvNTYrZVdYTGNGaXAwNmR5aXo5ZnZEQkJ5OTV6RGx6NWxqK1hMSTNZMDF3YzNOVFlXR2gvdjN2ZnlzbEpVV3BxYWt5bVV5U0xweUFQR3pZTU4xd3d3Mlc4Ty9PTys5VWRuYTJObS9lclBYcjEydkRoZzFhdTNhdFhGMWQ5ZFZYWDhuZjMxLzc5dTNUb2tXTDVPUGpvenZ2dkZQRGh3OVh3NFlOSzZ6Qno4OVAvL2pIUDNUZmZmZHB6Wm8xV3I1OHVRNGNPS0MyYmR0YS9mdW1XN2R1Tm0rNThPNjc3MWJoc3lKNWVuckswOU96U24wQUFMZ1NFQ0lDQUM0Yms4bWsvZnYzNitEQmczSjBkRlRuenAzVnJGa3psaTVEMG9VZ3NVZVBIa3BLU3RLQkF3ZVVtNXRyQ1Jod2RYTjBkSlNIaDRmcTE2K3ZIajE2eU1tSkgwa2x5ZG5aV1k2T2p1cmZ2NzlPbkRpaExsMjZ5TmZYVjVMMDhjY2ZLemMzVjQ2T2ptcmN1SEdadnFOSGo3N2tjZi9hZDlpd1laZjhuSW8wYWRKRWJtNXU2dGV2bjFxMGFLSHc4UEFLOTcrc1Y2K2VCZzhlck1HREJ5c3JLMHNiTjI1VVVWR1JKV1MrODg0NzFhcFZLN1Z2Mzc1SzN6ZnU3dTRhT25Tb2hnNGRxclMwdERKN0xob01Cbmw2ZWxwbXg0ZUZoZG04dDE5VlEwUUFBT29xZzdrbU51TUFBT0FpcWFtcDJyWnRtM0p5Y2hRU0VxTEl5RWlibHZFQkFBQUFBR3Fmb1pMWkhvU0lBSUFhVlZCUW9OMjdkK3Y0OGVQeThQQlFwMDZkRkJ3Y2JPK3lBQUFBQUFCV1ZCWWlzbllFQUZCalRwdzRvUjA3ZHFpb3FFaXRXclZTUkVRRXl4UUJBQUFBNENyQWIzWUFnR29yTEN6VTl1M2JsWnljTEY5ZlgzWHAwb1VUZHdFQUFBRGdLa0tJQ0FDb2x0VFVWTVhIeHlzL1AxL2g0ZUZxMjdhdEhCd2M3RjBXQUFBQUFLQUdzU2NpQU9DU21Fd203ZG16UjRjUEg1YVhsNWU2ZGV1bWdJQUFlNWNGQUFBQUFMZ0U3SWtJQUtoeDU4NmRVMXhjbkxLenN4VVdGcWFPSFR1eTl5RUFBQUFBWE1XWWlRZ0FzSm5aYk5iQmd3ZVZrSkFnWjJkbmRlM2FsWk9YQVFBQUFPQXF3RXhFQUVDTk9ILyt2T0xqNDNYMjdGazFhdFJJWGJwMGthdXJxNzNMQWdBQUFBRFVBbVlpQWdBcWxaS1Nvdmo0ZUpuTlprVkdScXBaczJiMkxna0FBQUFBVUlPWWlRZ0F1R1JtczFsNzl1elJ3WU1INWVmbnB4NDllc2pMeTh2ZVpRRUFBQUFBYWhraElnQ2dYUG41K1lxTmpWVmFXcHJDd3NJVUdSa3BSMGRIZTVjRkFBQUFBTEFEbGpNREFNcElUVTFWWEZ5Y2lvcUsxTGx6WnpWdDJ0VGVKUUVBQUFBQUxxUEtsak1USWdJQUxNeG1zdzRjT0tDRWhBUjVlWG1wWjgrZTh2SHhzWGRaQUFBQUFJRExqRDBSQVFBMktTd3NWSHg4dkU2ZE9xV1FrQkIxNmRKRlRrNzhid0lBQUFBQVFJZ0lBSkNVbVptcExWdTJLRDgvWDlkZmY3MWF0R2hoNzVJQUFBQUFBRmNRbGpNRHdEVXVPVGxadi8zMm0xeGRYZFd6WjAvNSsvdmJ1eVFBQUFBQVFDMWpPVE1Bb0VMNzl1MVRRa0tDNnRldnIxNjllc25WMWRYZUpRRUFBQUFBcmtDRWlBQndEVEtaVFBydHQ5K1VuSnlzcGsyYnFrdVhMbkp3Y0xCM1dRQUFBQUNBS3hRaElnQmNZL0x5OHJSbHl4WmxaR1NvZmZ2MmF0T21qYjFMQWdBQUFBQmM0ZGdURVFDdUlabVptZHE4ZWJNS0N3dlZ2WHQzTlc3YzJONGxBUUFBQUFDdUFKWHRpVWlJQ0FEWGlKTW5UeW8rUGw0dUxpN3EzYnUzL1B6ODdGMFNBQUFBQU9BS3djRXFBQUR0Mzc5ZmUvZnVsWitmbjNyMzdpMTNkM2Q3bHdRQUFBQUFxRU1JRVFIZ0ttWTJtN1Y5KzNZbEppYXFTWk1tNnRhdG14d2RIZTFkRmdBQUFBQ2dqaUZFQklDcmxNbGtVbHhjblA3NDR3KzFhdFZLSFRwMFVDV3owd0VBQUFBQUtCY2hJZ0JjaFlxS2lyUjU4MmFscGFXcFE0Y09hdDI2dGIxTEFnQUFBQURVWVlTSUFIQ1Z5Yy9QMThhTkc1V1ZsYVd1WGJzcU5EVFUzaVVCQUFBQUFPbzRRa1FBdUlxY1AzOWVHelpzVUY1ZW5ucjM3cTNnNEdCN2x3UUFBQUFBdUFvWXpHYXoyZDVGQUFDcTc5eTVjOXE0Y2FPS2k0dlZwMDhmQlFRRTJMc2tBQUFBQUVBZFlhaGtFMzFDUkFDNENxU2xwV256NXMxeWNuSlNWRlNVNnRXclorK1NBQUFBQUFCMVNHVWhJc3VaQWFDT08zWHFsTFpzMlNKUFQwOUZSVVhKdzhQRDNpVUJBQUFBQUs0eWhJZ0FVSWVscEtSbzY5YXQ4dkh4VWQrK2ZlWHE2bXJ2a2dBQUFBQUFWeUZDUkFDb28wb0NSRjlmWDBWRlJjbloyZG5lSlFFQUFBQUFybEtFaUFCUUIvM3h4eC9hdW5Xci9QMzkxYmR2WHdKRUFBQUFBTUJsUllnSUFIWE15Wk1uRlJzYlM0QUlBQUFBQUtnMWhJZ0FVSWNrSnljckxpNU9BUUVCNnR1M3I1eWMrR3NjQUFBQUFIRDU4ZHNuQU5RUkowNmNVSHg4dk9yWHI2OCtmZm9RSUFJQUFBQUFhZzIvZ1FKQUhaQ1VsS1Q0K0hnMWFOQkF2WHYzSmtBRUFBQUFBTlFxZmdzRmdDdGNjbkt5SlVEczA2ZVBIQjBkN1YwU0FBQUFBT0FhNDJEdkFnQUFGVHQxNnBUaTR1SVVHQmhJZ0FnQUFBQUFzQnRDUkFDNFFxV2xwV25yMXEzeTlmVlY3OTY5Q1JBQkFBQUFBSFpEaUFnQVY2RE16RXh0MnJSSm5wNmU2dHUzcjV5ZG5lMWRFZ0FBQUFEZ0drYUlDQUJYbU96c2JHM1lzRUd1cnE2S2lvcVNxNnVydlVzQ0FBQUFBRnpqQ0JFQjRBcHkvdng1YmRpd1FRNE9Eb3FLaXBLN3U3dTlTd0lBQUFBQWdCQVJBSzRVZVhsNVdyOSt2VXdtazZLaW91VGw1V1h2a2dBQUFBQUFrRVNJQ0FCWGhNTENRbTNZc0VFRkJRWHEyN2V2Zkh4ODdGMFNBQUFBQUFBV2hJZ0FZR2NtazBtYk5tMVNUazZPZXZmdUxYOS9mM3VYQkFBQUFBQkFLWVNJQUdCSFpyTlo4Zkh4U2s5UFY0OGVQZFNnUVFON2x3UUFBQUFBUUJtRWlBQmdSN3QzNzliSmt5Y1ZHUm1weG8wYjI3c2NBQUFBQUFES1JZZ0lBSFp5NU1nUkhUcDBTQzFhdEZETGxpM3RYUTRBQUFBQUFCVWlSQVFBTzBoSlNkSE9uVHZWcUZFalJVWkcycnNjQUFBQUFBQ3NJa1FFZ0ZxV2taR2gyTmhZK2ZyNnFudjM3aklZRFBZdUNRQUFBQUFBcXdnUkFhQVduVDkvWHBzMmJaS3JxNnY2OU9rakp5Y25lNWNFQUFBQUFFQ2xDQkVCb0pZVUZoWnE0OGFOS2k0dVZ0KytmZVhtNW1idmtnQUFBQUFBc0FraElnRFVndUxpWW0zWnNrWG56NTlYcjE2OVZLOWVQWHVYQkFBQUFBQ0F6UWdSQWFBVzdOeTVVMmxwYWVyU3BZc2FOR2hnNzNJQUFBQUFBS2dTUWtRQXVNd1NFeE4xOU9oUnRXN2RXazJiTnJWM09RQUFBQUFBVkJraElnQmNSbWZQbnRXT0hUdlVzR0ZEdFcvZjN0N2xBQUFBQUFCd1NRZ1JBZUF5eWN2TDA5YXRXK1hoNGFIdTNidkxZRERZdXlRQUFBQUFBQzRKSVNJQVhBWW1rMG1iTi84Lzl1NDhMcXF5L1IvNFo1aGhCMGNXVFhaUUFSWGNkeTJ6eDYzMDBTenpNWmMwN2Ntc1hOTFNUQ3pGM0hjMHRhZlVGRFhOU2d1M0VsRnpSZHhRUVpCOVVSRlFObUhZWnBqZkgvN21mQm1ZZ1JrRkJ2VHpmcjNtSlhQT2ZjNTl6VkNjT2RmYzkzV2ZoMXd1UisvZXZXRmlZbUxva0lpSWlJaUlpSWllR3BPSVJFUzE0T3JWcThqT3prYjM3dDI1RWpNUkVSRVJFUkUxZUV3aUVoSFZzSmlZR0NRbko4UEh4d2VPam82R0RvZUlpTWlnYnQyNmhWOS8vZldwam8yT2pzYWhRNGNnbDh0ck9DcjFQczZmUHcrbFVsbHJmVHl0c3JJeWhJU0U0TUtGQzRZT0JRQ1FsSlNFUjQ4ZUdUb01JaUl5RUltaEF5QWllcDZrcDZmajVzMmJjSFoyUnV2V3JRMGREaEVSa2NGZHVuUUp2L3p5QzBhT0hLbjNzWWNPSGNLbFM1Y3dlUEJnWVp0U3FVUkJRUUh5OHZLRVIwNU9Eckt6czVHZG5ZMUhqeDdoelRmZmhLK3ZyMDU5N05peEF6ZHUzTUN4WThmMGpxKzJsWmFXWXZ2MjdTZ3JLME9YTGwzMEtvK3llZk5tSER4NFVPOCtnNE9ETlc1WEtwVll0bXdaQ2dvS3NIUG5Ub2pGWWh3K2ZMamE4L242K3NMZDNiM2Fkc1hGeGNqSXlOQXBSanM3TzFoWVdPalVsb2lJYWc2VHhLanlWd0FBSUFCSlJFRlVpRVJFTlVRbWt5RTBOQlNOR2pWQzE2NWR1WkFLRVJHOU1BWU1HUEJNYlJvMWFvVGZmLzlkYlZ0eGNUSE9uVHVIZnYzNklTSWlBaXRYcmtSQlFRRmtNcG5XVVlNaWtRalcxdGJvMUttVHprbkV2THc4ZzVZZUNRa0pxWEsvcjY4dlRwNDhpUzFidGxUNW1pd3RMZEdqUjQ5SzIrZk9uYXRUSENkT25NQ1ZLMWUwN2o5Mzdod1NFaEl3ZCs1Y2lNVmlBRUJBUUVDMTU1MDZkYXFRUlB6cXE2KzA5ckZ1M1RyTW5EbFRwMWpuenAyTGZ2MzY2ZFNXaUlocURwT0lSRVExb0t5c0RCY3ZYb1JTcVVTdlhyMGdrZkRQS3hFUnZUaTJiOSt1ZGQ5dnYvMkdvMGVQVnRsR2xaUXE3OFNKRTVESlpPamZ2ejllZXVrbHRHM2JGdWJtNXJDMHRJU0ZoUVVzTEN4dzh1UkpSRVZGWWRPbVRiQ3hzWUdOalkzZTErQ0hEeCtpYWRPbWVoMVRrNVl2WDY1VHU4T0hEMWM1OHMvZDNWMWpFbEhYWk51ZE8zZTBKdmprY2ptMmJ0Mkt0bTNicXAxUDI2aEZ1VnlPZWZQbUlUazVHYjE2OVJLMmp4bzFDdjM3OTBkaFlTRUNBZ0l3Wk1nUXRHM2JWdTNZRFJzMkNMTTVEaHc0Z0MxYnRnajlaR1ZsWWRTb1VUcTlIaUlpcW5tOHl5VWlxZ0czYnQxQ1ZsWVdldlhxQlNzckswT0hRMFJFVktkY1hGeTA3ck8ydHE2MlRVVktwUksvLy80NzNOM2QwYVpOR3dDYVI5UkZSMGNqS2lvS1hsNWVla2I4aEV3bVEzWjJ0dENISWZ6MTExOXF6eTlldkFpWlRLWTErWmVlbm83dzhIQU1IRGhRYmRaRGJjNkErUFhYWDVHUmtRRi9mMzhBd00yYk4rSHI2d3NqbzhvbDlrdEtTckJvMFNKRVIwZGo1Y3FWYU5La2liQ3ZRNGNPQUlEYzNGd0VCQVNnVFpzMnd1dU1pSWlvdGZpSmlLaG1NSWxJUlBTTTd0MjdoNWlZR0hoNmVzTEp5Y25RNFJBUkVSbEVkVk9hdGUzWE5KWDU0c1dMU0UxTnhZZ1JJMm9zUGswU0V4TUJBSEZ4Y1RWNlhxVlNxWE5Tci93b1RLVlNpWU1IRCtMMjdkdHdjbktDajQ5UHBmWmJ0bXhCYUdnb0hCd2MwTEZqeHhxTFdadlUxRlRzMnJVTFk4YU1nYnU3T3lJakkvSEZGMTlneG93WkdESmtpRnJiaHc4Znd0L2ZINm1wcVZpK2ZEbGF0V3FsZDMvcDZlbkNGN0k1T1RsQ0RNQ1Q1Q01SRVJrT2s0aEVSTStnb0tBQWx5OWZocTJ0TGRxMWEyZm9jSWlJaUF4RzIzVGw2cVl6VjV6S1hGWldKclN0N2ZyQ1VWRlJBSjRrcnBLVGsrSG01dmJNNTF5d1lBR3VYNytPSlV1V1ZKcXFXeDJSU0FRL1B6OTg5TkZIV0xKa0NiWnMyUUtwVkNyc1AzUG1ERUpEUXpGaXhBaWRFNGdsSlNVNnRTc3JLOU40N09MRmkrSHU3bzdSbzBlanBLUUU2OWF0UTRzV0xmREdHMitvdFQxeDRnUTJiZHFFL1B4OE5HN2NHTGR2MzBiejVzMWhabWFtVS84cVM1WXNxYlJ0MHFSSmVwMkRpSWhxQjVPSVJFUlBTVlVIVVNRU29XZlBuaHFuOUJBUkVUM3ZNak16QVVCcnNraFZvN0NxWkZKbVppWk1URXdnbFVyeDk5OS9Jems1dWVZRDFlRGF0V3N3TWpLQ3NiRXh6cDQ5V3lOSnhLaW9LQlFXRmlJaElVSHZKQ0lBMk5yYTRyUFBQa05FUklUYWU1YVRrNE1OR3phZ1E0Y08rUERERDNVK1g4WFJndnE0ZS9jdUVoSVNZR1JraE1HREIwT3BWRUlzRm1QanhvM0M1NTRyVjY0Z01EQVFVVkZSNk5PbkR6NzY2Q01jT0hBQTI3WnR3NzU5K3pCeTVFZ01IejRjcHFhbU92WEptb2hFUlBVWGs0aEVSRS9weG8wYnlNN09SdS9ldldGaFlXSG9jSWlJaUF4aXpKZ3hOZEt1VmF0V1dMUm9FWDc4OFVlNHViblZlaUt4b0tBQTE2OWZoNCtQRHhvM2JveS8vLzRiWThlT2ZlYlJqeXRXckVCOGZEejY5dTJyOHpFYk4yNUVVRkJRcGUyLy9mWmJwVzNoNGVGNC9mWFhLMjNmdVhNbkhCMGRoZWN1TGk3bzJMRmpwUkdEMmtSRlJTRXBLVWx0Vy9QbXpiRjgrWEpZVzFzakppWUdBUUVCK005Ly9nTkhSMGZzMjdjUHg0OGZSMnBxS2h3ZEhlSHY3eThzb2pKbHloUU1HVElFbXpadHd0YXRXL0g3Nzc5ajNMaHg4UFgxUldKaUlnb0xDd0VBdDIvZmhsZ3NocVdsSld0S0V4RTFBRXdpRWhFOWhidDM3eUl1TGc3ZTN0NXFIOWlKaUloZU5KcVNYMC9EeU1nSUsxZXVSSDUrUGhZdFdvU1pNMmNLKy9iczJhUHhHRlZOUTAzN3UzYnRXdVdDSzZkT25ZSmNMc2Nycjd3Q096czduRDE3Rm1GaFllamV2ZnN6dlE0UER3OTRlSGc4MWJHelo4OSs2bjRiTjI2czluem8wS0VZT25Tb3pzZS85dHByR3JkMzd0d1pNcGtNaXhZdFFvc1dMVEIrL0hnQVR4YUVrVWdrbURWckZnWU9IRmhwV3JxTGl3dVdMMStPNE9CZ2ZQLzk5OGpNek1RLy8veURuMy8rV1doejVNZ1JIRGx5QkM0dUxwZzFheFlBMWtRa0lxclBtRVFrSXRKVGZuNCtMbCsrRERzN08vajYraG82SENJaUlvMWtNaG5Dd3NJUUZ4ZW5VL0tsWjgrZXdrZ3lmWmlibXdNQTh2THluaXJKWTJ0ckMwdExTK0VjSTBhTXFIUjkzYkZqUjVYbjBMVGZ5c3BLYXhKUnFWVGlqei8rZ0xHeE1mcjE2d2NMQ3d2WTJOaGd6NTQ5ejV4RWZCWURCdzU4NW5Na0pDUlV1VkNNcWc5ZDJ3SEF1blhya0pPVGd5VkxsZ2pUMDlldlgxOHBjYW5KZ0FFRDBLMWJOMWhiVzhQSXlBZ1RKMDVFYm00dTNubm5IY3llUFZ2b1I3VTZNMnNpRWhIVlgwd2lFaEhwb2F5c0RKY3VYWUtSa1JIcklCSVJVYjBWR3h1TDRPQmdLQlFLT0RnNG9HWExsakF4TWFueUdCY1hsMmZxODlDaFE5VW0relNaTld1V01PVjI0c1NKR2hOL3FwcDRGUzFmdmh3aElTRmE5MnR6K3ZScEpDY25ZK0RBZ1dqVXFCR0FKeVAzQWdNRGNlYk1HZlRwMDBmUFYvRnN5c3JLS28za2Uxb1hMMTZzOHZlZ1N0cnAybTcvL3YwNGZmbzB4bzBiaDBlUEh1SEdqUnRJVFUzRnUrKytpeEVqUmlBdkw2L2FtSFQ1L1ZoYVdxSmR1M2FZUG4yNlVKdXlZazNFeDQ4ZlkrSENoVG9sTDRtSXFPWXhpVWhFcElmYnQyOGpLeXNMdlh2M0ZrWmVFQkVSMVNleHNiRUlDZ3FDbDVjWCt2ZnZYK2ZYcTRvSm80eU1ER1JtWnNMSHgwZHR1NlpGTXRxMGFWUHI4Y2xrTXZ6NDQ0OFFpOFVZTjI2Y3NQM3R0OS9HZ1FNSHNHblRKblRxMUtsT2EvUVZGeGRYbStUVlY4WGZ3NTQ5ZXpRbURhdHFKNWZMOGROUFB3RUFkdS9lRFFDd3NMQ0FrNU1Uek0zTjhkRkhINm10L256MjdGbGN1M1lOTTJiTTBEdGVEdzhQckZtenBzbzIxdGJXMWJZaElxTGF3eVFpRVpHT0hqNThpT2pvYURSdjNweDFFSW1JcUY2U3lXUUlEZzZHbDVlWFh2WHdhdE9SSTBld2YvOStIRHQyek5DaEFIaXlpRWxtWmlaR2pod0pCd2NIWWJ1bHBTWGVmLzk5ZlBmZGQxaStmRG0rL2ZiYloxNWtSVmU1dWJuMWNtRVJpVVNDOTk5L0gyWm1abkIxZFlXcnF5dnM3T3lFL1JXblg5Kzdkdy9YcmwzRHYvLzliNzM3dW5mdkhxS2pvOVcyeGNURUFBQkNRa0lxdGUvWHI1L2VmUkFSMGJOaEVwR0lTQWVscGFXNGRPa1NyS3lzMEw1OWUwT0hRMFJFcEZGWVdCZ1VDZ1g2OSs5djZGQUVlWGw1c0xhMk5uUVlBSjZzZG56aXhBazRPenRqd29RSmxmWVBHellNcDA2ZHdxVkxsN0JwMHlaTW5UcFY3ejVrTWhrZVBYcWsxL1R3dExRME5HM2FWTysrNmtMRjBhSXF4Y1hGTURVMXJaRStaRElacmwrL2pvQ0FBSTM3bHk5Zlhta2JrNGhFUkhXUFNVUWlJaDFjdjM0ZGhZV0Y2TmV2bjFCUW5JaUlxTDZKaTR1RGc0TkR2U3E1Y2Z2MmJSZ1pHZUg4K2ZQbzBxVkxqU1dlOUhYNDhHSDg4TU1QTURjM3g4S0ZDelhHSVJLSjRPZm5oMDgrK1FSLy92a25pb3VMTVdQR0RMMnUvZE9uVDBkeWNqTDgvUHpRdDIvZmF0dm41dWJpN3QyN2VQUE5OL1Y1T1hWS0pwTWhKaVlHZCs3Y3dlM2J0eEVaR1lrUFB2aEFxR1dwTDlVVTZKQ1FFUHo1NTUvSXpNekUvdjM3SzQxZ3JGZ1RrWWlJREl0M3drUkUxVWhOVFVWeWNqSjhmWDFoWTJOajZIQ0lpSWkweXMzTlJjdVdMUTNTOStEQmc5R2pSdy9odVVLaHdJNGRPNUNRa0FCYlcxc2hjZGU1YzJlOC9QTEw2TmF0RzNidTNGbnJpMlFvRkFwczM3NGQrL2Z2aDRtSkNmejkvWVdGT3pScDBxUUpGaTllakMrLy9CSi8vZlVYNHVQak1XZk9ITGk3dSt2VW4xS3BWUHUzT3NIQndWQXFsV3J2WFUwb1g2c1FlUEkrNkNzMU5SVUxGaXpBM2J0M29WUXFZVzl2RHg4Zkg0d1pNd1pkdW5UUiszemJ0Mi9IMWF0WEVSOGZEK0RKZE9VT0hUbzhkVEtTaUlqcUZwT0lSRVJWa01sa3VIcjFLdXp0N2RHcVZTdERoME5FUkZTdG1sNmdRMWMyTmpZd05qWkdlSGc0cmwyN2hwTW5UeUlqSXdQanhvM0RoQWtURUJjWGh3c1hMdURNbVROWXVYSWx4R0l4T25ic2lENTkrdUNWVjE2cHNpYmdaNTk5aHNqSVNLMzdCd3dZVUdsYmNIQXdrcEtTc0hidFdrUkZSY0hLeWdvTEZpeEFodzRkcW4wdDN0N2VXTGx5SmI3NTVodkV4c1ppOHVUSm1ENTl1azYxL2paczJJRE16RXlka283WjJkbll1M2N2M04zZDBhbFRwMnJiNjJQSWtDRTZ0ZFAwM3FrNE9EakExOWNYLy9uUGY5QytmWHUxR3BKVkhhZHAzN0JodzFCUVVBQ1JTSVRSbzBlalc3ZHVhTldxRlVRaUVZNGZQNDdqeDQ5WE9rWlZJMUhUdnRhdFd6L3ppdUpFUktRZkpoR0ppTFJRS3BVSUN3c0RBSFR2M3IzT2lxc1RFUkUxRlBuNStWaTZkQ2tlUFhxRWh3OGZJaTh2RHdCZ2JtNk9IajE2NEp0dnZvR1hseGNBb0dYTGxtalpzaVhHangrUHBLUWtuRHg1RWlkT25NRGF0V3V4WWNNR2JOaXdBWjZlbmhyN2VmdnR0OUduVHgrOTQ1UEpaSWlMaTRPWGx4Zm16WnNISnljbm5ZLzE4dkxDNXMyYnNXYk5HbVJrWk9DMTExN1Q2VGhMUzB0WVdscnExRFl6TXhPRmhZV1lObTFhalgvTytQSEhIOVdlSHpseUJILzg4VWVsZHR1M2IxZDdmdWpRSVJ3OGVCREFrNFZWWnMyYXBmSDgrcTdBN083dURoOGZINDJ2YzlXcVZWVWVxMm4vakJrem1FUWtJcXBqVENJU0VXbHg1ODRkWkdabW9udjM3ckN3c0RCME9FUkVSUFdPYXNHeG16ZHZ3c2ZIQnk0dUx2RDA5SVMzdHplTWpZMjFIdWZ1N281Smt5Wmg0c1NKdUh6NU1pNWR1bFJwR3ZZYmI3eUIxcTFiQThCVEpSQUJvRTJiTmdnSUNFQ0xGaTFnWkdTazkvRzJ0clpZc21RSlpESlpyWHdXOFBMeXd2Lys5NzhhVFlhNXU3dWpiOSsrbFVaQ2R1alFBVGs1T1pYYVZleTdmZnYyeU03T3JyYWZwMW1CV1J2V1BDUWlhaGhFU2wyTGRSQVJ2VUJ5YzNOeDRzUUpPRGs1MVhpTklpSWlvdHF5WnMwYTlPelpFNzE2OVRKMEtFUkVSTlRBaUtvWkZxLy8xM0ZFUk04NXBWS0p5NWN2dzhURXBNYnJFeEVSRVJFUkVSRTFSRXdpRWhGVmNPZk9IV1JuWjZOejU4NEdLMDVQUkVSRVJFUkVWSjh3aVVoRVZFNWVYaDRpSXlQaDZ1b0tSMGRIUTRkRFJFUkVSRVJFVkM4d2lVaEU5UCtwcGpFYkd4dWpRNGNPaGc2SGlJaUlpSWlJcU41Z0VwR0k2UCtMaVlsQlZsWVdPblhxQkZOVFUwT0hRMFJFUkVSRVJGUnZNSWxJUkFUZzhlUEhpSWlJZ0xPek01eWRuUTBkRGhFUkVSRVJFVkc5d2lRaUViM3dWTk9ZSlJJSlYyTW1JaUlpSWlJaTBvQkpSQ0o2NGNYR3h1TFJvMGZvMkxFanB6RVRFUkVSRVJFUmFjQWtJaEc5MFBMejh4RVJFUUZIUjBlNHVyb2FPaHdpSWlJaUlpS2llb2xKUkNKNm9WMjdkZzFHUmthY3hreEVSRVJFUkVSVUJTWVJpZWlGbFpxYWl2VDBkUGo2K3NMYzNOelE0UkFSRVJFUkVSSFZXMHdpRXRFTHFiUzBGT0hoNGJDMXRVV0xGaTBNSFE0UkVSRVJFUkZSdmNZa0loRzlrRzdkdW9YaTRtSjA2dFFKSXBISTBPRVFFUkVSRVJFUjFXdE1JaExSQ3ljckt3dng4ZkZvMmJJbGJHeHNEQjBPRVJFUkVSRVJVYjNISkNJUnZWQ1VTaVd1WHIwS2MzTnorUHI2R2pvY0lpSWlJaUlpb2dhQlNVUWllcUhFeHNZaUp5Y0hIVHAwZ0VRaU1YUTRSRVJFUkVSRVJBMENrNGhFOU1LUXlXU0lqSXlFZzRNRG5KMmREUjBPRVJFUkVSRVJVWVBCSkNJUnZUREN3OE9oVkNyUnNXTkhRNGRDUkVSRVJFUkUxS0F3aVVoRUw0UUhEeDdnM3IxN2FOT21EU3d0TFEwZERoRVJFUkVSRVZHRHdpUWlFVDMzeXNyS0VCNGVEaXNySzNoNWVSazZIQ0lpSWlJaUlxSUdoMGxFSW5ydXhjWEY0ZkhqeCtqUW9RT01qUGhuajRpSWlJaUlpRWhmdkpzbW91ZGFVVkVSYnQrK2pXYk5tc0hCd2NIUTRSQVJFUkVSRVJFMVNFd2lFdEZ6TFNJaUFuSzVIQjA2ZERCMEtFUkVSRVJFUkVRTkZwT0lSUFRjeXM3T1JtSmlJanc5UFdGdGJXM29jSWlJaUlpSWlJZ2FMQ1lSaWVpNWRmMzZkWmlabWFGTm16YUdEb1dJaUlpSWlJaW9RV01Ta1lpZVM4bkp5WGowNkJIYXRtMExZMk5qUTRkRFJFUkVSRVJFMUtBeGlVaEV6eDI1WEk1YnQyN0IxdFlXYm01dWhnNkhpSWlJaUlpSXFNRmpFcEdJbmp2UjBkRW9MQ3hFaHc0ZElCS0pEQjBPRVJFUkVSRVJVWVBISkNJUlBWY0tDd3NSRXhNRFYxZFgyTm5aR1RvY0lpSWlJaUlpb3VjQ2s0aEU5RnlKakl5RVVxbEUyN1p0RFIwS0VSRVJFUkVSMFhPRFNVUWllbTdrNWVVaEtTa0pucDZlc0xDd01IUTRSRVJFUkVSRVJNOE5KaEdKNkxseDgrWk5HQnNibzFXclZvWU9oWWlJaUlpSWlPaTV3aVFpRVQwWE1qTXprWmFXaHRhdFc4UEV4TVRRNFJBUkVSRVJFUkU5VjVoRUpLSUdUNmxVNHNhTkc3QzB0RVRMbGkwTkhRNFJFUkVSMFF1aHVMZ1lXVmxaaGc2RGlPcUl4TkFCRUJFOXE3dDM3eUk3T3h2ZHUzZUhrUkcvR3lFaUlpS2l1blgvL24wNE9qcldXWCtSa1pGSVRFeDhwbk40ZW5xaVJZc1dTRXRMMDZtOXM3TXpSQ0tSMnJhLy92b0wzMzMzSFlLRGc0VnQrL2J0dzdadDI1NHBOZ0JxNXlTaStvRkpSQ0pxME1yS3luRHIxaTNZMk5qQXhjWEYwT0VRRVJFUjBRdEFxVlRpenAwN3VIRGhBaTVldklpa3BLUTZUWHI5ODg4L09Ianc0RE9kWTh5WU1iQzJ0c2FrU1pOMGFoOFVGSVNRa0JBRUJBVG85RnBuekppaDlyeXNyQXg1ZVhsbzNMaHhsY2RkdVhJRjU4K2YxeWttSXFwYlRDSVNVWU1XSHgrUGdvSUNkT25TcGRJM28wUkVSRVJFdGVIZGQ5K3RGOU40anh3NW9uSDdnZ1VMRUI0ZWpzREFRRWlsVW8xdHhHSXh4R0t4a0JBY01HQUFQdm5rRTd6MTFsc0FnRC8vL0xQU0tFTjkvUHZmLzFaN3ZuZnZYdnorKysvWXRHbFRsYU0yOC9Qem1VUWtxcWVZUkNTaUJrc3VseU1xS2dyTm1qVkQwNlpORFIwT0VSRVJFYjBnckt5c01IandZTHp5eWl1WU1XTUdpb3FLREJLSHBnVUZIejU4aUd2WHJxRmZ2MzVvMHFTSlR1ZFJLcFUxSFpxYWlJZ0lCQVlHd3NIQkFRcUZBcW1wcVpYYVNLVlNOR3JVcUZiaklLSm53eVFpRVRWWXNiR3hLQzR1UnR1MmJRMGRDaEVSRVJHOVFHcWk1bDlOR2pCZ1FLVnR3Y0hCV2tjUmF0c3VGb3RyTkM3Z1NmMXlmMzkveU9WeXBLYW1hcDArUFhIaVJJd1pNNmJHK3llaW1zTWtJaEUxU0NVbEpiaHo1dzZjbloycnJhdENSRVJFUlBTOGUrZWRkekI0OE9BcTJ4dzllaFMvL2ZhYjhMeGk4bkhqeG8zWXVIR2oyalpWbTc1OSs2SjkrL1o2eFpTU2tvSTVjK1lnUHo4Zm5wNmVXTDE2TlN3c0xJVDk2ZW5wK1BMTEx3RUFyNy8rdWw3bkpxSzZ4eVFpRVRWSU1URXhrTXZsOFBIeE1YUW9SRVJFUkVRR0o1VktxMTFvc0dKOXhPM2J0d01BMHRMUzRPZm5oMW16WnNIWDF4Y0FFQklTZ2oxNzlnaHRMQ3dzY1BIaVJaM2p5Y3JLd293Wk0rRG82SWlBZ0FCczNMZ1JNMmJNd1B6NTgrSG01b1l6Wjg0Z0lDQUFMaTR1V0xod0lRY0dFRFVBVENJU1VZTlRYRnlNMk5oWXVMcTZzbTRLRVJFUkVSR2VUTEhXZDVxMUt1bDQvZnAxQUVEWHJsMWhiMjhQQUxDeHNWRnJBd0MydHJZNmY0bHZhMnVMK2ZQbm8yM2J0akF4TWNIQ2hRdXhkZXRXVEpreUJXNXVia2hNVE1TWU1XTXdidHk0V3BsR1RVUTFqMGxFSW1wd29xT2pvVkFvMEtaTkcwT0hRa1JFUkVSa0VFWkdSbXJQbjJZNk13RElaRExzMjdjUHJWcTFFaEtJMnZUcTFRdTlldlVTbnBlVWxGVFp2blBuemlncEtVRjRlRGd1WGJxRWMrZk93ZGpZV0pqU0hCd2NqSXlNREhoNWVjSER3d05PVGs1Vm5vK0lESXRKUkNKcVVBb0xDeEVmSHc4UER3OVlXVmtaT2h3aUlpSWlxaWRrTWhuQ3dzSVFGeGVIM056Y2F0djM3TmxUTFNIV2tKU1dsc0xZMkZodDI5Tk1aNWJMNVZpeVpBa3lNelB4NmFlZjZ0UjNZR0FnVEUxTklSS0pFQlFVcEhWbVVHaG9LUGJ0MjRlWW1CZ1lHUm1oWThlT2VQLzk5OUc3ZDIrWW01c2pKeWNIRnk1Y1FGaFlHSDc2NlNjVUZCU2dYYnQyNk5xMXEwNXhFRkhkWXhLUmlCcVVxS2dvS0pWS3RHN2QydENoRUJFUkVWRTlFUnNiaStEZ1lDZ1VDamc0T0tCbHk1WXdNVEdwOHBqcUVtNzFXVkZSRWN6TXpOUzJQYzEwNXFpb0tGeTdkZzMvK3RlLzBMdDNiN1Y5OXZiMmFOZXVYYVZqUWtKQ2NQLytmUUJBbzBhTjhPR0hIMm84dDVlWEY5cTBhWU94WThlaVhidDIyTEZqQjQ0ZVBZb2JOMjdBMmRrWnJxNnVhTmV1SFFZTkdnU1JTSVRFeEVTWW01dmp6Smt6ZXIwR0lxbzdUQ0lTVVlOUlVGQ0F4TVJFTkcvZVhHMVZOeUlpSWlKNmNjWEd4aUlvS0FoZVhsN28zNzgvek0zTkRSMVNyWHY4K0RFc0xTMkY1NDZPamhnNGNDRDY5T2tqYk51N2R5K0NnNE9GaFZFQTRNeVpNemgrL0xqd3ZHM2J0bGk1Y2lWYXRXcFZxWS9ldlh1amQrL2VtREJoQW9ZTkc0WVJJMFlBQUhiczJBR0ZRZ0d4V0F5UlNLUTFSbHRiVzB5ZVBGbDQ3dTN0RFFDNGUvY3VidDY4aWJTME5DaVZTc3ljT1JPREJ3OUdpeFl0bnVLZElLSzZ4Q1FpRVRVWVVWRlJFSWxFSElWSVJFUkVSQUNlVEdFT0RnNkdsNWNYaGc0ZGF1aHc2a3hHUmdiczdPeUU1enQzN3NUeDQ4ZVJuWjB0akI1VWxmNXhjWEZCU1VrSkRoNDhpRkdqUm1IczJMRnE1MnJidGkxT25UcWx0YS83OSsvajFxMWJzTFcxMWJqL3BaZGVxckpXZVhoNE9CNC9mZ3hYVjFmMDZORkRHRUZaVkZTRXBLU2tCajBpbE9oRnd5UWlFVFVJQlFVRlNFcEtncWVuWjZXcEcwUkVSRVQwWWdvTEM0TkNvVUQvL3YwTkhVcWRLU2twUVdwcUtnWU9IQ2hzUzB0THc0WU5HOUM0Y1dQczJMRURFb242cmY3bHk1ZXhkZXRXUkVWRjRldXZ2NjYwR3ZMU3BVdXI3UFA4K2ZNNGYvNjh4bjE5Ky9hdE1vbjQ2NisvNHZMbHkxQXFsUUNlakZCMGNuS0NtNXNiM04zZFVWUlVCRGMzTjJFMWFDS3F2NWhFSktJR0lUbzZHa1pHUmhxbldoQVJFUkhSaXlrdUxnNE9EZzUxUG9WNTQ4YU53czl5dWJ6U05nQ1lObTBhQU9EYXRXc0lEQXlFbjU4Zm1qUnA4c3g5aDRlSFF5Nlh3OGZIQndCUVZsYUdGU3RXb0tTa0JMTm56NjZVUUFTZVRFMSs3NzMzc0d2WExxeGV2UnB6NXN4Um00b2NIQnlzdGI4QkF3Wmd6Smd4bURoeDRsUEZ1MlRKRXNqbGNxU2xwU0UxTlJVcEtTbElURXhFUkVRRWpoMDdCb1ZDZ1pkZmZoa0xGaXg0cXZNVFVkMWhFcEdJNnIzQ3drSWtKU1doUllzV01EVTFOWFE0UkVSRVJGUlA1T2Jtb21YTGxuWGViMUJRVUxYYlZFbkUwdEpTeE1mSFkrclVxVmk4ZURFOFBUMmZxZStqUjQ5Q0lwR2dlL2Z1QUo3VUtJeU1qTVQ0OGVQUnZuMTdyY2VOSHo4ZUR4OCt4TEZqeDJCcmE2dDFRWlRhSUpGSTRPTGlBaGNYRjdVVnNVdEtTaEFmSHc5cmErczZpNFdJbmg2VGlFUlU3OTI1Y3dmQS94VmpKaUlpSWlKU3FXNFY1dHBRMWNpOWlycDM3NDQxYTlaZzNyeDUrT0tMTDdCbzBhSXFrMzFWU1VoSXdJVUxGOUMzYjE5SXBWS2NPblVLKy9idFErL2V2VEZ5NUVpa3A2ZWpjZVBHQUlDWW1KaEtpeEZPbno0ZEtTa3AyTDkvUHh3Y0hOUVdaNmxLY25KeWxYVVRBYUJYcjE1cVgvZ1BHREJBejFkSFJQVWRrNGhFVks4VkZSVWhJU0VCN3U3dUw4UktlMFJFUkVUMC9QSHk4c0txVmFzd2UvWnM3Tm16NTZtVGlFRkJRVEF5TXNKNzc3MEh1VnlPbjMvK0dkN2UzcGc3ZHk1a01obkdqUnVuMXI1ZnYzNXF6eVVTQ2I3NTVodk1uRGtUVFpzMmhaK2ZuMDc5VmxVVFVlWG5uMzlXbTY0OVk4WU1IVitWdWl0WHJsVGJGeEVaQnBPSVJGU3Z4Y1RFb0t5c2pMVVFpWWlJaUtoQjgvRHd3Sm8xYTU2cEx1TEVpUlBoNXVZbXJHaThidDA2S0pWS21KbVp3Y3pNRE9QR2pVTkpTUW1VU2lXYU5XdUdRWU1HVlRxSHJhMHR0bTNiQm9sRW90ZUlTbDExNzk0ZHRyYTJhZ3UvNk1QSHgwZHR5ak1SMVI5TUloSlJ2YVdxa2VMbTVxYnpWQXNpSWlJaW92ckt6YzN0bVk2WFNxVjQ2NjIzaE9kV1ZsWnEreWRNbUtEVGVUUXR2bEpUUER3ODRPSGhZYkRqaWFqMkdCazZBQ0lpYldKall5R1h5emtLa1lpSWlJaUlpTWpBbUVRa29ucXB0TFFVc2JHeGNIRng0V3B0UkVSRVJFUkVSQWJHSkNJUjFVdHhjWEVvTFMxRjY5YXREUjBLRVJFUkVSRVIwUXVQU1VRaXFuY1VDZ1ZpWTJQaDZPZ0lxVlJxNkhDSWlJaUlpSWlJWG5oTUloSlJ2Wk9hbW9yaTRtSjRlM3NiT2hRaUlpSWlJaUlpQXBPSVJGUVB4Y1RFd05iV0Z2YjI5b1lPaFlpSWlJaUlpSWdBMU42NjdrUkVUeUU5UFIyNXVibm8wYU9Ib1VNaG9qb2dsOHVSbkp5TXpNeE1GQllXUXFGUUdEb2tJcjJKeFdLWW01dWpTWk1tY0hOemcwVENqOWhFUkVUMC9PRW5IQ0txVjJKaVltQmhZUUZuWjJkRGgwSkV0U3dyS3d1M2I5K0duWjBkV3JkdURTc3JLNGpGWWtPSFJhUTNoVUtCL1B4ODNMOS9INkdob1dqVHBnMXNiVzBOSFJZUkVSRlJqV0lTa1lqcWpieThQRHg0OEFEdDI3ZUhTQ1F5ZERoRVZJdXlzcklRR1JrSlgxOWYyTmpZR0RvY29tY2lGb3NobFVvaGxVcVJuWjJOaUlnSStQajRNSkZJUkVSRXp4WFdSQ1NpZWlNbUpnWVNpUVFlSGg2R0RvV0lhcEZjTHNmdDI3ZVpRS1Rua28yTkRYeDlmWEg3OW0zSTVYSkRoME5FUkVSVVk1aEVKS0o2b2Fpb0NNbkp5ZkR3OElDeHNiR2h3eUdpV3BTY25BdzdPenNtRU9tNVpXTmpBenM3T3lRbkp4czZGQ0lpSXFJYXd5UWlFZFVMOGZIeFVDcVY4UFQwTkhRb1JGVExNak16NGVqb2FPZ3dpR3FWbzZNakhqNThhT2d3aUlpSWlHb01rNGhFWkhBS2hRTHg4ZkZ3Y25LQ3BhV2xvY01ob2xwV1dGZ0lLeXNyUTRkQlZLdXNyS3dnazhrTUhRWVJFUkZSaldFU2tZZ01MaVVsQmNYRnhmRHk4akowS0VSVUJ4UUtCVmRocHVlZVdDeUdRcUV3ZEJoRVJFUkVOWVpKUkNJeXVKaVlHTmphMnNMT3pzN1FvUkFSRVJFUkVSR1JCa3dpRXBGQlBYandBSGw1ZVJ5RlNFUkVSRVJFUkZTUE1ZbElSQVlWRXhNREN3c0xPRHM3R3pvVUlpSWlJaUlpSXRLQ1NVUWlNcGpjM0Z5a3A2ZkQwOU1USXBISTBPRVFFUkVSRVJFUmtSWk1JaEtSd2NURXhFQWlrY0REdzhQUW9SQVJFUkVSRVJGUkZaaEVKQ0tES0NvcVFrcEtDanc4UEdCc2JHem9jSWlJaUlpSWlJaW9Da3dpRXBGQnhNZkhRNmxVd3RQVDA5Q2hFQkVSRVJFUkVWRTFtRVFrb2pxblVDZ1FGeGNISnljbldGcGFHam9jSWlJaUlpSWlJcW9HazRoRVZPZVNrNU5SVWxJQ0x5OHZRNGRDUkVSRVJFUkVSRHBnRXBHSTZseGNYQnhzYlcxaFoyZG42RkNJaUlpSWlJaUlTQWRNSWhKUm5jckt5a0p1Ymk1YXRHaGg2RkNJaUlpSWlJaUlTRWRNSWhKUm5VcElTSUN4c1RGY1hGd01IUW9SRVJFUkVSRVI2WWhKUkNLcU02V2xwVWhKU1lHYm14dkVZckdod3lFaUlpSWlJaUlpSFRHSlNFUjFKaVVsQlFxRkFoNGVIb1lPaFlpSWlJaUlpSWowd0NRaUVkV1p4TVJFMk5yYW9uSGp4b1lPaFlpSWlJaUlpSWowd0NRaUVkV0o3T3hzWkdkbm8zbno1b1lPaFlpSWlJaUlpSWhqcWw4aUFBQWdBRWxFUVZUMHhDUWlFZFdKaElRRVNDUVNMcWhDUkVSRVJFUkUxQUF4aVVoRXRVNHVseU1sSlFXdXJxNlFTQ1NHRG9lSWlIU2dWQ29OSFFJUkVSRVIxU05NSWhKUnJVdE5UWVZjTHVkVVppSjZyaTFmdmh6TGx5OUhibTZ1c08zVXFWTzRmLysrenVmSXo4K3ZqZEQwb2xRcWNmejRjWXdiTnc3UjBkRUc2VDgvUHg5RlJVVjEzamNSRVJFUmFjY2hRVVJVNnhJU0V0QzRjV1BZMk5nWU9oUWllczVzM0xpeFJzL1h0V3RYOU9qUjQ2bU9EUWtKQVFCTW5EZ1JVcWtVdDI3ZHdySmx5MkJpWW9MLy92ZS9HRDU4ZUpYSEh6aHdBTHQzNzhhcVZhdlFva1dMcDRxaEpvaEVJbHk4ZUJFWkdSbFlzbVFKZnZqaEI1aWJtOWRaLzN2MjdNSE9uVHN4WXNRSVRKa3lSYTlqWlRJWjh2UHprWmVYaDl6Y1hPVGs1S0N3c0JELy92ZS9heWxhSXFMNkl6TXpFNGNPSGNMbzBhUHI5TysyTGk1ZnZndzdPenUxUVFXYXRsVm4yN1p0aUl1TGc1K2ZINnlzclBTT283Q3dFQThlUElDSGg0ZmV4MWJIejg4UHJWdTN4cmh4NDU3NkhDVWxKWkRMNWJDd3NORGFKalkyRmx1M2JzWG5uMytPcGsyYjZ0MUhabVltN096c1lHVEVNV1drUHlZUmlhaFc1ZVRrSUNzckM1MDZkVEowS0VUMEhBb0tDcXJSODFsWldUMTFFckVpWDE5ZmpCMDdGbnYyN01HbVRadHc0OFlOeko0OVcrT05nVUtod01XTEYvSDQ4V1BNblRzWDY5ZXZoNU9UazdCL3dJQUJUeDJIcDZjbk5tL2VyTmN4bjMvK09hS2lvcENkblkzbzZHaDA3TmhSNzM2cmlubnAwcVhvMnJWcnBlMUpTVW5ZczJjUEFPRGN1WE1ZUDM1OGxUZFNBREJyMWl3a0p5ZWpvS0FBQ29WQ1k1dGV2WHJCMXRZVy8vblBmNUNkblYzbCtZS0RnNnZjVDBSVVg1MDdkdzU3OSs1RlhsNGVQdnZzczJyYkZ4WVdZdGl3WVRYU2QzVi9PK2ZObTRkKy9mcGg3dHk1Vlc2clNrcEtDbjc3N1RmMDZ0WHJxUktJQUxCNDhXTGN1WE1IVzdac1FaTW1UUkFWRllYcDA2ZnJkWTY1YytlaVg3OSthdHVLaTR0eDllcFZ0R3JWU3RpV2xKU0VEei84c05yenZmUE9PL2pvbzQ4QUFNdVdMY1BkdTNmeDdiZmZvbG16WmhyYlN5UVNSRVpHWXRHaVJWaS9mcjNXY2xIWHJsM0QvZnYzOGVqUkl6eDgrQkNwcWFsSVNrcENRVUVCMXE5ZnI5Ti9JNEQ2NzNiZnZuM1l0bTJiVHNmcGVrNXFXSmhFSktKYWxaaVlDTEZZREZkWFYwT0hRa1RQSVYwK2hFNmFOQW1wcWFsMS9vRlZKQkpod29RSmFOMjZOWllzV1lMUTBGREV4Y1doWGJ0MmxkcUt4V0w0Ky90ajFxeFppSStQeDV3NWM3QisvWG8wYWRJRUFMU081RllxbGNqSnlhbXlqVlFxRlg3KzhNTVB0U2JhS2lvdUxvYXBxYW5Pb3oyM2I5OWVhWnRZTElham82UHcvTUdEQnlndExkVTQrcUcwdEJTclY2K0dYQzVIa3laTmtKNmVqdSsvL3g2elpzMnFzdCtNakF6azVlWEJ4TVFFVXFsVWVOalkyTURHeGdiMjl2YVY2anRxV3VUcjNyMTdLQ3NyMCttMUVoR2xwcWJpOTk5L3g5V3JWL0h3NFVPWW1abkIxOWNYNDhlUGg2ZW5wMEZpZXZQTk4vSDMzMy9qeUpFaitOZS8vcVh4ZWxPZW1abVp4ci9kZi8vOU4zNzU1UmUxZlpxMjFhWGk0bUo4KysyM2tNdmxPSFBtak01ZnJsVzg5aythTkFsVHAwN0ZraVZMc0diTkdtSDdraVZMNE9EZ2dMUzBOUGo1K1FtdmM5S2tTY0krMVhOTklpTWpvVkFvMEtaTm0wcjd5aDlmMGFKRmk5U2VqeG8xQ3ZQbno4ZlVxVlB4N2JmZm9ubno1c0oxWHNYQ3dnSnZ2dmttTGx5NGdKaVlHTmpaMlZVNmI5T21UWEhzMkRIODg4OC9jSEJ3d1AzNzk5R2pSdzlNbXpZTkxWcTBFTzdOM25yckxRd2RPbFJqYkljT0hjTEJnd2MxN3BzeFk0YmE4N0t5TXVUbDVhRng0OFlhMjZ0Y3VYSUY1OCtmcjdJTjFXOU1JaEpSclZFb0ZFaE9Ub2FMaXd1TWpZME5IUTRSUFdkMFRXNnBScDdwTS9WNTJyUnBUeFdUSnQyNmRVTkFRQUJTVTFPcnZLR3pzTERBc21YTDhPbW5ueUlqSXdOZmZmVVYxcTFiQjJ0cmEremZ2MS9qTWVWSGtXaHJVMTVLU29yZWliSzh2RHk5MnBkbmIyOHYzSWdWRnhkanhJZ1JNRFkyaHJlM2Q2VzJhOWFzd1owN2Q5QzhlWE9zV2JNR24zMzJHWTRkT3daZlgxOE1IRGl3MnI2T0hEbWljMXlhYm9KMUdhVklSQVFBY1hGeG1EWnRHc1JpTVRwMjdJak9uVHNqS1NrSm9hR2h1SHIxS3RhdVhhczJJcTJtS0JTS2Ftdm52dmZlZXpoNThpUXNMUzNWYXZTV1oyVmxCYkZZREpGSXBQRkxGZFdYVCtYM2FkcFdWOHJLeXJCeTVVcmN1M2NQd0pPUmU0TUhEOWJZVnFsVTRzY2ZmMFJvYUNoNjl1eFphWCtMRmkwd2V2Um83TnExQzd0MjdVTDM3dDBCQUE0T0RtcXZyZnpQRmZlcEZCWVc0dUhEaHdBZ0pNWXNMUzJSbXBvSzRNbVhZMVVkRDZEU1BWS3JWcTJ3YnQwNnpKNDlHNHNXTGNMa3laT3hkT2xTamNjQ2xaTjVLa2VPSE1HTUdUUHc1WmRmUWlLUllNQ0FBZWpldlh1bEVaUlNxVlJyYk9XL2hLeW9ZcG1Rdlh2MzR2ZmZmOGVtVFp2VXZqeXNLRDgvbjBuRUJvNUpSQ0txTmFtcHFTZ3RMZVdDS2tSVUsvU2R5cXhQKzJuVHBpRTNOeGZ2dlBPT3ZtSHBWUXZwMjIrL1ZacytiV05qQTM5L2Y4eWNPUk5ObWpRUnBpaVZsWlVoTFMxTmJZcHpkWlJLSmU3ZnY2L3htSm9jbFRsNDhHRGhScWtxWVdGaEtDNHV4aXV2dkZKcEdscGdZQ0JDUWtKZ1lXR0IrZlBudzhyS0N2UG16Y1AwNmRPeFpzMGFXRnRiYTd3WjFKZE1Kb09wcWVrem40ZUlYbXg1ZVhsNDlkVlg4ZkhISDZzbFduYnYzbzJkTzNkaSsvYnRXTGx5WlkzM0d4TVRvL1BVMnpObnptamR0Mm5USm5oNWVRRUFDZ29La0pXVnBiWmZsWHhVSmNPMGJWT3BtSVM2ZGVzV3ZMMjlZV0ppb2xPczVXVm5aOFBhMmxxNC9pbVZTcXhkdXhibnpwM0R0OTkraTRzWEwrTEFnUU53ZDNmSG9FR0QxSTR0S0NqQXFsV3JFQm9haWk1ZHVzRFB6MDlqSCsrKyt5NnVYNytPenAwNzZ4MWZlZGV1WGNQQ2hRdlZ0cFgvRXZMcnI3OEdBS1NscFdrOWg2YnJwNHVMQzlhdVhZdWlvaUxZMmRsaDllclZ3cjZMRnkvaTlPblRHRFZxVkpYM1dNYkd4ay8xL2orTmlJZ0lCQVlHd3NIQkFRcUZRdU4vSTFLcEZJMGFOYXFUZUtoMk1ZbElSTFVtTVRFUlVxbFU0eEI3SXFLYVlHWm1oa09IRGxYWlJwL3B6RU9IRGhWV0JSYUx4WHFOdUZCOWFIWndjTkJhbjZnaVRZWHZQVDA5c1dyVktuaDZla0lpa1VBdWwyUG16SmxJUzB2RHRtM2JxaHdaVU43Smt5ZXhldlZxakJrekJ1Kzk5NTdPcjBObHdJQUJNRFkyeHRHalIvVStWcE96Wjg4Q0FQcjM3NisyZmZ2MjdkaTdkeStNalkzaDcrOHZ2T2ZObXpmSC9QbnpzWERoUWl4ZXZCZ3paODZzZEt3Kzh2UHpVVnhjWE9VSUNTSWlYZmo0K0dpczkvM09PKzhnTURBUVVWRlJ0ZEt2ZzRPRDFwRm5LZ0VCQWJDeHNjSDQ4ZU8xdG5ucHBaZUVuOCtmUDQ5VnExWnBiS2RwNnE2bWJlV3ZyMkZoWWZEejg4T2NPWE9lcXA3djk5OS9qNnRYcjJMYnRtMHdNelBEc21YTGNPSENCY3ljT1JQZHVuVkRseTVka0plWGg5V3JWeU0yTmhZZmZ2Z2hURTFOY2Y3OGVXemF0QW1abVprWU5td1lQdm5rRTRqRllvMTltSmlZWU4yNmRRQWcvSzVVQzNQSlpESUFVQnZ4cWRwWFVlL2V2UkVjSEl4YnQyNWgxcXhaK1BycnI5R25UeDloZjFKU0VnQm9UV2FxZE9uU1JmZzVKeWNIalJzM1ZydFd0Vy9mSHNDVHhTcVBIVHVHcGsyYjRyWFhYaE9tRGhjV0Z1S1BQLzdBaUJFajlFNGN5dVZ5RkJZV2F0MVhuYnQzNzhMZjN4OXl1UnlwcWFsYXAzdFBuRGdSWThhTTBTczJxcCtZUkNTaVdwR1hsNGVIRHgraVE0Y09oZzZGaUY0QTE2NWQwMWpyVDlQaUhaY3ZYNjYwemNqSXFOS0lCQ3NySzcxcVA2bHVsbGF0V3FWMmcvWTBXcmR1TGZ3c2tValF2SGx6UkVkSFkvMzY5Vml3WUVHMXh4Y1hGMlBidG0yUXkrVVFpVVRDZHFsVXFuTk5SRjFKcFZLVWxKUlUyYWFrcEFTWExsMkNWQ3BGdDI3ZEFEeTVPVm0zYmgyT0h6OE9pVVFDUHorL1N0ZU1IajE2NE1zdnY4U0tGU3V3WXNVS1JFVkZZZkxreVJwSEUycTdjUms3ZGl6Njllc24vTjdkM055ZTVtVVNFUW0waldnMk5UV0ZXQ3l1VkllMXBqUnUzTGphMWVZREFnSmdaV1dsOTZyMEJ3OGVGRWFKLy9ycnIvamhoeC9Va29PYXRoMDRjQUJidG14Uk8wK25UcDBnbFVweCtQQmh2Wk9JaFlXRnVIRGhBbHEwYUFHcFZJcGJ0MjdoOHVYTCtPeXp6L0RHRzI4QWVISzluajkvUG43NjZTZnMyN2NQRnk1Y1FOT21UUkVaR1ltWFhub0ppeGN2RnFZbzYyUHExS2xxejk5NjZ5MnQreW82ZHV3WUdqZHVER2RuWnd3WU1FQjRqOXpjM0hEdzRFRllXbHFxWFlzcnZtWlZzdlBQUC8vRTl1M2JNWDM2OUVyVGp1L2V2WXV2dnZvS1RrNU9XTFpzbWRvWGl0SFIwZmpwcDUrUW1KaUllZlBtQ2RzcnZ2OEJBUUVJQ0FnQUFQejQ0NDhBbm95ZTNiMTdkNVd2VDV1VWxCVE1tVE1IK2ZuNThQVDB4T3JWcTlVV1EwdFBUOGVYWDM0SkFIajk5ZGVmcWcrcWY1aEVKS0pha1pDUUFMRll6SnMxSXFvVEN4WXNFRVlRbHFkcDlHSDVEOWdxMVkyNFV5cVZPSExrQ0FZTkdsUnRqZGZzN0d5dFNjVDgvSHhrWkdUb1hlYmhndzgrd05telozSHUzRG1jT25VS3I3MzJXcFh0OSszYmg4ek1URGc3TzJQVXFGSENkbFhkeE5telorUFJvMGZWOWl1WHk3VW01MVQyN3QxYjdYbkN3c0lnazhudzl0dHZReUtSSUM0dURpdFdyRUJTVWhJc0xTM2g3Kzh2akxTbzZMWFhYaE9tZVFjRkJlSGN1WE1ZTzNZc0JnOGVyRGJpVTlQMEtlREpleTZYeS9IYmI3OEJRS1ViTXhWemMzTmtaMmNqSVNGQitQMG9sVXF0TjM1RVJCVWxKaVpDTHBmWFNqM0Voa0lpa2FCZnYzNDRjT0NBMnQ5VFhadytmUnBGUlVVWU1tUUlBS0J0MjdiWXVYTW43TzN0MWRvOWZQZ1FWbFpXc0xHeFFXWm1Kakl6TXdFOCtlTFF5c29LQ29WQzR5akU0OGVQcTlXSkhEbHlwREM2czFPblRqQXpNME5rWkNUT25qMkxEei84VU9NNUxseTRvUGI3emMvUHg1a3paL0RXVzI5VitueWdTejFmbFhidDJtSHUzTGs0ZnZ3NGxpOWZqb2lJQ0h6NjZhZVFTQ1NJaUlqQXdvVUw0ZTN0amZuejU4UGMzQnlscGFVb0tTbEJTVWtKSEIwZDBiOS9md1FIQjZORml4YkNkVi8xUldod2NERDI3dDJMOGVQSG8yL2Z2Z0NlakdvZE5Xb1VXcmR1TFV4dHJ5Z21Ka2JycU5xc3JDek1tREVEam82T0NBZ0l3TWFOR3pGanhnek1uejhmYm01dU9IUG1EQUlDQXVEaTRvS0ZDeGRXdStBS05SeE1JaEpSalZNdHFPTHM3RnhudFRpSTZNV3pjK2RPSWNHemE5Y3VuUmNNK2VXWFh5cHRVNTNuaHg5KzBEaUNaTU9HRFRoOCtEQXVYYnFFQlFzV1ZEbGQrWmRmZnRFNFdyQzR1Qmp6NTg5SFhGd2NQdi84Y3lFUmVPL2VQYUZ1a29xWm1SazJiOTRzUEcvVXFCRW1USmlBNzc3N0RsdTJiQkZ1bERSSlNFakF2bjM3QUFEVHAwL1htUFJNUzB0RGVucTYxdGVnb2xRcXRTYm45UEhQUC84QUFGNSsrV1ZrWm1aaTVzeVpLQ29xZ3B1Ykc3NysrdXRxdjNEcTBLRURObS9lakxWcjF5SThQQnlYTGwwU2JqSlZ0RTFYTHlrcHdicDE2eEFURXdOUFQwLzA3dDFiWXp0dmIyL2N2MzhmVTZaTWdZbUpDVXBLU3JCNzkyNDBiZHIwS1Y0eEViMklWTmVYaW4rZkdvSjc5KzRKbzhoMHJZbFljZFZnbFRmZWVBTUhEaHpBa1NOSDlGcW83T2pSbzVCS3BVS2lDM2l5UUpkTUprTmtaS1F3TWpFdUxnN0FrMFZJM24vL2ZkalkyT0RRb1VNNGV2UW9EaDgrRERNek03UnExUW9lSGg1d2RuYUd2YjA5bWpWcmhsOS8vVldZWWd3OFNTS1dIOTJabjUrUC8vM3ZmMmpldkRtYU5HbWlNY2FLSXp6Ly92dHZsSlNVWU1pUUlaWHFHMjdmdmgyVEprM0NSeDk5cEhWMDVLUkprekJwMGlUMDY5Y1BUWm8wd2RxMWE3Rnk1VW9jT1hJRWZmcjBnVlFxeGF4WnM2QlVLaEVSRVlHUkkwZWlwS1JFNjJqWDdkdTN3OXZiR3gwNmRCREtnOFRIeHdONFVuZTVmSm1XLy83M3Z4clBvZEtrU1JPdDEweGJXMXZNbno4ZmJkdTJoWW1KQ1JZdVhJaXRXN2RpeXBRcGNITnpRMkppSXNhTUdZTng0OFpwblZaT0RST1RpRVJVNCs3ZHU0ZVNraEl1cUVMVWdDbVZTcFNWbFVHaFVFQ2hVRUF1bHdzL2wzK1VsWlZCcVZUcTlhZ3A1ZXNGWGIxNlZlTTBYVTJqQUs1Y3VWSnBtNUdSRWZyMzd3OEhCd2VOZmIzOTl0czRmZm8wUWtORHNYVHBVbno5OWRkYVI2aWRQMysrMHVnTGhVS0J4WXNYSXpJeUVpS1JDQVVGQmNLKzB0TFNTb2s2TXpPelN1Y2RNbVFJRGg0OGlIdjM3bUhidG0wYTYyTEo1WEtzV0xFQ2Nya2NiN3p4QmpwMjdLZ3hScFdxNmtSV1Z4Tng5T2pSd3FxVTFmSHg4Y0hwMDZleGYvOStmUHZ0dC9qODg4OXg0OFlOVEpreUJhYW1waGcwYUJDc3JLencrKysvVnpwMjBLQkJrRXFsMkw5L1AxYXRXb1ZUcDA2aGUvZnVPdCtVbkQ1OUdzZVBINGV0clMzOC9QeTBKb0FuVDU2TW9xSWl4TVRFUUtGUW9GbXpaa3dnRXBIT1FrSkNjUExrU1hUbzBFSHJpT2VhY3YvKy9TcjN5K1Z5clcxRUlwSEdhNTJtS2J1NjFrU3N5TjNkSFo2ZW5qaDE2aFErL3Zoam5lb0UzN2x6QjlIUjBYajMzWGVGTDcvV3JWdUhtemR2NHQ2OWUxQXFsVEEyTm9hUGp3OCsrdWdqMk52Ykl5VWxCYjE2OVlKVUtrV1BIajJRbTVzcnJKQWRFUkdCOFBCdzRmeXpaczBTcHZBR0JnWmkxNjVkYXYyWGxKVGdtMisrUVhwNk90TFQwN1ZPeFI0NGNDQm16NTRONE1sbnBhQ2dJSFR0MmhYTm1qV3JkQzFYSmV6czdPeXFyTEZzWjJjblhHOU1UVTB4Zi81OFJFWkd3dGZYRjBxbEVnTUdESUNwcVNrc0xTMWhZV0VCTXpNem1KdWJxLzFzWm1ZR2hVS0JCUXNXWU8vZXZVSjVrTWVQSCtQNjllc0FnTmpZV0J3OGVCQnZ2ZlVXamgwN2hyVnIxMWI3ZTFIUjlIbWhjK2ZPS0NrcEViN2NPM2Z1SEl5TmpZVmtkSEJ3TURJeU11RGw1UVVQRHcrOUZvZWorb3RKUkNLcWNZbUppYkMydHE0MDlZQ0k2b1pxaWt2NWY2dDZxTnFVVHhUcU9xcnZhZGpZMk5UNE9kZXZYNjl4T3JPbUpLS21BdkxHeHNaVkx0cWhtbzR6ZCs1Y25EMTdGcHMzYjhhbm4zNnFzYTFTcWNTV0xWdUVmdVJ5T1pZdFc0YlEwRkFZR1JuaDg4OC9WNHZMM2QxZDdjTzV0aHNYaVVTQ0R6NzRBRnUyYk5FNk1xQ3NyQXh1Ym03SXk4dkRSeDk5cFBYMTFMVTMzM3dUWjgrZVJXaG9LTTZmUDQrK2ZmdXFqVFJSSmF3MXFiaXZ1cW5jRlEwY09CQnBhV2tZT25Rb2JHMXR0YmF6dDdmSG9rV0w5RHEzTHRhc1dWUGo1NnhPVFl3ZUpXcUlaRElad3NMQ0VCY1hwelp0Vlp1ZVBYdWlWNjllejl6dnpaczNzV2JOR2pScjFneCtmbjYxWGdaaHdvUUpWZTVQUzB2VDJxYmlsME91cnE0WU5teVlXcjNaME5CUTdOeTVFNTk5OWhtOHZiMjE5blBqeGcydHEwQy8rdXFyMkxwMUt5NWV2SWhYWG5tbHVwZUVnd2NQUWlLUllOaXdZY0syVnExYUlUOC9INisvL2pxOHZiM1JwazBiWVpiVDd0MjdzV3ZYTHJ6OTl0dENlNmxVaWtHREJnbXJObWRsWlNFcEtRbVptWm1WVm5JdXI2aW9DQXNYTGtSaVlpSldybHlwOFI1bTNicDF3cXJUS2prNU9iaC8vejd1MzcrdmR1MVcvYXk2dG0vWnNnVTdkdXlvOWoxUUVZbEU4UFgxRlg3KzRvc3ZNRy9lUEF3Y09GQzRCbjcxMVZjWVBIZ3d1blhyaHREUVVHelpzZ1hMbHkvSHBrMmIxQmExUEhueXBKRGdqSTZPeHRHalJ5R1h5ekY0OEdDaEQ1VzllL2NpT0RoWXAzclFvYUdoMkxkdkgySmlZbUJrWklTT0hUdmkvZmZmUisvZXZXRnVibzZjbkJ4Y3VIQUJZV0ZoK09tbm4xQlFVSUIyN2RwcHJGVk5EUXVUaUVSVW93b0xDNUdSa1lHMmJkc2FPaFNpNTRaQ29VQlJVUkdLaTR0UlhGeXM5ck9tYmRVbEFDVVNDWXlOallXSHFha3ByS3lzSUpGSUlCYUxxMzJVYjJka1pBU1JTS1RYSXlRa3BNYmZvNnBXYU42d1lZTmFFa3FYVlpvMWFkKytQYVpPbllyMTY5Zmpqei8rZ0pPVEU0WVBIMTZwblpXVkZjTER3M0gwNkZIMDY5Y1BDeGN1eEpVclYyQnNiQXcvUHordENVQmR2UExLSytqY3ViTmE0Zkx5VEV4TU1HL2VQS1NucDhQUzB2S3ArNmxwSXBFSVU2Wk13U2VmZklJZE8zWTgwM3Z3TktLaW9vUXAxYnJRWjBHZDZqZzdPOWZZdVhSeDkrNWRuVmZ3Sm5xZXhNYkdJamc0R0FxRkFnNE9EbWpac21XMVpYV3FHaDJtcStqb2FIejk5ZGV3dHJiRzh1WEw2NlQybTZiYXZpcExseTZGbloyZDFpK1N5by9pVGsxTmhhV2xKWVlQSDQ2TWpBd0FUejV6Yk55NEVYSzVITWJHeGxWK0tXRnJhNHZodzRjak5UVVZ0cmEyYXRlZHZuMzdZdXZXclRoKy9IaTFTY1RNekV6ODg4OC82Tk9uajlvMDRqZmVlQU9kT25YQ3RXdlhrSmFXaHJTME5HRmZlSGc0SkJJSnpwNDlxL1c4Wm1abTFYN3hsSm1aaVlVTEZ5SWxKUVVyVnF6QWd3Y1AwS3BWSzVpYm13dHRmdm5sRjl5NmRRdWRPM2ZHMEtGRGhlMVNxVlR0ZXBHV2xnWS9QNzlLMTVEUm8wZHJuYzZzS2RtYmtwS0NvS0FnakJneEFnNE9EbEFvRkxoeTVZcmE0bU5Ycmx3UlZnalB5OHREYkd3czVISzVXZ0swckt3TUJ3NGNRUC8rL1JFWUdJaWhRNGNpTVRFUlAvendBK3p0N1N1OU42b3lLYnI4ZitIbDVZVTJiZHBnN05peGFOZXVIWGJzMklHalI0L2l4bzBiY0haMmhxdXJLOXExYTRkQmd3WkJKQkloTVRFUjV1Ym1XcFBPMUhBd2lVaEVOVXIxUWNQVjFkWEFrUkExREFxRkFvV0ZoWkRKWk1LLzVYOHVMQ3pVdXZLdFJDS0JxYWtwek16TVlHRmhBUnNiRzVpYW1ncVA4b25DOG8vbllhR0lqUnMzMXVyNXhXSXhQdm5razByYmh3d1pncGlZR055NWMwZnI2SlhKa3lkajdkcTErTi8vL29kang0NGhPam9hbHBhV1dMUm9FZHExYS9mTXNXbExJSmFuNityUTFVMUxxMnBobGV6c2JKMzZVUEgwOUVTYk5tMXcrL1p0eE1mSG8wV0xGbm9kWHgxdEl6am56WnVIdExTMGFxZi8xWmJ5Qzl2VWhUVnIxcUJSbzBaMTJpZVJvV1ZsWmVIaXhZdnc4dkpDLy83OTFSSkF0U2syTmhaZmZmVVZ6TXpNc0hMbHlqcWJybGxWWW16cDBxV3dzTERRYWRSMmRkY0FmVWEwejVvMVMxaEJHWGh5SFdyVnFoVWVQbnhZN1plYnAwK2ZobHd1MS9qM01pNHVyc3BwdDFYdGMzSnlxdko5ZVBEZ0FUNzk5Rk9JUkNLc1dMRUNVcWtVWDMzMUZYYnYzbzF2dnZrRzd1N3UyTDkvUDdadTNRcDNkM2ZNbno5ZjdUT1VrWkdSeG9SYnhXMk5HemRXSzhGU25aczNiK0xQUC85RXQyN2Q0T0RnQUpsTUJrQnpxWk9xbkR4NUVnOGVQTURycjcrT3dNQkFBQkJlcjQrUGoxN25xc2pXMWhhVEowOFducXRHYU42OWV4YzNiOTVFV2xvYWxFb2xaczZjaWNHREI5ZjROWjhNaDBsRUlxcFJLU2twc0xlMzEra21sK2hGVUZaV0JwbE1odno4Zk9UbjU2T2dvQUQ1K2ZsQ3NsQlRndERVMUJRV0ZoYXd0TFJFa3laTmhGbzNabVptYWtuQ0Y3bFFkVkJRVUsyZTM4aklTR01TRVFDbVRac0doVUloVFB0S1NFaFFHM1hRcVZNbjlPdlhEeUVoSVlpT2prYlRwazJ4Wk1rU3VMdTc2eDNINXMyYmNmRGdRWjNhYWt1aXFXZ2FnVm5kdE5lYVdsaEZwVzNidHJoOSt6WmlZbUtFR3dxNVhBNEFPdFhNcW9xMmtST1dscGJZdVhNbk5tN2NpS0NnSVBqNysydE1BR2RsWldIOCtQR3NnMGpVQU1YSHg4UEx5MHR0bEZodFMweE14Tnk1YzJGaVlvTFZxMWZYeUtqR3VsYnh1bkQ0OEdFRUJBVEF6ODlQcmVTRVNuUjBOR2JPbkFrZkh4K3NXcldxMmk4bC9mMzlxeXdqb1RKeTVFaDA2dFJKWXozMTNyMTdWNHJ6MGFOSEdETm1ERWFPSEtsMWNaQVBQL3l3MnBHb3pabzF3OENCQXpGOCtIRGh5N2N0VzdiQTM5OGYwNmRQUi92MjdSRWFHZ3B2YjI4c1diSkU2NEptRmQyOWV4ZjM3dDJEaDRjSGdDZUozYVZMbCtwMExBQkVSa1pDTEJZTDA0MnpzcklBUUs4dmlBb0xDN0YxNjFhOCt1cXJhcU03all5TU1IWHFWTVRIeDJQczJMRWFqNjM0ZVdMZHVuV1ZwajZyaEllSDQvSGp4M0IxZFVXUEhqMkVSR2RSVVJHU2twSWE1UDhYVkRVbUVZbW94angrL0JqWjJkbkMwSHFpRjRWY0xxK1VKRlQ5TEpQSjFCWVRrVWdrc0xLeWdvV0ZCZXp0N1lYQzJPWC9OVEl5TXVDcmFSaDBuWktzVkNveGFOQWdqQm8xQ2g5ODhFR045QzJSU0NDUlNIRC8vbjNzMkxFRHAwK2ZyclJnek1jZmY0enIxNjhqS3lzTEhoNGVULzBoMnR6Y3ZOcWJocnk4UEFENjNWeW8xTlhDS2lxcU9rM2xWL1JVTFRLajd3aUxpcXFiZ3Z6cXE2OGlLQ2dJUVVGQkdwT0lQLy84TTRxTGkvSFdXMjg5VXh4RVZQZVVTbVdWZFcxcldrcEtDdWJNbVFNVEV4T3NXcldxenNzVzFJYUVoQVI4Ly8zM3NMVzFoYkd4TVlxS2l0VCtMc2ZHeG1MKy9QbG8xS2dSdnZ6eVM1MW1OZWlTUUZUUlo2VGE3dDI3cS8yZDUrWGw2YlRJWThYUmxvNk9qaGc3ZGl5V0xsMktTNWN1WWVqUW9majQ0NCtGeFY3S3UzNzlPczZkTzRlc3JDdzhmUGdRbVptWkFJQ0pFeWNDK0wrYXVKOSsraWw2OXV5cHNmOXg0OFpWMm5ianhnMTRlbm9LZ3pJU0V4TUJQRWw2NnVMVXFWTXdOemRIY1hFeHhvOGZyN0dOcTZ0cnBldW10cHFJVlgyNTl1dXZ2K0x5NWN2QzV5QmJXMXM0T1RuQnpjME43dTd1S0NvcWdwdWJXNjNVd3liRFlCS1JpR3BNU2tvS1JDTFJjL0ZCaWtnVHVWeU92THk4U28veUsrMENFR29NMnR2Ync4cktDcGFXbHJDeXNvS1ZsWlV3ZW8zcVJrRkJBWlJLcFZvZG9XZjE2TkVqN042OUc4ZU9IWU5Db1lCSUpFTC8vdjF4NHNRSm9ZMVVLb1cvdnorKytPSUxYTHAwQ1N0V3JNRGN1WFAxVGhCUG5EaFJ1Qm5ScExDd1VDaENyMmxsNC9wR2xUd3NQK293UFQwZEFOUUt3ZGVHdG0zYnd0M2RIVmV2WHNXdFc3ZlVhdmRHUjBjaktDZ0lMNzMwRWw1Ly9mVmFqWU9JYXA2MXRYV2RUV0VHZ05telp5TW5Kd2ZkdW5YVE9scDgyclJwQUlCcjE2NGhNREFRZm41K2FpUEM2aHNiR3h0TW5qd1paOCtleGFKRml5QVdpOUd1WFR0MDc5NGRjcmtjTzNmdWhLV2xKVmFzV0dIUTF4RWNISXpEaHcvajlkZGYxenJDdjZ5c0REazVPUnJydzVhVWxPREdqUnNBZ1B6OGZHRjBZWEp5TWk1Y3VJRGp4NC9qN3QyNzhQVDB4TWNmZjF4bG5mZkhqeC9qM3IxN3NMUzBoSnViRzV5Y25CQVNFb0pseTViQjFkVlZ1SzRaR1JtaHRMUVVoWVdGYXVWcUNnc0xBUUM1dWJsSVNrcUN1N3M3N3QyN2g4ek1UUHpyWC84UytybDQ4U0lrRW9rd3NyRTZseTVkUW54OFBKWXZYNjcxdnN6WTJMalNGNXo2MUVSVVdiSmtDZVJ5T2RMUzBwQ2Ftb3FVbEJRa0ppWWlJaUpDK0p6MDhzc3ZZOEdDQlRxZmsrbzNKaEdKcU1Za0p5ZWpXYk5tVEpKUWc2ZFFLSkNibTR2YzNGeTFaS0dxSmczd3BHYWV0YlUxN096czRPSGhBV3RyYXlGUitLelRNa2wzdzRjUHI1VEUxV1R1M0xrNm5jL1MwaEovL1BHSHhuMlBIajNDL3YzN2NlVElFUlFYRjBNa0V1R1ZWMTdCaEFrVDRPYm1wcFpFQko2c0tqbG56aHdzWHJ3WXAwNmRRa0ZCQWZ6OC9GNjRjZzhuVDU2RWhZVUZjbk56Y2Zqd1lRQlFHeDBTRXhNREFMVmVTMHdrRW1IMDZORll0bXdaQWdJQ3NIbnpacGlZbUNBM054ZUxGeStHVXFuRTVNbVROWTQySWFMNnJTNFRpTUQvVFM4TkN3dlQya2FWUkN3dExVVjhmRHltVHAyS3hZc1h3OVBUODZuN1ZTV2RxcU5VS3F0dFcvRTlzN0d4d2JCaHd6QnMyRERrNU9RZ09EZ1lPM2Z1eE5XclY0VTJMNy84TWg0L2ZveXlzaktOWDRvVkZ4ZmowYU5IVmNaZnNSWG14SVVBQUNBQVNVUkJWRDZ0cG0wcTVlc0lscFdWNGVlZmYwWmdZQ0M4dkx5MGxod0JuZ3hzS0NzcnF6U0Nycmk0R045ODh3MGlJaUpnWldVRmYzOS9mUFBOTjFpK2ZEbkN3c0lnRW9uUXRXdFhmUHp4eCtqV3Jadlc4NnYwNmRNSGZmcjBFWjZucHFZaUpDUUVYYnAwd1o0OWU0UVZtY3ZYY1JhTHhUQTNOeGNlQVBERER6L2c1NTkveHNHREI0WC9wbFExbEtPam8vSFBQLytnZCsvZU9vL1l6OG5KZ1oyZFhaVXJhOWNraVVRQ0Z4Y1h1TGk0cUkzMEx5a3BRWHg4UEt5dHJlc2tEcW9idk1zaG9ocVJsWldGZ29JQ3JmVXlpT3FyMHRKUzVPVGtJRHM3Vy9qMzhlUEh3clFNaVVRQ2EydHJOR25TQkkwYU5SSWVscGFXejhVQ0pjOExUVk5RRHg0OENDc3JxMHExZmFyYXJrbDZlanArK2VVWC9QWFhYeWd0TFFVQWRPN2NHUjk4OEVHMU40TjkrdlRCMUtsVDhkMTMzeUVzTEF3elpzeUFuNStmM3ZVUnM3T3phMlVxVUhWMUZFdExTNnR0VTUyelo4L2kzTGx6d3ZNMmJkcW9sYjI0Y3VVS2dDZEoxMmVSazVPRGpJd000Zkhnd1FPa3A2Zmp3WU1IbURScEV2NGZlM2NlRjJXNS9nLzhNekRzK3k0Z3V5Q0tDNHFLWUNab1ppcTVWcWFXV1ZtZVhGS1BXcmtlczlMRXFNd2xNME90TERsbEZuWE1OUTFFQVhkY3dwMTlHeGdZOW1XRytmM2hqL2tLTXdNRElvUHdlYjlldlY3TTg5elBjMStEQkRQWDNQZDFCUVlHSWpRMEZOSFIwYmgyN1JvMmI5Nk10OTU2QzZ0V3JVSnVicTdTbTBFaWVueTBkWTFnVFV0cUFFQmdZQ0FpSWlLd2ZQbHlMRm15Qkd2WHJrWGZ2bjFiTkcvZHl2T21aR1JrTkRtMjdtOWhuWnFhR3FTbXB1S2ZmLzdCeFlzWGNmYnNXVlJWVmNIWDF4ZERodzdGaFFzWGNQTGtTUncvZmh5bXBxWVlPSEFnQmc4ZWpFR0RCaW51Yy9IaVJheGF0VXJ0bktkUG44YnAwNmViUEZibjZOR2prTXZsaUl1THc1NDllNUNTa29KQmd3WmgrZkxsaWdUY3RXdlhrSmVYQnhNVEV4Z2JHNk84dkJ6ZmYvODlBQ2lWV0ZxelpnMHVYcnlJcFV1WHdzYkdCcXRYcjFiVXduVjNkMGRJU0FqczdPeFFXbHFLbUpnWTZPcnFRaWFUb2FhbUJqVTFOWkJLcFlxdkJ3MGExT2pmOHREUVVQajYrc0xFeEtUZWZ3MFhXNHdjT1JKTGxpekJxRkdqQUFEeDhmR0t4aWRYcmx6QisrKy9EMzE5L1VaM0pkUjlPSG5wMGlWMDdkb1ZOMjdjYVBKdmQyUG5WWjNyMTY4ZndzUEROYnFlT2pZbUVZbW9WYVNtcGtKWFY3ZFpuY2VJMmxwVlZWVzlaR0ZSVVJGS1Mwc1Y1NDJOaldGcGFRa1hGeGRZV2xyQ3dzSUN4c2JHVEJZK0JsU3RTRGh3NEFDc3JLeVV6alYyL0VFaWtRamZmZmNkamg0OXFtais0ZVBqZ3pmZWVLTloyNlBIalJzSGEydHJyRisvSGlrcEtaZ3padzVlZmZWVlRKdzRzY2xWcXlVbEpZaUlpSUNYbHhkZWZ2bGxqZWZVVkdOYmx0TFQweHN0VVpHVmxRV1pUTmJrSEtOR2pZS0JnUUgwOWZYaDVlV0ZaNTU1UnZIL2xFUWlRVUpDQWdCb3RPcmpRYnQzNzhibHk1Y1ZxMTZlZi81NWxlT0VRcUZpUG9GQWdLVkxsMkx1M0xrNGRPZ1FFaE1USVJhTDRlTGlna1dMRmpWcmZpSWlUZm40K0dEanhvMVl1blFwOXU3ZDIrSWs0b0lGQzFvdEprTkRRMVJYVjJQMTZ0WEl5c3BDWGw2ZTRuZDYxNjVkRVJZV2h1SERoeXMrTEh2aGhSZFFYRnlNdUxnNC9QMzMzNGlKaWNHSkV5ZGdZR0NBYjcvOUZ0YlcxdkQxOWNVSEgzelFhakZldlhvVjY5YXRnMGdrZ3AyZFhiMWtXNTJiTjI5aTI3WnQ5WTdwNk9oZ3lwUXBTbityYlcxdE1XUEdERVVDN01zdnYwUlVWQlF1WGJvRXNWaXNXRG5ZRklGQTBHVDNheWNuSjQzZkY5WDlqYXF1cmtaeWNqSzh2THhRWGw2Tzk5NTdEd0tCQUt0WHIyNzA3M1cvZnYxZ1oyZUg5ZXZYQTdoZlZxZXBHcUZOMVJGdXFPRXF5SmIrTEo0N2R3NXhjWEV0dXBiYUJ5WVJpZWloMVhYdmRIWjI1alpPYWpma2Nqa2tFZ2tLQ2dvVS96MllNRFF6TTRPVmxSVThQVDFoYVdrSlMwdExic1duZXFxcXFuRDQ4R0hVMXRiQzBkRVJyNzMyR29ZTkc5YWlwUElUVHp5QjhQQnd2UC8rK3lnc0xNU09IVHR3OE9CQkxGeTRVTzJieWZQbnoyUGp4bzBvS0NobzlhMitnd2NQaGtRaXdZb1ZLOVNPR1RseUpJUkNvZG8zR3BzM2IxWTBkV2xxcnNHREI2czh0Mi9mUGtpbFV2ajUrV2xjTUw1T1JVVUZybDY5cW5qY3IxOC9kT25TQlk2T2p1alNwUXZzN2UxaGIyOFBXMXZiZXY5bXpzN09DQXNMUTFSVWxHSkw0c0tGQ3pYdXVrbEUxQkllSGg2SWlJaDRxSHFDWVdGaHJSalJmVjI3ZG9XaG9TRkNRa0xRclZzMzlPelpFN2EydGlySG1wdWJZL1RvMFJnOWVqUWtFZ2xpWTJOUlUxT2phS0JpYVdtcDl2ZDlTOGhrTWd3YU5BaTlldlZDU0VpSXl2Y1pJMGVPaEsrdnIyS2xvSjZlSGx4ZFhWWFdRNXc5ZTNhOTMvVXVMaTVZc21TSjRyRmNMbGVzTkt5cHFZRmNMb2RBSUtqM1FaUkFJSUNPamc1TVRFeVU3cS91ZUdOTVRFd1V6MHRmWHg4Ly9QQUQwdExTWUdkbmgwV0xGc0hiMnh0dWJtNUsxejI0R3RiRXhBUzdkdTFDU2tvSzVISTVuSnljbEpxdGJkMjZWZEdCdXU2NXQwUmdZQ0NzcmEzeDlOTlB0K2g2UHo4L2xjM042UEhCZC90RTlOQnljM05SVlZVRlYxZFhiWWRDblZoVlZSWEVZckVpWVNnV2l4V3J4NHlNakdCall3TXZMeTlZVzF2RDB0S1NDVzlxVXRldVhURjU4bVJZVzF0andvUUpqZjdNYUZLbnlzL1BEenQzN3NUbXpadHg4dVJKRkJVVktiMVJxMnN5VWxWVmhXWExsaW5xK0tucnJ0aFM4K2JOZStoNzFOWDdhcWxidDI0cDZrOU9tVEtsMmRkUG1USUY0OGVQeDlLbFM1R1hsMWR2bTVVNnhjWEYrUHJycjNIbzBDRUE5OS93MWRiV1l0V3FWWmc1Y3liR2poMExmWDM5WnNkQ1JLUUpWY2tnYld2cDN3TUxDNHRIa3RSOGtLNnVMaFl1WE5qb0dGTlRVL1RvMFVPait6WDFZWkZBSUlDK3ZuNkwvdzQ0T3p1cnJhdXNUc1B4SmlZbWl1ZlRuSTdqQmdZR2pkWkE5UEh4YVZaYzZuaDRlR2pjNE9WUlhFL2F4M2RRUlBUUTB0TFNZR0JnVU8vVExhSkhyYUtpQWlLUkNIbDVlUkNKUklwVmhqbzZPb29WaGpZMk5yQzJ0dTUwalN4SU01V1ZsWkRMNVRBeU1zTGR1M2NCUUNsUitPYWJieXBkSjVmTGtaS1Nvdmpaa3NsaytQSEhId0hjZndQU1dPMUNjM056ckZpeEFzT0dEWU5RS0ZSYVlWalhZVmt1bDhQUjBSSHZ2ZmNlZXZicytWRFBzejBTaThWNC8vMzNJWlZLRVJBUWdLQ2dvR2JmbzI3bGl5WXJReXNxS3ZENzc3L2p4eDkvUkdscEtRUUNBVjU4OFVXRWhZVmg0OGFOdUhUcEVyWnQyNFo5Ky9iaG1XZWV3WWdSSS9qQkdCRVJFVkVEVENJUzBVT1J5V1RJek15RW01dWJ5aTV0UksybHNyS3lYdEt3cEtRRXdQMnRIM1oyZHZEeThvS05qUTJzckt6NHMwZ2FTVXBLd29vVkt5QVFDQlNOZEx5OHZKcThUaUFRNE4xMzMwVmhZYUhTT1g5L2Y0MVdNRHp4eEJNcWo5ZlZIeHcrZkRnV0xGalFJUlBnWXJFWWl4Y3ZSbTV1TGl3dExiRjQ4ZUpITmxkV1ZoWU9IanlJUC8vOFU3SDEyc3ZMQ3dzV0xGQ3M5QWdQRDhlSkV5Y1FHUm1KM054Yy9QREREL2poaHgvZzRPQ0FMNzc0UXBHc0pDSWlJdXJzbUVRa29vZVNsWlVGcVZUS0ZSdlU2cXFycXhWZFZrVWlrU0lCOEdEUzBON2VIdWJtNW14OFFpcU5IajFhWlFLbzdyaW5weWZjM053VUhaZmQzTnp3cjMvOVM2TjdlM2g0MUVzaTZ1dnJvMy8vL25qNzdiY2ZLdVp4NDhhaFM1Y3V6VzR5OGppeHNyTEMyTEZqc1cvZlBuejQ0WWROMWdkemNIQ0FtWmxaaStaS1RVMUZWRlFVZ1B2MW42WlBuNDdRME5CNkh6UUlCQUlNSHo0Y0lTRWhpSTJOeGNHREIzSHAwaVdNSERtU0NVUWlJaUtpQndqa2RSKzlFeEcxUUZ4Y0hJcUtpakJtekJnbWN1aWh5T1Z5RkJVVklUczdHems1T1JDTHhaREw1ZERUMDRPZG5SM3M3ZTFoWjJjSEN3c0wvcXc5NW80ZE85YXNPai90a1ZRcVJYVjF0YUtUcGFtcHFWWitMdVZ5T1c3ZHVnV2c5ZW9kMWRtNWN5ZUVRaUZtenB6WnF2ZXRVMTFkM1NyMUI2T2lvbEJTVW9KWnMyYXBQUC96enovRDNkMGRBUUVCR3Y4YlNTUVNHQnNiUTA5UDc2RmkwOGJQZWtSRUJJS0NnbGk0bmpxTmlJZ0lkTzNhdFVXMVZZbUlxRDVCRXkrV3VCS1JpRnFzdXJvYTJkblo2TjY5TzVNNjFDSlZWVlhJemMxRlRrNE9jbkp5VUZWVkJZRkFBQnNiRzBXM1ZrdExTLzU4VWJzakZBcmJSWE1lZ1VEUTZzbkRPdXFTY3EybHRScVlOSlU0ZU82NTU1cDlUMVZkUFltSWlJZzZPKzIvK2lXaXgxWkdSZ2JrY2ptM01sT3pGQlVWSVRNelU3SGFFQUFNRFEzaDZPZ0lSMGRIMk52YnN6c3FFUkVSRVJGUk84TWtJaEcxV0dwcUtpd3NMTGhpZ3hvbGw4dVJuNStQek14TVpHWm1vcnk4SEFLQkFMYTJ0dWpkdTdkaXRTRVJFVDIrSWlNallXRmhnY21USjZzZEV4TVRnMTkrK1FWMmRuWll2bng1aTFlWkh6NThHTVhGeFhqKytlZGJHcTZDU0NUQzc3Ly9qcWxUcDhMSXlPaWg3OWZhN3Q2OWk0U0VCRXlkT3JYWjE4cGtNdWpvNkRUNmZhNnVyb1pRS0dSRE1pSWkwZ2lUaUVUVUl1WGw1Y2pQejBmdjNyMjFIUXExUTdXMXRjak56VVZtWmlheXNySlFWVlVGWFYxZGRPblNCYjE2OVlLam95TlhHeElSZFNEbnpwMUR2Mzc5MUo3UHlzcENSRVFFeXN2TG9hT2pnOG1USjhQWDE3ZEZjMFZGUlNFOVBiMVZrb2luVHAzQ2p6LytpT0xpWWl4Y3VMREo4UlVWRlJnM2J0eER6d3NBUjQ4ZWJYTE0vdjM3Y2VUSUViaTR1S2p0NnE1S2RYVTF4bzRkaTNuejVtSDgrUEZxeDQwZE94WXpaODdFOU9uVEZjZmtjam5MaUJBUmtVcE1JaEpSaTZTbHBRRUF0ektUZ2t3bVEzWjJOakl5TXBDZG5RMnBWQXA5ZlgwNE9UbkIyZGtaRGc0TzBOWFYxWGFZUkVUVXltcHJhNUdXbHFaMkZXSkpTUW4rODUvL1FDYVRZZFdxVmRpeFl3YysvUEJEYk5teVJlMUs5RTgrK1FSNWVYa0lEdzl2Vml6TnZXNzgrUEU0ZlBndy92ZS8vMkg0OE9IbzA2ZFBvK01ORFEwUkdSbXBkUHp3NGNPSWlvcXFkMDdWc2VaNi9mWFhFUk1UZyszYnQyUGd3SUV3TURCbzBYM0VZakZXcmx5SldiTm1vWC8vL28yT1hiZHVIUXdORGJGbzBTS3VVQ1Fpb25xWVJDU2lGa2xMUzRPdHJTMk1qWTIxSFFwcGtWd3VSMjV1THRMUzBwQ1ptUW1wVkFwalkyTjRlSGpBeWNrSmRuWjJYTTFBUk5TQlpXUmtJRGMzRjFWVlZUQTBORVI2ZXJyaW5JdUxDOHJMeTdGOCtYSmtaV1ZoelpvMUdEaHdJRHc4UExCNDhXSXNXN1lNNGVIaE1ETXpVN3J2OWV2WDY5MUxVdzJ2azhsa0tDMHRiZlNhbDE5K0dYLzk5UmRNVEV3Z2tVaFVqakUxTllXdXJpNEVBZ0ZjWEZ5VXp0ZVZkbm53bktwakRkMjVjNmZKK0FZTUdBQWRIUjFjdlhxMTBZWk9mZnYyVlh2T3lzb0tSa1pHK1Bqamo3RjkrM1pZVzF1ckhIZnUzRG1jUEhrU3p6NzdMQk9JUkVTa2hFbEVJbXEyMHRKU1NDU1NScmN0VWNkV1VGQ0F0TFEwcEtlbm82cXFDZ1lHQm5CM2Q0ZXJxeXRzYkd5MEhSNFJVYWNtbDh2YmJLNjMzbm9MbFpXVkFJQTFhOWJVTy9mRER6OWd4WW9WRUlsRTJMQmhBM3IxNmdYZ2ZsSnQ4K2JOV0xseUpkNSsrMjM4NXovL2didTcreU9KNytiTm0zajc3YmMxR2hzVEU2UDIzTmF0V3hXZDBNdkt5aFNOd2VyVUpSOGZUR0NxT2xhbkxyRzRiZHMySkNVbFBYUjh3UDN0MFhWejFkVFVBQUFLQ3dzVnh4WXVYSWk1YytjaUlpSUNIMzMwa2RMMTVlWGwrT3l6eitEczdJdzMzM3hUbzVpSWlLaHpZUktSaUpvdE16TVRBT0RzN0t6bFNLZ3RTU1FTcEtXbElTMHREZVhsNWREVDA0T3pzek5jWFYxaGIyL1BGWWRFUk8yQW5wNmUydFYwajhMdnYvK09kZXZXQVFDV0wxK3VPSjZZbUlpNWMrZWlxcW9LZW5wNldMUm9rY3JyKy9idGl6bHo1dUQ1NTUvSGl5KysyT3JOVFJ3ZEhiRmd3WUpHeDJ6YXRBbFdWbGFZTVdPRzJqRU9EZzZLcitQaTRyQng0MGFWNDE1NzdUV05qdFhWUTF5OGVERXFLaW9BM044V3ZtREJBZ1FGQldIYXRHbHFZMGxNVEVSa1pDVG16Sm1qdFAyNjRWeDc5KzdGM3IxN0FkeHZmdlBLSzY5ZysvYnRPSGp3SU1hTUdWTnY3S1pObXlBV2k3RnAweVlZR2hxcW5aK0lpRG92SmhHSnFOa3lNek5oYlczZExyc1lVdXVxcWFsQldsb2E3dDI3aDhMQ1F1anE2c0xSMFJIKy92N28wcVVMYXh3U0ViVXpUazVPeU12TGE3UDU1SEk1TGw2OGlObXpaK1BPblR0d2RYVkZXbG9hMXE5Zmo3NTkrMkx1M0xtUXkrV29xcXBTZVgzWHJsM3h5eSsvNE02ZE85RFQwMnYxK0N3dExSRVdGdGJvbUUyYk5zSFUxTFRKY1EwZE9IQUFwcWFtQUlDZmZ2b0pPM2JzcU5jc1JkV3hYMzc1QlY5KythWGlzWk9UVTcxNyt2cjZJanM3RzE1ZVhtcm5QWGJzR0FCZzJMQmhTdHVTNitaS1RrN0cvUG56bFJxck9EczdReWFUSVNRa1JPbStZV0ZoQ0FnSVVLeTRKQ0lpYW9oSlJDSnFsc3JLU2hRVUZMQXJjd2NtbDhzaEVvbHc3OTQ5WkdabVFpYVR3ZGJXRmdNR0RJQ0xpMHVqOVppSWlFaTcrdmJ0aStqb2FOeThlYk5Oa2tHM2J0MkNSQ0xCd0lFRDhkeHp6eUV5TWhKZVhsNklpb3FDdnI2K1J2Y29LeXZEN05teitmY0Z3S0JCZ3hBWkdRbVJTQVE3T3p1Vll4SVRFK0hsNWFXMnJpRUF4TWZIS3gyTGpZMkZWQ3FGblowZEVoSVNGTWZ2M2J1SEV5ZE9BTGkva3ZYRWlSUHc5UFNFbTV2YlF6NGJJaUxxYVBpWG1vaWFoVnVaTzY3eThuS2twS1FnSlNVRlpXVmxNRFEwUkxkdTNlRGg0YUd5NkQwUkViVS8zdDdlNk42OU80NGRPd1pMUzB2WTI5cy8wdm5pNHVMUW8wY1BSUk9ST3ZyNitoZzVjcVRTK01qSVNMaTR1RUFrRXNIYTJocTZ1cnI0N3J2dkVCb2FxblFQQUNydm9jbTV0cENabWFsb01LZHBUY1Npb3FKRzd6bDgrSEJFUmtiaThPSERlT21sbDVUTzM3NTlHMmxwYVhqOTlkY2J2VTlkL2NURXhFVFkyOXNqS0NnSTRlSGhpdnFWRC9yNzc3L3g5OTkvMXpzMmMrWk1KaEdKaUVnSms0aEUxQ3labVprd056ZG5VcW1Ea012bHlNbkp3ZTNidDVHVGt3T0JRQUFuSnlmRmRtVjJaaVFpZXZ5TUdERUMrL2Z2eDk2OWV6Rmd3QUI0ZW5yQ3pzNU80NVdCelJFVEU0Tm5ubmxHN2ZtUFB2b0lqbzZPQU9yWDY1czJiWm9pb2FqS3BFbVQxTloyUEhEZ0FDUVNDV2JPbktuMlhFTlpXVm1OUFExSXBWSzFZd1FDZ2VJNVBHamV2SGxLeHpTdGlhaU92YjA5Z29PRDhldXZ2Mkx5NU1sS3BXUDI3OThQb1ZDSXA1OStXdTA5cmwyN2h0emNYQUQzdHpWZnZud1o0ZUhoK09tbm56UnF1ak51M0RpTjR5VWlvczZGU1VRaTBsaE5UUTN5OHZMZzYrdXI3VkRvSVZWWFYrUGV2WHU0YytjT3lzcktZR0ppZ2o1OStzRE56WTNGMUltSUhuTkdSa2FZTm0wYUVoSVNFQjhmajhURVJJMnVDd29LUW5Cd2NMUG15c2pJd002ZE83Rno1MDRBLzVjd3EydTI0dWpvcURaUjJKakc2aE1lUDM0Y0Vva0UwNmRQVnpxbjZoZ0F2UExLSzQzT2w1MmRyWGFNbnA0ZURoNDhxSGpzNnVxS2NlUEc0YzAzMzRTQmdRR0ErOXVIOSt6Wmc0VUxGNko3OSs1cTU3bDgrWEtUWFpabnpKaUJmLzNyWDlpN2R5OW16WnFsT0g3cjFpMGNQMzRjWVdGaGpXNWwvdW1ubnhBY0hJeVRKMDlpeXBRcE9INzhPRmF2WG8zTm16ZXJUSWEydG9pSWlFYytSME1pa2FqTjV5UWk2b3lZUkNRaWpXVm5aME11bDNNcjgyT3NzTEJRc1JXcXRyWVdqbzZPNk5ldkg3cDA2Y0x1eWtSRUhZaU9qZzZDZ29MZzcrK1BlL2Z1UVNLUk5Ma0tyU1hKdnNqSVNNWFhyNzMybW1MbFlWMDl2K2Fzd252UTRzV0xZVzl2ajNmZmZiZEYxd1lFQk5UcmNQeGc1K2lHMXExYkJ4c2JHOHllUFZ2bCtRZWJpS1ducDhQRXhBUVRKa3hRTkxDUnlXVFl2SGt6cEZJcDlQVDA2bTFmYnNqYTJob1RKa3hBZW5vNnJLMnRZV0ppb2pURzA5TVR6ejc3TEg3NjZTY01HalFJZmZyMFFWVlZGY0xEdzJGbVp0Wm9GK21VbEJTY1BuMGE0ZUhoT0hueUpBd01ETEJxMVNxODlkWmJTRWhJd0lRSkU5UmUyMXJxRXF0dHBhcXFpczMraUlqYUNKT0lSS1N4dXRvL1ZsWlcyZzZGbXFHMnRoYnA2ZW00ZmZzMnhHSXg5UFgxNGUzdERVOVBUMFZYU1NJaTZwaU1qSXpRczJmUFIzYi9ob25IaGlzUFAvdnNNMFVINGlsVHBtaDgzNlNrcEJZbE5ldXViZGlVSkRRMFZPMzRkZXZXd2RqWXVORXhkWnBLaXFwTFJLcnk3My8vRzZOSGoxWjVidGFzV2JoNDhTTFdybDJMOFBCd2ZQdnR0MGhKU2NHcVZhdGdhV21wOXA1YnQyNUY5KzdkNi8yYmQrM2FGVnUyYkVGRlJZV2lnY3FqcEdxYjk2TVVFUkhCMXpORVJHMkVTVVFpMG9oTUprTjJkalk4UER5MEhRcHBxS2FtQm5mdjNzV3RXN2RRVVZFQkt5c3JEQmd3QUs2dXJ2VldWUkMxTlYxZFhjaGtNdjRjVW9mV1dYL0cwOUxTa0pHUkFYTnpjd0NBaFlWRm8xdHZIemRIang2dDkvaVBQLzdBcGsyYnNHTEZDb1NFaENpTlQwNU94cUpGaStEbjU0ZU5HemRxdk9yZnlNZ0lhOWFzd1lJRkMvRFdXMitodHJZVzA2ZFB4NU5QUHFuMkdvbEVnaXRYcnVDamp6NVNPdWZtNW9hTkd6Zml5SkVqR3MxUFJFU2tDcE9JUktTUjNOeGN5R1F5Ym1WK0RGUlVWT0Rtelp1NGUvY3VwRklwbkp5Y01IandZTmphMm1vN05DSUE5OThjbDVhV3F1ekVTdFJSbEphV0tqcjNkbVFmZi93eGNuSnlrSjJkRFFCWXMyWU5CQUlCRml4WUFLRGwyNWtmQjNmdjNzWDI3ZHRoYlcwTlBUMDlWRlpXMXFzcmZPdldMYXhjdVJMbTV1WjQ5OTEzbTEwMnBMUzBGS2FtcGlndExZVkFJSUNwcVdtanlXa0xDd3NzWGJvVUFRRUJxSzZ1VmpxL2RPbFNMRjI2dE1sNXRkMzFtb2lJMmk4bUVZbElJNW1abWREWDExZmFIa1R0aDBRaXdZMGJONUNXbGdhQlFBQTNOemQwNzk2ZG5iU3AzYkd6czBOV1ZoYVRpTlNoWldWbGRZb1BiMDZjT0FFM056Y01IRGdRaHc4ZnhrY2ZmUVIvZjMvbzYrdmo4ODgvYi9GMjVzZUJsWlVWM256elRjVEd4bUx0MnJYUTFkVkZuejU5RUJnWUNLbFVpajE3OXNERXhBUWJObXhvMXV1bjlQUjBmUC85OXpoeDRnUU1EUTB4YTlZc0hENThHRjk5OVJYKytPTVBUSjA2RmNPSEQ0ZWVucDdTdFNOR2pHak5wMGhFUkZRUGs0aEUxQ1M1WEk2c3JDdzRPVG14K1VZN2xKK2ZqMy8rK1FjNU9UblExOWVIcjY4dnVuWHJ4aTdMMUc2NXVia2hQajRlaFlXRnJMRktIVkpoWVNFS0Nnb1FGQlNrN1ZBZXVkOSsrMDN4OStidzRjTndkSFNFdnI2KzRyeTY3Y3dOdHdVL0toVVZGUnFOazh2bFRZNXQyTHpEeXNvSzQ4YU53N2h4NDFCVVZJU2pSNDlpejU0OU9ILyt2R0xNRTA4OGdaS1NFdFRXMWtKSFIwZnR2V3RyYTNIdTNEbjgvdnZ2U0VoSUFBQTgrZVNUbUQxN051enM3REJ4NGtUczI3Y1AvLzN2Zi9ISko1OWd4NDRkR0Q1OE9FSkNRdEN6WjArK1BpTWlvamJCSkNJUk5Va2tFcUc2dXBwYm1kc1prVWlFNjlldkl5OHZEOGJHeHZEMzk0ZUhod2VFUXY1cXAvWk5LQlNpWjgrZXVIcjFLbnIxNnNWRUluVW9oWVdGdUhyMUt2ejgvRHBGVFVSTlByQ1NTcVVvTGk1V1BKYkpaTGgxNnhZTURRMlJtcG9LUURsQkI5eGZrZGZZMWxwTnR0Mk9HemV1eVRFQWtKR1IwZVRZQXdjTzFHdmdVVk5UZzlUVVZQenp6eis0ZVBFaXpwNDlpNnFxS3ZqNittTG8wS0c0Y09FQ1RwNDhpZVBIajhQVTFCUURCdzdFNE1HRE1XalFJTVY5cmx5NWdwaVlHTVRFeEVBc0ZrTWdFT0NKSjU3QTFLbFQ0ZTN0clpoTFgxOGZNMmJNd0xQUFBvdWZmLzRaZi96eEIzNzk5VmY4K3V1dnNMYTJSbkJ3TU9iTm02ZjJaMjdmdm4zNDVwdHZOUHBlRUJFUnFjTjNta1RVcE16TVRBaUZRamc0T0dnN0ZBS1FsNWVINjlldlF5UVN3Y1RFQkFNR0RJQ2JtMXVqS3h5STJodHJhMnY0K2ZuaDJyVnJzTEd4Z1pPVEUweE5UVHRGMG9VNkhwbE1odExTVW1SbFphR2dvQUIrZm40ZHFwbkl3Nml0cmNYRWlSTlJXVmtKQURBek00T3VyaTVXckZpaFNDejI3OTlmYWV2M3pKa3pXenpuN3QyN0ZWL1gxV1pzRFlhR2hxaXVyc2JxMWF1UmxaV0Z2THc4eUdReUFQYzdJSWVGaFdINDhPR0s1TjhMTDd5QTR1Sml4TVhGNGUrLy8wWk1UQXhPbkRnQkF3TURmUHZ0dDdDMnRzYjE2OWZ4NjYrL3dzTENBaSs4OEFLZWZmWlpkT25TUlcwTVZsWldlT09OTi9EU1N5L2hyNy8rd3FGRGg1Q2NuSXdlUFhvMCt2dHowS0JCR3BlUStQVFRUNXZ4WFNFaW9zNkVTVVFpYWxKbVppYTZkT25DTi9kYWxwT1RnK3ZYcjZPZ29FQ3hvc0hWMVpYSlEzcHNXVnRiWS9EZ3dVaE5UVVZ5Y2pMS3k4c1ZiOGlKSGllNnVyb3dOamFHcmEwdEJnOGV6QlhoLzUrZW5oNTBkWFVSR2hxS3RMUTBEQmd3QUphV2xnQ0E3ZHUzbzd5OEhMcTZ1aXAzT2t5ZlByM0Y4ejU0YlZoWVdJdnZvMDdYcmwxaGFHaUlrSkFRZE92V0RUMTc5bFJiLzlMYzNCeWpSNC9HNk5HaklaRklFQnNiaTVxYUdrV1MrWVVYWG9DUGp3OTY5Kzdkcko4Ykl5TWpqQjA3Rm1QSGpvVklKRktxdVNnUUNHQmlZcUtvbStqcDZRbFBUMCtON3Mwa0loRVJxU09ReStWeWJRZEJSTzJYV0N6RzhlUEhFUmdZQ0ZkWFYyMkgweW5sNWVYaHlwVXJFSXZGTURNelE0OGVQZURxNnNyNlIwUkVSTlRwUlVSRW9HdlhyaDJ1Y1E4UmtUWUltbmlUeVk5SmlhaFJtWm1aRUFnRWNIUjAxSFlvblU1UlVSR1NrcEtRbTVzTFUxTlRCQVlHd3NYRmhjbERJaUlpSWlJaWFuTk1JaEpSb3pJek0yRnZiNi9ZRGtPUFhsbFpHYTVldllxMHREUVlHaG9pSUNBQTd1N3UzTFpNUkVSRVJFUkVXc01rSWhHcFZWSlNncEtTa25yZEFlblJxYXFxd3ZYcjEzSDM3bDNvNnVxaWQrL2U4UGIyWmkxS0lpSWlJaUlpMGpvbUVZbElyZXpzYkFDQWs1T1RsaVBwMkdReUdXN2N1SUViTjI2Z3RyWVczdDdlOFBYMWhiNit2clpESXlJaUlpSWlJZ0xBSkNJUk5TSW5Kd2NXRmhZd01qTFNkaWdkVm5wNk9wS1NrbEJlWGc1M2QzZjQrZm5CMk5oWTIyRVJFUkVSRVJFUjFjTWtJaEdwSkpWS0lSS0o0T1BqbysxUU9xVEN3a0pjdW5RSitmbjVzTFcxUlhCd01LeXNyTFFkRmhFUkVSRVJFWkZLck5KUFJDcUpSQ0xVMXRhaVM1Y3UyZzZsUTZtc3JNVFpzMmR4N05neGxKZVhJeWdvQ0tHaG9Vd2dFaEVSRVJFMXc4aVJJN0Z0MnpiRjQyM2J0bUhreUpFdHZwOWNMc2Z1M2JzVkpaMklTQmxYSWhLUlNqazVPUkFLaGJDeHNkRjJLQjFDYlcwdGJ0NjhpWC8rK1FkeXVSeTlldldDajQ4UG02WVFFUkVSRWJVRE9UazUrT09QUC9Ebm4zOWl3NFlOY0hkM3IzZStyS3dNeHNiR0VBZ0VTdGMrVFBMUzE5Y1htemR2YnZIMVJHMkpTVVFpVWlrbkp3Y09EZzdRMGVHQzVZY2xFb2x3NGNJRkZCY1h3ODNORGIxNzkyYWRTU0lpSXFMSFdGeGNIQTRkT29UazVHU1VsSlRBMk5nWVBYcjB3UFBQUHc5L2YvOUhQbi9EcEpXZW5oNGNIQnd3ZVBCZ1RKczJEV1ptWm8yT0Z3Z0VzTFMwUko4K2ZmRFNTeThwSmN4VVhTTVVDbUZoWVFGdmIyOE1HVElFVHozMUZJVENscVVVYW1wcThPNjc3Nkt3c0JCYnRteUJpWWxKaSs3VG1od2RIYkZ4NDBZc1hib1VTNVlzUVhoNE9EdzlQUlhuUC83NFkrVGs1R0R6NXMwd05EU3NkMjFrWktUS2Uwb2tFaXhhdEFnTEZpeEEzNzU5Vlk3UnBKbGllWGs1NXMyYkJ6TXpNMnpjdUpFTkdFbHJtRVFrSWlXbHBhVW9MUzFGOSs3ZHRSM0tZNjJxcWdwSlNVbElTVW1CdWJrNVFrSkNZR2RucCsyd2lJaUlpT2docFZvc2pRQUFJQUJKUkVGVWJkbXlCZnI2K2dnSUNJQ2hvU0hTMHRLUW1KaUlzMmZQWXVYS2xYanl5U2NmZVF4Q29SQmp4b3dCY0grVlhGSlNFbjcrK1dlY09uVUttemR2aHFXbHBkcnhNcGtNTjIvZXhOOS8vNDM0K0hoRVJFU29mTzMvNERWU3FSUUZCUVc0ZHUwYTR1UGo4ZjMzMzJQWnNtWHc4L05yZHV6YnQyL0g5ZXZYbTB3Z1ZsZFhZK3pZc2MyNnQ3cFZnUWNPSElDcHFhblM4V3ZYcnVIR2pSdVlOR2tTUER3OHNHSERCaXhac2dUTGx5L0huajE3WUdCZ2dQajRlTVRIeDJQVXFGSDFFb2dTaVFURnhjWE5pcStoNnVwcVNDUVNXRmhZcUIxamJHeU1sU3RYWXU3Y3VkaTZkU3NXTFZyMFVITVN0UlNUaUVTa0pDY25Cd0JZRDdHRjVISTVVbEpTa0pTVUJKbE1odDY5ZThQSHg0ZXJPb21JaUlnNmlKVXJWeW9sei83ODgwOTgrdW1uK082Nzc5b3NpVGgvL256Rlk2bFVpdlhyMXlNbUpnWjc5dXpCZ2dVTEdoMFAzRjlCOStPUFAyTG56cDNZdUhGamszUFV6WFBvMENGOC9mWFhXTEprQ2RhdVhZdUJBd2RxSFBlMWE5Y1FIUjJOU1pNbW9WdTNiazAreDRiUG84Nm1UWnRVSGxjM3Z1SHF3VHBuenB4QlZGUVVKazJhQkFEdzh2TEMyclZyVVZsWkNRTURBMVJWVldIcjFxMHdOemZIRzIrOFVlL2EzMzc3RGQ5OTkxMmp6Nkd4V090TW16WU5yNzc2YXFOalBEMDlNV0hDQlB6ODg4OFlQbnk0MnBXTlJJOFNrNGhFcENRbkp3Zm01dVl3TmpiV2RpaVBIWWxFZ2dzWExpQS9QeDlkdW5SQi8vNzkyOFgyRENJaUlxS09xckt5c3MzblZMWDZic1NJRWZqMDAwOVJVRkRRNXZFQTl4TnViNzc1Sm1KaVlwQ1FrS0RSTmRPbVRjTytmZnVRbkp6Y3JIbkN3c0xnN2UyTnhZc1hZLzM2OWRpMWExZWpLK2tldEd2WEx1anA2V0hxMUtsTmp0WFIwVUZZV0pqS2Mrb1NjK3JHUDBnaWtjREV4RVR0ZHV6ZXZYc3J2dDY2ZFN0eWNuS3diTmt5dGMveDZOR2pLbytMeFdKTW1USUZIM3p3QVFZUEhxeHlUSFBxS2I3NDRvdUlqbzVHWkdSa2s0bEpva2VCU1VRaXFrY21reUV2THc5ZVhsN2FEdVd4SXBmTGtaeWNqT3ZYcjBOZlh4OUJRVUhvMnJXcnRzTWlJaUlpNnZES3lzcTBIUUlBSURNekV3QzBXaExJd2NFQlFxRVFoWVdGR28wM01EQ0FqbzRPNUhKNXMrZnEzcjA3Smt5WWdLaW9LRVJIUitQbGwxOXU4cHJVMUZSY3Zud1pvYUdoU3R1dDI5S09IVHR3OXV4WjdOdTNyOUZ4Zi8zMUYvNzg4MCtFaG9aaStQRGhqWTc5NnF1dmNPVElrWHJIdnY3NjYwYlA3OSsvdjFseFcxaFlZT2pRb1RoKy9EaHUzNzdkNUVwT290YkdKQ0lSMVpPZm53K1pUTWF0ek0xUVdscUt4TVJFRkJRVXdOM2RIZjcrL3REVDA5TjJXRVJFUkVTZFFrVkZCVzdldkFrZkg1ODJuMXN1bDZPNHVCaEpTVW5ZdVhNbkxDd3NNSHYyN0RhUG8wNWxaU1drVWltc3JhMDFHbi8rL0hsRitaMldDQTBOUlZSVUZNNmNPYU5SRWpFMk5oWUFFQndjM0tMNVdzdkZpeGZoNXViV2FMbWh0TFEwZlA3NTUzQnljc0xDaFF0eC92eDU3TjY5R3hzMmJGRHMyQm8vZmp4Q1EwTUJBTE5uejFiNnR4ZUx4WXF2VlowSDdtOHBOemMzMXpqMjRPQmdIRDkrSEhGeGNVd2lVcHRqRXBHSTZzbkp5WUd1cmk0YmdHaEFMcGZqenAwN1NFcEtnbEFveEpBaFErRGs1S1R0c0lpSWlJZzZGUnNiR3h3N2RneVdscGF3dDdkdnMza25USmlnV0FVcEVBZ3dkT2hReko4L1g2c3I3RTZlUEFrQTZOZXZYNlBqcXF1cmNlSENCWHo2NmFmUTE5ZkhhNis5MXFMNTNOemNBQUFaR1JrYWpiOTY5U29BMWR2QjFVbE1URVJlWHA3RzQvLzQ0dytsWTFaV1ZoZ3laQWdBNE42OWV4Q0pSSGoyMldmVjNrTWtFdUc5OTk2RFFDREEyclZyWVd4c0RFTkRReVFuSjJQZnZuMks3NWVGaFlWaWkvT21UWnVVNW82S2lsSjhyZXI4MGFOSDRlTGlvdkZ6QS83dmUxZjN2U1JxUzB3aUVsRTkyZG5ac0xlM1p4T1FKbFJVVk9EczJiUEl6YzJGczdNekFnSUNZR0Jnb08yd2lJaUlpRG9kVDA5UHBLV2xZZS9ldlJnd1lBQThQVDFoWjJjSGZYMzlSenJ2MkxGalVWbFppYkt5TXFTbHBTRTJOaFpYcjE3RnJGbXptbFhucmpWSUpCTEV4c2JpcTYrK2dyR3hzY3BWZ1pXVmxmWGlFZ2dFNk4rL1AxNS8vWFY0ZTN1M2FGNmhVQWloVUlpcXFpcU54cWVucDhQUTBMQlpDeFlPSERpQWMrZk9hVHhlVmExQVgxOWZSUkl4UGo0ZUFCQVlHS2p5K3BLU0VpeGJ0Z3hpc1JocjE2NVZKRXI5L1B6UXYzOS8vUExMTDVnd1lZTFNhczg1YytiZ3pUZmZySGZNd01BQWtaR1JzTE96UTBCQWdOTDVsckN4c1lHUmtaRmkrenhSVzJJU2tZZ1V5c3JLVUZKUzB1SVhFWjFGYW1vcUxsNjhDQUFZTkdpUTRvVUZFUkVSRWJVOW9WQ0lhZE9tSVNFaEFmSHg4VWhNVE5Ub3VxQ2dvSWZhVnR1d1UyOUdSZ2JlZi85OWhJZUhRMWRYdDhrYWVnK3JZVklRQU96dDdiRml4UW80T3pzcmpSY0toUmd6Wmd5cXE2dHgvdng1aU1WaTlPelo4NkZlKzlkdG45YTBxVXBSVVJHc3JLeWFOY2Y2OWV0VkhsZVhxRlhYNUtST1RFd01IQndjNE9ucHFUSys1Y3VYSXkwdERlKzg4dzRHRFJwVTcveTBhZE93Wk1rUzdOdTNEM1BtekVGNmVycEd6MEVrRWpVNXhzSEJRZVBFdDdtNXVjWjFMNGxhRTVPSVJLU1FrNU1EQUt5SHFFWlZWUlV1WExpQWpJd00yTnZiWStEQWdleGdUVVJFUk5RTzZPam9JQ2dvQ1A3Ky9yaDM3eDRrRWttVHpVS2F1NDIwS1YyN2RzV1NKVXN3Yjk0OFJFVkZQZklrWWwxU1VDQVF3TmpZR0Q0K1BoZzhlTERhanNOQ29SRHo1ODhIY0QvNTk4NDc3K0M3Nzc2RGc0TURSbzBhMWFJWWJ0NjhDUUFhTjJXc3FhbFJHMTliU0U5UHgrM2J0L0hjYzg4cG5jdk96c1o3NzcySDdPeHMvUHZmLzhaVFR6MmxOS1p2Mzc3dzhmSEJ3WU1ITVhYcTFCWnZBMWZsaXkrK1FJOGVQVFFhcTZ1ckM2bFUybXB6RTJtS1NVUWlVc2pKeVlHWm1SbE1URXkwSFVxN2s1V1ZoWFBuemtFcWxhSmZ2Mzd3OHZLQ1FDRFFkbGhFUkVSRTlBQWpJeVAwN05sVGEvUFhKZFB5OC9NZitWd1BKZ1dieTlEUUVNdVdMY09zV2JPd2ZmdDJCQVlHdHFpVzQrSERod0VBUTRjTzFXaThrWkVSS2lzcm16MVBhOG5NeklTcHFhbktWWXdMRml4UWJHV3VhNWFpeW5QUFBZZDE2OVloUGo2K3lWV1BHelpzUUhKeU1uYnQydlhRc1Qrb29xS0NpeGxJSzVoRUpDSUFRRzF0TGZMeTh1RGg0YUh0VU5xVm1wb2FYTHAwQ1NrcEtiQzJ0c2FnUVlOZ1ptYW03YkNJaUlpSXFCMUtUVTBGQURnNk9tbzVrcVk1T2pwaTh1VEorUEhISDdGanh3Njg4ODQ3emJvK01URVJSNDhlaGFPakk1NSsrbW1OcnJHenMwTjZlanFrVXFsR0t4SkxTa3BRVUZEUXJMaFNVbEpVSHJlMHRNVGd3WU94Yjk4K1JTMXp1Vnl1YU5vaWs4bXdmdjE2K1B2N0sxMWJWVldGVFpzMlllTEVpUmc2ZENnMmJkcWtTRmFucDZjM3VTS3hzUnFaTTJmT3hQVHAwelY1YWdEdXZ6OHBLaXJpK3piU0NpWVJpUWpBL1U5THBWSXB0ekkvUUNRU0lURXhFUlVWRmVqVnF4ZDhmWDI1K3BDSWlJaW9rNHVKaVlHTmpZMVNoMkd4V0l5SWlBZ0E5NXV1UEE1ZWZQRkZIRHAwQ01lT0hjT1lNV1BRcTFldkpxK3BycTVHZEhRMHZ2bm1HeGdaR1dIVnFsVWExL0x6OVBSRWFtb3FVbEpTMEsxYnR5YkgvL1hYWDlpeVpZdEc5NjdUc0ZabG5aZGZmaGt6WnN4UUpCQ3pzckt3Y2VOR1JaZmpMVnUycUUzK2lzVmlIRDE2Rkc1dWJ2RDI5bGE1Mm5YT25Ea1lNR0FBQU9EVXFWT0lqSXpFMTE5L0RWMWRYUURBYTYrOWhwa3paK0xKSjU5VVhOT1M3ZEIzN3R5QlhDN1g2UHRIMU5xWVJDUWlBUGUzTXV2cTZqYXJVMXBISlpmTGtaeWNqS3RYcjhMQ3dnSkRoZ3hwMGZZT0lpSWlJdXA0VWxKUzhNRUhIOERGeFFVK1BqNHdNakpDWGw0ZUxsMjZoT3JxYW93Yk53N1BQUE9NWXZ5RkN4Znc3YmZmWXNXS0ZlM3V0YmF4c1RGbXpweUp6ejc3REpzM2I4YVhYMzRKSFIwZHhYbXBWSXJObXpjRHVMOENycUNnQU5ldVhVTlpXUm5jM055d2ZQbHlsUTFLMUFrSUNNQ0pFeWR3OGVKRmpaSmdRNGNPVlZ0dmNkR2lSU3FQZi9iWlp5cVAyOXZiQTdpL3FuRC8vdjM0NFljZlVGMWREWHQ3ZStUbDVUVzZtS0t1RTdLcnE2dmFNVFkyTm9vNm16WTJOZ0R1MTkyc1N5SUNnTFcxOVVQWDRxeHI4TmkvZi8rSHVnOVJTekNKU0VRQTdpY1I3ZXpzNnYyUjY0eHFhbXFRa0pDQTdPeHNlSGg0b0YrL2ZwMytlMEpFUkVSRS95Y2tKQVI1ZVhtNGN1VUtZbUppVUZ0YkMwdExTd3dhTkFoaFlXRUlDQWlvTjc2bXBnWjM3dHpCdkhuejhPR0hIejVVTitSSFlmVG8wZmp0dDk5dzkrNWQvUGJiYjVnNGNhTGluRlFxUlhSME5JRDd6VHlzckt6UXAwOGZEQnMyRENFaEljMStuZnpFRTA5Z3k1WXRPSEhpQko1Ly92a214MXRiVzhQYTJycFpjelMybXZMeTVjc0lEdzlIWGw0ZXVuYnRpc1dMRnlNcEtRbTdkdTFDUWtJQ0FnTURsWFllbFpXVklUbzZHam82T2hvM1BubVVUcDQ4Q1dOall3UUZCV2s3Rk9xRW1FUWtJbFJWVlVFaWtjRGQzVjNib1dpVlJDTEI2ZE9uVVY1ZWpnRURCckRPQ0JFUkVSRXBjWFYxeFpJbFN6UWVIeGdZaUlpSUNDeGZ2aHhMbGl6QjJyVnIwYmR2MzRlS29hbUdIczBaTHhBSThOVlhYejMwSEpvd01USEIyTEZqc1gvL2ZpUWxKYUZQbno2dFBrZGozTjNkWVd4c2pGbXpabUh5NU1rUUNvVXdOVFhGM3IxN3NXclZxa2F2SFRkdVhLdnNUcEpJSkRBMU5VVnViaTRBTkNzUmUvSGlSZHk5ZXhjdnZQQUNHNnVRVmpDSlNFUVFpVVFBME82MlY3U2wxTlJVbkQ5L0hnWUdCaGcrZkRpc3JLeTBIUklSRVJFUmRSQStQajdZdUhFamxpNWRpcjE3OXo1MEV2Rng5dEpMTCtHdnYvN0MxMTkvalMrKytLSk5hNDViV0ZoZ3g0NGQ5ZVowZDNmSFYxOTloUXNYTHFDcXFrcnBHcUZRQ0hkM2QvVHIxMC9qZWN6TnplSHQ3VjF2SG05dmIxaFlXT0NkZDk3QjNidDNBZHhQNERhc3JhbE9iVzB0dnY3NmExaGJXMlBxMUtrYXgwTFVtZ1J5dVZ5dTdTQ0lTTHN1WHJ5STFOUlVqQjgvdnRNMURxbXRyY1hseTVkeCsvWnRPRGc0SURBd1VGRnNtWWlJaUlqYXQ0aUlDQVFGQlNFNE9GamJvV2drTlRVVmRuWjJuWDRWMmZuejU3RjgrWEs4L3ZycmVPR0ZGN1FkemtPUlNDVDQ1WmRmRUJvYXF0SE9ydlBuenlNek14TUNnUURlM3Q3dzlmWFZhSjRmZi93UnUzYnR3dnIxNjVXMnpCTzFGa0VUQ1FHdVJDUWk1T1hsd2M3T3J0TWxFQ3NxS25EbXpCa1VGQlNnUjQ4ZThQUHo2M1RmQXlJaUlpSnFPMjV1YnRvT29WMElDQWpBc21YTGNQUG1UWlNYbHovV1NWVUxDd3U4K3VxckdvOFBDQWhvZGhLd3JLd014Y1hGV0xac0dST0lwRlZNSWhKMWNwV1ZsU2d1TG01V1Y3V09RQ1FTNGN5Wk02aXRyY1dRSVVQZzVPU2s3WkNJaUlpSWlEcU5rSkFRaElTRWFEdU14NEtKaVFsbXo1NnQ3VENJbUVRazZ1dzZZejNFR3pkdTRNcVZLekF6TTBOd2NERE16TXkwSFJJUkVSRVJFUkZSdThZa0lsRW5KeEtKb0srdkR3c0xDMjJIOHNoSnBWS2NQWHNXR1JrWmNIVjFSVUJBQUlSQy9ob2tJaUlpSWlJaWFncmZQUk4xY3AybEhtSlpXUmxPblRxRmtwSVMrUHY3dzl2Ylc5c2hFUkVSRVJFUkVUMDJtRVFrNnNRcUtpcFFVbElDTHk4dmJZZnlTQlVXRnVMVXFWT29yYTNGc0dIRE90WFdiU0lpSWlJaUlxTFd3Q1FpVVNkV1Z3L1IzdDVleTVFOE9qazVPVGh6NWd3TURBd1FFaExDK29kRVJFUkVSRVJFTGNBa0lsRW5WbGNQMGR6Y1hOdWhQQklwS1NrNGQrNGNMQzB0OGNRVFQ4RFEwRkRiSVJFUkVSRVJFUkU5bHBoRUpPckVPbkk5eE92WHIrUGF0V3ZvMHFVTGdvS0MyRUNGaUlpSWlJaUk2Q0h3WFRWUkoxVlJVWUhTMHRJTzEyQkVMcGZqd29VTHVIdjNMdHpkM1JFUUVBQWRIUjF0aDBWRVJFUkVSRVQwV0dNU2thaVR5c3ZMQTRBTzFXUkVLcFVpUGo0ZTJkblo2Tm16Si96OC9MUWRFaEVSRVJFUkVWR0h3Q1FpVVNlVmw1Y0hBd01EV0ZoWWFEdVVWbEZWVllWVHAwNmhzTEFRQVFFQjhQVDAxSFpJUkVSRVJFUkVSQjBHazRoRW5aUklKT293cXhCTFMwc1JHeHVMaW9vS0RCa3lCSTZPanRvT2lZaUlpSWlJaUtoRFlSS1JxQk1xTHk5SFdWa1p1bmZ2cnUxUUhwcFlMTWFwVTZjQUFDRWhJYkMydHRaeVJFUkVSRVJFUkVRZEQ1T0lSSjFRUjZtSG1KK2ZqOWpZV0JnYUdtTG8wS0V3TlRYVmRraEVSRVJFUkVSRUhSS1RpRVNka0Vna2dvR0JBY3pOemJVZFNvdlZKUkNOalkweGJOZ3dHQm9hYWpza0lpSWlJaUlpb2c1TFI5c0JFRkhieTgvUGY2eFhJVEtCU0VSRVJFUkVSTlMybUVRazZtUXFLeXRSV2xvS1cxdGJiWWZTSWt3Z0VoRVJFUkVSRWJVOUpoR0pPcG1DZ2dJQWdJMk5qWllqYVQ0bUVJbUlpSWlJaUlpMGcwbEVvazZtb0tBQXVycTZzTFMwMUhZb3pWS1hRRFF5TW1JQ2tZaUlpSWlJaUtpTk1ZbEkxTWtVRkJUQXlzb0tPanFQei8vK0R5WVFRMEpDbUVBa0lpSWlJaUlpYW1PUFR4YUJpQjVhYlcwdHhHTHhZN1dWbVFsRUlpSWlJaUlpSXUxakVwR29FeWtxS2tKdGJlMWowMVNGQ1VRaUlpSWlJaUtpOW9GSlJLSk81SEZxcWxKUVVNQUVJaEVSRVJFUkVWRTd3U1FpVVNlU241OFBVMU5UR0JnWWFEdVVSa2trRWlZUWlZaUlpSWlJaU5vUkpoR0pPcEdDZ29KMnZ3cXhvcUlDc2JHeEVBcUZlUExKSjVsQUpDSWlJaUlpSW1vSG1FUWs2aVRLeTh0UlVWSFJycE9JTlRVMWlJMk5oVlFxeGRDaFEyRnNiS3p0a0lpSWlJaUlpSWdJVENJU2RScnR2UjVpYlcwdDR1TGlVRkpTZ3VEZ1lGaFlXR2c3SkNJaUlpSWlJaUw2LzVoRUpPb2tDZ29LSUJRSzIyVnlUaTZYSXpFeEVTS1JDQU1IRG9TOXZiMjJReUlpSWlJaUlpS2lCekNKU05SSjFOVkRGQWdFMmc1RlNWSlNFdExUMDlHblR4KzR1cnBxT3h3aUlpSWlJaUlpYW9CSlJLSk9RQ2FUb2JDd3NGMXVaYjUxNnhadTNyeUpidDI2b1h2Mzd0b09oNGlJaUlpSWlJaFVZQktScUJNUWk4V1F5K1h0TG9tWWtaR0JTNWN1d2RuWkdmNysvdG9PaDRpSWlJaUlpSWpVWUJLUnFCTm9qMDFWOHZQemtaQ1FBRnRiV3dRR0JyYkxiZFpFUkVSRVJFUkVkQitUaUVTZFFFRkJBY3pOemFHbnA2ZnRVQUFBeGNYRk9IWHFGRXhNVERCa3lCRG82dXBxT3lRaUlpSWlJaUlpYWdTVGlFU2RRRjFUbGZhZ3Vyb2FwMDZkZ3E2dUxvWU9IUXA5ZlgxdGgwUkVSRVJFUkEwa0p5ZERJcEdvUFgvbHloWGN1SEdqRFNONlBOVHRBbnZVL3Zubkg2eGR1eFlWRlJXdGNyL3k4bkpFUlVVaEpTV2xSYkhzMmJNSHhjWEZhc2Y4OWRkZjJMaHg0ME5FMkRTNVhQNUk3MCtBVU5zQkVOR2pWVjVlanFxcUtsaGJXMnM3Rk1qbGNpUWtKS0Npb2dJaElTRXdNVEhSZGtoRVJFUkVSTlJBZm40K0ZpMWFoS2VlZWdxTEZ5OVdPZWJUVHorRnJhMXRrNG1oMnRwYVpHWm10aWdPQ3dzTG1KdWJLeDd2MjdjUDMzenpUWXZ1OWFDalI0OCs5RDFVT1hYcUZENzY2Q01zWGJvVXc0Y1BCd0JVVkZUZzlPblR6YnJQaUJFam1oeVRrNU9EMk5oWUdCb2E0cDEzM21sUnZBOHFMQ3pFcmwyN2NPZk9IU3hmdnJ4WjErN2J0dytYTGwzQ3hJa1QxWTVKVGs3R2tTTkhzSFRwMG1iZHU3cTZHbVZsWlNndExVVkpTUW1LaTRzaGtVaFFXRmdJc1ZpTS9QeDhpRVFpWkdkbnc5ZlhGeDkrK0dHejdrL053eVFpVVFkWFdGZ0lBTzBpaVhqdDJqWGs1T1FnSUNDZzNheU1KQ0lpSWlKcURhdFdyVUo4ZkR3TURRM3grKysvUC9MNVJvNGMyZVJjeno3N0xDb3JLK3NselVhT0hLazBybUZTemRiV0ZwTW1UY0pQUC8yRThlUEhvMXUzYnZYTzUrZm5JeU1qQTJQR2pHa3l6cEtTRXJ6MjJtdE5qbE5sNXN5Wm1ENTl1dEx4QlFzVzFIdGNXMXVMNHVKaVdGcGFObnEvYytmT0lTNHVybGt4MU5UVTROMTMzMFZoWVNHMmJOblM2RUtJUG4zNndOblpHUnMyYklDZW5oNkdEaDJLd3NKQ2ZQenh4ODJhc3k2SitPZWZmelk2enRiV0ZpS1JxTWx4bzBlUEJvQW1WeG42Ky92ajc3Ly9SbGhZV0wza2JVUHU3dTZLcjlQUzBuRG16Qm5NbURHajBXczB0V3ZYTGh3NmRBaFZWVldvckt5RVRDWnJkTHlCZ1FHc3JLemc3T3dNb1ZDSTNOeGNPRGc0cUIxZlhsNk9lZlBtd2N6TURCczNidVRPdUdaaUVwR29neXNzTElTT2prNnIvRUovR0ptWm1mam5uMy9nNGVFQlQwOVByY1pDUkVSRVJOU2FEaDA2aE1URVJHMkhvWkZ4NDhiaDRNR0RrRXFsR0RkdW5PSjRUazRPYW1wcUZJK0hEQm1DbEpRVWxKV1ZJVDA5WFhIY3hjVUZKMDZjZ0VBZ1FFaElpTWJ6TGxpd0FHRmhZZldPL2ZISEg5aTBhUk4rL3ZsbldGaFkxRHVuS3RsWnArRjlmdnp4Uit6ZnZ4OWJ0MjZGazVPVDJ1dEtTMHViblVUY3ZuMDdybCsvM21RQ0VRRE16YzJ4WWNNR3pKOC9IK3ZXcmNPSEgzNklmdjM2NFljZmZsQWFPMjNhTkR6OTlOT1lPWE9tMnZ0OSt1bW5UY2FYbjUrUFM1Y3VOVHFtTG9uNHhodHZOSGsvQUdwWG45WjVNT244L2ZmZnc5TFNFcE1uVDFZYysrT1BQNVN1dVhmdm50cHpmbjUrOFBEd0FIQy9mcjVZTE1hb1VhTmdhR2dJSXlNakdCc2J3OVRVRkthbXBqQXpNNE81dVRrc0xDeGdZV0VCUTBORGpaNVRIV05qWTZ4Y3VSSno1ODdGMXExYnNXalJvbVpkMzlreGlValV3WW5GWWxoWVdFQkhSM3NsVUV0S1NwQ1ltQWhyYTJ2MDc5OWZhM0VRRVJFUlVjZWo3VHBvZVhsNStQTExMeEVhR29yang0OXJOUlpOeko4L0gwZU9ISUZVS3NYOCtmTVZ4NWN2WDE0dldWaW5ZWEwweUpFak9IVG9FT1J5T2FaTm02WnlqcTFidDhMSHg2ZmVzYUtpSW1SbFpTa2RBKzRuTU12S3lscjBmSzVldllwdnYvMFdqbzZPa01sa0twOUR3MjNSbXJwMjdScWlvNk14YWRJa3BkV1k2dGpZMk9EOTk5L0gxcTFiNGVycUNoMGRIU1FsSldIQWdBRktpVkpEUTBQWTJka3BIaWNtSnFKTGx5NzF4a3lkT2hXdnZQS0t5cmxrTWhsMGRIUWdFQWhVbnQrMWF4ZWlvcUxxSFFzS0NzTFVxVk0xZWk0TlJVVkYxVXZDM3I1OUd5ZFBuc1RiYjc4Tkl5TWpaR1Jrd05yYUdwczJiVko3RDFYbjNucnJMVVVTc2M2U0pVdGFGS01tUEQwOU1XSENCUHo4ODg4WVBudzQrdmJ0KzhqbTZtaVlSQ1RxNEFvTEMrSGk0cUsxK1d0cWFoQVhGd2RkWFYwRUJ3ZHJOWmxKUkVSRVJCMkxucDVlbzgwL0hqVzVYSTVQUHZrRVFxRVFzMmZQZml5U2lPcEVSa1lDQU83ZXZZdUNnZ0lNSERnUXdQMEdLdmIyOW9vdG9pZE9uRUJhV2hwR2pScUZLVk9tS0s3LzVKTlBVRkpTZ3ZmZmYxL2xkdEk5ZS9aZ3o1NDlLdWVlTjI5ZWkyTE95TWpBKysrL0Q2bFVpdlQwZExYYnBsOTk5VlcxQ2MvRzdOcTFDM3A2ZXMxT3VubDdlK1B6eno4SGNILzE0NVl0V3hBUUVJQ1ZLMWVxdlVZaWtlRGpqeitHaVlrSmR1L2VEVjFkWFFDQVFDQlFmTjNRTTg4OGd5bFRwbURXckZrYXgyWnBhWWtlUFhvMDQ5bjhIeXNycTNxUHQyM2JCbmQzZDR3Wk13WlNxUlNyVjYrR1RDYkRvVU9IbEdMZXRtMGJEaHc0OE1qcVVUYlhpeSsraU9qb2FFUkdSamFhOUtUNm1FUWs2c0RLeTh0UlhWMnQ5TXUrcmNqbGNwdzlleGFscGFVWU5td1lqSXlNdEJJSEVSRVJFWFZNVGs1T3lNdkwwOXI4MGRIUnVIanhJbGFzV0tHMTE5eXRTU3FWWXNPR0RTZ3FLc0x1M2J0aFlHQ0F6ei8vSERLWkRKOS8vam4wOWZXeGMrZE9BUGNiWGp5NFdLRzh2QnhPVGs1cUZ6RE1uejhmWThlT3JYZnNmLy83SHpadjNvei8vdmUvU2lzRm4zbm1tVVpqVFV0THd6dnZ2SVBTMGxKNGUzdmprMDgrZ2JHeHNlSjhibTR1M24zM1hZM3VwVXBxYWlvdVg3Nk0wTkRRSm1zdE5zYlUxQlF6Wjg3RWxpMWJNR3pZTUF3ZE9sVGx1QjA3ZHFDa3BBVHZ2dnV1SWdHM1ljTUdHQnNiSXo0K1h1MzlzN096MVo0Zk1XSkV2WjFnOCtiTmc1dWJHM0p5Y2xCWldkbnM1eElTRXFLb2gvaS8vLzBQVjY5ZVJVUkVCQVFDQWZidjM0LzA5SFFzWHJ4WWJkS3pPUnJienQ2VTExOS9IUysrK0dLall5d3NMREIwNkZBY1AzNGN0Mi9mMW5pbGFXZkhKQ0pSQnlZV2l3RW9mMkxVVnBLVGs1R1ptUWwvZi85NnkvU0ppSWlJaUZwRDM3NTlFUjBkalpzM2J5cHRuMzNVc3JLeThQWFhYMlBZc0dITnFnM1ludTNjdVJQMzd0M0RoZzBiRkFzQTFxNWRpL256NTJQRmloVUlEQXhFZm40K3ZMMjlrWjJkcmJoT0xwY2pOemNYQVFFQmF1K3RvNk9qbEZ5cTI2V2s2bHhqeEdJeEZpeFlBQ2NuSjJ6YXRBbWJOMi9HZ2dVTHNITGxTcmk1dVNFbUpnYWJObTJDaTRzTDFxeFowNklrWUd4c0xBQWdPRGhZby9HLy9QSUx2dnp5UzhYamFkT200ZFZYWHdWd3Y4Rk5kSFEwdG0zYmhvQ0FnSHJKVGdDSWk0dkRrU05IOE5SVFR5RXdNRkJ4dkgvLy9yaHc0UUpXclZxbGR0NlltQmpFeE1Tb1BQZjk5OS9YMnlZOGZ2eDRBUGRySGlZbEpXbjB2QjUwOU9oUnhkYmZreWRQUWk2WFkrblNwWXJtSjMzNzlzV29VYU1nbDh1VmtwUjFZeW9xS3BUdXEycXh5ZXV2djk3cytPcG91ajA1T0RnWXg0OGZSMXhjSEpPSUdtSVNrYWdEMDJaVGxaeWNIRnk5ZWhWdWJtN3c5dlp1OC9tSmlJaUlxT1B6OXZaRzkrN2RjZXpZTVZoYVdzTGUzcjVONXBYTDVRZ1BENGV4c1RIZWZ2dnROcG56VVR0ejVnejI3OStQcVZPbm9sKy9mb3JqenM3T1dMMTZOZDU3N3oxNGVYbGgvdno1S0NrcHdYZmZmUWVwVkFxaFVJaU1qQXhVVkZRMDJrQngwNlpOYXJlTlB2ZmNjODJLMWRyYUdpdFhya1R2M3IyaHI2K1BOV3ZXWU9mT25malh2LzRGTnpjMzNMdDNEOU9tVGNOTEw3M1U0bFZ4VjY5ZUJYQy82WWNtK3ZYcnArZ2EzZkI1NnVqb1lOYXNXVmkvZmozdTNyMkxYcjE2MVRzZkhSME5Cd2VIZWpVcUcvcjAwMCtWNmdaT25EZ1JreVpOd3NzdnYxenZlRUpDUXFNZG9SY3VYS2d5bWRjY2MrZk9oVVFpZ1lXRkJkYXZYNC9NekV6OCs5Ly9oa0FnZ0Vna1VydDkvTUZtUG5VYWJuRVdDQVJOcmlSc0RYWC90blgvMXRRMEpoR0pPckRDd2tKWVdscTJlUjNDMHRKU3hNZkh3OUxTc3RGUEk0bUlpSWlJSHRhSUVTT3dmLzkrN04yN0Z3TUdESUNucHlmczdPeWdyNi8veU9iODczLy9pMnZYcm1IdDJyVmErY0MrdFpXV2xpSThQQnorL3Y1SzlmL1MwOU54OSs1ZHJGcTFDdjM3OTRlUmtSSE9uVHVIbXBvYS9QUFBQK2pkdXpldVhMa0NBSTNXMnBzeFk0YlNpczJUSjAvaTIyKy94UmRmZkFGVFU5TjY1OVRWTjZ3VEVCQ0E2dXBxWExwMENRa0pDVGgxNmhUMDlQUVVxL3lPSGoyS3ZMdzgrUGo0d01QREE4N096cHArT3hUUHUySGprOFo0ZUhnb2tueXFrcVZCUVVHSWpJeUVyYTJ0MHJrUFAvd1F1Ym01U2lzVUgxVFhvYmdoUFQwOXBlTk5kU3h1alpyNWRkdWFqeHc1Z3J0MzcyTE9uRG1LenRqbTV1WjQ3NzMzV25SZm1Vd0dvYkJ0VWxVMk5qWXdNakpDWm1abW04elhFVENKU05TQmFhT3BTbTF0TGM2Y09RT0JRSURnNE9CV3FZZEJSRVJFUktTT2taRVJwazJiaG9TRUJNVEh4eXQxRTFZbktDaEk0NjJxRDBwSlNjR2VQWHN3Y3VSSUJBVUZOZnY2OXNqVTFCUXJWNjZFczdNejVzK2ZqOEdEQnl1YWRmenl5eTg0ZVBBZ2R1M2FwZGgyMnF0WEx3aUZRcHc2ZFFxOWUvZEdYRndjN096c1ZMNzMwTlBUUTBoSUNQejgvSlRPMTVWZGNuSnlVdXBjL0dEOXZZYmk0K094Yjk4KzNMeDVFem82T3VqWHJ4OEtNNXZDQUFBZ0FFbEVRVlJtenB5SklVT0d3TWpJQ0VWRlJUaDkralFTRXhPeGE5Y3VsSldWb1UrZlBvcG1NWm9vS2lwNjZMSlFZckVZbHk5ZlZucytNek1USjA2Y1VEeStkZXVXNHV2UTBOQjZZM055Y2xRbXhrdEtTcFE2VWhjVUZDaU5rOGxreU0vUDF6ajJ4bGhiVzBOUFR3OWlzUmhmZnZrbCt2YnRpd2tUSmlqT0d4Z1lZTVNJRVMyNmQwMU5EZlQwOUJTUGI5NjhxZkcxVmxaV3pTNmpaVzV1anNMQ3dtWmQwNWt4aVVqVVFaV1ZsV21scWNyVnExZFJWRlNFSjU1NEFpWW1KbTA2TnhFUkVSRjFUam82T2dnS0NvSy92ei91M2JzSGlVUUN1VnplNkRVdC9iQTlQRHdjTlRVMU1EVTF4YmZmZnF0MFhpcVZLbzdQbURHalJYTm9RazlQRHpVMU5ZMk9rVXFsVGE1S3ExTzNnMmpFaUJHSWpJeEVWVlVWSmsrZWpFT0hEbUhFaUJHS1ZXYkEvWlZ1QXdZTXdQSGp4ekZtekJpY08zZE81VGJWdWdSWmNIQXdKQkpKdllRWjhIOEpvcmk0T0tXNmVNSEJ3YWl1cnNhSkV5ZGdhMnVMM3IxN0s4NzUrUGlnWjgrZW1ENTlPdnIwNllQZHUzZmo0TUdEdUh6NU1ycDI3UXBYVjFmMDZkTUhvMGFOZ2tBZ3dMMTc5MkJrWktTMmRxQXFOVFUxRDcwaTdzNmRPMWkzYnAzYTgrZlBuOGY1OCtkVm5tdVlSRnl6Wm8zS2NRY1BIc1RCZ3dlYmpDVTNOeGV2dlBKS2srTTA4Y1VYWDZCNzkrNVl2MzQ5QUdEUm9rVklUVTFGZW5vNnhHSXh4bzhmci9SdnJZNjd1M3U5YmRybDVlWDFWbVRPblR0WDQ3Z21UcHlJT1hQbWFEd2VBSFIxZFNHVlNwdDFUV2ZHSkNKUkIxWDNhVXBiSmhGRkloRnUzTGdCTHk4dk9EbzZ0dG04UkVSRVJFVEEvVldKUFh2MmZLUnoxSzBXTzNEZ2dNcnpVcWtVMzMzM0hZQkhtMFMwdExTRVNDUkNibTR1SEJ3Y2xNNFhGQlJBS3BVMiszWDUxS2xUVVYxZGplKy8veDUvLy8wM2RIVjFGUTFDSGpSNjlHakV4OGRqeFlvVnFLMnR4ZWpSbzVYR05KWkFlOUJubjMzVzZQbkF3TUI2U1VScmEydTgrZWFiaXNmZHUzY0hBR1JrWkNBcEtRbloyZG1ReStWWXRHZ1J4b3daQXk4dkw0M2llSkNSa1ZHTE9oZy9xRStmUHRpelo0L0tjNis4OGdwR2pCaWg4Yy9JOXUzYmxaN0h5SkVqTVdYS0ZNV3EwVHB4Y1hGS1NVY2JHeHRzMkxCQjZiN1IwZEU0ZmZvMDFxOWZENEZBQUFENDdiZmZjUHIwYVpYakFjRE56UTNIamgzRHBVdVhJQlFLOGVxcnJ5cVM5bjUrZmhnL2ZyekcvL2JUcGsycmwwUVVpOFV3TXpPck55WWtKQVNUSmsxcTlENHRyVTFhVVZIUjZEWnlxbzlKUktJT3FxMmJxbFJYVnlNaElRRm1abVlhZDhNaUlpSWlJbnJjTkd3QzhhQ1JJMGZDME5BUXYvLysreU9QdzlmWEZ5S1JDQ2RQbnNTVUtWT1V6cDg2ZFFxQTVvMUJIdlRLSzYvZzNyMTdpSXVMUTBCQWdNb3Rva0ZCUWZEdzhNQzllL2NRR0Jpb3NxbUt1a1RycjcvK2lqMTc5c0RYMXhmSnljbnc4dktDb2FFaFZxOWVyWExMcnJvVmdaY3VYVUpKU1FsY1hWMHhlUEJneGFyTHlzcEtwS1NrUEZScEp6czdPNlNucHl1YXg3U0VnWUZCdlJXY0RabVltRFI2L2tHMXRiV0tEc2NOTlR5dWFoV3VnWUVCK3ZmdnIzUjgvLzc5c0xLeXFsZkxQaTR1RGdCVWpxL2o0dUtDZnYzNndkWFZGYTZ1cm5CeGNZR0xpMHU5bW8vUFAvODhaczZjcWZZZVk4ZU9WVHFXblowTlgxL2Zlc2Vzckt3YXJiZlpValUxTlNncUtsSnFXRVBxTVlsSTFFRzFkVk9WQ3hjdW9MS3lFaU5HakdBZFJDSWlJaUtpUit5Wlo1NUJiR3dzdnYvK2UzaDZldGFyOTNmbHloWHMzcjBiQW9FQVlXRmh6YjczclZ1M2NPN2NPUmdiRytQOCtmUDQ2cXV2TUh2MjdIcGpKQklKeXN2TEFkeGZmVmxiVzZ2MDNxTmh3dytaVEladnZ2a0dQLzMwRTE1NTVSVllXbG9pT1RrWnk1Y3Z4K3JWcTdGbXpScXNXclZLNDdwMlAvMzBFODZlUGF0SW1sbGJXOFA1LzdGMzUzRlJWdnNmd0Q4enc3NHZBZ0lpSUlzZ29ManYyMVZzVWRNeWw4ektyRzczM2l5ejVWZlo3VmFXYTdkTVMxdTgyV3FsaGVZVzdwcGJhaXFLSXNpT2JMSnZNd01Ncy96K1FCNFpZR0FHaHRYUCsvVzZyenZ6UE9jNXo1bmh3ZXJqT2VmcjZRbHZiMi80K1BpZ3NySVMzdDdlTFZxZDFhZFBINlNucHlNdExRMysvdjRHWDE4ck5qWVdqbzZPZW9lRnV1aGFwcnR0MnpaczI3YXRSWDBXRlJYaDh1WExHREZpaEY3dHE2cXE4TlZYWCtIZWUrOUZjSEF3MXE1ZDIyUjdzVmhzVUlHajdPeHNsSmFXTmxubDI1aVNrNU9oMFdoYTlmTzkyekJFSk9xbTJyT29TdTMrRjJGaFllMitCeU1SRVJFUlVXZDM2ZElsZlBmZGQzanp6VGNOTHZ5Z3k3Qmh3ekJ0MmpUczNic1h5NVl0ZzZlbkoxeGNYRkJjWEl6MDlIUUFOUldPYTVmNjF2cmtrMCtFUGVBKytlUVRBTUR6eno4dm5FOUpTY0ViYjd3QkJ3Y0hmUHp4eC9qb280L3c2Nisvd3N6TVRGaldMSlZLOGVhYmJ5STNOeGZCd2NHNGVQRWkxcTFiaDVkZWVrbFlFbHRmWm1ZbTFxeFpnNFNFQkN4ZXZCZ3pac3pBM3IxN0FRRDI5dmI0NElNUDhQcnJyK1B2Zi84N25ucnFLZHgzMzMzTlRrNVlzV0lGbEVvbGNuSnlrSkdSZ1pzM2J5STFOUlhYcmwxRFZGUVVWQ29WeG93Wmc3ZmZmdHZnNzNmdzRNRTRkdXdZb3FPald4UXlhVFFhL1BUVFQvajIyMi94M252dnRUcEVmUHJwcCtIcTZxcDFiT1hLbFJnNWNtU0QvUk1URWhMdzY2Ky9OanUrRFJzMlFLRlFZTWFNR1hxTlFTcVZZdWZPblZBb0ZIanh4UmVGNDBxbEVna0pDYmgrL1RwaVkyTzFuaWREbkR4NUVnQU1Lb0RUR3RIUjBRQ2FubkZKMmhnaUVuVkQ3VmxVUlNhVDRkS2xTM0J4Y1dud0x5aEVSRVJFUkZTemJESTVPUm1MRnkvRysrKy9qNENBQUtQMHUyVEpFb1NHaGlJcUtnckp5Y200ZGVzVzdPenNNSExrU015Y09iUFJjR1QzN3QwTlh0ZUdQdWZQbjhlcVZhdGdabWFHVmF0V29VZVBIdmpQZi82RGwxOStHY2VQSDhmczJiTlJVVkdCdDk1NkM4bkp5WGppaVNjd2I5NDh2UEhHRzlpL2Z6L0t5OHZ4Zi8vM2YxcDd6RW1sVW16ZHVoVy8vZlliN096c3NHYk5Hb1NIaHpjWWw0dUxDOWF2WDQ4MWE5WmcvZnIxMkw1OU8yYk1tSUdKRXlmQ3ljbEo1M2RnWW1JaUxLV3RXMjFib1ZBZ09UbTV3ZjU2K2hvelpndysvZlJUSER0MkRMTm56OWI3T3FsVUNxQ21xclZDb2NEY3VYTXhjT0RBRm8wQkFBSUNBckJtelJvRUJ3YzNLRDZ6Y3VWSzlPN2R1MEdJT0dqUUlBd2RPbFRuZncrV2xwYmlvNDgrd3Brelp6QnQyalQwNzk5ZjYzeHRFRngvS1hkK2ZqNEF3TTNORFVlUEhzWFZxMWVSa0pDQWxKUVVvYTIvdjcvZXhYenFVaXFWMkxObkR6dzlQUkVhR3FwMVRpYVRJVHM3MitBK20zUDgrSEZZV1ZsMW15cnI3WUVoSWxFMzFGNUZWVFFhRGM2ZlB3K1JTSVJodzRicC9GdEhJaUlpSXFLN2dhNzlFb2NQSDQ0UFAvd1F5NVl0d3l1dnZJTGx5NWNiYlIveFNaTW1ZZEtrU2EwYVkyVmxKYjc2Nml2czJyVUxIaDRlV0xGaUJUdzlQUUhVVkdKZXNXSUZKQklKa3BLU3NHclZLaFFWRldIUm9rVjQ1SkZIQUFETGx5L0hmLzd6SDV3K2ZSclBQdnNzM256elRiaTV1V0g3OXUzNC9mZmZJWmZMTVhueVpQenpuLzlzY3M5Mkd4c2J2UGZlZXpoNDhDQysrdW9yZlA3NTUvamlpeTh3Y3VSSXJkbUVFUkVSZW4vZWxySzJ0c2JVcVZNUkdSbUptSmlZQmtHYkxnY09IQUJRODFuZWVPT05WditjYlcxdERaNHBaMjl2MytnMU4yL2V4S0ZEaDdCMzcxNUlwVkpNblRxMTBWbUR0Yk5sUC92c002RWZwVktKZmZ2MkFhaXBqcjFqeHc1Y3UzWU5vYUdoV0xod0lVSkNRaEFZR0tpMWZObVFwZGFSa1pISXpjMXRkRGJyd1lNSGNmRGdRZjArdko2aW82T1JrcEtDT1hQbXNMQ0tBUmdpRW5WRDdWVlVKVDQrSGdVRkJSZytmRGovNENVaUlpSWlha0pnWUNBKytPQUR2UHJxcTlpNmRXdW5La1lvRW9rUUd4dUxVYU5HNGVXWFgyNHdlOC9Cd1FIVjFkWFlzR0VES2lzcjhkWmJiMkhjdUhIQ2VVdExTNnhhdFFvYk4yN0UwYU5INGVqb0NITnpjMXk1Y2dXOWUvZkdzODgrMjJCMldWT21USm1DOGVQSDQ4Q0JBemg4K0RDZWVPSUpyZjBXbHl4WjBxTFBlZUhDQmFGb2lENFdMRmlBbzBlUFl2UG16ZGl3WVlOZWt5YkdqQm1EcTFldll1blNwYkMzdDIvUk9OdkNxVk9uOE82Nzd3S28yZS94OWRkZngvRGh3eHR0ZSsrOTkrTFlzV1BZdlh1MzFzeFZvS2FnVG5oNE9BSUNBbUJqWTlQa0h2d2pSb3pBaEFrVGRKNWZ2WHExOERvbUpnYSt2cjY0NTU1N0dyUWJPM1pzczB1dVgzbmxsU2JQMTZWV3E3RjU4Mlk0T1RrSlFUanBSNlJwckd3UEVYVnBwMDZkUW1WbEpTWlBudHhtOXlncUtzTFJvMGZoNWVXbDh4OCtSRVJFUkVTa0xUMDlIUzR1THAzdUwrRmxNaG1zcmEyYmJKT1Rrd09SU0lTZVBYdnFiSk9mbnkvTVpLdXNyR3h5YVd0VVZCUSsrZVFUL1B6enozcE5nRWhOVFVWaVlpS21USm5TYkZ0alhYL3g0a1VzVzdZTVR6MzFGT2JNbWRPaSt6Wm02OWF0Nk51M0w0WU1HZExpUGlJaUlqQjM3bHc4L2ZUVGVyV1BqSXhFVUZDUTNoVzdpNHFLVUYxZExieTN0clp1VUN4SGwvWHIxMlBJa0NFWVBYcDBrMjJHRFJ1R2tTTkhvclMwRkhsNWVRMlcrcTlmdng0REJ3N1VDcTExOWFWUE93RDQ2YWVmOFBYWFgyUFZxbFZhVmFrSkVEV1RsRE5FSk9xRzl1N2RDemMzdHpiYmtGYWxVdUhnd1lOUXE5V1lNbVVLVEUxTjIrUStSRVJFUkVSRUhlMzQ4ZU5JU0VqQWdnVUxPbDM0UzRhUnlXVDQ0WWNmRUJnWTJHQXZTV0tJU0hUWFVTZ1UyTFZyRndZTUdJREF3TUEydWNlMWE5Y1FGeGVIOGVQSE42Z1FSa1JFUkVSRVJFUmRUM01ob3U3RjYwVFVKWldXbGdKQW0rMi9VVnBhaXZqNGVQajQrREJBSkNJaUlpSWlJcnBMTUVRazZtWnFRMFFIQndlajk2M1JhSER4NGtXWW1abDFxbzJnaVlpSWlJaUlpS2h0TVVRazZtWktTMHRoYm00T2MzTnpvL2Vka3BLQ3dzSkNoSWVIdzh6TXpPajlFeEVSRVJFUkVWSG54QkNScUpzcEtTbHBrMW1JRlJVVmlJbUpnWnViRzNyMzdtMzAvb21JaUlpSWlJaW84MktJU05TTmFEUWFsSldWdGNsK2lOSFIwZEJvTkJnOGVMRFIreVlpSWlJaUlpS2l6bzBoSWxFM0lwUEpvRlFxalI0aVptVmxJU3NyQ3lFaEliQzJ0alpxMzBSRVJFUkVSRVRVK1RGRUpPcEcycUl5YzNWMU5hS2pvK0hnNElDQWdBQ2o5VXRFUkVSRVJFUkVYUWREUktKdXBMUzBGQ0tSQ0haMmRrYnI4OXExYTZpb3FNRGd3WU1oRnZPUERDSWlJaUlpSXFLN0VSTUJvbTZrcEtRRU5qWTJrRWdrUnVtdnVMZ1lTVWxKQ0FnSWdKT1RrMUg2SkNJaUlpSWlJcUt1aHlFaVVUZFNXbHBxMU1yTWx5OWZob1dGQlVKRFE0M1dKeEVSRVJFUkVSRjFQUXdSaWJvSnBWSUpxVlJxdFAwUU16TXpVVkJRZ05EUVVKaVltQmlsVHlJaUlpSWlJaUxxbWhnaUVuVVRaV1ZsQUl4VFZFV3RWaU1tSmdZT0RnN3c4ZkZwZFg5RVJFUkVSRVJFMUxVeFJDVHFKb3habVRreE1SRXltUXdEQmd5QVNDUnFkWDlFUkVSRVJFUkUxTFV4UkNUcUprcExTMkZpWWdKcmErdFc5Vk5WVllXNHVEaDRlSGpBMWRYVlNLTWpJaUlpSWlJaW9xNk1JU0pSTjFGV1ZnWTdPN3RXOXhNYkd3dWxVb24rL2ZzYllWUkVSRVJFUkVSRTFCMHdSQ1RxSnNyTHkxc2RJcGFWbFNFbEpRVitmbjZ3dGJVMTBzaUlpSWlJaUlpSXFLdGppRWpVRFNpVlNzamw4bFlIZjFldVhJR0ppUWxDUWtLTU5ESWlJaUlpSWlJaTZnNFlJaEoxQStYbDVRRFFxaER4MXExYnVIWHJGdnIxNndjek16TmpEWTJJaUlpSWlJaUl1Z0dHaUVUZFFHMkkyTkxsekJxTkJqRXhNYkN4c1lHL3Y3OHhoMFpFUkVSRVJFUkUzUUJEUktKdW9LeXNEQ0tScU1XVm1UTXpNMUZhV29yUTBGQ0l4ZnhqZ1lpSWlJaUlpSWkwTVMwZzZnYkt5OHRoWTJQVG9nQlFvOUhnK3ZYcnNMT3pRNjlldmRwZ2RFUkVSRVJFUkVUVTFURkVKT29HeXNyS1dyeVVPVE16RTJWbFpRZ0pDWUZJSkRMeXlJaUlpSWlJaUlpb08yQ0lTTlRGYVRRYVNLWFNGaFZWMFdnMGlJMk5oYjI5UFR3OVBkdGdkRVJFUkVSRVJFVFVIVEJFSk9yaVpESVoxR3AxaTJZaVptUmtvTHk4bkxNUWlZaUlpSWlJaUtoSkRCR0p1cml5c2pJQU1IZ21ZdTFlaUE0T0RweUZTRVJFUkVSRVJFUk5Zb2hJMU1XVmw1Y0RNRHhFdkhuenBqQUxrWWlJaUlpSWlJaW9LUXdSaWJxNHNySXlXRnBhd3RUVVZPOXJhbWNoT2pvNndzUERvdzFIUjBSRVJFUkVSRVRkQVVORW9pNnV2THk4UmJNUXBWSXBaeUVTRVJFUkVSRVJrVjRZSWhKMWNZYUdpQnFOQm5GeGNYQjBkSVM3dTNzYmpveUlpSWlJaUlpSXVndUdpRVJkV0ZWVkZSUUtoVUdWbVhOeWNsQmVYbzZnb0tBMkhCa1JFUkVSRVJFUmRTY01FWW02TUtsVUNnQ3dzYkhSKzVxRWhBUllXMXV6SWpNUkVSRVJFUkVSNlkwaElsRVhabWlJV0ZSVWhQejhmQVFFQkVBa0VyWGwwSWlJaUlpSWlJaW9HMkdJU05TRlNhVlNpRVFpV0ZsWjZkVStJU0VCcHFhbThQWDFiZU9SRVJFUkVSRVJFVkYzd2hDUnFBdVRTcVd3c3JLQ1dOejhyN0pjTGtkbVppYjgvUHhnWW1MU0RxTWpJaUlpSWlJaW91NkNJU0pSRnlhVlN2VmV5cHlZbUFpUlNBUi9mLzgySGhVUkVSRVJFUkVSZFRjTUVZbTZNSDFEeE9ycWFxU2twTURMeXd1V2xwYnRNRElpSWlJaUlpSWk2azRZSWhKMVVkWFYxVkFvRkxDMnRtNjJiVXBLQ3BSS0pRSURBOXRoWkVSRVJFUkVSRVRVM1RCRUpPcWk5SzNNck5Gb2tKaVlDRGMzTnpnNE9MVEgwSWlJaUlpSWlJaW9tMkdJU05SRjZSc2k1dVRrb0tLaWduc2hFaEVSRVJFUkVWR0xNVVFrNnFKcVE4VG1sak9ucEtUQTB0SVM3dTd1N1RFc0lpSWlJaUlpSXVxR0dDSVNkVkZTcVJRV0ZoWXdNVEhSMlVZdWx5TW5Kd2UrdnI0UWlVVHRPRG9pSWlJaUlpSWk2azRZSWhKMVVmcFVaazVOVFlWSUpJS3ZyMjg3allxSWlJaUlpSWlJdWlPR2lFUmRsRXdtYXpKRTFHZzBTRTFOUmMrZVBXRmxaZFdPSXlNaUlpSWlJaUtpN29ZaElsRVhwRktwVUZGUjBXU0lXRnRReGMvUHJ4MUhSa1JFUkVSRVJFVGRFVU5Fb2k1SUpwTUJhTHFvU20xQmxaNDllN2JYc0lpSWlJaUlpSWlvbXhKcE5CcE5SdytpTmVRcUJYWmwvb1h6aFVtNFZWbUNTbFYxUncrSmlJajBZQ0V4UlU4TEJ3eHo5c2VNWGtOaEpUSHI2Q0VSRVJFUkVSSGR0VVROVkdUdDBpSGlsWkowYkV3NGdQeXFzbzRlQ2hFUnRZS0x1UjJlQzd3SEF4eThPM29vUkVSRVJFUkVkNlZ1R3lKZUtVbkhPMWQvNmVoaEVCR1JFYjBiTmdmOUhYcDM5RENJaUlpSWlJanVPczJGaUYxeVQwUzVTb0dOQ1FjNmVoaEVSR1Jrbnlic2gxeWw2T2hoRUJFUkVSRVJVVDFkTWtUY2xma1hsekFURVhWRCtWVmwySlg1VjBjUGc0aUlpSWlJaU9ycGtpSGkrY0tramg0Q0VSRzFFZjRaVDBSRVJFUkUxUGwweVJEeFZtVkpSdytCaUlqYUNQK01KeUlpSWlJaTZueTZaSWhZcWFydTZDRVFFVkViNFoveFJFUkVSRVJFblUrWERCR0ppSWlJaUlpSWlJaW8vVEJFSkNJaUlpSWlJaUlpb2lZeFJDUWlJaUlpSWlJaUlxSW1NVVFrSWlJaUlpSWlJaUtpSmpGRUpDSWlJaUlpSWlJaW9pWXhSQ1FpSWlJaUlpSWlJcUltTVVRa0lpSWlJcUkyYy9YcVZmenl5eTh0dWpZK1BoNTc5dXlCVXFrMDhxaTA3M0g2OUdsb05KbzJ1MGRuY1Bic1dYenh4UmNvS2lvU2ppbVZTcVNtcG5iZ3FJd3JMUzBOaFlXRkhUME1JcUp1eTZTakIwQkVSRVJFUk4zWHVYUG5zRzNiTnN5ZVBkdmdhL2ZzMllOejU4N2gvdnZ2RjQ1cE5CcklaREtVbFpVSi95c3BLVUZ4Y1RHS2k0dFJXRmlJR1RObUlEUTBWSzk3ZlBQTk43aHk1UXFpb3FJTUhsOXJWVlpXNHZUcDB6clA5Ky9mSHlkUG50U3JyMm5UcHNITXpBd0FzSExsU29oRUlyenh4aHZDK1hQbnptSHYzcjJZTzNldWNHemJ0bTM0NFljZk1HL2VQRHo2NktNd01kSC9Qdzh2WExpQTB0SlN2ZHRQbWpSSjYvMk9IVHYwdnJhdWh4NTZxTkhqR28wR3ExYXRna3dtdzdmZmZndUpSSUs5ZS9jMjIxOW9hQ2g4Zkh5YWJWZFZWWVc4dkR5OXh1anM3QXdyS3l1OTJoSVJkU1VNRVltSWlJaUlxRlVpSWlKYTFjYk96ZzZSa1pGYXg2cXFxbkRxMUNsTW1qUUoxNjVkdzlxMWF5R1R5U0NYeTNYT0doU0pSTEMxdGNXZ1FZUDBEaEhMeXNwZ1oyZW5WMXRqS3kwdHhlclZxM1dlWDdObURUNzc3RE85K3BvMGFSTE16TXhRWEZ5TVAvNzRBNU1uVDlZNmYvUG1UZGpiMjhQQndVRTRObnYyYkJRV0Z1S0hIMzdBK2ZQbnNXelpNbmg2ZWdybno1OC9yek00TzNEZ0FPTGo0L1VhVyszNDZ0TDNjOVduSzBROGRlb1VVbEpTOFBycnIwTWlrUUFBMXE5ZjMyeC9peGN2RmtMRU45NTRBeGN1WEdpMDNicDE2N0IwNlZLOXh2ajY2NjgzK0x4RVJOMEJRMFFpSWlJaUltcVZMVnUyNkR6MzY2Ky80dmZmZjIreVRXM29VOWZodzRjaGw4c3hlZkprdUxtNUlTd3NESmFXbHJDMnRvYVZsUldzckt4dzlPaFJ4TVhGWWVQR2pYQjBkSVNqbzZOQnMra0FvS0NnQUs2dXJnWmRZeXh1Ym00NGRPZ1FBR0R6NXMzWXVYTW5mdnZ0TjJGR0lRQWNPblFJdTNidHdxZWZmb3JJeUVnaDhQenV1Ky93L2ZmZkM5ZlgycjkvUDlScU5SNTQ0QUhobUVhalFWSlNFdnIxNjZmVjFzek1EQys4OEFLQ2c0T3hidDA2bkRselJtdkc2TzdkdTNIdTNMbEd4MTcvdmdBd2QrNWNPRHM3WTlPbVRYcDlmaTh2cnlhZmk3b1dMVnFFakl5TVJzOHBsVXI4NzMvL1ExaFltRlo0MTlnWWE5c3ZXN1lNNmVucEdEVnFsTmI0SjArZWpJcUtDcXhmdng1VHAwNUZXRmlZMXJVYk5teEFjSEF3Z0pyWmxKOTk5cGx3bjZLaUlxMlpua1JFM1ExRFJDSWlJaUlpYWhVdkx5K2Q1Mnh0Ylp0dFU1OUdvMEZrWkNSOGZIeUU0T3YxMTE5djBDNCtQaDV4Y1hFSURBdzBjTVExNUhJNWlvdUxHNFJySFNFMk5oYkJ3Y0ZhQVdJdFEvWnIzTGR2SHp3OFBLQldxeEVYRndlZ0ppaVZ5K1Z3Y0hBUWp0WFZxMWN2dlB6eXkvRHc4QkRPZTN0NzQvMzMzeGZhUkVSRVlQNzgrWGp5eVNjYnZXOStmajZLaW9vd2NlSkV2Y2RxTEwvODhndnk4dkx3N3J2dkFnQmlZbUlRR2hvS3NiaGhDUUNGUW9IbHk1Y2pQajRlYTlldWhZdUxpM0F1UER3Y1FNME0wZlhyMTZOZnYzNUNLSG50MnJWMitDUkVSSjBiUTBRaUlpSWlJbXExNXBZMDZ6cmYyRkxtUC8vOEV4a1pHWmcxYTViUnh0ZVkycUlpU1VsSlJ1MVhvOUZBSkJMcDNWNG1rK0hHalJ0NDlORkhXMzN2M054Y0FNQUxMN3pRNE56aHc0ZHgrUEJodmZwWnQyNWRzMHZDRHg0OEtMeXUvUzRyS3l1MWpnTkFuejU5NE8vdnI5ZDlEWldSa1lIdnYvOGU4K2ZQaDQrUEQySmpZL0hLSzY5Z3laSWxtRHAxcWxiYmdvSUN2UHZ1dThqSXlNRHExYXNSRkJSazhQMXljM05oWTJNREFDZ3BLUkhHQU1DZ1BTS0ppTG9paG9oRVJFUkVSTlJxdXBhbE5yZWN1ZjVTWnJWYUxiUTFKSWhyaWRwWmQ3bTV1VWhQVDRlM3QzZXIrM3o3N2JjUkhSMk5GU3RXTkZnS3E4dVpNMmVnVkNveGJ0eTRKdHZwODMyc1c3ZXV3YkgvL2U5L1NFcEt3cXBWcS9UK1R2djA2ZE5zbXc4KytLREJzWDM3OW1IZnZuMWF4K2JQbjk5b2lDaVR5Um9FanJySVpMSUd4eFFLQmQ1Ly8zMzQrUGpna1VjZWdVS2h3THAxNitEbjU0Zjc3cnRQcSszaHc0ZXhjZU5HU0tWU09EZzQ0UHIxNitqVHB3OHNMQ3owdW4rdEZTdFdORGkyYU5FaWcvb2dJdXFxR0NJU0VSRVJFVkdMNWVmbkE0RE9NS1oyajhLbXdwcjgvSHlZbVpuQjN0NGVCdzRjUUhwNnV2RUgyb2hMbHk1QkxCYkQxTlFVSjArZU5FcUlHQmNYaDRxS0NxU2twT2dkSWg0NWNnUzJ0clpJVGs1R2NuSXlBR0RvMEtIQ2pMZGErZ1NBOVdjUFZsZFhJelUxRllNR0RkSjdQSVpvYW9rejBQUU0xYUtpb2thRFNIMWxabVlpSlNVRllyRVk5OTkvUHpRYURTUVNDVDc1NUJOaEtmT0ZDeGZ3M1hmZklTNHVEdVBHamNPenp6NkxIVHQyNEt1dnZzTFBQLytNMmJOblkrYk1tVEEzTjlmcm50d1RrWWp1Wmd3UmlZaUlpSWlveGViUG4yK1Vka0ZCUVZpK2ZEazJiOTRNYjIvdk5nOFNaVElab3FPakVSSVNBZ2NIQnh3NGNBQ1BQdnBvcTJjL3JsbXpCc25KeVpnd1lZSmU3Vk5UVTNIeDRrVUF3TXFWSzRYakd6ZHVGUFpITENnb0FGQlRZZG5LeWdyQW5hVzBhV2xwQUdxS3BIaDRlRFRvLy96NTg1REw1ZWpSb3dmT25qM2I1RmpFWWpHR0RSdW0xN2diRXhVVmhXUEhqbUh0MnJWNnRXOXRZWlUrZmZwZzllclZzTFcxUlVKQ0F0YXZYNDg1YytiQXc4TURQLy84TXc0ZVBJaU1qQXg0ZUhqZzNYZmZGWXFvL09NZi84RFVxVk94Y2VORy9POS8vME5rWkNRV0xGaUEwTkJRcEthbW9xS2lBZ0J3L2ZwMVNDUVNXRnRiTndoMGlZanVSZ3dSaVlpSWlJaW94WGJ2M20yVWZzUmlNZGF1WFF1cFZJcmx5NWRqNmRLbHdybXRXN2MyZWszdFBueU5uUjg2ZEdpVEJWZU9IVHNHcFZLSnNXUEh3dG5aR1NkUG5zVDU4K2N4ZlBqd1ZuME9YMTlmK1ByNjZ0MytwNTkrQWdDOCt1cXJtREpsQ3RMUzB2RE1NODhBZ1BEL3RaWXNXZExnK3RvMlBqNCsyTHg1YzRQekJ3NGNBQURzMmJNSGUvYnNhWElzWXJGWWFOOFNXVmxaaUk2T2J2SDFMVEY0OEdESTVYSXNYNzRjZm41K2VQenh4d0hVVktrMk1USEJTeSs5aENsVHBqUllOdS9sNVlYVnExZmowS0ZEK1B6eno1R2ZuNDgvL3ZnRFAvNzRvOUNtZG1tMmw1Y1hYbnJwSlFEY0U1R0k3bTRNRVltSWlJaUl1aUc1WEk3ejU4OGpLU2xKcjNCajVNaVJ3a3d0UTFoYVdnSUF5c3JLV2hTaU9EazV3ZHJhV3VoajFxeFpEWmJrZnZQTk4wMzIwZGg1R3hzYm5TR2lScVBCYjcvOUJsTlRVMHlhTkFsV1ZsWndkSFRFMXExYld4MGlHaUkyTmhiSGpoM1RlWDdObWpVQWFnS3hZOGVPWWZYcTFjSk15VU9IRHVIdzRjTkNtOXFmUTEzWjJkazRlL1lzeG84Zmo3Tm56Mkxod29XNDk5NTdHN1NycXFyQ004ODhZMUFGN2M1azNicDFLQ2twd1lvVks0VGw4eDkvL0RFY0hCeWF2VFlpSWdMRGhnMkRyYTB0eEdJeG5uenlTWlNXbHVMaGh4OFdnbDNnVG5WbTdvbElSSGN6aG9oRVJFUkVSTjFNWW1JaURoMDZCSlZLQlhkM2Qvajcrd3RMWTNWcGJZQzBaOCtlWnNPK3hyejAwa3RDRVl3bm4zeXkwZUN2ZHMrNStsYXZYbzBqUjQ3b1BLL0w4ZVBIa1o2ZWppbFRwc0RPemc0QU1IMzZkSHozM1hjNGNlSkVzd1ZPaktXZ29BQ2hvYUZDUUZYZm9FR0RBQUNuVHAyQ3ViazVCZzhlTEp5cnZhYTJUV04rK2VVWEFEWGZxNFdGQmFLaW9qQno1a3doYUt1MWE5Y3VsSmVYdDdvNnRFcWxNcmdxZFdzS3F3REE5dTNiY2Z6NGNTeFlzQUNGaFlXNGN1VUtNakl5TUcvZVBNeWFOUXRsWldYTjlxM1A4Mk50YlkzKy9mdmpoUmRlRVBiT3JMOG5Zbmw1T2Q1NTV4Mjl3a3Npb3E2SUlTSVJFUkVSVVRlU21KaUkzYnQzSXpBd0VKTW5UMjUwaGxwYnFoL0k1T1hsSVQ4L0h5RWhJVnJIR3l0QzBhOWZ2ellmbjF3dXgrYk5teUdSU0xCZ3dRTGgrRU1QUFlRZE8zWmc0OGFOR0RSb1VMdnNnVGQrL0hnTUhEZ1FzMmJOYXJKZFJrWUczTnpjRE9vN096c2JVVkZSR0RObUREdzlQZkhZWTQ5aDBhSkYrUG5ubjdVK2QySmlJbjc0NFFlTUdUT21WZnNoQWpWQlgrMnNVbjIwdHJDS1VxbkUxMTkvRFFENDRZY2ZBQUJXVmxidzlQU0VwYVVsbm4zMldTZ1VDcUg5eVV1SWM3c0FBQ0FBU1VSQlZKTW5jZW5TcFVhWGhUZkgxOWNYSDM3NFlaTnRiRzF0bTIxRFJOU1ZNVVFrSWlJaUl1b201SEk1RGgwNmhNREFRRXlmUHIyamh3T2dabCs1N2R1M0l5b3FxcU9IQWdENDVKTlBrSitmajltelo4UGQzVjA0Ym0xdGpZVUxGK0xUVHovRjZ0V3I4ZDU3NzdXNnlJbythbWRDNnFKUUtCQVhGNGN4WThZWTFPK0dEUnNnRm92eDlOTlBBd0RjM055d2FORWlmUEhGRi9EMDlNVEVpUk54NjlZdC9QdmYvNGF6c3pOZWZQRkZ2ZnF0bmUzbjcrL2Y0Rng2ZXJyV2Q5cWMxaFpXTVRFeHdjS0ZDMkZoWVlIZXZYdWpkKy9lY0haMkZzN1hMa1d1bFpXVmhVdVhMbUhhdEdsNmo3SHV0Zkh4OFZySEVoSVNBTlJVMTY1djBxUkpCdCtEaUtpelk0aElSRVJFUk5STm5EOS9IaXFWQ3BNblQrN29vUWpLeXNwZ2EydmIwY01BQVB6NjY2ODRmUGd3ZXZYcWhTZWVlS0xCK1FjZWVBREhqaDNEdVhQbnNISGpSaXhldk5qZ2U4amxjaFFXRmhwdGY4RlRwMDZocXFvS1E0WU0wZnVhMzMvL0hSY3ZYc1Fqanp5aVZiRjUxcXhaU0VwS3dxcFZxNUNhbW9xREJ3OUNwVkpoelpvMXNMZTNiN1N2VzdkdUNVdW5JeU1qaGNJanI3MzJtbGE3d3NKQ3hNZkh0eWlnYTQzNnMxbHJWVlZWd2R6YzNDajNrTXZsaUk2T3h2cjE2eHM5djNyMTZnYkhHQ0lTVVhmRUVKR0lpSWlJcUp0SVNrcUN1N3Q3dXk5aGJzcjE2OWNoRm90eCt2UnBEQmt5eEdqQmpxSDI3dDJMTDcvOEVwYVdsbmpublhjYUhZZElKTUtiYjc2SmYvM3JYOWkxYXhlcXFxcXdaTW1TQm5zSU51V0ZGMTVBZW5vNjNuenpUVXlZTUVIdjZ6NzQ0SU1HUzN2VmFqVisrdWtuV0Z0YlkvVG8wWHIxazVpWWlFMmJOc0hQencrUFBmWllnL05MbHk3RmpSczNoS3JRNzc3N0xueDhmQnJ0Njdubm5oTm0yMWxZV0NBa0pBVGg0ZUVJRHc5SFFFQUF0bTNiQmtkSFJ3REE1czJib1ZhcnNYLy9mdGpaMldIZXZIa3dOemVIajQrUDBLYXR5T1Z5SkNRazRNYU5HN2grL1RwaVkyUHgxRk5QQ1h0dEdxcDJDZlNSSTBld2E5Y3U1T2ZuWS92MjdRMEMwdnA3SWhJUmRYY01FWW1JaUlpSXVvblMwdEpHbDVtMmgvdnZ2eDhqUm93UTNxdFVLbnp6elRkSVNVbUJrNU9URU53TkhqeFkySC92MjIrL2JmTWlGQ3FWQ2x1MmJNSDI3ZHRoWm1hR2Q5OTlWeWlNMFJnWEZ4ZTgvLzc3ZU8yMTE3Qi8vMzRrSnlmai8vN3YvM1FHYmZWcE5CcXQvOWZYdEduVDBMOS9mK0c5aDRjSGZ2cnBKNlNscGVHeHh4N1RLeGpPenM3R3YvLzliMGdrRXJ6MTFsc3dOVFVWenBXV2x1TGd3WVBZdVhNbjh2UHpNV0xFQ01URnhXSDU4dVdZUEhreVpzeVlnWUNBQUszK3hvNGRpK0hEaDJQUW9FRUlDZ3BxRUtadTNyd1pHbzBHWDN6eEJZNGNPWUlwVTZiQXhzWUdQLzc0SXc0ZlBvem5uMzhlbXpkdjFqbmVzckl5b2ZoTGN4b3JrSktSa1lHMzMzNGJtWm1aMEdnMDZOR2pCMEpDUWpCLy9ueURabTdXMnJKbEN5NWV2SWprNUdRQU5jdVZ3OFBEV3h4R0VoRjFOd3dSaVlpSWlJaTZrZWFxTUxjVlIwZEhtSnFhNHZMbHk3aDA2UktPSGoyS3ZMdzhMRml3QUU4ODhRU1NrcEp3NXN3Wm5EaHhBbXZYcm9WRUlzSEFnUU14YnR3NGpCMDd0c2xDSmkrKytDSmlZMk4xbm8rSWlHaHc3TkNoUTBoTFM4TkhIMzJFdUxnNDJOalk0TzIzMzBaNGVIaXpuNlZ2Mzc1WXUzWXQvdk9mL3lBeE1SRi8vL3ZmOGNJTEwraTFWSGZEaGczSXo4L1hPM1NzRlJ3Y2pJa1RKd3J2VDU4K2pXKy8vUmFlbnA0NmwreldwZEZvOFBiYmI2Tzh2Qnp2dmZjZVBEMDlVVlJVaEhQbnp1SFVxVk80ZVBFaVZDb1Z3c1BEc1d6Wk1vU0doa0lxbGVMNzc3L0huajE3Y09EQUFYaDdlMlBVcUZFSURRMUYvLzc5TVcvZXZDYnZHUmNYaDAyYk5pRStQaDZqUjQvRzBxVkxZV0ppZ2lsVHBtRDkrdlY0ODgwM01YbnlaRHozM0hPTi9ueExTMHZ4NVpkZkd2UTkxZVh1N283UTBGRE1tVE1IQXdZTTBOcVBzYkZub3FsekR6endBR1F5R1VRaUVSNTU1QkVNR3pZTVFVRkJFSWxFT0hqd1lLTlZwR3YzU0d6c1hIQndzTkdXdEJNUmRSWWlqYUYvUmRZSlBIanl2eDA5QkNJaWFrTTd4NzdTMFVNZ0l1cVNQdnp3UTR3Y09SS2pSbzFxbC90SnBWS3NYTGtTaFlXRktDZ29FR2FMV1ZwYVlzU0lFWGo0NFljUkdCalk0THEwdERRY1BYb1VodzhmUm41K1BreE1UTEJod3dhdG1YQVJFUkY0K09HSDhleXp6K0xFaVJNb0tDZ3dhR3dQUGZRUXJsKy9qbGRlZVFXK3ZyNVl0bXdaUEQwOURlcWpxS2dJSDM3NElmTHk4dkR4eHg4YlZIbllFUG41K2JDenN4T1dXRXVsVWp6KytPTlFxVlQ0K09PUDRldnIyK0NhNzc3N0R0OS8vNzNXVXRyejU4K2p1cm9hbzBlUHh1SERoN0ZtelJvQU5UK1BDUk1tWVByMDZRMW1HOWJlLzlkZmY4WCsvZnNobDh2aDUrZUhkZXZXNlp6OWVQVG9VZXpidHc4eE1UR3d0TFRFNDQ4L2psbXpabWtWb3RGb05QamxsMS93OWRkZnc5SFJFVnUyYklHRmhZVndQaUlpb2tXRlZmUmRPcngzNzE2OTJ0WHk4ZkZCU0VoSW84VjBtZ29rZFZteVpFbTc3dzlKUk5SYW9tWXFpakZFSkNLaVRvY2hJaEZSeTdSM2lBZ0EyN1p0UTB4TUROemMzT0RsNVlXQWdBRDA3ZHRYYXltdExocU5Cbi85OVJmT25UdUh4WXNYYXdVNEgzMzBFWVlNR1lKeDQ4YTFhbnlKaVludzgvT0RXQ3h1Y1I5eXVSeFdWbGF0R29laDR1UGpvVktwRUJJUzB1ajV5NWN2SXpvNkdrOCsrYVRPUHI3OTlsdDRlM3RqNU1pUmV1MUZXVmxaaVZPblRxRi8vLzV3ZFhYVjJlNnJyNzVDVkZRVTdydnZQc3lhTmF2Skpla3BLU25ZdDI4Zm5uLytlYTNqcTFldmhyT3pNNTU1NXBsbXh3WFVMSjB1TEN6RTY2Ky9ybGQ3SWlJeUhFTkVJaUpxbGxna1FnOXpPK0Y5Zm1VcE92SWZEZ3dSaVloYXBpTkNSTHI3cUZRcWFEUWFnd3JPRUJGUjU5ZGNpTWcvOVZ2Z3VZQjdZR2RhTTdWLzFmWGYydTIrODd4SHdjRzBaZ25GNTBrdHF3Qm1JVEhGQXAreHVGaVVndWppTkNPT1RqOGlBRUYyZDVhUnhKVmx0ZnNZZEFteDkwSjJSUkdLRmJLT0hrcW54T2UrNVV6RkpwamdHb3dUZWZHb1VsZTMrLzMxWVdkcWhTK0czcGtKOE1pWjlhaFUzUm5yQk5kK2tJZ2tPSko3dFNPR1IwUkVSSjJJUkNMcDZDRVFFVkVIWUlqWUFnT2RmT0ZzcG52ajU3WXl4aVVJbnBaT0FGb1dwbmhhT3VHdDBGbHdzN0RIR0pjZ3ZIanBXNVMwYzJCbUlqYkJ5Z0dQQ084N3c2elN3VTU5TU05N0ZQeHRldUprZmp3K2lqZHMveFJqc3pJeFJ4OXJWNVJVeTVFcEwrelFzZFRGNTk1d1lwRUlEL1Vham1tZWcyQnZhZ1ZQUzJkOGszcThYZTV0S0tWYXBmVmVoRHQvQVRYRXlRK0xBKytGUkNSR1h6dDNiRTQrZ3VwNjdZbUlpSWlJaUtoN2EvbkdJTlFxVGM0UGJTUDVWV1ZRYTlRQUFIdFRLN3pZOS80T0dVZG40MkJxRFgrYm5nQ0FzUzVCQ0hQbzNXNzN0akl4UjZpOUYyYjBHb0tYZzZaaDA1Q244TVBJNS9GZS83bVk3VFdpM2NiUlh1NjI1MTZ0MGNEWHhnWDJwalY3S0UzM0hBd2ZhNWQydXJ0aGxKcDZJV0tkV2V6bUVoTm9iaTl1anVqWkgrLzNueWQ4SmlJaUlpSWlJcm83TUVUc0FJNW0xdmhnNEdPWTVCYldydmRWcUpYWWtMQmZDQU1HT0hqamdWNUQyblVNbmRIUjNLdElLcjhsdkYvb085Nm9JWk9GeEJRKzFpNFkwU01BRC9ZYWhuOEZUTUh5c0RuWVBPeFpJVEJjNkRzQlkxeUM0RzdwS054N2lMTWZUTVhkWjZuSTNmcmNiMGsrSml3TEZvdEVlTlkvb2xPRzkvVm5Gb3JyalBKMC9nMHN2eFlKdVVvQkFBaTBkY2VhOEVmaFllbllybU1rSWlJaUlpS2lqc01Rc1oyNVd6cGk5WUQ1OExOeHcrTEFlekMzZC90dWVoMWZsb1dvN012Qyt6bTlSOEhhcFBsS2JkMlpCc0NXbEdQQyt6NDJiaGpyR215VXZ1LzNHSWlmUmkzQnVrRlA0TFhnR1hqY2R4d2lldlpIbUVOdjlEQzNiUkFtbFZiTGNiazREWkVaNTdBeFliL1drdEt1N0c1Kzdnc1ZVa1JtbkJQZUI5bDVZS0piYUx2YzJ4QXFqUnJxT25XMkpDTHRmenhjTGJtSmYxLzVHV1hWRlFBQU53dDdyT2ovQ0N3bFp1MDZUaUlpSWlJaUl1b1kzQk94anFWOXAyS2NnZUZSY3hWRTYrNzU1MmZqaHJkQ1p3bkxBRlVhTllvVTVZWVB0SlcrVHp1Qm9jNStrQ3NWV0hkakwyVEtxbllmUTF2WVBucXAwV2J1TGUwN0ZVdjdUbTNSdFhWLzVwZDFGUEZRcUpVd0U5ZjgrcFVvWkZpZkVJVTBXWDZUZS9XMXRscXRydjBuK2R5M3ZWMVpGM0NQK3dEME1MY0ZBTnpyUGdCSGM2KzEyLzMxcFZBcllTRXhCWUJHZjVkU1pYbjR6OVZ0V0I0MkI3YW1Wdmc2OVJncWJzOU9KQ0lpSWlJaW91Nk5JV0k3NmUvUUc2LzNteW5NMnBFcHE3QTJiaGRpU200YTdSNEdoMHptd01lREZ1clY5RVJlSE5iZDJHZjRvTzV5MlJYRk9KSjdEWEpsRlc1VmxpQ25vaGhaRmNYSXJ5ekZqdHMvTDVtcVNtZlkyTlh4dWE5UnJWYml4N1JUbU9jOUNyOW1uT3VVQVNJQUtOVFZRb2hvSW1vOGtFK1hGZUN0bU8wSXNPMkpFM2x4N1RrOElpSWlJaUlpNmtBTUVlczRWNWlJdktyU1p0dE45UmdraENLL1pweHR0djFZbHlDODBQYys0VC9LY3l0TDhYN3NqazVWZWRkUVlwRUlHd1kvYWZCMTlaZm5manBra2NGOVZLbXE4WEwwOTAyMnlhb29NcmpmMXFpdEh0eVlUeFAyRy9WZUdnRFplbjQrRDB1blpoZEU4N2x2M3FvQmp5REl6dE1vZmYwcllBcitGVENsVlgwOGVQSy9tT2dhZ2xtOWh4dGxUTFdzVFN5RTErK0V6VzVRYktYQk9MeUdhYjFmZkdHTFVjZERSRVJFUkVSRW5RZER4RHJPRkNUZ1RFRkNzKzBtdW9VS1ljcld0Rk02MjBsRVlpenFNeEhUUFFjTHgrTExzckRxK2k2VVZjdDFYbGRidEtBcDlXZGYvZXZDLzVvTXp1cUdYS1hWY2tpVmxVMzJYMStSUXFyMVhnUlJrOEdadmxyU1IyMlJpcWEwZDVqUjJxWEdobENxVlhwL1BuMldlUE81MTYzK2M5K1oySmhhR09WM1VCYzNDL3MyNjV1SWlJaUlpSWk2SG9hSWJjVFozQmF2QmsxSFh6c1A0ZGkrN0V2NE91VTRWQnAxbTl4VFY3QTBwV2QvL1BQMnpLZnk2Z3E4ZE9tN1RoMk90SWN3aDk1SWtlWTJ1eStlajdVTHF0Uks1RlFVdDlQSXVyYnUrdHpuVlpiQjF0U3kyWGJ1Rm80UWkycm1mdVpYbFVHaFZyYm9ma1JFUkVSRVJFU2REVVBFTmpEQXdSc3ZCVTJGM2UxQ0VsWHFhbXhLUEtqMy9tR2wxWEljeUxuUzRQamYzRUtGV1dYMXo4dVVqUmMzY0RHM3c4SStFNFQzR3hNUDZBeFNndXc4NFczZEE0ZHZYVFU0OE5GVnRLTStUeXNuZkRxNFpnbHpvVUtLcDg5OXJ0ZDFGaEpUL0RScWlVRmphb3lOaVFVVzlobVBTVzVoT0ZPUWdBL2lkamQ1ejlmNnpZQ2JoVDNPNUNkZ1IrWTVwRWp6V2oyRzdxbzdQL2Y2N292NHc4am5oYXJQLzQzYmc0VHlITDJ1YTRrOVdSZXhKK3VpVWZzYzZ4S0VsNEttQVFCTzVjZmp3L2k5UnUyZmlJaUlpSWlJdWk2R2lFWWtBakM3OTBqTTh4NGw3UDJYVTFHTTFYRzdjRk5Xb0hjL3VaV2wrRHpwa05ZeFZ3dDczT00rUUhoZi83eXU4VHdmZUsrd0JQVkF6aFdjSzB4cXRLMUVKTWEvQXFiQXk4b1pzN3lHNDVPRS9iaHF4T0lYdFp6TWJJVFhUVlVpYm9rOVdSY2cwVkVNUWdRUi91WVdpZ1UrWStGZ1ZoTnlqZW9SaU1rOXczRDQxdFZHcjVuVGV5UjZXamdBQUVhNzlNVm9sNzZJTGs1RlpNWTV4SlptYXJYVjlmTjQxR2RNcytPMk03SFUyYTYwV282OVdaZWE3YU1qOGJtL283WW9DYURmc3Z2T1JsNm4wbkx0OTBkRVJFUkVSRVFFTUVURVExN0Q4WmpQMkJaZjM5eGVlTzZXamxpdlp5VllRUGVNdm9HT1BnYU1xc2JNWHNNUTV0QWJBSkFoTDhTV2xHTTYyODd3SEFJdksyY0FnSzJKSmJMYmFQbXVvNW0xOE5yWUllTDNhU2NiUFI1aTc0VkZmU2FnajQyYmNFd0REUTdteE9nTWx3QmcrODAvVVZaZGdabTloc0wrOXV5NmdZNitHT2pvaTdpeUxQeVlkZ3JYU2pNQU5Kd2hWK3RocnhITmp0dlcxRkpudTZ5S29qWUpFZm5jMXpEbWN5OFJpU0VSaVlYM0ZhckdaMGwyWm5XWDkxdmRubEZKUkVSRVJFUkVCREJFN0RMQ0hYd01hdC9mb1RjVzNBNkpLbFFLckxtK1MrZitiRjVXenBqalBWSjQvMlA2S1JSV2xiZDRyRTN4c1hZUlh1ZFZsYlhKUFdvRjJycGp2dmNZREhEMDFqb2VYNWFGemNsSHRKWW1UM0lMeFJUM0FjaVNGeUZabW90OTJaZFFxYXJHYjVsL0lTcjdNdTV4SDRCWlhzT0VwYnJCZHA1NHIvOWNYQ2xPeDliMFUwaHN3MldyZDdPdTlOelhuN2tuVnpXOTMyWm5WSGZNVmhLR2lFUkVSRVJFUkhUSFhSOGlKcFhudEhpbWw1dWxQWVk2K1drZHV5a3ZRRXl4Y1pjQlcwaE1FVzdBakN3WGN6dThIRFFkWXBFSUdnRHJiL3l1czRLdG1kZ0Vyd1JQaDdtNFpobG1RbmtPOW1XMzNmTFpQdFozWmdPbVNIUGI1QjVoRHIzeFlLK2hHT2pvcTNVOHI3SVUzNmVkeEtuOGVLM2pZMXlDOEZ6Z1BSQkJoRUJiZDlpYldTRXFKeHBxalFaQXpkNSt1N011NE9DdEs1am1NUmd6ZWcyQmpZa0ZBR0NBb3pjR09IcmpmR0V5Zmt3L2lmUjZ5M2QxemJCYkcvNG9BbXpkQWRUTU5tenZhdEo4N28zLzNGdlhtYm1uQVNEWHNWOWpaeWF0dmxPOTJzcUV5NW1KaUlpSWlJam9qcnMrUkl3cHVZa1lBL2RBRTR0RWVNQnpDQ0xjdzRSakdtaXdLL01DZmt3L2hXcTF5cWhqSE9FY29MWFhXaTJKU055Z0VJUzlxUlgrSGZJUTdHNVhrbzNNT050Z3lhNjUyQlJXSm1hd05ySEFRNzJHb2JkVkR3QTFTeGsvak44cmhHZkdaaUV4UmJDOXAvRGUyRVZLUXV4NzRjaytFK0ZYWjlreVVQTzVJalBPWVcvMnhRWS9tNGllWWZpSC94UmhMejhBR09Ub2k5ZUNaK0tqK0wyb1V0L1oxNjVTVlkxZk04NGlLaWNhRDN1TndGU1BnVEFWMS93S0RYUDJ3MUJuUDd3Uy9YMno0V2h2cXg1Q2dOaFIrTndiLzdtdlAzUHZreUZQdHFxL1dxdXY3MEttdk5Bb2ZUV250Rm9PRFRRUVFRUUhVK3ZtTHlBaUlpSWlJcUs3eGwwZklockt4OW9GaXdQdjFRcXFNdVdGK0RUeEFHNlVaYmZKUFNlNmhUWTQ5cERYY0F4MzlzZksySjBvclpZRHFOay83aC8rRVhDMXNBZFFNeHVxbjEwdmZEandjVmlibU1OU1lnWnJFM090ZmR2cTJwUjRBSG1WcFczeUdRQmdpSk1mek1SM0hybEZmU2JndjNGN1VISjcvSzJWWDFVdUZFSUJBSVZhaWIzWmw3QXo0enlreWtxdHRyWEZRQjd4SGkwY081RVhoeEFITHppYjJXQ1lzeDlXaFQrQ05kZDNJYmZlZHlKVFZ1SGIxRCt3TC9zU0h2VVppL0d1L1NBQ2NDYi9obDZ6S3lmMURHdTJUV2ZENTc1NXRxWVd3bXNSQUU5THAxYjNDUUJLSTRlelRWRnAxQ2hWVk1EQnpBcW1ZZ2xzVEN3YS9PNFFFUkVSRVJIUjNZa2hvcDVzVEN3d3ozc1U3blVQMXdvalpNb3FYQ2hLd1JDblBoamkxS2RGZlo4dFNFU3lqdkRKemNJZVlRNWVBR3Btd3RYT3pLb3RpckUyL0ZHOEg3c0RHZkpDakhZSkVvSVVvQ2JJNkdmZlM2OHg3TWc0aHpNRkNWckhJbnFHNFkrOE9KMTd5aGxDQk9BaHIyRmF4MExzdmZEaG9NZXhObTYzVVlLb3ZNcFNmSjF5RE0vNFQ4S0JuQ3ZZbWZsWG84VmJMQ1ZtZUtIdmZSamhIQ0FjMjVGNUh0K25ub0NiaFQzZURac0ROd3Q3K0ZxNzRzT0JqMk5UNGtHY0tialJvSitDcW5Lc3YvRTdvcktqTWRkN0ZEWW5IMmwyaktaaUUweHc3ZGZJY1FuY0xSeHhVNjUvTmVQMndPZGVmdzVtYlROelQ5NU1nWmJtaXR6b1kwdktNZXpKdWdnQUtLNldDaFhNbmN4dEdDSVNFUkVSRVJFUkFJYUl6WktJeExqWFBSenp2RWNKKytEVlpXMWlqcG05aHJicUhubVZwVHJEbEJtOWhrSUVFVktrZVRDWG1BaXptL1ptWGNJMHowRnd0YkRIeWdHUFlFWHNEdnh5ODA5TWNPMm5GZmFvTkdvVUsyUW9Va2hSVkNWRmtVSUtiMnNYaE5RSldjNFVKT0NIZXBXTjcvY1lpR2Y4SnVIQlhzUHhTVUlVNHNxeVd2VVovK1lXQmw5clYrRjlwcndRdmF5YzRXUm1neFg5NStHcjVLT0l5cm5jcW5zQXdOSGNhL2lyS0JsbDFSV05udmUzN1ltWCtrNkZ1NlVqZ0pybHVOK2svSUhkV1JjQUFMbVZwVmgyNVNjc0Mza1Fmalp1c0RZeHg2dkIwM0VxUHdDYms0ODAybTlDZVE3ZXV4YXAxL2dtdTRVS1MyNXJtWWdrZURYNEFZVGFlMkhWOWQ5dzFjQmx4bTJCejczaHo3Mkx1WjN3K3EraVpLeU0zYW4zdFhWNVdqcmgweUdMaFBkeVpmc1dhQ21vS2hkK1Y1M01iSEJUMXJtQ2JTSWlJaUlpSXVvWURCRjFFQUVZMFNNUTg3MUhvNWVWYzRlTXdjSFVDcE52TCtrOGxSK1BTVDN2TE8vOEt1VW9xalZLUE5ockdHeE1MUEJPMkd5c2pOMkpyNUtQUWcwTjBtWDV1RlZaaWxKRnpSNW50Y2E1QnVNZTl3SEMrK3VsbVZoLzQzZlUzUTNPMTlvVkMzMG5BQURjTFIwdzNyVmZxMExFWGxiT2VOcnZiOEw3aTBVcFdCTzNHMHY3M28rUlBRSWhFWW54ZC8vSjhMRnh4WmRKaHh2c2QyY0lEZEJvMENjUmlUSExhemptOUI0cGhFMFZLZ1UraXQrSEMwWEpXbTJMRkZLOGNlVW4vTU4vTXY1Misvc2Y0eEtFY0VjZi9KeCtCdnR6THJkb2pHS1JDRE51QjI4bENwa3djODNWd2g1dXQyZlN2UlV5Qyt0dTdNT2Y5V2JIdFJjKzl4TUF0T3k1cnhzaTVsYTBmSG0wVlowQ0xkVnFKWlNhcHBjejZ5b2VBMmd2cWM2dUtOYjZUdXFxVzFBbHA2SkVlTzF1NFlEV1IvdEVSRVJFUkVUVUhUQkViTVJ3WjMvTTh4NE5IMnNYNFpnR3dMSGNhMGdxdjRXLyswOEdBT3pNUEkvdlVrKzAyVGltOXhvQ1U3RUoxQm9OVHViSGFZVXBBUEJkNmdtWWlrd3d6WE1RY2lwS2NGTmUyR1N4akh2ZHcvRjMvOGxDQ1pINHNpeThGeHVwdFd6VHhzUUNyd1pQaDZsWUFnQklsdWJpcTVTakxmNE16bVkyZUtQZlRHRTVhcVdxR3B1VGo2QmFyY1FIY2J1eHNNOEVQT0E1QkFBd3BXZC9lRms1WTgzMVhjSitkOFlRYk9lSmZ3Wk1nVmVkVUN5cm9naHJyKy9XdVh5NFdxM0VKd243RVYrV2pVVjlKc0pDWWdvYkV3czg3ZmMzVFBVWWlPMDMvOFNKL0RpRGluR003dEZYQ0FzUDNvckJuTjRqQVFEWkZVV0lLYm1KKzl6RFlTcVc0TlhnNmRpWWNBQkhjcSsxNGxNYmpzOTk2NTc3dXZ0RjNxb3NhYUpsMCtwV1JaYnBNUXV4cWNyZWRaYzZ2eHo5SFNwVjFUcmIxc3F1RTBwNldobG5YMGNpSWlJaUlpTHEraGdpM2lhQ0NDTjZCT0JocitIb1U2KzZiNUwwRmpZbkhVRkNlUTQrQ0Y4QW9HYTU1TDZzUzIwMkhoZHpPMHp6R0FRQXVGQ1Vnb0txOGtiYmJVazVpa0pGT1E3ZGl0RVpPRWhFWWp6Wlp3S20zdTRQQU9MTHNySDhXcVJXcUNBUmlmRi93UThJUzMybHlrcXNqZHZkNHFxN2JoYjJXQjQyUjJ1L3VpK1REZ3VGU2pRQXZrNDVqaUtGRkUvNFRvQUlOWUhmbXR2NzNiVzJJcTJMdVIwZTh4MkhNUzVCZFdvdjF5eDUzcHg4Uks5QTVkQ3RHRndwU2NmaWdIc1E1dEFiQU9CdTZZZ2xmZS9IWE85UmlNcStqS081MTVyZE44NUVKTUY4bnpFQWFwNmRnemxYaEJBUkFEWW5IWWFwU0lMSlBjTWdnZ2pQQmQ0THNVaU1RN2RpRFAvZ0J1QnpiNXpuM2x4c0NsK2JPOHYxMDJRdHJ6eHVYYWZLYzBmc1I1aGRVU3k4OWpCU2NSZ2lJaUlpSWlMcSt1NzZFTkZDWW9wSmJtR1k3amxZbUNWV3E2eTZBaitrbmNUaFcxZWhnUVpoRHIzaGI5c1RRRTBsMzBLRnRNM0c5WVR2ZUtHUzhmNmNhSjN0TkFCK3kveEw1M2tuTXh1OEdqd2RRWGFld3JGemhVbjRLSDV2ZzhJUi8vQ1BFSUl5RFlDUGIvemU0cXExdzV6OXNUamdIdGpXMmY5dlI4WTVITXVMYmRCMlYrWUZsQ3JrV0J4NEx5UWlNZHdzN0xGNndIeXNpZHZWb3YwQkhVeXQ4S0RYTU56blBsQ1lXUVlBWmRWeWZKbDhCS2Z6R3haSmFVcGVaU25ldnJvZGszcUc0Vkh2c1VMUmlaNFdEbml5endRODZqTUc1d3VUY0RJL0h0SEZxWTJHVC9kN0RCUXFSNS9PdjlIZzJkRUEySlI0RUdaaUU0eHpEWVlJd0Q4RHBrQWlFbU8vRWZhS3JJL1AvUjNHZU83NzJmY1Nsc2xYcTFWSUtNOHg2UHE2ck92c1FhblBURVJqUzVmbEM2L3J6a29sSWlJaUlpS2l1OXRkSFNKNldqcGhUZmlqc0s2ekJ4bFFzK1EyS2ljYU96TE9hODBFbXRLenYvRGFYR0tLeDN6SHRlaStmK1JkYjdKWVFULzdYaGp0MGhjQWtDTE53K1hpdEJiZFo2aVRILzRWY0k4UWVnRkFWSFkwTmljZmJiQTMybU0rWXpHNVo1ancvcWYwVTdoWWxHTHdQUzBsWm5qQ2Q3elcvbk1Bc0R2cklyNnZWOFNpcnVONTF5RlhWZUdWb0FkZ0twYkEyc1FjYjRjK2pJOXYvSTVUK2ZGNjNkdlozQllQZUE3QnZlNERoQ0NxMWg5NTEvRlZ5akdVNnlpNDBod05nTU8zcnVKMC9nM004aHFPQnp3SHcvVDJQY3pFSmhqakVvUXhMa0dvVkZYald1bE43TTIraEN2RjZRQnFsc3JPN2ozaWRqOGFiTS80VThjOU5OaVFFQVY3TXlzTWNQQ0dDTnBMWkkyRnovMGR4bnJ1eDdzR0M2OFR5M05hUEhzWGdOYlBwU05tSXBaVlZ5QzNzaFJ1RnZad05MT0dpN2tkOHF2SzJuMGNSRVJFUkVSRTFMbmMxU0ZpVmtVUnJwU2tZVlNQbXVDaVVsV04zM09pc1N2enIwYUxjMWhLN3V4Vk5xcEhZSXZ2KzFkaGNwUG54WFVXMzI2N2VWcEhLUVRkYkUwdDhYU2Z2MkZjbldDaldxM0VGMGxIY0NUM2FvUDI4N3hINFNHdjRjTDd2Vm1YOE12TnN3YmRVeXdTWWJKYkdPYjdqSUc5Nlozd1JnTU52a3M5MGVTc3NWcm5DNU94OHZwT3ZORnZKc3pFSnBDSXhIZ3BhQ3BzVFMxeHJJbjlBZnZZdUdKbXIyRVlkYnRJUzJQR3UvYkRlTmQrQm4wbWZhZzFHb2hGZDM1ZUZoSlRESFQwMVFwTUYvbE5GQ29jbjg2L2dTeTU3a0lZS28wYWE2N3Z3b29CODNCVFZvQk5pUWVOUG1ZKzl6V004ZHdETlQvejRjNEJ3dnMvQzF0WEZLZnU3TjB5WmN0Qzc5WktMTThSWnFqMnRmTkFmajVEUkNJaUlpSWlvcnZkWFIwaUFzRG01S1BvYStlSlAzSmo4VnZXaFJiUFZETkVjN042cnBWbUlLZWlHRVVLR2M0M0U3elVKVUpOV0xhd3p3U3RJQytub2dScjQzWWhyYzR5eFZwemU0L0MzTjZqaFBkSGNxOWhTd3NLcWR6blBsQ3JBak5RczN6NG94djdoQmw1K3JoY25JYjNZM2ZnM3lFUHdVeHNBaEZFelM2cDdHWGxqTEV1UVZySHlxc3I4RnZXQlR6bU0xYi9EMkdnYXJVS3oxL2NnaG1lUS9DM25xRXdGOWNVanpsNEswYVljVGZFeVE4VFhVT0U5ajgwTVJ1elZvVktnYmV2L2dLWnNsSm5OZDNXNG5Odm5PY2VBS1o2REJJS0I2azBhcHpNMDIvbXJDNzJkVUxFOHVyMm40a0kxRlN2SG5QN2R5clUza3Z2MmNCRVJFUkVSRVRVZmQzMUlXS0pRb2Evbi85Q3J5cTc3OGZ1YU5FOXhDSVJ0bzllQ29sSURLVkdoYUtxNXZlVU81WVhpejhMRXZXK1I1aERieXowbllBK2RZbzdhQUFjekxtQ2IxS1BOeWdpSWhhSjhLeC9oTlpTMVRNRkNkaVVlS0JGc2RYdjJaY1E1dEFidzUzOWhiNitTRHFNc2haVVdiNWFjaE1yWTNmaXpaQUhjVEkvSHA4bkhvVDU3WkNtTVNmeTR2QTMxMUFNY1BSR3NVS0dmZG1YOEh0Mk5DcFVDaUZFMUVDNzZteHJlTllwTnBGYldZb3ZrNDlnYS9vcGpIUHRoNG11L1JDWmNRNEFZQ1V4d3o4RElvUzJlN0l2Q2tWbG10UFdvUjZmZStNODk1WVNNOHpzTlZSNGY3RW9wZFdWeGUzcUJLSGxScXhTYm9oTHhhbkM2NkhPZnZnaTZaRE83NmVmZlM5VXFoUklrYmE4bUF3UkVSRVJFUkYxZm5kOWlBaEFyeUNsTlZ6TjdZVmx0dm1WWlhyTkxvdk1PS2YzdU81eEg0Qi8rRWRvSGN1dktzT25DZnNSMDBoaEVndUpLVjRPbW9ZaFRuNWF4NC9ueHJiNHU5QUEySkFRaFplRHBtRnZTaWd1S2dBQUlBQkpSRUZVMWlWRTF3a2hXdUpLU1RwZXUvd2owbVQ1ZW9VNzM2UWVoMCtlQzA3bXgwT2xVVGM0cjFTcnNQakNsbGFOcWRiT3NhODBPQ1pUVmlFcU94cFIyWGVLZ1ZScjFEQVYxUlIyS1ZKSThXc0xsc3EySlQ3M05WcnozRC9xTTBaWXFnNmdSY3VoNjNNMHRSWmVsN2JERE5IRzVGYVdJa3RlQkU4ckp6aVoyU0RBMWwxbnNaaUludjB4d2JVZmNpdExzVEh4UUl1S0lSRVJFUkVSRVZIbjEvZ0djbVJVdmF5Y2hkZTNLa3YwdXNhUVVPTmdUZ3lPNTEwSFVMTUgzQzgzeitMNUMxODNHcVQwdHVxQi80WS8xaUJJQVlEWCs4M0VkTS9CZXQrM1BybXlDdTlkaTJ4MWdGZ3JWWmFuOTNMZU5GaytqdWRkYnpSQTdDalZhaVVPM1lvQkFIeVdlQWdWS2tVSGo2aDlkZmZuUHRUZUMvZDdEQkxlLzFXVWpDVHBMWVA3cWMvQjdFNkkySktadlBxUWlNVG9hZUdBZ1k2K21Pb3hDRS83L1ExTCswN1Zhbk95emhMbWlEb3pOK3VyM1R2UnpjSWU2azcwKzBkRVJFUkVSRVRHeFptSTdjRGJ1b2Z3T3J1aTJPajlhNkRCaGh0UnlKQVg0blIrdk00bHN4TmMrK0ZaL3doaC96WU5nTzAzejhEYnlnVWplZ1JBTEJKaFVaK0o2RzNWQTE4a0hZWlMwL0lLczFUandLMFlPSnJaNEVLUi9udjhkUmZkK2JsM05MUEdrcjczQzZWZ0ZHb2x2azQ1M3VyUFpDcVd3TW5NUm5oZjBvb1EwYUxlRmdDTCtreEVEM05iOUxSd2hLdUZYWU1pUlBXL3Z5TzVWekduOTBpSVJTS01kKzJIcldrbkd4MlBwNldqOERxOWllcmJSRVJFUkVSRTFMVXhSR3dId1hhZXd1c01lV0diM0VNRERYYmMzb3V2UGljekd6enJQeG5EYnU5WENOUlU1UDM0eGo2Y0sweUNXQ1RDUC93amhObEdrM3VHd2NQU0VXdmlkcmZaVENoRGllcFU3dTFLOG00djhUUW1VN0drMFNYVm5VMTNmZTR0SktiNGQ4aEQ2R0Z1S3h6Ym1uWVNPVVlJU3Z2Wjk5S3E5cDFmcWJzWWpVUWtocXVGUFZ6TjdlQnFZWGY3dFQxNldqckF6Y0plcThnTTBQUnNRZ0FOWnZFV1ZKWGpmR0VTUnZRSWdLbFlnbm5lby9GNTBpR3RObzVtMXNJZWpyY3FTeUJWZGt3aEdDSWlJaUlpSW1wN0RCSGJtSmVWTXdZNitncnZFOG9hMzFlc0xZZ2dRa1RQTUR6dU94N1dKdWJDOFF4NUlmNGJ0d2MzNVRXemh0UWFEVFlsSGtSWmRRVm1lUTBIVUJObXJBbWZqL2V1UmJiSkxESkR1VmpZQ2ErNzJwTEp6clRFdXIxMDErZmVRbUtLWmYwZVJCOGJOK0ZZZEhFYTltUmRNc3E0WjN1TkVONFhWcFdqU0tHN0dJMm5sUlBXRDFwbzhIMDAwS0NncWh5M0trcVFVMW1DbklwaTNLb29RVVpGdzZCM2Evb3BESFAyaDFna3doVDNBVGhUY0VOcnVYaWdyYnZ3dWoxL3hrUkVSRVJFUk5UK0dDSzJRSmhEYjVpSlRTQlRWa0ttcklKTVdRV0ZXZ21sUmdXVlJnMmxXZzA3VTBzTWNQVEc0NzdqaFpsRmhRb3AwbVQ1N1RMR2dZNitlTUozdk5hU1VnMkFmVm1YOEYzYUNWU3JsUTJ1K1NIdEpFcXI1WGl5ejBTSUFQUzBjTUNhOEVleCt2cHZpQzNOYk5QeHVscll3ODdFRXVYS0NzaFZDbFFvRmNLeVVrY3phenpoTzE1bzI5cnF0MTJkSVpXbVBTeWRqRGFIODI1LzdtMU5MZkdma0Zud3QrMHBITHNwTDhCLzQzWTN1WGZuV0pjZ2VGZzZJYitxREVVS0tVb1VNcFJYVjBDbXFrSzFXZ1VSUlBDMjdvRkh2RWNqeE41THVLNjVLdFVac2dKSWxaVmFoVjNxZnVZaWhSVFo4aUprVnhUalZtVUpzaXVLYXdMRHloSlVxL1hicWlCVFhvaW9uR2hNOVJnRUVZRFhnbWRnZVd3a2JwUmxBNmlwM0Z6cmVsbmIvaGxCUkVSRVJFUkVIWXNoWWdzTWN2VEZ6RjVERGI1dVo4WjV2UXVGdE5RQVIyL002alVjWVE2OXRZN3JXemwxVDlaRnlKVUtQQmM0QlNLSVlHTmlnWGZDWnVPVGhQMDRrUmZYWnVNT3N2Tm9VTmhCcFZGRHJWSERWS3o5bURaV09LTTVYV1VKc0Q0TXFUUzlmZlJTbUlvbFJybnYzZnpjKzl2MnhLdEIwK0Y2dTRnSVVGTUpla1hzVHNpYktaamphR2FOZWQ2akRQbzhNbVVWZnN2NnE4azJHZ0NYaWxMaFllbUlySXFhc0RDcm9nalo4bUprVnhTalNsMXQwRDExK1RiMUR3VFplY0xQeGcxV0p1WjROMncyZnIxNUZoV3Fha3h3RFJIYXhaU2tHK1YrUkVSRVJOUThxVlNLQng5OEVOdTJiWU9UazFOSEQ2ZE4zYng1RXpFeE1aZzJiVnF6YlNNaUl1RGw1WVV0Vy9UNzd5VWlNZ3hEeEJhSUtVazNPRXc1bGhlTDM3T2oyMmhFTmNzSy94RVFBVjlyVjYzalZlcHFSR2FjdzIrWmYrazkrK2hJN2xVbzFOVlkwdmQrU0VSaW1JZ2s4TFYyeFFtMFhZaVlXTjZ3cXExRUpHNVEvS0c4dWdLUk92YkFvN1oxdHo3M1VzZEt2QkV5RXlhaU8yRnNwcndRNzF6N0ZZVlY1YzMybXk0M3JOaUlYS1hBQjNHNzllcDczWTE5QnZYZEV0VnFGZDZQM1lHM1F4K0dqN1VMek1XbWVOUm5yRmFieFBJYzVGVG9WNEdiaUlpSXFEdkt6czZHaDRkSGg5MWZxVlFpSjBkN2V4bDNkM2ZrNWVWQnBXcjgzNGU5dkx4UVVWR0JCeDU0d0Noak9IVG96djdaWjgrZVJYRnhNZTY3Nzc0RzdYYnMyS0d6ajc1OSt5SWtKRVRyMktaTm0zRHg0a1VvbFVyTW5EblRLR01sb3BaaGlOZ0NTZEpjNUZXV3dsUnNBbE94QkNZaUNVekZFb2hGSXFFQWlBYUF0TG9DaWRKYk9IUXJCbWViV1pyWVdwbnlRcTNpSXlxTkdpZnk0dkJqK2lrVTZCRkcxSGN5UHg3VmFoVmVEcDZHbzdteCtEYjFEMk1PdDRHOHlsSklsWlV3RjV0QUlwSm9GWmZRQUNoVnlIQzVKQjAvcDU5R2ZwWHVZaE82R0xJRXVEbWVsdDM3Yi9wMHVWdWZlek94Q1pMS2N4RmtWL012aFZkTGJ1Sy84WHRRVmwyaDN4aGxoVWlUNWNQYXhCeVdFak5ZU0V5MUFzbGF1WldsdUZDVWpGMlpGMXIwakxlbEVvVU1iMTc1Q1l2OEptS1NXNWpXdVVwVk5iNU1QdEpCSXlNaUlpTHFHQnFOQmpkdTNNQ1pNMmZ3NTU5L0lpMHRUU3RFYTI4NU9UbFl0R2dSTEN4cXRycXByS3pFbGkxYjhNWWJieUEzTjdmUmF3NGRPZ1FMQzR0R1orMGRPSEFBMjdadDB6clgyTEhHYURRYVJFWkc0c3FWSzZpcXFtb1EvSDMyMldjNnI1MDdkMjZERVBHMTExN0Q4ODgvajAyYk5zSE16QXozMzM5L2svY25vcmJERUxFRnlxc3I4T3hmbTNXZXJ3azEybm9CcHphNVNvSDNyMFZpZGZpanVGS1NobDl1bmtWdVpXbXIranhibUlqWExtOUZxclRoZm5acWpRYm5DNU5hMVg5ZEtvMGFqLzM1cWRZeEVVUVFpMFJRYTlTdC9pNE5XUUxjbkk1YUZ2M0UyWTBBWU5CMzhkVDV6NDIySitMZCt0d3IxRXFzaU4yQjFRUG00M1RCRGZ5Y2ZzYWdUMW1va0dMcHBXKzFqb2xGSXBpSlRZUXdzVUtsNlBRRmVPUXFCVDVOT0lDZG1YOWhWSTlBdUpqYm8xZ2h4ZEhjYTYzK3pvbUlpSWk2bW5uejVxR295RGlURkl4cHo1NDlBR3FXOVFMQWhnMGJVUEwvN04xM1hGTjMrei8rVndna0JCTDJWSEdnT0l1TFNwMTExRnB0blIyM2JlMUhyWFZWNjY1YVYyMnRlbGN0S2xxdHRmZk5MYmhyMWY1Y3JWb1ZRZThxN29WVVZEWUlLQkoySUNIZlAvamwzSVFrRUpGUjhQVjhQSGlZblBNKzU3eURTc2gxcnZkMVpXYkMyOXNic2JHeG1EUnBFbzRmUHk2TUY0bEU4UEx5TWppUHZYMUpHWi9TKzR4dE0wWWtFbUhac21WWXNHQUJObTNhQkFzTEN5SGJzYmk0NUhmZUR6NzRBT1BHamRNN1RqZm5zaHdkSGJGaXhRcE1tellONjlldmg0K1BEM3g4Zk1xZEF4RlZEd1lScTBGMWhWRXFDb0k5S2N6QjVFcy9WV2t3NG1GT210SHRXbWp4ejhoZnErdzZwcTZoMFQ3ZjkzSnYvSDhCVkcySDVLbzY1NG83QndFQUJSWFUxTk14Ti9PdHRPeEtIRk5aOWZuZmZZNjZBRE92Qmd2TmZwNVhzVmFMQWswUmdLcXBXMWlUa3ZJeXNDLytRbTFQZzRpSWlLaFd5ZVZ5dlBubW0ralZxeGRtekppQmdvS0NHcmx1ZG5ZMk1qTXprWmRYMG13eU9Ua1p1Ym01SnNlZk9uVUt0Mjdkd3JKbHk2QlNxU0NSU0F6RzVPYm1HZ1JFbGNxU204UUpDUW5sYnRNcEcxaVV5V1Q0NXB0dk1ILytmSWpGLzF1RkV4OWZVcXZjd2NHaDNOZFpWcE1tVGZENTU1OGpLeXVMQVVTaVdzUWdZajN6ZDg5bXFtbDc0djc3dHozbjVZd0hWWEllcXBsLzkxVVZRQ1FpSWlLaXV1L2YvLzUzclZ6Mzk5OS94OWF0VzRYbnMyYk5BZ0JoaVhIWkFKOVNxUlF5Q0VzL0x1MzgrZk5ZczJhTjBldVZ6UlkwdGMzWVVtNkZRb0ZObXpaQjlQK1hxdEpxdFFnSkNRRUFkT3pZMFdDOFNDUkNhbW9xaW91TFlXRmhZYkQvMVZkZk5UcEhJcW81RENJU0VSRVJFUkVSMVFIdnZmY2UzbnZ2UGZ6KysrOElDQWdRdWpQcmdvZGxBM3haV1ZsQzREQTFOUlh1N3U0bXozM3c0RUhJNVhJQXdMNTkrN0IxNjFhOTRLQ3hiUWNPSE5DcmNaaVhsNmVYbFdscmF3dXBWSXJjM0Z4czNMZ1I0ZUhoNk4yN043eTl2UTJ1MzZwVks0U0doaUkwTkJRQTRPZm5od1VMRnFDdzhIOHJ0MnhzYkdCcmExdmg5NG1JcWdlRGlFUkVSRVJFUkVSMXlOV3JWNDF1MXdYNGRQVUZsVW9sR2pWcUJBQ0lqbzVHaXhZdHFuVmUyN1p0dzhHREI0WG5zMmZQeHNDQkEvSEZGMThnS2lvS25UcDF3dXpaczQwZXUyTEZDcHc3ZDA1WW50MmtTUk1zWHJ3WVVWRlJ3cGdSSTBaZ3lwUXB5TWpJd01pUkk0MmVKeUVod1dSOXhkcHNma05VSHpDSVNFUkVSRVJFUkZSSHFOVnFYTGx5QlFDd2VQRmlUSjgrM1dSMm5sS3BoSzJ0TFZRcUZTNWV2SWdaTTJZSW1YMVdWbGJDVW1NQVNFcEtnbzJOalhBY1VIRk54TXpNVEwzckRSbzBDQjA2ZEVCdWJxNndSRm9rRW1IZXZIbTRkdTBhaGd3Wm9uZk4wdXpzN0F3Nkw5dmEyaUk3T3hzQXNHVEpFcjN0TTJiTU1EaEhZR0FnSEIwZE1YcjBhS1BYSUtMbnd5QWlFUkVSRVJFUlVSMXgrZkpsZUhsNTRjNmRPMmpUcGczbXo1K1BhZE9tQVRDc2laaVZsWVgxNjlkai9mcjFBSUNsUzVjSyszYnMyS0czdlBtenp6NHp1SmE1TlJGMW1qVnJobWJObWhrMGF2SHk4c0s0Y2VPd2NlUEdDbDlmbno1OXNHalJJZ0JBdTNidGpJNlJTcVVZUEhpd3dmYkF3RURJNVhLais0am8rVEdJU0VSRVJFUkVSSFZlWGw0ZUlpSWljUC8rZlNGcnJqemR1blZEOSs3ZGEyQm1WZXZvMGFQdzkvZkhuVHQzOE9HSEgwSXVsOFBOelEyQVlZQnYxYXBWS0M0dVJsaFlHTFp1M1lvZmYveFJ5RnAwY1hFQkFEUnUzQmhEaHc3RnhJa1RJWlZLQVFBWExseEFjSEF3WnM2Y2lWYXRXcG1jeTQwYk54QVdGbWJXdkJjdVhJaWRPM2NpT3pzYmt5ZFBOdGgvOGVKRm5EcDFDcTZ1cm1hZGo0aHFIb09JUkVSRVJFUkVWS2RGUjBmajVNbVQwR2cwOFBUMFJJc1dMU0NSU01vOXhzdkxxNFptVjNWU1VsSncrZkpsVEpnd0FmLzV6MzhnRW9udzhjY2ZDeG1JdXBwL216ZHZoa0toZ0lPREF3QWdOallXSXBFSVRaczIxZXQ4bkpDUUFGdGJXd3dmUGh4cGFXa0FBSTFHZzQwYk4wS3RWc1BLeXNvZ3U3RTBKeWNuREI4K0hBa0pDWEJ5Y2lxMzZVbmZ2bjJSazVPRERSczJ3TVBEQTIzYXRCSDJGUmNYWS92MjdaQktwWGozM1hjci93MGlvbXJGSUNJUkVSRVJFUkhWV2RIUjBUaDA2QkJhdG15Si92MzdReWFUMWZhVXFzMitmZnZRb1VNSE9EazVtUnh6L3Z4NXZQTEtLMElBc2JDd0VQLzk3MytoMVdxUm5Kd3NORm9CeWwrYURBQ1RKazB5ZTI2elo4L0dvRUdEeWgzenhodHZZTStlUGRpOGVUTTJiTmdnMUVjOGNPQUFFaElTTUdIQ2hISmZHeEhWTGdZUmlZaUlpSWlJcUU3S3k4dkR5Wk1uMGJKbFN3d1pNcVMycDFQdEhCd2MwS1ZMbDNMSDNMdDNEK0hoNGZqcHA1OGdGb3R4NHNRSjVPWGxBUUMwV3EzZTJMTGRpbzhjT1lMQXdFQXNXclFJZmZyME1UaDNWRlFVWnMyYWhYYnQybUhObWpVbW02U1VwVktwSUpGSUlKRklNR1hLRkh6MTFWY0lDUW5CbURGakVCa1ppYUNnSVBqNitqNXpGcUpXcXpWN0RrVDAvQ3dxSGtKRVJFUkVSRVQwOXhNUkVRR05Sb1ArL2Z2WDlsUnF4T0RCZzlHMWExZVQrN1ZhTGJSYUxSSVNFdkQ3Nzc4alB6OGYyN2R2TjJnMGtwbVppZHUzYit0dGUvandJYlpzMlFJbkp5ZFlXVm1ob0tCQWIzOTBkRFFXTDE0TU96czd6SjgvMyt6ZzNkMjdkekZwMGlSa1pXVUJBSHIwNklFUkkwWmd4NDRkK1BISEg3Rm8wU0s0dWJsaDZkS2xla3V0eTZOVUtyRjY5V3BjdUhEQnJQRkVWRFdZaVVoRVJFUkVSRVIxMHYzNzkrSHA2Vm5qUzVoTGR4bFdxOVVHMndBSUhaT3ZYcjJLa0pBUUxGcTA2TG1iaHBoYTZxc0wwTTJmUHgrUmtaRm8zYm8xRGgwNmhLaW9LSWhFSW93Wk13YUhEaDBTeG1ka1pPRHp6ei9INzcvL0xteHpkSFRFeElrVEVSNGVqbVhMbGtFc0ZxTjkrL1o0NVpWWG9GYXJFUndjREZ0Ylc2eGF0YXJDMTFGVVZBUUFPSHo0TU83ZnZ5ODBmdEdaTUdFQ0xsKytqRjkrK1FVeW1ReXJWcTJDdmIyOVdkK0RZOGVPNGQvLy9qY0tDZ293WU1BQXM0NGhvcXJCSUNJUkVSRVJFUkhWU1VxbEVpMWF0S2p4NjVZT3lKbmFwZ3NpRmhVVjRjR0RCL2pzczgrd2ZQbHkrUGo0Vk9sY05Cb05nb09EQVFDcHFhbllzR0VERkFvRmpoMDdoajE3OW1ETm1qV3dzN1BUT3lZOVBkMGdJT25vNklpaFE0ZGk2TkNoeU16TXhNbVRKeEVjSEl3clY2NElZM3IyN0luczdHd1VGeGVYbXpXb3l4Q01qbzdHNE1HRE1YSGlSTWhrTWhRVkZlSDA2ZFBZdFdzWGtwT1Q0ZXZyaXp0MzdtRE9uRG40NElNUDBMOS9mNkZEZEdrWkdSa0FTb0tTYXJVYWZuNSttRDU5T2hvMGFGQzVieG9SVlFxRGlFUkVSRVJFUkZSblZkU0Z1VHFVclNWWW5sZGVlUVVCQVFGWXVIQWhQdi84Y3l4YnRnd2RPblNvc3JtSXhXTDA2dFVMUlVWRldMNThPV3h0YlhIbzBDSHMzYnNYWDM3NUpWNTY2U1VBZ0sydHJiRDgrOUNoUXdiQnpLS2lJc1RGeGVIdTNidTRkdTBhTGwyNkJKVktoZGF0VzZOWHIxNjRldlVxUWtORGNlclVLY2psY25UcDBnVmR1M2FGdjc4LzVISzUzcmxrTWhuczdlMHhkKzVjK1B2N0l6SXlFcUdob1RoejVneVVTaVY4Zkh5d2V2VnFkT3JVQ1ZGUlVkaXdZUVBXcjErUG4zNzZDVjI3ZGtXWExsM1FybDA3ZUhoNEFJQ1FNU21UeVRCbHlwUVhadms2MGQ4Tmc0aEVSRVJFUkVSRTFhaGx5NVpZczJZTjVzNmRpNTA3ZDFacEVCRUFoZ3daZ3NHREIwTWtFaUU4UEJ3aElTRll1WElsT25ic0tJejU0SU1QOEovLy9BZGJ0bXlCaTRzTGxpMWJoc0xDUW56NTVaZElUazVHV2xvYU5Cb05BS0JSbzBZWVBIZ3crdlhySndRYi8vR1BmeUFyS3d2bno1L0gyYk5uRVJZV2hqTm56a0FxbFNJa0pFUXZzM0hBZ0FIbzFxMGJySzJ0OGNrbm55QWhJUUVpa1FoZHVuVEJzR0hENE8vdkw0eHQzYm8xTm0zYWhQUG56MlAvL3YwNGRlb1VUcDA2aFJrelpnaTFIQWNPSElpa3BDU01Iejhlam82T1ZmcTlJeUx6aWJSbDJ6UFZBU1BDdjZ2dEtSQVJVVFU2Mk92ejJwNENFVkdkRkJBUWdHN2R1cUY3OSs2MVBSV2lHbEhYL3MzSHhjWEIxZFVWTmpZMnozV2U0dUppeE1URW9HblRwaENMeFFiN3M3T3pvVkFvekRyWDk5OS9qOGVQSDZOeDQ4Wm8wYUlGMnJadEN4Y1hsd3FQVXlxVkNBOFBSMUZSRVVhTUdHRnkzSlVyVnhBVEU0UGV2WHViVlJNeU9Ua1pkKy9leFd1dnZXYlcvTXNlYTJscGFWQ0RrWWpNSTZxZ1l4SXpFWW1JaUlpSWlJaHFRSk1tVGFya1BCWVdGbWpldkxuSi9lWUdFQUhnczg4K3E5UWM3TzN0RGJvK0crUG41d2MvUHoreno5dWdRWU5LMXpwa2pVU2k2bVZlLzNRaUlpSWlJaUlpSWlKNllUR0lTRVJFUkVSRVJFUkVST1ZpRUpHSWlJaUlpSWlJaUlqS3hTQWlFUkVSRVJFUkVSRVJsWXRCUkNJaUlpSWlJaUlpSWlvWGc0aEVSRVJFUkVSRVJFUlVMc3ZhbmdBUkVSRzl1TlJxTmVMaTRwQ2Vubzc4L0h4b05KcmFuaExSTXhPTHhaREpaSEIxZFVXVEprMWdhY2xmc1ltSWlLaitxWk8vNFZpTHJWQ2dLYXJ0YVJBUlVUV3dGbHZWOWhTb2htUmtaQ0F5TWhMT3pzNW8wNllONUhJNXhHSnhiVStMNkpscE5Ccms1T1FnT1RrWkZ5NWNRTnUyYmVIazVGVGIweUlpSWlLcVVuVXlpT2hoN1lEWTNQVGFuZ1lSRVZVREQydUgycDRDMVlDTWpBemN1WE1ITDczMEVod2RIV3Q3T2tUUFJTd1d3OTdlSHZiMjluajY5Q2x1Mzc2TmR1M2FNWkJJUkVSRTlVcWRySW5vNzl5aXRxZEFSRVRWaEQvajZ6KzFXbzNJeUVnR0VLbGVjblIweEVzdnZZVEl5RWlvMWVyYW5nNFJFUkZSbGFtVFFjUmhqYnJBVldwWDI5TWdJcUlxNWlxMXcvQkdYV3A3R2xUTjR1TGk0T3pzekFBaTFWdU9qbzV3ZG5aR1hGeGNiVStGaUlpSXFNclV5U0NpalZpQ3FTM2ZxTzFwRUJGUkZmdXM1VURJeEpMYW5nWlZzL1QwZERSbzBLQzJwMEZVclJvMGFJREhqeC9YOWpTSWlJaUlxa3lkRENJQ1FBZUhKdmpLOXoxbUpCSVIxUU91VWp0ODdmc1B0SGRvWE50VG9ScVFuNThQdVZ4ZTI5TWdxbFp5dVJ4NWVYbTFQUTBpSWlLaUtsTW5HNnZvZEhCb2d2VitZL0gvSlY1Q3hKUDdlRlNReWE3TlJFUjFoTFhZQ2g3V0R2QjNib0ZoamJyQWhobUlMd3lOUnNNdXpGVHZpY1ZpYURTYTJwNEdFUkVSVVpXcDAwRkVvR1JwOHdkTmV1Q0RKajFxZXlwRU5TWTFOUlZoWVdIbzA2Y1BYRjFkY2VUSUViaTR1S0JyMTY2MVBiVWE4L1RwVThURnhTRStQaDRxbFFxV2xwYnc5UFJFbzBhTjRPbnB5UUFGRVJFUkVSRVJVUldxODBGRW9oZVJyYTB0QUNBM054ZXVycTV3Y1hGNTRlb3VPVG82d3RIUkVlM2J0MGQ2ZWpvU0V4T1JsSlNFaElRRWlNVml2WUNpcFNWLzFCRVJFUkVSRVJFOUQzNnlKcXFEYkd4c0lCS0prSnViQ3dCd2NYRkJRa0lDOHZMeVlHTmpVOHV6cTFrV0ZoWndkM2VIdTdzN09uZnVyQmRRVEV4TWhGZ3Nob2VIaHhCUXRMS3lxdTBwRXhFUkVSRVJFZFU1RENJUzFVRVdGaGF3c2JGQlRrNE9BTURaMlJrQThPVEpreGN1aUZpYVNDU0NtNXNiM056YzBLbFRKeng1OGdRSkNRbElTa3BDVWxJU0xDd3M0T2JtQms5UFQzaDRlTEN4QXhFUkVSRVJFWkdaR0VRa3FxUGtjcmtRUkhSd2NJQ2xwU1VlUDM0TUx5K3ZXcDdaMzROSUpJS0xpd3RjWEZ6UXNXTkhaR1JrSURFeEVTa3BLYmgyN1JvQVFLRlF3TVBEQTU2ZW5uQjFkWVdGUloxdFdFOUVSRVJFUkVSVXJSaEVKS3FqNUhJNUVoSVNBSlFFekp5Y25GNjR1b2ptRW9sRWNIWjJock96TXpwMDZJQ2NuQnc4ZXZRSUtTa3BlUERnQWFLam8yRnBhYW1YcGZnaVozUVNFUkVSRVJFUmxjVWdJbEVkSlpmTFVWaFlpTUxDUWtna0VyaTZ1aUl5TWxKNFRxYko1WEswYU5FQ0xWcTBnRWFqUVZwYUdsSlNVcENTa29MazVHUUFnTDI5UFR3OVBlSHU3ZzVuWjJkMmV5WWlJaUlpSXFJWEdvT0lSSFZVNlE3TkVva0VibTV1dUhQbkR0TFQwOUd3WWNOYW5sM2RvZXZrN09ucENRREl5c3BDU2tvS0hqMTZoTC8rK2d0UlVWR3dzTENBczdNelhGMWQ0ZWJtQm1kblp5NTlKaUlpSWlJaW9oY0tnNGhFZFpTdUtVaE9UZzRjSFIzaDVPUUVzVmlNdExRMEJoR2ZnNTJkSGV6czdOQ3FWU3VvMVdvOGZ2d1lhV2xwU0U5UHg5MjdkeEVaR1FteFdBeG5aMmU0dWJuQjFkVVZUazVPRENvU0VSRVJFUkZSdmNZZ0lsRWRWVHFJQ0pSMGJIWjFkVVZhV2xwdFRxdGVzYlMwaEllSEJ6dzhQQUFBUlVWRlFsQXhMUzBOdDIvZkJsQ1N6ZWppNGlKMGhuWndjR0JRa1lpSWlJaUlpT29WQmhHSjZpaXhXQXlaVENZRUVRSEF6YzBOTjIvZVJINStQbVF5V1MzT3JuNnlzckxTVy9wY1dGaUk5UFIwcEtlbkl5MHREYmR1M1FKUThuZmo2T2dvTkhOeGRuYUd0YlYxYlU2ZGlJaUlpSWlJNkxrd2lFaFVoOG5sY3IwZ29ydTdPd0FnUFQwZGpSczNycTFwdlRBa0Vna2FObXdvTEI5WHFWUjQvUGd4SGo5K2pDZFBuaUE2T2hwLy9mVVhnSklhbHJxQW9wT1RFN01WaVlpSWlJaUlxRTVoRUpHb0RwUEw1VWhKU1JHZTI5dmJReUtSSURVMWxVSEVXaUNWU3ZXQ2lzWEZ4Y2pNek1TVEowL3c1TWtUUEg3OEdQSHg4UUNZclVoRVJFUkVSRVIxQzRPSVJIV1lYQzVIUVVFQjFHbzFMQzB0SVJLSjRPYm14cnFJZnhNV0ZoWndjbktDazVNVGZIeDhBQUQ1K2ZuSXlNZ1FBb3YzNzk4WHNoVmxNaGtjSEJ6ZzZPZ0lCd2NIT0RnNENGMjRpWWlJaUlpSWlHb1RnNGhFZFppdXVVcHViaTdzN2UwQmxOUkZURXhNUkU1T2pyQ2YvajVrTXBuSmJNV25UNThpTXpNVGp4NDlnbGFyQlZCU2gxRVhVTlFGRnhVS0JaZENFeEVSRVJFUlVZMWlFSkdvRGl2ZG9ibDBFQkVBMHRMU0dFU3NBMHBuSytwb05CcGtaV1VoTXpNVG1abVplUHIwS1dKaVloQWRIUzBjWTI5dkx3UVhkVitXbHZ5UlRrUkVSRVJFUk5XRG56aUo2akJka0RBN08xdllwbEFvSUpQSmtKYVdCbTl2NzlxYUdqMEhYYjFFUjBkSFladFdxMFZPVG80UVdNek16RVJ5Y2pKaVltS0VNVFkyTnJDenN6UDRzckt5cW8yWFFVUkVSRVJFUlBVSWc0aEVkWmlscFNWa01wbGVFQkVvNmRLY2twSUNyVllMa1VoVVM3T2pxaVFTaWFCUUtLQlFLT0RsNVNWc3o4L1BGNEtLMmRuWnlNckt3b01IRDZEUmFJUXgxdGJXUm9PTFVxbTBObDRLRVJFUkVSRVIxVUVNSWhMVmNRcUZ3aUNJNk9IaGdkallXRHg5K2xSdm1TelZQektaRERLWkRKNmVuc0kyclZhTHZMdzhJYWlvKzRxTGkwTlJVWkV3VGlLUjZBVVZGUW9GYkcxdFlXdHJ5NXFMVktlOCtlYWI4UEx5d284Ly9samJVNmtUWW1OaklaVks5WDV1VkNRbkp3Y1RKa3dBQVB6MDAwL1ZXaTVEcTlVaU56Y1hscGFXN0ZwUFJFUkU5RGZDSUNKUkhXZG5aNGU0dURpOWJlN3U3aENKUkVoSlNXRVE4UVVrRW9tRVlLQ0hoNGZldm9LQ0FyM0FZbloyTnBLVGsvSHc0VU85NDJVeUdlUnlPV3h0YlEzK2xFZ2tOZjJTaU1wVlZGU2tGeUN2S2srZlBzV2NPWE9xL0x3NkV5ZE9STmV1WGZXMnFWUXFKQ1VsVlZzNWlydDM3Mkxod29Xd3NiSEIyclZyNGU3dWJ0WnhHbzBHang4L0ZoNVhwNTA3ZHlJNE9CanZ2UE1PSmsrZS9Fekg1dVhsSVNjbkIxbFpXVkFxbGNqTXpFUitmajRHRHg1Y1RiTWxJcXBkMTY5ZngzLy8rMTlNbVRJRkFBeFdJb1dFaEVDajBlRGpqejh1OXp5SmlZbUlqbzVHMzc1OXEzVytZV0ZodUh6NU1tYk1tQUd4V0Z5dDF6SW1QajRlTjIvZU5PdDk0ZlhYWDRlWGx4ZUNnb0pxWUdaRWRRT0RpRVIxbkVLaFFGRlJFUW9LQ29TTURZbEVBbWRuWjZTa3BLQmR1M2ExUEVQNk83RzJ0b2ExdGJYUWdFZW5zTEFRT1RrNXlNbkpRVzV1cnZENDBhTkh5TS9QMXhzcmtVaU1CaGZsY2psa01obVgwRk90R3pkdUhCSVNFb3p1TzNueUpJWVBINDdjM054eXozSHk1RW1vMVdxVDU2a0taZWVRazVPREJRc1dJRDQrSGl0WHJqVDU4L3YxMTErdjhOeFdWbFk0ZHV5WXdYWTNOemVoYnU3Y3VYTVJFQkFBVjFmWHlyMkFDcFEzejVVclY2SkxseTRHMjJOalk3Rno1MDRBd0xsejV6QjY5R2pZMk5pVWU1M1pzMmNqTGk0T3VibTVKZ09jM2J0M2g1T1RFLzd4ajMvZzZkT241Wjd2NU1tVDVlNG5JcXBOc2JHeFdMOStQUllzV0FCM2QzZEVSMGZqNE1HRG1ESmxDclJhTFJZdFdvVEdqUnNMTjJHT0hqMEtIeCtmQ3M4YkVSR0JIMzc0UVFnaXF0VnFwS1NrbUQydmhnMGJtcldTNWNHREIvanR0OStnMFdnd2QrNWNzODU5NGNJRlBIMzZGSU1HRFRMWWQrREFBWlBIdFdyVnl1QzlkUFBtemJoeTVRclVhaldHRHg5dTF2V0o2SDhZUkNTcTQrenM3QUNVTkZjcHZlekwwOU1UdDI3ZDBnc3VFcGtpa1VnTXVrVHJhRFFhNU9hUEcyT01BQUFnQUVsRVFWVG02Z1VYYzNOemtabVppYVNrSkJRWEZ3dGpMU3dzWUdOakE1bE1adkpQMW1La21qSjA2RkRoOGJWcjE0U0FZTDkrL2FCU3FZUjk1ODZkUTM1K3ZrSFF5OVhWdGR5QTBrY2ZmWVRVMUZTalkxNS8vWFc0dTd0ang0NGRacy9YeHNZR2JtNXVpSXFLd3NLRkM3RnExU3EwYnQzYTVIaFRXWVNwcWFrbWozRjJkc2JLbFNzeGE5WXNwS1NrWU42OGVWaTNiaDBjSEJ6TW51ZXpFSXZGYU5DZ2dmRDgwYU5IS0NvcU12cEJzNmlvQ045OTl4M1VhalZjWFYyUm1wcUtMVnUyWVBiczJlVmVJeTB0RFZsWldaQklKTEMzdHhlK2RBMnFYRnhjb05WcTlZNHBYVnRXcCt6UE15S2k4aVFrSkdELy92MjRjdVVLSGo5K0RHdHJhN3owMGtzWVBYcTBXVUc3eW5KeGNVRjZlanFXTGwyS3dNQkF2WDM3OSsvSHBVdVg4T3FycndJbytabWJrWkdCamgwN1B2TjFVbEpTTUc3Y09MUEg3OTI3RjA1T1R0QnF0UWdQRHpjNXJubno1dkQwOU1URGh3OXg5dXhaa3plZmZYMTk0ZWpvQ0sxV2kvMzc5K1BHalJ0UXFWUUdnYjhmZnZqQjVMVkdqaHhwRUVTY1AzOCtwazJiaHMyYk4wTWlrZUROTjk4MCt6VVNFWU9JUkhXZVFxRUFBR1JsWmVsbGsraUNpQ2twS1dqV3JGbHRUWS9xQWJGWUxOUk5MRXVyMVNJL1AxOElNT3FDamZuNStYank1QW55OHZJTVBwUXowRWcxWmRxMGFjTGpOV3ZXQ0VIRWtTTkg0dEtsUzNqbGxWZmc2dXFLTzNmdW9LQ2d3T3lNaU9waVlXR0JCUXNXUUtWUzRlTEZpMWk0Y0NIV3JsMkxwazJiQ21OMHdUQ3BWR295UUZsUnBtTFRwazJ4Wk1rU0xGaXdBSW1KaVpnL2Z6NisvLzc3YXVuazd1TGlJaXdEVTZsVWVPZWRkMkJsWllWV3JWb1pqQTBJQ01CZmYvMEZiMjl2QkFRRVlPYk1tZmp0dDkvdzBrc3ZZY0NBQVJWZTYralJvMmJQeTlqU05IT3lGSW1JQU9EKy9mdVlObTBheEdJeE9uWHFCRDgvUDhUR3h1TENoUXU0Y3VVSzFxNWRXKzVOb09jaGw4c3hmLzU4TEYrK1hDOWJYcVZTNGVlZmY4YTc3NzZMZ1FNSEFpaTVTUWFVWkdOWFZuQndzTjdOb0xMT256K1ByNzc2U25oZVhGeU1iNzc1eHF4ekwxKyszT1ErWGNhNlNDVENzbVhMc0dEQkFtemF0QWtXRmhiQ1RVTGQ3NWdmZlBDQlFjRFQxSHVobzZNalZxeFlnV25UcG1IOSt2WHc4ZkdwMXFBdlVYM0RJQ0pSSFNlVHlXQnBhV25RWE1YZTNoNDJOallNSWxLMUVvbEVzTEd4Z1kyTmpja2xrU3FWQ3ZuNStjakx5elA0MDV4QW8xUXFoYlcxdGNrL0xTMzVWa2JQNXZidDJ3Z01ETVNHRFJ2ZzZ1cjZ0K3BrYjJscGljV0xGMlAyN05tSWpvN0dzV1BIaERwWEFJUzZoTGEydHM5MW5jNmRPK1BqanovR2poMDdNSExreUdvSklKWVZFUkVCbFVxRlhyMTZHVFJtQ1FrSndhbFRwMkJqWTRQRml4ZERMcGRqNGNLRm1ENTlPZ0lDQXFCUUtOQ3RXN2ZubmtOZVhoNXZVaERSYzh2S3lrTHYzcjN4NmFlZnd0N2VYdGkrWThjT0JBY0hJeWdvQ0t0WHI2NjI2N2R2M3g3YnQyK0hWQ3JGdFd2WEFKVGNYTnE0Y2FOZXlacXpaODhDQU1hTUdXUDBQRWVQSHNWYmI3Mmx0MDBYZkh2ZU9vQkRodzdGNk5HajliWkZSMGZqL1BuejZOKy9QeG8xYWxUdThhWGY1MlF5R2I3NTVodk1uejlmcjQ1aWZIdzhBRHh6Tm4yVEprM3crZWVmSXlzcml3RkVvbWZFVDE1RTlZQ2RuUjJ5c3JJTXRudDZlaUl1TGc3RnhjWHN0a3UxUmlxVlFpcVZsdnNMbnFsQVkzNStQckt5c3BDZW5xNjMvTFEwc1Znc0JCVXJDamhLSkpLL1RiQ0lLaytwVk9MZGQ5L1YyNWFRa0NCODhERzJWTFUwM2M5TDNRYy9qVVpUN3IrTER6NzRRQWplR1dNcTJ5RTFOZFhrdnZLV1NWdGJXK09iYjc3QitmUG45WlprQS8vN1FGZ1ZqVmRHamh5SlYxOTl0ZHdNazZxa1c5N1d2MzkvdmUxQlFVSFl2WHMzckt5czhQWFhYd3QvZjk3ZTNsaThlREcrK3VvckxGKytITE5telRJNDlsbms1T1JBcFZMVjJPc2xvdnFyWGJ0MjZOeTVzOEgyZDk5OUZ5RWhJYmg3OTI2MVhkdlUrMHJwN2QyN2Q4ZklrU01SRlJXRlR6NzVCRDE2OUJEMmZmSEZGM0J6YzhQczJiTmhhV21KR1RObUFDZ3AreEVXRmlZODF6RVZnS3lJcnNSRWFYLzg4UWRPblRxRlFZTUdHZXlyaUVLaHdLWk5tNFQzYTYxV2k1Q1FFQUF3dWx4YkpCSWhOVFhWNU9jZzNaSnZJbm8yRENJUzFRTUtoUUxwNmVrRzJ6MDlQZkhnd1FPa3A2ZWIzWUdUcURhWUUyalVhclZRcVZSUXFWUW9LQ2d3K0ZQM2xabVpDWlZLWmJTMm1VZ2tna1FpZ1pXVkZTUVNpZDdqaXJaWldsb3lBUGszSVpWS2hlQmFXbG9hTGx5NEFMbGNqbjc5K2dHQWtKVmg2b05XWm1ZbWdQOWxMbWcwR3JNNlJKWmRVaHNXRm9hQ2dnS2pTMjFQbkRnQmEydHJndzhwdW1NcTR1enNiQkJBakkrUHgvYnQyd0VBZmZyME1YbXNwYVVsaW9xS0VCMGRYVzZHaFVna3FyR0FXbUZoSVM1ZXZBaDdlM3Y0Ky9zREtDbmF2MjdkT3B3NGNRS1dscFpZdEdpUndRZkJybDI3WXY3OCtWaTFhaFZXclZxRnUzZnZZdUxFaVVhekNVM1Y3aG8xYWhSZWUrMDFYTHAwQ1VCSkJnb1IwZk13bGRFc2xVb2hGb3NONnJCV3BkSVpnaWRQbnNUdTNic0JBTjkrKzYyUWhTaVR5YkJ1M1RvQUpja0dwVyt1S1pWS2RPellVZGltNjFKY1dGaUlzTEF3NGJsdXFYVHA4eHB6N2RvMWJOeTQwZWkrYytmT0NlKzVHbzBHWjgrZWhiT3pNKzdkdTRkNzkrNlpQS2R1RG5sNWVYcnZtYmEydHBCS3Bjak56Y1hHalJzUkhoNk8zcjE3RzcyeDFxcFZLNFNHaGlJME5CUUE0T2ZuaHdVTEZxQ3dzRkFZWTJOajg5eVovVVF2R2dZUmllb0JPenM3eE1YRlFhMVc2eTN0ZEhOemcxZ3NSa3BLQ29PSVZPZUpSQ0todTdRNWQ2OTFYY3VOQlIyTGlvcFFXRmlJd3NKQzVPYm1DbzhyK3FXL3ZFQ2psWlVWTEMwdHkvMFNpOFd3dExSa1p2QnpzcmEyRnVvZDd0eTVFeGN1WElDam82T3dUUmRNTXRWWUpTc3JDMVpXVmtMWDM4TENRck9XODVhdG1Yamp4ZzJUdFJSUG5EZ0JlM3Q3azhjOHErdlhyMlBGaWhYSXk4dUR0N2QzdVJsNTN0N2V1SGZ2bnQ0eWFIOS9mNnhZc2VLWnIxdFZJaUlpa0plWGg3ZmZmaHVXbHBhNGYvOCtWcTFhaGRqWVdOamEydUxycjc5R2h3NGRqQjdidDI5Zk9EbzY0dXV2djhhaFE0ZHc3dHc1akJvMUNtKysrYWJlZTU2cFR0bzVPVGxRcTlYNDVaZGZBQUN2dmZhYTBYRXltUXhQbno3Rnc0Y1BoUStrZjZlbDdrVDA5eGNURXdPMVdsMXQ5UkNCa214N2xVcUZyVnUzNHNpUkkyalhyaDN1M0xtRDVjdVhvMGVQSHBnMmJScXVYTG1DaUlnSUFDWE5WWFNVU3VVeloyUjdlbnJxamYvdHQ5K3dlZk5tSEQ1OEdBQ0UxUjdHZ25HN2R1MUNkSFMwM3JZblQ1NFlOSVFwU3hkRTNMWnRHdzRlUENoc256MTdOZ1lPSElndnZ2Z0NVVkZSNk5TcGs4bm1XeXRXck1DNWMrZVFtNXNMb09RRzB1TEZpeEVWRlNXTUdURmlCS1pNbVlLTWpBeU1IRG5TNkhsS3IzUW9xN3hWQlVUMUZZT0lSUFdBcnJsS2RuWTJIQjBkaGUxaXNSaXVycTVJU1VtcFZGYzJvcnJNeXNvS1ZsWld3djhQYzZqVmFoUVdGZ3BCeHRMQlJtT1BsVXFsOFBoWnVycGFXRmdZRFM2VzkyVmhZUUd4V0F3TEN3dUR4eFh0cTg5Qnk2dFhyNXJjWjZxeFNtWm1wbDdXcTBxbE1xalJWNVB1M3IyTDZkT242MjJ6dGJYRnI3Lytpc0xDUXF4WnMwYklwSEIxZGNYU3BVdkx6WnljTTJjT2Z2enhSeVFuSnd1QmNXOXZiNnhkdXhhLy9mYWJ3ZmlqUjQ5Q0lwR2d1TGdZNDhlUE4zcE9qVVlqUEo0K2ZYcTUxemRXUjB1M0RMdG56NTVJVDAvSHJGbXpVRkJRZ0NaTm1tREpraVVWWmdkMjdOZ1JtemR2eHRxMWEzSDkrblZjdkhqUm9JNlhxUTl6aFlXRldMZHVIZTdkdXdjZkh4KzlaWDJsdFdyVkNzbkp5Wmc4ZVRJa0Vna0tDd3V4WThlT2NqTndpSWhLMjd0M0x3QVkvSHlxU3Bjdlg4YkdqUnZ4K1BGakxGcTBDS21wcWJoejV3NldMbDJLcjc3NkN2ZnYzMGZyMXEzaDVPUUVaMmRuUEhqd1FEZzJKaVlHd1BObFpHczBHcjJiWVc1dWJpYWJYMjNldkJrQThPREJBMHlkT2hYOSt2WER2SG56ekw3V29FR0QwS0ZEQitUbTVtTE5talVBU200cXo1czNEOWV1WGNPUUlVTk0zdWl4czdNejZMeHNhMnNyMUpGZnNtU0ozdmF5eTdnQklEQXdFSTZPamdhMUhZbGVaQXdpRXRVRHVxNjVaWU9JUU1uZHcydlhyaUVuSjZkV1B5UVQxUVc2Z0YxbGFEUWFxTlZxNGMveXZreU55Yy9QTnhoVFZVdWl6QWs2aWtRaXZTOEExZks4cXVUazVDQXlNaEpBeWMrL2I3LzlGdlBuejYvd09LVlNLV1N6cXRWcXFGU3FXZzBVU2FWU3ZhVm1wVFBxSkJJSm1qZHZqdERRVUhUczJCSHo1czB6MmNSSXg5dmJHNnRXclRMWXZtM2JOcFBYQVVxeTdreGw4NVdXbkp4YzRaaXkyclZyaDlEUVVQejg4OC80NXB0dk1HZk9ITnk0Y1FPVEowK0dWQ3JGRzIrOEFibGNqdjM3OXhzYys4WWJiOERlM2g0Ly8vd3oxcXhaZ3pObnp1Q1ZWMTR4YXdrNkFJU0dodUxFaVJOd2NuTENva1dMVFA0Zm56aHhJZ29LQ25EdjNqMW9OQnA0ZUhnd2dFaEVaanQxNmhST256Nk5qaDA3bXN4NHJvcHJmUHZ0dDJqUW9JSFFXWGpmdm4wQVNtNjJyRnUzRHQ5Kyt5M2VlKzg5akJneEFrZU9ITUhwMDZlRnJHcGRWcUN4VWhlNm02RnIxNjVGV2xvYVB2MzBVd0NtYXlJYXk4NWJ0MjRkMnJScEErQi83L2NhalFacjE2NkZyYTB0SmsyYUpJemR2SGt6RGg0OFdHNDJYN05temRDc1dUTmtaR1RvYmZmeThzSzRjZU5NTHFNdXJVK2ZQbGkwYUJHQWt2Y2lZNlJTcVpEOVdGcGdZQ0RrY3JuUmZVUXZLZ1lSaWVvQlcxdGJpRVFpazgxVnJsMjdocFNVRkhZZkk2cEdZckhZN0tER3N5Z2RuQ3d1TGhhK1NqOHZiOSt6ak5WbG0ybTFXdUdyT3A0L2F4ZEZVODZmUHc4UER3OGtKaVpDcTlYaXp6Ly9GSlpYbFVlcFZDSW5Kd2RyMXF4QlVWRVJnSkxzUkYyV0F3Qjg4c2tuY0hKeTBqdk9uR0wycFpYWFdLVTBiMjl2dmV5OXNzZTgvLzc3YU51MkxkcTNiMS9odWNvemR1eFlqQjA3MXVSMXhHS3h5UTl6cFp2Wi9QTExMODljRUgvWXNHRUlEdy9IaFFzWGNQNzhlZlRwMDBldnJtUHBmMzlsbGQzWHQyL2ZaN3IyZ0FFRGtKS1NnaUZEaGhqOG5aYm00dUtDWmN1V1BkTzV6UkVRRUZEbDU2eUlPY0Znb3Zvb0x5OFBFUkVSdUgvL1BwUktaWVhqdTNYcmh1N2R1ei8zZFcvZXZJbUFnQUI0ZUhoZzBhSkYxVllHb1YrL2Zzakp5Y0hBZ1FNaGxVcnh3dzgvUUtsVTRzU0pFd0JLZ201YnRtd1JydCt1WFR2OCt1dXZpSXFLUXBzMmJYRHAwaVc0dXJvS1pZNlVTaVVPSHo2TVM1Y3VDYzFnTGwyNmhMZmVla3Q0ZjF5L2ZyMlFzQUNVM0pnSkNRa3htblh1NXVZbXZOZnJmaWNLRGc3R3ZYdjNzSERod21kKzd5alB3b1VMc1hQblRtUm5aMlB5NU1rRyt5OWV2SWhUcDA1VmVPT05pSjROZzRoRTlZQ0ZoUVVVQ29XUW5sK2FyYTB0N08zdGtaaVl5Q0FpVVIxVVhjSEoydlRISDM5VXlYbk9uRG1EenAwN0l6RXhFWFoyZGhneFlnU0NnNE9GdWt5bE14UktkOHBVS3BWNkg3cUFra3pHMHMvZmYvOTlnNEJUMmVWYWFXbHBzTFcxZmFhaTdPWTJWaWxyL2ZyMWxRb00vVjNxTllsRUlreWVQQmxUcGt6QnRtM2JUQzRwcmk1Mzc5NFZsbFNidzlpSDQ4cHExS2hSbFozTEhJbUppVlg2UVoyb3JvaU9qc2JKa3llaDBXamc2ZW1KRmkxYVFDS1JsSHRNNmV6c3lvcUtpc0tTSlV1Z1VDanc3YmZmVnRtTk1tUHk4dkxRdVhObnBLV2xJVDgvSDBlUEhzWExMNytNeE1SRXZYRzYxK1huNXdleFdJeXpaOCtpVWFOR3VIWHJGZ1lPSENpTWUvTGtDWUtEZ3lHVlN0R29VU01rSkNSZzE2NWRFSWxFUXJtUWxpMWI2dFVOMXExNk12Vzl5OHZMQXdEaG1OT25Ud01BVnE1Y2laVXJWeHFNTjNhenpaejNycjU5K3lJbkp3Y2JObXlBaDRlSGtBRUpsTng4MnI1OU82UlNxWEFEaklpcUJvT0lSUFdFUXFFd21va0lsSHlBdVhQbkRnb0tDbUJ0YlYzRE15TWlxbnFQSGozQzFhdFhNWHo0Y0J3NmRBaEFTU0YyT3pzN0JBY0hBNEN3dlN4ZGd3MmdKRU5peDQ0ZCtPS0xMMHd1UHhzMGFCQnljbkwwR3BWb3RWcE1uejRkZCsvZXhZd1pNOHpLT0FSS3NzTk4vYXl1NkRpMVdvMlVsQlNJUktKeUExT2x4LzJkK1BqNG9HM2J0b2lNak1TREJ3L1F2SG56S2oyL3FiK0RoUXNYSWlVbHBWTExzS3VDcVdMOTFTVWdJRUF2YTRqb1JaQ1JrWUUvLy93VExWdTJSUC8rL1NHVHlXcmt1dEhSMFZpd1lBR3NyYTJ4ZXZWcU5HellzRnF2ZC83OGViMnNlZDIyOCtmUDYyM1RCZUVVQ2dXNmRPbUM0OGVQdzlyYUdtcTFXaStiMjhQREEzUG56a1d2WHIzdzIyKy80WWNmZmhEZU85TFQwMkZuWjRmaTRtSzk1Y1M2UmlXbHQ0bEVJaUc0cUV0cTBOV2svdmpqajVHZm4yL3dXczZlUFl2cjE2OGJyVVZvcmpmZWVBTjc5dXpCNXMyYnNXSERCbUh1Qnc0Y1FFSkNBaVpNbUZCdUJqb1JQVHNHRVlucUNUczdPNlNrcEtDNHVOaWdpWUl1aUppVWxGVGxIOXFJaUdyRGtTTkhJSlBKNE9mbkoyd1RpVVRvM2J1M0VFUXNuY213ZmZ0Mi9Qbm5ud2JudVg3OU9rUWlVYm5OcDR3VlZQL3R0OThRRlJXRmhnMGJQbE5XM1VjZmZXVDIyTkpXckZpQjR1SmlmUFRSUjBoUFQ4ZUNCUXRNWnBjZk9uUUlHemR1ckpJbGVsWE4xOWNYa1pHUnVIZnZudkIrcEZhckFhRFM5VWgxVEdYRjJOcmFJamc0R0JzM2JzU2hRNGZ3OWRkZkcvM2VaR1JrWVBUbzBheURTRlFIUFhqd0FDMWJ0c1NRSVVOcTdKb3hNVEg0NG9zdklKRkk4TjEzMzFWSlZtTkZCZ3dZZ0FFREJpQWlJZ0tMRmkzQ2tpVkw4T3FycndyN3YvMzJXeVFsSmVrZE0zejRjRnk0Y0FHN2R1MUMwNlpOOVVwajJOalltR3lLRWhNVGd3WU5HdURreVpOR3V5bVh2a0ZpWVdHQjQ4ZVBBeWdKUGdLQXM3TXpBSmk4UVJjZkg0L3IxNjlYcXQ2Z1NxV0NSQ0tCUkNMQmxDbFQ4TlZYWHlFa0pBUmp4b3hCWkdRa2dvS0M0T3ZyKzh4WmlMcmFrVVJrR29PSVJQV0V2YjA5aW91TGtaMmRiYkNNeWM3T0RuWjJka2hJU0dBUWtZanF2TnpjWEJ3K2ZCamR1blhUVzJKVm5xRkRoK0wvL3UvLzlMWTlmdndZZCs3Y2dZMk5EYzZjT1dQd1ljT2M3TUtrcENRTUd6Yk0vTW1Yc1dIREJyMGxXT1d4c0xEQW0yKytpZURnWU96ZXZSdGZmdm1sd1JpVlNvVTllL1lBQUVhTkdsWHBlVlVYM1lmS3pNeE1ZWnN1cStWNU0rVXJXb0xjdTNkdkhEcDBDSWNPSFRJYVJOeTFheGRVS2hWR2pCanhYUE1nb3BxbjFXclJ2My8vR3J0ZWZIdzg1czJiQjRsRWdqVnIxdFJvMllMQ3drS3NYNzhlY3JsYzczZitpSWdJbkQ1OTJtREpzSitmSDl6ZDNaR2FtdnBNNzFjM2I5NUVxMWF0aE9jSER4NDBPdTdZc1dQNDk3Ly9MVHlQalkwRlVKSkJmK1RJRVpQbjEzV0tOaldtZS9mdVJyTUk3OTY5aTFXclZpRXdNQkQyOXZibzBhTUhSb3dZZ1IwN2RxQ2dvQUMvLy80NzNOemNzSFRwVW9QRUNsT1VTaVYrL1BGSDlPclZDOTI2ZFRQckdLSVhGWU9JUlBXRXJ2NUs2YTZqcFRWcTFBaDM3OTdsa21ZaXF2TXVYcnlJdkx3OERCbzB5S3p4SzFldXhNV0xGeEVjSEt4WHErckVpUlBRYXJYSXpjM0ZzV1BIRElLSXBySktIajE2aEtLaUlyaTZ1bGI0ODFUWDlNWFVXS2xVYXRacjBCa3hZZ1IrL2ZWWGhJZUg0L3IxNndZWmxOdTNiMGQ2ZWpyNjlldjN0NnlEcXdzZWxzNDZURTFOQmZDL0FHTjE4ZlgxUmRPbVRYSGx5aFhjdW5VTHZyNit3cjZvcUNnY09uUUk3dTd1ZXZYQ2lLaHVVQ2dVTmJhRUdRRG16cDJMek14TStQdjdtd3l1VFpzMkRRQnc5ZXBWaElTRVlOR2lSVlhTNUVNaWtXRFpzbVhZdFdzWDVzNmRDeDhmSDd6MjJtc0lDUW5Cd0lFRDhmTExMK3VOMzdsenAvQno5dWVmZjBiUG5qMHJyTnVZa3BLQzZPaG92UGZlZThLTkhybGNiblJzMmZleDI3ZHZReUtSb0dIRGhucGxRRXd4bHVVSUFFMmJOaFdDaUxvbUw0Y1BIOGI5Ky9jTk1zWW5USmlBeTVjdjQ1ZGZmb0ZNSnNPcVZhdk1yZzJyQzRJV0ZCU1l6TW9rb3Y5aEVKR29ucERMNVJDTHhjak16RVRqeG8wTjlqZHExQWlSa1pGYzBreEVkVjZIRGgzZzdlMXRkcmZpZHUzYTRjeVpNOWkrZmJ2d29VNmxVdUhYWDMrRnBhV2xzSnkyTEdPWmJYLzk5UmVtVDUrT0JnMGFZT3ZXcmVVR0FZOGNPWUxBd0VBMGJOZ1FQLzc0NHpNSERJMnh0YlhGMkxGakVSZ1lpTldyVjJQTGxpMUMvYnVyVjY5aTM3NTlzTFcxeGFSSms1NzdXbFhsOU9uVHNMR3hnVktwRkRKT3ZMMjloZjMzN3QwRGdHcXZKU1lTaWZEQkJ4L2duLy84SndJREE3RjU4MlpJSkJJb2xVb3NYNzRjV3EwV0V5ZE9ORHU3bFlqK1Btb3lnQWo4cng1Z1JFU0V5VEc2OTV1aW9pSThlUEFBbjMzMkdaWXZYMTRsTjNoYXRHaUJMNy84RWxGUlVWaTRjS0ZReTdCdDI3WjZwWTEyNzk2TmJkdTJ3Y2ZIQndNR0RNQ21UWnN3Wjg0Yy9QT2YveXkzZE1PQkF3ZGdhV2tKZjM5L25EbHp4dXg1RlJZVzR1TEZpL0QxOVlXTmpVMjVEVkkyYjk2TWd3Y1BtdFZFNWNLRkN3QkthbEFPSGp3WUV5ZE9oRXdtUTFGUkVVNmZQbzFkdTNZaE9Ua1p2cjYrdUhQbkR1Yk1tWU1QUHZnQS9mdjNOL3JlcS92N08zejRNTlJxTmZ6OC9JVDNkaUlxSDRPSVJQV0VTQ1NDblowZGxFcWwwZjMyOXZaUUtCUklURXhrRUpHSTZqUm5aMmNzV0xEQTdMcEZIaDRlc0xDd3dMRmp4L0NQZi93RDd1N3UyTE5uRDU0K2ZZb1JJMFlZWkpIRXhjWEJ5OHZMWUJsVVlXRWh2dnZ1T3hRWEYrUDk5OTh2TnlnWUZoYUc3Ny8vSGhZV0ZwZzNiOTV6QlJCalkyT1JtNXVMZHUzYUFTaHBJSFB4NGtWY3VIQUIzM3p6RFZhc1dJSEV4RVI4ODgwM0tDNHV4dWVmZjE3cFF2SlpXVm5ZdjM4L1B2NzQ0MHJQdDZ6dzhIQ2NPM2RPZU42MmJWdDA3dHhaZUg3NThtVUFRT3ZXclovck9wbVptVWhMU3hPK0hqMTZoTlRVVkR4NjlBamp4bzNESzYrOGdyNTkrK0xRb1VPNGMrY09ObTdjaUU4Ly9SUkxsaXhCYW1vcVhuMzFWYjNhWWtSVWQ0akY0aHE5bmptQkw1MVhYbmtGQVFFQldMaHdJVDcvL0hNc1c3WU1IVHAwZUs3cnA2YW00dVRKa3poOCtERHk4L1B4N3J2dklqbzZHZ0VCQVRoLy9qeVdMRm1DRFJzMjRQang0MmphdENsV3JGZ0JSMGRINU9ibVl0dTJiWmd5WlFwbXpacUY3dDI3SXpzN0c3YTJ0b2lOallXbHBTVWVQbnlJSTBlT29IZnYzckMxdFJXdVdWNkpEOTM3NVlrVEo1Q1RrNFBldlhzLzErc3JTeWFUd2Q3ZUhuUG56b1cvdno4aUl5TVJHaHFLTTJmT1FLbFV3c2ZIQjZ0WHIwYW5UcDBRRlJXRkRSczJZUDM2OWZqcHA1L1F0V3RYZE9uU0JlM2F0WU9IaHdjQTRQZmZmeGZPTzJYS2xCcGRDazlVMXpHSVNGU1AyTnZiQzhzVmpHblVxQkdpb3FLZ1VxbXFKQ09HaUtpMk5HM2ExT1MrNHVKaUFDWEJ0NTkrK2drUkVSRVFpVVJRcTlYWXVYTW4zbjc3YmZ6ODg4K1F5K1g0NktPUERJS0l3Y0hCdUhQbkR2YnMyYU1YcUx4OSs3YlFkWEx0MnJYWXRXc1gvUDM5NGUvdmo0NGRPMElxbGFLNHVCaTdkKzlHY0hBd3RGb3RwazZkaXJadDIxYnFOV3ExV3V6YnR3L2J0bTNEaEFrVGhDQWlBTXliTncrelpzM0M5ZXZYOGNVWFh5QW1KZ1k1T1RuNDhNTVAwYk5uejBwZDc4U0pFOWk2ZFNzS0N3dXJOSWo0eGh0dlFDcVZRaUtSb0huejVoZzRjS0R3ZlZVcWxiaDQ4U0lBd04vZi81bk91MjNiTnR5NGNRTlBuandCQUx6MzNudEd4MWxhV2dyWEU0bEVtRHQzTHFaT25ZcmZmLzhkRVJFUnlNaklnSmVYRjJiTm1sWFpsMGhFVks2V0xWdGl6Wm8xbUR0M0xuYnUzRm5wSUdKWVdCaDI3TmlCbUpnWVdGcGFvaytmUGhnMWFwUlFrekU4UEJ3V0ZoYjQ5Tk5QRVI4Zmp3NGRPbURwMHFWQ3ArUlJvMFpCb1ZCZzgrYk5XTE5tRFlLQ2d2RFJSeDhKeTRVN2QrNk1NMmZPUUt2Vkd0VFZOVlYzOXRTcFU5aTllemZVYWpWQ1FrSmdiMitQUG4zNlZPcjFtVEpnd0FCMDY5WU4xdGJXK09TVFQ1Q1FrQUNSU0lRdVhicGcyTEJoZXU4ZnJWdTN4cVpObTNEKy9IbnMzNzhmcDA2ZHdxbFRwekJqeGd5aGljdkFnUU9SbEpTRThlUEhDMTJsaWNnOERDSVMxU1AyOXZhSWpZMUZZV0VoSkJLSndYNWRYY1NrcENTOXBXUkVSUFZKVGs0T0FHRGl4SW5RYXJYdzhmSEI5T25Uc1dYTEZpZ1VDaXhmdmh5RmhZVllzR0NCc0JTNE5KVktoWUtDQW9OTXg4NmRPMlAzN3QyNGNlTUdRa05ERVJZV0pqVHFrRWdrNk5DaEF6SXpNeEVkSFEyUlNJVHAwNmMvYzZkUTNkelZhalZtenB5SnlNaElXRmhZR05SMlVpZ1VXTFpzR1NaTW1JQmJ0MjRCS09tQWFXN3dUNnZWQ285alltTHc0NDgvQ3VmcDI3ZHZsWGFvN05xMUs3cDI3V3AwMzU0OWU2QldxL1V5Uk15Vm41K1AyN2R2Qzg4N2Rlb0VEdzhQZUhwNndzUERBMjV1Ym5CemM0T0xpNHZlYTJuWXNDRUdEeDZNdlh2M0NrdmFaczZjYWJMZUZ4RlJWV2pXckJrQ0FnS2VxeTVpMjdadDRlTGlnamZmZkJOOSsvWTFlRy9vMWFzWEFDQTVPUm5aMmRrWVBYcTBYZzFhb0tUUm1JK1BEekl5TXVEazVJUng0OFloTXpNVDl2YjJHRGh3SUNRU0NSbzBhQ0RVQlc3Y3VERUdEUnBrc2s1d3g0NGRrWm1aQ1V0TFN3d2JOc3pzK3BSaXNkanN4aWNBaEVEbzFLbFRFUk1UZzk2OWU1djhYb3BFSXZUczJSTTllL1pFY25JeTd0NjlxOWNsMnNuSkNYUG56cTN3bXNIQndRYmZQNklYSGY5SEVOVWpwWnVyR0h0VGRYQndnRnd1UjJKaUlvT0lSRlF2WldkbkMyVWRySzJ0TVdiTUdJd1lNUUlXRmhaWXVYSWx2djc2YThURnhlSHR0OTgybWJIMytQRmprMFhuUlNJUk9uYnNpSTRkTytLenp6NURlSGc0Tm0zYUJLVlNpVXVYTGdualpESVpFaElTY1AzNmRmajYrcHE5MUM0eU1oSkFTU0F6TWpJU2pSczN4dHk1Yy9XVytoWVZGZUhreVpQWXZuMDdDZ3NMaGUxbno1NkZpNHNMM24vLy9Rb0RZaWtwS2NMajZkT25vN2k0R0EwYU5NRDA2ZFBoNStkbjFseWZWM1IwTkg3OTlWY0F3TWlSSTUvNStKRWpSMkxZc0dHWU8zY3UwdExTc0hyMTZncVB5Y3JLd2s4Ly9TUXNaYk93c0VCeGNUR1dMRm1Dc1dQSDRxMjMzako2RTQ2SXFDbzBhZExrdVk1M2NYRXg2TDVzaktuTWJKMDJiZG9JajhzMkZRT2cxN2lzZmZ2MjVkWWcxcjBuQXNDSEgzNVk0ZHgwSmsyYVZLbjZ2WDUrZnMvMFB0V2dRWU5LMXpwa2pVUWlRd3dpRXRVanVydVJtWm1aSnUvTU5XclVDSC85OVpmSmJFVWlvcnBNb1ZDZ1I0OGVlUExrQ1JZdlhneDNkM2NBUUVGQkFaWXRXNGFyVjYvaTlkZGZ4K1RKazRWanBGSXBuang1QXFWU2ljek1UTVRFeEtCSGp4NG1yNUdlbm81cjE2N2g4dVhMK1BQUFAxRlFVQUNnNU1QZHl5Ky9qQ3RYcmlBOVBSMEhEeDdFd1lNSG9WQW80Ty92ajU0OWUrTGxsMTh1dDZQejBhTkhBWlFFSzRjUEg0N3g0OGNMUDZ0VFUxTng0c1FKSEQ1OEdFK2ZQZ1VBdlB6eXk1ZzBhUkpDUTBPeGUvZHU3TjI3RjRjT0hjTEFnUU14WU1BQXRHalJ3dWgxRGh3NElEeldOUno1NktPUGF1eDlJU01qQTE5Ly9iVlEwTDVidDI3UGZBNWQzVWR6TWliejgvTngrUEJoN042OUd6azVPUkNKUkhqLy9mY3hlUEJnckZtekJ0ZXZYOGZtelp1eFo4OGVEQnc0RUsrOTlwclJKbVZFUkdSYVZXV3dFOUhmRjRPSVJQV0lWQ3FGdGJXMXllWXF3UC9xSWlZbEphRlpzMlkxT0RzaW9wb3hmZnAwMk5yYUNyVmZrNEl2RzYwQUFDQUFTVVJCVkpPVDhmWFhYK1BodzRjWU9IQWdaczJhcGZkQnAzbno1b2lNak5UTHh1amF0U3RVS2hXdVhic21OT2VJalkzRnc0Y1BoU1d3UU1rSHB2YnQyMlBRb0VIbzA2Y1BMQzB0b2RWcWNmdjJiWVNHaGlJOFBCeFBuejRWYWpKSkpCTDQrZmxoNHNTSlFnMnIwc2FQSDQvbzZHak1uRGtUL3Y3K1NFcEtRa1JFQk1MQ3duRG56aDFoR2JLdnJ5OUdqUm9sWkdPTUhUc1dQWHIwd0E4Ly9JQmJ0MjRKQWN3R0RScWdjK2ZPNk5hdG0xN05LRjBOcU9iTm0rUHp6ejgzR1d5c0Roa1pHWmd6Wnc1U1UxUGg0T0NBT1hQbVZOdTFrcE9UY2V6WU1mejIyMi9JeXNvQ1VQS2FaOHlZSVdUaXJGNjlHbWZPbkVGUVVCQlNVMU94YTljdTdOcTFDKzd1N3Rpd1lVT2xtOVFRRVJFUjFUY01JaExWTS9iMjl1VUdFUjBkSFdGcmE0dkV4RVFHRVltb1hpb2I5SG42OUNtS2lvb3dkZXBVREI4KzNHRDhqQmt6c0hYclZxU2xwY0hDd2dLZE8zZkdnQUVEQUFELyt0ZS9FQmNYcHpmZTFkVVY3ZHExUThlT0hkR2pSdytEcGM4aWtRaSt2cjd3OWZYRjFLbFRjZjM2ZFp3NWN3Ym56cDFEVGs0T1ltTmpoUXpKc3J5OHZCQVNFZ0pMUzB0Y3YzNWRyMmFUUkNKQnIxNjlNR1RJRUwwbUt6bytQajVZdTNZdElpSWlzRy9mUGx5L2ZoM0p5Y2xJU1VreDZKVDU0WWNmd3NIQkFXKzg4VWFOMTN0eWRIVEVXMis5aFQxNzltRDU4dVVWMWdkemQzY1hhbUU5cTdpNE9PemR1eGRBeWZkMjFLaFI2TnUzcjE0ZExwRkloSDc5K3FGUG56NElEdy9Ic1dQSGNQMzZkYnorK3VzTUlCSVJFUkdWSXRLV3JxeE5SSFhlelpzM2NmLytmWXdZTWNMa2tvTGJ0MjhqS2lvS2d3Y1BMbmRaSFJGUmRmampqei9RdjMvL0dyMW1aUnVGUkVSRTRPelpzMmpjdURFYU4yNE1iMjl2a3dIQWloUVZGU0VpSWdKMmRuYnc5ZlUxNjVqQXdFQWhDTmlyVjY5bmF2NlJrSkNBMDZkUFE2RlE0TzIzMzY3VW5LdFRWWlhWMkx0M0w3S3pzekYrL0hpaiszLzU1UmMwYmRvVWZuNStadjhiVUNxVnNMR3hnWldWMVhQTnJUYityUWNFQktCYnQyN28zcjE3alY2WHFMWUVCQVNnVWFOR2xhcXRTa1JFK2tRVi9MTEVURVNpZXNiZTNoNGFqUWE1dWJrbVAydzJhZElFZCsvZVJYeDhQRnEyYkZuRE15UWlxbm1WcmRQazcrK3Z0d3o0ZVZoWldaVmJhOUdZR1RObVZQcDZYbDVlR0RObVRLV1ByMjVWVlgreG9zQ0JzYVlCRlNuYjhaU0lpSWlJQVBON3FoTlJuVkM2dVlvcENvVUNUazVPaUkyTnJhRlpFUkVSRVJFUkVWRmR4aUFpVVQxaloyY0hrVWhVYmwxRUFHamF0S25RaVpTSWlJam9lUVFGQldILy92M2xqZ2tMQzhQTW1UT3hZc1VLUEU5RnBlUEhqMlBmdm4yVlByNjA5UFIwQkFVRklUOC92MHJPVjlVZVBueUkzYnQzVitwWWpVWlQ0ZmU1c0xBUXhjWEZsVG8vRVJHOWVMaWNtYWllc2JDd2dKMmRYWVZCUkM4dkwxeS9maDF4Y1hFR1RRR0lpSWlJbnNYbHk1ZlJxVk1uay91VGs1TVJFQkNBdkx3OFdGaFk0SjEzM2tIcjFxMHJkYTI5ZS9jaUlTRUI3NzMzWG1Xbkt6aDM3aHgyNzk2TnJLd3N6Snc1czhMeCtmbjVHRHAwNkhOZkZ3Qk9uanhaNFpqOSsvZmp4SWtUOFBMeVFzK2VQYzArZDJGaElkNTY2eTE4OXRsbkdEWnNtTWx4YjczMUZzYU9IWXRSbzBZSjJ5cGJRNWFJaU9vL0JoR0o2aUY3ZTNzOGVmS2szREVTaVFTZW5wNklpNHVEcjYrdlhxZEtJaUlpSW5NVkZ4Y2pQajRlNzd6emp0SDkyZG5aV0xwMEtUUWFEWllzV1lLdFc3ZGkrZkxsK1A3NzcwM2V5UHp1dSsrUWxwYUcxYXRYUDlOY252VzRZY09HNGZqeDR6aDY5Q2o2OWV1SDl1M2JsenZlMnRvYVFVRkJCdHVQSHorT3ZYdjM2dTB6dHUxWmZmTEpKd2dMQzhPV0xWdlFwVXNYU0tYU1NwMG5JeU1EaXhjdnh2ang0OUc1YytkeXg2NWN1UkxXMXRhWU5Xc1dmejhrSWlJOURDSVMxVU1PRGc2SWo0OUhVVkZSdVowbG16WnRpcVNrSktTbXBzTFQwN01HWjBoRVJFVDFRV0ppSWxKVFU2RlNxV0J0YlkyRWhBUmhuNWVYRi9MeThyQnc0VUlrSnlmanE2KytRcGN1WGRDc1dUUE1tVE1IQ3hZc3dPclZxNkZRS0F6T0d4a1pxWGN1YzVVOVRxUFJJQ2NucDl4ai91Ly8vZytuVDUrR3JhMnR5WlVjY3JrY1lyRVlJcEVJWGw1ZUJ2dDFOYWxMN3pPMnJhd0hEeDVVT0wrWFgzNFpGaFlXdUgzN05pd3RUWDk4NjlDaGc4bDlqbzZPa01saytQYmJiN0ZseXhZNE9Ua1pIWGY1OG1XRWhvWml5SkFoRENBU0VaRUJCaEdKNmlGSFIwY0F3Tk9uVCtIbTVtWnluSWVIQjZSU0tlTGk0aGhFSkNJaXFpZWVwOTdncy9yMDAwOVJVRkFBQVBqcXE2LzA5dTNhdFF1TEZpMUNlbm82VnExYWhaZGVlZ2xBU1ZCdDQ4YU5XTHg0TWFaUG40NmxTNWVpYWRPbTFUSy9lL2Z1WWZyMDZXYU5EUXNMTTdsdjA2Wk5hTm15SlFBZ056Y1hHUmtaZXZ0MXdjZlNBVXhqMjNSMGdjWE5temZqNXMyYnp6MC9vR1I1dE81YVJVVkZBRXArRjlSdG16bHpKcVpPbllxQWdBQ3NXTEhDNFBpOHZEeXNXN2NPRFJzMnhNU0pFODJhRXhFUnZWZ1lSQ1NxaDNSTGd5b0tJbHBZV01ETHl3c1BIejVFWVdFaEpCSkpUVTJSaUlpSXFvR1ZsVldGZFpHcjB1SERoN0Z5NVVvQXdNS0ZDNFh0RVJFUm1EcDFLbFFxRmF5c3JEQnIxaXlqeDNmbzBBRlRwa3pCZSsrOWgvZmZmeDh5bWF4SzUrZnA2WWtaTTJhVU95WXdNQkNPam80WVBYcTB5VEh1N3U3QzQvUG56MlBObWpWR3g0MGJOODZzYmJwNmlIUG16QkdhdWhRWEYyUEdqQm5vMXEwYlB2endRNU56aVlpSVFGQlFFS1pNbVdLdy9McnN0WGJ1M0ltZE8zY0NLR2wrTTJiTUdHelpzZ1hIamgzRG0yKytxVGMyTURBUUdSa1pDQXdNaExXMXRjbnJFeEhSaTR0QlJLSjZTQ0tSUUM2WDQrblRweFdPYmRxMEtlN2Z2NC9FeEVSNGUzdlh3T3lJaUlpb3VqUm8wQUJwYVdrMWRqMnRWb3RyMTY1aDBxUkplUERnQVJvM2JvejQrSGo4ODUvL1JJY09IVEIxNmxSb3RWcW9WQ3FqeHpkcTFBZ0hEaHpBZ3djUHlpM0JVbGtPRGc0WVBIaHd1V01DQXdNaGw4c3JIRmZXd1lNSElaZkxBUUQ3OXUzRDFxMWI5WnFsR050MjRNQUIvUERERDhMekJnMGE2SjJ6ZGV2V1NFbEpRZlBtelUxZTk0OC8vZ0FBOU83ZDIyQlpzdTVhVVZGUm1EWnRta0ZqbFlZTkcwS2owYUJQbno0RzV4MDhlREQ4L1B5RWpFc2lJcUt5R0VRa3FxY2NIUjNOQ2lJNk9qckN6czRPY1hGeERDSVNFUkhWY1IwNmRNQ2hRNGR3Nzk2OUdna0dSVWRIUTZsVW9rdVhMbmozM1hjUkZCU0U1czJiWSsvZXZXYXZjTWpOemNXa1NaUEtyZmYzb3ZEMzkwZFFVQkRTMDlQaDZ1cHFkRXhFUkFTYU4yOXVzcTRoQUZ5NGNNRmdXM2g0T05ScU5WeGRYWEh4NGtWaGUweE1ETTZjT1FPZ0pKUDF6Smt6OFBiMlJwTW1UWjd6MVJBUlVYM0RkMnFpZXNyUjBSRUpDUWxtTFZOdTJyUXBidDY4aVp5Y0hPR09PaEVSRWRVOVBqNCthTldxRmY3NDR3ODRPRGlVVzlha0twdy9meDV0MnJRUm1vam9TQ1FTdlA3NjZ3YmpnNEtDNE9YbGhmVDBkRGc1T1VFc0ZtUDc5dTNvMjdldndUa0FHRDJIT2Z0cVFsSlNFbXhzYkFDWVh4TXhNek96M0hQMjY5Y1BRVUZCT0g3OE9ENzY2Q09EL2ZmdjMwZDhmRHcrK2VTVGNzK2pxNThZRVJFQk56YzNkT3ZXRGF0WHJ4YnFWNVoyOXV4Wm5EMTdWbS9iMkxGakdVUWtJaUlERENJUzFWTzY1aXFabVprVmZvQm8zTGd4YnQyNmhiaTRPTFJyMTY0bXBrZEVSRVRWNUxYWFhzUCsvZnV4YytkT3ZQenl5L0QyOW9hcnEydTExRDRPQ3d2RHdJRURUZTVmc1dLRjBMeXRkTDIrRHovOFVBZ29HdlAyMjIrYnJPMTQ4T0JCS0pWS2pCMDcxdVMrc3BLVGs4dDdHVkNyMVNiSGlFUWlvdzNvUHZ2c000TnQ1dFpFTk1YTnpRM2R1M2ZIcjcvK2luZmVlY2VnUnVUKy9mdGhhV21KQVFNR21EekhuVHQza0pxYUNxQmtXZk9OR3pld2V2VnE3TnUzejZ5bU8wT0hEalY3dmtSRTlHSmhFSkdvbnRJRkVUTXlNaW9NSXNwa01yaTd1eU1tSmdadDJyU0JoWVZGVFV5UmlJaUlxb0ZNSnNPSEgzNklpeGN2NHNLRkM0aUlpRERydUc3ZHVxRjc5KzdQZEszRXhFVDg2MS8vd3IvKzlTOEEvd3VZNlpxdGVIcDZtZ3dVbHFlOCtvU25UcDJDVXFuRXFGR2pEUFlaMndZQVk4YU1LZmQ2S1NrcEpzZFlXVm5oMkxGand2UEdqUnRqNk5DaG1EaHhJcVJTS1lDUzVjUEJ3Y0dZT1hNbVdyVnFaZkk2TjI3Y3FMREw4dWpSb3pGNThtVHMzTGtUNDhlUEY3WkhSMGZqMUtsVEdEeDRjTGxMbWZmdDI0ZnUzYnNqTkRRVUkwZU94S2xUcC9EbGwxOWk0OGFOUm9PaFZTMGdJS0RhcjFGV2VucDZqVitUaU9oRnhDQWlVVDFsWldWbGRuTVZBR2pSb2dYT25UdUhsSlFVTkd6WXNKcG5SMFJFUk5YSndzSUMzYnAxUThlT0hSRVRFd09sVWxsaEZscGxnbjFCUVVIQzQzSGp4Z21aaDdwNmZzK1NoVmZhbkRsejRPYm1odm56NTFmcVdEOC9QNzBPeDZVN1I1ZTFjdVZLT0RzN1k5S2tTVWIzaThWaTRYRkNRZ0pzYlcweGZQaHdvWUdOUnFQQnhvMGJvVmFyWVdWbHBiZDh1U3duSnljTUh6NGNDUWtKY0hKeWdxMnRyY0VZYjI5dkRCa3lCUHYyN1lPL3Z6L2F0MjhQbFVxRjFhdFhRNkZRbE50Rk9qWTJGdi85NzMreGV2VnFoSWFHUWlxVllzbVNKZmowMDA5eDhlSkZEQjgrM09TeFZVVVhXSzBwS3BXcXlydDZFeEdSY1F3aUV0VmpUazVPZVBMa2lWbGpQVHc4WUdOamcvdjM3ek9JU0VSRVZFL0laREswYmR1MjJzNWZOdkJZTnZOdzNicDFRZ2Zpa1NOSG1uM2VtemR2Vmlxb3FUdTJiRk9Tdm4zN21oeS9jdVZLMk5qWWxEdEdwNktncUtsQXBER3paOC9Hb0VHRGpPNGJQMzQ4cmwyN2htWExsbUgxNnRVSUNRbEJiR3dzbGl4WkFnY0hCNVBuM0xScEUxcTFhcVgzZDk2b1VTTjgvLzMzeU0vUEZ4cW9WQ2RqeTd5clUwQkFBR3Q2RXhIVkVBWVJpZW94UjBkSHhNZkhtOVZjUlNRU29Ybno1cmgxNnhheXM3T2hVQ2hxYUpaRTlLSVJpOFhRYURSNjJUMUUvNCs5T3crcnVzejdCLzQrQzh0aE84Q1JmZDlYRVhkUlV4RDF5alNmeW16UnBpbW5ucDZtMHFtbnJzcnFOMldiNlRTTzA1aE50cG8yV1pybU1tcWdtT2dFNW9iQVlWOE9tOEpoa1YzZ3dQbjk0WS96RTlrT2NBNWZsdmZydXVZYStkNzM5NzQvTUUzQ20zc1phOGJyUCtORlJVVW9LU21CalkwTkFFQXVsL2U1OVhhMGlZdUw2L0x4NGNPSHNYWHJWcnoyMm11SWpvN3Uxajh6TXhQUFAvODh3c0xDc0huelpvaEVJcjNta2Nsa2VQUE5ON0Z1M1RvOC9mVFQ2T2pvd09yVnF6RnYzcnhlMzZtdHJVVnFhaXJlZmZmZGJtMWVYbDdZdkhremZ2NzVaNzNtSnlJaTZnbERSS0l4clBOY3hKcWFHamc1T2ZYYjM4ZkhCK25wNmNqTHkwTmtaS1N4eXlPaWNVb21rNkdob2FISG0xaUp4b3FHaGdiZHpiMWoyY2FORzNIdDJqVmN2WG9WQVBEbW0yOUNKQkpoM2JwMUFBYS9uWGsweU0vUHh5ZWZmQUo3ZTN1WW1Kamd4bzBiTURjMzE3WG41T1RnOWRkZmg0Mk5EVjUrK1dXOUE4Uk9EUTBOc0xLeVFrTkRBMFFpRWF5c3JQb01wK1Z5T1Y1NjZTVk1uVG9WcmEydDNkcGZldWtsdlBUU1MvM09LL1N0MTBSRU5ISXhSQ1Fhd3pxM3UrZ2JJcHFabWNIZDNSMkZoWVVJRHcrSFZNcC9SUkNSNFRrNE9LQ3NySXdoSW8xcFpXVmxtREJoZ3RCbEdGMUNRZ0s4dkx3d2ZmcDBIRDkrSE8rKyt5NGlJeU5oYW1xS3YvM3RiNFBlemp3YTJOblo0Yi8vKzcrUm1KaUlEUnMyUUNLUklDSWlBak5uem9SR284SFhYMzhOUzB0TGZQREJCOTIyVi9lbHVMZ1l1M2J0UWtKQ0Fzek56ZkhFRTAvZytQSGorT2MvLzRuRGh3L2o0WWNmeG9JRkMyQmlZdEx0M2RqWVdFTitpa1JFUkYwd0lTQWF3MHhNVEdCdGJhMzM1U29BNE9mbmg2S2lJaFFYRjhQSHg4ZUkxUkhSZU9YbDVZV2twQ1RVMU5Ub1Zrd1RqU1UxTlRXb3FxcENWRlNVMEtVWTNVOC8vYVJiZlhmOCtIRzR1TGgwT1VLbHQrM010MjhMTnBibTVtYTkrbW0xMm43NzNuNTVoNTJkSFpZdlg0N2x5NWZqK3ZYcmlJdUx3OWRmZjQwTEZ5N28rc3lkT3hmMTlmWG82T2lBV0N6dWRleU9qZzZjUDM4ZWh3NGRRbkp5TWdCZzNyeDVlT3FwcCtEZzRJQjc3NzBYMzMzM0hiNy8vbnY4NVM5L3dhZWZmb29GQ3hZZ09qb2FvYUdoQTE3bFNFUkVOQmdNRVluR09EczdPMVJXVnVyZGY4S0VDWkRMNWNqTHkyT0lTRVJHSVpWS0VSb2FpclMwTklTSGh6TklwREdscHFZR2FXbHBDQXNMR3hkbkl0NjZmYmMzR28wR2RYVjF1by9iMjl1Ums1TURjM056cUZRcUFOMERPdURtaXJ5K3R0YnFzKzEyK2ZMbC9mWUJnSktTa243Nzd0Ky92OHNGSG0xdGJWQ3BWTWpJeU1DbFM1ZncyMisvb2FXbEJjSEJ3Ympqamp0dzhlSkZuRHAxQ2lkT25JQ1ZsUldtVDUrT1diTm1ZY2FNR2JweFVsTlRjZnIwYVp3K2ZSclYxZFVRaVVTWU8zY3VIbjc0WVFRRUJPam1NalUxeGFPUFBvcTc3NzRiZS9mdXhlSERoM0hnd0FFY09IQUE5dmIybUQxN05wNTk5dGxlLzVuNzdydnY4UG5ubit2MXRTQWlJdW9OUTBTaU1hN3pjcFdXbGhhWW1abnA5WTZmbng4dVhyeUk2dXJxTVhVWU9oR05IUGIyOWdnTEMwTjZlam9VQ2dWY1hWMWhaV1UxTGtJWEdudmEyOXZSME5DQXNySXlWRlZWSVN3c2pIOS8vajhkSFIyNDk5NTdjZVBHRFFDQXRiVTFKQklKWG52dE5WMndPR1hLbEc1YnZ4OTc3TEZCei9uVlYxL3AvdHg1TnFNaG1KdWJvN1cxRmYvbi8vd2ZsSldWb2FLaUF1M3Q3UUJ1M29DOGJOa3lMRml3UUJmK1BmREFBNmlycThQWnMyZnh5eSsvNFBUcDAwaElTSUNabVJsMjd0d0plM3Q3S0pWS0hEaHdBSEs1SEE4ODhBRHV2dnR1T0RzNzkxcURuWjBkbm56eVNUenl5Q000ZWZJa2poMDdoc3pNVElTRWhQVDU3ODhaTTJib2ZZVEVYLy82MXdGOFZZaUlhRHhoaUVnMHhuWCtFRk5UVTlQbk42VzM4dkx5d3BVclY1Q1hsOGNmZ29qSWFPenQ3VEZyMWl5b1ZDcGtabWFpcWFsSjl3TTUwV2dpa1VoZ1lXR0JDUk1tWU5hc1dUeFQrUDh4TVRHQlJDSkJURXdNaW9xS01HM2FOTjE1elo5ODhnbWFtcG9na1VqZzV1Ylc3ZDNWcTFjUGV0NWIzMTIyYk5tZ3grbU51N3M3ek0zTkVSMGREWDkvZjRTR2h2WjYvcVdOalEyV0xGbUNKVXVXb0xhMkZvbUppV2hyYTlOOWYvWEFBdzhnTURBUUV5ZE9ITkEvTnpLWkRFdVhMc1hTcFV1aFZxdTduYmtvRW9sZ2FXbXBPemZSMTljWHZyNitlbzNORUpHSWlIb2owbXExV3FHTElDTGowV2cwMkw5L1A4TER3eEVTRXFMM2V4Y3ZYa1JoWVNHV0xWdlc1V3dqSWlJaUlxS1I0c01QUDRTN3UvdVl1N2lIaUVnSW9uNE8yZTM5ZEY4aUdoT2tVaW5rY2ptcXFxb0c5SjZmbngvYTI5dFJXRmhvbk1LSWlJaUlpSWlJYU5SZ2lFZzBEaWdVaWdHSGlISzVIQTRPRHNqTHl3TVhMQk1SRVJFUkVSR05id3dSaWNZQmhVS0IxdFpXMU5mWEQrZzlQejgvTkRRMDROcTFhMGFxaklpSWlJaUlpSWhHQTRhSVJPTkE1MkhmQTEyTjZPYm1CZ3NMQzJSbFpSbWpMQ0lpSWlJaUlpSWFKUmdpRW8wRFZsWldNRE16UTJWbDVZRGVFNHZGQ0F3TWhGcXRIbkFBU1VSRVJFUkVSRVJqQjBORW9uRmlNT2NpQW9DUGp3OU1UVTI1R3BHSWlJaUlpSWhvSEdPSVNEUk9LQlFLMU5YVm9iVzFkVUR2U2FWUytQdjdvN1MwZE1CbktoSVJFUkVSRWVuajIyKy94ZTkvLy9zZTI3UmFMWTRlUFRyZ24yWDBvVmFya1oyZDNXTmJkblkyMUdyMWtNYi83TFBQY09yVXFTR05RVFJTU0lVdWdJaUdoMEtoQUFCVVYxZkQyZGw1UU8vNisvc2pLeXNMMmRuWm1EcDFxakhLSXlJaUlpS2lJVGgvL2p4cWEydjE3aDhiRzl2bDR4OS8vSEZRODk1MzMzMkRldTkyMTY5ZlIxbFpXWTl0U3FVU1c3WnN3Y21USi9IMjIyL0QzTndjNWVYbFNFbEowWHY4eFlzWDkvajhoeDkrd1A3OSt4RVhGOWV0N1psbm5zRzk5OTZMUC83eGozclBjN3M5ZS9ZZ05qWVcwZEhSZ3g2RGFLUmdpRWcwVHRqYjIwTWtFcUdxcW1yQUlhS1ptUm04dmIxUlVGQ0FzTEF3bUp1Ykc2bEtJaUlpSXFLUjcrelpzemgyN0JneU16TlJYMThQQ3dzTGhJU0VZT1hLbFlpTWpEVGF2T2ZPblVORlJVV1BiY2VQSDBkbVpxYmVZOTBlSW03ZnZuMVFOZDBlSWk1YXRLakhmdmZmZnorZWV1cXBRYzBSRmhhR1YxOTlGUnMzYnNUcnI3K09kOTk5RjFsWldkaThlYlBlWS9RV0lnNkg4dkp5SkNRazlOa25ORFFVVGs1T3cxUVIwZUF3UkNRYUp5UVNDZXpzN0FaOHVVcW5vS0FnNU9mbkl5Y25CeE1uVGpSd2RVUkVSRVJFbzhjLy92RVBtSnFhWXVyVXFUQTNOMGRSVVJIT25UdUgzMzc3RGErLy9qcm16WnRubEhrUEhqeUk1T1RrSHR0NldrbjM0SU1QUXFGUTRPT1BQOVpyZkE4UEQzenh4UmQ2OVYyelpnMktpNHQ3Ykl1SWlNQ3NXYk4wSDMvNjZhZDZqZG1YbUpnWXRMVzE0Y3laTTdoeDR3Wm16NTZOdlh2Mzl2dmU3dDI3c1gvL2ZnQzlCNXg5dGUzZnYxLzMvcTArK2VRVCtQbjU2VlY3V2xvYTB0TFMrdXp6eWl1dk1FU2tFWThoSXRFNG9sQW9VRkJRQUsxV0M1RklOS0IzTFMwdDRlN3Vqcnk4UEFRSEI4UEV4TVJJVlJJUkVSRVJqV3l2di80NndzTEN1anc3ZXZRby92clh2K0tiYjc0eFdvajR6anZ2NlA2OGFORWlyRnExQ284Ly9uaVBmZFZxTmFxcnF4RVRFMk9VV3ZvU0dCaUlsU3RYNmo3dURCR3ZYNytPOVBUMEh0KzVldlVxZ0p1clBEdk5tVE1IWDM3NUpiNzk5bHZFeGNWaDhlTEZYVllVeXVYeWZtc3hOVFhWL2ZucHA1L3UxbjdtekJta3BxYjIyTFo5KzNaTW5EZ1JjK2ZPN2RZMlljS0VmdWZ1TkgvK2ZQenBUMy9xc3c5M2U5Rm93QkNSYUJ4UktCVEl5Y2xCYlcwdGJHMXRCL3grVUZBUWlvdUxrWitmajZDZ0lDTlVTRVJFUkVRME1EZHUzQmoyT1c4UEVJR2IyNFAvK3RlL29xcXFhdGpyNmZUenp6L3IvbHhRVUFEZzV0Zm4xdWNBNE92ckMzOS8vMkd0RFFCeWNuTHc1cHR2OXRubjF2YWVWbGNDNlBiNTNHN0tsQ2s5aG53OW5kOTQ3ZG8xcEthbTl0aTJmZnQyK1B2N0QvbmNSNmxVQ2lzcnF5R05RVFFTTUVRa0drYzYveUt0cXFvYVZJaG9aMmNISnljbjVPVGtJQ0FnQUdJeEwzZ25JaUlpSW1FMU5qWUtYUUlBb0xTMEZBQUUvV1Y3VDJjRUhqbHlCRWVPSE9ueWJOV3FWVDJHaUkyTmpmMEdkTGYySGFpSWlBanMycldyeDdadnZ2a0d4NDhmNzdYOVZ2MmRoZmplZSsvcHZWSlFLcFVhWkpmVjRjT0hlMjByTFMzdHRkM0x5NHZIUmRHb3dSQ1JhQnlSeVdTd3NMQkFaV1dsM3VkMzNDNG9LQWluVDU5R1VWRVJ2TDI5RFZzZ0VSRVJFZEVBTlRjM0l6czdHNEdCZ2NNK3QxYXJSVjFkSGE1Y3VZTFBQdnNNY3JsODBKZUhHRXBmVzV5QnZzOEZySzZ1SHRCbEpRTmxabWJXNjdsL0ZoWVdBS0QzdVlEcjFxM0RzbVhMdWp3ckx5L0hJNDg4MHVzN1dxMFdKU1VsWFo0dFdiSUVTNVlzNmZGOHg4N3pJVzl0YzNOejYzRXh4ZGF0VzN1ZE56TXpzOWRMYjVZdFc4WVFrVVlOaG9oRTQ0eENvUmpTRmdzbkp5ZlkydG9pS3lzTFhsNWVBejVia1lpSWlJaklrQlFLQmVMajQyRnJhd3RIUjhkaG0vZWVlKzdScmNZVGlVUzQ0NDQ3OE54enp3MXF4NCt4SEQxNkZBa0pDZGkwYVpOZS9RMTFzVXBCUVFHT0hqM2FZMXR1Ymk2MmJ0MksxMTkvZmRndkVtbHJhOE9hTld1R05NYUJBd2RnYVduWlk5dVNKVXZ3d2dzdjZEMVdYNEV1MFVqRUVKRm9uRkVvRkNndUxzYU5HemNHZlhodmNIQXdrcEtTY1BYcVZiaTZ1aHE0UWlJaUlpSWkvZm42K3FLb3FBaTdkKy9HdEduVDRPdnJDd2NIaHk0WGFoakQwcVZMY2VQR0RUUTJOcUtvcUFpSmlZbElTMHZERTA4OE1XTENvZExTVWx5NmRHblk1NzF3NFFJdVhMalFZNXVWbFJWeWNuS3djK2RPdlBUU1M0T2VRNlZTNGJmZmZ1dnlyS2FtcHM5M1RFeE04TjU3NzNWN3ZuNzlla3laTWdYMzMzOS9yKzhlT1hJRVo4K2VoVXdtRzF6QlJHTUFRMFNpY2ViV2N4SGQzTndHTllhN3V6c3NMUzJoVkNvWkloSVJFUkdSb0tSU0tWYXRXb1hrNUdRa0pTWGgzTGx6ZXIwWEZSV0YyYk5uRDNyZUo1OThzc3ZISlNVbGVPdXR0N0JwMHlaSUpCSXNXTEJnMEdPUGR2ZmZmeitlZU9JSjNjZDMzbm1uN3MvT3pzNVlzR0FCNHVQajhmREREOFBkM1gxUWN4dzRjQUFIRGh3WTBEc2lrUWpUcDAvdnNXM0NoQW05dGdGQVltSWl6TTNOZVM0OGpXc01FWW5HR2JsY0RvbEVnc3JLeWtHSGlDS1JDS0dob2ZqdHQ5OVFXbG82NkhHSWlJaUlpQXhCTEJZaktpb0trWkdSS0Nnb1FHMXRMYlJhYlovdmVIaDRHTFFHZDNkM3ZQamlpM2oyMldleFo4K2VFUkVpdHJlM0QrajRJVU5lckNLUlNIcHRlK0NCQnhBWEY0ZmR1M2ZqNVpkZjFydStXLzNoRDM5QWJHeHNsMmVWbFpWWXUzYnRvTWJyVDJOalk2L2JtRHRkdTNZTnAwK2ZOc3I4UkNNQlEwU2ljVVlzRnNQZTNoNlZsWlZER3NmTHl3dVptWmxJUzB1RHE2c3J6MFlrSWlJaUlzSEpaREtFaG9ZS05uL241WVZEL1Y3YlVQUUp2bTVsN0l0Vk9ubDdlMlBxMUtsUXFWVFFhRFNRU2djZVRWaFpXY0hCd2FITHM0Nk9Ea09WMkUxTlRRMnNyYTM3N0hQcDBpVkJ0bzhURFJlR2lFVGprSU9EQXpJeU1nYjlGelp3Y3pWaVdGZ1lrcEtTVUZ4Y0RFOVBUd05YU1VSRVJFUTB1cWhVS2dDQWk0dkxzTTFaVlZXRmxKUVUrUHY3OTFqUFFHb3gxTVVxK25qbGxWY2dsOHNIdlJpaG9hRUJhclc2eTdQcTZ1cEIxOU9mOHZKeU9Eczc5OWtuTmpZV1R6Lzl0TjVqOW5VR0k5Rkl4QkNSYUJ4eWRIU0VVcW1FV3EwZTBqYzQ3dTd1a012bFNFOVBoNGVIQjFjakVoRVJFZEdZZC9yMGFTZ1VDb1NGaFhWNVhsMWRqUTgvL0JEQXpVdFhqT1hhdFd0SVMwc0RBT3pidHcvZmZ2c3RBSFRiRmx4VlZZWE16RXdzVzdiTWFMVU14VkJ2c2Y3ODg4L3grZWVmRzZpYXZwV1VsS0Npb2dJVEowN3NzVjJyMWVMamp6K0dwNmNuek16TTBOemNqTnpjWEYxL3JWYUx5NWN2UXlhVElUZzRXUGZlcGsyYitnMG1pVVlTaG9oRTQ1Qzl2VDNFWXZHUVEwU1JTSVR3OEhDY1BYc1doWVdGOFBIeE1XQ1ZSRVJFUkVRalQyRmhJZDUrKzIxNGVIZ2dNREFRTXBrTUZSVVZ1SHo1TWxwYlc3RjgrZkl1RjRsY3ZIZ1JPM2Z1eEd1dnZkWnQrKzFBUGZQTU04ak96Z1lBbUp1Ykl5d3NESkdSa1lpTWpFUkFRQUQyN05rRE96czdBTUNPSFR2UTBkR0JZOGVPd2NiR0JnODk5QkRNek16ZzdlMnQ2Mk1zZS9mdXhkNjllNDA2eDczMzNvdFpzMmIxMk5iVHFreDlhVFFhdlBIR0c1Z3dZUUlzTFMzUjJ0cUtNMmZPQUFEbXpwM2I0enRIamh6QnRtM2JzSG56Wm9TSGgrUExMNy9FMGFOSHNXZlBIbGhZV0tDOXZSM3Z2LzgrM056Y3NHWExGZ0EzUStmMTY5ZGo5dXpaZU9PTk53WmRMOUZ3WW9oSU5BNUpKQkpNbURBQkZSVVZReDdMMWRVVjl2YjJVQ3FWOFBMeTRtMWxSRVJFUkRTbVJVZEhvNktpQXFtcHFUaDkralE2T2pwZ2EydUxHVE5tWU5teVpaZzZkV3FYL20xdGJjakx5OE96eno2TGQ5NTVCd0VCQVlPZSs0NDc3c0RNbVRNeFpjb1VCQWNIZHp1YWFNZU9IZEJxdGZqblAvK0pFeWRPWVBIaXhiQ3lzc0szMzM2TCtQaDRQUGZjYzlpeFkwZXY0OWZWMWVHSEgzN1FxNWE2dXJwZTJ5SWpJeEVWRmFYN2VQdjI3ZjJPMTlEUW9QZk9wdC85N25lWU5Xc1dBZ01EKyswN2ZaekMyUUFBSUFCSlJFRlUwSE1TcFZJcDZ1cnFrSktTQW8xR0E1RklCR2RuWjZ4ZXZickhFUEg2OWV2NC9QUFA0ZXJxaXBDUUVBREEvUG56c1gvL2ZwdzhlUkxMbGkyRFZDckYwcVZMc1d2WExtUm5aeU13TUJEMjl2YTQ2NjY3Y1BEZ1FWeThlQkZUcGt3WlVKMUVRbUNJU0RST09UZzRRS2xVb3EydERTWW1Ka01hS3p3OEhLZFBuMForZnY2UWZ1dEhSRVJFUkRUU2VYcDY0c1VYWDlTNy84eVpNL0hoaHg5aS9mcjFlUEhGRjdGaHd3Wk1talJwVUhNLzlOQkRmYlpuWkdUZzQ0OC9SbVptSnViTW1ZUG5uMzhlVXFrVWl4Y3Z4dGF0Vy9IYWE2OWg0Y0tGZU9hWloyQmxaZFh0L2RyYVduejY2YWVEcXUxVy92Nyt1TysrKzNRZjc5NjlHK2JtNWwzNmJOdTJEU0tSQ09ibTVxaXZyMGRDUWdMYzNkMzFHdi9SUngvdDhibFdxMFY5ZlQxa01obWtVaWxxYW1wdzRjSUZ5R1N5QWRXL2JkczJ2ZnYrL2U5L1IwTkRBLzc4NXovcmJxUU9EUTJGUXFIQXFWT25kTnZKNzd6elR1emV2UnRIamh6UmhaK1BQdm9vNHVQanNYMzdkbno2NmFjOEhvcEdQSWFJUk9PVW82TWowdFBUVVZsWk9lU0RuNTJjbkhTWHRmajQrT2orOGlRaUlpSWlJaUF3TUJDYk4yL0dTeSs5aE4yN2R3ODZST3pOeVpNbmNlVElFVnk1Y2dVeW1ReFBQZlVVVnF4WW9RdWwvUHo4c0hYclZ2end3dy80OHNzdmtaS1NnaSsrK0tKYnNHZUlpMVcrK09JTDJOallkSG0yYjkrK2J2M3k4L09SbXBvS3JWWUw0T1psTkd2WHJ0VnI3dDUwZEhSZzFhcFZhR2xwNmZKOCtmTGxReHEzTjVjdlgwWmlZaUlXTDE2TXlNaEkzWE9SU0lRWk0yYmd6Smt6YUdscGdabVpHWnljbkRCNThtVGQ1d3NBY3JrYzk5MTNIM2J0Mm9YazVPUmV0MmNUalJRTUVZbkdLWHQ3ZTBna0VsUlVWQmprOXJqdzhIQWtKQ1FnTHk5UHIyMEZSRVJFUkVUamlZK1BEejc4OE1NaG40dllrNEtDQXFoVUtqejAwRU5Zc1dKRmo1ZVdpRVFpUFBEQUE1ZzJiUnFPSERuU0xVQ01qWTJGUXFIUWU4Nm9xS2dldisvMzhQRFE2LzNPUzJnNlE3WGVWdUhGeHNicS9mT0ZSQ0xCMDA4L2pacWFHbWkxV2tna0V2ajUrV0hHakJsOXZyZGt5Wkp1RitYb0l6SXlFcSs4OGtxWHJkdWRIbi84Y1R6MzNITmRkbjF0M0xpeDIrZTVjdVZLQkFRRU1FQ2tVVUdrdlRVR0o2Sng1ZlRwMDJocGFjR2lSWXNNTWw1aVlpSnFhbXB3MTExM2RUdWZoWWlJaUlqSTBENzg4RU5FUlVWaDl1elpRcGNpcVBiMmRtaTFXbjRQVGtSREl1cG5UejF2UUNBYXh4d2NISEQ5K25XMHRyWWFaTHl3c0RDMHRMUWdKeWZISU9NUkVSRVJFVkgvSkJJSkEwUWlNanFHaUVUam1LT2pJd0Nnc3JMU0lPUFoyOXZEemMwTldWbFpCZ3NtaVlpSWlJaUlpRWg0REJHSnhqRTdPenRJcFZKVVZGUVliTXl3c0RDMHRiVWhLeXZMWUdNU0VSRVJFUkVSa2JBWUloS05ZMkt4R0JNbVREQm9pQ2lYeStIcDZZbWNuQncwTlRVWmJGd2lJaUlpSWlJaUVnNURSS0p4enRIUkViVzF0V2hwYVRIWW1CTW5UZ1FBcEtTa0dHeE1JaUlpSWlJaUloSU9RMFNpY2M3QndRR0E0YzVGQkFBTEN3c0VCd2VqcEtRRWFyWGFZT01TRVJFUkVSRVJrVEFZSWhLTmMzWjJkakF4TVRIb2xtWUFDQW9LZ29XRkJTNWZ2Z3l0Vm12UXNZbUlpSWlJaUlob2VERkVKQnJuUkNLUndjOUZCQUNKUklLSWlBaGN2MzRkQlFVRkJoMmJpSWlJaUlpSWlJWVhRMFFpZ3FPakkrcnE2Z3g2TGlJQWVIaDRZTUtFQ1VoTlRVVnJhNnRCeHlZaUlpSWlJaUtpNGNNUWtZamc2T2dJQUVZNXYzRHk1TWxvYlcyRlVxazArTmhFUkVSRVJFUkVORHdZSWhJUjVISTVURTFOVVY1ZWJ2Q3hiVzF0NGV2cmk5emNYTlRWMVJsOGZDSWlJaUlpSWlJeVBvYUlSQVNSU0FSSFIwZGN1M2JOS09PSGg0ZERLcFhpOHVYTFJobWZpSWlJaUlpSWlJeUxJU0lSQVFDY25aM1IxTlNFK3ZwNmc0OXRabWFHME5CUWxKZVhvNnlzek9EakV4RVJFUkVSRVpGeE1VUWtJZ0EzUTBRQXVIcjFxbEhHOS9mM2g3VzFOVkpTVXREUjBXR1VPWWlJaUlpSWlJaklPQmdpRWhFQVFDYVRRUzZYRzIxTHMxZ3NSbVJrSkJvYUdwQ1RrMk9VT1lpSWlJaUlpSWpJT0JnaUVwR09pNHNMMUdvMU5CcU5VY1ozZG5hR2k0c0xsRW9sYnR5NFlaUTVpSWlJaUlpSWlNandHQ0lTa1k2enN6TTZPanFnVnF1Tk5zZWtTWlBRM3Q2T0sxZXVHRzBPSWlJaUlpSWlJaklzaG9oRXBLTlFLQ0NWU28yMnBSa0FySzJ0RVJnWUNKVktoZkx5Y3FQTlEwUkVSRVJFUkVTR3d4Q1JpSFRFWWpHY25KeU1kcmxLcDdDd01GaFpXZUhDaFF0RzJ6cE5SRVJFUkVSRVJJYkRFSkdJdW5CMmRrWmpZeVBxNit1Tk5vZEVJc0cwYWRQUTJOaUl0TFEwbzgxRFJFUkVSRVJFUkliQkVKR0l1bkIyZGdZQW8yNXBCZ0FIQndmNCt2b2lKeWNIVlZWVlJwMkxpSWlJaUlpSWlJYUdJU0lSZFdGaFlRRWJHeHVqaDRnQUVCRVJBWmxNaHZQbno2T2pvOFBvOHhFUkVSRVJFUkhSNERCRUpLSnVYRnhjb0ZhcjBkN2VidFI1VEV4TU1IWHFWTlRWMVVHcFZCcDFMaUlpSWlJaUlpSWFQSWFJUk5TTnM3TXoydHZib1ZhcmpUNlhpNHNMUEQwOWtabVppZXZYcnh0OVBpSWlJaUlpSWlJYU9JYUlSTlROaEFrVElKVktqWDVMYzZmSXlFaVltcHJpL1BuejBHcTF3ekluRVJFUkVSRVJFZW1QSVNJUmRTTVdpK0hvNkRnczV5SUNnSm1aR1NaUG5veWFtaHBrWjJjUHk1eEVSRVJFUkVSRXBEK0dpRVRVSTJkblp6UTBOS0Nob1dGWTV2UHc4SUNycXl2UzA5TlJYMTgvTEhNU0VSRVJFUkVSa1g0WUloSlJqMXhjWEFCZzJGWWpBc0NVS1ZNZ0ZvdTVyWm1JaUlpSWlJaG9oR0dJU0VROXNyQ3dnSTJOemJDR2lES1pEQkVSRWFpc3JFUitmdjZ3elV0RVJFUkVSRVJFZldPSVNFUzljbloyUmtWRkJkcmIyNGR0VGw5Zlh6ZzZPdUxLbFN0b2Ftb2F0bm1KaUlpSWlJaUlxSGNNRVltb1Y4N096bWh2YjBkRlJjV3d6anQxNmxSb3RWcHVheVlpSWlJaUlpSWFJUmdpRWxHdkhCd2NZR0ppZ3RMUzBtR2QxOHJLQ2hFUkVTZ3ZMK2R0elVSRVJFUkVSRVFqQUVORUl1cVZXQ3lHaTRzTHlzcktobjFGb0wrL1AxeGRYWkdhbW9ycTZ1cGhuWnVJaUlpSWlJaUl1bUtJU0VSOWNuTnpRMHRMQ3lvcks0ZDk3dW5UcDhQYzNCeEpTVWxvYTJzYjl2bUppSWlJaUlpSTZDYUdpRVRVSjJkblowZ2trbUhmMGd3QXBxYW1tRGx6SnBxYW1uRGh3b1ZobjUrSWlJaUlpSWlJYnBJS1hRQVJqV3hTcVJST1RrNG9MUzFGWkdUa3NNL3Y0T0NBa0pBUUtKVktPRGs1d2NmSFo5aHJJQ0lpSWlMcXp4dHZ2SUdrcENTWW01dmowS0ZEUnA5djBhSkYvYzUxOTkxMzQ4YU5HNGlMaSt2MmJsOXU3WDk3WDZsVUNybGNqb0NBQU15Wk13Y0xGeTZFVk1wb2dXZzg0UC9UaWFoZmJtNXVLQ3Nydy9YcjEyRnJhenZzODRlR2hxS2lvZ0tYTGwyQ1FxR0FqWTNOc05kQVJFUkVSTlNiWThlTzRkeTVjMEtYTVNCU3FSUjMzWFhYZ1B0cU5CcFVWVlVoUFQwZFNVbEoyTFZyRjE1OTlWV0VoWVVaczF3aUdnRVlJaEpSdjF4ZFhTRVNpVkJTVWlKSWlDZ1NpVEJ6NWt6RXhjVWhLU2tKc2JHeGtFZ2t3MTRIRVJFUkVZMDh3MzBCNE8wcUtpcXdmZnQyeE1URTRNU0pFNExXTWhCU3FSVFBQZmZjb1B0cU5Cb2NPM1lNTzNic3dJc3Z2b2dOR3paZyt2VHB4aWlWaUVZSW5vbElSUDB5TlRXRmc0T0RJT2NpZHJLd3NNRDA2ZE5SVzF1TEsxZXVDRllIRVJFUkVZMGNKaVltcUsydEZXeCtyVmFMdi96bEw1QktwWGpxcWFjRXEwTUlVcWtVeTVZdHc2Wk5teUNSU1BEKysrOEwrcjhGRVJrZlEwUWkwb3VibXh2cTZ1clEwTkFnV0EydXJxN3c5L2RIYm02dW9JRW1FUkVSRVkwTXJxNnVxS2lvRUd6K2d3Y1A0dEtsUzNqdXVlZGdaMmNuV0IxQ0Nnb0t3ajMzM0lQNitub2NQSGhRNkhLSXlJZ1lJaEtSWHR6YzNBQkE4UEF1SWlJQ2Nya2M1OCtmUjFOVGs2QzFFQkVSRVpHd0prMmFoS3FxS21Sblp3LzczR1ZsWmRpeFl3Zm16NStQNk9qb1laOS9KSW1KaVFFQS9QcnJyd0pYUWtUR3hETVJpVWd2TXBrTTl2YjJLQzB0UlZCUWtHQjFTQ1FTekpvMUMvSHg4VWhPVGtaMGREUkVJcEZnOVJBUkVSR1JjQUlDQWhBVUZJVDQrSGpZMnRyQzBkRnhXT2JWYXJYWXRHa1RMQ3dzc0hidDJtR1owOUEwR2cwKyt1aWpiczluenB5SkdUTm1ER2dzTHk4dkFFQkpTWWxCYWlPaWtZa2hJaEhwemMzTkRhbXBxV2h1Ym9aTUpoT3NEaHNiRzB5ZVBCbm56NStIVXFua1RYQkVSRVJFNDFoc2JDejI3ZHVIM2J0M1k5cTBhZkQxOVlXRGd3Tk1UVTJOTnVmMzMzK1A5UFIwYk5pd0FUWTJOa2FieDVnMEdrMlAyNC9sY3ZtQVEwU3BWQXFwVklxV2xoWkRsVWRFSXhCRFJDTFNXMmVJV0ZaV0JqOC9QMEZyOGZIeFFYbDVPVEl5TXVEbzZBZ0hCd2RCNnlFaUlpSWlZY2hrTXF4YXRRckp5Y2xJU2tyQ3VYUG45SG92S2lvS3MyZlBIdkI4aFlXRitQcnJyN0ZvMFNKRVJVVU4rUDJSd3R6Y0hJY09IVExJV0RkdTNJQkdvNEZjTGpmSWVFUTBNakZFSkNLOVdWdGJ3OGJHQnFXbHBZS0hpQUF3ZGVwVVZGZFg0OWRmZjhYQ2hRdGhZV0VoZEVsRVJFUkVKQUN4V0l5b3FDaEVSa2Fpb0tBQXRiVzEwR3ExZmI3ajRlRXhxTGsyYmRxRXRyWTJXRmxaWWVmT25kM2FOUnFON3Ztamp6NDZxRG4wWVdKaWdyYTJ0ajc3YURRYW1KdWJHNjJHVHAxblVvNkVueEdJeUhnWUloTFJnTGk1dVNFek14T3RyYTFHM1NLaUR4TVRFOHlaTXdjblQ1N0UyYk5uRVJNVEE2bVUvMW9qSWlJaUdxOWtNaGxDUTBPTk9rZE9UZzRBWVAvKy9UMjJhelFhZlBQTk53Q01HeUxhMnRwQ3JWYWp2THdjVGs1TzNkcXJxcXFnMFdqZzR1Sml0Qm82SFQ5K0hBQnd4eDEzR0gwdUloSU9mOW9tb2dGeGMzTkRSa1lHcmw2OXFqdEFXVWh5dVJ3elo4N0UyYk5uY2U3Y09VUkZSZkdpRlNJaUlpSXltcmk0dUY3YkZpMWFaTkJ0d24wSkRnNkdXcTNHcVZPbjhPQ0REM1pyUDNQbURBQVkvZnp3YytmT0lTNHVEaTR1TGxpOGVMRlI1eUlpWVltRkxvQ0lSaGM3T3p0WVdGaWd0TFJVNkZKMFhGMWRFUjRlanRMU1VpaVZTcUhMSVNJaUlpSXl1anZ2dkJNQXNHdlhMdnoyMjI5ZDJsSlRVL0hWVjE5QkpCSmgyYkpsUnBtL3RiVVZlL2Z1eFovLy9HZklaREs4OGNZYmd1OVVJaUxqNGtwRUlob3dOemMzNU9mbm83MjlIUktKUk9oeUFBQWhJU0dvcTZ1RFVxbUVqWTNOb00rNElTSWlJaUl5dElzWEwyTG56cDE0N2JYWERIWWg0SXdaTTdCczJUSWNQbndZNjlldmg1dWJHeHdjSEZCVFV3T1ZTZ1VBV0xObURZS0NnbnA4WDZQUjRLT1BQdXF4N2Jubm51dTFiMXRiRzZxcXFwQ2VubzdHeGtaNGVYbGgvZnIxOFBYMU5jam5SVVFqRjBORUlob3dOemMzNU9UazROcTFhM0J6Y3hPNkhKMXAwNmFob2FFQnYvMzJHNnlzckdCblp5ZDBTVVJFUkVSRWFHdHJRMTVlSHA1OTlsbTg4ODQ3Q0FnSU1NaTQ2OWF0UTNoNE9JNGVQWXE4dkR4Y3UzWU5OalkyaUlxS3dqMzMzSU1wVTZiMCtxNUdvOEhCZ3dkN2JPc3BST3pzSzVGSVlHZG5oNGlJQ015ZlB4L1IwZEVqWm1FQkVSbVhTTnZmbFZWRVJMZlJhclU0ZE9nUW5KeWNNSFBtVEtITDZhSzV1Um54OGZFUWlVUll1SERoc054R1IwUkVSRVRVbit6c2JLeGZ2eDV0YlczWXNHRURKazJhSkhSSlJFUmRpUHE1WUlCbkloTFJnSWxFSXJpN3U2TzB0QlFhalVib2NycVF5V1NZTTJjT1dsdGI4Wi8vL0FmdDdlMUNsMFJFUkVSRWhNREFRR3pldkJrbUppYll2WHUzME9VUUVRMFlWeUlTMGFCVVZWWGg1TW1UbURsekpqdzlQWVV1cDV1aW9pSWtKeWZEeThzTE0yYk1FTG9jSWlJaUlpSUFnRXFsZ29PREF5d3NMSVF1aFlpb0M2NUVKQ0tqVUNnVXNMUzAxQjNhUE5KNGVub2lPRGdZS3BVS1dWbFpRcGREUkVSRVJBUUE4UEx5WW9CSVJLTVNRMFFpR2pSUFQwK1VsNWVqcGFWRjZGSjZGQjRlRGxkWFYxeTVjZ1ZYcjE0VnVod2lJaUlpSWlLaVVZc2hJaEVObXFlbko3UmFMWXFMaTRVdXBVY2lrUWd6Wjg2RVhDNUhVbElTNnVycWhDNkppSWlJaUlpSWFGUmlpRWhFZzJaall3TmJXMXNVRlJVSlhVcXZwRklwNXN5WkE0bEVnck5uejZLMXRWWG9rb2lJaUlpSWlJaEdIWWFJUkRRa1hsNWVxS3FxUW1Oam85Q2w5TXJTMGhKUlVWRm9iR3pFMmJObmVXTXpFUkVSRVJFUjBRQXhSQ1NpSWZIdzhBQ0FFYjBhRVFBY0hCd3dmZnAwVkZaV0lpa3BDYnlZbm9pSWlJaUlpRWgvREJHSmFFaGtNaGtjSFIxSDdDM050L0x5OHNLa1NaTlFWbGFHQ3hjdUNGME9FUkVSRVJFUjBhakJFSkdJaHN6VDB4UDE5Zlc0ZnYyNjBLWDBLekF3RUVGQlFTZ29LRUI2ZXJyUTVSQVJFUkVSRVJHTkNnd1JpV2pJM04zZElSYUxSOFZxUkFDWU9IRWl2THk4b0ZRcWtadWJLM1E1UkVSRVJFUkVSQ01lUTBRaUdqSVRFeE80dXJxaXVMaDRWSncxS0JLSk1HM2FOTGk0dU9EU3BVc29LU2tSdWlRaUlpSWlJaUtpRVkwaEloRVpoS2VuSjVxYm02RldxNFV1UlM5aXNSaXpaczJDUXFGQWNuSXl5c3ZMaFM2SmlJaUlpSWlJYU1SaWlFaEVCdUhpNGdJVEU1TVJmMHZ6cmFSU0tlYk9uUXNyS3l1Y1BYdDIxQVNnUkVSRVJFUkVSTU9OSVNJUkdZUllMSWE3dXp0S1NrclEwZEVoZERsNk16VTF4Zno1OHlHVHlYRG16QmxVVlZVSlhSSVJFUkVSRVJIUmlNTVFrWWdNeHN2TEMyMXRiYmg2OWFyUXBReUl1Yms1NXMrZkR6TXpNeVFtSnFLbXBrYm9rb2lJaUlpSWlJaEdGSWFJUkdRd0V5Wk1nRXdtRzFWYm1qdFpXRmhnL3Z6NWtFcWxPSDM2TkdwcmE0VXVpWWlJaUlpSWlHakVZSWhJUkFZakVvbmc2ZW1Kc3JJeXRMVzFDVjNPZ0ZsYVdtTCsvUGtRaThYNDVaZGZVRjlmTDNSSlJFUkVSRVJFUkNNQ1EwUWlNaWhQVDA5MGRIU2d0TFJVNkZJR3hkcmFHdlBtellOV3E4VXZ2L3lDaG9ZR29Vc2lJaUlpSWlJaUVoeERSQ0l5S0Z0Ylc5alkyS0N3c0ZEb1VnWk5McGRqM3J4NTBHZzBPSFhxRkZja0VoRVJFUkVSMGJqSEVKR0lETTdIeHdkcXRYcFVoMjkyZG5hWVAzOCsydHZiY2VyVUtkVFYxUWxkRWhFUkVSRVJFWkZnR0NJU2tjRjVlWGxCTEJham9LQkE2RktHeE03T0R0SFIwZEJxdFRoMTZoU3VYNzh1ZEVsRVJFUkVSRVJFZ21DSVNFUUdaMlptQmpjM054UVdGcUtqbzBQb2NvWkVMcGNqT2pvYUlwRUlwMDZkUW5WMXRkQWxFUkVSRVJFUkVRMDdob2hFWkJTK3ZyNW9hV2tadFJlczNNckd4Z1l4TVRFd01USEJMNy84Z3NyS1NxRkxJaUlpSWlJaUlocFdEQkdKeUNnY0hCeGdaV1dGL1B4OG9Vc3hDQ3NySzBSSFI4UE16QXlKaVltb3FLZ1F1aVFpSWlJaUlpS2lZY01Ra1lpTVFpUVN3ZGZYRnhVVkZXaG9hQkM2SElPd3RMUkVURXdNek0zTmtaaVlPQ1pXV1JJUkVSRVJFUkhwZ3lFaUVSbU50N2YzbUxoZzVWWXltUXd4TVRHd3NiSEJyNy8rT21aV1doSVJFUkVSRVJIMWhTRWlFUm1ObVprWlhGMWRVVkJRTU9vdldMbVZ1Yms1b3FPajRlRGdnQXNYTGtDcFZBcGRFaEVSRVJFUkVaRlJNVVFrSXFQcXZHQ2xyS3hNNkZJTXlzVEVCSGZjY1FmYzNkMlJucDZPaXhjdlFxdlZDbDBXRVJFUkVSRVJrVkV3UkNRaW8zSjBkSVNscGVXWTNQWXJGb3N4YTlZcytQdjdJeTh2RDBsSlNXTnF4U1VSRVJFUkVSRlJKNGFJUkdSVW5SZXNsSmVYbzdHeFVlaHlERTRrRW1IeTVNa0lEdzlIU1VrSkVoTVQwZGJXSm5SWlJFUkVSRVJFUkFiRkVKR0lqTTdiMnhzaWtXaE1YYkJ5dTVDUUVFeWRPaFZxdFJvSkNRbG9hbW9TdWlRaUlpSWlJaUlpZzJHSVNFUkdaMjV1UGlZdldMbWRyNjh2NXN5Wmc4YkdSc1RIeDZPcXFrcm9rb2lJaUlpSWlJZ01naUVpRVEwTFgxOWYzTGh4QTFldlhoVzZGS055Y1hIQmdnVUxJSkZJY09yVUtSUVhGd3RkRWhFUkVSRVJFZEdRTVVRa29tSGg1T1FFQ3d1TE1YbkJ5dTNrY2psaVkyTmhhMnVMcEtRa0tKVktvVXNpSWlJaUlpSWlHaEtHaUVRMExEb3ZXTGwyN2RxNE9DL1EzTndjMGRIUjhQRHdRSHA2T3BLVGs5SGUzaTUwV1VSRVJFUkVSRVNEd2hDUmlJYk5lTGhnNVZZU2lRU3paczFDYUdnb2lvcUtjUHIwYWJTMHRBaGRGaEVSRVJFUkVkR0FNVVFrb21Fams4bDBGNnhvdFZxaHl4azJZV0ZobURsekpxcXJxeEVYRjRmcTZtcWhTeUlpSWlJaUlpSWFFSWFJUkRTc2ZIMTkwZHpjUE9ZdldMbWRwNmNuWW1KaUFBQUpDUW5qNG14SUlpSWlJaUlpR2pzWUloTFJzT3E4WUNVdkwwL29Vb2FkdmIwOUZpMWFoQWtUSnVEQ2hRczRmLzQ4ejBra0lpSWlJaUtpVVlFaEloRU5xMXN2V0ttdnJ4ZTZuR0ZuWm1hR2VmUG1JU2dvQ0FVRkJVaElTQmdYRjgwUUVSRVJFUkhSNk1ZUWtZaUduWitmSHlRU0NiS3pzNFV1UlJBaWtRZ1JFUkdZTldzVzZ1dnJFUmNYaC9MeWNxSExJaUlpSWlJaUl1b1ZRMFFpR25hbXBxYnc5dmFHU3FVYTE3Y1ZlM2g0WU1HQ0JUQTFOVVZpWWlJeU1qTEcxWVV6UkVSRVJFUkVOSG93UkNRaVFRUUVCS0M5dlgxY25vMTRLN2xjam9VTEY4TEZ4UVZwYVdrNGZmbzBtcHViaFM2TGlJaUlpSWlJcUF1R2lFUWtDR3RyYTdpNnVpSTNOM2ZjWHk1aVltS0NPWFBtSURJeUVwV1ZsWWlMaXh0M3QxY1RFUkVSRVJIUnlNWVFrWWdFRXhnWWlKYVdGaFFYRnd0ZHlvZ1FFQkNBMk5oWW1KcWE0c3laTTBoSlNVRkhSNGZRWlJFUkVSRVJFUkV4UkNRaTRUZzRPTURPem03Y1hyRFNFMXRiV3l4Y3VCQStQajdJenM3R3laTW4wZERRSUhSWlJFUkVSRVJFTk00eFJDUWlRUVVHQnFLMnRwYTNFOTlDS3BWaTJyUnBtRGx6cHU3MlpwVktKWFJaUkVSRVJFUkVOSTR4UkNRaVFibTd1ME1tazNFMVlnODhQVDJ4ZVBGaTJOalk0Tnk1YzBoS1Noclh0MWtURVJFUkVSR1JjQmdpRXBHZ3hHSXhBZ0lDY08zYU5kVFcxZ3Bkem9oamFXbUptSmdZaElTRW9LU2tCRC8vL0RQS3lzcUVMb3VJaUlpSWlJakdHWWFJUkNRNFgxOWZTS1ZTNU9Ua0NGM0tpQ1FXaXhFZUhvNEZDeGJBMU5RVVo4K2V4Ymx6NTlEVzFpWjBhVVJFUkVSRVJEUk9NRVFrSXNHWm1KakF4OGNIS3BVS04yN2NFTHFjRWN2ZTNoNExGeTVFVUZBUVZDb1ZqaDgvam12WHJnbGRGaEVSRVJFUkVZMEREQkdKYUVRSUNBaUFWcXRGWGw2ZTBLV01hQktKQkJFUkVZaUppWUZFSWtGaVlpSXVYTGdBalVZamRHbEVSRVJFUkVRMGhvbTBXcTFXNkNLSWlBRGcxMTkvaFZxdHh0S2xTeUdSU0lRdVo4VFRhRFJJVFUxRmJtNHVMQzB0TVdYS0ZEZzdPd3RkRmhFUkVSRVJFWTFDSXBGSTFGYzdWeUlTMFlnUkdCaUlscFlXcUZRcW9Vc1pGYVJTS1NaUG5vejU4K2NEQUJJVEU1R1VsTVF0NFVSRVJFUkVSR1J3WElsSVJDUEt5Wk1uMGRiV2hzV0xGNk9mWDRMUUxkcmIyNUdSa1lITXpFeElwVkpNbkRnUnZyNisvQm9TRVJFUkVSR1JYcmdTa1loR2xjREFRTlRWMWFHOHZGem9Va1lWaVVTQzhQQndMRjY4R0hLNUhCY3ZYa1JDUWdKcWEydUZMbzJJaUlpSWlJakdBSzVFSktJUlJhdlY0dWpSbzdDMHROUnQwNldCMFdxMUtDd3N4SlVyVjlEVzFvYkF3RUNFaG9aQ0twVUtYUm9SRVJFUkVSR05VUDJ0UkdTSVNFUWpUazVPRGk1ZnZveEZpeGJCMXRaVzZISkdyWmFXRnFTa3BFQ2xVc0hDd2dLUmtaRndjM01UdWl3aUlpSWlJaUlhZ1JnaUV0R29vOUZvY1Bqd1liaTZ1bUxHakJsQ2x6UHFWVlJVNE9MRmk2aXZyNGVqb3lNbVRackVjSmFJaUlpSWlJaTZZSWhJUktOU2Ftb3Fzckt5c0dUSkVsaGFXZ3BkenFqWDBkR0IzTnhjS0pWS2FEUWErUGo0SUR3OEhHWm1aa0tYUmtSRVJFUkVSQ01BUTBRaUdwVmFXbHB3NU1nUmVIcDZZdHEwYVVLWE0yYTB0TFFnUFQwZCtmbjVrRXFsQ0EwTmhiKy9QOFJpM3JORlJFUkVSRVEwbmpGRUpLSlJLeVVsQmJtNXVWaXlaQWtzTEN5RUxtZE1xYTJ0eGVYTGwxRlJVUUVyS3l0TW1qUUpycTZ1UXBkRlJFUkVSRVJFQW1HSVNFU2pWbk56TS83OTczL0QxOWNYa3lkUEZycWNNYW0wdEJRcEtTbG9iR3lFbzZNakprNmNDSHQ3ZTZITG9uRkVvOUZBcFZKQnJWYWp1YmtaN2UzdFFwZEV3MEFpa1VBbWs4SEJ3UUZlWGw2OFBmNDJxYW1weU16TXhNcVZLd2Y4Ym1abUpuSnljckJreVJLamZWMHpNek5SVlZXRjJiTm5vNStmTlVhMXBLUWtwS1NrWU9YS2xicS9HelVhRFlxTGkrSGo0eU53ZFlaUldGZ0lhMnRyS0JRS29Vc2hJcUlSb0w4UWtkK3hFZEdJSlpQSjRPUGpnL3o4ZklTRWhNRGMzRnpva3NZY056YzNPRHM3SXljbkI1bVptVGh4NGdUYzNOd1FIaDRPR3hzYm9jdWpNYTY2dWhwS3BSSUtoUUloSVNHd3NyS0NSQ0lSdWl3YUJ1M3Q3V2hvYUVCWldSbVNrcElRR2hyS1gyRGNJams1R1h2MjdCbFVpSGpvMENFa0p5ZmpycnZ1MGozVGFyVm9iR3hFWFYyZDdqL1hyMTlIVFUwTmFtcHFVRlZWaGYvNnIvOUNlSGk0WG5OODlkVlhTRWxKd2RHalJ3ZGMzMURkdUhFRFo4K2U3YlU5SWlJQ2lZbUplbzIxYk5reW1KcWFBZ0RlZSs4OWlFUWl2UHJxcTdyMjVPUmtIRDU4R0E4KytLRHUyWjQ5ZTdCcjF5NDg5TkJEV0wxNjlZQ0MydlBuejZPMnRsYnYvckd4c1YwKy92SEhIL1YrOTFiMzNYZGZqOCsxV2kzZWYvOTlORFkyNHV1dnY0WkVJc0hodzRmN0hTODhQQnplM3Q3OTltdHBhVUZGUllWZU5Tb1VDdTQ2SVNJYUJSZ2lFdEdJRmh3Y2pQejhmR1JsWldIU3BFbENsek1tU1NRU0JBY0h3OWZYRjFsWldjakp5VUZaV1JrOFBUMFJGaGJHaTIzSUtLcXJxNUdlbm83dzhIRFkyZGtKWFE0Tk00bEVBcmxjRHJsY2pwcWFHcVNscFNFc0xHeGNCWW1MRmkwYVVoOGJHeHZzMjdldnk3T1dsaGFjT1hNR3NiR3hTRXRMdzZaTm05RFkySWltcGliMHR2bElKQkxCMnRvYVU2Wk0wVHRFckt1ckUrd1hUYlcxdGRpNGNXT3Y3Ujk4OEFHMmI5K3UxMWl4c2JFd05UVkZUVTBOZnZubEZ5eGN1TEJMZTFGUkVlUnlPV3h0YlhYUFZxNWNpYXFxS3V6YXRRdm56cDNEK3ZYcjRlYm1wbXMvZCs1Y3I4SFo4ZVBIa1ptWnFWZHRuZlhkU3QvUDYzYTloWWhuenB4QmZuNCtYbm5sRmQwdmNMWnUzZHJ2ZU04Kys2d3VSSHoxMVZkeC92ejVIdnR0MmJJRnp6Ly92RjQxdnZMS0s5MCtYeUlpR25rWUloTFJpR1poWVFGdmIyL2s1ZVVoT0RpWXR3a2JrYW1wS1NaT25JaUFnQUJrWkdRZ1B6OGZ4Y1hGOFBYMTVVcFFNaWlOUmdPbFVza0FrUUFBZG5aMkNBOFBSM3A2T21iTm1qVnV0alovOGNVWHZiYnQzYnNYLy83M3YvdnMwOU9xM2ZqNGVEUTFOV0hod29Wd2NuTEN4SWtUSVpQSllHbHBDUXNMQzFoWVdPRGt5WlBJeU1qQXRtM2JZR2RuQnpzN3V3Ri96U3NySytIbzZEaWdkd3pGeWNrSmNYRnhBSUFkTzNaZy8vNzlPSERnZ0c1RklRREV4Y1hocDU5K3dqLys4US9zMjdkUEYzanUzTGtUMzN6emplNzlUc2VPSFVOSFJ3ZVdMMSt1ZTZiVmFwR2JtNHZRME5BdWZVMU5UYkYyN1ZxRWhJUmd5NVl0K005Ly90Tmx4ZWpCZ3dlUm5KemNZKzIzendzQUR6NzRJQlFLQlQ3KytHTzlQbjhQRDQ4Ky83bTQxWm8xYTFCY1hOeGptMGFqd1dlZmZZYUpFeWQyQ2U5NnFyR3ovL3IxNjZGU3FUQjc5dXd1OVM5Y3VCRE56YzNZdW5VcmxpNWRpb2tUSjNaNTkrOS8venRDUWtJQTNGeE51WDM3ZHQwODFkWFZYVmEvYVBDRkFBQWdBRWxFUVZSNkVoSFJ5RFkrdmtzam9sRXRPRGdZaFlXRnlNN083dmFOS1JtZXViazVKaytlak1EQVFDaVZTdVRsNWFHZ29BQUJBUUVJQ2dycThvTWEwV0NvVkNvb0ZBb0dpS1JqWjJjSGhVSUJsVW9GUHo4L29jc1pGaDRlSHIyMldWdGI5OXZuZGxxdEZ2djI3WU8zdDdjdStIcmxsVmU2OWN2TXpFUkdSZ1lDQXdNSFdQRk5UVTFOcUttcDZSYXVDU0U5UFIwaElTRTkvcjAwa0dQZmp4dzVBbGRYVjNSMGRDQWpJd1BBemFDMHFha0p0cmEydW1lM2NuZDN4Ly8rNy8vQzFkVlYxKzdsNVlWMzNubEgxMmZSb2tWWXRXb1ZIbi84OFI3blZhdlZxSzZ1Umt4TWpONjFHc29QUC95QWlvb0t2UFhXV3dDQUsxZXVJRHc4SEdLeHVGdmYxdFpXYk5pd0FabVptZGkwYVJNY0hCeDBiWkdSa1FCdXJoRGR1blVyUWtORGRhRmtXbHJhTUh3bVJFUTBuQmdpRXRHSVoyVmxCVTlQVCtUbTVqTEVHa2FXbHBhWVBuMDZnb09Ea1phV2hzek1UT1RtNXNMUHp3K0JnWUZjbVVpRHBsYXJkYXRTaURxNXVyb2lNek56M0lTSVFQOWJtbnRyNzJrcjg2Ky8vb3JpNG1Lc1dMSENZUFgxcEtDZ0FBQ1FtNXRyMEhHMVd1MkFMbWxwYkd4RVZsWVdWcTllUGVTNXk4dkxBUUJyMTY3dDFoWWZINC80K0hpOXh0bXlaVXUvVzhKLy92bG4zWjg3djVZM2J0em84aHdBZkgxOTRlL3ZyOWU4QTFWY1hJeHZ2dmtHcTFhdGdyZTNOOUxUMC9IaWl5OWkzYnAxV0xwMGFaZStsWldWZU91dHQxQmNYSXlOR3pjaU9EaDR3UE9WbDVmRHlzb0tBSEQ5K25WZERRQUdkRVlrRVJFSmp5RWlFWTBLd2NIQlVLbFV5TW5KUVZoWW1ORGxqQ3ZXMXRhSWlvckM5ZXZYa1pHUm9UczMwY2ZIQjBGQlFUd3prUWFzdWJsWjl3TWxVU2NyS3lzME5UVUpYY2F3Nm0xYmFuL2JtVy9meXR6UjBhSHJhK3pia2p0WDNaV1hsME9sVXNITHkydklZLzc1ejMvR3BVdVg4TzY3NytxOTQrQS8vL2tQTkJvTjVzMmIxMmMvZmI0ZVc3WnM2ZmJzczg4K1EyNXVMdDUvLzMyOXY2YSt2cjc5OXRtOGVYTzNaMGVPSE1HUkkwZTZQRnUxYWxXUElXSmpZMk8zd0xFM2pZMk4zWjYxdHJiaW5YZmVnYmUzTng1KytHRzB0clppeTVZdDhQUHp3NUlsUzdyMGpZK1B4N1p0MjlEUTBBQmJXMXNvbFVyNCt2b08rSmVJNzc3N2JyZG5hOWFzR2RBWVJFUTBNakJFSktKUndjYkdCaDRlSHNqT3pvYS92ei9QUmhTQXJhMHRvcUtpVUY5Zmo4ek1UT1RuNXlNL1B4K2VucDRJRGc3bWJjNmt0L2IyZHQ3Q1ROMUlKQkswdDdjTFhjYXdVS3ZWQU5CckdOTjVSbUZmWVkxYXJZYXBxU25rY2ptT0h6OE9sVXBsK0VKN2NQSGlSWWpGWXBpWW1DQXhNZEVnSVdKR1JnYWFtNXVSbjUrdmQ0aDQ0c1FKV0Z0Ykl5OHZEM2w1ZVFDQTZkT25kL3NGaFQ0QjRPMnJCOXZhMmxCUVVJQXBVNllZNVJpVnZyWTRBMzJ2VUsydXJ1NHhpTlJYU1VrSjh2UHpJUmFMY2RkZGQwR3IxVUlpa2VDamp6N1NiV1UrZi80OGR1N2NpWXlNRE15Yk53OVBQZlVVZnZ6eFIzeisrZWY0N3J2dnNITGxTdHh6enoxNmZ5L0dNeEdKaU1ZT2hvaEVOR3FFaFlXaHBLUUVXVmxaaUlpSUVMcWNjY3ZhMmhyVHAwOUhXRmdZc3JLeVVGQlFBSlZLQlRjM053UUhCNCtyMjFXSmlBWmoxYXBWQnVrWEhCeU1EUnMyWU1lT0hmRHk4ako2a05qWTJJaExseTRoTEN3TXRyYTJPSDc4T0ZhdlhqM2sxWThmZlBBQjh2THlFQjBkclZmL2dvSUNYTGh3QVFEdzNudnY2WjV2MjdaTmQrUkpaV1VsZ0pzM0xGdFlXQUQ0LzF0cEN3c0xBZHk4Sk1YVjFiWGIrT2ZPblVOVFV4TW1USmlBcEtTa1Btc1JpOFdZTVdPR1huWDM1T2pSbzBoSVNNQ21UWnYwNmovVWkxVjhmWDJ4Y2VOR1dGdGJJenM3RzF1M2JzVUREendBVjFkWGZQZmRkL2o1NTU5UlhGd01WMWRYdlBYV1c3cExWUDduZi80SFM1Y3V4Ylp0Mi9EWlo1OWgzNzU5ZU9TUlJ4QWVIbzZDZ2dJME56Y0RBSlJLSlNRU0NTd3RMYm5pbklob0RHS0lTRVNqaHJXMU5ieTh2SkNibThzeitVWUFDd3NMVEo0OEdTRWhJY2pKeVVGdWJpNUtTMHZoNk9pSWdJQUF1TGk0R0gxYkhSSFJhSFR3NEVHRGpDTVdpN0ZwMHlZME5EUmd3NFlOZVA3NTUzVnR1M2Z2N3ZHZHpuUDRlbXFmUG4xNm54ZXVKQ1FrUUtQUjRJNDc3b0JDb1VCaVlpTE9uVHVIbVRObkR1bno4UEh4Z1krUGo5NzkvL1d2ZndFQVhucnBKU3hldkJpRmhZVjQ4c2tuQVVEMzM1M1dyVnZYN2YzT1B0N2UzdGl4WTBlMzl1UEhqd01BRGgwNmhFT0hEdlZaaTFnczF2VWZqTkxTVWx5NmRHblE3dy9HMUtsVDBkVFVoQTBiTnNEUHp3K1BQdm9vZ0p1M1ZFdWxVcnp3d2d0WXZIaHh0eFhqSGg0ZTJMaHhJK0xpNHZESko1OUFyVmJqbDE5K3diZmZmcXZyMDdrMTI4UERBeSs4OEFJQW5vbElSRFNXTUVRa29sRWxORFFVUlVWRnlNakl3T1RKazRVdWgzQnp1OTNFaVJNUkhCeU0zTnhjNU9ibTR1elpzN0MwdEVSQVFBQzh2YjFoWW1JaWRKbEVSUDNLeWNsQlNrb0t5c3JLME5iVzFtLy9xS2dvM1VxdGdaREpaQUNBdXJxNlFZVW85dmIydXZObzYrcnFzR0xGaW01YmNyLzY2cXMreCtpcDNjcktxdGNRVWF2VjRzQ0JBekF4TVVGc2JDd3NMQ3hnWjJlSDNidDNEemxFSElqMDlIUWtKQ1QwMnY3QkJ4OEF1Qm1JSlNRa1lPUEdqYnBmYU1YRnhTRStQbDdYcC9OL2gxdVZsWlVoS1NrSjgrZlBSMUpTRWg1NzdESGNlZWVkM2ZxMXRMVGd5U2VmSE5BTjJpUEpsaTFiY1AzNmRiejc3cnU2N2ZOLys5dmZZR3RyMisrN2l4WXR3b3daTTJCdGJRMnhXSXpISDM4Y3RiVzF1UC8rKzNYQkx2RC9iMmZtbVloRVJHTUhRMFFpR2xVc0xTM2g0K09EL1B4OEJBVUY2Yllva2ZCTVRFd1FFaEtDb0tBZ0ZCY1hJeWNuQjVjdlgwWmFXaHE4dmIzaDcrOFBhMnRyb2Nza0l1cW11YmtaSjA2Y1FGWldGaFFLQmZ6OS9TR1h5L3RkVFQzVUFPblFvVVA5aG4wOWVlR0ZGM1NYWUR6KytPTTlCbitkWjg3ZGJ1UEdqVGh4NGtTdjdiMDVkZW9VVkNvVkZpOWVyRHNEOSs2Nzc4Yk9uVHR4K3ZUcGZpODRNWlRLeWtxRWg0ZnJBcXJiVFpreUJRQnc1c3dabUptWlllclVxYnEyem5jNisvVGtoeDkrQUhEejYycHVibzZqUjQvaW5udnUwUVZ0blg3NjZTZlUxOWNQK1hibzl2YjJBZDlLUFpTTFZRRGcrKysveDZsVHAvRElJNCtncXFvS0tTa3BLQzR1eGtNUFBZUVZLMWFncnE2dTM3SDErZWZIMHRJU0VSRVJXTHQycmU3c3pOdlBSS3l2cjhlYmI3NnBWM2hKUkVUQ1k0aElSS05PU0VnSUNnc0xvVlFxTVczYU5LSExvZHVJeFdKNGVYbkJ5OHNMVlZWVnlNbkpRVjVlSG5KemMrSHM3SXlBZ0FBNE96c0xYU1lSRVlDYk54dnYyN2NQZFhWMXVQdnV1L3Zjem1zc3R3Y3lGUlVWVUt2VkNBc0w2L0s4cDBzb1FrTkRqVjVmVTFNVGR1ellBWWxFZ2tjZWVVVDMvTDc3N3NPUFAvNkliZHUyWWNxVUtjTnlCdDc4K2ZNeGVmSmtyRml4b3M5K3hjWEZjSEp5R3REWVpXVmxPSHIwS09iT25RczNOemY4N25lL3c1bzFhL0RkZDk5MStieHpjbkt3YTljdXpKMDdkMGpuSVFJM2c3N09WYVg2R09yRktocU5CbDkrK1NVQVlOZXVYUUJ1SGsvaTV1WUdtVXlHcDU1NkNxMnRyYnIraVltSnVIanhZby9id3Z2ajQrT0REei84c004KzF0YlcvZlloSXFLUmd5RWlFWTA2TXBrTS92Nyt5TTdPUm5Cd01BL3VIc0VVQ2dVVUNnV2FtNXQxTjJnbUppYkMydG9hdnI2KzhQTHk0azNiUkNTb3BLUWtxTlZxckY2OUdvNk9qa0tYQStEbXVYTGZmLzg5amg0OUtuUXBBSUNQUHZvSWFyVWFLMWV1aEl1TGkrNjVwYVVsSG52c01mempILy9BeG8wYjhmYmJidy9MV2JpZEt5RjcwOXJhaW95TURNeWRPM2RBNC83OTczK0hXQ3pHRTA4OEFRQndjbkxDbWpWcjhNOS8vaE51Ym02SWlZbkJ0V3ZYOFBycnIwT2hVT0JQZi9xVFh1TjJydmJ6OS9mdjFxWlNxYnA4VGZzejFJdFZwRklwSG52c01aaWJtOFBUMHhPZW5wNVFLQlM2OXM2dHlKMUtTMHR4OGVKRkxGdTJUTzhhYjMwM016T3p5N1BzN0d3QU4yL1h2bDFzYk95QTV5QWlvdUhGRUpHSVJxV2dvQ0RrNWVVaFBUMTlXTTlpb3NHUnlXUUlEdzlIU0VnSWlvcUtrSnViaTVTVUZLU21wc0xWMVJVK1BqNXdjbkxpUlN4RU5LeWFtNXVSbkp5TTZkT25qNWdBRWJoNXp1RklPZjVoNzk2OWlJK1BoN3U3TzM3Lys5OTNhMSsrZkRrU0VoS1FuSnlNYmR1MjRkbG5ueDN3SEUxTlRhaXFxakxZK1lKbnpweEJTMHZMZ0hZci9QdmYvOGFGQ3hmdzhNTVBkN214ZWNXS0Zjak56Y1g3NzcrUGdvSUMvUHp6ejJodmI4Y0hIM3dBdVZ6ZTQxalhybDNUYlozZXQyK2Y3dUtSbDE5K3VVdS9xcW9xWkdabURpcWdHNHJiVjdOMmFtbHBNZGd2OXBxYW1uRHAwaVZzM2JxMXgvYU5HemQyZThZUWtZaG81R09JU0VTamtwbVpHUUlEQTZGVUtoRWNITnpyTi9JMHNrZ2tFdDB0bkRVMU5TZ29LRUJSVVJGS1NrcGdZV0VCYjI5dmVIdDdEMmhyRnhIUllCVVVGS0NqbzJOQU53TVBCNlZTQ2JGWWpMTm56MkxhdEdtQ3JkZytmUGd3UHYzMFU4aGtNcno1NXBzOTFpRVNpZkRhYTYvaGozLzhJMzc2NlNlMHRMUmczYnAxM2M0UTdNdmF0V3VoVXFudzJtdXZJVG82V3UvM05tL2UzRzFyYjBkSEIvNzFyMy9CMHRJU2MrYk0wV3Vjbkp3Y2ZQenh4L0R6ODhQdmZ2ZTdidTNQUC84OHNyS3lkTGRDdi9YV1cvRDI5dTV4ckdlZWVVYTMyczdjM0J4aFlXR0lqSXhFWkdRa0FnSUNzR2ZQSHRqWjJRRUFkdXpZZ1k2T0RodzdkZ3cyTmpaNDZLR0hZR1ptQm05dmIxMGZZMmxxYWtKMmRqYXlzcktnVkNxUm5wNk9QL3poRDdxek5nZXFjd3YwaVJNbjhOTlBQMEd0VnVQNzc3L3ZGcERlZmlZaUVSR05MZ3dSaVdqVUNnd01SRzV1THRMUzB2VCtRWUZHRGpzN085aloyV0hTcEVrb0xTMUZRVUVCbEVvbGxFb2xuSnljNE9QakF6YzNONGpGWXFGTEphSXhxdk5tWkFjSEIwSG12K3V1dXpCcjFpemR4KzN0N2ZqcXE2K1FuNThQZTN0N1hYQTNkZXBVM2ZsN1gzLzl0ZEV2b1dodmI4Y1hYM3lCNzcvL0hxYW1wbmpycmJkMEYyUDB4TUhCQWUrODh3NWVmdmxsSER0MkRIbi9sNzM3am12cTN2OEgvZ29KTzREc0piSkVVWVpiY0lPSzFUcGFxOVZxcTdmNjZGVnZoNnUzNDJwYnE5VmVSNjJsVm0zcmFOVnF0V3E5dFc1eE1BUlJWSEFBaWlJSW9vQWdJQnRDZm4vd0pUOGlDUVFJaFBGNlBoNTVTTTc1bkhQZWg2Q1lWejdqL24xOC9QSEhTb08yRjBtbFVyay9WVFZ1M0RoNGUzdkxudHZaMmVIMzMzOUhVbElTWnN5WW9YRDE1UmVscGFYaHM4OCtnMUFveE9lZmZ3NXRiVzNadnR6Y1hKdytmUnFIRHg5R1ptWW1mSDE5RVJjWGh4VXJWbURreUpGNDVaVlg0T2JtSm5lK0lVT0d3TWZIQjcxNzk0YTd1M3VOTUhYcjFxMlFTcVg0NmFlZmNQYnNXWXdhTlFwaXNSaDc5KzVGVUZBUVB2amdBMnpkdWxWcHZYbDVlYkxGWCtxaWFJR1VsSlFVTEZ1MkRLbXBxWkJLcGJDd3NJQ0hod2VtVDUvZW9IbW1kK3pZZ2F0WHIrTCsvZnNBS29jcjkrelpzOEZoSkJFUnRXd01FWW1vMWRMVzFvYTd1enR1M0xpQnpNeE1qYjBKcE1ZUkNvV3llWm55OC9PUmxKU0VwS1FrWExwMENUbzZPdWpZc1NNY0hCeGdhV25KNGM1RXBGWlZvWldPam81R3JtOXFhZ3B0YlcxRVIwZmoyclZyT0hmdUhESXlNdkRXVzIvaEgvLzRCKzdkdTRmdzhIQ0VoSVJnN2RxMUVBcUY2TldyRjRZT0hZb2hRNGJVT2lmd3dvVUxjZnYyYmFYN0F3SUNhbXc3YytZTWtwS1M4TzIzM3lJdUxnNWlzUmpMbGkxRHo1NDk2N3lYcmwyN1l1M2F0ZmppaXkrUWtKQ0FPWFBtWVA3OCtTb04xZjMrKysrUm1abXBjdWhZcFZ1M2J2RDM5NWM5djNqeEluYnUzQWw3ZTN1bFEzYXJrMHFsV0xac0daNC9mNDZ2dnZvSzl2YjJ5TTdPUm1Sa0pNTEN3bkQxNmxWSUpCTDA3TmtUUzVZc2dhZW5KL0x6ODdGNzkyNzgvZmZmT0hYcUZCd2RIVEZ3NEVCNGVuckMyOXNiYjd6eFJxM1hqSXVMdytiTm14RWZINDlCZ3daaDBhSkZFSWxFR0RWcUZBSURBN0YwNlZLTUhEa1M3NzMzbnNMWE56YzNGei8vL0hPOXZrL1YyZHJhd3RQVEUxT21URUdQSGozazVtTlU5RE5SMjc0SkV5YWdvS0FBQW9FQTA2Wk5RLy8rL2VIdTdnNkJRSURUcDA4clhFVzZhbzVFUmZ1NmRldW10aUh0UkVUVU5BVFMrbjdrUjBUVWdrZ2tFcHc4ZVJKNmVucWNTNmNOa1VxbGVQTGtDWktTa3ZENDhXTklKQkxvNmVuQndjRUJEZzRPY3BQQVUrc1RGQlNFa1NOSGFyb01hb0dhKzJjalBEd2NFUkVSK1BEREQ1dnRtdm41K2ZqNjY2K1JsWldGcDArZnlucUw2ZXZydzlmWEY1TW5UMWE0UW5SU1VoTE9uVHVIb0tBZ1pHWm1RaVFTNGZ2dnY1ZnJDUmNRRUlESmt5ZGo3dHk1Q0FrSndkT25UK3RWMjJ1dnZZYlkyRmo4KzkvL2hyT3pNNVlzV1FKN2UvdDZuU003T3h2cjE2OUhSa1lHdnZ2dXV5YWJuaUl6TXhQR3hzYXlJZGI1K2ZtWU9YTW1KQklKdnZ2dU80VkQxSGZ0Mm9YZHUzZkxEYVc5ZlBreXlzcktNR2pRSUFRRkJXSE5talVBS2w4UFB6OC9qQjgvdmtadnc2cnJIeng0RUNkUG5rUmhZU0ZjWFYyeFljTUdwYjBmejUwN2gyUEhqdUhHalJ2UTE5Zkh6Smt6TVduU0pMa1B4NlJTS1E0Y09JQmZmdmtGcHFhbTJMRmpCL1QwOUdUN0F3SUNHclN3aXFwRGg0OGVQYXBTdXlwT1RrN3c4UEJRK0FGZmJZR2tNZ3NXTEdqMitTR0ppRWllb0k1ZUcreUpTRVN0bWxBb2hLZW5KeTVmdm95VWxCUitndDFHQ0FRQzJOcmF3dGJXRnVYbDVVaExTME5LU2dydTM3K1BoSVFFR0JnWW9GT25UbkJ3Y0dqeVlYMUVST29rRm92Um8wY1AzTGh4QXg0ZUhuQndjSUNibXh1NmR1MHFONVQyUlU1T1RwZzllelptelpxRksxZXVJREl5c3NacXYyUEdqRUczYnQwQUFFT0hEbTFRZmQyN2QwZGdZQ0JjWFYwYk5KMkVtWmtaVnExYWhjTENRaGdZR0RTb0JsVzhPUHBBTEJiajY2Ky9oa1FpVVRySHBiZTNONlpQbnk2M3JYLy8vckt2UjQ0Y2lVZVBIc0hSMFJFREJneW9kUzVLUzB0TC9PdGYvOEtzV2JNUUZoWUdiMi92V29kUFAzandBTW5KeVhqampUY3dhZElraGIrN0JBSUJwa3laZ3I1OSsrTFlzV055QVNKUXVmQklmVDVFR3pCZ2dNSkFXaGwxQm5pYzg1Q0lxRzFpVDBRaWF2V2tVaW1DZ29KUVZsYUcwYU5IY3c2OU5xeTB0QlNQSGoxQ1Nrb0tNakl5SUpWS1lXUmtoRTZkT3NIZTNwNEw3TFFTN0lsSXlyU0hub2pVUGtra0VraWwwbm90T0VORVJOVGMyQk9SaU5vOGdVQ0FIajE2SURnNEdQZnYzMWM0N0lqYUJoMGRIZG5xenNYRnhVaE5UVVZLU2dwdTM3Nk4yN2R2dzhEQUFIWjJkckN6czRPbHBTVURaU0lpYWhHRVFxR21TeUFpSW1vMGhvaEUxQ1pZV1ZuQnhzWUdzYkd4Y0hKeXFuVklHTFVOZW5wNjZOeTVNenAzN295aW9pSThmdndZYVdscFNFeE14TDE3OTZDdHJRMGJHeHZac0doTkxaeEFSRVJFUkVUVUZqQkVKS0kydzl2YkcyZk9uRUY4ZkR5OHZMdzBYUTQxSTMxOWZiaTR1TURGeFFYbDVlVklUMDlIV2xvYUhqOStqSlNVRkFnRUFsaFlXTURPemc2MnRyWXdNakxTZE1sRVJFUkVSRVN0Q2tORUltb3pURXhNNE9Ua2hMdDM3OExWMWJWSkozU25sa3NrRXNIZTNoNzI5dmFRU3FYSXpzNUdXbG9hMHRMU0VCTVRnNWlZR09qcjY4UGEyaHJXMXRhd3NyS3FNWGs5RVJFUkVSRVJ5V09JU0VSdGlvZUhCeDQrZkloYnQyN0pyYmhJN1pOQUlJQzV1VG5NemMzaDVlV0YvUHg4cEtlbkl6MDlIWThlUFVKU1VoSUF3TmpZV0JZcVdscGFjdUo3SWlJaUlpS2lGL0JkRWhHMUtmcjYrdWpTcFF2aTR1TFF1WE5ubUptWmFib2tha0hFWWpIRVlqRmNYVjBobFVyeDdOa3paR1JrSUQwOUhmZnYzMGRDUWdJRUFnSE16TXhrZ2FLWm1SbERSYXBWUkVRRWJ0eTRBVzl2Ynd3WU1FQnUzOU9uVDlHaFE0Y20vUm1TU3FVb0tDaUFTQ1JpcjFvaUlpSWlhako4VjBSRWJZNjd1enVTa3BKdy9mcDFEQjgrSEhXc1VrL3RWRlZZYUdabUJuZDNkMGdrRWp4OStsUVdLc2JHeHNyYW1aaVl5SG8wV2xoWXdORFFVTVBWVTNOTFNrckNYMy85aFg3OSttSGd3SUZ5K3lJaUluRGl4QW1VbHBiS2hZaUZoWVg0K09PUElSUUs4ZUdISDhMZDNiMUphdHV6Wnc5Mjd0eUpTWk1tWWQ2OGVmVTZ0ckN3RVBuNStjakx5ME51Ymk1eWNuSlFWRlNFY2VQR05VbXRSRVJFUk5SNk1VUWtvalpISkJMQjI5c2JrWkdSU0U1T2hwT1RrNlpMb2xaQUtCVEtoalI3ZVhtaHRMUVVXVmxaeU1yS3d0T25UNUdVbElUNzkrOERBSFIxZFdXQm9ybTVPVXhOVFNFVUNqVjhCKzFQUUVCQWs1elgzZDBkR3pkdWxOdDIvUGh4SEQxNkZNK2VQYXNSSWo1OCtCQUFhdnhiVTFGUkFYdDdlMXk2ZEFrTEZpekExS2xUTVhQbVRLVzlFbXU3bjYrLy9ocjkrdldyc1QwcEtRbDc5dXdCQUlTRmhXSG16SmwxemdlN2VQRmlKQ2NubzZDZ0FCS0pSR0diZ1FNSHdzek1ERk9tVE1Helo4OXFQZCtaTTJkcTNVOUVSRVJFYlFORFJDSnFrenAxNm9SNzkrN2g1czJic0xlM2g3YTJ0cVpMb2xaR1IwY0h0cmEyc0xXMUJWQTVaRFFuSjBjV0xHWmxaU0V0TFExQVpXL0ZEaDA2eUI2bXBxWXdNVEhoTU9nMm9yeThIT2ZPblFNQWpCOC92c2IrNU9Sa0FJQ0xpNHZjZHJGWWpLKysrZ3FIRGgzQ3RtM2I4UHZ2ditQYXRXdFlzbVFKN096c0ZGNUxLQlRLN1h2eTVBbkt5c3FncGFWVm8yMVpXUm0rK2VZYmxKZVh3OUxTRXVucDZmanh4eCt4ZVBIaVd1OG5JeU1EZVhsNTBOSFJnWW1KaWV4aGFtb0tVMU5UV0ZoWVFDcVZ5aDNqNE9CUTR6eVBIajFDUlVWRnJkY2lJaUlpb3JhRDcyNklxTTNxMWFzWGdvS0NFQmNYQjI5dmIwMlhRNjJjUUNDUWhTeWRPM2NHQUJRWEY4c0N4ZXpzYktTbXB1TEJnd2V5WThSaU1VeE5UZVVDUnM1WnB6Nktlc0JKSkJLTUhqMGFBSEQ0OEdHSXhXS0Z4K2JtNW1MeTVNbEt6MU5kV0ZnWWNuTno0ZURnZ042OWU4dnRTMHRMUTM1K1ByUzB0R1EvRnkrYU5Ha1N1blRwZ3VYTGx5TXRMYTFHUUZlZGhZVUZkdXpZQVFBb0tTbkJwRW1Ub0sydGphNWR1OVpvdTM3OWV0eTVjd2N1TGk1WXYzNDlGaTVjaUJNblRzRFQweE9qUm8ycTlaNEE0Tml4WTNXMnFWSlZVM1dxOUZJa0lpSWlvcmFESVNJUnRWbW1wcVp3ZG5iRzNidDM0ZXpzRENNakkwMlhSRzJNbnA0ZTdPM3RZVzl2TDl0V1dGaUluSndjMlNNN094c3BLU2x5eDNUbzBBSEd4c1l3TWpLU1BSZ3V0bHhIamh3QkFMenl5aXMxNWxpOWMrY09nTXFoekxxNnVrclA0ZVhsaGMyYk55TXpNMVB1NTZVMmx5OWZSa2xKQ1lZTUdWSWpETjIxYXhmT25qMExBd01EZlBiWlp4Q0x4Vml5WkFubXo1K1A5ZXZYdzhqSXFNWWlMdzFSV0ZoWTYzMFJFUkVSVWZ2QkVKR0kyalF2THkra3BxWWlPam9hUTRZTTBYUTUxQTRZR0JqQXdNQkFia2hxYVdtcGJOR0txa2RtWnFiY2ZIVGEydG9RaThWeXdhS1JrUkhFWWpHSFJXdll6WnMzQVFDLy8vNDdEaHc0SUxldm9LQUFRT1hRM3JmZWVxdmU1L2IyOXNiSEgzK3NjRjlvYUNnQVlPVElrWExiZCt6WWdkOS8veDNhMnRwWXZueTViS2l4aTRzTFB2dnNNM3o1NVpkWXVYSWxGaTFhVk9QWStzalB6MGRKU1luU29kZEVSRVJFMUw3d1hRa1J0V202dXJydzhQQkFkSFEwMHRMUytHYVlORUpIUndlV2xwYXd0TFNVYlpOS3BTZ3FLc0x6NTgvbEhrK2ZQcFV0MUZIRndNQUFob2FHTURBd2dMNit2aXlvckhwd3pzL21rWldWcFhSZlNVa0owdFBUNjMxT1pjT0JTMHRMRVJrWkNSTVRFL1R2M3g5QTVkeU1Helpzd09uVHB5RVNpYkIwNlZMMDdObFQ3amhmWDE5ODhza25XTE5tRGRhc1dZTzR1RGpNbVROSFlXL0MyYk5uSzd6Mm0yKytpUkVqUnVES2xTc0FBRWRIeDNyZkZ4RVJFUkcxUFF3Umlhak5jM1YxUldKaUltSmlZbUJqWTZOd2dRS2k1aVlRQ0dRaG9MVzF0ZHcraVVSU0kxd3NMQ3hFWm1ZbWlvcUthc3lwSnhLSjVFTEZxcUJSVjFkWDdzRWVqUTJqYk03RXpNeE1USjgrSFZwYVdqaDA2SkRTK1JjYjR2TGx5eWdzTE1ScnI3MEdrVWlFZS9mdVljMmFOVWhLU29LaG9TR1dMMStPSGoxNktEelczOThmcHFhbVdMNThPWTRjT1lLd3NEQzgrZWFiZVBubGwrVitCcW9QczY4dVB6OGY1ZVhsT0hqd0lBQmd4SWdSQ3R2cDYrdmoyYk5uU0V4TWxDMHFJNVZLYXd6NUppSWlJcUsyZ2U4bWlLak4wOUxTUXMrZVBSRVNFb0k3ZCs2Z1c3ZHVtaTZKcUZaQ29WQzJFTXVMcEZJcGlvdUxVVmhZcVBDUm5aMk4wdEpTaGVmVjB0S3FFU3hXZitqbzZFQWtFc2s5dExXMUlSS0pJQlFLbS9xMlc1M3c4SEFBZ0llSGgxb0RSQUFJRGc0R0FBd2VQQmlabVpsWXRHZ1Jpb3VMNGVqb2lNOC8vN3pPM29FOWUvYkU1czJiOGUyMzN5STZPaHFSa1pFWU8zYXNYQnRsNFdocGFTazJiTmlBdTNmdndzM05EWU1HRFZMWXJtdlhya2hMUzhPOGVmT2dvNk9EMHRKUy9QYmJiN0N5c21yQUhSTVJFUkZSUzhjUWtZamFCV3RyYTlqYjJ5TXVMZzRPRGc1cWY4TlAxRndFQWdIMDlmV2hyNjhQYzNOemhXMGtFZ21LaW9wUVVsS0NrcElTbEphV3lyNnUvcWlhODY2OHZGeWxhNzhZTEZhRml3S0JBRnBhV2hBSUJISmZLOXJXbG5xcFZjMVpPR3pZTUxXZjI4UERBeGN1WE1BZmYveUJyNzc2Q2g5KytDRmlZbUl3Yjk0ODZPcnE0cVdYWG9KWUxNYWhRNGRxSFB2U1N5L0J4TVFFZi96eEI5YXRXNGZ6NTgvRHg4ZEg1U0Q0d29VTE9IMzZOTXpNekxCMDZWS2xQVmpuekptRDR1SmkzTDE3RnhLSkJEWTJOZ3dRaVlpSWlOb3dob2hFMUc3MDZ0VUxKMCtleExWcjF6QjA2RkJObDBQVVpJUkNJY1Jpc2NwaGVVVkZCVXBLU2xCV1ZvYnk4bkxabjhvZTFmZVhscFpDS3BXaW9xSUNVcWxVN210RjI2UlNLVXhNVEJwOWo5VVhwWG54WHFwL3JVbzdSVzJxZ2s5bDB0UFRjZVBHRFFEQUgzLzhnYi8rK2t1bHVvSEtsWnkvK09LTFd0dTg4c29yQ0EwTnhhVkxsM0R4NGtYNCtmbkJ6ODlQcnY3YTdxMzZQbjkvZjVWckE0QlJvMGJoOGVQSEdEOStQTXpNekpTMnM3Q3d3SW9WSytwMWJsV3NYNzllN2Vja0lpSWlvc1pqaUVoRTdZYSt2ajQ4UFQwUkhSMk5sSlFVMllxbVJPMmRscGFXckhkamN3Z0tDbXIwT1VhUEhsMW5tMG1USmpYNFhGcGFXamgxNnBUU1kwNmRPaVdibXpJakkwT2w2MVRSMDlPcnM0MUFJTUM4ZWZQdzdydnY0dGRmZjFVNnBMaXB4TVhGeVlaVXEyTEhqaDFxdTNiSGpoM1ZkcTY2cEthbU50dTFpSWlJaUZvN2hvaEUxSzUwN3R3WnljbkppSTZPaG8yTkRWZTFKYUo2S3lzcnc5OS8vdzJnc3NmZ1gzLzloUWtUSnVDRER6Nm85Ymd2di93U0Z5OWVoSmVYbDByWGNYTnpRL2Z1M1JFYkc0djc5Ky9EMWRXMTBiVlhGeEFRb0hEN2tpVkw4UGp4WTZTbHBhbjFlcXFhT25WcXMxMHJQRHdjRVJFUnpYWTlJaUlpb3RhTUlTSVJ0U3NDZ1FCOSt2VEIyYk5uY2ZQbVRmVHUzVnZUSlJGUkF5aGJGQ1EvUHg4VEowNEVBSnc4ZVZMcFBJQzV1Ym1ZUEhseXJlZXE3ZG81T1Rtd3Q3Zkh1KysraTZpb0tBUUZCV0hXckZsS2g1RGZ2MzhmNGVIaEVJbEVlUDMxMTFXK2xwZVhGMkpqWTNIMzdsMVppRmcxaDJWalY5dFcxaHZiME5BUU8zZnV4TWFORzNIa3lCRXNYNzRjQXdjT3JORXVPenNiTTJmTzVEeUlSRVJFUk8wRVEwUWlhbmRNVFUzUnVWNENyT1VBQUNBQVNVUkJWSE5uSkNRa3dOSFJVZW5pRkVUVStoUVVGQUNvSERMY0ZDdEtsNVdWWWMrZVBRQ0F5Wk1uUTB0TEMxT25Uc1czMzM2TDdkdTNZOEdDQlRXT2tVZ2tXTDkrUGFSU0tTWlBuZ3dMQ3d1VnIxZjE3MU5PVG81c1cvVjdiSXk2aGlBUEd6WU1SNDRjd1pFalJ4U0dpSHYzN2tWSlNZa3N0Q1VpSWlLaXRrMzVqT0ZFUkcyWXA2Y245UFgxY2ZYcVZia0ZGb2lvZFV0UFR3ZUFKdnR3NEsrLy9rSkdSZ1lzTFMxbHc0RkhqeDRORnhjWEhEdDJESkdSa1RXTzJiWnRHeElTRW1Cblo0Y1pNMmJVNjNwVjRXSDFYb2ROZlk5VnZMeTg0T1RraEt0WHIrTG16WnR5KytMajQzSGt5QkZZVzF1ck5EOGxFUkVSRWJWK0RCR0pxRjBTaVVUbzFhc1hjbk56a1pDUW9PbHlpRWhON3QrL0QwRDVVTjNHeU16TXhLNWR1d0FBLy96blA2R3Jxd3VnY3BxRWp6LytHTnJhMmxpNWNpWGk0K05seC96dmYvL0R3WU1Ib2FlbmgyWExsa0ZIUjZmTzY1dzdkdzZYTGwzQ3FWT25jUFRvVVFDQWk0dUxiUC9kdTNjQkFQYjI5bXE3TjBVRUFnR21UWnNHQUFnTURFUnBhU21BeXFIZ0sxZXVoRlFxeFp3NWN6aTNMQkVSRVZFN3dlSE1STlJ1MmR2Ync4N09EcmR2MzBiSGpoMWhhR2lvNlpLSXFKSEN3OE1CUU9YRlMxUWxsVXJ4M1hmZm9haW9DRjVlWHZEMzk1ZmI3K3JxaXZuejUrT2JiNzdCUng5OWhLVkxseUlwS1FuYnQyK0hVQ2pFZi83ekg3a2dzRGFob2FFSUN3dVRQZS9ldmJ2Yy9LMVJVVkVBQUhkMzkwYmRVMDVPRGpJeU1tU1BKMCtlSUQwOUhVK2VQTUhzMmJQaDQrTURmMzkvSERseUJMZHYzOGJHalJ2eHIzLzlDNTkvL2puUzA5TXhkT2hRREIwNnRGRTFFQkVSRVZIcndSQ1JpTnExWHIxNjRkU3BVN2g2OVNyZkRCTzFjakV4TVlpT2pvWkFJTURnd1lQVmV1NURodzdoOHVYTDBOSFJ3Zno1OHhXMmVlbWxsMUJjWEl3ZmZ2Z0JYM3p4QmFSU0tiUzF0ZkhaWjU4cG5GTlFtWmRlZWdtNnVyclEwZEdCcTZzclJvOGVEWUZBQUtDeUYyRFZrT24rL2Z2WDZ4NSsvZlZYeE1URUlDc3JDd0NVTHZBaUVvbGsxeE1JQlBqb280L3czbnZ2NGVUSms3aDgrVEt5czdQaDRPQ0FSWXNXMWV2NlJFUkVSTlM2TVVRa29uYk53TUFBM3Q3ZXVIYnRHaDQ4ZUFCbloyZE5sMFJFRFpDV2xvWlZxMVlCQUlZUEh3NDdPenUxbmZ2cTFhdll0bTBiQU9EZGQ5K0ZrNU9Ud25ZU2lRUTZPam93TkRTVUxYNWlZbUlDaVVSU3IrdjUrdnJDMTlkWDRiNTkrL2Fodkx3Y0hoNGVzTEd4cWRkNWk0cUtjT3ZXTGRuelhyMTZ3Y2JHQnJhMnRyQ3hzWUdWbFJXc3JLeGdZV0VoQ3hHQnlsN2I0OGFOdy83OSs1R2RuUTBBV0xod29kS1ZxSW1JaUlpb2JXS0lTRVR0bm91TEMxSlNVaEFkSFExcmEyc1lHQmhvdWlRaXFvZHIxNjVoMWFwVnlNdkxnNjJ0TGQ1Ly8zMjFuZnZPblR0WXNXSUZKQklKL1AzOU1YYnMyQnB0Y25KeWNQTGtTUnc5ZWxTMjZNblFvVU9SbDVlSDZPaG9yRml4QW01dWJuajExVmZoNStlbjByeUlpaVFrSk9CLy8vc2ZBR0RxMUtuMVBuN3ExS2w0NVpWWDhORkhIeUVqSXdOcjE2NnQ4NWk4dkR4czNib1ZKMCtlQkFCb2FXbWhvcUlDbjMvK09kNSsrMjJNSFR1MndmZERSRVJFUkswTFEwUWlhdmNFQWdINjllc25HOVk4Wk1nUVRaZEVSQ3A0OXV3WmR1ellJUXU0bkp5YzhOLy8vbGR0UGVRZVAzNk1Uejc1QklXRmhlamV2VHNXTDE0czI1ZWJtNHZ3OEhBRUJ3Y2pPanBhMXR2UXc4TURzMmJOUW84ZVBRQUFJU0Voc3RXWjE2MWJoODJiTjhQWDF4Y0RCdzZFbDVjWFRFMU5WYW9sT3pzYnk1Y3ZSM2w1T2ZyMDZZTUJBd2JVKzM3TXpNd0FRSzZYb1RKRlJVWDQrKysvOGZ2dnZ5TS9QeDhDZ1FCdnZQRUd4bzBiaDNYcjFpRTZPaHFiTjIvR3ZuMzdNSHIwYUl3WU1RS2RPbldxZDAxRVJFUkUxSG93UkNRaUFtQm9hQWh2YjI5Y3YzNGRTVWxKU29jckVsSExjT1RJRWZ6ODg4OG9LU2tCQUl3Yk53NXo1ODZGbnA2ZTJxNWhZMk1ERHc4UFpHVmxZZFdxVmREVDA4UCsvZnNSR2hxS3UzZnZRaXFWQXFqc25UZGd3QUJNbWpSSkZoNVdHVHAwS0FZT0hJaVRKMDlpMzc1OVNFOVB4OW16WjNIMjdGa0F3UFRwMHpGcjFxeGE2OGpPenNhSEgzNkk5UFIwZE9qUUFSOSsrS0hhN3ZGRmFXbHBPSDc4T0U2Y09JRzh2RHdBbFl2R0xGaXdBTjI2ZFFNQXJGMjdGdWZQbjhlT0hUdVFucDZPdlh2M1l1L2V2YkMydHNiMzMzOHZDeXVKaUlpSXFHMWhpRWhFOUg5Y1hWMlJtcG9xRzlhc3I2K3Y2WktJU0luKy9mdmoxMTkvUmFkT25UQnYzang0ZTN2WDYzaUJRQUF0TGEwNjIzenl5U2VRU3FXeTNvMk9qbzdZdm4wN3BGSXBPblhxaE9IRGgrT2xsMTZDaFlXRjB2T0lSQ0tNR3pjT0w3LzhNc0xDd3ZEMzMzOGpKaVlHM2J0M3g0d1pNK3FzMWRUVUZHUEhqc1crZmZ1d2N1VktXRnBhMXRyZTJ0b2FSa1pHZFo1WGtlVGtaT3pmdng4QTRPRGdnRGZmZkJQKy92NXkzeXVCUUlEaHc0ZkR6ODhQb2FHaE9INzhPS0tqb3hFUUVNQUFrWWlJaUtnTkUwaXJQa1luSWlMazUrZmo5T25Uc0xLeVV2dnFya1JVS1Nnb0NDTkhqbXowZVRJeU1tQnBhYW5TOEZ4MXVuanhJdXpzN0JxMUVGTjZlanAwZFhYUm9VTUhsWThwTFMxVnkveUQrL2Z2eC9QbnovSE9PKzhvM0gvdzRFRTRPVG1oVDU4K0tuOXZjM056WVdCZ0FHMXQ3VWJWcHE2ZkRWV0ZoNGNqSWlLaVNYdDNFaEVSRWJVV2dqcis4OGVlaUVSRTFZakZZdG13NXVUa1pEZzZPbXE2SkNKU3dzcktTaVBYSFRSb1VLUFBZVzF0WGU5ajFMV0FTVjJMc2t5ZVBMbmU1elF4TVdsb09VUkVSRVRVU3RRK2pvZUlxQjF5ZFhXRnBhVWxybCsvanVMaVlrMlhRMFJFUkVSRVJLUnhEQkdKaUY0Z0VBalF0MjlmVkZSVTRNcVZLNW91aDRpSTJwSE16RXpzMkxFRFJVVkZtaTZsU2NURXhPRDI3ZHVvUHFOU2NIQXdUcDgrcmNHcWdNaklTS3hidDY3RzlvcUtDbXpidGczeDhmRUFLbCtma0pDUU9zOVhVVkdoY0h0aVlxTEM0ME5DUXBDWW1GalBxbHVPNXJ4ZmlVU0NreWRQSWp3OHZFSEhFeEZSdzNFNE14R1JBbUt4R0QxNjlNQzFhOWR3Nzk0OWRPN2NXZE1sRVJGUk94QVdGb2JmZi84ZGVYbDVXTGh3WVozdGk0cUtNR0hDQkxWYys4eVpNMm81VDIxKyt1a25QSG55QkgvODhRZEVJaEdrVWltMmJOa0NTMHRMakJvMXFzbXZyOHlEQnc5dyt2UnBmUFRSUjNMYkwxeTRnUDM3OThQQndRSHU3dTdZczJjUFRwNDhDV3RyYTNUdDJsWGh1WDc2NlNmY3YzOGZhOWFzcVRHdjZNbVRKM0g0OE9FYTMrdXZ2dm9LRXlkT3hMdnZ2cXR5elZGUlVjak56Vlc1L1lnUkkrU2UvL25ubnlvZlc5MXJyNzBtOTd5NTdyZUtWQ3JGL3YzN1VWaFlpTjY5ZTBOUFQ2LytOMEZFUkEzQ0VKR0lTQWxYVjFjOGVmSUVNVEV4c0xTMDVKeGZSRVRVNUY1NTVSV2NPblVLeDQ0ZHcvRGh3K3RjZVZ4UFR3ODdkdXlvc2YzVXFWUFl2MysvM0Q1RjJ4Ulp2WG8xenA0OTI3QWIrRCtLQXNtTWpBd2tKQ1RnNVpkZmhraFUrVFlrTGk0T1dWbFpkYzdWcVFrVkZSWFlzMmNQN096c1pBdit2UFBPTzRpSWlNRGF0V3Z4ODg4L1F5Z1Uxaml1YytmT09IandJSGJ2M28yWk0yYzJxb2JMbHk4akl5TkQ0YjVUcDA3SmVraXE0c1VRY2N1V0xRMnE2Y1VRVVozM1crWGV2WHUxOWxUczJyVXJ6cDQ5aXg5KytFSHAzeEZmWDE4WUd4dXJwUjRpSXFyRUVKR0lxQlo5Ky9iRjZkT25FUmtaaVpFalIwSkxpN05BRUJGUncwa2tFdVRuNTlmYVpzYU1HVGgzN2h3TURRMlY5alFUaThVUUNvVVFDQVJ3Y0hDb3NiL3FnNi9xK3hSdFU2UmZ2MzYxaGkrSER4K0dXQ3hHUUVCQXJlZDUwWVVMRndCQWJnWHVZOGVPQWFqc1hWWlhjR2xqWXdNUEQ0OTZYYk14amg4L2pvY1BIK0s5OTk2VGV4MW16SmdCYlczdEdxK05xYWtwQkFJQlJvd1lnV3ZYcm1IUG5qM28xNjhmdW5Ycmh1enNiQUJBU1VrSkFNaWVWMWRTVWlMYkxoYUxvYU9qZ3lOSGppQXlNbEpoZllxQzJxbFRwOExjM0J5Yk4yOVc2UjRkSEJ6cURKV3J6SjQ5R3lrcEtUVzJxL04rcTRTR2htTHYzcjExMW5UcTFDbWNPblZLNGI1Tm16WXhSQ1FpVWpPR2lFUkV0ZERWMVVXL2Z2MFFHaHFLbXpkdm9rZVBIcG91aVlpSTFFd3FsZFlZaHRsVTd0NjlpL256NTZ2VXRyYTU5elp0Mm9RdVhib0FBQW9LQ21xRU5GVUJWL1hRUjlHMkt0V0R4UkVqUnRUb3RWYmQ0Y09IWVdwcVd1K2hxQ2RPbklDRGd3Tzh2THdBQUhsNWViSmdVWlZlY1NOR2pGQjdpUGhpRUZyMWZQUG16ZmoxMTE4QlZINnZOMjNhVk9lNTl1N2RDMHRMU3dEQXYvNzFMMFJGUmVIaXhZdm8xcTFialo2V2lucGVIajkrSE1lUEh3Y0FMRm15QlA3Ky9saTVjcVZjYmRPblQ4ZXNXYk1VWGo4ek14UFoyZG53OS9ldnMxWjFVOWY5dnFoNlVCb2FHb3J6NTgvaml5KytxTkV1SkNRRVo4K2V4ZkxseXh0N0swUkVWQXVHaUVSRWRiQ3hzVUhuenAxeDkrNWQyTmpZd05yYVd0TWxFUkdSR2xUMWZNck56VVdIRGgyYTVacTJ0clpZc0dCQnJXMENBd05oYW1wYTY5RFE2citMTGw2OHFIQlJFS0N5OTVncTI1cDZQc1NZbUJpa3BxWmk4dVRKc20zNzkrOUhXVmtadG03ZENpY25Kd1FFQkdEcTFLbDQ1NTEzR24wOVZZUGhxamtRSXlNakVSSVNJbnUrWjg4ZTVPYm1ZdnIwNlhqOTlkZGw3WU9EZy9IZGQ5L2hwNTkrZ3BXVmxkeTVEQTBOWlYrTHhXSUVCZ2JDeHNZR0FQRGxsMThDcUp3ajhOS2xTN0xuVmI3ODhrdjQrdnBpOU9qUkFLQjB2c1VYVlYrUTVzR0RCd0NBNHVMaUdndlZ1TGk0Tk9uOHpzMXh2dzhmUGtSb2FLakNmU2twS1Z4b2hZaW9HVEJFSkNKU2diZTNOekl5TW5EbHloV01HalZLYnNnTkVSRzFUbloyZGdBcTUrcHJyaEN4UTRjT0dEZHVYSzF0QWdNRElSYUw2Mnozb3FwaHhnQnc0TUFCL1B6enozTGhvS0p0Zi83NVo0UG54cXVQZmZ2MkFZQnNEc0duVDUvaXI3Lyt3cEFoUStEazVLVFdheTFidGd6WHIxL0hxbFdyWkwwZWxhbGF6Q1U3T3hzaElTRVlOV29VenA4L2o0c1hMd0tvREpxcnZxY0FaSXQ0R0JvYXltMVhwQ3BRQTRCQmd3WUJxQXhUQlFLQjdIbDF0cmEyQ3JmWFJsRjRmT3pZTWRrdzhTclRwMDlYR0NJV0ZCU292REoyUVVGQnJmdWI0bjdIangrUDR1Sml1VzIxRGFPdnZxODVGZ29pSW1wdkdDSVNFYWxBS0JUQzE5Y1hRVUZCaUlxS3dzQ0JBelZkRWhFUk5aS3RyUzBzTFMwUkdSa0pWMWRYaFl0a1VPUEZ4OGNqS2lwS2J0dkdqUnRSVmxhR0dUTm1xUDE2Y1hGeEtDb3FRbUppWXAwaG9pSi8vdmtuaGcwYmh1RGc0SG9mZS9yMGFibTVFcXYzWWdRcWUwaXFXMjFEbklIYVE3ZnM3R3lsdlZoVjBkVDN1MlhMRnRrNS92NzdieHcrZkZqaEhJNjE3U01pSXZWaGlFaEVwQ0lURXhONGVYa2hKaVlHRHg0OGdMT3pzNlpMSWlLaVJoQUlCQmd6Wmd4KysrMDNuRDkvSHY3Ky9xMDZTSHowNkJFTURBd0FxRDRuWWs1T1RwUFh0WDM3ZG1ocmE2T3NyQXdBa0ppWWlQRHdjRXljT0xGR0w4VGs1R1NGQzZ6bzYrdXIvQUhlbWpWcmNQLytmZmo1K1RXbzN1WExsME1vRkNJNE9CaS8vdnFyYkc3RTZ0NTY2eTI1NTJQR2pNSGl4WXR4NE1BQkpDVWx5YmEvR0twVlZGUTA2ZnliSjA2Y3dQbno1N0YyN1ZxVjJqZDJZWldtdnQrT0hUdkt2cTV0WVNCVkZ3MGlJcUxHWVloSVJGUVBibTV1ZVBMa0NhNWZ2dzR6TXpQWmYxcUppS2gxc3JTMHhJZ1JJM0QyN0Zta3BhWEJ4OGNIMXRiV01ERXhhZEt3SnkwdHJkYjk1ZVhsU3RzSUJBTFkydHJXMlA3KysrL1gyS2JxbkloTjVjS0ZDNGlPanNhc1diUHd5eSsvQUtpY24yL0praVh3OGZHcDBmN1NwVXU0ZE9sU2plMTJkbllxaDRqT3pzNE4vcUF2TURBUTRlSGgrT2FiYndBQUV5ZE94UGp4NDJYN0l5SWlzSFhyVnF4ZHV4WVdGaGF5N1ZYeklXN2R1aFVBc0d2WEx1emV2UnNBY1BUb1VWbTdxbmtMcTIrcnZxLzY5cGRmZmhsYVdscjFxdi9SbzBlNGZ2MTZ2WTVwREUzY2IzMVhCU2NpSXZWaGlFaEVWQThDZ1FEOSsvZkhtVE5uRUJFUmdaRWpSMElrNGorbFJFU3RtYmUzTjJ4dGJYSGl4QW1GWVljeUF3WU1hUEQwRnYvNHh6OXEzZi80OFdPbGJiUzF0V1dyMmdKQXAwNmRNR0hDQk15Wk13ZTZ1cm9BS3NPNG5UdDNZdUhDaGJVdVdoRVRFMVByS3RDTkZSb2FDamMzTjB5Wk1rVVdJZ0pRdW9Ld3VoWldVVVY1ZVRuT25EbURxS2dvMlhEcm8wZVB3c0xDUWhZZ201aVl5UFZ1dTN2M0xvREtVRlBWaGRZQ0F3TlYyaFlkSFkzbzZHalo4OVk2QjdNNjdyZXNyRXpwLzY5cUc4NU1SRVJOaSs5OGlZanFTVTlQRHo0K1BnZ0pDY0hWcTFjVjlxUWdJcUxXeGRMU0VqTm16TURqeDQrUmxwYUcwdExTT285cHpOREpKVXVXS04zMzlkZGZ3OXpjSEhQbnpsVzR2L3FRNjVTVUZCZ2FHdUxWVjE5RlJrWUdBRUFpa1dEanhvMG9MeStIdHJaMmpTR28xWm1abWVIVlYxOUZTa29Lek16TTVGWVlWb2RwMDZiQndNQ2dSWDdnVmxKU2dtKy8vVlp1MjMvLysxLzA2ZE5IcmIxUXF5L3dNWDM2ZEZoWldlRzc3NzZUYXhNUUVJQ0pFeWZpM1hmZmJkUzFKQkpKdldwWDU4SXFWZFJ4djBWRlJiSkFVU0tSQUFDbVRKbUMxMTU3VFdHd09uZnVYTXlkT3hjU2lRUmFXbHBOMm91WWlLZzlhM20velltSVdnRXJLeXQ0ZUhqZzFxMWJzTFMwaEl1TGk2WkxJaUtpUmhJSUJMQ3pzNU90MnR5VWxQWEVBeXBEUkFNRGcxcmJWS2xyYUxLeUlGS1J4WXNYWTh5WU1TcTNWNFdpRllGYkNrTkRRNHdZTVFLREJ3OUdZbUlpZHUvZWpiNTkrOHExeWMzTmxRdGhzN0t5QUtCRzBHeG9hQWd6TTdOYXI1ZVVsSVRNekV3TUh6NWNqWGNocjZDZ29GNUJjR01YVnFsTlkrNDNKeWRITm1YTTZOR2o2M1hzTjk5OGd4NDlldFQ3bWtSRVZEZUdpRVJFRGVUdTdvNm5UNS9LNWtmczBLR0Rwa3NpYWhXRVFpRWtFa21yWHNDQzFJOC9FdzFUdmRjWFVEa2NOekF3RUV1WExsVzRzRWg4ZkR3V0xWb0VEdzhQckZ1M3JzWDEyTnEvZnovMjc5K3ZjTi9ldlh0aGFXbXAxdXQ5K3VtbkFJRFUxRlNGK3c4ZlBxeHdtT3pISDM4czk3eHFZWlhhVk4zWHNHSERHbEtxVEZaV0ZtSmlZaFFHdE1uSnlRcm55MVNtc1F1cjFLWXg5NXVXbGdZckt5c0F3TTZkTzFGY1hJelBQdnNNK3ZyNldMcDBLZlQwOU9UYVAzcjBDRjkvL1RXc3JLemc2dXBhNytzUkVaRnFHQ0lTRVRXUW92a1J0YlcxTlYwV1VZdW5yNitQL1B4OExreEVjdkx6ODJVckMxUERKQ1ltNHNjZmY0U1ptUm0wdGJWUlhGd3NGN1lrSkNUZ3M4OCtnN0d4TVQ3NTVKTVdGeUFDZ0srdnI5SlZsWTJOalZVNlIyRmhJYkt5c3RTeVV1L2JiNytOTjk5OFUvYjg3Tm16V0wxNk5YNzc3VGVWNTBRRWdMQ3dNQVFGQmFGdjM3NXdjM09yVncxUG5qekJyVnUzQUFDSERoM0MzcjE3QVFDZmZQS0pYTHVzckN6RXg4ZGozTGh4OVRwL1Uyak0vWmFWbGVIaHc0ZDQrZVdYQVVEV00zamx5cFg0OTcvL2pXKysrUWJMbGkyVGZmOURRa0t3WWNNR09EZzRZT1hLbFJDTHhlcTlHU0lpa21HSVNFVFVDTHE2dWhnd1lBRE9ueitQcUtnb0RCZ3dRTk1sRWJWNGxwYVdTRXRMWTRoSWN0TFMwdVJXdTZYNk16VTF4Wnc1Y3hBYUdvb1ZLMVpBS0JUQzI5c2JQajQrS0M4dng4NmRPMkZvYUlnMWE5YW92VWVmdWpnNk9tTEVpQkdOT3NmOCtmT1JuSnlzdERkbWMzank1QWtBb0tLaUFoY3VYTUM2ZGV0Z1pHU0VoUXNYMXVzODc3MzNubXd4RnowOVBYaDRlS0JuejU3bzJiTW4zTnpjc0gvL2ZwaWFtZ0tvWENtNW9xSUNKMCtlaExHeE1kNTQ0dzNvNnVyQ3ljbEoxcWFwcU90K0FlREdqUnNvTHk5SDkrN2Q1YmE3dUxnZ01EQVFuMy8rT2ViTW1ZTnAwNlloTmpZV0VSRVJHRHQyTE41Nzd6MSttRXRFMU1RWUloSVJOWks1dVRtOHZiMFJFeE9EaElTRWVuL2lUdFRlT0RvNjR0S2xTM2oyN0ZtVHY3R2wxdUhaczJmSXlzcHFGeC9FRkJVVnFkUk9LcFhXMlZaZlgxL3V1YW1wS1NaTW1JQUpFeVlnSnljSFo4NmN3YzZkTzNIMTZsVlptOEdEQitQNTgrZW9xS2lBbHBaV2pYTWVPblFJZVhsNWRkYVhtNXNydDlxeUlyTm16YXJ6UEUxQktwWEsvZG1jS2lvcUVCZ1lpRE5uemtBZ0VPQ2JiNzdCbENsVDBLVkxGN3ovL3Z2MTZyMElBRU9HRElHUGp3OTY5KzROZDNmM0dndlViTjI2RlZLcEZELzk5QlBPbmoyTFVhTkdRU3dXWSsvZXZRZ0tDc0lISDN5QXJWdTNLajEvWGw0ZURodzRvRkl0aW40dTFIMi9RT1VRZmFGUWlINzkrdFhZWjJ0cml4a3pabUQ5K3ZYWXZuMDdBS0JuejU2WU5tMGFBMFFpb21ZZ2tHcml0eXNSVVJzVUhoNk94NDhmdzgvUEQrYm01cG91aDZoRnk4N094dTNidCtIcDZja2dzWjE3OXV3WmJ0MjZCUThQanpvWHBtZ0xBZ0lDMUhhdXc0Y1B5dzNkTENzclEzSnlNdUxpNG5EOStuVmN1WElGeGNYRmNIZDN4NUFoUTNEdDJqVkVSMGRESXBGQUxCYWpYNzkrOFBYMVJmLysvV1huK2NjLy9vRzB0RFMxMVBmaWZJMEJBUUdZT25VcTNubm5IWVh0NjlxdnFvS0NBbVJtWnNMSnlhbk90aWtwS1JDSlJOaTVjeWRDUWtKdy9QaHh1WHJxNDhjZmY4U3VYYnNRSGg2T2FkT213ZG5aR1d2V3JJR0ppUWtHRHg0TWUzdDc2T3ZyUXlRU1FTUVNRU2dVUWlnVW9yeThIR1ZsWmJKSDFmTng0OGJWdVVoS1hGd2NObS9lalBqNGVBd2FOQWlmZmZZWlJDSVI3dCsvajhEQVFNVEZ4V0hreUpGNDc3MzNhZ3p6YmVqUFl2WFhkZG15WldxOTM2eXNMTXlaTXdlREJnM0M1NTkvam9xS0NpUW5KK1AyN2R1NGZ2MDZvcUtpVUZoWWlNNmRPMlBNbURHNGRlc1dnb09EVVZGUkFWZFhWL1RzMlJOZHVuUkJ4NDRkNGVqb0NGMWQzUWJkSXhGUmV5V29ZNjRUOWtRa0lsS1RmdjM2NGN5Wk13Z1BEOGZJa1NOcjlCQWhvdi9Qek13TUhoNGV1SDM3TnN6TnpXRm5ad2V4V015Rk5kb0ppVVNDL1B4OHBLV2xJU3NycTkwRWlBQ3dZTUVDdFoxTFQwOFBwYVdsK09LTEw1Q1dsb2FNakF4SUpCSUFRTWVPSFRGdTNEZ01IejVjMWtOK3lwUXB5TXZMdzhXTEZ4RWNISXlRa0JDY1AzOGV1cnE2MkxWckY4ek16TEJ6NTA2MTFhY3Bob2FHS3E5US9OLy8vaGNKQ1FrQWdENTkrdFRZUDNIaVJJd2ZQMTZsYzluWTJNRFkyQmlUSjArV3JacnQ1T1NFUTRjT0lTb3FDcWRPblVKSlNZbEs1N0t5c3NMVXFWT1Y3ajkzN2h5T0hUdUdHemR1UUY5ZkgzUG56c1drU1pOazgxeTZ1cm9pTURBUUJ3NGN3QysvL0lLWW1CanMyTEdqeG9Ja2pWMVlSZDMzZS9Ub1VVaWxVcno1NXBzNGZQZ3d0bTNiSmxzRnUxT25UaGcvZmp6OC9QeGtpOHBNbURBQmMrZk94Zm56NXhFUkVZRy8vdm9MNWVYbEVJbEUyTDE3TjBORUlpSTFZMDlFSWlJMXlzM054Ymx6NTJCc2JBdy9QejhHSWtSMUtDOHZSM0p5TXA0K2ZZckN3a0paQUVKdG0xQW9oSUdCQVN3c0xPRG82RmhqaUNiVnp3OC8vSUNuVDUraVU2ZE82Tnk1TTdwMzc2N1MvSks1dWJrSURRMUZXVmtaSms2YzJPUjFybHUzRGo0K1BoZzZkR2lEOWplRnlNaElaR1Jrd05qWUdQMzc5NWY3QUhERmloWHc5L2ZIa0NGRFZEN2Y4K2ZQSVJhTGExMjBwcnk4WFBhb3FLaVFiYTg2UmlBUVFDUVMxUWo4cXR1K2ZUdE9uRGlCTVdQR1lOS2tTZWpRb1lQU3RvbUppVGgyN0JnKytPQUR1ZTJyVjYrR3ViazUvdm5QZjZwMGIxdTNia1ZXVnBac1JXdEEvZmNybFVvUkhoNk9RWU1HNGRtelp6aDQ4Q0M2ZE9rQ0R3OFBsWDZtUzBwSzhPREJBK1RuNTZOdjM3NHEzUmNSRWYxL2RmVkVaSWhJUktSbXFhbXBpSWlJZ0pPVGs4TDVmSWlJaUlnYVF5S1JRQ3FWTW9BbklpSzFxaXRFckRtYk1oRVJOVXJIamgzUnZYdDNKQ1VseVlaSUVSRVJFYW1MVUNoa2dFaEVSTTJPSVNJUlVSUG8zcjA3N08zdEVSTVRnNHlNREUyWFEwUkVSRVJFUk5Rb0RCR0ppSnFBUUNCQS8vNzlZV1JraElpSUNCUVVGR2k2SkNJaUlpSWlJcUlHWTRoSVJOUkVSQ0lSQmc4ZURBQzRlUEVpeXN2TE5Wd1JFUkVSRVJFUlVjTXdSQ1FpYWtLR2hvWVlNR0FBOHZMeWNPWEtGWEF0S3lJaUlpSWlJbXFOR0NJU0VUVXhLeXNyOU9qUkE2bXBxYmg5KzdhbXl5RWlJaUlpSWlLcU55N3BSVVRVRE56YzNKQ2JtNHU0dURnWUdockMyZGxaMHlVUkVSRVJFUkVScVl3aEloRlJNK25kdXplS2lvcHc5ZXBWNk92cnc4YkdSdE1sRVJFUkVSRVJFYW1FdzVtSmlKcUpscFlXZkgxOVlXeHNqSWlJQ09UazVHaTZKQ0lpSWlJaUlpS1ZNRVFrSW1wRzJ0cmFHREprQ0xTMXRSRVdGb2JDd2tKTmwwUkVSRVJFUkVSVUo0YUlSRVROVEY5ZkgwT0dERUZaV1JuQ3dzSlFWbGFtNlpLSWlJaUlpSWlJYXNVUWtZaElBMHhNVERCdzRFRGs1ZVVoSWlJQ0ZSVVZtaTZKaUlpSWlJaUlTQ21HaUVSRUdtSnRiWTIrZmZzaVBUMGRWNjllMVhRNVJFUkVSRVJFUkVweGRXWWlJZzF5Y25KQ1FVRUJZbU5qWVdCZ0FBOFBEMDJYUkVSRVJFUkVSRlFEUTBRaUlnM3o4UEJBWVdFaFltTmpvYU9qQXpjM04wMlhSRVJFUkVSRVJDU0hJU0lSVVF2UXAwOGZsSmFXSWpvNkd0cmEybkJ5Y3RKMFNVUkVSRVJFUkVReW5CT1JpS2dGME5MU2dxK3ZMNnl0clJFVkZZWFUxRlJObDBSRVJFUkVSRVFrd3hDUmlLaUZFQXFGR0Rod0lNek16QkFaR1lrblQ1NW91aVFpSWlJaUlpSWlBQXdSaVloYUZKRkloQ0ZEaHNEWTJCamg0ZUY0K3ZTcHBrc2lJaUlpSWlJaVlvaElSTlRTYUd0clkralFvVEF3TUVCWVdCaHljbkkwWFJJUkVSRVJFUkcxY3d3UmlZaGFJRjFkWFF3ZE9oVGEydG9JQ1FuQjgrZlBOVjBTRVJFUkVSRVJ0V01NRVltSVdpZ0RBd01NR3pZTUFvRUF3Y0hCS0NnbzBIUkpSRVJFUkVSRTFFNHhSQ1FpYXNIRVlqR0dEaDBLaVVTQ0N4Y3VJRDgvWDlNbEVSRVJFUkVSVVR2RUVKR0lxSVV6TVRIQnNHSERHQ1FTRVJFUkVSR1J4Z2lrVXFsVTAwVVFFVkhkY25OekVSd2NESUZBQUQ4L1B4Z1pHV202SkNJaUlpSWlJbW9qQkFLQm9OYjlEQkdKaUZxUHZMdzhCQWNIQXdDR0RSc0dZMk5qRFZkRVJFUkVSRVJFYlVGZElTS0hNeE1SdFNMR3hzYnc4L01EQUZ5NGNBRzV1Ym1hTFlpSWlJaUlpSWphQllhSVJFU3RqSkdSRWZ6OS9hR2xwWVhnNEdBR2lVUkVSRVJFUk5Ua0dDSVNFYlZDWXJFWWZuNStFQXFGdUhEaEFuSnljalJkRWhFUkVSRVJFYlZobkJPUmlLZ1ZLeWdvd0lVTEYxQldWb1loUTRiQTNOeGMweVVSRVJFUkVSRlJLOFNGVllpSTJyakN3a0lFQndlanFLZ0lBd1lNZ0sydHJhWkxJaUlpSWlJaW9sYUdJU0lSVVR0UVhGeU1zTEF3NU9Ua29HL2Z2bkJ5Y3RKMFNVUkVSRVJFUk5TS01FUWtJbW9ueXNyS0VCNGVqb3lNREhoN2U2TnIxNjZhTG9tSWlJaUlpSWhhQ1lhSVJFVHRTRVZGQlM1ZnZveVVsQlIwNmRJRjN0N2VxT1AzQUJFUkVSRVJFVkdkSWFLb3VRb2hJcUttcDZXbEJSOGZIK2pxNnVMdTNic29MaTVHdjM3OW9LV2xwZW5TaUlpSWlJaUlxQlZqaUVoRTFNWUlCQUwwNnRVTGVucDZ1SFhyRmtwTFN6Rmd3QUNJUlB3bm40aUlpSWlJaUJxR3c1bUppTnF3eE1SRVhMdDJEYWFtcGhnOGVEQjBkWFUxWFJJUkVSRVJFUkcxUUp3VGtZaW9uWHYwNkJFdVhib0VQVDA5REI0OEdDWW1KcG91aVlpSWlJaUlpRm9ZaG9oRVJJU3NyQ3lFOE5jVWxnQUFJQUJKUkVGVWg0ZWp2THdjUGo0K3NMT3owM1JKUkVSRVJFUkUxSUl3UkNRaUlnQkFZV0VoTGw2OGlKeWNISGg3ZTZOcjE2NmFMb21JaUlpSWlJaGFDSWFJUkVRa1UxNWVqc3VYTCtQUm8wZHdjbkpDbno1OXVISXpFUkVSRVJFUk1VUWtJaUo1VXFrVXQyL2ZSbHhjSEN3c0xEQnc0RUF1dUVKRVJFUkVSTlRPTVVRa0lpS0ZIajU4aUN0WHJrQmZYeCtEQmczaWdpdEVSRVJFUkVUdEdFTkVJaUpTaWd1dUVCRVJFUkVSRWNBUWtZaUk2bEI5d1JWM2QzZDRlbnFpanQ4ZFJFUkVSRVJFMU1Zd1JDUWlvanBKSkJKY3ZYb1Z5Y25Kc0xTMGhLK3ZML1QwOURSZEZoRVJFUkVSRVRVVGhvaEVSS1N5Qnc4ZTROcTFhOURSMFlHdnJ5OHNMUzAxWFJJUkVSRVJFUkUxQTRhSVJFUlVMems1T1lpSWlFQkJRUUU4UFQzUnRXdFhEbThtSWlJaUlpSnE0eGdpRWhGUnZaV1ZsU0VxS2dxcHFhbXd0YlZGLy83OW9hT2pvK215aUlpSWlJaUlxSWt3UkNRaW9nWkxTRWhBVEV3TTlQWDFNWERnUUppYW1tcTZKQ0lpSWlJaUltb0NEQkdKaUtoUnNyS3ljT25TSlJRWEY4UGIyeHVkTzNmbThHWWlJaUlpSXFJMmhpRWlFUkUxV2tsSkNTNWZ2b3duVDU3QTJ0b2EvZnIxZzc2K3ZxYkxJaUlpSWlJaUlqVmhpRWhFUkdwejc5NDkzTGh4QTFwYVd1alRwdzhjSEJ3MFhSSVJFUkVSRVJHcEFVTkVJaUpTcStmUG55TXlNaExQbmoxRHAwNmQwS3RYTHk2NlFrUkVSRVJFMU1veFJDUWlJcldycUtoQVhGd2M0dUxpb0tlbmgvNzkrOFBLeWtyVFpSRVJFUkVSRVZFRE1VUWtJcUltazVXVmhjdVhMeU0vUHg5dWJtN3c4dktDVUNqVWRGbEVSRVJFUkVSVVR3d1JpWWlvU1pXWGx5TW1KZ2FKaVlrd05qWkcvLzc5WVdwcXF1bXlpSWlJaUlpSXFCNFlJaElSVWJONC9QZ3hybHk1Z3RMU1VyaTV1Y0hEd3dNaWtValRaUkVSRVJFUkVaRUtHQ0lTRVZHektTa3BRVXhNREpLVGsyRmdZSURldlh2RDF0WlcwMlVSRVJFUkVSRlJIUmdpRWhGUnM4dkl5TURWcTFlUm41OFBCd2NIOU96WkUzcDZlcG91aTRpSWlJaUlpSlJnaUVoRVJCb2hrVWdRRnhlSE8zZnVRQ2dVd3R2Ykc4N096cWpqOXhLMU0rWGw1VWhPVGtabVppYUtpb29na1VnMFhSSlJ2UW1GUXVqcjY4UFMwaEtPam82Y3l1RUZOMi9lUkh4OFBGNS8vZlY2SHhzZkg0K0VoQVNNR1RPbXliNnY4Zkh4eU1yS3dzQ0JBMXZjNzZpS2lncWNQMzhlK3ZyNkdEaHdvS2JMUVZKU0VveU1qR0J1YnE3cFVnaDhQWWhJL1JnaUVoR1JSdVhsNWVIcTFhdDQrdlFwTEN3czBLZFBIeGdiRzJ1NkxHb0Jzck96RVJzYkMzTnpjOWpaMlVFc0ZuTjFiMnFWSkJJSjh2UHprWmFXaHF5c0xIVHYzaDFtWm1hYUxxdkYyTFp0Ry9idjM0OHpaODdVKzloMTY5WWhNaklTKy9mdmwvMzdJSlZLVVZCUWdMeThQTmtqSnljSHo1NDl3N05uejVDVmxZVlhYbmtGbnA2ZUtsM2owMDgvUlV4TURFNmNPRkh2K3BwYVNVa0pacytlallxS0N1emN1Uk02T2pvcUg3dDU4MlljUG55NDN0ZFU5anBKcFZMTW16Y1BCUVVGMkxseko0UkNJWTRlUFZybitUdzlQZUhrNUZSbnU1S1NFbVJrWktoVW83bTVPUXdNREZScXF5NVJVVkhJemMxVnVmMklFU1BrbnYvNTU1OE51dTVycjcybWNIdDdmejJJcUduVUZTTHlZMUlpSW1wU3hzYkc4UFB6dzRNSEQzRGp4ZzJjT1hNR1hidDJSYmR1M1JnWXRXUFoyZG00ZmZzMlBEMDl1Wm8zdFhwQ29SQW1KaVl3TVRIQnMyZlBjT3ZXTFhoNGVMU3JJREVnSUtCUmJZeU5qWEhvMENHNWJTVWxKUWdMQzhPSUVTTnc2OVl0ckYyN0ZnVUZCU2dzTElTeWZoQUNnUUJHUmtibzNidTN5aUZpWGw2ZVJqL2NPbnYyYkszN1BUMDljZTdjT1d6WnNxWFdlekkwTklTdnIyK043WjkrK3FsS2RRUUZCU0VxS2tycC9yQ3dNQ1FtSnVMVFR6K1YvZjRPREF5czg3enZ2LysrTExUNnozLytvL1FhR3pac3dLSkZpMVNxOWROUFA2MFIwcW5ENWN1WGxRWm5wMDZkUW54OHZNcm5lckcrTFZ1Mk5LZ21aU0ZpZTNnOWlLamxZWWhJUkVSTlRpQVF3TVhGQlhaMmRvaUppVUZjWEJ5U2twTGc3ZTBOQndlSEZqZDhqSnBXZVhrNVltTmpHU0JTbTJScWFncFBUMC9jdm4wYnZyNis3V1pvODQ0ZE81VHVPM2p3SUk0ZlAxNXJHMFVmS2dVRkJhR3dzQkFqUjQ2RXRiVTF2THk4b0srdkQwTkRReGdZR01EQXdBRG56cDFEWEZ3Y05tM2FCRk5UVTVpYW10YjdlLzcwNlZOWVdWblY2eGgxV3IxNnRVcnRqaDQ5V210UE15Y25KNFVob3FyaHpwMDdkNVFHU3VYbDVkaTJiUnU4dkx6a3pxZXMxMko1ZVRtV0xGbUM1T1JrdVdIWVU2ZE94Y2lSSTFGVVZJVEF3RUNNSFRzV1hsNWVjc2QrLy8zMzZOYXRHNERLM250YnRteVJYU2M3T3h0VHAwNVY2WDRhNHNpUkk0aU1qRlM0VDlHOVRwMDZGZWJtNXRpOGViTks1M2R3Y0tqMTcwRjFzMmZQUmtwS2lzSjk3ZVgxSUtLV3AzMzhyNGFJaUZvRVBUMDkrUGo0d05uWkdkSFIwWWlNakVSQ1FnSjY5T2dCQ3dzTFRaZEh6U1E1T1JubTV1WU1FS25OTWpVMWhibTVPWktUaytIcTZxcnBjcHFGZzRPRDBuMUdSa1oxdG5tUlZDckZvVU9INE9Ua2hPN2R1d05RM0tNdVBqNGVjWEZ4Nk5LbFN6MHJybFJZV0lobno1N0pycUVKSjArZWxIc2VFUkdCd3NKQ3BlRmZlbm82b3FPak1XclVLTGtQNFpyeUE3a0RCdzRnSXlNRHk1Y3ZCd0RjdUhFRG5wNmUwTkxTcXRHMnRMUVVLMWFzUUh4OFBOYXVYUXRMUzB2WnZwNDlld0lBY25OekVSZ1lpTzdkdTh2dTg5YXRXMDFXdjZwV3Jsd3Arem9nSUFEVHAwL0hyRm16RkxiTnpNeEVkblkyL1AzOW02czhtZmJ5ZWhCUnk4TVFrWWlJbXAyVmxSVUNBZ0tRbEpTRVc3ZHU0Zno1OCtqWXNTTzh2YjFoYUdpbzZmS29pV1ZtWnNwNk5SQzFWWFoyZG9pUGoyODNJU0pROTVCbVpmc1ZEV1dPaUloQVNrb0tKazJhcExiNkZIbnc0QUVBNE42OWUybzlyMVFxVlRuVXE5NExVeXFWNHZEaHc0aU5qWVc5dlQwOFBEeHF0Tit5WlFzdVhib0VXMXRiOU9yVlMyMDFLNU9Ta29MZHUzZGordlRwY0hKeXd1M2J0L0h2Zi84YkN4WXN3Tml4WStYYVBuMzZGTXVYTDBkS1NncFdyMTROZDNmM2VsOHZQVDBkWXJFWUFKQ1RreU9yQVVDOTVpUnNDcWRQbjVaOVhmV3pVMXhjTExjZEFGeGNYTkM1YytjbXFZR3ZCeEZwRWtORUlpTFNDSUZBQUdkblp6ZzRPQ0ErUGg1Mzc5NUZXbG9hM056YzBLMWJOMmhyYTJ1NlJHb2lSVVZGc2pja1JHMlZXQ3hHWVdHaHBzdG9Wc3FHYWRZMW5QbkZvY3dWRlJXeXRrMDkzVVZjWEJ5QXlxQWtPVGtaam82T2pUN25zbVhMY1AzNmRheGF0YXJHME5DNkNBUUNMRjI2RkhQbnpzV3FWYXV3WmNzV21KaVl5UGFIaElUZzBxVkxtRFJwa3NvQlltbHBxVXJ0S2lvcUZCNjdjdVZLT0RrNVlkcTBhU2d0TGNXR0RSdmc2dXFLTVdQR3lMVU5DZ3JDcGsyYmtKK2ZqdzRkT2lBMk5oWXVMaTdRMDlOVDZmcFZWcTFhVldQYjdObXo2M1dPcHJKdTNib2EyNDRkTzRaang0N0piWnMrZmJyQ0VMR2dvS0JHNEtoTVFVRkJqVzE4UFloSTB4Z2lFaEdSUm9sRUluaDZlc0xGeFFVM2I5N0VuVHQza0pTVUJBOFBEN2k0dUhDK3hEWklJcEZ3VVIxcTg0UkNJU1FTaWFiTGFCYVptWmtBb0RTY3FKcWpzTGJ3SWpNekV6bzZPakF4TWNHcFU2ZVFuSnlzL2tJVnVIYnRHclMwdEtDdHJZM1EwRkMxaEloeGNYRW9LaXBDWW1KaXZVTkVBREF6TThQQ2hRdHg2OVl0dWU5WlRrNE92di8rZS9UczJSUC8vT2MvVlQ3Zmk3M1Q2aU0xTlJXSmlZblEwdExDeXkrL0RLbFVDcUZRaUkwYk44cUd6a1pGUldIWHJsMklpNHZEMEtGRE1YZnVYUHo1NTUvWXZuMDc5dTNiaDlkZmZ4MnZ2dm9xZEhWMVZicG1TNStEcjdZaHprRHRQWEt6czdNVkJwR3E0dXRCUkpyR0VKR0lpRm9FQXdNRCtQajR3TTNORFRFeE1iaDI3UnJ1M2JzSER3OFAyTnZiTTB3a0ltcWhwaytmcnBaMjd1N3VXTEZpQmJadTNRcEhSOGNtRHhJTENncHcvZnAxZUhoNG9FT0hEamgxNmhUZWZQUE5SdisrV2JObURlN2Z2dzgvUHorVmo5bTRjU09PSERsU1kvdkJnd2RyYkl1T2pzYm8wYU5yYk4rNWN5ZnM3T3hrengwY0hOQ3JWNjhhUGRTVXFWcjByRG9YRnhlc1hyMGFSa1pHdUh2M0xnSURBekZseWhUWTJkbGgzNzU5T0gzNk5GSlNVbUJuWjRmbHk1ZkxGdTJZTjI4ZXhvNGRpMDJiTm1IYnRtMDRkT2dRM25yckxYaDZldUxCZ3djb0tpb0NBTVRHeGtJb0ZNTFEwTEJWOWxBL2NlSUV6cDgvajdWcjE2clV2ckVMcS9EMUlDSk5ZNGhJUkVRdGlwbVpHZno5L1pHYW1vcWJOMjhpSWlJQ0ppWW04UER3Z0oyZEhjTkVJcUlXUmxINDFSQmFXbHBZdTNZdDh2UHpzV0xGQ2l4YXRFaTJiOCtlUFFxUHFacVhUdEgrZnYzNjFicmd5dm56NTFGZVhvNGhRNGJBM053Y29hR2h1SHo1TW54OGZCcDFIODdPem5CMmRtN1FzUjk5OUZHRHI5dWhRd2U1NStQSGo4ZjQ4ZU5WUGw3WkFpRjkrdlJCWVdFaFZxeFlBVmRYVjh5Y09STkE1WUl3SXBFSWl4Y3Z4cWhSbzJyME1IZHdjTURxMWF0eDVzd1ovUGpqajhqTXpFUndjREQyN3QwcmExTTFGTmpCd1FHTEZ5OEcwTHJtNEh2MDZCR3VYNy9lck5mazYwRkVtc1FRa1lpSVdxU09IVHZDM3Q0ZXljbkppSXVMUTNoNE9EcDA2SUR1M2J2RDN0NWUwK1VSRWJWNGhZV0Z1SHo1TXU3ZHU2ZlNtLzBCQXdiSWVpN1ZoNzYrUGdBZ0x5K3ZRYUdDbVptWmJGR3R2THc4VEpvMENaNmVubkp0ZnYzMTExclBvV2kvV0N4V0dpSktwVkw4NzMvL2c3YTJOa2FNR0FFREF3T1ltcHBpejU0OWpRNFJHMlBVcUZHTlBrZGlZbUt0QzhWVVhVUFZkZ0N3WWNNRzVPVGtZTldxVmJMaDZkOTk5MTJONEZLUmdJQUE5Ty9mSDBaR1J0RFMwc0tzV2JPUW01dUx5Wk1uNDZPUFBwSmRwMm8xWU03QlZ6ZStIa1NrS1F3UmlZaW94UklJQkhCeWNrS25UcDN3OE9GRHhNYkd5c0xFcXA2SlJFUlVVMEpDQXM2Y09RT0pSQUpiVzF0MDd0d1pPam82dFI3ajRPRFFxR3YrL2ZmZmRZWjlpaXhldkZnMjVIYldyRmtLZzcrcU9kaGV0SHIxYXB3OWUxYnBmbVV1WExpQTVPUmtqQm8xQ3NiR3hnQXFlKzd0MnJVTElTRWhHRHAwYUQzdm9uRXFLaXJVTmxkc1JFUkVyYTlEVlVpa2Fycy8vdmdERnk1Y3dGdHZ2WVdzckN6RXhNUWdKU1VGYjd6eEJpWk5tb1M4dkx3NmExTGw5VEUwTklTM3R6Zm16NTh2bTV2eXhUbjRuajkvamkrLy9GS2xzS3c1U0NTU2VvMlFhT3pDS2dCZkR5TFNMSWFJUkVUVTRtbHBhY25DeEtxZWlSY3ZYb1NwcVNrOFBEeGdhMnVyNlJLSmlGcU1oSVFFSERseUJGMjZkTUhJa1NObFBRV2J5NHNCUlVaR0JqSXpNK0hoNFNHM1hkR2lETjI3ZDIveStnb0xDN0YxNjFZSWhVSzg5ZFpic3UydnZmWWEvdnp6VDJ6YXRBbTllL2R1MWpuaFNrcEs2Z3g1Nit2RjEySFBuajBLUThQYTJwV1hsK09YWDM0QkFQejIyMjhBS3Vjd3RyZTNoNzYrUHViT25TdTMrbk5vYUNpdVhidUdCUXNXMUx0ZVoyZG5yRisvdnRZMlJrWkdkYlpwVGdVRkJiSmV0S3BvN01JcWZEMklTTk1ZSWhJUlVhdWhwYVVGWjJkbjJZVDdzYkd4Q0FzTGc2bXBLZHpkM2JrQUN4RzFlNFdGaFRoejVneTZkT2xTci9ud210S3hZOGZ3eHg5LzRNU0pFNW91QlVEbElpYVptWmw0L2ZYWDVUNkVNalEweE50dnY0MGZmdmdCcTFldnhsZGZmZFZzdjFOeWMzTmI1RUlXSXBFSWI3LzlOdlQwOU5DcFV5ZDA2dFFKNXVibXN2MHZEcjkrOU9nUnJsMjdobkhqeHRYN1dvOGVQVUo4Zkx6Y3RydDM3d0wvcjcwN2o2c3g3LzhIL2pwMTByNHFsS0lpVzFLWXNZNGwrMWhubU5GZ21KdDdCc05nYkdQSlZuWUdZeGxtQmcxbWFESU1JdHlLckZuR1VoSXRvcFMwYU4rWDAvbjkwYS9yNjNTV1RpbnI2L2w0OVBnNjEvVzV0bk5PN3UrOGZONmZONEN6WjgvS2plL2R1M2VWcjFFZDViUDltalp0S3Jjdk5qYTJTditRK2JLTlZmaDVFTkhyeGhDUmlJamVPaStHaVRFeE1RZ1BEOGZWcTFlaHA2Y0hCd2NIMk5uWlFVdEw2M1hmSmhIUkszZmp4ZzFJSkJMMDZkUG5kZCtLSUNzckM0YUdocS83TmdDVWRUc09DQWlBdGJVMXZ2cnFLN245UTRjT1JXQmdJSzVmdjQ2ZmYvNFozMzMzWFpXdmtaZVhoOVRVMUNxVmh6OTc5Z3oxNnRXcjhyVmVoWXF6UmNzVkZoWkNXMXU3UnE2Umw1ZUhPM2Z1WVBQbXpRcjNyMW16Um01YmJZVldpWW1Kd25xQWh3OGZGaHFQekpzM1QyWmNhbW9xd3NQRHF4WFF2WXozN2ZNZ29qY0xRMFFpSW5wcmFXaG93TjdlSG5aMmRuajY5Q21pb3FJUUVoS0NzTEF3Mk5uWndjSEJvVXBsUmtSRWI3dUhEeC9DMHRMeWxaY3dxM0wvL24xb2FHamd5cFVyK09DREQyb3M2S2lxRXlkTzRMZmZmb091cmk2V0xWdW04RDVFSWhIYzNkMHhaY29VSER0MkRJV0ZoWmd4WTRiUXZFSWQwNmRQUjJ4c0xOemQzZEd6Wjg5S3gyZG1aaUkrUGg3RGhnMnJ5dU84VW5sNWVZaU1qRVJFUkFUdTM3K1BzTEF3L1BlLy94WFdzcXlxOHBMYnMyZlA0dGl4WTBoSlNjSEJnd2ZsQXJtS2EvQXBjdnYyYmV6YnR3L3U3dTZ3c0xDbzF2MlVtenAxcWpEYlRrZEhCNDZPam5CeGNZR0xpd3NjSEJ6ZzQrTURVMU5UQU1ET25UdFJXbHFLMDZkUHc4aklDRjk4OFFXMHRiVmhhMnNyaktrdGIvTG5RVVR2Tm9hSVJFVDAxaE9KUkxDMnRvYTF0VFhTMHRJUUZSV0ZodzhmSWlvcUNnMGJOa1N6WnMxZ2JtNyt1bStUaUtqV1pXWm1LaXk3ZkJVR0RoeUlUcDA2Q2E4bEVnbjI3Tm1EUjQ4ZXdjek1UQWp1MnJkdmo0OCsrZ2dkT25UQTNyMTdhNzBwZzBRaWdaZVhGdzRlUElnNmRlckF3OE5EYUJTaGlJV0ZCVmFzV0lGNTgrYmg5T25UaUk2T3hnOC8vQUJiVzF1MXJpZVZTbVgrYjJYOC9mMGhsVXBsM3J1YThPTGFlRURaKzFCVmNYRnhXTHAwS2VMajR5R1ZTbUZ1Ymc1SFIwZU1IajBhSDN6d1FaWFA1K1hsaFZ1M2JpRTZPaHBBV1htc2k0dEx0Y012QUNndUxrWjBkRFMrKys0N3JGaXhBZzRPRHRVK1Y3ZHUzZEN4WTBlMGE5Y09MVnEwa0F1UGQrN2NDYWxVaWw5Ly9SVm56NTVGdjM3OVlHQmdnQU1IRGlBZ0lBRFRwazNEenAwN2xaNC9LeXNMZi8vOXQxcjNvcWhCeXR2d2VSRFJ1NDBoSWhFUnZWUE16TXpRc1dOSHRHblRCZzhmUHNTalI0L3c5T2xUbUpxYW9sbXpackMydG9hR2hzYnJ2azBpb2xwVDB3MDYxR1ZxYWdvdExTMEVCd2ZqOXUzYk9IZnVISktUay9IbGwxL2lxNisrd3NPSER4RVVGSVNMRnk5aTNicDEwTlRVUk51MmJkRzllM2QwNjlaTjVacUEzMy8vUGNMQ3dwVHU3OXUzcjl3MmYzOS94TVRFWU9QR2pYanc0QUVNREF5d2RPbFN1TGk0VlBvc3paczN4N3AxNjdCa3lSSkVSVVZoNHNTSm1ENTl1bHFscTF1MmJFRktTb3Bhb1dONmVqcTh2YjFoYTJ1TGR1M2FWVHErS2dZTkdxVFdPRVh2WFRsTFMwdTBidDBhSTBlT2hMT3pzOHo2ZjZxT1U3UnY2TkNoeU0zTmhVZ2t3cWhSbzlDaFF3ZTBhTkVDSXBFSVo4NmNVZGkxdUh4TlBrWDdXclpzQ1JzYkczVHMyQkViTm16QXdvVUxNV2ZPSEhoNmVzTFoyVm5sTXl2enhSZGZxTnovNE1FRGJOKytIZUhoNGVqYXRTdG16cHdKc1ZpTWZ2MzZZZlBtelhCM2QwZWZQbjB3ZGVwVWhkL256TXhNL1BiYmI5VzZOK0R0K0R5STZOM0dFSkdJaU41SnVycTZjSEp5UXN1V0xSRWJHNHVvcUNoY3YzNGRJU0VoYU55NE1lenM3TjZZTmJxSWlONVdPVGs1V0xWcUZWSlRVL0g4K1hOaDlwU3VyaTQ2ZGVxRUpVdVdvRm16WmdDQXBrMmJvbW5UcGhnM2JoeGlZbUp3N3R3NUJBUUVZT1BHamRpeVpRdTJiTm1pZEJiWjhPSEQwYjE3OXlyZlgxNWVIaDQrZklobXpacGg0Y0tGYU5pd29kckhObXZXRE51M2I4ZUdEUnVRbkp3TVYxZFh0WTdUMTlkWGV5bU5sSlFVNU9mblk5cTBhVFhleEtYaWpEZy9QejhjUFhwVWJsekZSaC9IangvSGtTTkhBSlExOHBnMWE1YkM4MWUxNDYrdHJTMGNIUjBWUG1kbEhZc1Y3Wjh4WTRZUVdqVnIxZ3pyMTYvSDNMbHpzWC8vL21xSGlNcWNPM2NPZm41K3VIdjNydEFGZWNTSUVjS3pOR25TQkpzM2I4YmZmLytOMzMvL0hTRWhJZkR5OG9LT2pvN01lV3Fpc2NyYjhIa1EwYnVMSVNJUkViM1R4R0l4bWpScEFudDdleVFtSnVMUm8wZkNPa0oxNjlhRm5aMGRiR3hzcXJUZUZSRVJsVEV3TUlDenN6UHUzcjBMUjBkSDJOall3TUhCQWMyYk4xZlo0TXJXMWhZVEprekErUEhqOGUrLy8rTDY5ZXR5WmRnZmYvd3hXclpzQ1FEVkNoQUJvRldyVnRpOGVUT2FOR2xTclZub1ptWm1XTGx5SmZMeThxQ25wMWV0ZTFDbFdiTm0rUFhYWDJzMGZMRzF0VVhQbmozbFprSzZ1TGdnSXlORGJsekZhenM3T3lNOVBiM1M2OVJrUTVHYVdHUFB6czRPR3pac2VPbDFFUlY1L1BneFltTmo4Y1VYWDJERWlCRUtTL0JGSWhGR2poeUpEejc0QUg1K2ZuSUJZdS9ldldVNktWZW1jK2ZPUWdDdmpqZnQ4eUNpZDVOSXF1NWlIVVJFUk8rSWdvSUN4TWJHNHZIang4ak96b1pZTElhMXRUWHM3T3k0ZHVJckVCQVE4RVoxamlXcUxhL2p1NzVod3daMDd0d1pYYnAwZWFYWEpYcVhTU1FTU0tWUy9vTWpFYjN6UkpWTWkrZmZna1JFOU43UjBkRkI4K2JOMGJ4NWN6eC8vaHd4TVRHSWk0dERURXdNREEwTllXdHJDMXRiVzdsWkJFUkVSUFQrMGRUVWZOMjNRRVQwUm1DSVNFUkU3elZ6YzNPWW01dkR4Y1ZGQ0JKRFEwTng3OTQ5MUs5Zkg5YlcxckN5c29LMnR2YnJ2bFVpSWlJaUlxTFhoaUVpRVJFUnl0Wk90TE96ZzUyZEhiS3pzL0g0OFdQRXhjWGg1czJiRUlsRXFGZXZuaEFvY29ZaUVSRVJFUkc5YnhnaUVoRVJWV0JvYUlnMmJkcWdUWnMyU0U5UFIzeDhQT0xpNG5EcjFpM2N2bjBiNXVibXNMYTJSc09HRGFHcnEvdTZiNWVJaUlpSWlLaldNVVFrSWlKU3dkVFVGS2FtcG5CeWNrSkdSZ2JpNCtNUkh4K1BPM2Z1NE02ZE96S0JZbTEwN2lRaUlpSWlJbm9UTUVRa0lpSlNrNG1KQ1V4TVROQzZkV3RrWm1ZS2dXSndjRENDZzROaGFHaUlCZzBhb0g3OStyQ3dzR0FYeDlmczZ0V3J1SHYzTHRxMGFZUE9uVHZMN0h2Ky9EbE1URXhxNURNS0NncENZV0VoZXZUb0FRME5qWmMrMzZ0U1VsS0MxYXRYbzF1M2J1aldyWnZDeGdIWjJkbjQrZWVmb2FXbGhkbXpad01BWW1KaVVGeGNEQWNIaDFxNUw2bFVpdHpjWElqRllpNGRRRVJFUlBRRzRYL2RFQkVSVllPeHNUR01qWTNoNk9pSXJLd3NQSHYyREVsSlNZaU9qa1pVVkJRME5EUlF0MjVkSVZRME1UR0JTQ1I2M2JmOXpvbUppY0d4WThmdzRZY2Zva3VYTGpMN3JsNjlpbE9uVHFHb3FFZ21STXpMeThNUFAvd0FUVTFOeko0OUd5MWF0SGlwZXpoNDhDREN3c0pnWm1ZR1oyZm5senBYWmZyMjdRc0E4UEx5Z28yTnpVdWRLekF3RUJjdlhrUjBkRFM2ZGV1bWNJeEVJc0haczJjaEZvc3hlL1pzbEpTVVlPblNwVWhLU3NLb1VhUHc1WmRmMW5qWDB2Mzc5MlB2M3IwWU1XSUVKaytlWEtWajgvTHlrSk9UZzZ5c0xHUm1aaUlqSXdQNStma1lQSGh3amQ0akVSRVIwZnVJSVNJUkVkRkxNakl5Z3BHUkVabzNidzZKUklMbno1OGpNVEVSU1VsSkNBME5SV2hvS0xTMXRWRy9mbjNoaDJzcDFveVRKMC9peElrVFNFOVBsd3NSbnp4NUFnQ3d0YldWMlY1YVdvcUdEUnZpMnJWcm1ERmpCdHpjM0RCdTNMaHF6VXBNU0VqQS9mdjNVYjkrZmJScDA2YmF6L0U2SERwMENBQXdidHc0cFVGZ2VWZnlrcElTQUdVTmlCWXNXSUFWSzFiZ3p6Ly94SjA3ZCtEdTdnNExDd3U1WThzRFQwVldyVnFGRHovOFVHNTdURXdNOXUvZkR3QzRmUGt5eG8wYlYra3lBYk5telVKc2JDeHljM01oa1VnVWp1blNwUXZNek13d2N1UklwS2VucXp5ZnY3Ky95djFFUkVSRTd5dUdpRVJFUkRWSVUxTlRDQW9Cb0tDZ0FFbEpTY0pQZWJCbFlHQ0F1blhyd3N6TURIWHIxb1d4c2ZGYlZRcjdKaWdwS2NHNWMrY0FBRU9HREpIYkh4c2JDd0N3dDdlWDJXNWdZSURseTVmajhPSEQyTFZyRjd5OXZYSDc5bTBzWExnUVZsWldWYnFIa3lkUFFpcVZZdURBZ1cvVlROTnIxNjdoMGFOSHNMT3pnNnVycTlKeDVTRWlVUForaThWaXRHalJBdHUzYjRlbnB5ZENRa0p3K3ZScGpCMDdWdUh4bXBxYU11OXBZbUlpaW91TEZYN1hpNHVMOGVPUFA2S2twQVFXRmhaSVNrckNMNy84Z2xtelpxbDhsdVRrWkdSbFphRk9uVHJDREdGalkyTmhQVk56YzNOSXBWS1pZeFRONG56NjlDbEtTMHRWWG91SWlJam9mY1lRa1lpSXFCYnA2T2lnY2VQR2FOeTRNUUFnTXpNVGlZbUpTRTFOUlZKU2toQjBhV3Bxd3N6TVRBZ1Y2OWF0eS9YZ0tuSDU4bVZrWm1iQ3hzWUc3ZHExazltWGtKQ0FuSndjYUdob29HblRwZ3FQSHpGaUJKbzFhd1lQRHc4a0pDVElCVTJBNnRsMEwvcjk5OS94KysrL1Yva1poZzRkaW1uVHBsWDV1SmUxYjk4K0FNRFhYMyt0TXZ6VTBOQ0FscFlXaW91TFVWUlVKTXpXTkRJeXdwbzFhM0RxMUNtVnBjTG01dWJ3OHZJQ0FCUVdGbUxFaUJIUTB0SkM4K2JONWNadTJMQUJFUkVSc0xlM3g0WU5HL0Q5OTkvajFLbFRhTjI2TmZyMTYxZnBNL241K1ZVNnBsejVQYjFJblZtS1JFUkVSTzh6aG9oRVJFU3ZVUGtzcVhLNXVibElTMHREYW1vcVVsTlRFUlVWaFlpSUNBQ0F2cjYrRUNxYW1wckN5TWdJZGVyVWVWMjMvc2J4OWZVRkFBd2JOa3d1Q0N0L0QyMXRiV1ZtMDFYazVPU0U3ZHUzSXlVbEJRMGJOcFRicjJyZHdiUzBOT1RtNXNMRXhBU0dob2JWZVFTWW1abFY2N2lYY2VYS0ZVUkZSY0haMlJrZE9uUUFVUForMmRqWUtDd2QxdFhWRlVKRVBUMDlaR1ZsSVRrNUdjbkp5WkJJSk5pNWN5ZVNrNVBoNnVxS3JsMjdLcjN1alJzM1VGaFlpRzdkdXNIQXdFQm0zNzU5KzNEMjdGbm82ZWxoMGFKRk1EQXd3TUtGQ3pGOStuUnMyTEFCaG9hR2NzMXhxaU12TDAvbDk0R0lpSWlJbEdPSVNFUkU5QnJwNit0RFgxOWZDS3NrRWdreU1qS0VVUEg1OCtlSWk0c1R4dXZvNk1ESXlBakd4c2JDV296R3hzYlEwdEo2WFkvdzJvU0doZ0lBdkwyOThmZmZmOHZzeTgzTkJWQldvdnJsbDE5VytkeHQyclRCRHovOG9IREdXdm41SjB5WWdQejhmUHowMDA4S0E4ZzNVVWxKQ1g3NzdUZUlSQ0toYVVsQlFRRVdMMTRNaVVRQ1QwOVBHQm9hSWlVbEJjK2ZQMGRLU2dxS2k0c0JBTk9uVDBkYVdob0tDd3NWbnJ0Qmd3WXFROFJMbHk0QkFQcjA2U096M2N2TEM5N2UzdERTMG9LSGg0Znd1MkJ2YjQ5Rml4WmgyYkpsV0xGaUJXYk9uQ2wzYkZYazVPU2dzTEN3eWlYclJFUkVSRlNHSVNJUkVkRWJSRk5UVXlobkxwZWZuNCtNakF4a1pXVUpYV2NmUFhvazAwUkNWMWRYSmxRME5EU0VucDRlZEhWMTM2cTErcW9qTlRWVjZiN0N3a0lrSlNWVitaeVZsYlh1MmJNSGFXbHA2TmV2bjB5QVdGNys3T2ZuOTBiT0dqMTA2QkFTRWhMdzhjY2ZDMlhlLy96ekQ5TFQwMkZ2Ync5L2YzK2xaY0VwS1Nrd056ZUhoWVVGNnRXckoveVV2eTVmQjFTUm9xSWlYTDkrSGNiR3hzTHN4NUtTRW16YXRBbG56cHlCV0N5R3U3czdYRnhjWkk3cjFLa1Q1czJiaDdWcjEyTHQyclY0OE9BQkprNmNxSEEyNFlRSkV4UmVlOHlZTWVqZHV6ZisvZmRmQUJDV0ZpQWlJaUtpcW1HSVNFUkU5SWJUMWRXRnJxNHVMQzB0aFcxU3FSUjVlWGt5d1dKV1ZwWmN1Q2dTaWFDcnF3dDlmWDNvNmVrcC9Lbkh2VUJBQUFBZ0FFbEVRVlJPVitJM2diSXV1aWtwS1JnOWVqUTBORFJ3K1BCaHVkTFpseFVWRlFWZlgxK0l4ZUpxelhLc0NlWGx4WlhSMU5RVU9pOC9lZklFKy9idGc1R1JFYjcrK211VWxwWWlOVFVWUGo0K0FJQXBVNllnUFQwZHFhbXBRaWhZcjE0OXJGcTFDaG9hR2poNThtUzFBK2tiTjI0Z0x5OFB3NGNQaDFnc3hzT0hEN0YyN1ZyRXhNUkFYMThmSGg0ZWNIWjJWbmlzcTZzclRFMU40ZUhoQVY5ZlgxeStmQmxqeG96QndJRURaYjY3TDg3WWZWRk9UZzVLU2txRWJ0UzllL2RXT0U1WFZ4ZnA2ZWw0OU9pUjBJeEhLcFcrOHlFOEVSRVJrYnJlenY5cUlDSWllcytKUkNLaEZGcFJ1SmlkblkyOHZEemhKemMzRnlrcEtjalB6NWRySUZLblRoMWgxbUtkT25VcS9kSFMwbnFqZzVXZ29DQUFnS09qWTQwSGlJV0ZoVmk5ZWpWS1Mwc3hmUGh3bWZmK1ZabzBhWkphNHdZUEhvd1pNMllBQU02ZE80Zmk0bUpJSkJLNHVibWhwS1JFR05lalJ3OGh4T3ZaczZmTU9UWnYzb3ljbkJ3VUZSVlZlejNCQ3hjdUFBQSsrdWdqcEtTa1lPYk1tU2dvS0VEanhvMnhlUEhpU21jSHVyaTRZUHYyN2RpNGNTT0NnNE54L2ZwMURCbzBTR2FNc2xDNXFLZ0ltelp0UW1Sa0pCd2NISlNXWERkdjNod0pDUW1ZUEhreTZ0U3BnNktpSXZ6NTU1K29WNjllTlo2WWlJaUk2TjNERUpHSWlPZ2Q4bUs0cUloVUtrVitmcjVjd0ppWGw0ZjgvSHhrWldXaHFLaElXQWRQR1MwdExTRlExTkRRcU5KUGJTdGZlNjlIang0MWZ1NWZmdmtGY1hGeE1EWTJ4cGd4WTJyOC9MV3BkZXZXQUFBOVBUMFlHUmxCS3BYaTJiTm4wTlBUdzdmZmZxdjBPQ01qSStUazVDQXJLd3NXRmhZS3gyUm1aaUloSVFFdFdyUlFHREE3T2pyaS9QbnpPSGp3SUpZdlg0N1pzMmNqSkNRRWt5ZFBocmEyTnZyMzd3OERBd01jUG54WTd0aisvZnZEMk5nWUJ3OGV4UHIxNnhFWUdJaU9IVHNLTXl3cmMvNzhlWnc1Y3dabVptWndkM2RYT3ZOMjRzU0pLQ2dvUUdSa0pDUVNDUm8wYU1BQWtZaUlpT2dGREJHSmlJamVJeUtSU0NoalZxVzB0RlFvbVZYMVUxSlNndExTVXVHbjRtdEZQeTkycDY1cFNVbEp1SHYzTGdEZzRNR0RPSGJzbU5ySDJ0cmFZc21TSlVyM256OS9IaWRPbkFCUUZwcDkrdW1uU3NkV25DVlhrYkpaYytyeTh2SlMyVGxha2ZidDIrUFVxVk5DaURaLy9udzhlL1lNNDhhTmsxbURzNks2ZGVzaUlTRUJNVEV4U0VsSlFVSkNBcDQrZlNyOEpDUWtJQ2NuQndCdzRNQUJoVUhqc0dIRGNPblNKVnk3ZGcxWHJseEJ6NTQ5WldZOGxwYVd5cFRodjZqaVBsZFgxeW85ZDc5Ky9mRHMyVE1NR1RKRVpUZHNjM056ZUhwNlZ1bmM2dGl3WVVPTm43TXl5a3E3aVlpSWlGNEdRMFFpSWlLU282R2hBVzF0N1dxWHI2b1NFQkJRNCtjczk3Ly8vVThvMTA1T1RxN1NzVG82T2tyM1BYejRFRC8rK0tQTU5rVWhYbmw0WTIxdHJYQkczdXNNZDBRaWtSQWduajE3RnJkdTNVTHo1czFsd3REMDlIVEV4OGNMUDNGeGNYajgrREVBWU9IQ2hRclBhMnhzakpZdFc2cnNlbHplRFhyS2xDbllzMmVQeWk3T3RlSEJnd2RDU2JVNmxIWGxyZzVyYStzYU81YzY0dVBqYXpXb0p5SWlvdmNYUTBRaUlpSjZKeFFYRitQNDhlTUF5bWErSFR0MkRFT0hEc1cwYWROVUhyZHMyVEpjdVhJRlRrNU9DdmVucDZkajZkS2xLQ3dzaEpXVkZSSVNFZ0FvRHByS3V6UC8rdXV2Q3JzemwrOS9uVkpUVTdGdDJ6YUl4V0xNbWpWTHBzUjgxcXhaaUkrUFYzaWNwYVVsbkp5Y1lHVmxCU3NySzFoYlc4UEt5Z3E2dXJwcWxhazdPRGlnVmF0V3VILy9QcUtqbzlHa1NaTWFleVpBK1h1N2NPRkNQSHYyVFBqY1hqVTNON2RYZXIwTkd6YkF5TWpvbFY2VGlJaUkzZzhNRVltSWlPaWQ0Ty92ajR5TUREUnMyQkJUcGt6QnpaczNFUkFRZ1BIanh5dHRzQklkSFkyZ29DQ0l4V0o4L3ZubmN2dHpjM094WU1FQ0pDY25RMDlQRDh1WEw4ZC8vL3ZmMm42VVdsTmFXb3JWcTFjakp5Y0hYMzMxbGRDRkdBQWtFZ202ZGV1RzVPUmtOR3pZRUEwYk5vU1ZsUldTazVPeGZQbHlPRG82WXU3Y3VUTG5PM255Skk0ZlA0NUZpeGFoWWNPR2xWN2Z5Y2tKOSsvZlIyUmtwQkFpbGpkNGVka3U0Y3JLdS9YMTliRjM3MTVzM2JvVnZyNis4UER3UUpjdVhlVEdwYVdsWWR5NGNWd0hrWWlJaUVnSmhvaEVSRVQwMWlzdUxzYisvZnNCQUo5OTloazBORFRnNXVhR2pSczNZdmZ1M1VLSDRoZEpKQkpzMkxBQlVxa1VuMzMyR2N6TnpXWDJGeFlXWXRHaVJZaU9qb2FHaGdiYzNkM1JxRkdqVi9JOHRXWG56cDBJQ1FtQm1aa1pMQzB0OGNjZmYrREpreWVJaVltQlJDSlJPTHV5UEJ5TWlJaVEyZjd2di85aXk1WXRrRWdrdUhuenBsb2hZdm5haXhrWkdjSzIzTnhjQUtyTHlkVlJXUWx5ang0OTRPdnJDMTlmWDRVaDRvRURCMUJZV0toeXJVc2lJaUtpOTFudHQwZ2tJaUlpcW1YSGpoMURjbkl5TEN3c2hMTFdBUU1Hd043ZUhuNStmcmgrL2JyY01idDI3VUpVVkJTc3JLd3dkdXhZdWYySmlZbUlpWWtCQUh6Ly9mZm8wS0ZEclQ1RGJTc29LQkM2SDZlbHBXSE5talhZdDI4ZnpwOC9qNWlZR0tWckdob2FHc0xTMGhMeDhmRklUMDhIQU55OGVSUExseStIUkNMQnVISGpNR3pZTUxYdW9UdzhmSEhXWVZKU0VnQ29iTzVTRTV5Y25HQnJhNHRidDI0aE5EUlVabDk0ZURoOGZYMVJ2MzU5REJnd29GYnZnNGlJaU9odHhabUlSRVJFOUZaTFNVbkJ2bjM3QUFEZmZQT04wQXhHSkJMaGh4OSt3UFRwMDdGaXhRcXNYNzhlTFZxMEFBQWNQWG9VaHc0ZGdvNk9EcFl1WGFwdy9jTEdqUnRqeVpJbENBOFB4OGNmZi96cUhxaVc2T2pvd01iR0JvV0ZoV2pVcUJFYU4yNk1SbzBhQ1QrR2hvWktqM1Z4Y2NHcFU2ZHc5ZXBWU0tWU2JOMjZGUktKQko5Ly9ybkNBUFpGNTg2ZGc1NmVIakl6TTRYdTFpK1dVVWRHUmdLQVdqTVpYNFpJSk1Lb1VhT3dldlZxYk42OEdkdTNiMGVkT25XUW1abUpGU3RXUUNxVll1TEVpZERTMHFyVit5QWlJaUo2V3pGRUpDSWlvcmVXVkNyRlR6LzloUHo4ZkRnNU9jSFYxVlZtZjVNbVRUQjkrblQ4K09PUG1EdDNMdHpkM1JFVEU0UGR1M2REVTFNVEN4WXNrQW0wS21yYnRpM2F0bTFiMjQveHl2ejIyMi9RMU5TczhuR2RPM2ZHcVZPbjRPWGxoY3pNVEdob2FHREtsQ2xDNmUvSmt5ZFJWRlFFVjFkWHVjN0FseTVkd3VYTGw0WFhyVnExUXJ0MjdZVFhOMi9lQkFBaDRLMnVqSXdNSkNjbkN6K0ppWWxJU2twQ1ltSWlKa3lZZ0k0ZE84TFYxUlcrdnI0SUN3dkQxcTFiOGUyMzMyTHg0c1ZJU2twQzkrN2QwYjE3OTVlNkJ5SWlJcUozR1VORUlpSWllbXNkUG53WU4yN2NRSjA2ZFRCOStuU0ZZL3IzNzQrQ2dnSnMyN1lOUzVZc2dWUXFoWmFXRmhZdFdxUndiYnphVXQ1QTVIVlNGaUNXbEpRZ0lpSUNob2FHQ3RkOTFOUFRBd0JrWm1aQ1gxOGZpeGN2UnZ2MjdZWDl3Y0hCQ0F3TWhJR0JBZnIwNlNOemJQLysvYUd0clkwNmRlcWdTWk1tR0RCZ0FFUWlrWEMrOGxMenFwYUw3OW16QnlFaElVaE5UUVVBaFkxeGdMTFM2ZkxyaVVRaXpKMDdGMU9uVHNYcDA2ZHg0OFlOcEtXbHdjYkdCak5uenF6UzlZbUlpSWplTnd3UmlZaUk2SzEwNjlZdDdOcTFDd0F3WmNvVTJOcmFLaHdua1VoUXAwNGQ2T3ZyQzAwOGpJMk5JWkZJYXZYKzh2THlvS09qQXcyTnNpV29Bd0lDQUVCcHAraFhLUzh2RCtIaDRRZ05EVVZvYUNqQ3c4TlJXRmlJSDM3NFFTWkV6TWpJd042OWUrSG41eWRzczdlM2w1bEpDQUJQbno0RkFOaloyY2xkcTFPblR1alVxWlBDKy9qcnI3OVFVbElDUjBkSE5HalFvRXJQa0orZmozdjM3Z212MjdadGl3WU5Hc0RTMGhJTkdqUkF2WHIxVUs5ZVBaaWJtd3NoSWxCV05qMTQ4R0Q0K1BnZ0xTME5RTm1hbDIvQzUwSkVSRVQwSm1PSVNFUkVSRytkaUlnSWVIcDZRaUtSd05YVkZZTUdEWkliazVHUmdkT25UK1BFaVJOQzg0N3UzYnNqS3lzTHdjSEI4UFQwaElPREF6NzU1QlAwN05sVDRicUlMMlBac21XNGMrY090TFcxSVpWS1VWUlVCQUJ3ZEhTVUcxdStUMTNGeGNWVk9rWkRRd01SRVJFSUNBakEvZnYzOGZqeFkwaWxVbUcvc2JFeFB2endRelJ0MmhRQWtKV1ZoWC8rK1FlSER4OUdRVUVCOVBUME1ITGtTQnc2ZEFpaG9hRTRlUEFnM056Y0FBQ2xwYVdJalkxRm5UcDEwTGh4WTdYdktTb3FDa2VQSGdVQTRWeFY0ZWJtaG1IRGhtSHUzTGxJVGs3R3VuWHJLajBtS3lzTE8zZnV4T25UcHdHVXZTK2xwYVZZdkhneC92T2YvMkRRb0VFMS9qMGdJaUlpZWxjd1JDUWlJcUszeXJObnp6QnYzanprNWVXaFZhdFdtRFZybHJBdk16TVRRVUZCdUhEaEFvS0RnNFhaaG82T2poZy9manljblowQkFCY3ZYaFM2TTY5ZnZ4N2J0MjlIcDA2ZDBLVkxGemc1T2NIVTFQU2w3N05seTVZSURRMFZ5cGgxZEhUUXZIbHpUSjA2Vlc2c29oQlVsVW1USmxWcGZNZU9IZEc5ZTNlaHNZbUppUW1jblozaDR1S0NObTNhQ0xNUG56eDVnbTNidHVIMDZkTW9MQ3lFU0NSQy8vNzk4ZC8vL2hlbXBxWm8wS0FCMXF4WmcxMjdkcUc0dUJoZmZQRUZMbDY4aU1MQ1FqZzVPY2wwWFZZbExTME5IaDRlS0NrcFFmdjI3ZEc1YytjcVBROEFtSm1aQVlETUxFTmw4dlB6Y2Z6NGNYaDdleU1uSndjaWtRaGZmUEVGQmc4ZWpQWHIxeU00T0JqYnQyL0hYMy85aFFFREJxQjM3OTRLeTdxSmlJaUkzbWNNRVltSWlPaXQwcUJCQXpnNk9pSTFOUlVyVjY2RWpvNE9mSHg4Y09uU0pVUkdSZ296N0RRME5OQzVjMmVNR0RGQ0NBL0xkZS9lSFYyNmRNSHAwNmZ4MTE5L0lTa3BDV2ZQbnNYWnMyY0JBS05IajhiNDhlTVZYdi9iYjc5VjZ6N0hqeCt2OUJ5dlE4ZU9IVEZseWhTNHVMakExdFpXTG54YnZudzVMbDY4Q0tBc21PdlNwUXZHakJtRFpzMmFDV042OSs2TmhJUUU3TnUzRDN2MzdzWEJnd2RSVUZBQUFISnJJU3FUbHBhRzJiTm5JeWtwQ1NZbUpwZzllM1lOUGFHOGhJUUVuRHg1RXFkT25VSldWaGFBc21ZN00yYk1RTXVXTFFFQTY5YXRRMkJnSUx5OHZKQ1VsSVFEQnc3Z3dJRURxRisvUHJaczJTS0VsVVJFUkVUdk80YUlSRVJFOUZZUmlVU1lOMjhlcEZLcHNJNWQ0OGFOc1h2M2JraWxValJxMUFpOWV2VkMvLzc5WVc1dXJ2UThZckVZZ3djUHhzQ0JBM0g1OG1VY1AzNGNJU0VoYU5XcUZjYU9IYXYwdU9IRGg5ZjRNL243KzlmNE9SVXA3NmFzeUpBaFEzRGp4ZzMwNmRNSEkwYU1nTFcxdGNKeFk4ZU9oYlcxTlhidjNpMlVpWC8wMFVmbzM3Ky9XdmRnYW1xS1FZTUc0YSsvL3NLS0ZTdGdZV0doY256OSt2VmhhR2lvMXJrcmlvMk5oWStQRHdEQXhzWUdZOGFNZ2F1cnE3Qk9KVkQyZmVyVnF4ZDY5dXlKUzVjdTRlVEprd2dPRGtiZnZuMFpJQklSRVJHOVFDUjljVUVjSWlJaW9sb1dFQkNnOXF5MXFyaHk1UXFzckt3VU52ZFFWMUpTRXJTMXRXRmlZbEt0NDBOQ1FnQUFiZHEwVWF2TTlrMVRVRkFBSFIwZHRjWktwVkk4ZS9ZTUlwRUlscGFXVmI1V1VWRlJqYXcvNk9QamcrenNiSHo5OWRjSzl4ODZkQWkydHJabzM3NjkycDlKWm1ZbTlQVDBvS1dsOVZMM1ZsdmZkVlUyYk5pQXpwMDd2OUxPNDBSRVJQUnVFRlh5L3l4eEppSVJFUkc5RTdwMjdmclM1Nmhmdi81TEhWK3hiUHB0bzI2QUNKVE40TE95c3FyMnRXcXFnVWxsVFZrKysreXpLcC9UMk5pNHVyZERSRVJFOU03U3FId0lFUkVSRVJFUkVSRVJ2YzhZSWhJUkVSRVJVYTFJU1VtQmw1Y1g4dlB6WC9ldDFJcVFrQkNFaFlYaHhSV2lMbHk0Z0RObnpyekd1MUxmNmRPbjRlM3RqYXFzY0ZWWVdJak16RXlaYlVWRlJYTGJxcU8wdEJSbno1NUZVRkRRUzUvclphV2xwV0hFaUJGQ3d5bGxRa05ETVdMRUNEeDY5S2hhMTltMWF4ZjY5dTFicldPVnVYTGxDclp1M1lyUzBsSzFqNUZLcGRpNmRhdlM3MjVvYUNqMjdkc0hpVVJTVTdlcGxxS2lJdVRsNWFrY0V4VVZoWG56NWlFNU9ibGExMGhKU2FuU2UwWDBQbU01TXhFUkVSRVIxWXJMbHkvRDI5c2JXVmxaK1A3Nzd5c2RuNStmajZGRGg5Ykl0VjlGdzZKZmYvMFZpWW1KT0hqd0lNUmlNYVJTS1hiczJBRUxDd3YwNjlldjFxOWZVVzV1THRMUzB1UzJHeGtaeVpYcHg4VEVZT1BHalRBM044Zm5uMzhPc1ZpOS96UThkT2dROXV6WkkvUCtYcnAwQ1d2WHJzWFBQLzhNQndlSGF0OS9jWEV4dkx5OFVGcGFpZzgrK0tCS3l4NXMzNzRkUjQ0Y3FmSTFsWDFQSkJJSnNyS3lVRnhjclBMNDR1SmlaR1Zsb2FTa3BNclhyaTEzNzk2RnI2OHZwazZkcXZZeHAwNmRncSt2cjlMMVplL2V2WXMvL3ZnRFgzenhCVFExTllYdHdjSEJlUHIwS1FZTkd2VFM5NjNJNnRXckVSOGZqK1hMbDZOQmd3WUt4NGpGWW9TRmhjSFQweE0vL2ZTVDB1L3k3ZHUza1pDUWdOVFVWRHgvL2h4eGNYR0lpWWxCYm00dWZ2cnBKN1gramdKZVhUTTBvamNSUTBRaUlpSWlJcW9WdzRZTncvLys5ei80K2ZtaFY2OWVhTk9tamNyeE9qbzY4UEx5a3R2K3YvLzlEejQrUGpMN0ZHMVRaTTJhTlRoNzltejFIdUQvVXhRYUpDY25JeW9xQ2dNSERoUkNpd2NQSGlBMU5iWFN0VHByeThXTEY3Rng0MGE1N1JNbVRNQ29VYU5rdHUzWnN3ZDZlbnJJek16RS92Mzc4ZFZYWDFYN3V1ZlBuNGVkbloxYUFXSmxuMFhyMXExeDd0dzU3Tml4QTYxYnQxWTZUbDlmSDUwNmRaTGJQbi8rL01wdkdHV05qMjdldkNtM1BTNHVEZ0NRbnA0T0FFaE5UUlcyS1pLU2tnS2dyREdYcnE0dUFFQlRVL09sMW94VjV1alJvOEo5S1RKKy9IZ0FaVE02UlNLUlRDZDZWUklTRXZEcnI3K2lRNGNPR0RseUpESXpNN0Y3OTI2NHVibWhZY09HQ284SkN3dkR2bjM3Y1B2MmJaaVltS0JIang0d01EQ28ra05Wd3MzTkRZc1dMY0ozMzMySDVjdVh3OTdlSGhrWkdUSmo5UFQwTUd6WU1BUUZCU0V5TWhKMTY5YVZPMCs5ZXZWdzZ0UXBYTGh3QVphV2xraElTRUNuVHAwd2JkbzBOR25TQkkwYU5RSUFmUHJwcHhneVpJakNlemwrL0hpMWdtcWlkd2xEUkNJaUlpSWlxaGFKUklLY25CeVZZOGFPSFl0ejU4NUJYMTlmYWNtcmdZRUJORFUxSVJLSllHTmpJN2UvZkJiZGkvc1ViVlBrd3c4L2hKR1JrZEw5UjQ0Y2dZR0JRWlZMU3MrZlB3OEFNaDI0L2Z6OEFKU1ZobFlXbGpWbzBBQ09qbzVWdW1abFB2NzRZM3o4OGNmQzY5TFNVZ3dZTUFDR2hvWXk0d0lEQTNIbHloWE1tVE1IMmRuWjJMVnJGOXExYXdjbkp5ZTVjL3I1K2VIbzBhUFl1WE9ud211bXBLVGd4bzBibURObmpscjN1R2JOR3JYR25UaHhBaWRPbkZDNjM5YldWbUdJMkx0M2I3WE9IeEVSb1RCRW5EQmhnc3pyblR0M0tuMzJGM2w2ZWdwL3JsKy9Qdjc4ODA4QVpUTStWY25LeWxKcm5JbUpDZno4L0ZTT0t3OFJTMHBLWkdZTHFsSllXSWlWSzFmQ3hNUUU4K2JORTdyWVg3OStIVkZSVWRpeVpZdE1wL3J6NTgvaitQSGpDQThQaDRtSkNiNysrbXNNR1RJRWVucDZhbDJ2cWxxMGFJRk5telpoN3R5NThQVDB4TVNKRTdGcTFTcWw0MmZNbUtGd3U1K2ZIMmJNbUlGNTgrWkJMQmFqYjkrKzZOaXhvOXozeGRqWVdPbmZLV3k2UmNRUWtZaUlpSWpvblZLVjllMWVWbVJrSktaUG42N1dXRlZyeS8zODg4OW8xcXdaQU1VbHVlWGg0NHN6d2hSdEsvZGlDTkM3ZDIrVndkS1JJMGRnYW1xS0tWT21xUEVVLytmVXFWT3dzYkVSZ3Jlc3JDd2hXTnl4WTBlbHgvZnUzYnZHUTBTZ2JIMjR5NWN2WS96NDhjak96b1pVS3BVSlA1NDllNFl0VzdhZ2MrZk82TisvUDZSU0tXN2Z2ZzBQRHc5czJyUkpMa0RKeU1oUUdWd2RQMzRjcGFXbFdMZHVIZGF0VzZkMFhKY3VYZURoNFlIVHAwL0xiTDk2OVNyeTh2S1Vma1pKU1VrSURnNUd2Mzc5aElBTGdNeWZhMUw1ck5PVWxCU01IajBhOCtmUFYvbjl1WDM3TnViTm15ZnpIWDdSTjk5OG85WjFLeHMzZXZSb21UQ3piOSsrR0RwMEtLWk5td1lBdUhYckZuNy8vWGNBWlROaUFRaXZLK3JUcHc5c2JHeVFrNU1EVDA5UHhNZkhZOHVXTFVMWXJxV2xoUysvL0JKYnRtekJ6cDA3Wlg0MzFxOWZEenM3Tzh5Y09STzllL2VHdHJZMkFnTUQwYlp0VzVpWW1LajFyRlZsWTJPRGpSczNvcUNnQUhYcjFzV1BQLzRvN0x0NjlTck9uejhQTnpjMzJOdmJLejJIbHBaV2xjcmppVWd4aG9oRVJFUkVSTzhJTFMydEdtbHdvUzVMUzB1bE0zL0tiZDY4R2FhbXBoZzNicHpTTWZYcjF4ZitmT1hLRmF4ZnYxN2h1SXF6eEpSdHErMDF5MEpDUWhBZkg0L1BQdnRNMk9iajQ0UGk0bUxzM0xrVHRyYTI2TnUzTDl6YzNKU3VNVmNWVXFsVTdkQXNKQ1FFZm41K0dEOSt2RERMclR3Y1NrOVB4L3o1ODJGbVppYVUvWXBFSWl4YXRBZ3pac3pBbkRsenNIcjFhcFZoekl0eWNuTGc2K3VMSmsyYXlLMEJlZS9lUFZ5NmRBbGp4b3lCa1pHUlVONzc0Z3c1cVZTS0kwZU80UDc5KzJqWXNLSENVSFhIamgyNGR1MGFMQzB0MGJadFc3WHVxeWF0V2JORzdkbVRpcXhkdTFicHZwQ1FFQnc0Y0FCQVdWRDIzWGZmS1IycmJEM0FjbmZ1M0lHUGo0L010dkp6VjlTNmRXdlkyTmpnOU9uVHVIUG5Eb3lOamVIaDRZSHM3R3prNU9USXJPOTQ5T2hSZE92V1RYaTlaczBhdEcvZlh1Wjh2L3p5QzF4Y1hMQmd3UUtWOTFnZEdSa1pNREV4a1NrUGQzWjJCZ0E4ZXZRSXAwNmRRcjE2OWVEcTZpcUVtUG41K1RoNjlDaEdqQmhSNWVDd3BLUkVhU09vTjJuZFM2TFhoU0VpRVJFUkVkRTd3c3JLcXRvZFNxdkR4TVFFZ3djUFZqbG04K2JOTURBd3FIUmNSZVZseGdEdzk5OS80N2ZmZnBNSkJ4VnQrK2VmZjlTYUJmaXkvdnJyTHdEL0Y0ZzlmLzRjeDQ0ZFE3ZHUzV0JyYTF1ajExcTZkQ251M0xtRGxTdFhLaXczcmlnOVBWMElVOHBEUkdOall5UW1KbUxSb2tXUVNxVllzMmFOVFBtcG5wNGUxcTVkaTNuejVtSEdqQm1ZT25VcUJnd1lVT20xRGgwNmhOemNYQmdaR1dINDhPRXkrL0x5OG5EcDBpVU1IejVjYVRtNVNDU0N1N3M3SmsyYWhKVXJWMkxIamgweXN5WXZYcnlJYTlldVljU0lFV29IaUVWRlJXcU5VN2NiN3pmZmZJUE9uVHNyM1gvLy9uMlptWEVWdFd2WFR1SDI0dUppYk51MkRZYUdoc2pPemtaR1JnYUtpb29VbG1pcjQrdXZ2eFlDNjhEQVFLeGF0UXBidDI1Rml4WXRoREdYTGwyQ3A2ZW5VSjdjcTFjdkJBY0h3OVRVRk1iR3hqQXhNWUdSa1JGTVRFeGdhR2dJTFMwdHpKMDdGL3YzN3hmV002MjRUbVZKU1FuUzA5TmhhV2xacmZ0VzVkaXhZL0R5OHNMMDZkUGxab1BHeDhkandZSUZhTml3SVZhdlhpM3p2UWtQRDhmdnYvK094NDhmWStIQ2hjTDJpa3NXYk42OEdaczNid1lBWVpibm4zLytLWlNpRTVFOGhvaEVSRVJFUk84SVoyZG4rUHI2SWpJeVVtRnBKYjI4OFBCd3ViWDB0bTdkaXVMaVlvd2RPN2JHci9mZ3dRUGs1K2ZqMGFOSGFvV0lxYW1wUXFDU25aME5vQ3hZbXpObkRveU5qZkhwcDU4aU1qSVNrWkdSY3NjT0h6NGNwMCtmeG9ZTkcyQnNiS3d5UEV0SlNjR2hRNGVncWFtSnhNUkV1ZjFwYVduUTF0Wld1UjRsQUppWm1lSDc3Ny9Idlh2M29LT2pJMnpQeU1qQWxpMWI0T0xpb25aSk1JQmE2eEpjMC9idTNZdkN3a0wwNmRNSFI0NGN3ZWpSbzdGbHl4WTRPVGxCWDEvL3BjNWRQcFB1eGZjVCtMK1pkT1Vob3BtWkdSWXZYb3lDZ2dLbDUxcThlREVjSFIxeDd0dzVBR1ZySXBZSG8xS3BGSUdCZ1pCS3BXclBYcTJLTGwyNjRNeVpNMWl6WmczdTNidUhxVk9uUWl3VzQ5NjllMWkyYkJtYU4yK09SWXNXUVZkWEY4WEZ4U2dxS2tKUlVSR3NyS3pRcDA4ZitQdjdvMG1USmtLam8vSW1UUDcrL3ZEMjlzYTRjZVBRczJkUEFHV3pxdDNjM05DeVpVdWxmM2RHUmtZS3BlSkU3eXVHaUVSRVJFUkU3d2dIQndjMGI5NGNBUUVCTURFeFFiMTY5VjczTFZYYjA2ZFBoZGx5NnE2SldMRnJhMjNZdlhzM3RMUzBVRnhjREtDc3BESW9LQWlmZnZxcDNDekUyTmhZaFExV2RIVjEwYVZMRjdXdXQzYnRXa1JIUnd0aFIyVVV6VVMwczdORHYzNzlNR2JNR0h6eXlTY3Fqejl5NUFpdVg3K3VNa0FzSHllUlNEQnExQ2pzMzc4ZmVYbDVNck1iWTJOamxYYjIzYnAxSzN4OWZlVzJIenAwU0c1YmNIQ3d3bG1SZS9mdWxTbHh0Ykd4UWR1MmJXVWF5Nmp5NE1HRFNwdVpBT28zVnFtS216ZHY0dURCZzFpMmJCbnUzNzhQQVBqa2swOXc4dVJKYk55NEVZc1hMMzZwODVlSHh4VzdKVXNrRWdDUUtmRTljT0NBMHJKbm9Hd3R4bmJ0MnFGSGp4NElDQWlRbTNXcG9hR0I3dDI3cS8xOXJnb0xDd3RzM0xnUjY5YXRnNStmSDdwMzd3NWpZMlBNbWpVTFVxa1U5KzdkdytlZmY0NmlvaUtsYThGNmVYbWhlZlBtY0hGeEVkYjdqSTZPQmdDWW1wcktyQUZhMmRJREZoWVc2TnExYXcwOUhkSGJpU0VpRVJFUkVkRTdwSGZ2M2poOCtERDI3OStQRHo3NEFQYjI5ckN3c0tqVnBnSUpDUWtxOTVlVWxDZ2RJeEtKRkpaQ0tsb2ZUdDAxRVd2TCtmUG5FUndjalBIanh3dE5LK3p0N2JGdzRVSjA3TmhSYnZ5MWE5ZHc3ZG8xdWUxV1ZsWnFoeTUyZG5hd3M3TlQreDdUMHRKZ1pHU0V1TGc0eE1mSFExdGJHNG1KaVpnd1lRTEVZckhDOE81RnVycTZhblU0ZG5Oemc3R3hNVDc0NEFQOCtlZWZDQTBORmQ0RHFWU0txS2dvbWJYMEZKazdkNjdhejFWUnhTWWVRNFlNd1pBaFE5USszdFhWVmExeDZqWldVZGZUcDAreGF0VXF1THE2b2t1WExrS0lLQmFMTVh2MmJNeWFOUXMrUGo3QzdMbnFTRTFOaFVna2dxbXBxY3oyOHVEN3hXN0w1U28ydkFFZ0U5N3E2dXBpM2JwMXdtdy9vT3gzVjA5UEQySng3Y1VLMnRyYVdMUm9FY0xDd3RDNmRXdElwVkwwN2RzWDJ0cmEwTmZYaDU2ZUhuUjBkS0NycXl2elp4MGRIVWdrRWl4ZHVoVGUzdDV3Y1hFQlVCYXczcmx6QjBCWkU2SWpSNDdnMDA4L3hhbFRwN0J4NDBhMTc2dTIxMTBsZWxNeFJDUWlJaUlpZW9mbzZ1cGk5T2pSdUg3OU9xNWR1NFliTjI2b2RWem56cDJyUFp2b3E2KytVcm4vMmJOblNzZG9hV25oNU1tVHd1dEdqUnBoNk5DaG1EaHhJclMxdFFHVWhYRjc5KzdGOTk5L2orYk5teXU5VGtoSWlNb3UwQy9yMHFWTGNIQnd3TWlSSTJVNjN5b0xwR3Fxc1VwVnBLV2xJU1ltUnVnVURaUUZyWC84OFlmUXdFWlhWeGNCQVFFSURBekV5cFVyaFhHQmdZSEl5Y2xSSzR3ek5qYUdtNXNicEZJcFRFMU5jZVhLRlNGRURBOFBSMzUrdnRBQVE1bUt6VmlxNDlHalIzajQ4R0dsMTFCblhNVTE4d0QxRzZ0TW5UcFY1cldmbjU5Y2NKK2VubzZGQ3hmQzBOQlFZVmR6UjBkSGpCNDlHcnQzNzBiZHVuWFJwMCtmU3ErcnlPUEhqMUd2WGoyWkpqYkEvNFdJNWI5WFZiRjc5Mjc0K1BqQTM5OGZ1cnE2d25hcFZJb3JWNjZnYytmTzBORFFxTmI5VmtZa0VnbHJNWXBFSXN5Wk13Y0xGeTVFdjM3OWhOKzlCUXNXWU9EQWdlalFvUU91WGJ1R0hUdDJZTTJhTmZqNTU1OVJ0MjVkNFZ6bnpwMURnd1lORUJjWGgvRHdjSnc4ZVJJbEpTVVlPSENnM0hxUDN0N2U4UGYzRjhxZ2lZZ2hJaEVSRVJIUk8wZERRd09kTzNlR2k0c0xIajkrak16TVRLWGxmdVZlTE91cnFoZWJGMVMwYXRVcTFLMWJGNU1tVFZLNC84V2dJeTR1RHZyNit2amtrMCtFQmpFU2lRUmJ0MjVGU1VrSnRMUzBaTXFYS3pJek04TW5uM3lDdUxnNG1KbVp2ZlRhY2hXTkdqV3ExbWRldmF6RGh3L0x2TDUyN1JvV0wxNk1PblhxWVBMa3lXalZxaFZtekpvaFpBSUFBQkI3U1VSQlZKZ0JUVTFOM0xoeEF3a0pDVUpac0krUEQzUjBkS28wbzA4a0VxRnIxNjQ0ZCs0Y0prK2VERDA5UFp3OWV4WWFHaG9LWjJjQ1pVMU5LZ1pjMVhYMTZsWHMyYk5INmY3eUVGR2RjUlhEb3ZLMTg4YU1HWVBldlh1anFLZ0lpWW1KcUYrL1ByUzF0WEgwNkZFY1AzNGNreWRQeG9jZmZpaHpiTVhaZnBtWm1aZy9mejR5TWpMdzAwOC9LZjF1amhzM0RwR1JrVmkvZnIwdzY2NHFpb3VMRVJFUklYYy9BSVMxRHhXRmlPbzAwbmxSYVdrcExseTRnQU1IRGlBbUpnYlRwazNEMEtGRHEzUU9kVDE1OGdTK3ZyNFlNV0lFTEMwdElaRkljUFBtVFdGMklWQldJbDYrVm1OV1ZoYWlvcUpRVWxJQ2MzTnptWHYrNTU5LzBLZFBIK3pidHc5RGhnekI0OGVQOGR0dnY4SGMzRnp1SHdQS3k4RmY1dTlHb25mTm0vdS9ma1JFUkVSRTlGSjBkWFhScWxXcldyK09xdExRVmF0V1FVOVBUNjN5MGNwS2s1VUZrWXJNbWpWTDdmWHgxTlcwYWRNYVBWOXRrMGdrUXVtcGpvNE9XclZxaGN1WEwyUDY5T2xvMTY0ZFJDSVJidCsrRFNzckt5UWxKU0U2T2hwVHBreFJlSzdDd2tMODg4OC9PSGp3b055K0lVT0c0TVNKRS9EMTljWGd3WU54OXV4WmRPclVTYVpqYnNWejFYUjVmY1h5MHYzNzl5c01EVldOZXpFczh2WDF4VjkvL1lVK2ZmcmdQLy81RDRDeWRSU1hMVnVHVFpzMm9XblRwcGd5WlFxZVBIbUNuVHQzUWtkSEJ3TUhEbFI0YjJscGFaZzNieDdpNHVMZzZlbXBzanhkSkJKaDBhSkZtRE5uRHRhdlg0K2twQ1NNR1RNR0lwRkk0ZmpjM0Z6Y3UzY1A5Ky9meC9qeDQzSDE2bFhrNStjckRCRUxDd3NCUU9GN3YzZnZYcmx0aW1ZUFoyZG40OHlaTXpoNjlDZ1NFeE5oWTJPRHVYUG5xbFVDWDExMzc5N0ZzV1BIMEtGREIxaGFXaUl2THcrQWZPT1l5cHc3ZHc2SmlZa1lNR0FBOXUzYkI2QnNCcWxJSklLam8yT04zemZSdTRnaEloRVJFYjFTbXBxYWtFZ2tOVFlMaGVoTnhPOTQ5VlFNZUU2Y09JSE5temZEM2QxZFlXT1I4UEJ3ekp3NUU0Nk9qbGkvZnIzU29PVjE4Zkh4Z1krUGo4SjlCdzRjZ0lXRlJZMWVMek16RXhFUkVYanc0QUhDd3NMdzRNRURqQnMzRGtEWjdMT1BQdm9JSjA2Y3dMMTc5K0RrNUFRN096dmN1WE1IZ3djUFJsQlFFRVFpRWJwMzd5NXp6dkpPdi8vNXozL3cvUGx6aGNHZ3ZiMDlPblhxQkc5dmI4VEZ4U0VuSndlZmYvNjV5dnVzMlBUalRWRllXSWdkTzNiQXo4OFAzYnAxdzV3NWM1U08xZFRVaEtlbkp4WXNXSUJObXpiaHhvMGIrUGJiYjRXeWNhQ3N3WXk3dXp0U1VsSXdmLzU4ZE9qUW9kSjcwTlhWeGRxMWEvSEREejlnNzk2OWVQRGdBZWJNbVFOVFUxTmtaR1FnTEN3TUFCQVFFSURqeDQ5REtwVkNVMU1UWDM3NUpRNGVQQ2g4MW9xZURWQWN2cjNZcEVZVk56YzNsSlNVd01YRkJaTW1UVUxYcmwxci9mY3VMQ3dNbXBxYVFybHhXbG9hQUZUYStmdEYrZm41MkxWckYzcjA2Q0h6ZTZlaG9ZSHZ2dnNPMGRIUkdETm1qTUpqSzg0RzNiUnBrMXpwTTlIN2dpRWlFUkVSdlZLNnVyckl5Y2xST2tPRjZGMlFrNU1qMDZtV3F1N1JvMGY0NVpkZllHWm1CaTB0TFJRVUZNaUVIMUZSVVZpMGFCR01qSXd3Yjk2OE55NUFCSUJPblRvcDdhcXNiZ0NTbDVlSDFOUlV0VW9xRnkxYWhQRHdjQmdiRzhQUjBSRmp4NDZGV0N5R1dDeUdwcVltbkoyZG9hMnRqYUNnSURnNU9jSFIwVkZZUS9MQ2hRdHdjbktTV1Q5T0twWGkwcVZMQU1wbXlDMWZ2aHpSMGRFS1ovaE5uVG9WWDMvOU5jNmNPWU91WGJ1cURGbWVQWHYyUm5ZT3YzbnpKclp0MjRhblQ1L2lzODgrdzZGRGh4U1crYzZjT1ZQbXRZV0ZCVWFOR29WRGh3N2gzMy8vUmUvZXZURng0a1NrcGFWaCt2VHBLQ3dzeEx4NTgrRHE2cXEwUExuaTluNzkrdUhISDMvRTh1WExjZVBHRFJ3NGNBQzNidDBTeXZuTEd4SzFiZHNXYmR1MlJldldyUkVRRUlDSWlBaDgvdm5uQ2tQYXZMdzhhR3BxS2l6SFY3ZHNldmp3NFJnNGNLQk02TGh0MnphMGJkdTIxam9YaDRTRXdNSEJRZmc3OWZIanh3Q0FCZzBhcUhWOFlHQWdkSFYxVVZoWUtJVHFGVFZxMUVpdW5GM1ptb2h2NG5lWDZGVmhpRWhFUkVTdmxJV0ZCUklTRWhnaTBqc3RJU0ZCWmkwdXFqcFRVMU5NbkRnUmx5NWRncWVuSnpRMU5kR21UUnQwN05nUkpTVWwyTHQzTC9UMTliRjI3ZG9hbjlGWFV4bzNidnpTWlo3VHAwOFhack1wQ3lUTFRaZ3dBUVlHQm1qYXRLa1Fxdjd6eno5QytDb1dpK0hzN0l5Yk4yOWkwcVJKNk5XckY1bzFhNFluVDU0Z0xDd01zMmJOa2ptZlNDUkNyMTY5RUIwZGpRVUxGa0JYVnhmUjBkRUtyNTJYbHdjZEhSMFVGaFlpT3pzYm1abVpDditlejh6TVJIeDhQSVlORzFhTmQ2UDJGQmNYdzlmWEYvbjUrZkR3OEVDWExsM2t5cE9qbzZPeGN1VktMRml3QUE0T0RzSjJzVmdNUzB0TERCbzBDQWNQSGtSc2JDejA5ZlZoWUdBQU56YzNZYVltSU4rUitzS0ZDN2h4NDRiY2Rpc3JLK2pwNldIbHlwWHc5L2RIMzc1OXNYTGxTclJ1M1JydDI3ZUhpNHVMelBzYkVSR0JuMy8rR1JZV0ZrcG4xSlYvUm9vb2FoNmlhSGtCUlkyQ2dvS0NrSldWaGE1ZHUrTDI3ZHZZdDI4ZjNOM2RhK1QzOHVuVHAwaEpTVUd2WHIyRWJWZXZYb1ZZTEZhN2EvbjE2OWNSSFIyTk5Xdld3TnJhV3VFWUxTMHR1YUNlYXlJU3lXT0lTRVJFUks5VTQ4YU5jZTNhTmFTbnA4UFUxUFIxM3c1UmpVdFBUMGRxYWlvNmQrNzh1bStsMXBXWHVsWkdLcFZXT3ZiRmpxOUFXWWc0ZE9oUURCMDZGQmtaR2ZEMzk4ZmV2WHR4NjlZdFljeEhIMzJFN094c2xKYVdLdXdNZS9qd1lXUmxaVlY2ZjVtWm1UTGRsaFVaUDM1OHBlZXBEZVVOY1NwcmpBTUFiZHUybGR1V2taRWgwOFJqOHVUSnd0KzlyVnUzUnV2V3JiRm56eDdVcVZOSHJwUVpLR3YwVVZramxLQ2dJS3hidHc0QU1IandZSnc0Y1FMZmZQT05FRlMrT0V2VTM5OGZVcWxVQ05WcVN2bmFqK1VrRWttVmp0ZlMwc0t5WmN1UW41OHZ2RjhWdzZPY25Cd0FaVFBSRkFWTDlldlh4N1JwMDJTMmpSNDlXdVoxeFk3VVQ1NDh3WTBiTjVSMnF0YlEwRUQvL3YwQkFJc1hMMVk0SmlRa0JNdVdMWU5VS3NYQ2hRc1ZObTJSU3FXSWlJaVFtV242b3NxQ3N2TFBzT0x2V21scEtkTFQwNFVTN3VMaVlrUkhSK083Nzc3RGloVXJaTUxXNmlqdkx0K21UUnNBWlVzWVhMaHdBVjI3ZGxWN1RjU01qQXpVclZ0WFpXZDNJbElQUTBRaUlpSjZwY1JpTVZxMWFvVjc5KzZoZGV2V0RCTHBuWktlbm81NzkrN0IwZEh4dlZnVFVkMXVyUEh4OFpXT1BYTGtpRXdKWm5GeE1XSmpZL0hnd1FQY3VYTUgvLzc3THdvTEM5R2lSUXQwNjlZTnQyL2Z4dm56NTNIMjdGa1lHQmpnd3c4L1JLZE9uZENoUXdmaFBMNit2a2hJU0tqMC9yS3lzbkRnd0FHVlkxNVhpTGhseXhha3BLVEExdFpXcmZIcDZlbDQvdnc1eEdJeDB0UFQ0ZS92ajhhTkd5TXdNRkRwTWY3Ky9tallzS0VRMkFCQXo1NDlJUktKSUJLSmxINlhjM056OGV1dnYrTFVxVk93c0xEQTh1WEwwYVJKRTdScDB3WS8vZlFUMXF4WkF4OGZINHdhTlFyZHVuVkRkblkydkwyOVlXdHJLM1RTclNtREJnMVNhNXlxc2wwTkRRMTRlSGpnenAwN0tzOVJzWnk1b29wcmU5YVdvcUlpZUh0N3c5dmJHMkt4R0lzWEx4Ykt5RGR1M0lqczdHeWhtL2pEaHc4Ukh4K1B6ejc3VE9VNUh6NThDQjBkSFR4NjlBakEvM1daTmpNekF3RDgvZmZmYU5HaWhURCt6cDA3S0NrcEVjTENqaDA3WXNPR0RWaTRjQ0htekprRFQwOVBPRHM3Vi9zWnIxMjdKalErQ1EwTmhZZUhCK3JVcWFQeTk3Rzg3RGs0T0JqVzF0YUlpSWlvdEZ4YjFYNUYrOXEyYlNzRTUwVHZFNGFJUkVSRTlNcVptWm5CMGRFUllXRmhxRnUzTHF5c3JHQmdZUEJlaEM3MDdwRklKTWpKeVVGQ1FnSlNVMVBoNk9nby9BZjN1MjdHakJrMWRpNGRIUjBVRlJWaHlaSWxTRWhJUUhKeXNqQ2J6TnJhR29NSEQwYXZYcjJFc0dMa3lKSEl5c3JDbFN0WGNPSENCVnk4ZUJHQmdZSFExdGJHdm4zN1lHWm1wckRqN050R1gxOWY0Y3d5WlI0K2ZJaUZDeGNLci9YMDlQRGxsMTlXR253QlpaMjB5M1h0MmxWbEIrV0xGeTlpeTVZdHlNek1SS2RPblRCbnpoeWh2TmJWMVJXdFdyWEM5dTNiRVJRVWhGV3JWc0hCd1FFelpzeEFmbjQrcGsyYlZ1TnJXTzdjdVZQbXRaK2ZINDRlUFNvM3JtTFo3dkhqeDNIa3lCSGg5ZHk1YzFGUVVGQ2o5MVpiSWlJaTRPUGpnd1lOR3NEZDNWMnV4UHJLbFN2Q0RGWk5UVTE4OU5GSEdEdDJyTXB6TGwrK1hBamVSU0tSRVBiMjdkc1hRVUZCMkwxN3Q4eXNXQjBkSGZUcjF3OWR1blFSdGpWcjFnenIxNi9IM0xsenNYLy8vbXFIaUVWRlJRZ1BEMGVUSmsyUWw1ZUgrZlBuUXlRU1ljbVNKU3BuVHJadDJ4WVdGaFpZdlhvMWdMS21RbjM2OUZGNUxVWGwzS3BVdFRNMDBidENKRlZuWGp3UkVSRlJMU2dwS1VGc2JDeWVQMytPdkx5OEtwZWZFYjBKTkRVMW9hZW5CM056Y3pSdTNGaGgwd0pTMzdadDIvRDgrWE0wYXRRSVRaczJSYXRXcmRSYVh6SXpNeE9YTGwxQ2NYRXhQdjMwMDFxL3ovWHIxNk5qeDQ0S1M0RFYyVjliQ2dzTEVSMGREWWxFQWcwTkRkaloyZFZvazUvOSsvZGp6NTQ5MkxadEd6dzhQREJod2dTVkFVMW9hQ2oyNzkrUE1XUEd3TW5KQ1hGeGNUVzZ4dHlWSzFkdy92eDV1THU3cTl5dTdyaFhMVFkyRnZIeDhkVnVTaEllSGc1N2UzdWxnYTlFSWtGcGFTbkVZckhDNFBiZmYvL0Y3ZHUzTVduU0pBQmw1Y09wcWFrUWk4VndjSENRbXdFcmxVcFJXbG9xdkZiMWozK3hzYkd3c0xCNHFlOWZibTR1bmp4NWdwWXRXeUlnSUFBT0RnNW8zTGh4cGNjVkZoWWlKaVlHVXFrVVZsWldjbzJNSWlNalViOStmYTdQVEZTQnFKSi80V0dJU0VSRVJFUkVSRlVta1VnNGc1eUk2QjNDRUpHSWlJaUlpSWlJaUloVXFpeEVsRzloUmtSRVJFUkVSRVJFUlBRQ2hvaEVSRVJFUkVSRVJFU2tFa05FSWlJaUlpSWlJaUlpVW9raEloRVJFUkVSRVJFUkVhbkVFSkdJaUlpSWlJaUlpSWhVWW9oSVJFUkVSRVJFUkVSRUtqRkVKQ0lpSWlJaUlpSWlJcFVZSWhJUkVSRVJFUkVSRVpGS0RCR0ppSWlJaUlpSWlJaElKWWFJUkVSRVJFUkVSRVJFcEJKRFJDSWlJaUlpSWlJaUlsS0pJU0lSRVJFUkVSRVJFUkdweEJDUmlJaUlpSWlJaUlpSVZHS0lTRVJFUkVSRVJFUkVSQ294UkNRaUlpSWlJaUlpSWlLVkdDSVNFUkVSRVJFUkVSR1JTZ3dSaVlpSWlJaUlpSWlJU0NXR2lFUkVSRVJFUkVSRVJLUVNRMFFpSWlJaUlpSWlJaUpTaVNFaUVSRVJFUkVSRVJFUnFjUVFrWWlJaUlpSWlJaUlpRlJpaUVoRVJFUkVSRVJFUkVRcU1VUWtJaUlpSWlJaUlpSWlsUmdpRWhFUkVSRVJFUkVSa1VvTUVZbUlpSWlJaUlpSWlFZ2xob2hFUkVSRVJFUkVSRVNrRWtORUlpSWlJaUlpSWlJaVVva2hJaEVSRVJFUkVSRVJFYW5FRUpHSWlJaUlpSWlJaUloVVlvaElSRVJFUkVSRVJFUkVLakZFSkNJaUlpSWlJaUlpSXBVWUloSVJFUkVSRVJFUkVaRktEQkdKaUlpSWlJaUlpSWhJSllhSVJFUkVSRVJFUkVSRXBCSkRSQ0lpSWlJaUlpSWlJbEtKSVNJUkVSRVJFUkVSRVJHcHhCQ1JpSWlJaUlpSWlJaUlWR0tJU0VSRVJFUkVSRVJFUkNveFJDUWlJaUlpSWlJaUlpS1ZHQ0lTRVJFUkVSRVJFUkdSU2d3UmlZaUlpSWlJaUlpSVNDV0dpRVJFUkVSRVJFUkVSS1FTUTBRaUlpSWlJaUlpSWlKU2lTRWlFUkVSRVJFUkVSRVJxY1FRa1lpSWlJaUlpSWlJaUZSaWlFaEVSRVJFUkVSRVJFUXFNVVFrSWlJaUlpSWlJaUlpbFJnaUVoRVJFUkVSRVJFUmtVb01FWW1JaUlpSWlJaUlpRWdsaG9oRVJFUkVSRVJFUkVTa0VrTkVJaUlpSWlJaUlpSWlVb2toSWhFUkVSRVJFUkVSRWFuRUVKR0lpSWlJaUlpSWlJaUlpSWlJaUlpSWlJaUlpSWlJaUlpSWlJaUlpSWlJaUlpSWlJaUlpSWlJaUlpSWlJaUlpSWlJaUlpSWlJaUlpSWlJaUlpSWlJaUlpSWlJaUlpSWlJaUlpSWlJaUlpSTNoZi9EelpNNllTMW9QNHBBQUFBQUVsRlRrU3VRbUNDIiwKCSJUaGVtZSIgOiAiIiwKCSJUeXBlIiA6ICJtaW5kIiwKCSJWZXJzaW9uIiA6ICIiCn0K"/>
    </extobj>
  </extobjs>
</s:customData>
</file>

<file path=customXml/itemProps1.xml><?xml version="1.0" encoding="utf-8"?>
<ds:datastoreItem xmlns:ds="http://schemas.openxmlformats.org/officeDocument/2006/customXml" ds:itemID="{BE364FEF-58FB-4541-B968-F211E40B76CF}">
  <ds:schemaRefs/>
</ds:datastoreItem>
</file>

<file path=docProps/app.xml><?xml version="1.0" encoding="utf-8"?>
<Properties xmlns="http://schemas.openxmlformats.org/officeDocument/2006/extended-properties" xmlns:vt="http://schemas.openxmlformats.org/officeDocument/2006/docPropsVTypes">
  <TotalTime>22464</TotalTime>
  <Words>7847</Words>
  <Application>Microsoft Macintosh PowerPoint</Application>
  <PresentationFormat>全屏显示(4:3)</PresentationFormat>
  <Paragraphs>490</Paragraphs>
  <Slides>48</Slides>
  <Notes>38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2" baseType="lpstr">
      <vt:lpstr>-apple-system</vt:lpstr>
      <vt:lpstr>等线</vt:lpstr>
      <vt:lpstr>黑体</vt:lpstr>
      <vt:lpstr>微软雅黑</vt:lpstr>
      <vt:lpstr>Söhne</vt:lpstr>
      <vt:lpstr>Arial</vt:lpstr>
      <vt:lpstr>Arial</vt:lpstr>
      <vt:lpstr>Calibri</vt:lpstr>
      <vt:lpstr>Cambria Math</vt:lpstr>
      <vt:lpstr>Helvetica Neue</vt:lpstr>
      <vt:lpstr>Times New Roman</vt:lpstr>
      <vt:lpstr>Wingdings</vt:lpstr>
      <vt:lpstr>Office 主题​​</vt:lpstr>
      <vt:lpstr>Microsoft 公式 3.0</vt:lpstr>
      <vt:lpstr>PowerPoint 演示文稿</vt:lpstr>
      <vt:lpstr>目录</vt:lpstr>
      <vt:lpstr>1. 协议基本概念</vt:lpstr>
      <vt:lpstr>1. 协议的基本概念</vt:lpstr>
      <vt:lpstr>2. 秘密共享协议</vt:lpstr>
      <vt:lpstr>2. 秘密共享协议</vt:lpstr>
      <vt:lpstr>2. 秘密共享协议</vt:lpstr>
      <vt:lpstr>2. 秘密共享协议</vt:lpstr>
      <vt:lpstr>2. 秘密共享协议</vt:lpstr>
      <vt:lpstr>2. 秘密共享协议</vt:lpstr>
      <vt:lpstr>2. 秘密共享协议</vt:lpstr>
      <vt:lpstr>2. 秘密共享协议</vt:lpstr>
      <vt:lpstr>2. 秘密共享协议</vt:lpstr>
      <vt:lpstr>3. 电话投币协议</vt:lpstr>
      <vt:lpstr>3. 电话投币协议</vt:lpstr>
      <vt:lpstr>3. 电话投币协议</vt:lpstr>
      <vt:lpstr>3. 电话投币协议</vt:lpstr>
      <vt:lpstr>4.  选择分割协议</vt:lpstr>
      <vt:lpstr>4.  选择分割协议</vt:lpstr>
      <vt:lpstr>5. 承诺协议</vt:lpstr>
      <vt:lpstr>5. 承诺协议</vt:lpstr>
      <vt:lpstr>5. 承诺协议</vt:lpstr>
      <vt:lpstr>5. 承诺协议</vt:lpstr>
      <vt:lpstr>6. 零知识证明协议</vt:lpstr>
      <vt:lpstr>6. 零知识证明协议</vt:lpstr>
      <vt:lpstr>6. 零知识证明协议</vt:lpstr>
      <vt:lpstr>6. 零知识证明协议</vt:lpstr>
      <vt:lpstr>6. 零知识证明协议</vt:lpstr>
      <vt:lpstr>6. 零知识证明协议</vt:lpstr>
      <vt:lpstr>6. 零知识证明协议</vt:lpstr>
      <vt:lpstr>7.  安全多方计算协议</vt:lpstr>
      <vt:lpstr>7.  安全多方计算协议</vt:lpstr>
      <vt:lpstr>7.  安全多方计算协议</vt:lpstr>
      <vt:lpstr>7.  安全多方计算协议</vt:lpstr>
      <vt:lpstr>7.  安全多方计算协议</vt:lpstr>
      <vt:lpstr>8. 不经意传输协议</vt:lpstr>
      <vt:lpstr>8. 不经意传输协议</vt:lpstr>
      <vt:lpstr>8. 不经意传输协议</vt:lpstr>
      <vt:lpstr>9. 金融密码协议</vt:lpstr>
      <vt:lpstr>9. 金融密码协议</vt:lpstr>
      <vt:lpstr>9. 金融密码协议</vt:lpstr>
      <vt:lpstr>9. 金融密码协议</vt:lpstr>
      <vt:lpstr>9. 金融密码协议</vt:lpstr>
      <vt:lpstr>9. 金融密码协议</vt:lpstr>
      <vt:lpstr>9. 金融密码协议</vt:lpstr>
      <vt:lpstr>9. 金融密码协议</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饺子</dc:creator>
  <cp:lastModifiedBy>Microsoft Office User</cp:lastModifiedBy>
  <cp:revision>1199</cp:revision>
  <dcterms:created xsi:type="dcterms:W3CDTF">2020-10-06T00:51:00Z</dcterms:created>
  <dcterms:modified xsi:type="dcterms:W3CDTF">2024-11-19T04:32:11Z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EC84F8FE74BD4F89BB84014CBF8354EA_12</vt:lpwstr>
  </property>
  <property fmtid="{D5CDD505-2E9C-101B-9397-08002B2CF9AE}" pid="3" name="KSOProductBuildVer">
    <vt:lpwstr>2052-12.1.0.17857</vt:lpwstr>
  </property>
</Properties>
</file>