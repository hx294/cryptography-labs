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6" r:id="rId2"/>
  </p:sldMasterIdLst>
  <p:notesMasterIdLst>
    <p:notesMasterId r:id="rId44"/>
  </p:notesMasterIdLst>
  <p:handoutMasterIdLst>
    <p:handoutMasterId r:id="rId45"/>
  </p:handoutMasterIdLst>
  <p:sldIdLst>
    <p:sldId id="335" r:id="rId3"/>
    <p:sldId id="601" r:id="rId4"/>
    <p:sldId id="458" r:id="rId5"/>
    <p:sldId id="454" r:id="rId6"/>
    <p:sldId id="467" r:id="rId7"/>
    <p:sldId id="486" r:id="rId8"/>
    <p:sldId id="487" r:id="rId9"/>
    <p:sldId id="470" r:id="rId10"/>
    <p:sldId id="573" r:id="rId11"/>
    <p:sldId id="512" r:id="rId12"/>
    <p:sldId id="521" r:id="rId13"/>
    <p:sldId id="520" r:id="rId14"/>
    <p:sldId id="603" r:id="rId15"/>
    <p:sldId id="606" r:id="rId16"/>
    <p:sldId id="605" r:id="rId17"/>
    <p:sldId id="471" r:id="rId18"/>
    <p:sldId id="533" r:id="rId19"/>
    <p:sldId id="535" r:id="rId20"/>
    <p:sldId id="534" r:id="rId21"/>
    <p:sldId id="473" r:id="rId22"/>
    <p:sldId id="480" r:id="rId23"/>
    <p:sldId id="476" r:id="rId24"/>
    <p:sldId id="474" r:id="rId25"/>
    <p:sldId id="541" r:id="rId26"/>
    <p:sldId id="475" r:id="rId27"/>
    <p:sldId id="536" r:id="rId28"/>
    <p:sldId id="610" r:id="rId29"/>
    <p:sldId id="537" r:id="rId30"/>
    <p:sldId id="576" r:id="rId31"/>
    <p:sldId id="607" r:id="rId32"/>
    <p:sldId id="609" r:id="rId33"/>
    <p:sldId id="544" r:id="rId34"/>
    <p:sldId id="578" r:id="rId35"/>
    <p:sldId id="580" r:id="rId36"/>
    <p:sldId id="585" r:id="rId37"/>
    <p:sldId id="586" r:id="rId38"/>
    <p:sldId id="588" r:id="rId39"/>
    <p:sldId id="611" r:id="rId40"/>
    <p:sldId id="579" r:id="rId41"/>
    <p:sldId id="399" r:id="rId42"/>
    <p:sldId id="400" r:id="rId43"/>
  </p:sldIdLst>
  <p:sldSz cx="9144000" cy="6858000" type="screen4x3"/>
  <p:notesSz cx="6858000" cy="9144000"/>
  <p:custDataLst>
    <p:tags r:id="rId4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 Joel" initials="XJ" lastIdx="1" clrIdx="0"/>
  <p:cmAuthor id="2" name="HP" initials="H"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5B9BD5"/>
    <a:srgbClr val="EAEFF7"/>
    <a:srgbClr val="D2DEEF"/>
    <a:srgbClr val="DEEBF7"/>
    <a:srgbClr val="C81F1F"/>
    <a:srgbClr val="FFFFFF"/>
    <a:srgbClr val="E7E7E7"/>
    <a:srgbClr val="4472C4"/>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67" autoAdjust="0"/>
    <p:restoredTop sz="80816" autoAdjust="0"/>
  </p:normalViewPr>
  <p:slideViewPr>
    <p:cSldViewPr snapToGrid="0">
      <p:cViewPr varScale="1">
        <p:scale>
          <a:sx n="102" d="100"/>
          <a:sy n="102" d="100"/>
        </p:scale>
        <p:origin x="2080" y="184"/>
      </p:cViewPr>
      <p:guideLst>
        <p:guide orient="horz" pos="2160"/>
        <p:guide pos="2880"/>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59" d="100"/>
          <a:sy n="59" d="100"/>
        </p:scale>
        <p:origin x="1672" y="6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8A947F-1230-402A-BD20-A8ECEB529897}" type="datetimeFigureOut">
              <a:rPr lang="zh-CN" altLang="en-US" smtClean="0"/>
              <a:t>2024/10/27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F7B2AA-B1DE-4E20-835E-E7A3945960D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0D4CCB-601C-4846-9ECC-39924CF29FE2}" type="datetimeFigureOut">
              <a:rPr lang="zh-CN" altLang="en-US" smtClean="0"/>
              <a:t>2024/10/27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4D3990-B510-4435-90A5-6D9F2619C2A6}" type="slidenum">
              <a:rPr lang="zh-CN" altLang="en-US" smtClean="0"/>
              <a:t>‹#›</a:t>
            </a:fld>
            <a:endParaRPr lang="zh-CN" altLang="en-US"/>
          </a:p>
        </p:txBody>
      </p:sp>
    </p:spTree>
    <p:extLst>
      <p:ext uri="{BB962C8B-B14F-4D97-AF65-F5344CB8AC3E}">
        <p14:creationId xmlns:p14="http://schemas.microsoft.com/office/powerpoint/2010/main" val="1183237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a:t>
            </a:fld>
            <a:endParaRPr lang="zh-CN" altLang="en-US"/>
          </a:p>
        </p:txBody>
      </p:sp>
    </p:spTree>
    <p:extLst>
      <p:ext uri="{BB962C8B-B14F-4D97-AF65-F5344CB8AC3E}">
        <p14:creationId xmlns:p14="http://schemas.microsoft.com/office/powerpoint/2010/main" val="3104750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a:t>
            </a:fld>
            <a:endParaRPr lang="zh-CN" altLang="en-US"/>
          </a:p>
        </p:txBody>
      </p:sp>
    </p:spTree>
    <p:extLst>
      <p:ext uri="{BB962C8B-B14F-4D97-AF65-F5344CB8AC3E}">
        <p14:creationId xmlns:p14="http://schemas.microsoft.com/office/powerpoint/2010/main" val="1262651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Times New Roman" panose="02020603050405020304" pitchFamily="18" charset="0"/>
                <a:cs typeface="Times New Roman" panose="02020603050405020304" pitchFamily="18" charset="0"/>
              </a:rPr>
              <a:t>消息认证和身份认证都是重要的安全技术，它们可以提供一定的保护，防止信息被篡改或未经授权的访问，确保通信的安全性和可靠性。</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a:t>
            </a:fld>
            <a:endParaRPr lang="zh-CN" altLang="en-US"/>
          </a:p>
        </p:txBody>
      </p:sp>
    </p:spTree>
    <p:extLst>
      <p:ext uri="{BB962C8B-B14F-4D97-AF65-F5344CB8AC3E}">
        <p14:creationId xmlns:p14="http://schemas.microsoft.com/office/powerpoint/2010/main" val="1080429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Times New Roman" panose="02020603050405020304" pitchFamily="18" charset="0"/>
                <a:cs typeface="Times New Roman" panose="02020603050405020304" pitchFamily="18" charset="0"/>
              </a:rPr>
              <a:t>加密指将原始数据通过一定的算法转化成密文，以</a:t>
            </a:r>
            <a:r>
              <a:rPr lang="zh-CN" altLang="en-US" sz="1200" dirty="0">
                <a:solidFill>
                  <a:srgbClr val="0000FF"/>
                </a:solidFill>
                <a:latin typeface="Times New Roman" panose="02020603050405020304" pitchFamily="18" charset="0"/>
                <a:cs typeface="Times New Roman" panose="02020603050405020304" pitchFamily="18" charset="0"/>
              </a:rPr>
              <a:t>保护数据的机密性和隐私性</a:t>
            </a:r>
            <a:r>
              <a:rPr lang="zh-CN" altLang="en-US" sz="1200" dirty="0">
                <a:latin typeface="Times New Roman" panose="02020603050405020304" pitchFamily="18" charset="0"/>
                <a:cs typeface="Times New Roman" panose="02020603050405020304" pitchFamily="18" charset="0"/>
              </a:rPr>
              <a:t>，防止数据被窃听和篡改。</a:t>
            </a:r>
            <a:endParaRPr lang="en-US" altLang="zh-CN" sz="1200" dirty="0">
              <a:latin typeface="Times New Roman" panose="02020603050405020304" pitchFamily="18" charset="0"/>
              <a:cs typeface="Times New Roman" panose="02020603050405020304" pitchFamily="18" charset="0"/>
            </a:endParaRPr>
          </a:p>
          <a:p>
            <a:r>
              <a:rPr lang="zh-CN" altLang="en-US" sz="1200" dirty="0">
                <a:latin typeface="Times New Roman" panose="02020603050405020304" pitchFamily="18" charset="0"/>
                <a:cs typeface="Times New Roman" panose="02020603050405020304" pitchFamily="18" charset="0"/>
              </a:rPr>
              <a:t>认证是指确认</a:t>
            </a:r>
            <a:r>
              <a:rPr lang="zh-CN" altLang="en-US" sz="1200" dirty="0">
                <a:solidFill>
                  <a:srgbClr val="2A2A2A"/>
                </a:solidFill>
                <a:latin typeface="Times New Roman" panose="02020603050405020304" pitchFamily="18" charset="0"/>
                <a:cs typeface="Times New Roman" panose="02020603050405020304" pitchFamily="18" charset="0"/>
              </a:rPr>
              <a:t>某个实体的身份和真实性</a:t>
            </a:r>
            <a:r>
              <a:rPr lang="zh-CN" altLang="en-US" sz="1200" dirty="0">
                <a:latin typeface="Times New Roman" panose="02020603050405020304" pitchFamily="18" charset="0"/>
                <a:cs typeface="Times New Roman" panose="02020603050405020304" pitchFamily="18" charset="0"/>
              </a:rPr>
              <a:t>，以</a:t>
            </a:r>
            <a:r>
              <a:rPr lang="zh-CN" altLang="en-US" sz="1200" dirty="0">
                <a:solidFill>
                  <a:srgbClr val="0000FF"/>
                </a:solidFill>
                <a:latin typeface="Times New Roman" panose="02020603050405020304" pitchFamily="18" charset="0"/>
                <a:cs typeface="Times New Roman" panose="02020603050405020304" pitchFamily="18" charset="0"/>
              </a:rPr>
              <a:t>保护系统和数据的完整性和可靠性</a:t>
            </a:r>
            <a:r>
              <a:rPr lang="zh-CN" altLang="en-US" sz="1200" dirty="0">
                <a:latin typeface="Times New Roman" panose="02020603050405020304" pitchFamily="18" charset="0"/>
                <a:cs typeface="Times New Roman" panose="02020603050405020304" pitchFamily="18" charset="0"/>
              </a:rPr>
              <a:t>，确保只有合法的实体可以访问数据或系统资源，防止未经授权的访问。</a:t>
            </a:r>
            <a:endParaRPr lang="en-US" altLang="zh-CN" sz="1200" dirty="0">
              <a:latin typeface="Times New Roman" panose="02020603050405020304" pitchFamily="18" charset="0"/>
              <a:cs typeface="Times New Roman" panose="02020603050405020304" pitchFamily="18" charset="0"/>
            </a:endParaRPr>
          </a:p>
          <a:p>
            <a:pPr>
              <a:lnSpc>
                <a:spcPct val="120000"/>
              </a:lnSpc>
              <a:spcBef>
                <a:spcPts val="600"/>
              </a:spcBef>
            </a:pPr>
            <a:r>
              <a:rPr lang="zh-CN" altLang="en-US" sz="1200" dirty="0">
                <a:latin typeface="Times New Roman" panose="02020603050405020304" pitchFamily="18" charset="0"/>
                <a:cs typeface="Times New Roman" panose="02020603050405020304" pitchFamily="18" charset="0"/>
              </a:rPr>
              <a:t>加密和认证是密码学中两个基本的安全技术，可以结合使用，提供更全面的保护。</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a:t>
            </a:fld>
            <a:endParaRPr lang="zh-CN" altLang="en-US"/>
          </a:p>
        </p:txBody>
      </p:sp>
    </p:spTree>
    <p:extLst>
      <p:ext uri="{BB962C8B-B14F-4D97-AF65-F5344CB8AC3E}">
        <p14:creationId xmlns:p14="http://schemas.microsoft.com/office/powerpoint/2010/main" val="478740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消息认证是一个过程，用以验证接收消息的真实性（确实由它所声称的实体发来的）和完整性（未被篡改、插入 、删除），同时还用于验证消息的顺序性和时间性（未被重排、重放、延迟等）。</a:t>
            </a: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6</a:t>
            </a:fld>
            <a:endParaRPr lang="zh-CN" altLang="en-US"/>
          </a:p>
        </p:txBody>
      </p:sp>
    </p:spTree>
    <p:extLst>
      <p:ext uri="{BB962C8B-B14F-4D97-AF65-F5344CB8AC3E}">
        <p14:creationId xmlns:p14="http://schemas.microsoft.com/office/powerpoint/2010/main" val="1014559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457200" indent="-457200">
                  <a:lnSpc>
                    <a:spcPct val="120000"/>
                  </a:lnSpc>
                  <a:spcBef>
                    <a:spcPts val="600"/>
                  </a:spcBef>
                  <a:buFont typeface="+mj-lt"/>
                  <a:buAutoNum type="arabicPeriod"/>
                </a:pPr>
                <a:r>
                  <a:rPr lang="zh-CN" altLang="en-US" sz="1200" dirty="0">
                    <a:latin typeface="Times New Roman" panose="02020603050405020304" pitchFamily="18" charset="0"/>
                    <a:cs typeface="Times New Roman" panose="02020603050405020304" pitchFamily="18" charset="0"/>
                  </a:rPr>
                  <a:t>发送方</a:t>
                </a: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和接收方</a:t>
                </a:r>
                <a:r>
                  <a:rPr lang="en-US" altLang="zh-CN" sz="1200" dirty="0">
                    <a:latin typeface="Times New Roman" panose="02020603050405020304" pitchFamily="18" charset="0"/>
                    <a:cs typeface="Times New Roman" panose="02020603050405020304" pitchFamily="18" charset="0"/>
                  </a:rPr>
                  <a:t>B</a:t>
                </a:r>
                <a:r>
                  <a:rPr lang="zh-CN" altLang="en-US" sz="1200" dirty="0">
                    <a:solidFill>
                      <a:srgbClr val="0000FF"/>
                    </a:solidFill>
                    <a:latin typeface="Times New Roman" panose="02020603050405020304" pitchFamily="18" charset="0"/>
                    <a:cs typeface="Times New Roman" panose="02020603050405020304" pitchFamily="18" charset="0"/>
                  </a:rPr>
                  <a:t>共享密钥</a:t>
                </a:r>
                <a14:m>
                  <m:oMath xmlns:m="http://schemas.openxmlformats.org/officeDocument/2006/math">
                    <m:r>
                      <a:rPr lang="en-US" altLang="zh-CN" sz="1200" i="1" dirty="0" smtClean="0">
                        <a:solidFill>
                          <a:srgbClr val="0000FF"/>
                        </a:solidFill>
                        <a:latin typeface="Cambria Math" panose="02040503050406030204" pitchFamily="18" charset="0"/>
                        <a:cs typeface="Times New Roman" panose="02020603050405020304" pitchFamily="18" charset="0"/>
                      </a:rPr>
                      <m:t>𝑘</m:t>
                    </m:r>
                  </m:oMath>
                </a14:m>
                <a:endParaRPr lang="en-US" altLang="zh-CN" sz="1200" dirty="0">
                  <a:solidFill>
                    <a:srgbClr val="0000FF"/>
                  </a:solidFill>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mj-lt"/>
                  <a:buAutoNum type="arabicPeriod"/>
                </a:pP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用密钥</a:t>
                </a:r>
                <a14:m>
                  <m:oMath xmlns:m="http://schemas.openxmlformats.org/officeDocument/2006/math">
                    <m:r>
                      <a:rPr lang="en-US" altLang="zh-CN" sz="1200" b="0" i="1" smtClean="0">
                        <a:latin typeface="Cambria Math" panose="02040503050406030204" pitchFamily="18" charset="0"/>
                        <a:cs typeface="Times New Roman" panose="02020603050405020304" pitchFamily="18" charset="0"/>
                      </a:rPr>
                      <m:t>𝐾</m:t>
                    </m:r>
                  </m:oMath>
                </a14:m>
                <a:r>
                  <a:rPr lang="zh-CN" altLang="en-US" sz="1200" dirty="0">
                    <a:latin typeface="Times New Roman" panose="02020603050405020304" pitchFamily="18" charset="0"/>
                    <a:cs typeface="Times New Roman" panose="02020603050405020304" pitchFamily="18" charset="0"/>
                  </a:rPr>
                  <a:t>对消息</a:t>
                </a:r>
                <a14:m>
                  <m:oMath xmlns:m="http://schemas.openxmlformats.org/officeDocument/2006/math">
                    <m:r>
                      <a:rPr lang="en-US" altLang="zh-CN" sz="1200" b="0" i="1" smtClean="0">
                        <a:latin typeface="Cambria Math" panose="02040503050406030204" pitchFamily="18" charset="0"/>
                        <a:cs typeface="Times New Roman" panose="02020603050405020304" pitchFamily="18" charset="0"/>
                      </a:rPr>
                      <m:t>𝑀</m:t>
                    </m:r>
                  </m:oMath>
                </a14:m>
                <a:r>
                  <a:rPr lang="zh-CN" altLang="en-US" sz="1200" b="0" dirty="0">
                    <a:latin typeface="Times New Roman" panose="02020603050405020304" pitchFamily="18" charset="0"/>
                    <a:cs typeface="Times New Roman" panose="02020603050405020304" pitchFamily="18" charset="0"/>
                  </a:rPr>
                  <a:t>进行加密后，将</a:t>
                </a:r>
                <a:r>
                  <a:rPr lang="zh-CN" altLang="en-US" sz="1200" dirty="0">
                    <a:latin typeface="Times New Roman" panose="02020603050405020304" pitchFamily="18" charset="0"/>
                    <a:cs typeface="Times New Roman" panose="02020603050405020304" pitchFamily="18" charset="0"/>
                  </a:rPr>
                  <a:t>明文消息</a:t>
                </a:r>
                <a14:m>
                  <m:oMath xmlns:m="http://schemas.openxmlformats.org/officeDocument/2006/math">
                    <m:r>
                      <a:rPr lang="en-US" altLang="zh-CN" sz="1200" b="0" i="1" smtClean="0">
                        <a:latin typeface="Cambria Math" panose="02040503050406030204" pitchFamily="18" charset="0"/>
                        <a:cs typeface="Times New Roman" panose="02020603050405020304" pitchFamily="18" charset="0"/>
                      </a:rPr>
                      <m:t>𝑀</m:t>
                    </m:r>
                  </m:oMath>
                </a14:m>
                <a:r>
                  <a:rPr lang="zh-CN" altLang="en-US" sz="1200" b="0" dirty="0">
                    <a:latin typeface="Times New Roman" panose="02020603050405020304" pitchFamily="18" charset="0"/>
                    <a:cs typeface="Times New Roman" panose="02020603050405020304" pitchFamily="18" charset="0"/>
                  </a:rPr>
                  <a:t>和密文</a:t>
                </a:r>
                <a:r>
                  <a:rPr lang="zh-CN" altLang="en-US" sz="1200" dirty="0">
                    <a:latin typeface="Times New Roman" panose="02020603050405020304" pitchFamily="18" charset="0"/>
                    <a:cs typeface="Times New Roman" panose="02020603050405020304" pitchFamily="18" charset="0"/>
                  </a:rPr>
                  <a:t>消息</a:t>
                </a:r>
                <a14:m>
                  <m:oMath xmlns:m="http://schemas.openxmlformats.org/officeDocument/2006/math">
                    <m:r>
                      <a:rPr lang="en-US" altLang="zh-CN" sz="1200" b="0" i="1" smtClean="0">
                        <a:latin typeface="Cambria Math" panose="02040503050406030204" pitchFamily="18" charset="0"/>
                        <a:cs typeface="Times New Roman" panose="02020603050405020304" pitchFamily="18" charset="0"/>
                      </a:rPr>
                      <m:t>𝐶</m:t>
                    </m:r>
                    <m:r>
                      <a:rPr lang="en-US" altLang="zh-CN" sz="1200" b="0" i="1" smtClean="0">
                        <a:latin typeface="Cambria Math" panose="02040503050406030204" pitchFamily="18" charset="0"/>
                        <a:cs typeface="Times New Roman" panose="02020603050405020304" pitchFamily="18" charset="0"/>
                      </a:rPr>
                      <m:t>=</m:t>
                    </m:r>
                    <m:r>
                      <a:rPr lang="en-US" altLang="zh-CN" sz="1200" i="1">
                        <a:latin typeface="Cambria Math" panose="02040503050406030204" pitchFamily="18" charset="0"/>
                      </a:rPr>
                      <m:t>𝐸</m:t>
                    </m:r>
                    <m:r>
                      <a:rPr lang="en-US" altLang="zh-CN" sz="1200" i="1">
                        <a:latin typeface="Cambria Math" panose="02040503050406030204" pitchFamily="18" charset="0"/>
                      </a:rPr>
                      <m:t>(</m:t>
                    </m:r>
                    <m:r>
                      <a:rPr lang="en-US" altLang="zh-CN" sz="1200" i="1">
                        <a:latin typeface="Cambria Math" panose="02040503050406030204" pitchFamily="18" charset="0"/>
                      </a:rPr>
                      <m:t>𝐾</m:t>
                    </m:r>
                    <m:r>
                      <a:rPr lang="en-US" altLang="zh-CN" sz="1200" i="1">
                        <a:latin typeface="Cambria Math" panose="02040503050406030204" pitchFamily="18" charset="0"/>
                      </a:rPr>
                      <m:t>,</m:t>
                    </m:r>
                    <m:r>
                      <a:rPr lang="en-US" altLang="zh-CN" sz="1200" i="1">
                        <a:latin typeface="Cambria Math" panose="02040503050406030204" pitchFamily="18" charset="0"/>
                      </a:rPr>
                      <m:t>𝑀</m:t>
                    </m:r>
                    <m:r>
                      <a:rPr lang="en-US" altLang="zh-CN" sz="1200" i="1">
                        <a:latin typeface="Cambria Math" panose="02040503050406030204" pitchFamily="18" charset="0"/>
                      </a:rPr>
                      <m:t>)</m:t>
                    </m:r>
                  </m:oMath>
                </a14:m>
                <a:r>
                  <a:rPr lang="zh-CN" altLang="en-US" sz="1200" b="0" dirty="0">
                    <a:latin typeface="Times New Roman" panose="02020603050405020304" pitchFamily="18" charset="0"/>
                    <a:cs typeface="Times New Roman" panose="02020603050405020304" pitchFamily="18" charset="0"/>
                  </a:rPr>
                  <a:t>通过公开信道传送给</a:t>
                </a:r>
                <a:r>
                  <a:rPr lang="en-US" altLang="zh-CN" sz="1200" b="0" dirty="0">
                    <a:latin typeface="Times New Roman" panose="02020603050405020304" pitchFamily="18" charset="0"/>
                    <a:cs typeface="Times New Roman" panose="02020603050405020304" pitchFamily="18" charset="0"/>
                  </a:rPr>
                  <a:t>B</a:t>
                </a:r>
                <a:endParaRPr lang="en-US" altLang="zh-CN" sz="1200" dirty="0">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mj-lt"/>
                  <a:buAutoNum type="arabicPeriod"/>
                </a:pPr>
                <a:r>
                  <a:rPr lang="en-US" altLang="zh-CN" sz="1200" b="0" dirty="0">
                    <a:latin typeface="Times New Roman" panose="02020603050405020304" pitchFamily="18" charset="0"/>
                    <a:cs typeface="Times New Roman" panose="02020603050405020304" pitchFamily="18" charset="0"/>
                  </a:rPr>
                  <a:t>B</a:t>
                </a:r>
                <a:r>
                  <a:rPr lang="zh-CN" altLang="en-US" sz="1200" b="0" dirty="0">
                    <a:latin typeface="Times New Roman" panose="02020603050405020304" pitchFamily="18" charset="0"/>
                    <a:cs typeface="Times New Roman" panose="02020603050405020304" pitchFamily="18" charset="0"/>
                  </a:rPr>
                  <a:t>接收到密文消息后</a:t>
                </a:r>
                <a14:m>
                  <m:oMath xmlns:m="http://schemas.openxmlformats.org/officeDocument/2006/math">
                    <m:r>
                      <a:rPr lang="en-US" altLang="zh-CN" sz="1200" b="0" i="1" smtClean="0">
                        <a:latin typeface="Cambria Math" panose="02040503050406030204" pitchFamily="18" charset="0"/>
                        <a:cs typeface="Times New Roman" panose="02020603050405020304" pitchFamily="18" charset="0"/>
                      </a:rPr>
                      <m:t>𝐶</m:t>
                    </m:r>
                  </m:oMath>
                </a14:m>
                <a:r>
                  <a:rPr lang="zh-CN" altLang="en-US" sz="1200" b="0" dirty="0">
                    <a:latin typeface="Times New Roman" panose="02020603050405020304" pitchFamily="18" charset="0"/>
                    <a:cs typeface="Times New Roman" panose="02020603050405020304" pitchFamily="18" charset="0"/>
                  </a:rPr>
                  <a:t>，通过是否能用密钥</a:t>
                </a:r>
                <a14:m>
                  <m:oMath xmlns:m="http://schemas.openxmlformats.org/officeDocument/2006/math">
                    <m:r>
                      <a:rPr lang="en-US" altLang="zh-CN" sz="1200" b="0" i="1" smtClean="0">
                        <a:latin typeface="Cambria Math" panose="02040503050406030204" pitchFamily="18" charset="0"/>
                        <a:cs typeface="Times New Roman" panose="02020603050405020304" pitchFamily="18" charset="0"/>
                      </a:rPr>
                      <m:t>𝐾</m:t>
                    </m:r>
                  </m:oMath>
                </a14:m>
                <a:r>
                  <a:rPr lang="zh-CN" altLang="en-US" sz="1200" b="0" dirty="0">
                    <a:latin typeface="Times New Roman" panose="02020603050405020304" pitchFamily="18" charset="0"/>
                    <a:cs typeface="Times New Roman" panose="02020603050405020304" pitchFamily="18" charset="0"/>
                  </a:rPr>
                  <a:t>将其</a:t>
                </a:r>
                <a:r>
                  <a:rPr lang="zh-CN" altLang="en-US" sz="1200" dirty="0">
                    <a:solidFill>
                      <a:srgbClr val="0000FF"/>
                    </a:solidFill>
                    <a:latin typeface="Times New Roman" panose="02020603050405020304" pitchFamily="18" charset="0"/>
                    <a:cs typeface="Times New Roman" panose="02020603050405020304" pitchFamily="18" charset="0"/>
                  </a:rPr>
                  <a:t>恢复</a:t>
                </a:r>
                <a:r>
                  <a:rPr lang="zh-CN" altLang="en-US" sz="1200" b="0" dirty="0">
                    <a:solidFill>
                      <a:srgbClr val="0000FF"/>
                    </a:solidFill>
                    <a:latin typeface="Times New Roman" panose="02020603050405020304" pitchFamily="18" charset="0"/>
                    <a:cs typeface="Times New Roman" panose="02020603050405020304" pitchFamily="18" charset="0"/>
                  </a:rPr>
                  <a:t>成相应的明文消息</a:t>
                </a:r>
                <a14:m>
                  <m:oMath xmlns:m="http://schemas.openxmlformats.org/officeDocument/2006/math">
                    <m:r>
                      <a:rPr lang="en-US" altLang="zh-CN" sz="1200" b="0" i="1" smtClean="0">
                        <a:solidFill>
                          <a:srgbClr val="0000FF"/>
                        </a:solidFill>
                        <a:latin typeface="Cambria Math" panose="02040503050406030204" pitchFamily="18" charset="0"/>
                        <a:cs typeface="Times New Roman" panose="02020603050405020304" pitchFamily="18" charset="0"/>
                      </a:rPr>
                      <m:t>𝑀</m:t>
                    </m:r>
                  </m:oMath>
                </a14:m>
                <a:r>
                  <a:rPr lang="zh-CN" altLang="en-US" sz="1200" b="0" dirty="0">
                    <a:latin typeface="Times New Roman" panose="02020603050405020304" pitchFamily="18" charset="0"/>
                    <a:cs typeface="Times New Roman" panose="02020603050405020304" pitchFamily="18" charset="0"/>
                  </a:rPr>
                  <a:t>，来判断</a:t>
                </a:r>
                <a:r>
                  <a:rPr lang="zh-CN" altLang="en-US" sz="1200" dirty="0">
                    <a:latin typeface="Times New Roman" panose="02020603050405020304" pitchFamily="18" charset="0"/>
                    <a:cs typeface="Times New Roman" panose="02020603050405020304" pitchFamily="18" charset="0"/>
                  </a:rPr>
                  <a:t>消息</a:t>
                </a:r>
                <a:r>
                  <a:rPr lang="zh-CN" altLang="en-US" sz="1200" b="0" dirty="0">
                    <a:latin typeface="Times New Roman" panose="02020603050405020304" pitchFamily="18" charset="0"/>
                    <a:cs typeface="Times New Roman" panose="02020603050405020304" pitchFamily="18" charset="0"/>
                  </a:rPr>
                  <a:t>是否来自</a:t>
                </a:r>
                <a:r>
                  <a:rPr lang="en-US" altLang="zh-CN" sz="1200" b="0" dirty="0">
                    <a:latin typeface="Times New Roman" panose="02020603050405020304" pitchFamily="18" charset="0"/>
                    <a:cs typeface="Times New Roman" panose="02020603050405020304" pitchFamily="18" charset="0"/>
                  </a:rPr>
                  <a:t>A</a:t>
                </a:r>
                <a:r>
                  <a:rPr lang="zh-CN" altLang="en-US" sz="1200" b="0" dirty="0">
                    <a:latin typeface="Times New Roman" panose="02020603050405020304" pitchFamily="18" charset="0"/>
                    <a:cs typeface="Times New Roman" panose="02020603050405020304" pitchFamily="18" charset="0"/>
                  </a:rPr>
                  <a:t>，以及消息是否完整</a:t>
                </a:r>
                <a:endParaRPr lang="en-US" altLang="zh-CN" sz="1200" b="0" dirty="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marL="457200" indent="-457200">
                  <a:lnSpc>
                    <a:spcPct val="120000"/>
                  </a:lnSpc>
                  <a:spcBef>
                    <a:spcPts val="600"/>
                  </a:spcBef>
                  <a:buFont typeface="+mj-lt"/>
                  <a:buAutoNum type="arabicPeriod"/>
                </a:pPr>
                <a:r>
                  <a:rPr lang="zh-CN" altLang="en-US" sz="1200" dirty="0">
                    <a:latin typeface="Times New Roman" panose="02020603050405020304" pitchFamily="18" charset="0"/>
                    <a:cs typeface="Times New Roman" panose="02020603050405020304" pitchFamily="18" charset="0"/>
                  </a:rPr>
                  <a:t>发送方</a:t>
                </a: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和接收方</a:t>
                </a:r>
                <a:r>
                  <a:rPr lang="en-US" altLang="zh-CN" sz="1200" dirty="0">
                    <a:latin typeface="Times New Roman" panose="02020603050405020304" pitchFamily="18" charset="0"/>
                    <a:cs typeface="Times New Roman" panose="02020603050405020304" pitchFamily="18" charset="0"/>
                  </a:rPr>
                  <a:t>B</a:t>
                </a:r>
                <a:r>
                  <a:rPr lang="zh-CN" altLang="en-US" sz="1200" dirty="0">
                    <a:solidFill>
                      <a:srgbClr val="0000FF"/>
                    </a:solidFill>
                    <a:latin typeface="Times New Roman" panose="02020603050405020304" pitchFamily="18" charset="0"/>
                    <a:cs typeface="Times New Roman" panose="02020603050405020304" pitchFamily="18" charset="0"/>
                  </a:rPr>
                  <a:t>共享密钥</a:t>
                </a:r>
                <a:r>
                  <a:rPr lang="en-US" altLang="zh-CN" sz="1200" i="0" dirty="0">
                    <a:solidFill>
                      <a:srgbClr val="0000FF"/>
                    </a:solidFill>
                    <a:latin typeface="Cambria Math" panose="02040503050406030204" pitchFamily="18" charset="0"/>
                    <a:cs typeface="Times New Roman" panose="02020603050405020304" pitchFamily="18" charset="0"/>
                  </a:rPr>
                  <a:t>𝑘</a:t>
                </a:r>
                <a:endParaRPr lang="en-US" altLang="zh-CN" sz="1200" dirty="0">
                  <a:solidFill>
                    <a:srgbClr val="0000FF"/>
                  </a:solidFill>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mj-lt"/>
                  <a:buAutoNum type="arabicPeriod"/>
                </a:pP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用密钥</a:t>
                </a:r>
                <a:r>
                  <a:rPr lang="en-US" altLang="zh-CN" sz="1200" b="0" i="0">
                    <a:latin typeface="Cambria Math" panose="02040503050406030204" pitchFamily="18" charset="0"/>
                    <a:cs typeface="Times New Roman" panose="02020603050405020304" pitchFamily="18" charset="0"/>
                  </a:rPr>
                  <a:t>𝐾</a:t>
                </a:r>
                <a:r>
                  <a:rPr lang="zh-CN" altLang="en-US" sz="1200" dirty="0">
                    <a:latin typeface="Times New Roman" panose="02020603050405020304" pitchFamily="18" charset="0"/>
                    <a:cs typeface="Times New Roman" panose="02020603050405020304" pitchFamily="18" charset="0"/>
                  </a:rPr>
                  <a:t>对消息</a:t>
                </a:r>
                <a:r>
                  <a:rPr lang="en-US" altLang="zh-CN" sz="1200" b="0" i="0">
                    <a:latin typeface="Cambria Math" panose="02040503050406030204" pitchFamily="18" charset="0"/>
                    <a:cs typeface="Times New Roman" panose="02020603050405020304" pitchFamily="18" charset="0"/>
                  </a:rPr>
                  <a:t>𝑀</a:t>
                </a:r>
                <a:r>
                  <a:rPr lang="zh-CN" altLang="en-US" sz="1200" b="0" dirty="0">
                    <a:latin typeface="Times New Roman" panose="02020603050405020304" pitchFamily="18" charset="0"/>
                    <a:cs typeface="Times New Roman" panose="02020603050405020304" pitchFamily="18" charset="0"/>
                  </a:rPr>
                  <a:t>进行加密后，将</a:t>
                </a:r>
                <a:r>
                  <a:rPr lang="zh-CN" altLang="en-US" sz="1200" dirty="0">
                    <a:latin typeface="Times New Roman" panose="02020603050405020304" pitchFamily="18" charset="0"/>
                    <a:cs typeface="Times New Roman" panose="02020603050405020304" pitchFamily="18" charset="0"/>
                  </a:rPr>
                  <a:t>明文消息</a:t>
                </a:r>
                <a:r>
                  <a:rPr lang="en-US" altLang="zh-CN" sz="1200" b="0" i="0">
                    <a:latin typeface="Cambria Math" panose="02040503050406030204" pitchFamily="18" charset="0"/>
                    <a:cs typeface="Times New Roman" panose="02020603050405020304" pitchFamily="18" charset="0"/>
                  </a:rPr>
                  <a:t>𝑀</a:t>
                </a:r>
                <a:r>
                  <a:rPr lang="zh-CN" altLang="en-US" sz="1200" b="0" dirty="0">
                    <a:latin typeface="Times New Roman" panose="02020603050405020304" pitchFamily="18" charset="0"/>
                    <a:cs typeface="Times New Roman" panose="02020603050405020304" pitchFamily="18" charset="0"/>
                  </a:rPr>
                  <a:t>和密文</a:t>
                </a:r>
                <a:r>
                  <a:rPr lang="zh-CN" altLang="en-US" sz="1200" dirty="0">
                    <a:latin typeface="Times New Roman" panose="02020603050405020304" pitchFamily="18" charset="0"/>
                    <a:cs typeface="Times New Roman" panose="02020603050405020304" pitchFamily="18" charset="0"/>
                  </a:rPr>
                  <a:t>消息</a:t>
                </a:r>
                <a:r>
                  <a:rPr lang="en-US" altLang="zh-CN" sz="1200" b="0" i="0">
                    <a:latin typeface="Cambria Math" panose="02040503050406030204" pitchFamily="18" charset="0"/>
                    <a:cs typeface="Times New Roman" panose="02020603050405020304" pitchFamily="18" charset="0"/>
                  </a:rPr>
                  <a:t>𝐶=</a:t>
                </a:r>
                <a:r>
                  <a:rPr lang="en-US" altLang="zh-CN" sz="1200" i="0">
                    <a:latin typeface="Cambria Math" panose="02040503050406030204" pitchFamily="18" charset="0"/>
                  </a:rPr>
                  <a:t>𝐸(𝐾,𝑀)</a:t>
                </a:r>
                <a:r>
                  <a:rPr lang="zh-CN" altLang="en-US" sz="1200" b="0" dirty="0">
                    <a:latin typeface="Times New Roman" panose="02020603050405020304" pitchFamily="18" charset="0"/>
                    <a:cs typeface="Times New Roman" panose="02020603050405020304" pitchFamily="18" charset="0"/>
                  </a:rPr>
                  <a:t>通过公开信道传送给</a:t>
                </a:r>
                <a:r>
                  <a:rPr lang="en-US" altLang="zh-CN" sz="1200" b="0" dirty="0">
                    <a:latin typeface="Times New Roman" panose="02020603050405020304" pitchFamily="18" charset="0"/>
                    <a:cs typeface="Times New Roman" panose="02020603050405020304" pitchFamily="18" charset="0"/>
                  </a:rPr>
                  <a:t>B</a:t>
                </a:r>
                <a:endParaRPr lang="en-US" altLang="zh-CN" sz="1200" dirty="0">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mj-lt"/>
                  <a:buAutoNum type="arabicPeriod"/>
                </a:pPr>
                <a:r>
                  <a:rPr lang="en-US" altLang="zh-CN" sz="1200" b="0" dirty="0">
                    <a:latin typeface="Times New Roman" panose="02020603050405020304" pitchFamily="18" charset="0"/>
                    <a:cs typeface="Times New Roman" panose="02020603050405020304" pitchFamily="18" charset="0"/>
                  </a:rPr>
                  <a:t>B</a:t>
                </a:r>
                <a:r>
                  <a:rPr lang="zh-CN" altLang="en-US" sz="1200" b="0" dirty="0">
                    <a:latin typeface="Times New Roman" panose="02020603050405020304" pitchFamily="18" charset="0"/>
                    <a:cs typeface="Times New Roman" panose="02020603050405020304" pitchFamily="18" charset="0"/>
                  </a:rPr>
                  <a:t>接收到密文消息后</a:t>
                </a:r>
                <a:r>
                  <a:rPr lang="en-US" altLang="zh-CN" sz="1200" b="0" i="0">
                    <a:latin typeface="Cambria Math" panose="02040503050406030204" pitchFamily="18" charset="0"/>
                    <a:cs typeface="Times New Roman" panose="02020603050405020304" pitchFamily="18" charset="0"/>
                  </a:rPr>
                  <a:t>𝐶</a:t>
                </a:r>
                <a:r>
                  <a:rPr lang="zh-CN" altLang="en-US" sz="1200" b="0" dirty="0">
                    <a:latin typeface="Times New Roman" panose="02020603050405020304" pitchFamily="18" charset="0"/>
                    <a:cs typeface="Times New Roman" panose="02020603050405020304" pitchFamily="18" charset="0"/>
                  </a:rPr>
                  <a:t>，通过是否能用密钥</a:t>
                </a:r>
                <a:r>
                  <a:rPr lang="en-US" altLang="zh-CN" sz="1200" b="0" i="0">
                    <a:latin typeface="Cambria Math" panose="02040503050406030204" pitchFamily="18" charset="0"/>
                    <a:cs typeface="Times New Roman" panose="02020603050405020304" pitchFamily="18" charset="0"/>
                  </a:rPr>
                  <a:t>𝐾</a:t>
                </a:r>
                <a:r>
                  <a:rPr lang="zh-CN" altLang="en-US" sz="1200" b="0" dirty="0">
                    <a:latin typeface="Times New Roman" panose="02020603050405020304" pitchFamily="18" charset="0"/>
                    <a:cs typeface="Times New Roman" panose="02020603050405020304" pitchFamily="18" charset="0"/>
                  </a:rPr>
                  <a:t>将其</a:t>
                </a:r>
                <a:r>
                  <a:rPr lang="zh-CN" altLang="en-US" sz="1200" dirty="0">
                    <a:solidFill>
                      <a:srgbClr val="0000FF"/>
                    </a:solidFill>
                    <a:latin typeface="Times New Roman" panose="02020603050405020304" pitchFamily="18" charset="0"/>
                    <a:cs typeface="Times New Roman" panose="02020603050405020304" pitchFamily="18" charset="0"/>
                  </a:rPr>
                  <a:t>恢复</a:t>
                </a:r>
                <a:r>
                  <a:rPr lang="zh-CN" altLang="en-US" sz="1200" b="0" dirty="0">
                    <a:solidFill>
                      <a:srgbClr val="0000FF"/>
                    </a:solidFill>
                    <a:latin typeface="Times New Roman" panose="02020603050405020304" pitchFamily="18" charset="0"/>
                    <a:cs typeface="Times New Roman" panose="02020603050405020304" pitchFamily="18" charset="0"/>
                  </a:rPr>
                  <a:t>成相应的明文消息</a:t>
                </a:r>
                <a:r>
                  <a:rPr lang="en-US" altLang="zh-CN" sz="1200" b="0" i="0">
                    <a:solidFill>
                      <a:srgbClr val="0000FF"/>
                    </a:solidFill>
                    <a:latin typeface="Cambria Math" panose="02040503050406030204" pitchFamily="18" charset="0"/>
                    <a:cs typeface="Times New Roman" panose="02020603050405020304" pitchFamily="18" charset="0"/>
                  </a:rPr>
                  <a:t>𝑀</a:t>
                </a:r>
                <a:r>
                  <a:rPr lang="zh-CN" altLang="en-US" sz="1200" b="0" dirty="0">
                    <a:latin typeface="Times New Roman" panose="02020603050405020304" pitchFamily="18" charset="0"/>
                    <a:cs typeface="Times New Roman" panose="02020603050405020304" pitchFamily="18" charset="0"/>
                  </a:rPr>
                  <a:t>，来判断</a:t>
                </a:r>
                <a:r>
                  <a:rPr lang="zh-CN" altLang="en-US" sz="1200" dirty="0">
                    <a:latin typeface="Times New Roman" panose="02020603050405020304" pitchFamily="18" charset="0"/>
                    <a:cs typeface="Times New Roman" panose="02020603050405020304" pitchFamily="18" charset="0"/>
                  </a:rPr>
                  <a:t>消息</a:t>
                </a:r>
                <a:r>
                  <a:rPr lang="zh-CN" altLang="en-US" sz="1200" b="0" dirty="0">
                    <a:latin typeface="Times New Roman" panose="02020603050405020304" pitchFamily="18" charset="0"/>
                    <a:cs typeface="Times New Roman" panose="02020603050405020304" pitchFamily="18" charset="0"/>
                  </a:rPr>
                  <a:t>是否来自</a:t>
                </a:r>
                <a:r>
                  <a:rPr lang="en-US" altLang="zh-CN" sz="1200" b="0" dirty="0">
                    <a:latin typeface="Times New Roman" panose="02020603050405020304" pitchFamily="18" charset="0"/>
                    <a:cs typeface="Times New Roman" panose="02020603050405020304" pitchFamily="18" charset="0"/>
                  </a:rPr>
                  <a:t>A</a:t>
                </a:r>
                <a:r>
                  <a:rPr lang="zh-CN" altLang="en-US" sz="1200" b="0" dirty="0">
                    <a:latin typeface="Times New Roman" panose="02020603050405020304" pitchFamily="18" charset="0"/>
                    <a:cs typeface="Times New Roman" panose="02020603050405020304" pitchFamily="18" charset="0"/>
                  </a:rPr>
                  <a:t>，以及消息是否完整</a:t>
                </a:r>
                <a:endParaRPr lang="en-US" altLang="zh-CN" sz="1200" b="0" dirty="0">
                  <a:latin typeface="Times New Roman" panose="02020603050405020304" pitchFamily="18" charset="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7</a:t>
            </a:fld>
            <a:endParaRPr lang="zh-CN" altLang="en-US"/>
          </a:p>
        </p:txBody>
      </p:sp>
    </p:spTree>
    <p:extLst>
      <p:ext uri="{BB962C8B-B14F-4D97-AF65-F5344CB8AC3E}">
        <p14:creationId xmlns:p14="http://schemas.microsoft.com/office/powerpoint/2010/main" val="624054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通过在</a:t>
            </a:r>
            <a:r>
              <a:rPr lang="en-US" altLang="zh-CN" dirty="0"/>
              <a:t>MAC</a:t>
            </a:r>
            <a:r>
              <a:rPr lang="zh-CN" altLang="en-US" dirty="0"/>
              <a:t>算法之后或之前进行信息加密，可以提供保密性。</a:t>
            </a:r>
            <a:endParaRPr lang="en-US" altLang="zh-CN" dirty="0"/>
          </a:p>
          <a:p>
            <a:r>
              <a:rPr lang="zh-CN" altLang="en-US" dirty="0"/>
              <a:t>在这两种情况下，都需要两个单独的密钥，每个密钥都由发送方和接收方共享。通常情况下，最好将认证直接与明文联系起来，所以使用如图的方法。 </a:t>
            </a:r>
            <a:endParaRPr lang="en-US" altLang="zh-CN" dirty="0"/>
          </a:p>
          <a:p>
            <a:r>
              <a:rPr lang="zh-CN" altLang="en-US" dirty="0"/>
              <a:t>可以在只需要认证（或需要保持认证）的情况下使用</a:t>
            </a:r>
            <a:r>
              <a:rPr lang="en-US" altLang="zh-CN" dirty="0"/>
              <a:t>MAC</a:t>
            </a:r>
            <a:r>
              <a:rPr lang="zh-CN" altLang="en-US" dirty="0"/>
              <a:t>，例如，如同一消息被广播到多个目的地时；当一方负荷很重，无法承担解密所有传入消息的时间；或不需要保持消息的秘密，但必须认证消息。</a:t>
            </a:r>
            <a:endParaRPr lang="en-US" altLang="zh-CN" dirty="0"/>
          </a:p>
          <a:p>
            <a:r>
              <a:rPr lang="zh-CN" altLang="en-US" dirty="0"/>
              <a:t>最后，</a:t>
            </a:r>
            <a:r>
              <a:rPr lang="en-US" altLang="zh-CN" dirty="0"/>
              <a:t>MAC</a:t>
            </a:r>
            <a:r>
              <a:rPr lang="zh-CN" altLang="en-US" dirty="0"/>
              <a:t>不提供数字签名，因为发送方和接收方都共享同一密钥。</a:t>
            </a:r>
          </a:p>
        </p:txBody>
      </p:sp>
      <p:sp>
        <p:nvSpPr>
          <p:cNvPr id="4" name="灯片编号占位符 3"/>
          <p:cNvSpPr>
            <a:spLocks noGrp="1"/>
          </p:cNvSpPr>
          <p:nvPr>
            <p:ph type="sldNum" sz="quarter" idx="5"/>
          </p:nvPr>
        </p:nvSpPr>
        <p:spPr/>
        <p:txBody>
          <a:bodyPr/>
          <a:lstStyle/>
          <a:p>
            <a:fld id="{184D3990-B510-4435-90A5-6D9F2619C2A6}" type="slidenum">
              <a:rPr lang="zh-CN" altLang="en-US" smtClean="0"/>
              <a:t>8</a:t>
            </a:fld>
            <a:endParaRPr lang="zh-CN" altLang="en-US"/>
          </a:p>
        </p:txBody>
      </p:sp>
    </p:spTree>
    <p:extLst>
      <p:ext uri="{BB962C8B-B14F-4D97-AF65-F5344CB8AC3E}">
        <p14:creationId xmlns:p14="http://schemas.microsoft.com/office/powerpoint/2010/main" val="2380325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哈希函数通常比较快，且密码哈希函数的代码广泛可用</a:t>
                </a:r>
                <a:endParaRPr lang="en-US" altLang="zh-C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其中</a:t>
                </a:r>
                <a14:m>
                  <m:oMath xmlns:m="http://schemas.openxmlformats.org/officeDocument/2006/math">
                    <m:d>
                      <m:dPr>
                        <m:begChr m:val="|"/>
                        <m:endChr m:val="|"/>
                        <m:ctrlPr>
                          <a:rPr lang="en-US" altLang="zh-CN" sz="1200" b="0" i="1" dirty="0" smtClean="0">
                            <a:latin typeface="Cambria Math" panose="02040503050406030204" pitchFamily="18" charset="0"/>
                            <a:cs typeface="Times New Roman" panose="02020603050405020304" pitchFamily="18" charset="0"/>
                          </a:rPr>
                        </m:ctrlPr>
                      </m:dPr>
                      <m:e>
                        <m:sSub>
                          <m:sSubPr>
                            <m:ctrlPr>
                              <a:rPr lang="en-US" altLang="zh-CN" sz="1200" b="0" i="1" dirty="0" smtClean="0">
                                <a:latin typeface="Cambria Math" panose="02040503050406030204" pitchFamily="18" charset="0"/>
                                <a:cs typeface="Times New Roman" panose="02020603050405020304" pitchFamily="18" charset="0"/>
                              </a:rPr>
                            </m:ctrlPr>
                          </m:sSubPr>
                          <m:e>
                            <m:r>
                              <a:rPr lang="en-US" altLang="zh-CN" sz="1200" b="0" i="1" dirty="0" smtClean="0">
                                <a:latin typeface="Cambria Math" panose="02040503050406030204" pitchFamily="18" charset="0"/>
                                <a:cs typeface="Times New Roman" panose="02020603050405020304" pitchFamily="18" charset="0"/>
                              </a:rPr>
                              <m:t>𝑀</m:t>
                            </m:r>
                          </m:e>
                          <m:sub>
                            <m:r>
                              <a:rPr lang="en-US" altLang="zh-CN" sz="1200" b="0" i="1" dirty="0" smtClean="0">
                                <a:latin typeface="Cambria Math" panose="02040503050406030204" pitchFamily="18" charset="0"/>
                                <a:cs typeface="Times New Roman" panose="02020603050405020304" pitchFamily="18" charset="0"/>
                              </a:rPr>
                              <m:t>𝑖</m:t>
                            </m:r>
                          </m:sub>
                        </m:sSub>
                      </m:e>
                    </m:d>
                  </m:oMath>
                </a14:m>
                <a:r>
                  <a:rPr lang="zh-CN" altLang="en-US" sz="1200" dirty="0">
                    <a:latin typeface="Times New Roman" panose="02020603050405020304" pitchFamily="18" charset="0"/>
                    <a:cs typeface="Times New Roman" panose="02020603050405020304" pitchFamily="18" charset="0"/>
                  </a:rPr>
                  <a:t>为块大小</a:t>
                </a:r>
                <a:endParaRPr lang="en-US" altLang="zh-C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长度扩展攻击下，攻击者可以在不知道</a:t>
                </a:r>
                <a:r>
                  <a:rPr lang="en-US" altLang="zh-CN" sz="1200" b="0" i="0" kern="1200" dirty="0">
                    <a:solidFill>
                      <a:schemeClr val="tx1"/>
                    </a:solidFill>
                    <a:effectLst/>
                    <a:latin typeface="+mn-lt"/>
                    <a:ea typeface="+mn-ea"/>
                    <a:cs typeface="+mn-cs"/>
                  </a:rPr>
                  <a:t>M1</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K</a:t>
                </a:r>
                <a:r>
                  <a:rPr lang="zh-CN" altLang="en-US" sz="1200" b="0" i="0" kern="1200" dirty="0">
                    <a:solidFill>
                      <a:schemeClr val="tx1"/>
                    </a:solidFill>
                    <a:effectLst/>
                    <a:latin typeface="+mn-lt"/>
                    <a:ea typeface="+mn-ea"/>
                    <a:cs typeface="+mn-cs"/>
                  </a:rPr>
                  <a:t>的基础上，仅通过</a:t>
                </a:r>
                <a:r>
                  <a:rPr lang="en-US" altLang="zh-CN" sz="1200" b="0" i="0" kern="1200" dirty="0">
                    <a:solidFill>
                      <a:schemeClr val="tx1"/>
                    </a:solidFill>
                    <a:effectLst/>
                    <a:latin typeface="+mn-lt"/>
                    <a:ea typeface="+mn-ea"/>
                    <a:cs typeface="+mn-cs"/>
                  </a:rPr>
                  <a:t>Hash(K||M1)</a:t>
                </a:r>
                <a:r>
                  <a:rPr lang="zh-CN" altLang="en-US" sz="1200" b="0" i="0" kern="1200" dirty="0">
                    <a:solidFill>
                      <a:schemeClr val="tx1"/>
                    </a:solidFill>
                    <a:effectLst/>
                    <a:latin typeface="+mn-lt"/>
                    <a:ea typeface="+mn-ea"/>
                    <a:cs typeface="+mn-cs"/>
                  </a:rPr>
                  <a:t>就可以计算出</a:t>
                </a:r>
                <a:r>
                  <a:rPr lang="en-US" altLang="zh-CN" sz="1200" b="0" i="0" kern="1200" dirty="0">
                    <a:solidFill>
                      <a:schemeClr val="tx1"/>
                    </a:solidFill>
                    <a:effectLst/>
                    <a:latin typeface="+mn-lt"/>
                    <a:ea typeface="+mn-ea"/>
                    <a:cs typeface="+mn-cs"/>
                  </a:rPr>
                  <a:t>Hash(K||M1||M2),</a:t>
                </a:r>
                <a:r>
                  <a:rPr lang="zh-CN" altLang="en-US" sz="1200" b="0" i="0" kern="1200" dirty="0">
                    <a:solidFill>
                      <a:schemeClr val="tx1"/>
                    </a:solidFill>
                    <a:effectLst/>
                    <a:latin typeface="+mn-lt"/>
                    <a:ea typeface="+mn-ea"/>
                    <a:cs typeface="+mn-cs"/>
                  </a:rPr>
                  <a:t>相当于攻击者可以伪造有效的</a:t>
                </a:r>
                <a:r>
                  <a:rPr lang="en-US" altLang="zh-CN" sz="1200" b="0" i="0" kern="1200" dirty="0">
                    <a:solidFill>
                      <a:schemeClr val="tx1"/>
                    </a:solidFill>
                    <a:effectLst/>
                    <a:latin typeface="+mn-lt"/>
                    <a:ea typeface="+mn-ea"/>
                    <a:cs typeface="+mn-cs"/>
                  </a:rPr>
                  <a:t>MAC</a:t>
                </a:r>
                <a:r>
                  <a:rPr lang="zh-CN" altLang="en-US" sz="1200" b="0" i="0" kern="1200" dirty="0">
                    <a:solidFill>
                      <a:schemeClr val="tx1"/>
                    </a:solidFill>
                    <a:effectLst/>
                    <a:latin typeface="+mn-lt"/>
                    <a:ea typeface="+mn-ea"/>
                    <a:cs typeface="+mn-cs"/>
                  </a:rPr>
                  <a:t>标签。</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哈希函数通常比较快，且密码哈希函数的代码广泛可用</a:t>
                </a:r>
                <a:endParaRPr lang="en-US" altLang="zh-C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其中</a:t>
                </a:r>
                <a:r>
                  <a:rPr lang="en-US" altLang="zh-CN" sz="1200" b="0" i="0" dirty="0">
                    <a:latin typeface="Cambria Math" panose="02040503050406030204" pitchFamily="18" charset="0"/>
                    <a:cs typeface="Times New Roman" panose="02020603050405020304" pitchFamily="18" charset="0"/>
                  </a:rPr>
                  <a:t>|𝑀_𝑖 |</a:t>
                </a:r>
                <a:r>
                  <a:rPr lang="zh-CN" altLang="en-US" sz="1200" dirty="0">
                    <a:latin typeface="Times New Roman" panose="02020603050405020304" pitchFamily="18" charset="0"/>
                    <a:cs typeface="Times New Roman" panose="02020603050405020304" pitchFamily="18" charset="0"/>
                  </a:rPr>
                  <a:t>为块大小</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10</a:t>
            </a:fld>
            <a:endParaRPr lang="zh-CN" altLang="en-US"/>
          </a:p>
        </p:txBody>
      </p:sp>
    </p:spTree>
    <p:extLst>
      <p:ext uri="{BB962C8B-B14F-4D97-AF65-F5344CB8AC3E}">
        <p14:creationId xmlns:p14="http://schemas.microsoft.com/office/powerpoint/2010/main" val="155838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被指定为互联网标准</a:t>
            </a:r>
            <a:r>
              <a:rPr lang="en-US" altLang="zh-CN" sz="1200" dirty="0">
                <a:latin typeface="Times New Roman" panose="02020603050405020304" pitchFamily="18" charset="0"/>
                <a:cs typeface="Times New Roman" panose="02020603050405020304" pitchFamily="18" charset="0"/>
              </a:rPr>
              <a:t>RFC2104</a:t>
            </a:r>
            <a:r>
              <a:rPr lang="zh-CN" altLang="en-US" sz="1200" dirty="0">
                <a:latin typeface="Times New Roman" panose="02020603050405020304" pitchFamily="18" charset="0"/>
                <a:cs typeface="Times New Roman" panose="02020603050405020304" pitchFamily="18" charset="0"/>
              </a:rPr>
              <a:t>，并在</a:t>
            </a:r>
            <a:r>
              <a:rPr lang="en-US" altLang="zh-CN" sz="1200" dirty="0" err="1">
                <a:latin typeface="Times New Roman" panose="02020603050405020304" pitchFamily="18" charset="0"/>
                <a:cs typeface="Times New Roman" panose="02020603050405020304" pitchFamily="18" charset="0"/>
              </a:rPr>
              <a:t>IPSec</a:t>
            </a:r>
            <a:r>
              <a:rPr lang="zh-CN" altLang="en-US" sz="1200" dirty="0">
                <a:latin typeface="Times New Roman" panose="02020603050405020304" pitchFamily="18" charset="0"/>
                <a:cs typeface="Times New Roman" panose="02020603050405020304" pitchFamily="18" charset="0"/>
              </a:rPr>
              <a:t>和其他网络协议（如</a:t>
            </a:r>
            <a:r>
              <a:rPr lang="en-US" altLang="zh-CN" sz="1200" dirty="0">
                <a:latin typeface="Times New Roman" panose="02020603050405020304" pitchFamily="18" charset="0"/>
                <a:cs typeface="Times New Roman" panose="02020603050405020304" pitchFamily="18" charset="0"/>
              </a:rPr>
              <a:t>SSL</a:t>
            </a:r>
            <a:r>
              <a:rPr lang="zh-CN" altLang="en-US" sz="1200" dirty="0">
                <a:latin typeface="Times New Roman" panose="02020603050405020304" pitchFamily="18" charset="0"/>
                <a:cs typeface="Times New Roman" panose="02020603050405020304" pitchFamily="18" charset="0"/>
              </a:rPr>
              <a:t>）中得到应用</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11</a:t>
            </a:fld>
            <a:endParaRPr lang="zh-CN" altLang="en-US"/>
          </a:p>
        </p:txBody>
      </p:sp>
    </p:spTree>
    <p:extLst>
      <p:ext uri="{BB962C8B-B14F-4D97-AF65-F5344CB8AC3E}">
        <p14:creationId xmlns:p14="http://schemas.microsoft.com/office/powerpoint/2010/main" val="1460432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solidFill>
                  <a:srgbClr val="555555"/>
                </a:solidFill>
                <a:effectLst/>
                <a:latin typeface="PingFangSC" panose="020B0400000000000000" pitchFamily="34" charset="-122"/>
                <a:ea typeface="PingFangSC" panose="020B0400000000000000" pitchFamily="34" charset="-122"/>
              </a:rPr>
              <a:t>HMAC</a:t>
            </a:r>
            <a:r>
              <a:rPr lang="zh-CN" altLang="en-US" b="0" i="0" dirty="0">
                <a:solidFill>
                  <a:srgbClr val="555555"/>
                </a:solidFill>
                <a:effectLst/>
                <a:latin typeface="PingFangSC" panose="020B0400000000000000" pitchFamily="34" charset="-122"/>
                <a:ea typeface="PingFangSC" panose="020B0400000000000000" pitchFamily="34" charset="-122"/>
              </a:rPr>
              <a:t>算法使用了一个哈希函数和一个密钥，通过迭代运算和异或操作，将密钥和待认证的消息混合在一起，产生一个认证码。</a:t>
            </a:r>
            <a:endParaRPr lang="en-US" altLang="zh-CN" b="0" i="0" dirty="0">
              <a:solidFill>
                <a:srgbClr val="555555"/>
              </a:solidFill>
              <a:effectLst/>
              <a:latin typeface="PingFangSC" panose="020B0400000000000000" pitchFamily="34" charset="-122"/>
              <a:ea typeface="PingFangSC" panose="020B0400000000000000" pitchFamily="34" charset="-122"/>
            </a:endParaRPr>
          </a:p>
          <a:p>
            <a:endParaRPr lang="en-US" altLang="zh-CN" b="0" i="0" dirty="0">
              <a:solidFill>
                <a:srgbClr val="555555"/>
              </a:solidFill>
              <a:effectLst/>
              <a:latin typeface="PingFangSC" panose="020B0400000000000000" pitchFamily="34" charset="-122"/>
              <a:ea typeface="PingFangSC" panose="020B0400000000000000" pitchFamily="34" charset="-122"/>
            </a:endParaRPr>
          </a:p>
          <a:p>
            <a:r>
              <a:rPr lang="zh-CN" altLang="en-US" b="0" i="0" dirty="0">
                <a:solidFill>
                  <a:srgbClr val="555555"/>
                </a:solidFill>
                <a:effectLst/>
                <a:latin typeface="PingFangSC" panose="020B0400000000000000" pitchFamily="34" charset="-122"/>
                <a:ea typeface="PingFangSC" panose="020B0400000000000000" pitchFamily="34" charset="-122"/>
              </a:rPr>
              <a:t>而</a:t>
            </a:r>
            <a:r>
              <a:rPr lang="en" altLang="zh-CN" b="0" i="0" dirty="0">
                <a:solidFill>
                  <a:srgbClr val="555555"/>
                </a:solidFill>
                <a:effectLst/>
                <a:latin typeface="PingFangSC" panose="020B0400000000000000" pitchFamily="34" charset="-122"/>
                <a:ea typeface="PingFangSC" panose="020B0400000000000000" pitchFamily="34" charset="-122"/>
              </a:rPr>
              <a:t>MAC</a:t>
            </a:r>
            <a:r>
              <a:rPr lang="zh-CN" altLang="en-US" b="0" i="0" dirty="0">
                <a:solidFill>
                  <a:srgbClr val="555555"/>
                </a:solidFill>
                <a:effectLst/>
                <a:latin typeface="PingFangSC" panose="020B0400000000000000" pitchFamily="34" charset="-122"/>
                <a:ea typeface="PingFangSC" panose="020B0400000000000000" pitchFamily="34" charset="-122"/>
              </a:rPr>
              <a:t>算法将消息和密钥输入到哈希函数中，然后再作一些相关操作来生成认证码。</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12</a:t>
            </a:fld>
            <a:endParaRPr lang="zh-CN" altLang="en-US"/>
          </a:p>
        </p:txBody>
      </p:sp>
    </p:spTree>
    <p:extLst>
      <p:ext uri="{BB962C8B-B14F-4D97-AF65-F5344CB8AC3E}">
        <p14:creationId xmlns:p14="http://schemas.microsoft.com/office/powerpoint/2010/main" val="3398118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50" dirty="0">
                    <a:solidFill>
                      <a:srgbClr val="0000FF"/>
                    </a:solidFill>
                    <a:latin typeface="Times New Roman" panose="02020603050405020304" pitchFamily="18" charset="0"/>
                    <a:cs typeface="Times New Roman" panose="02020603050405020304" pitchFamily="18" charset="0"/>
                  </a:rPr>
                  <a:t>Data Authentication Algorithm</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050" dirty="0">
                    <a:latin typeface="Times New Roman" panose="02020603050405020304" pitchFamily="18" charset="0"/>
                    <a:cs typeface="Times New Roman" panose="02020603050405020304" pitchFamily="18" charset="0"/>
                  </a:rPr>
                  <a:t>对消息 𝑥 进行填充</a:t>
                </a:r>
                <a:r>
                  <a:rPr lang="zh-CN" altLang="en-US" sz="1050" baseline="0" dirty="0">
                    <a:latin typeface="Times New Roman" panose="02020603050405020304" pitchFamily="18" charset="0"/>
                    <a:cs typeface="Times New Roman" panose="02020603050405020304" pitchFamily="18" charset="0"/>
                  </a:rPr>
                  <a:t> </a:t>
                </a:r>
                <a:r>
                  <a:rPr lang="zh-CN" altLang="en-US" sz="1050" dirty="0">
                    <a:latin typeface="Times New Roman" panose="02020603050405020304" pitchFamily="18" charset="0"/>
                    <a:cs typeface="Times New Roman" panose="02020603050405020304" pitchFamily="18" charset="0"/>
                  </a:rPr>
                  <a:t>使用 𝐼𝑉</a:t>
                </a:r>
                <a:r>
                  <a:rPr lang="en-US" altLang="zh-CN" sz="1050" dirty="0">
                    <a:latin typeface="Times New Roman" panose="02020603050405020304" pitchFamily="18" charset="0"/>
                    <a:cs typeface="Times New Roman" panose="02020603050405020304" pitchFamily="18" charset="0"/>
                  </a:rPr>
                  <a:t>=0</a:t>
                </a:r>
                <a:r>
                  <a:rPr lang="zh-CN" altLang="en-US" sz="1050" dirty="0">
                    <a:latin typeface="Times New Roman" panose="02020603050405020304" pitchFamily="18" charset="0"/>
                    <a:cs typeface="Times New Roman" panose="02020603050405020304" pitchFamily="18" charset="0"/>
                  </a:rPr>
                  <a:t>，如果需要的话最后一块用</a:t>
                </a:r>
                <a:r>
                  <a:rPr lang="en-US" altLang="zh-CN" sz="1050" dirty="0">
                    <a:latin typeface="Times New Roman" panose="02020603050405020304" pitchFamily="18" charset="0"/>
                    <a:cs typeface="Times New Roman" panose="02020603050405020304" pitchFamily="18" charset="0"/>
                  </a:rPr>
                  <a:t>0</a:t>
                </a:r>
                <a:r>
                  <a:rPr lang="zh-CN" altLang="en-US" sz="1050" dirty="0">
                    <a:latin typeface="Times New Roman" panose="02020603050405020304" pitchFamily="18" charset="0"/>
                    <a:cs typeface="Times New Roman" panose="02020603050405020304" pitchFamily="18" charset="0"/>
                  </a:rPr>
                  <a:t>填充</a:t>
                </a:r>
                <a:endParaRPr lang="en-US" altLang="zh-CN" sz="1050" dirty="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只能处理一个固定长度为𝑚𝑛比特的信息，其中 𝑛 是块大小，𝑚 是一个固定的正整数。可以用</a:t>
                </a:r>
                <a:r>
                  <a:rPr lang="en-US" altLang="zh-CN" dirty="0"/>
                  <a:t>2</a:t>
                </a:r>
                <a:r>
                  <a:rPr lang="zh-CN" altLang="en-US" dirty="0"/>
                  <a:t>个密钥和填充来克服，使用从单一密钥衍生的多个密钥</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改进为已被</a:t>
                </a:r>
                <a:r>
                  <a:rPr lang="en-US" altLang="zh-CN" dirty="0"/>
                  <a:t>NIST</a:t>
                </a:r>
                <a:r>
                  <a:rPr lang="zh-CN" altLang="en-US" dirty="0"/>
                  <a:t>采纳的基于密码的消息验证码（</a:t>
                </a:r>
                <a:r>
                  <a:rPr lang="en-US" altLang="zh-CN" dirty="0"/>
                  <a:t>cipher-based message authentication code</a:t>
                </a:r>
                <a:r>
                  <a:rPr lang="zh-CN" altLang="en-US" dirty="0"/>
                  <a:t>，</a:t>
                </a:r>
                <a:r>
                  <a:rPr lang="en-US" altLang="zh-CN" dirty="0"/>
                  <a:t>CMAC</a:t>
                </a:r>
                <a:r>
                  <a:rPr lang="zh-CN" altLang="en-US" dirty="0"/>
                  <a:t>）的操作模式，用于</a:t>
                </a:r>
                <a:r>
                  <a:rPr lang="en-US" altLang="zh-CN" dirty="0"/>
                  <a:t>AES</a:t>
                </a:r>
                <a:r>
                  <a:rPr lang="zh-CN" altLang="en-US" dirty="0"/>
                  <a:t>和三重</a:t>
                </a:r>
                <a:r>
                  <a:rPr lang="en-US" altLang="zh-CN" dirty="0"/>
                  <a:t>DES</a:t>
                </a:r>
                <a:r>
                  <a:rPr lang="zh-CN" altLang="en-US" dirty="0"/>
                  <a:t>。它在</a:t>
                </a:r>
                <a:r>
                  <a:rPr lang="en-US" altLang="zh-CN" dirty="0"/>
                  <a:t>NIST</a:t>
                </a:r>
                <a:r>
                  <a:rPr lang="zh-CN" altLang="en-US" dirty="0"/>
                  <a:t>特别出版物</a:t>
                </a:r>
                <a:r>
                  <a:rPr lang="en-US" altLang="zh-CN" dirty="0"/>
                  <a:t>800-38B</a:t>
                </a:r>
                <a:r>
                  <a:rPr lang="zh-CN" altLang="en-US" dirty="0"/>
                  <a:t>中规定。</a:t>
                </a:r>
              </a:p>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使用</a:t>
                </a:r>
                <a:r>
                  <a:rPr lang="en-US" altLang="zh-CN" sz="1200" i="0" dirty="0">
                    <a:latin typeface="Cambria Math" panose="02040503050406030204" pitchFamily="18" charset="0"/>
                    <a:cs typeface="Times New Roman" panose="02020603050405020304" pitchFamily="18" charset="0"/>
                  </a:rPr>
                  <a:t>𝐼𝑉=0</a:t>
                </a:r>
                <a:r>
                  <a:rPr lang="zh-CN" altLang="en-US" sz="1200" dirty="0">
                    <a:latin typeface="Times New Roman" panose="02020603050405020304" pitchFamily="18" charset="0"/>
                    <a:cs typeface="Times New Roman" panose="02020603050405020304" pitchFamily="18" charset="0"/>
                  </a:rPr>
                  <a:t>，如果需要的话最后一块用</a:t>
                </a:r>
                <a:r>
                  <a:rPr lang="en-US" altLang="zh-CN" sz="1200" dirty="0">
                    <a:latin typeface="Times New Roman" panose="02020603050405020304" pitchFamily="18" charset="0"/>
                    <a:cs typeface="Times New Roman" panose="02020603050405020304" pitchFamily="18" charset="0"/>
                  </a:rPr>
                  <a:t>0</a:t>
                </a:r>
                <a:r>
                  <a:rPr lang="zh-CN" altLang="en-US" sz="1200" dirty="0">
                    <a:latin typeface="Times New Roman" panose="02020603050405020304" pitchFamily="18" charset="0"/>
                    <a:cs typeface="Times New Roman" panose="02020603050405020304" pitchFamily="18" charset="0"/>
                  </a:rPr>
                  <a:t>填充</a:t>
                </a: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13</a:t>
            </a:fld>
            <a:endParaRPr lang="zh-CN" altLang="en-US"/>
          </a:p>
        </p:txBody>
      </p:sp>
    </p:spTree>
    <p:extLst>
      <p:ext uri="{BB962C8B-B14F-4D97-AF65-F5344CB8AC3E}">
        <p14:creationId xmlns:p14="http://schemas.microsoft.com/office/powerpoint/2010/main" val="3441811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对于</a:t>
                </a:r>
                <a:r>
                  <a:rPr lang="en-US" altLang="zh-CN" dirty="0"/>
                  <a:t>AES</a:t>
                </a:r>
                <a:r>
                  <a:rPr lang="zh-CN" altLang="en-US" dirty="0"/>
                  <a:t>，密钥大小</a:t>
                </a:r>
                <a:r>
                  <a:rPr lang="en-US" altLang="zh-CN" dirty="0"/>
                  <a:t>K</a:t>
                </a:r>
                <a:r>
                  <a:rPr lang="zh-CN" altLang="en-US" dirty="0"/>
                  <a:t>是</a:t>
                </a:r>
                <a:r>
                  <a:rPr lang="en-US" altLang="zh-CN" dirty="0"/>
                  <a:t>128,192</a:t>
                </a:r>
                <a:r>
                  <a:rPr lang="zh-CN" altLang="en-US" dirty="0"/>
                  <a:t>或</a:t>
                </a:r>
                <a:r>
                  <a:rPr lang="en-US" altLang="zh-CN" dirty="0"/>
                  <a:t>256</a:t>
                </a:r>
                <a:r>
                  <a:rPr lang="zh-CN" altLang="en-US" dirty="0"/>
                  <a:t>位；对于三层</a:t>
                </a:r>
                <a:r>
                  <a:rPr lang="en-US" altLang="zh-CN" dirty="0"/>
                  <a:t>DES</a:t>
                </a:r>
                <a:r>
                  <a:rPr lang="zh-CN" altLang="en-US" dirty="0"/>
                  <a:t>，密钥大小是</a:t>
                </a:r>
                <a:r>
                  <a:rPr lang="en-US" altLang="zh-CN" dirty="0"/>
                  <a:t>112</a:t>
                </a:r>
                <a:r>
                  <a:rPr lang="zh-CN" altLang="en-US" dirty="0"/>
                  <a:t>或</a:t>
                </a:r>
                <a:r>
                  <a:rPr lang="en-US" altLang="zh-CN" dirty="0"/>
                  <a:t>168</a:t>
                </a:r>
                <a:r>
                  <a:rPr lang="zh-CN" altLang="en-US" dirty="0"/>
                  <a:t>位。</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这两个常数</a:t>
                </a:r>
                <a:r>
                  <a:rPr lang="en-US" altLang="zh-CN" dirty="0"/>
                  <a:t>K1 &amp; K2</a:t>
                </a:r>
                <a:r>
                  <a:rPr lang="zh-CN" altLang="en-US" dirty="0"/>
                  <a:t>是从原始密钥</a:t>
                </a:r>
                <a:r>
                  <a:rPr lang="en-US" altLang="zh-CN" dirty="0"/>
                  <a:t>K</a:t>
                </a:r>
                <a:r>
                  <a:rPr lang="zh-CN" altLang="en-US" dirty="0"/>
                  <a:t>中使用</a:t>
                </a:r>
                <a:r>
                  <a:rPr lang="en-US" altLang="zh-CN" dirty="0"/>
                  <a:t>0</a:t>
                </a:r>
                <a:r>
                  <a:rPr lang="zh-CN" altLang="en-US" dirty="0"/>
                  <a:t>的加密和</a:t>
                </a:r>
                <a:r>
                  <a:rPr lang="en-US" altLang="zh-CN" dirty="0"/>
                  <a:t>GF(2^n)</a:t>
                </a:r>
                <a:r>
                  <a:rPr lang="zh-CN" altLang="en-US" dirty="0"/>
                  <a:t>的乘法得出的</a:t>
                </a:r>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使用</a:t>
                </a:r>
                <a:r>
                  <a:rPr lang="en-US" altLang="zh-CN" sz="1200" i="0" dirty="0">
                    <a:latin typeface="Cambria Math" panose="02040503050406030204" pitchFamily="18" charset="0"/>
                    <a:cs typeface="Times New Roman" panose="02020603050405020304" pitchFamily="18" charset="0"/>
                  </a:rPr>
                  <a:t>𝐼𝑉=0</a:t>
                </a:r>
                <a:r>
                  <a:rPr lang="zh-CN" altLang="en-US" sz="1200" dirty="0">
                    <a:latin typeface="Times New Roman" panose="02020603050405020304" pitchFamily="18" charset="0"/>
                    <a:cs typeface="Times New Roman" panose="02020603050405020304" pitchFamily="18" charset="0"/>
                  </a:rPr>
                  <a:t>，如果需要的话最后一块用</a:t>
                </a:r>
                <a:r>
                  <a:rPr lang="en-US" altLang="zh-CN" sz="1200" dirty="0">
                    <a:latin typeface="Times New Roman" panose="02020603050405020304" pitchFamily="18" charset="0"/>
                    <a:cs typeface="Times New Roman" panose="02020603050405020304" pitchFamily="18" charset="0"/>
                  </a:rPr>
                  <a:t>0</a:t>
                </a:r>
                <a:r>
                  <a:rPr lang="zh-CN" altLang="en-US" sz="1200" dirty="0">
                    <a:latin typeface="Times New Roman" panose="02020603050405020304" pitchFamily="18" charset="0"/>
                    <a:cs typeface="Times New Roman" panose="02020603050405020304" pitchFamily="18" charset="0"/>
                  </a:rPr>
                  <a:t>填充</a:t>
                </a:r>
              </a:p>
              <a:p>
                <a:endParaRPr lang="zh-CN" altLang="en-US" dirty="0"/>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solidFill>
                  <a:prstClr val="black"/>
                </a:solidFill>
                <a:latin typeface="Calibri"/>
                <a:ea typeface="宋体"/>
              </a:rPr>
              <a:pPr/>
              <a:t>14</a:t>
            </a:fld>
            <a:endParaRPr lang="zh-CN" altLang="en-US">
              <a:solidFill>
                <a:prstClr val="black"/>
              </a:solidFill>
              <a:latin typeface="Calibri"/>
              <a:ea typeface="宋体"/>
            </a:endParaRPr>
          </a:p>
        </p:txBody>
      </p:sp>
    </p:spTree>
    <p:extLst>
      <p:ext uri="{BB962C8B-B14F-4D97-AF65-F5344CB8AC3E}">
        <p14:creationId xmlns:p14="http://schemas.microsoft.com/office/powerpoint/2010/main" val="3441811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该算法使用一个</a:t>
            </a:r>
            <a:r>
              <a:rPr lang="en-US" altLang="zh-CN" dirty="0"/>
              <a:t>k</a:t>
            </a:r>
            <a:r>
              <a:rPr lang="zh-CN" altLang="en-US" dirty="0"/>
              <a:t>位加密密钥</a:t>
            </a:r>
            <a:r>
              <a:rPr lang="en-US" altLang="zh-CN" dirty="0"/>
              <a:t>K</a:t>
            </a:r>
            <a:r>
              <a:rPr lang="zh-CN" altLang="en-US" dirty="0"/>
              <a:t>和一个</a:t>
            </a:r>
            <a:r>
              <a:rPr lang="en-US" altLang="zh-CN" dirty="0"/>
              <a:t>n</a:t>
            </a:r>
            <a:r>
              <a:rPr lang="zh-CN" altLang="en-US" dirty="0"/>
              <a:t>位常数</a:t>
            </a:r>
            <a:r>
              <a:rPr lang="en-US" altLang="zh-CN" dirty="0"/>
              <a:t>K1</a:t>
            </a:r>
            <a:r>
              <a:rPr lang="zh-CN" altLang="en-US" dirty="0"/>
              <a:t>或</a:t>
            </a:r>
            <a:r>
              <a:rPr lang="en-US" altLang="zh-CN" dirty="0"/>
              <a:t>K2</a:t>
            </a:r>
            <a:r>
              <a:rPr lang="zh-CN" altLang="en-US" dirty="0"/>
              <a:t>（取决于信息是否被填充）。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对于</a:t>
            </a:r>
            <a:r>
              <a:rPr lang="en-US" altLang="zh-CN" dirty="0"/>
              <a:t>AES</a:t>
            </a:r>
            <a:r>
              <a:rPr lang="zh-CN" altLang="en-US" dirty="0"/>
              <a:t>，密钥大小</a:t>
            </a:r>
            <a:r>
              <a:rPr lang="en-US" altLang="zh-CN" dirty="0"/>
              <a:t>K</a:t>
            </a:r>
            <a:r>
              <a:rPr lang="zh-CN" altLang="en-US" dirty="0"/>
              <a:t>是</a:t>
            </a:r>
            <a:r>
              <a:rPr lang="en-US" altLang="zh-CN" dirty="0"/>
              <a:t>128,192</a:t>
            </a:r>
            <a:r>
              <a:rPr lang="zh-CN" altLang="en-US" dirty="0"/>
              <a:t>或</a:t>
            </a:r>
            <a:r>
              <a:rPr lang="en-US" altLang="zh-CN" dirty="0"/>
              <a:t>256</a:t>
            </a:r>
            <a:r>
              <a:rPr lang="zh-CN" altLang="en-US" dirty="0"/>
              <a:t>位；对于三层</a:t>
            </a:r>
            <a:r>
              <a:rPr lang="en-US" altLang="zh-CN" dirty="0"/>
              <a:t>DES</a:t>
            </a:r>
            <a:r>
              <a:rPr lang="zh-CN" altLang="en-US" dirty="0"/>
              <a:t>，密钥大小是</a:t>
            </a:r>
            <a:r>
              <a:rPr lang="en-US" altLang="zh-CN" dirty="0"/>
              <a:t>112</a:t>
            </a:r>
            <a:r>
              <a:rPr lang="zh-CN" altLang="en-US" dirty="0"/>
              <a:t>或</a:t>
            </a:r>
            <a:r>
              <a:rPr lang="en-US" altLang="zh-CN" dirty="0"/>
              <a:t>168</a:t>
            </a:r>
            <a:r>
              <a:rPr lang="zh-CN" altLang="en-US" dirty="0"/>
              <a:t>位。</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这两个常数</a:t>
            </a:r>
            <a:r>
              <a:rPr lang="en-US" altLang="zh-CN" dirty="0"/>
              <a:t>K1 &amp; K2</a:t>
            </a:r>
            <a:r>
              <a:rPr lang="zh-CN" altLang="en-US" dirty="0"/>
              <a:t>是从原始密钥</a:t>
            </a:r>
            <a:r>
              <a:rPr lang="en-US" altLang="zh-CN" dirty="0"/>
              <a:t>K</a:t>
            </a:r>
            <a:r>
              <a:rPr lang="zh-CN" altLang="en-US" dirty="0"/>
              <a:t>中使用</a:t>
            </a:r>
            <a:r>
              <a:rPr lang="en-US" altLang="zh-CN" dirty="0"/>
              <a:t>0</a:t>
            </a:r>
            <a:r>
              <a:rPr lang="zh-CN" altLang="en-US" dirty="0"/>
              <a:t>的加密和</a:t>
            </a:r>
            <a:r>
              <a:rPr lang="en-US" altLang="zh-CN" dirty="0"/>
              <a:t>GF(2^n)</a:t>
            </a:r>
            <a:r>
              <a:rPr lang="zh-CN" altLang="en-US" dirty="0"/>
              <a:t>的乘法得出的</a:t>
            </a:r>
          </a:p>
        </p:txBody>
      </p:sp>
      <p:sp>
        <p:nvSpPr>
          <p:cNvPr id="4" name="灯片编号占位符 3"/>
          <p:cNvSpPr>
            <a:spLocks noGrp="1"/>
          </p:cNvSpPr>
          <p:nvPr>
            <p:ph type="sldNum" sz="quarter" idx="5"/>
          </p:nvPr>
        </p:nvSpPr>
        <p:spPr/>
        <p:txBody>
          <a:bodyPr/>
          <a:lstStyle/>
          <a:p>
            <a:fld id="{184D3990-B510-4435-90A5-6D9F2619C2A6}" type="slidenum">
              <a:rPr lang="zh-CN" altLang="en-US" smtClean="0">
                <a:solidFill>
                  <a:prstClr val="black"/>
                </a:solidFill>
                <a:latin typeface="Calibri"/>
                <a:ea typeface="宋体"/>
              </a:rPr>
              <a:pPr/>
              <a:t>15</a:t>
            </a:fld>
            <a:endParaRPr lang="zh-CN" altLang="en-US">
              <a:solidFill>
                <a:prstClr val="black"/>
              </a:solidFill>
              <a:latin typeface="Calibri"/>
              <a:ea typeface="宋体"/>
            </a:endParaRPr>
          </a:p>
        </p:txBody>
      </p:sp>
    </p:spTree>
    <p:extLst>
      <p:ext uri="{BB962C8B-B14F-4D97-AF65-F5344CB8AC3E}">
        <p14:creationId xmlns:p14="http://schemas.microsoft.com/office/powerpoint/2010/main" val="718674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lnSpc>
                    <a:spcPct val="120000"/>
                  </a:lnSpc>
                  <a:spcBef>
                    <a:spcPts val="600"/>
                  </a:spcBef>
                  <a:buFont typeface="+mj-lt"/>
                  <a:buNone/>
                </a:pPr>
                <a:endParaRPr lang="en-US" altLang="zh-CN" sz="1200" b="0" dirty="0">
                  <a:latin typeface="Times New Roman" panose="02020603050405020304" pitchFamily="18" charset="0"/>
                  <a:cs typeface="Times New Roman" panose="02020603050405020304" pitchFamily="18" charset="0"/>
                </a:endParaRPr>
              </a:p>
            </p:txBody>
          </p:sp>
        </mc:Choice>
        <mc:Fallback xmlns="">
          <p:sp>
            <p:nvSpPr>
              <p:cNvPr id="3" name="备注占位符 2"/>
              <p:cNvSpPr>
                <a:spLocks noGrp="1"/>
              </p:cNvSpPr>
              <p:nvPr>
                <p:ph type="body" idx="1"/>
              </p:nvPr>
            </p:nvSpPr>
            <p:spPr/>
            <p:txBody>
              <a:bodyPr/>
              <a:lstStyle/>
              <a:p>
                <a:pPr marL="457200" indent="-457200">
                  <a:lnSpc>
                    <a:spcPct val="120000"/>
                  </a:lnSpc>
                  <a:spcBef>
                    <a:spcPts val="600"/>
                  </a:spcBef>
                  <a:buFont typeface="+mj-lt"/>
                  <a:buAutoNum type="arabicPeriod"/>
                </a:pPr>
                <a:r>
                  <a:rPr lang="zh-CN" altLang="en-US" sz="1200" dirty="0">
                    <a:latin typeface="Times New Roman" panose="02020603050405020304" pitchFamily="18" charset="0"/>
                    <a:cs typeface="Times New Roman" panose="02020603050405020304" pitchFamily="18" charset="0"/>
                  </a:rPr>
                  <a:t>发送方</a:t>
                </a: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和接收方</a:t>
                </a:r>
                <a:r>
                  <a:rPr lang="en-US" altLang="zh-CN" sz="1200" dirty="0">
                    <a:latin typeface="Times New Roman" panose="02020603050405020304" pitchFamily="18" charset="0"/>
                    <a:cs typeface="Times New Roman" panose="02020603050405020304" pitchFamily="18" charset="0"/>
                  </a:rPr>
                  <a:t>B</a:t>
                </a:r>
                <a:r>
                  <a:rPr lang="zh-CN" altLang="en-US" sz="1200" dirty="0">
                    <a:latin typeface="Times New Roman" panose="02020603050405020304" pitchFamily="18" charset="0"/>
                    <a:cs typeface="Times New Roman" panose="02020603050405020304" pitchFamily="18" charset="0"/>
                  </a:rPr>
                  <a:t>各自持有公私钥对</a:t>
                </a:r>
                <a:r>
                  <a:rPr lang="en-US" altLang="zh-CN" sz="1200" i="0" dirty="0">
                    <a:latin typeface="Cambria Math" panose="02040503050406030204" pitchFamily="18" charset="0"/>
                  </a:rPr>
                  <a:t>(</a:t>
                </a:r>
                <a:r>
                  <a:rPr lang="en-US" altLang="zh-CN" sz="1200" b="0" i="0">
                    <a:latin typeface="Cambria Math" panose="02040503050406030204" pitchFamily="18" charset="0"/>
                  </a:rPr>
                  <a:t>〖</a:t>
                </a:r>
                <a:r>
                  <a:rPr lang="en-US" altLang="zh-CN" sz="1200" i="0">
                    <a:latin typeface="Cambria Math" panose="02040503050406030204" pitchFamily="18" charset="0"/>
                  </a:rPr>
                  <a:t>𝑃</a:t>
                </a:r>
                <a:r>
                  <a:rPr lang="en-US" altLang="zh-CN" sz="1200" b="0" i="0">
                    <a:latin typeface="Cambria Math" panose="02040503050406030204" pitchFamily="18" charset="0"/>
                  </a:rPr>
                  <a:t>𝑈〗_𝐴,</a:t>
                </a:r>
                <a:r>
                  <a:rPr lang="en-US" altLang="zh-CN" sz="1200" i="0">
                    <a:latin typeface="Cambria Math" panose="02040503050406030204" pitchFamily="18" charset="0"/>
                  </a:rPr>
                  <a:t>〖𝑃𝑅〗_𝐴</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和</a:t>
                </a:r>
                <a:r>
                  <a:rPr lang="en-US" altLang="zh-CN" sz="1200" i="0" dirty="0">
                    <a:latin typeface="Cambria Math" panose="02040503050406030204" pitchFamily="18" charset="0"/>
                  </a:rPr>
                  <a:t>(</a:t>
                </a:r>
                <a:r>
                  <a:rPr lang="en-US" altLang="zh-CN" sz="1200" i="0">
                    <a:latin typeface="Cambria Math" panose="02040503050406030204" pitchFamily="18" charset="0"/>
                  </a:rPr>
                  <a:t>〖𝑃𝑈〗_</a:t>
                </a:r>
                <a:r>
                  <a:rPr lang="en-US" altLang="zh-CN" sz="1200" b="0" i="0">
                    <a:latin typeface="Cambria Math" panose="02040503050406030204" pitchFamily="18" charset="0"/>
                  </a:rPr>
                  <a:t>𝐵</a:t>
                </a:r>
                <a:r>
                  <a:rPr lang="en-US" altLang="zh-CN" sz="1200" i="0">
                    <a:latin typeface="Cambria Math" panose="02040503050406030204" pitchFamily="18" charset="0"/>
                  </a:rPr>
                  <a:t>,〖𝑃𝑅〗_</a:t>
                </a:r>
                <a:r>
                  <a:rPr lang="en-US" altLang="zh-CN" sz="1200" b="0" i="0">
                    <a:latin typeface="Cambria Math" panose="02040503050406030204" pitchFamily="18" charset="0"/>
                  </a:rPr>
                  <a:t>𝐵</a:t>
                </a:r>
                <a:r>
                  <a:rPr lang="en-US" altLang="zh-CN" sz="1200" dirty="0">
                    <a:latin typeface="Times New Roman" panose="02020603050405020304" pitchFamily="18" charset="0"/>
                    <a:cs typeface="Times New Roman" panose="02020603050405020304" pitchFamily="18" charset="0"/>
                  </a:rPr>
                  <a:t>)</a:t>
                </a:r>
              </a:p>
              <a:p>
                <a:pPr marL="457200" indent="-457200">
                  <a:lnSpc>
                    <a:spcPct val="120000"/>
                  </a:lnSpc>
                  <a:spcBef>
                    <a:spcPts val="600"/>
                  </a:spcBef>
                  <a:buFont typeface="+mj-lt"/>
                  <a:buAutoNum type="arabicPeriod"/>
                </a:pP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用自己的私钥</a:t>
                </a:r>
                <a:r>
                  <a:rPr lang="en-US" altLang="zh-CN" sz="1200" i="0">
                    <a:latin typeface="Cambria Math" panose="02040503050406030204" pitchFamily="18" charset="0"/>
                  </a:rPr>
                  <a:t>〖𝑃𝑅〗_𝐴</a:t>
                </a:r>
                <a:r>
                  <a:rPr lang="zh-CN" altLang="en-US" sz="1200" dirty="0">
                    <a:latin typeface="Times New Roman" panose="02020603050405020304" pitchFamily="18" charset="0"/>
                    <a:cs typeface="Times New Roman" panose="02020603050405020304" pitchFamily="18" charset="0"/>
                  </a:rPr>
                  <a:t>对消息</a:t>
                </a:r>
                <a:r>
                  <a:rPr lang="en-US" altLang="zh-CN" sz="1200" b="0" i="0">
                    <a:latin typeface="Cambria Math" panose="02040503050406030204" pitchFamily="18" charset="0"/>
                    <a:cs typeface="Times New Roman" panose="02020603050405020304" pitchFamily="18" charset="0"/>
                  </a:rPr>
                  <a:t>𝑀</a:t>
                </a:r>
                <a:r>
                  <a:rPr lang="zh-CN" altLang="en-US" sz="1200" dirty="0">
                    <a:latin typeface="Times New Roman" panose="02020603050405020304" pitchFamily="18" charset="0"/>
                    <a:cs typeface="Times New Roman" panose="02020603050405020304" pitchFamily="18" charset="0"/>
                  </a:rPr>
                  <a:t>进行签名，然后用</a:t>
                </a:r>
                <a:r>
                  <a:rPr lang="en-US" altLang="zh-CN" sz="1200" dirty="0">
                    <a:latin typeface="Times New Roman" panose="02020603050405020304" pitchFamily="18" charset="0"/>
                    <a:cs typeface="Times New Roman" panose="02020603050405020304" pitchFamily="18" charset="0"/>
                  </a:rPr>
                  <a:t>B</a:t>
                </a:r>
                <a:r>
                  <a:rPr lang="zh-CN" altLang="en-US" sz="1200" dirty="0">
                    <a:latin typeface="Times New Roman" panose="02020603050405020304" pitchFamily="18" charset="0"/>
                    <a:cs typeface="Times New Roman" panose="02020603050405020304" pitchFamily="18" charset="0"/>
                  </a:rPr>
                  <a:t>的公钥</a:t>
                </a:r>
                <a:r>
                  <a:rPr lang="en-US" altLang="zh-CN" sz="1200" i="0">
                    <a:latin typeface="Cambria Math" panose="02040503050406030204" pitchFamily="18" charset="0"/>
                  </a:rPr>
                  <a:t>〖𝑃𝑈〗_𝐵</a:t>
                </a:r>
                <a:r>
                  <a:rPr lang="zh-CN" altLang="en-US" sz="1200" dirty="0">
                    <a:latin typeface="Times New Roman" panose="02020603050405020304" pitchFamily="18" charset="0"/>
                    <a:cs typeface="Times New Roman" panose="02020603050405020304" pitchFamily="18" charset="0"/>
                  </a:rPr>
                  <a:t>进行加密，将密文</a:t>
                </a:r>
                <a:r>
                  <a:rPr lang="en-US" altLang="zh-CN" sz="1200" b="0" i="0">
                    <a:latin typeface="Cambria Math" panose="02040503050406030204" pitchFamily="18" charset="0"/>
                  </a:rPr>
                  <a:t>𝐶=</a:t>
                </a:r>
                <a:r>
                  <a:rPr lang="en-US" altLang="zh-CN" sz="1200" i="0">
                    <a:latin typeface="Cambria Math" panose="02040503050406030204" pitchFamily="18" charset="0"/>
                  </a:rPr>
                  <a:t>𝐸(〖𝑃𝑈〗_𝐵,𝐸(𝑃𝑅_𝐴,𝑀))</a:t>
                </a:r>
                <a:r>
                  <a:rPr lang="zh-CN" altLang="en-US" sz="1200" dirty="0">
                    <a:latin typeface="Times New Roman" panose="02020603050405020304" pitchFamily="18" charset="0"/>
                    <a:cs typeface="Times New Roman" panose="02020603050405020304" pitchFamily="18" charset="0"/>
                  </a:rPr>
                  <a:t>通过公开信道传送给</a:t>
                </a:r>
                <a:r>
                  <a:rPr lang="en-US" altLang="zh-CN" sz="1200" dirty="0">
                    <a:latin typeface="Times New Roman" panose="02020603050405020304" pitchFamily="18" charset="0"/>
                    <a:cs typeface="Times New Roman" panose="02020603050405020304" pitchFamily="18" charset="0"/>
                  </a:rPr>
                  <a:t>B</a:t>
                </a:r>
              </a:p>
              <a:p>
                <a:pPr marL="457200" indent="-457200">
                  <a:lnSpc>
                    <a:spcPct val="120000"/>
                  </a:lnSpc>
                  <a:spcBef>
                    <a:spcPts val="600"/>
                  </a:spcBef>
                  <a:buFont typeface="+mj-lt"/>
                  <a:buAutoNum type="arabicPeriod"/>
                </a:pPr>
                <a:r>
                  <a:rPr lang="en-US" altLang="zh-CN" sz="1200" b="0" dirty="0">
                    <a:latin typeface="Times New Roman" panose="02020603050405020304" pitchFamily="18" charset="0"/>
                    <a:cs typeface="Times New Roman" panose="02020603050405020304" pitchFamily="18" charset="0"/>
                  </a:rPr>
                  <a:t>B</a:t>
                </a:r>
                <a:r>
                  <a:rPr lang="zh-CN" altLang="en-US" sz="1200" b="0" dirty="0">
                    <a:latin typeface="Times New Roman" panose="02020603050405020304" pitchFamily="18" charset="0"/>
                    <a:cs typeface="Times New Roman" panose="02020603050405020304" pitchFamily="18" charset="0"/>
                  </a:rPr>
                  <a:t>接收到密文消息后</a:t>
                </a:r>
                <a:r>
                  <a:rPr lang="en-US" altLang="zh-CN" sz="1200" b="0" i="0">
                    <a:latin typeface="Cambria Math" panose="02040503050406030204" pitchFamily="18" charset="0"/>
                    <a:cs typeface="Times New Roman" panose="02020603050405020304" pitchFamily="18" charset="0"/>
                  </a:rPr>
                  <a:t>𝐶</a:t>
                </a:r>
                <a:r>
                  <a:rPr lang="zh-CN" altLang="en-US" sz="1200" b="0" dirty="0">
                    <a:latin typeface="Times New Roman" panose="02020603050405020304" pitchFamily="18" charset="0"/>
                    <a:cs typeface="Times New Roman" panose="02020603050405020304" pitchFamily="18" charset="0"/>
                  </a:rPr>
                  <a:t>，先</a:t>
                </a:r>
                <a:r>
                  <a:rPr lang="zh-CN" altLang="en-US" sz="1200" dirty="0">
                    <a:latin typeface="Times New Roman" panose="02020603050405020304" pitchFamily="18" charset="0"/>
                    <a:cs typeface="Times New Roman" panose="02020603050405020304" pitchFamily="18" charset="0"/>
                  </a:rPr>
                  <a:t>用自己的私钥</a:t>
                </a:r>
                <a:r>
                  <a:rPr lang="en-US" altLang="zh-CN" sz="1200" i="0">
                    <a:latin typeface="Cambria Math" panose="02040503050406030204" pitchFamily="18" charset="0"/>
                  </a:rPr>
                  <a:t>〖𝑃𝑅〗_𝐵</a:t>
                </a:r>
                <a:r>
                  <a:rPr lang="zh-CN" altLang="en-US" sz="1200" dirty="0">
                    <a:latin typeface="Times New Roman" panose="02020603050405020304" pitchFamily="18" charset="0"/>
                    <a:cs typeface="Times New Roman" panose="02020603050405020304" pitchFamily="18" charset="0"/>
                  </a:rPr>
                  <a:t>进行解密，然后用</a:t>
                </a:r>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的公钥</a:t>
                </a:r>
                <a:r>
                  <a:rPr lang="en-US" altLang="zh-CN" sz="1200" i="0">
                    <a:latin typeface="Cambria Math" panose="02040503050406030204" pitchFamily="18" charset="0"/>
                  </a:rPr>
                  <a:t>〖𝑃𝑈〗_A</a:t>
                </a:r>
                <a:r>
                  <a:rPr lang="zh-CN" altLang="en-US" sz="1200" dirty="0">
                    <a:latin typeface="Times New Roman" panose="02020603050405020304" pitchFamily="18" charset="0"/>
                    <a:cs typeface="Times New Roman" panose="02020603050405020304" pitchFamily="18" charset="0"/>
                  </a:rPr>
                  <a:t>进行验证</a:t>
                </a:r>
                <a:r>
                  <a:rPr lang="zh-CN" altLang="en-US" sz="1200" b="0" dirty="0">
                    <a:latin typeface="Times New Roman" panose="02020603050405020304" pitchFamily="18" charset="0"/>
                    <a:cs typeface="Times New Roman" panose="02020603050405020304" pitchFamily="18" charset="0"/>
                  </a:rPr>
                  <a:t>，来判断消息是否来自</a:t>
                </a:r>
                <a:r>
                  <a:rPr lang="en-US" altLang="zh-CN" sz="1200" b="0" dirty="0">
                    <a:latin typeface="Times New Roman" panose="02020603050405020304" pitchFamily="18" charset="0"/>
                    <a:cs typeface="Times New Roman" panose="02020603050405020304" pitchFamily="18" charset="0"/>
                  </a:rPr>
                  <a:t>A</a:t>
                </a:r>
                <a:r>
                  <a:rPr lang="zh-CN" altLang="en-US" sz="1200" b="0" dirty="0">
                    <a:latin typeface="Times New Roman" panose="02020603050405020304" pitchFamily="18" charset="0"/>
                    <a:cs typeface="Times New Roman" panose="02020603050405020304" pitchFamily="18" charset="0"/>
                  </a:rPr>
                  <a:t>，以及消息是否完整</a:t>
                </a:r>
                <a:endParaRPr lang="en-US" altLang="zh-CN" sz="1200" b="0" dirty="0">
                  <a:latin typeface="Times New Roman" panose="02020603050405020304" pitchFamily="18" charset="0"/>
                  <a:cs typeface="Times New Roman" panose="02020603050405020304" pitchFamily="18" charset="0"/>
                </a:endParaRPr>
              </a:p>
              <a:p>
                <a:pPr marL="0" indent="0">
                  <a:lnSpc>
                    <a:spcPct val="120000"/>
                  </a:lnSpc>
                  <a:spcBef>
                    <a:spcPts val="600"/>
                  </a:spcBef>
                  <a:buFont typeface="+mj-lt"/>
                  <a:buNone/>
                </a:pPr>
                <a:endParaRPr lang="en-US" altLang="zh-CN" sz="1200" b="0" dirty="0">
                  <a:latin typeface="Times New Roman" panose="02020603050405020304" pitchFamily="18" charset="0"/>
                  <a:cs typeface="Times New Roman" panose="02020603050405020304" pitchFamily="18" charset="0"/>
                </a:endParaRPr>
              </a:p>
              <a:p>
                <a:pPr marL="0" indent="0">
                  <a:lnSpc>
                    <a:spcPct val="120000"/>
                  </a:lnSpc>
                  <a:spcBef>
                    <a:spcPts val="600"/>
                  </a:spcBef>
                  <a:buFont typeface="+mj-lt"/>
                  <a:buNone/>
                </a:pPr>
                <a:r>
                  <a:rPr lang="zh-CN" altLang="en-US" sz="1200" dirty="0">
                    <a:latin typeface="Times New Roman" panose="02020603050405020304" pitchFamily="18" charset="0"/>
                    <a:cs typeface="Times New Roman" panose="02020603050405020304" pitchFamily="18" charset="0"/>
                  </a:rPr>
                  <a:t>公钥算法很复杂，且每次加密时，大小都会扩大。需要在通信中行使四次，先签名</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通过加密</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 再加密，</a:t>
                </a:r>
                <a:r>
                  <a:rPr lang="zh-CN" altLang="en-US" sz="1200" dirty="0">
                    <a:solidFill>
                      <a:srgbClr val="0000FF"/>
                    </a:solidFill>
                    <a:latin typeface="Times New Roman" panose="02020603050405020304" pitchFamily="18" charset="0"/>
                    <a:cs typeface="Times New Roman" panose="02020603050405020304" pitchFamily="18" charset="0"/>
                  </a:rPr>
                  <a:t>大小会增加一倍以上</a:t>
                </a:r>
                <a:endParaRPr lang="en-US" altLang="zh-CN" sz="1200" b="0" dirty="0">
                  <a:latin typeface="Times New Roman" panose="02020603050405020304" pitchFamily="18" charset="0"/>
                  <a:cs typeface="Times New Roman" panose="02020603050405020304" pitchFamily="18" charset="0"/>
                </a:endParaRPr>
              </a:p>
            </p:txBody>
          </p:sp>
        </mc:Fallback>
      </mc:AlternateContent>
      <p:sp>
        <p:nvSpPr>
          <p:cNvPr id="4" name="灯片编号占位符 3"/>
          <p:cNvSpPr>
            <a:spLocks noGrp="1"/>
          </p:cNvSpPr>
          <p:nvPr>
            <p:ph type="sldNum" sz="quarter" idx="5"/>
          </p:nvPr>
        </p:nvSpPr>
        <p:spPr/>
        <p:txBody>
          <a:bodyPr/>
          <a:lstStyle/>
          <a:p>
            <a:fld id="{184D3990-B510-4435-90A5-6D9F2619C2A6}" type="slidenum">
              <a:rPr lang="zh-CN" altLang="en-US" smtClean="0"/>
              <a:t>16</a:t>
            </a:fld>
            <a:endParaRPr lang="zh-CN" altLang="en-US"/>
          </a:p>
        </p:txBody>
      </p:sp>
    </p:spTree>
    <p:extLst>
      <p:ext uri="{BB962C8B-B14F-4D97-AF65-F5344CB8AC3E}">
        <p14:creationId xmlns:p14="http://schemas.microsoft.com/office/powerpoint/2010/main" val="4096057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indent="-457200">
              <a:lnSpc>
                <a:spcPct val="12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为认证交换中使用的每条信息附上一个</a:t>
            </a:r>
            <a:r>
              <a:rPr lang="zh-CN" altLang="en-US" sz="2000" dirty="0">
                <a:solidFill>
                  <a:srgbClr val="0000FF"/>
                </a:solidFill>
                <a:latin typeface="Times New Roman" panose="02020603050405020304" pitchFamily="18" charset="0"/>
                <a:cs typeface="Times New Roman" panose="02020603050405020304" pitchFamily="18" charset="0"/>
              </a:rPr>
              <a:t>序列号</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只有当一个新的信息的序列号在适当的顺序中时才会被接受</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困难：要求每一方跟踪它所处理的每个声明者的最后一个序列号</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Arial" panose="020B0604020202020204" pitchFamily="34" charset="0"/>
              <a:buChar char="•"/>
            </a:pPr>
            <a:r>
              <a:rPr lang="zh-CN" altLang="en-US" sz="2000" dirty="0">
                <a:solidFill>
                  <a:srgbClr val="0000FF"/>
                </a:solidFill>
                <a:latin typeface="Times New Roman" panose="02020603050405020304" pitchFamily="18" charset="0"/>
                <a:cs typeface="Times New Roman" panose="02020603050405020304" pitchFamily="18" charset="0"/>
              </a:rPr>
              <a:t>开销大，一般不用于认证和密钥交换</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时间戳</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要求各参与方的时钟保持同步</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只有当消息中包含的时间戳在</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的判断中足够接近于</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对当前时间的了解时，</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才会接受该消息为最新消息</a:t>
            </a:r>
            <a:endParaRPr lang="en-US" altLang="zh-CN" sz="2000" dirty="0">
              <a:latin typeface="Times New Roman" panose="02020603050405020304" pitchFamily="18" charset="0"/>
              <a:cs typeface="Times New Roman" panose="02020603050405020304" pitchFamily="18" charset="0"/>
            </a:endParaRPr>
          </a:p>
          <a:p>
            <a:pPr marL="457200" marR="0" lvl="0" indent="-457200" algn="l" defTabSz="457200" rtl="0" eaLnBrk="1" fontAlgn="auto" latinLnBrk="0" hangingPunct="1">
              <a:lnSpc>
                <a:spcPct val="120000"/>
              </a:lnSpc>
              <a:spcBef>
                <a:spcPts val="600"/>
              </a:spcBef>
              <a:spcAft>
                <a:spcPts val="0"/>
              </a:spcAft>
              <a:buClrTx/>
              <a:buSzTx/>
              <a:buFont typeface="+mj-lt"/>
              <a:buAutoNum type="arabicPeriod" startAt="3"/>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挑战</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回应 </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914400" marR="0" lvl="1" indent="-457200" algn="l" defTabSz="457200" rtl="0" eaLnBrk="1" fontAlgn="auto" latinLnBrk="0" hangingPunct="1">
              <a:lnSpc>
                <a:spcPct val="120000"/>
              </a:lnSpc>
              <a:spcBef>
                <a:spcPts val="6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在等待</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的新消息时，首先向</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发送一个</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nonce</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挑战</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，并要求</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在随后收到的消息</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响应</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中包含正确的</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nonce</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值</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457200" marR="0" lvl="0" indent="-457200" algn="l" defTabSz="457200" rtl="0" eaLnBrk="1" fontAlgn="auto" latinLnBrk="0" hangingPunct="1">
              <a:lnSpc>
                <a:spcPct val="120000"/>
              </a:lnSpc>
              <a:spcBef>
                <a:spcPts val="600"/>
              </a:spcBef>
              <a:spcAft>
                <a:spcPts val="0"/>
              </a:spcAft>
              <a:buClrTx/>
              <a:buSzTx/>
              <a:buFont typeface="+mj-lt"/>
              <a:buAutoNum type="arabicPeriod" startAt="3"/>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绑定</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(Binding)</a:t>
            </a:r>
          </a:p>
          <a:p>
            <a:pPr marL="800100" marR="0" lvl="1" indent="-342900" algn="l" defTabSz="457200" rtl="0" eaLnBrk="1" fontAlgn="auto" latinLnBrk="0" hangingPunct="1">
              <a:lnSpc>
                <a:spcPct val="12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在所有情况下，必须使用加密手段，以确保在不被发现的情况下，既不可能剪切和粘贴，也不可能修改信息</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18</a:t>
            </a:fld>
            <a:endParaRPr lang="zh-CN" altLang="en-US"/>
          </a:p>
        </p:txBody>
      </p:sp>
    </p:spTree>
    <p:extLst>
      <p:ext uri="{BB962C8B-B14F-4D97-AF65-F5344CB8AC3E}">
        <p14:creationId xmlns:p14="http://schemas.microsoft.com/office/powerpoint/2010/main" val="1489115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cs typeface="ＭＳ Ｐゴシック" pitchFamily="-84" charset="-128"/>
              </a:rPr>
              <a:t>cryptographic keys </a:t>
            </a:r>
          </a:p>
          <a:p>
            <a:r>
              <a:rPr lang="zh-CN" altLang="en-US" sz="1200" dirty="0">
                <a:latin typeface="Times New Roman" panose="02020603050405020304" pitchFamily="18" charset="0"/>
                <a:cs typeface="Times New Roman" panose="02020603050405020304" pitchFamily="18" charset="0"/>
              </a:rPr>
              <a:t>这些方法可以单独或结合使用。对于基于网络的用户认证，最重要的方法涉及加密密钥和个人知道的东西，如口令。</a:t>
            </a:r>
            <a:endParaRPr lang="en-US" altLang="zh-CN"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19</a:t>
            </a:fld>
            <a:endParaRPr lang="zh-CN" altLang="en-US"/>
          </a:p>
        </p:txBody>
      </p:sp>
    </p:spTree>
    <p:extLst>
      <p:ext uri="{BB962C8B-B14F-4D97-AF65-F5344CB8AC3E}">
        <p14:creationId xmlns:p14="http://schemas.microsoft.com/office/powerpoint/2010/main" val="4125743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当前最基本常用的身份认证技术就是“</a:t>
            </a:r>
            <a:r>
              <a:rPr lang="zh-CN" altLang="en-US" sz="1200" dirty="0">
                <a:solidFill>
                  <a:srgbClr val="0000FF"/>
                </a:solidFill>
                <a:latin typeface="Times New Roman" panose="02020603050405020304" pitchFamily="18" charset="0"/>
                <a:cs typeface="Times New Roman" panose="02020603050405020304" pitchFamily="18" charset="0"/>
              </a:rPr>
              <a:t>用户名</a:t>
            </a:r>
            <a:r>
              <a:rPr lang="en-US" altLang="zh-CN" sz="1200" dirty="0">
                <a:solidFill>
                  <a:srgbClr val="0000FF"/>
                </a:solidFill>
                <a:latin typeface="Times New Roman" panose="02020603050405020304" pitchFamily="18" charset="0"/>
                <a:cs typeface="Times New Roman" panose="02020603050405020304" pitchFamily="18" charset="0"/>
              </a:rPr>
              <a:t>+</a:t>
            </a:r>
            <a:r>
              <a:rPr lang="zh-CN" altLang="en-US" sz="1200" dirty="0">
                <a:solidFill>
                  <a:srgbClr val="0000FF"/>
                </a:solidFill>
                <a:latin typeface="Times New Roman" panose="02020603050405020304" pitchFamily="18" charset="0"/>
                <a:cs typeface="Times New Roman" panose="02020603050405020304" pitchFamily="18" charset="0"/>
              </a:rPr>
              <a:t>静态口令认证</a:t>
            </a:r>
            <a:r>
              <a:rPr lang="zh-CN" altLang="en-US" sz="1200" dirty="0">
                <a:latin typeface="Times New Roman" panose="02020603050405020304" pitchFamily="18" charset="0"/>
                <a:cs typeface="Times New Roman" panose="02020603050405020304" pitchFamily="18" charset="0"/>
              </a:rPr>
              <a:t>”。</a:t>
            </a: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20</a:t>
            </a:fld>
            <a:endParaRPr lang="zh-CN" altLang="en-US"/>
          </a:p>
        </p:txBody>
      </p:sp>
    </p:spTree>
    <p:extLst>
      <p:ext uri="{BB962C8B-B14F-4D97-AF65-F5344CB8AC3E}">
        <p14:creationId xmlns:p14="http://schemas.microsoft.com/office/powerpoint/2010/main" val="3207356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0000FF"/>
                </a:solidFill>
                <a:latin typeface="Times New Roman" panose="02020603050405020304" pitchFamily="18" charset="0"/>
                <a:cs typeface="Times New Roman" panose="02020603050405020304" pitchFamily="18" charset="0"/>
              </a:rPr>
              <a:t>一次</a:t>
            </a:r>
            <a:r>
              <a:rPr lang="zh-CN" altLang="en-US" sz="1200" dirty="0">
                <a:latin typeface="Times New Roman" panose="02020603050405020304" pitchFamily="18" charset="0"/>
                <a:cs typeface="Times New Roman" panose="02020603050405020304" pitchFamily="18" charset="0"/>
              </a:rPr>
              <a:t>变动因子可以是时间，也可以是事件，形成基于时间同步、事件同步、挑战</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应答非同步等不同的一次性口令认证技术。</a:t>
            </a: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21</a:t>
            </a:fld>
            <a:endParaRPr lang="zh-CN" altLang="en-US"/>
          </a:p>
        </p:txBody>
      </p:sp>
    </p:spTree>
    <p:extLst>
      <p:ext uri="{BB962C8B-B14F-4D97-AF65-F5344CB8AC3E}">
        <p14:creationId xmlns:p14="http://schemas.microsoft.com/office/powerpoint/2010/main" val="56951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22</a:t>
            </a:fld>
            <a:endParaRPr lang="zh-CN" altLang="en-US"/>
          </a:p>
        </p:txBody>
      </p:sp>
    </p:spTree>
    <p:extLst>
      <p:ext uri="{BB962C8B-B14F-4D97-AF65-F5344CB8AC3E}">
        <p14:creationId xmlns:p14="http://schemas.microsoft.com/office/powerpoint/2010/main" val="2448977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优点</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生物特征识别技术相对于传统的口令认证技术具有更高的安全性和便利性，因为个人的生物特征是不可更改的，且不需要记忆复杂的口令。</a:t>
            </a:r>
            <a:endParaRPr lang="en-US" altLang="zh-CN" sz="1200" dirty="0">
              <a:latin typeface="Times New Roman" panose="02020603050405020304" pitchFamily="18" charset="0"/>
              <a:cs typeface="Times New Roman" panose="02020603050405020304" pitchFamily="18" charset="0"/>
            </a:endParaRPr>
          </a:p>
          <a:p>
            <a:r>
              <a:rPr lang="zh-CN" altLang="en-US" dirty="0"/>
              <a:t>缺点</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zh-CN" altLang="en-US" sz="1200" dirty="0">
                <a:latin typeface="Times New Roman" panose="02020603050405020304" pitchFamily="18" charset="0"/>
                <a:cs typeface="Times New Roman" panose="02020603050405020304" pitchFamily="18" charset="0"/>
              </a:rPr>
              <a:t>对用户固有的某些生物特征，如指纹、声纹或签字等进行记录比对时，需要</a:t>
            </a:r>
            <a:r>
              <a:rPr lang="zh-CN" altLang="en-US" sz="1200" dirty="0">
                <a:solidFill>
                  <a:srgbClr val="0000FF"/>
                </a:solidFill>
                <a:latin typeface="Times New Roman" panose="02020603050405020304" pitchFamily="18" charset="0"/>
                <a:cs typeface="Times New Roman" panose="02020603050405020304" pitchFamily="18" charset="0"/>
              </a:rPr>
              <a:t>特殊硬件</a:t>
            </a:r>
            <a:r>
              <a:rPr lang="zh-CN" altLang="en-US" sz="1200" dirty="0">
                <a:latin typeface="Times New Roman" panose="02020603050405020304" pitchFamily="18" charset="0"/>
                <a:cs typeface="Times New Roman" panose="02020603050405020304" pitchFamily="18" charset="0"/>
              </a:rPr>
              <a:t>，从而限制了生物特征识别技术的应用环境</a:t>
            </a:r>
            <a:endParaRPr lang="en-US"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zh-CN" altLang="en-US" dirty="0"/>
              <a:t>生物特征数据可能被窃取或在传输过程中被篡改</a:t>
            </a:r>
          </a:p>
          <a:p>
            <a:pPr marL="228600" indent="-228600">
              <a:buFont typeface="+mj-lt"/>
              <a:buAutoNum type="arabicPeriod"/>
            </a:pPr>
            <a:r>
              <a:rPr lang="zh-CN" altLang="en-US" dirty="0"/>
              <a:t>传统安全认为认证数据应该有规则地进行变化，但事实上一些技术产品，如指纹阅读器，很难做到这一点</a:t>
            </a:r>
          </a:p>
          <a:p>
            <a:pPr marL="228600" indent="-228600">
              <a:buFont typeface="+mj-lt"/>
              <a:buAutoNum type="arabicPeriod"/>
            </a:pPr>
            <a:r>
              <a:rPr lang="zh-CN" altLang="en-US" dirty="0"/>
              <a:t>生物技术通常涉及复杂的生物体系和多样的生物学现象，使得不存在肯定的答案，因此生物特征识别技术不够稳定，辨识失败率高。</a:t>
            </a:r>
          </a:p>
          <a:p>
            <a:pPr marL="685800" lvl="1" indent="-228600">
              <a:buFont typeface="Arial" panose="020B0604020202020204" pitchFamily="34" charset="0"/>
              <a:buChar char="•"/>
            </a:pPr>
            <a:r>
              <a:rPr lang="zh-CN" altLang="en-US" dirty="0"/>
              <a:t>比如其实是同一个人，两个签名也不会绝对相同，会受到身体健康状况、心情状况等多种因素影响</a:t>
            </a:r>
          </a:p>
          <a:p>
            <a:pPr marL="228600" indent="-228600">
              <a:buFont typeface="+mj-lt"/>
              <a:buAutoNum type="arabicPeriod"/>
            </a:pPr>
            <a:r>
              <a:rPr lang="zh-CN" altLang="en-US" dirty="0"/>
              <a:t>生物特征识别技术成本昂贵</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生物识别极其广阔的应用前景，已引起国际学术界、企业界、政府以及国防军事部门的高度关注。</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23</a:t>
            </a:fld>
            <a:endParaRPr lang="zh-CN" altLang="en-US"/>
          </a:p>
        </p:txBody>
      </p:sp>
    </p:spTree>
    <p:extLst>
      <p:ext uri="{BB962C8B-B14F-4D97-AF65-F5344CB8AC3E}">
        <p14:creationId xmlns:p14="http://schemas.microsoft.com/office/powerpoint/2010/main" val="6802630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24</a:t>
            </a:fld>
            <a:endParaRPr lang="zh-CN" altLang="en-US"/>
          </a:p>
        </p:txBody>
      </p:sp>
    </p:spTree>
    <p:extLst>
      <p:ext uri="{BB962C8B-B14F-4D97-AF65-F5344CB8AC3E}">
        <p14:creationId xmlns:p14="http://schemas.microsoft.com/office/powerpoint/2010/main" val="32337754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cs typeface="Times New Roman" panose="02020603050405020304" pitchFamily="18" charset="0"/>
              </a:rPr>
              <a:t>AS</a:t>
            </a:r>
            <a:r>
              <a:rPr lang="zh-CN" altLang="en-US" sz="1200" dirty="0">
                <a:latin typeface="Times New Roman" panose="02020603050405020304" pitchFamily="18" charset="0"/>
                <a:cs typeface="Times New Roman" panose="02020603050405020304" pitchFamily="18" charset="0"/>
              </a:rPr>
              <a:t>：如果用户提供正确的口令且被允许访问服务器，</a:t>
            </a:r>
            <a:r>
              <a:rPr lang="en-US" altLang="zh-CN" sz="1200" dirty="0">
                <a:latin typeface="Times New Roman" panose="02020603050405020304" pitchFamily="18" charset="0"/>
                <a:cs typeface="Times New Roman" panose="02020603050405020304" pitchFamily="18" charset="0"/>
              </a:rPr>
              <a:t>AS </a:t>
            </a:r>
            <a:r>
              <a:rPr lang="zh-CN" altLang="en-US" sz="1200" dirty="0">
                <a:latin typeface="Times New Roman" panose="02020603050405020304" pitchFamily="18" charset="0"/>
                <a:cs typeface="Times New Roman" panose="02020603050405020304" pitchFamily="18" charset="0"/>
              </a:rPr>
              <a:t>就接受该用户为真实用户，创建</a:t>
            </a:r>
            <a:r>
              <a:rPr lang="en-US" altLang="zh-CN" sz="1200" dirty="0">
                <a:latin typeface="Times New Roman" panose="02020603050405020304" pitchFamily="18" charset="0"/>
                <a:cs typeface="Times New Roman" panose="02020603050405020304" pitchFamily="18" charset="0"/>
              </a:rPr>
              <a:t>TGT</a:t>
            </a:r>
            <a:r>
              <a:rPr lang="zh-CN" altLang="en-US" sz="1200" dirty="0">
                <a:latin typeface="Times New Roman" panose="02020603050405020304" pitchFamily="18" charset="0"/>
                <a:cs typeface="Times New Roman" panose="02020603050405020304" pitchFamily="18" charset="0"/>
              </a:rPr>
              <a:t>，包含用户的 </a:t>
            </a:r>
            <a:r>
              <a:rPr lang="en-US" altLang="zh-CN" sz="1200" dirty="0">
                <a:latin typeface="Times New Roman" panose="02020603050405020304" pitchFamily="18" charset="0"/>
                <a:cs typeface="Times New Roman" panose="02020603050405020304" pitchFamily="18" charset="0"/>
              </a:rPr>
              <a:t>ID</a:t>
            </a:r>
            <a:r>
              <a:rPr lang="zh-CN" altLang="en-US" sz="1200" dirty="0">
                <a:latin typeface="Times New Roman" panose="02020603050405020304" pitchFamily="18" charset="0"/>
                <a:cs typeface="Times New Roman" panose="02020603050405020304" pitchFamily="18" charset="0"/>
              </a:rPr>
              <a:t>，网络地址以及服务器的 </a:t>
            </a:r>
            <a:r>
              <a:rPr lang="en-US" altLang="zh-CN" sz="1200" dirty="0">
                <a:latin typeface="Times New Roman" panose="02020603050405020304" pitchFamily="18" charset="0"/>
                <a:cs typeface="Times New Roman" panose="02020603050405020304" pitchFamily="18" charset="0"/>
              </a:rPr>
              <a:t>ID</a:t>
            </a:r>
            <a:r>
              <a:rPr lang="zh-CN" altLang="en-US" sz="1200" dirty="0">
                <a:latin typeface="Times New Roman" panose="02020603050405020304" pitchFamily="18" charset="0"/>
                <a:cs typeface="Times New Roman" panose="02020603050405020304" pitchFamily="18" charset="0"/>
              </a:rPr>
              <a:t>，并使用和服务器共享的密钥进行</a:t>
            </a:r>
            <a:r>
              <a:rPr lang="en-US" altLang="zh-CN" sz="1200" dirty="0">
                <a:latin typeface="Times New Roman" panose="02020603050405020304" pitchFamily="18" charset="0"/>
                <a:cs typeface="Times New Roman" panose="02020603050405020304" pitchFamily="18" charset="0"/>
              </a:rPr>
              <a:t>DES</a:t>
            </a:r>
            <a:r>
              <a:rPr lang="zh-CN" altLang="en-US" sz="1200" dirty="0">
                <a:latin typeface="Times New Roman" panose="02020603050405020304" pitchFamily="18" charset="0"/>
                <a:cs typeface="Times New Roman" panose="02020603050405020304" pitchFamily="18" charset="0"/>
              </a:rPr>
              <a:t>加密</a:t>
            </a:r>
            <a:endParaRPr lang="en-US" altLang="zh-C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cs typeface="Times New Roman" panose="02020603050405020304" pitchFamily="18" charset="0"/>
              </a:rPr>
              <a:t>TGS:</a:t>
            </a:r>
            <a:r>
              <a:rPr lang="zh-CN" altLang="en-US" sz="1200" dirty="0">
                <a:latin typeface="Times New Roman" panose="02020603050405020304" pitchFamily="18" charset="0"/>
                <a:cs typeface="Times New Roman" panose="02020603050405020304" pitchFamily="18" charset="0"/>
              </a:rPr>
              <a:t>用户需要访问新的服务时，使用票据向</a:t>
            </a:r>
            <a:r>
              <a:rPr lang="en" altLang="zh-CN" sz="1200" dirty="0">
                <a:latin typeface="Times New Roman" panose="02020603050405020304" pitchFamily="18" charset="0"/>
                <a:cs typeface="Times New Roman" panose="02020603050405020304" pitchFamily="18" charset="0"/>
              </a:rPr>
              <a:t>TGS</a:t>
            </a:r>
            <a:r>
              <a:rPr lang="zh-CN" altLang="en-US" sz="1200" dirty="0">
                <a:latin typeface="Times New Roman" panose="02020603050405020304" pitchFamily="18" charset="0"/>
                <a:cs typeface="Times New Roman" panose="02020603050405020304" pitchFamily="18" charset="0"/>
              </a:rPr>
              <a:t>申请，以证明身份，</a:t>
            </a:r>
            <a:r>
              <a:rPr lang="en" altLang="zh-CN" sz="1200" dirty="0">
                <a:latin typeface="Times New Roman" panose="02020603050405020304" pitchFamily="18" charset="0"/>
                <a:cs typeface="Times New Roman" panose="02020603050405020304" pitchFamily="18" charset="0"/>
              </a:rPr>
              <a:t>TGS </a:t>
            </a:r>
            <a:r>
              <a:rPr lang="zh-CN" altLang="en-US" sz="1200" dirty="0">
                <a:latin typeface="Times New Roman" panose="02020603050405020304" pitchFamily="18" charset="0"/>
                <a:cs typeface="Times New Roman" panose="02020603050405020304" pitchFamily="18" charset="0"/>
              </a:rPr>
              <a:t>为特定的服务授予服务票据 </a:t>
            </a:r>
            <a:r>
              <a:rPr lang="en" altLang="zh-CN" sz="1200" dirty="0">
                <a:latin typeface="Times New Roman" panose="02020603050405020304" pitchFamily="18" charset="0"/>
                <a:cs typeface="Times New Roman" panose="02020603050405020304" pitchFamily="18" charset="0"/>
              </a:rPr>
              <a:t>ST,</a:t>
            </a:r>
            <a:r>
              <a:rPr lang="zh-CN" altLang="en-US" sz="1200" dirty="0">
                <a:latin typeface="Times New Roman" panose="02020603050405020304" pitchFamily="18" charset="0"/>
                <a:cs typeface="Times New Roman" panose="02020603050405020304" pitchFamily="18" charset="0"/>
              </a:rPr>
              <a:t>客户端保存每张</a:t>
            </a:r>
            <a:r>
              <a:rPr lang="en" altLang="zh-CN" sz="1200" dirty="0">
                <a:latin typeface="Times New Roman" panose="02020603050405020304" pitchFamily="18" charset="0"/>
                <a:cs typeface="Times New Roman" panose="02020603050405020304" pitchFamily="18" charset="0"/>
              </a:rPr>
              <a:t>ST</a:t>
            </a:r>
            <a:r>
              <a:rPr lang="zh-CN" altLang="e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请求特定服务时使用它来向服务器验证</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25</a:t>
            </a:fld>
            <a:endParaRPr lang="zh-CN" altLang="en-US"/>
          </a:p>
        </p:txBody>
      </p:sp>
    </p:spTree>
    <p:extLst>
      <p:ext uri="{BB962C8B-B14F-4D97-AF65-F5344CB8AC3E}">
        <p14:creationId xmlns:p14="http://schemas.microsoft.com/office/powerpoint/2010/main" val="30545452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用户想要获取访问某一应用服务器的许可证时，</a:t>
            </a:r>
            <a:r>
              <a:rPr lang="zh-CN" altLang="en-US" sz="1800" dirty="0">
                <a:latin typeface="Times New Roman" panose="02020603050405020304" pitchFamily="18" charset="0"/>
                <a:cs typeface="Times New Roman" panose="02020603050405020304" pitchFamily="18" charset="0"/>
              </a:rPr>
              <a:t>登录并请求主机，</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先以明文方式向认证服务器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发出请求，要求获得访问</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TGS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TGT</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AS</a:t>
            </a:r>
            <a:r>
              <a:rPr lang="zh-CN" altLang="en-US" sz="1800" dirty="0">
                <a:latin typeface="Times New Roman" panose="02020603050405020304" pitchFamily="18" charset="0"/>
                <a:cs typeface="Times New Roman" panose="02020603050405020304" pitchFamily="18" charset="0"/>
              </a:rPr>
              <a:t>在数据库中验证用户的访问权</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创建</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TGT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和用户与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TGS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间的会话密钥（对称加密密钥）。会话密钥以用户的密钥加密后传输</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用户解密得到的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TGT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然后将包含</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TGT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和一个带有时间戳的认证符</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发送给</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TGS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申请服务票据</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。认证符以用户与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TGS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间的会话密钥加密；</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TGS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TGT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中取出会话密钥、解密认证符，验证认证符中时间戳的有效性，从而确定用户的请求是否合法。确认用户的合法性后，生成所要求的应用服务器的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用户与应用服务器之间的会话密钥。将</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SGT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和会话密钥传回到用户；</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用户向应用服务器提交</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和新产生的带时间戳的认证符</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认证符以用户与应用服务器之间的会话密钥加密</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应用服务器从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中取出会话密钥、解密认证符，取出时间戳并检验有效性。然后返回一个带时间戳的认证符，</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使用</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用户与应用服务器之间的会话密钥进行加密。用户据此可以验证应用服务器的合法性。</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至此，双方完成了身份认证，并且拥有了会话密钥。其后进行的数据传递将以此会话密钥进行加密。</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endParaRPr lang="zh-CN" alt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zh-CN" altLang="en-US" sz="1200" dirty="0">
              <a:latin typeface="Times New Roman" panose="02020603050405020304" pitchFamily="18" charset="0"/>
              <a:cs typeface="Times New Roman" panose="02020603050405020304" pitchFamily="18" charset="0"/>
            </a:endParaRP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endParaRPr lang="zh-CN" altLang="en-US" sz="1200" dirty="0">
              <a:latin typeface="Times New Roman" panose="02020603050405020304" pitchFamily="18" charset="0"/>
              <a:cs typeface="Times New Roman" panose="02020603050405020304" pitchFamily="18" charset="0"/>
            </a:endParaRP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endParaRPr lang="zh-CN" altLang="en-US" sz="1200" dirty="0">
              <a:latin typeface="Times New Roman" panose="02020603050405020304" pitchFamily="18" charset="0"/>
              <a:cs typeface="Times New Roman" panose="02020603050405020304" pitchFamily="18" charset="0"/>
            </a:endParaRP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endParaRPr lang="zh-CN" altLang="en-US" sz="1200" dirty="0">
              <a:latin typeface="Times New Roman" panose="02020603050405020304" pitchFamily="18" charset="0"/>
              <a:cs typeface="Times New Roman" panose="02020603050405020304" pitchFamily="18" charset="0"/>
            </a:endParaRPr>
          </a:p>
          <a:p>
            <a:pPr marL="228600" indent="-228600">
              <a:lnSpc>
                <a:spcPct val="120000"/>
              </a:lnSpc>
              <a:buAutoNum type="arabicPeriod"/>
            </a:pPr>
            <a:endParaRPr lang="zh-CN" altLang="en-US" sz="12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184D3990-B510-4435-90A5-6D9F2619C2A6}" type="slidenum">
              <a:rPr lang="zh-CN" altLang="en-US" smtClean="0"/>
              <a:t>26</a:t>
            </a:fld>
            <a:endParaRPr lang="zh-CN" altLang="en-US"/>
          </a:p>
        </p:txBody>
      </p:sp>
    </p:spTree>
    <p:extLst>
      <p:ext uri="{BB962C8B-B14F-4D97-AF65-F5344CB8AC3E}">
        <p14:creationId xmlns:p14="http://schemas.microsoft.com/office/powerpoint/2010/main" val="4948316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27</a:t>
            </a:fld>
            <a:endParaRPr lang="zh-CN" altLang="en-US"/>
          </a:p>
        </p:txBody>
      </p:sp>
    </p:spTree>
    <p:extLst>
      <p:ext uri="{BB962C8B-B14F-4D97-AF65-F5344CB8AC3E}">
        <p14:creationId xmlns:p14="http://schemas.microsoft.com/office/powerpoint/2010/main" val="2300298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28</a:t>
            </a:fld>
            <a:endParaRPr lang="zh-CN" altLang="en-US"/>
          </a:p>
        </p:txBody>
      </p:sp>
    </p:spTree>
    <p:extLst>
      <p:ext uri="{BB962C8B-B14F-4D97-AF65-F5344CB8AC3E}">
        <p14:creationId xmlns:p14="http://schemas.microsoft.com/office/powerpoint/2010/main" val="7624240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29</a:t>
            </a:fld>
            <a:endParaRPr lang="zh-CN" altLang="en-US"/>
          </a:p>
        </p:txBody>
      </p:sp>
    </p:spTree>
    <p:extLst>
      <p:ext uri="{BB962C8B-B14F-4D97-AF65-F5344CB8AC3E}">
        <p14:creationId xmlns:p14="http://schemas.microsoft.com/office/powerpoint/2010/main" val="12780348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5</a:t>
            </a:r>
            <a:r>
              <a:rPr lang="zh-CN" altLang="en-US" dirty="0"/>
              <a:t>版旨在解决第</a:t>
            </a:r>
            <a:r>
              <a:rPr lang="en-US" altLang="zh-CN" dirty="0"/>
              <a:t>4</a:t>
            </a:r>
            <a:r>
              <a:rPr lang="zh-CN" altLang="en-US" dirty="0"/>
              <a:t>版在两个方面的局限性：环境方面的缺陷和技术方面的不足。 </a:t>
            </a:r>
            <a:endParaRPr lang="en-US" altLang="zh-CN" dirty="0"/>
          </a:p>
          <a:p>
            <a:r>
              <a:rPr lang="zh-CN" altLang="en-US" dirty="0"/>
              <a:t>环境缺陷：</a:t>
            </a:r>
          </a:p>
          <a:p>
            <a:pPr marL="228600" indent="-228600">
              <a:buAutoNum type="arabicPeriod"/>
            </a:pPr>
            <a:r>
              <a:rPr lang="zh-CN" altLang="en-US" dirty="0"/>
              <a:t>加密系统的依赖性：  第</a:t>
            </a:r>
            <a:r>
              <a:rPr lang="en-US" altLang="zh-CN" dirty="0"/>
              <a:t>4</a:t>
            </a:r>
            <a:r>
              <a:rPr lang="zh-CN" altLang="en-US" dirty="0"/>
              <a:t>版要求使用</a:t>
            </a:r>
            <a:r>
              <a:rPr lang="en-US" altLang="zh-CN" dirty="0"/>
              <a:t>DES</a:t>
            </a:r>
            <a:r>
              <a:rPr lang="zh-CN" altLang="en-US" dirty="0"/>
              <a:t>。因此，对</a:t>
            </a:r>
            <a:r>
              <a:rPr lang="en-US" altLang="zh-CN" dirty="0"/>
              <a:t>DES</a:t>
            </a:r>
            <a:r>
              <a:rPr lang="zh-CN" altLang="en-US" dirty="0"/>
              <a:t>的</a:t>
            </a:r>
            <a:r>
              <a:rPr lang="en-US" altLang="zh-CN" dirty="0"/>
              <a:t>export</a:t>
            </a:r>
            <a:r>
              <a:rPr lang="zh-CN" altLang="en-US" dirty="0"/>
              <a:t>限制以及对</a:t>
            </a:r>
            <a:r>
              <a:rPr lang="en-US" altLang="zh-CN" dirty="0"/>
              <a:t>DES</a:t>
            </a:r>
            <a:r>
              <a:rPr lang="zh-CN" altLang="en-US" dirty="0"/>
              <a:t>强度是人担忧。在第</a:t>
            </a:r>
            <a:r>
              <a:rPr lang="en-US" altLang="zh-CN" dirty="0"/>
              <a:t>5</a:t>
            </a:r>
            <a:r>
              <a:rPr lang="zh-CN" altLang="en-US" dirty="0"/>
              <a:t>版中，密文被标记为加密类型标识符，因此可以使用任何加密技术。</a:t>
            </a:r>
            <a:endParaRPr lang="en-US" altLang="zh-CN" dirty="0"/>
          </a:p>
          <a:p>
            <a:pPr marL="228600" indent="-228600">
              <a:buAutoNum type="arabicPeriod"/>
            </a:pPr>
            <a:r>
              <a:rPr lang="zh-CN" altLang="en-US" dirty="0"/>
              <a:t>对互联网协议的依赖：  第四版要求使用互联网协议 </a:t>
            </a:r>
            <a:r>
              <a:rPr lang="en-US" altLang="zh-CN" dirty="0"/>
              <a:t>(IP)</a:t>
            </a:r>
            <a:r>
              <a:rPr lang="zh-CN" altLang="en-US" dirty="0"/>
              <a:t>地址。其他地址类型，如</a:t>
            </a:r>
            <a:r>
              <a:rPr lang="en-US" altLang="zh-CN" dirty="0"/>
              <a:t>ISO</a:t>
            </a:r>
            <a:r>
              <a:rPr lang="zh-CN" altLang="en-US" dirty="0"/>
              <a:t>网络地址，不被接纳。第五版的网络地址被标记了类型和长度、 允许使用任何网络地址类型。</a:t>
            </a:r>
          </a:p>
          <a:p>
            <a:r>
              <a:rPr lang="en-US" altLang="zh-CN" dirty="0"/>
              <a:t>3. </a:t>
            </a:r>
            <a:r>
              <a:rPr lang="zh-CN" altLang="en-US" dirty="0"/>
              <a:t>消息的字节排序：在版本</a:t>
            </a:r>
            <a:r>
              <a:rPr lang="en-US" altLang="zh-CN" dirty="0"/>
              <a:t>4</a:t>
            </a:r>
            <a:r>
              <a:rPr lang="zh-CN" altLang="en-US" dirty="0"/>
              <a:t>中，信息的发送者采用自己选择的字节排序，并对信息进行标记，以表明最低地址中最不重要的字节或最重要的字节。不遵循既定的惯例。在版本</a:t>
            </a:r>
            <a:r>
              <a:rPr lang="en-US" altLang="zh-CN" dirty="0"/>
              <a:t>5</a:t>
            </a:r>
            <a:r>
              <a:rPr lang="zh-CN" altLang="en-US" dirty="0"/>
              <a:t>中，所有的消息结构 结构都是用抽象语法符号一（</a:t>
            </a:r>
            <a:r>
              <a:rPr lang="en-US" altLang="zh-CN" dirty="0"/>
              <a:t>ASN.1</a:t>
            </a:r>
            <a:r>
              <a:rPr lang="zh-CN" altLang="en-US" dirty="0"/>
              <a:t>）和基本编码规则（</a:t>
            </a:r>
            <a:r>
              <a:rPr lang="en-US" altLang="zh-CN" dirty="0"/>
              <a:t>BER</a:t>
            </a:r>
            <a:r>
              <a:rPr lang="zh-CN" altLang="en-US" dirty="0"/>
              <a:t>）定义的。基本编码规则（</a:t>
            </a:r>
            <a:r>
              <a:rPr lang="en-US" altLang="zh-CN" dirty="0"/>
              <a:t>BER</a:t>
            </a:r>
            <a:r>
              <a:rPr lang="zh-CN" altLang="en-US" dirty="0"/>
              <a:t>），提供了一个确定的字节排序。</a:t>
            </a:r>
          </a:p>
          <a:p>
            <a:r>
              <a:rPr lang="en-US" altLang="zh-CN" dirty="0"/>
              <a:t>4. </a:t>
            </a:r>
            <a:r>
              <a:rPr lang="zh-CN" altLang="en-US" dirty="0"/>
              <a:t>票据寿命： 版本</a:t>
            </a:r>
            <a:r>
              <a:rPr lang="en-US" altLang="zh-CN" dirty="0"/>
              <a:t>4</a:t>
            </a:r>
            <a:r>
              <a:rPr lang="zh-CN" altLang="en-US" dirty="0"/>
              <a:t>中的寿命值被编码为</a:t>
            </a:r>
            <a:r>
              <a:rPr lang="en-US" altLang="zh-CN" dirty="0"/>
              <a:t>8</a:t>
            </a:r>
            <a:r>
              <a:rPr lang="zh-CN" altLang="en-US" dirty="0"/>
              <a:t>位量，单位为</a:t>
            </a:r>
            <a:r>
              <a:rPr lang="en-US" altLang="zh-CN" dirty="0"/>
              <a:t>5</a:t>
            </a:r>
            <a:r>
              <a:rPr lang="zh-CN" altLang="en-US" dirty="0"/>
              <a:t>分钟。因此，可以表达的最大寿命是 </a:t>
            </a:r>
            <a:r>
              <a:rPr lang="en-US" altLang="zh-CN" dirty="0"/>
              <a:t>28 * 5 = 1280</a:t>
            </a:r>
            <a:r>
              <a:rPr lang="zh-CN" altLang="en-US" dirty="0"/>
              <a:t>分钟（略高于</a:t>
            </a:r>
            <a:r>
              <a:rPr lang="en-US" altLang="zh-CN" dirty="0"/>
              <a:t>21</a:t>
            </a:r>
            <a:r>
              <a:rPr lang="zh-CN" altLang="en-US" dirty="0"/>
              <a:t>小时）。这对于某些应用来说可能是不够的（例如，一个长期运行的模拟，需要在整个执行过程中保持有效的 </a:t>
            </a:r>
            <a:r>
              <a:rPr lang="en-US" altLang="zh-CN" dirty="0"/>
              <a:t>Kerberos </a:t>
            </a:r>
            <a:r>
              <a:rPr lang="zh-CN" altLang="en-US" dirty="0"/>
              <a:t>凭证的长期模拟）。在版本</a:t>
            </a:r>
            <a:r>
              <a:rPr lang="en-US" altLang="zh-CN" dirty="0"/>
              <a:t>5</a:t>
            </a:r>
            <a:r>
              <a:rPr lang="zh-CN" altLang="en-US" dirty="0"/>
              <a:t>中，票据包括一个明确的开始时间和结束时间，允许具有任意寿命的票据。</a:t>
            </a:r>
          </a:p>
          <a:p>
            <a:r>
              <a:rPr lang="en-US" altLang="zh-CN" dirty="0"/>
              <a:t>5. </a:t>
            </a:r>
            <a:r>
              <a:rPr lang="zh-CN" altLang="en-US" dirty="0"/>
              <a:t>认证转发：  第</a:t>
            </a:r>
            <a:r>
              <a:rPr lang="en-US" altLang="zh-CN" dirty="0"/>
              <a:t>4</a:t>
            </a:r>
            <a:r>
              <a:rPr lang="zh-CN" altLang="en-US" dirty="0"/>
              <a:t>版不允许发给一个客户的凭证被转发到其他主机并被其他客户使用，代表客户访问另一个服务器。例如，一个客户向一个打印服务器发出请求，然后该服务器从一个文件服务器访问客户的文件，使用客户的凭证进行访问。版本</a:t>
            </a:r>
            <a:r>
              <a:rPr lang="en-US" altLang="zh-CN" dirty="0"/>
              <a:t>5</a:t>
            </a:r>
            <a:r>
              <a:rPr lang="zh-CN" altLang="en-US" dirty="0"/>
              <a:t>提供了这种能力。</a:t>
            </a:r>
          </a:p>
          <a:p>
            <a:r>
              <a:rPr lang="en-US" altLang="zh-CN" dirty="0"/>
              <a:t>6.</a:t>
            </a:r>
            <a:r>
              <a:rPr lang="zh-CN" altLang="en-US" dirty="0"/>
              <a:t>领域间认证：  在版本</a:t>
            </a:r>
            <a:r>
              <a:rPr lang="en-US" altLang="zh-CN" dirty="0"/>
              <a:t>4</a:t>
            </a:r>
            <a:r>
              <a:rPr lang="zh-CN" altLang="en-US" dirty="0"/>
              <a:t>中，</a:t>
            </a:r>
            <a:r>
              <a:rPr lang="en-US" altLang="zh-CN" dirty="0"/>
              <a:t>N</a:t>
            </a:r>
            <a:r>
              <a:rPr lang="zh-CN" altLang="en-US" dirty="0"/>
              <a:t>个领域之间的互操作性需要</a:t>
            </a:r>
            <a:r>
              <a:rPr lang="en-US" altLang="zh-CN" dirty="0"/>
              <a:t>N2</a:t>
            </a:r>
            <a:r>
              <a:rPr lang="zh-CN" altLang="en-US" dirty="0"/>
              <a:t>个</a:t>
            </a:r>
            <a:r>
              <a:rPr lang="en-US" altLang="zh-CN" dirty="0"/>
              <a:t>Kerberos-to-Kerberos</a:t>
            </a:r>
            <a:r>
              <a:rPr lang="zh-CN" altLang="en-US" dirty="0"/>
              <a:t>关系。第五版支持一种需要较少关系的方法。</a:t>
            </a:r>
          </a:p>
        </p:txBody>
      </p:sp>
      <p:sp>
        <p:nvSpPr>
          <p:cNvPr id="4" name="灯片编号占位符 3"/>
          <p:cNvSpPr>
            <a:spLocks noGrp="1"/>
          </p:cNvSpPr>
          <p:nvPr>
            <p:ph type="sldNum" sz="quarter" idx="5"/>
          </p:nvPr>
        </p:nvSpPr>
        <p:spPr/>
        <p:txBody>
          <a:bodyPr/>
          <a:lstStyle/>
          <a:p>
            <a:fld id="{184D3990-B510-4435-90A5-6D9F2619C2A6}" type="slidenum">
              <a:rPr lang="zh-CN" altLang="en-US" smtClean="0">
                <a:solidFill>
                  <a:prstClr val="black"/>
                </a:solidFill>
                <a:latin typeface="Calibri"/>
                <a:ea typeface="宋体"/>
              </a:rPr>
              <a:pPr/>
              <a:t>30</a:t>
            </a:fld>
            <a:endParaRPr lang="zh-CN" altLang="en-US">
              <a:solidFill>
                <a:prstClr val="black"/>
              </a:solidFill>
              <a:latin typeface="Calibri"/>
              <a:ea typeface="宋体"/>
            </a:endParaRPr>
          </a:p>
        </p:txBody>
      </p:sp>
    </p:spTree>
    <p:extLst>
      <p:ext uri="{BB962C8B-B14F-4D97-AF65-F5344CB8AC3E}">
        <p14:creationId xmlns:p14="http://schemas.microsoft.com/office/powerpoint/2010/main" val="20991796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除了环境限制外，第</a:t>
            </a:r>
            <a:r>
              <a:rPr lang="en-US" altLang="zh-CN" dirty="0"/>
              <a:t>4</a:t>
            </a:r>
            <a:r>
              <a:rPr lang="zh-CN" altLang="en-US" dirty="0"/>
              <a:t>版协议本身也存在技术缺陷。</a:t>
            </a:r>
          </a:p>
          <a:p>
            <a:r>
              <a:rPr lang="en-US" altLang="zh-CN" dirty="0"/>
              <a:t>1. </a:t>
            </a:r>
            <a:r>
              <a:rPr lang="zh-CN" altLang="en-US" dirty="0"/>
              <a:t>双重加密，提供给客户的票据要进行两次加密</a:t>
            </a:r>
            <a:r>
              <a:rPr lang="en-US" altLang="zh-CN" dirty="0"/>
              <a:t>--</a:t>
            </a:r>
            <a:r>
              <a:rPr lang="zh-CN" altLang="en-US" sz="1200" dirty="0">
                <a:solidFill>
                  <a:prstClr val="black"/>
                </a:solidFill>
              </a:rPr>
              <a:t>一次使用目标服务器的秘钥，然后再次使用客户端已知的秘钥。</a:t>
            </a:r>
            <a:r>
              <a:rPr lang="zh-CN" altLang="en-US" dirty="0"/>
              <a:t>第二次加密是没有必要的，而且在计算上是浪费的。</a:t>
            </a:r>
          </a:p>
          <a:p>
            <a:r>
              <a:rPr lang="en-US" altLang="zh-CN" dirty="0"/>
              <a:t>2. PCBC</a:t>
            </a:r>
            <a:r>
              <a:rPr lang="zh-CN" altLang="en-US" dirty="0"/>
              <a:t>加密： 第</a:t>
            </a:r>
            <a:r>
              <a:rPr lang="en-US" altLang="zh-CN" dirty="0"/>
              <a:t>4</a:t>
            </a:r>
            <a:r>
              <a:rPr lang="zh-CN" altLang="en-US" dirty="0"/>
              <a:t>版的加密使用了</a:t>
            </a:r>
            <a:r>
              <a:rPr lang="en-US" altLang="zh-CN" dirty="0"/>
              <a:t>DES</a:t>
            </a:r>
            <a:r>
              <a:rPr lang="zh-CN" altLang="en-US" dirty="0"/>
              <a:t>的一种非标准模式，称为填充密码块链（</a:t>
            </a:r>
            <a:r>
              <a:rPr lang="en-US" altLang="zh-CN" dirty="0"/>
              <a:t>PCBC</a:t>
            </a:r>
            <a:r>
              <a:rPr lang="zh-CN" altLang="en-US" dirty="0"/>
              <a:t>）。 已经证明，这种模式很容易受到涉及交换密码块的攻击。</a:t>
            </a:r>
            <a:r>
              <a:rPr lang="en-US" altLang="zh-CN" dirty="0"/>
              <a:t>PCBC</a:t>
            </a:r>
            <a:r>
              <a:rPr lang="zh-CN" altLang="en-US" dirty="0"/>
              <a:t>的目的是作为加密操作的一部分提供一个完整性检查。版本</a:t>
            </a:r>
            <a:r>
              <a:rPr lang="en-US" altLang="zh-CN" dirty="0"/>
              <a:t>5</a:t>
            </a:r>
            <a:r>
              <a:rPr lang="zh-CN" altLang="en-US" dirty="0"/>
              <a:t>提供了明确的完整性机制，允许使用标准的</a:t>
            </a:r>
            <a:r>
              <a:rPr lang="en-US" altLang="zh-CN" dirty="0"/>
              <a:t>CBC</a:t>
            </a:r>
            <a:r>
              <a:rPr lang="zh-CN" altLang="en-US" dirty="0"/>
              <a:t>模式进行加密。特别是，在使用</a:t>
            </a:r>
            <a:r>
              <a:rPr lang="en-US" altLang="zh-CN" dirty="0"/>
              <a:t>CBC</a:t>
            </a:r>
            <a:r>
              <a:rPr lang="zh-CN" altLang="en-US" dirty="0"/>
              <a:t>加密之前，会在消息上附加一个校验和或散列代码。</a:t>
            </a:r>
          </a:p>
          <a:p>
            <a:r>
              <a:rPr lang="en-US" altLang="zh-CN" dirty="0"/>
              <a:t>3. </a:t>
            </a:r>
            <a:r>
              <a:rPr lang="zh-CN" altLang="en-US" dirty="0"/>
              <a:t>会话密钥：  每个票据包括一个会话密钥，由客户用来加密发送到与该票据相关的服务的认证器。此外，会话密钥随后可由客户和服务器用于保护该会话期间传递的消息。然而，由于同一票据可能被重复使用以获得特定服务器的服务，因此存在对手从旧的会话中重放信息给客户或服务器的风险。在版本</a:t>
            </a:r>
            <a:r>
              <a:rPr lang="en-US" altLang="zh-CN" dirty="0"/>
              <a:t>5</a:t>
            </a:r>
            <a:r>
              <a:rPr lang="zh-CN" altLang="en-US" dirty="0"/>
              <a:t>中，客户和服务器有可能协商一个子会话密钥，该密钥仅用于该次连接。客户端的新访问将导致使用一个新的子会话密钥。</a:t>
            </a:r>
          </a:p>
          <a:p>
            <a:r>
              <a:rPr lang="en-US" altLang="zh-CN" dirty="0"/>
              <a:t>4. </a:t>
            </a:r>
            <a:r>
              <a:rPr lang="zh-CN" altLang="en-US" dirty="0"/>
              <a:t>密码攻击：  两个版本都容易受到密码攻击。从</a:t>
            </a:r>
            <a:r>
              <a:rPr lang="en-US" altLang="zh-CN" dirty="0"/>
              <a:t>AS</a:t>
            </a:r>
            <a:r>
              <a:rPr lang="zh-CN" altLang="en-US" dirty="0"/>
              <a:t>到客户的信息包括用基于客户密码的密钥加密的材料。对手可以捕获这个信息并试图通过尝试各种密码来解密它。如果测试解密的结果是正确的，那么对手就发现了客户的密码，并可能随后使用它来获得 </a:t>
            </a:r>
            <a:r>
              <a:rPr lang="en-US" altLang="zh-CN" dirty="0"/>
              <a:t>Kerberos </a:t>
            </a:r>
            <a:r>
              <a:rPr lang="zh-CN" altLang="en-US" dirty="0"/>
              <a:t>的认证凭证。</a:t>
            </a: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solidFill>
                  <a:prstClr val="black"/>
                </a:solidFill>
                <a:latin typeface="Calibri"/>
                <a:ea typeface="宋体"/>
              </a:rPr>
              <a:pPr/>
              <a:t>31</a:t>
            </a:fld>
            <a:endParaRPr lang="zh-CN" altLang="en-US">
              <a:solidFill>
                <a:prstClr val="black"/>
              </a:solidFill>
              <a:latin typeface="Calibri"/>
              <a:ea typeface="宋体"/>
            </a:endParaRPr>
          </a:p>
        </p:txBody>
      </p:sp>
    </p:spTree>
    <p:extLst>
      <p:ext uri="{BB962C8B-B14F-4D97-AF65-F5344CB8AC3E}">
        <p14:creationId xmlns:p14="http://schemas.microsoft.com/office/powerpoint/2010/main" val="20991796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32</a:t>
            </a:fld>
            <a:endParaRPr lang="zh-CN" altLang="en-US"/>
          </a:p>
        </p:txBody>
      </p:sp>
    </p:spTree>
    <p:extLst>
      <p:ext uri="{BB962C8B-B14F-4D97-AF65-F5344CB8AC3E}">
        <p14:creationId xmlns:p14="http://schemas.microsoft.com/office/powerpoint/2010/main" val="7409584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X.509</a:t>
            </a:r>
            <a:r>
              <a:rPr lang="zh-CN" altLang="en-US" dirty="0"/>
              <a:t>定义了一个由</a:t>
            </a:r>
            <a:r>
              <a:rPr lang="en-US" altLang="zh-CN" dirty="0"/>
              <a:t>X.500</a:t>
            </a:r>
            <a:r>
              <a:rPr lang="zh-CN" altLang="en-US" dirty="0"/>
              <a:t>目录向其用户提供认证服务的框架。该目录可以作为公钥证书的储存库。此外，</a:t>
            </a:r>
            <a:r>
              <a:rPr lang="en-US" altLang="zh-CN" dirty="0"/>
              <a:t>X.509</a:t>
            </a:r>
            <a:r>
              <a:rPr lang="zh-CN" altLang="en-US" dirty="0"/>
              <a:t>定义了基于使用公钥证书的替代认证协议。</a:t>
            </a:r>
            <a:r>
              <a:rPr lang="en-US" altLang="zh-CN" dirty="0"/>
              <a:t>X.509</a:t>
            </a:r>
            <a:r>
              <a:rPr lang="zh-CN" altLang="en-US" dirty="0"/>
              <a:t>是基于公钥密码学和数字签名的使用。该标准没有规定使用特定的算法，但推荐使用</a:t>
            </a:r>
            <a:r>
              <a:rPr lang="en-US" altLang="zh-CN" dirty="0"/>
              <a:t>RSA</a:t>
            </a:r>
            <a:r>
              <a:rPr lang="zh-CN" altLang="en-US" dirty="0"/>
              <a:t>。</a:t>
            </a:r>
          </a:p>
          <a:p>
            <a:r>
              <a:rPr lang="en-US" altLang="zh-CN" dirty="0"/>
              <a:t>X.509</a:t>
            </a:r>
            <a:r>
              <a:rPr lang="zh-CN" altLang="en-US" dirty="0"/>
              <a:t>证书格式被广泛使用，例如，在</a:t>
            </a:r>
            <a:r>
              <a:rPr lang="en-US" altLang="zh-CN" dirty="0"/>
              <a:t>S/MIME</a:t>
            </a:r>
            <a:r>
              <a:rPr lang="zh-CN" altLang="en-US" dirty="0"/>
              <a:t>、</a:t>
            </a:r>
            <a:r>
              <a:rPr lang="en-US" altLang="zh-CN" dirty="0"/>
              <a:t>IP</a:t>
            </a:r>
            <a:r>
              <a:rPr lang="zh-CN" altLang="en-US" dirty="0"/>
              <a:t>安全和</a:t>
            </a:r>
            <a:r>
              <a:rPr lang="en-US" altLang="zh-CN" dirty="0"/>
              <a:t>SSL/TLS</a:t>
            </a:r>
            <a:r>
              <a:rPr lang="zh-CN" altLang="en-US" dirty="0"/>
              <a:t>和</a:t>
            </a:r>
            <a:r>
              <a:rPr lang="en-US" altLang="zh-CN" dirty="0"/>
              <a:t>SET</a:t>
            </a:r>
            <a:r>
              <a:rPr lang="zh-CN" altLang="en-US" dirty="0"/>
              <a:t>中。</a:t>
            </a:r>
          </a:p>
          <a:p>
            <a:r>
              <a:rPr lang="en-US" altLang="zh-CN" dirty="0"/>
              <a:t>X.509</a:t>
            </a:r>
            <a:r>
              <a:rPr lang="zh-CN" altLang="en-US" dirty="0"/>
              <a:t>最初是在</a:t>
            </a:r>
            <a:r>
              <a:rPr lang="en-US" altLang="zh-CN" dirty="0"/>
              <a:t>1988</a:t>
            </a:r>
            <a:r>
              <a:rPr lang="zh-CN" altLang="en-US" dirty="0"/>
              <a:t>年发布的。该标准随后进行了修订，以解决一些安全问题；</a:t>
            </a:r>
            <a:r>
              <a:rPr lang="en-US" altLang="zh-CN" dirty="0"/>
              <a:t>1993</a:t>
            </a:r>
            <a:r>
              <a:rPr lang="zh-CN" altLang="en-US" dirty="0"/>
              <a:t>年发布了一个修订的建议。第三个版本在</a:t>
            </a:r>
            <a:r>
              <a:rPr lang="en-US" altLang="zh-CN" dirty="0"/>
              <a:t>1995</a:t>
            </a:r>
            <a:r>
              <a:rPr lang="zh-CN" altLang="en-US" dirty="0"/>
              <a:t>年发布，并在</a:t>
            </a:r>
            <a:r>
              <a:rPr lang="en-US" altLang="zh-CN" dirty="0"/>
              <a:t>2000</a:t>
            </a:r>
            <a:r>
              <a:rPr lang="zh-CN" altLang="en-US" dirty="0"/>
              <a:t>年进行了修订。</a:t>
            </a:r>
            <a:endParaRPr lang="en-US" altLang="zh-CN" dirty="0"/>
          </a:p>
          <a:p>
            <a:endParaRPr lang="en-US" altLang="zh-CN" dirty="0"/>
          </a:p>
          <a:p>
            <a:r>
              <a:rPr lang="zh-CN" altLang="en-US" dirty="0"/>
              <a:t>由认证机构（</a:t>
            </a:r>
            <a:r>
              <a:rPr lang="en-US" altLang="zh-CN" dirty="0"/>
              <a:t>CA</a:t>
            </a:r>
            <a:r>
              <a:rPr lang="zh-CN" altLang="en-US" dirty="0"/>
              <a:t>）颁发的，包含： </a:t>
            </a:r>
          </a:p>
          <a:p>
            <a:r>
              <a:rPr lang="zh-CN" altLang="en-US" dirty="0"/>
              <a:t>版本</a:t>
            </a:r>
            <a:r>
              <a:rPr lang="en-US" altLang="zh-CN" dirty="0"/>
              <a:t>V (1, 2, </a:t>
            </a:r>
            <a:r>
              <a:rPr lang="zh-CN" altLang="en-US" dirty="0"/>
              <a:t>或 </a:t>
            </a:r>
            <a:r>
              <a:rPr lang="en-US" altLang="zh-CN" dirty="0"/>
              <a:t>3) </a:t>
            </a:r>
          </a:p>
          <a:p>
            <a:r>
              <a:rPr lang="zh-CN" altLang="en-US" dirty="0"/>
              <a:t>序列号</a:t>
            </a:r>
            <a:r>
              <a:rPr lang="en-US" altLang="zh-CN" dirty="0"/>
              <a:t>SN</a:t>
            </a:r>
            <a:r>
              <a:rPr lang="zh-CN" altLang="en-US" dirty="0"/>
              <a:t>（在</a:t>
            </a:r>
            <a:r>
              <a:rPr lang="en-US" altLang="zh-CN" dirty="0"/>
              <a:t>CA</a:t>
            </a:r>
            <a:r>
              <a:rPr lang="zh-CN" altLang="en-US" dirty="0"/>
              <a:t>内唯一），用于识别证书 </a:t>
            </a:r>
          </a:p>
          <a:p>
            <a:r>
              <a:rPr lang="zh-CN" altLang="en-US" dirty="0"/>
              <a:t>签名算法标识符</a:t>
            </a:r>
            <a:r>
              <a:rPr lang="en-US" altLang="zh-CN" dirty="0"/>
              <a:t>AI</a:t>
            </a:r>
          </a:p>
          <a:p>
            <a:r>
              <a:rPr lang="zh-CN" altLang="en-US" dirty="0"/>
              <a:t>发行人</a:t>
            </a:r>
            <a:r>
              <a:rPr lang="en-US" altLang="zh-CN" dirty="0"/>
              <a:t>X.500</a:t>
            </a:r>
            <a:r>
              <a:rPr lang="zh-CN" altLang="en-US" dirty="0"/>
              <a:t>名称</a:t>
            </a:r>
            <a:r>
              <a:rPr lang="en-US" altLang="zh-CN" dirty="0"/>
              <a:t>CA)</a:t>
            </a:r>
          </a:p>
          <a:p>
            <a:r>
              <a:rPr lang="zh-CN" altLang="en-US" dirty="0"/>
              <a:t>有效期 </a:t>
            </a:r>
            <a:r>
              <a:rPr lang="en-US" altLang="zh-CN" dirty="0"/>
              <a:t>TA (</a:t>
            </a:r>
            <a:r>
              <a:rPr lang="zh-CN" altLang="en-US" dirty="0"/>
              <a:t>从</a:t>
            </a:r>
            <a:r>
              <a:rPr lang="en-US" altLang="zh-CN" dirty="0"/>
              <a:t>-</a:t>
            </a:r>
            <a:r>
              <a:rPr lang="zh-CN" altLang="en-US" dirty="0"/>
              <a:t>到日期</a:t>
            </a:r>
            <a:r>
              <a:rPr lang="en-US" altLang="zh-CN" dirty="0"/>
              <a:t>) </a:t>
            </a:r>
          </a:p>
          <a:p>
            <a:r>
              <a:rPr lang="zh-CN" altLang="en-US" dirty="0"/>
              <a:t>主体</a:t>
            </a:r>
            <a:r>
              <a:rPr lang="en-US" altLang="zh-CN" dirty="0"/>
              <a:t>X.500</a:t>
            </a:r>
            <a:r>
              <a:rPr lang="zh-CN" altLang="en-US" dirty="0"/>
              <a:t>名称</a:t>
            </a:r>
            <a:r>
              <a:rPr lang="en-US" altLang="zh-CN" dirty="0"/>
              <a:t>A</a:t>
            </a:r>
            <a:r>
              <a:rPr lang="zh-CN" altLang="en-US" dirty="0"/>
              <a:t>（所有者的名称） </a:t>
            </a:r>
          </a:p>
          <a:p>
            <a:r>
              <a:rPr lang="zh-CN" altLang="en-US" dirty="0"/>
              <a:t>主体公钥信息</a:t>
            </a:r>
            <a:r>
              <a:rPr lang="en-US" altLang="zh-CN" dirty="0"/>
              <a:t>Ap(</a:t>
            </a:r>
            <a:r>
              <a:rPr lang="zh-CN" altLang="en-US" dirty="0"/>
              <a:t>算法、参数、密钥</a:t>
            </a:r>
            <a:r>
              <a:rPr lang="en-US" altLang="zh-CN" dirty="0"/>
              <a:t>) </a:t>
            </a:r>
          </a:p>
          <a:p>
            <a:r>
              <a:rPr lang="zh-CN" altLang="en-US" dirty="0"/>
              <a:t>发行人唯一标识符</a:t>
            </a:r>
            <a:r>
              <a:rPr lang="en-US" altLang="zh-CN" dirty="0"/>
              <a:t>(V2+) </a:t>
            </a:r>
          </a:p>
          <a:p>
            <a:r>
              <a:rPr lang="zh-CN" altLang="en-US" dirty="0"/>
              <a:t>主体唯一标识符</a:t>
            </a:r>
            <a:r>
              <a:rPr lang="en-US" altLang="zh-CN" dirty="0"/>
              <a:t>(v2+) </a:t>
            </a:r>
          </a:p>
          <a:p>
            <a:r>
              <a:rPr lang="zh-CN" altLang="en-US" dirty="0"/>
              <a:t>扩展字段</a:t>
            </a:r>
            <a:r>
              <a:rPr lang="en-US" altLang="zh-CN" dirty="0"/>
              <a:t>(v3) </a:t>
            </a:r>
          </a:p>
          <a:p>
            <a:r>
              <a:rPr lang="zh-CN" altLang="en-US" dirty="0"/>
              <a:t>签名</a:t>
            </a:r>
            <a:r>
              <a:rPr lang="en-US" altLang="zh-CN" dirty="0"/>
              <a:t>(</a:t>
            </a:r>
            <a:r>
              <a:rPr lang="zh-CN" altLang="en-US" dirty="0"/>
              <a:t>证书中所有字段的哈希值</a:t>
            </a:r>
            <a:r>
              <a:rPr lang="en-US" altLang="zh-CN" dirty="0"/>
              <a:t>)</a:t>
            </a:r>
          </a:p>
          <a:p>
            <a:r>
              <a:rPr lang="zh-CN" altLang="en-US" dirty="0"/>
              <a:t>符号</a:t>
            </a:r>
            <a:r>
              <a:rPr lang="en-US" altLang="zh-CN" dirty="0"/>
              <a:t>CA&lt;&lt;A&gt;&gt;</a:t>
            </a:r>
            <a:r>
              <a:rPr lang="zh-CN" altLang="en-US" dirty="0"/>
              <a:t>表示由</a:t>
            </a:r>
            <a:r>
              <a:rPr lang="en-US" altLang="zh-CN" dirty="0"/>
              <a:t>CA</a:t>
            </a:r>
            <a:r>
              <a:rPr lang="zh-CN" altLang="en-US" dirty="0"/>
              <a:t>签署的</a:t>
            </a:r>
            <a:r>
              <a:rPr lang="en-US" altLang="zh-CN" dirty="0"/>
              <a:t>A</a:t>
            </a:r>
            <a:r>
              <a:rPr lang="zh-CN" altLang="en-US" dirty="0"/>
              <a:t>的证书</a:t>
            </a: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33</a:t>
            </a:fld>
            <a:endParaRPr lang="zh-CN" altLang="en-US"/>
          </a:p>
        </p:txBody>
      </p:sp>
    </p:spTree>
    <p:extLst>
      <p:ext uri="{BB962C8B-B14F-4D97-AF65-F5344CB8AC3E}">
        <p14:creationId xmlns:p14="http://schemas.microsoft.com/office/powerpoint/2010/main" val="28121613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X.509</a:t>
            </a:r>
            <a:r>
              <a:rPr lang="zh-CN" altLang="en-US" dirty="0"/>
              <a:t>是基于公钥密码学和数字签名的使用。该标准没有规定使用一种特定的算法，但推荐使用</a:t>
            </a:r>
            <a:r>
              <a:rPr lang="en-US" altLang="zh-CN" dirty="0"/>
              <a:t>RSA</a:t>
            </a:r>
            <a:r>
              <a:rPr lang="zh-CN" altLang="en-US" dirty="0"/>
              <a:t>。数字签名方案被认为需要使用一个哈希函数。同样，该标准没有规定具体的哈希算法。</a:t>
            </a:r>
            <a:endParaRPr lang="en-US" altLang="zh-CN" dirty="0"/>
          </a:p>
          <a:p>
            <a:r>
              <a:rPr lang="en-US" altLang="zh-CN" dirty="0"/>
              <a:t>1</a:t>
            </a:r>
            <a:r>
              <a:rPr lang="zh-CN" altLang="en-US" dirty="0">
                <a:latin typeface="Times New Roman" panose="02020603050405020304" pitchFamily="18" charset="0"/>
                <a:cs typeface="Times New Roman" panose="02020603050405020304" pitchFamily="18" charset="0"/>
              </a:rPr>
              <a:t>未签名证书：包含用户ID和用户公钥</a:t>
            </a:r>
            <a:endParaRPr lang="en-US" altLang="zh-C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2.</a:t>
            </a:r>
            <a:r>
              <a:rPr lang="zh-CN" altLang="en-US" b="0" i="0" dirty="0">
                <a:solidFill>
                  <a:srgbClr val="2A2B2E"/>
                </a:solidFill>
                <a:effectLst/>
                <a:latin typeface="PingFang SC"/>
              </a:rPr>
              <a:t>生成未签名证书的哈希码</a:t>
            </a:r>
            <a:endParaRPr lang="en-US" altLang="zh-CN" b="0" i="0" dirty="0">
              <a:solidFill>
                <a:srgbClr val="2A2B2E"/>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cs typeface="Times New Roman" panose="02020603050405020304" pitchFamily="18" charset="0"/>
              </a:rPr>
              <a:t> 用</a:t>
            </a:r>
            <a:r>
              <a:rPr lang="zh-CN" altLang="en-US" dirty="0">
                <a:solidFill>
                  <a:srgbClr val="3366FF"/>
                </a:solidFill>
                <a:latin typeface="Times New Roman" panose="02020603050405020304" pitchFamily="18" charset="0"/>
                <a:cs typeface="Times New Roman" panose="02020603050405020304" pitchFamily="18" charset="0"/>
              </a:rPr>
              <a:t>CA的私钥</a:t>
            </a:r>
            <a:r>
              <a:rPr lang="zh-CN" altLang="en-US" dirty="0">
                <a:latin typeface="Times New Roman" panose="02020603050405020304" pitchFamily="18" charset="0"/>
                <a:cs typeface="Times New Roman" panose="02020603050405020304" pitchFamily="18" charset="0"/>
              </a:rPr>
              <a:t>加密哈希码，形成签名</a:t>
            </a:r>
            <a:endParaRPr lang="en-US" altLang="zh-C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cs typeface="Times New Roman" panose="02020603050405020304" pitchFamily="18" charset="0"/>
              </a:rPr>
              <a:t>用</a:t>
            </a:r>
            <a:r>
              <a:rPr lang="en-US" altLang="zh-CN" dirty="0">
                <a:solidFill>
                  <a:srgbClr val="3366FF"/>
                </a:solidFill>
                <a:latin typeface="Times New Roman" panose="02020603050405020304" pitchFamily="18" charset="0"/>
                <a:cs typeface="Times New Roman" panose="02020603050405020304" pitchFamily="18" charset="0"/>
              </a:rPr>
              <a:t>CA</a:t>
            </a:r>
            <a:r>
              <a:rPr lang="zh-CN" altLang="en-US" dirty="0">
                <a:solidFill>
                  <a:srgbClr val="3366FF"/>
                </a:solidFill>
                <a:latin typeface="Times New Roman" panose="02020603050405020304" pitchFamily="18" charset="0"/>
                <a:cs typeface="Times New Roman" panose="02020603050405020304" pitchFamily="18" charset="0"/>
              </a:rPr>
              <a:t>的公钥</a:t>
            </a:r>
            <a:r>
              <a:rPr lang="zh-CN" altLang="en-US" dirty="0">
                <a:latin typeface="Times New Roman" panose="02020603050405020304" pitchFamily="18" charset="0"/>
                <a:cs typeface="Times New Roman" panose="02020603050405020304" pitchFamily="18" charset="0"/>
              </a:rPr>
              <a:t>解密签名以恢复哈希码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接收者可以通过比较哈希码来验证签名</a:t>
            </a:r>
          </a:p>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34</a:t>
            </a:fld>
            <a:endParaRPr lang="zh-CN" altLang="en-US"/>
          </a:p>
        </p:txBody>
      </p:sp>
    </p:spTree>
    <p:extLst>
      <p:ext uri="{BB962C8B-B14F-4D97-AF65-F5344CB8AC3E}">
        <p14:creationId xmlns:p14="http://schemas.microsoft.com/office/powerpoint/2010/main" val="34248814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一张证书包括一个有效期。通常情况下，新的证书是在旧的证书过期前签发的。</a:t>
            </a:r>
          </a:p>
          <a:p>
            <a:r>
              <a:rPr lang="zh-CN" altLang="en-US" dirty="0"/>
              <a:t>此外，有时可能需要在证书过期前撤销它，为了支持这一点，每个</a:t>
            </a:r>
            <a:r>
              <a:rPr lang="en-US" altLang="zh-CN" dirty="0"/>
              <a:t>CA</a:t>
            </a:r>
            <a:r>
              <a:rPr lang="zh-CN" altLang="en-US" dirty="0"/>
              <a:t>必须维护一个由该</a:t>
            </a:r>
            <a:r>
              <a:rPr lang="en-US" altLang="zh-CN" dirty="0"/>
              <a:t>CA</a:t>
            </a:r>
            <a:r>
              <a:rPr lang="zh-CN" altLang="en-US" dirty="0"/>
              <a:t>签发的所有已撤销但未过期的证书组成的列表，称为证书撤销列表（</a:t>
            </a:r>
            <a:r>
              <a:rPr lang="en-US" altLang="zh-CN" dirty="0"/>
              <a:t>CRL</a:t>
            </a:r>
            <a:r>
              <a:rPr lang="zh-CN" altLang="en-US" dirty="0"/>
              <a:t>）。发布到目录中的每个证书吊销列表（</a:t>
            </a:r>
            <a:r>
              <a:rPr lang="en-US" altLang="zh-CN" dirty="0"/>
              <a:t>CRL</a:t>
            </a:r>
            <a:r>
              <a:rPr lang="zh-CN" altLang="en-US" dirty="0"/>
              <a:t>）都由签发者签名，并包括签发者的名称、列表的创建日期、下一个</a:t>
            </a:r>
            <a:r>
              <a:rPr lang="en-US" altLang="zh-CN" dirty="0"/>
              <a:t>CRL</a:t>
            </a:r>
            <a:r>
              <a:rPr lang="zh-CN" altLang="en-US" dirty="0"/>
              <a:t>的预定发布日期，以及每个被吊销证书的条目。每个条目由证书的序列号和该证书的废止日期组成。因为序列号在一个</a:t>
            </a:r>
            <a:r>
              <a:rPr lang="en-US" altLang="zh-CN" dirty="0"/>
              <a:t>CA</a:t>
            </a:r>
            <a:r>
              <a:rPr lang="zh-CN" altLang="en-US" dirty="0"/>
              <a:t>内是唯一的，序列号足以识别证书。</a:t>
            </a:r>
          </a:p>
          <a:p>
            <a:r>
              <a:rPr lang="zh-CN" altLang="en-US" dirty="0"/>
              <a:t>当用户收到信息中的证书时，用户必须确定该证书是否已被撤销，</a:t>
            </a:r>
            <a:r>
              <a:rPr lang="en-US" altLang="zh-CN" dirty="0"/>
              <a:t>——</a:t>
            </a:r>
            <a:r>
              <a:rPr lang="zh-CN" altLang="en-US" dirty="0"/>
              <a:t>在每次收到证书时检查目录</a:t>
            </a:r>
            <a:r>
              <a:rPr lang="en-US" altLang="zh-CN" dirty="0"/>
              <a:t>CRL</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35</a:t>
            </a:fld>
            <a:endParaRPr lang="zh-CN" altLang="en-US"/>
          </a:p>
        </p:txBody>
      </p:sp>
    </p:spTree>
    <p:extLst>
      <p:ext uri="{BB962C8B-B14F-4D97-AF65-F5344CB8AC3E}">
        <p14:creationId xmlns:p14="http://schemas.microsoft.com/office/powerpoint/2010/main" val="39731790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a:t>
            </a:r>
            <a:r>
              <a:rPr lang="en-US" altLang="zh-CN" dirty="0"/>
              <a:t>A</a:t>
            </a:r>
            <a:r>
              <a:rPr lang="zh-CN" altLang="en-US" dirty="0"/>
              <a:t>发送给</a:t>
            </a:r>
            <a:r>
              <a:rPr lang="en-US" altLang="zh-CN" dirty="0"/>
              <a:t>B</a:t>
            </a:r>
            <a:r>
              <a:rPr lang="zh-CN" altLang="en-US" dirty="0"/>
              <a:t>的报文中至少还需要包含</a:t>
            </a:r>
            <a:r>
              <a:rPr lang="en-US" altLang="zh-CN" dirty="0"/>
              <a:t>-</a:t>
            </a:r>
            <a:r>
              <a:rPr lang="zh-CN" altLang="en-US" dirty="0"/>
              <a:t>一个时间戳 </a:t>
            </a:r>
            <a:r>
              <a:rPr lang="en-US" altLang="zh-CN" dirty="0" err="1"/>
              <a:t>tA</a:t>
            </a:r>
            <a:r>
              <a:rPr lang="en-US" altLang="zh-CN" dirty="0"/>
              <a:t>,</a:t>
            </a:r>
            <a:r>
              <a:rPr lang="zh-CN" altLang="en-US" dirty="0"/>
              <a:t>一个随机数</a:t>
            </a:r>
            <a:r>
              <a:rPr lang="en-US" altLang="zh-CN" dirty="0" err="1"/>
              <a:t>rA</a:t>
            </a:r>
            <a:r>
              <a:rPr lang="zh-CN" altLang="en-US" dirty="0"/>
              <a:t>以及</a:t>
            </a:r>
            <a:r>
              <a:rPr lang="en-US" altLang="zh-CN" dirty="0"/>
              <a:t>B</a:t>
            </a:r>
            <a:r>
              <a:rPr lang="zh-CN" altLang="en-US" dirty="0"/>
              <a:t>的身份标识，这些信息都使用</a:t>
            </a:r>
            <a:r>
              <a:rPr lang="en-US" altLang="zh-CN" dirty="0"/>
              <a:t>A</a:t>
            </a:r>
            <a:r>
              <a:rPr lang="zh-CN" altLang="en-US" dirty="0"/>
              <a:t>的私钥签名。时间戳</a:t>
            </a:r>
            <a:r>
              <a:rPr lang="en-US" altLang="zh-CN" dirty="0"/>
              <a:t>ta</a:t>
            </a:r>
            <a:r>
              <a:rPr lang="zh-CN" altLang="en-US" dirty="0"/>
              <a:t>中可包含报文生成的时间和过期时间，主要用于防止报文的延迟。随机数</a:t>
            </a:r>
            <a:r>
              <a:rPr lang="en-US" altLang="zh-CN" dirty="0" err="1"/>
              <a:t>rA</a:t>
            </a:r>
            <a:r>
              <a:rPr lang="zh-CN" altLang="en-US" dirty="0"/>
              <a:t>用于保证报文的时效性和检测重放攻击，它在报文的有效期内必须是唯一的。</a:t>
            </a:r>
            <a:endParaRPr lang="en-US" altLang="zh-CN" dirty="0"/>
          </a:p>
          <a:p>
            <a:r>
              <a:rPr lang="zh-CN" altLang="en-US" dirty="0"/>
              <a:t>双向认证需要</a:t>
            </a:r>
            <a:r>
              <a:rPr lang="en-US" altLang="zh-CN" dirty="0"/>
              <a:t>A</a:t>
            </a:r>
            <a:r>
              <a:rPr lang="zh-CN" altLang="en-US" dirty="0"/>
              <a:t>、</a:t>
            </a:r>
            <a:r>
              <a:rPr lang="en-US" altLang="zh-CN" dirty="0"/>
              <a:t>B</a:t>
            </a:r>
            <a:r>
              <a:rPr lang="zh-CN" altLang="en-US" dirty="0"/>
              <a:t>双方相互鉴别对方的身份。除了</a:t>
            </a:r>
            <a:r>
              <a:rPr lang="en-US" altLang="zh-CN" dirty="0"/>
              <a:t>A</a:t>
            </a:r>
            <a:r>
              <a:rPr lang="zh-CN" altLang="en-US" dirty="0"/>
              <a:t>的身份标识以外，这个过程中需要使用</a:t>
            </a:r>
            <a:r>
              <a:rPr lang="en-US" altLang="zh-CN" dirty="0"/>
              <a:t>B</a:t>
            </a:r>
            <a:r>
              <a:rPr lang="zh-CN" altLang="en-US" dirty="0"/>
              <a:t>的身份标识。为了完成双向认证，</a:t>
            </a:r>
            <a:r>
              <a:rPr lang="en-US" altLang="zh-CN" dirty="0"/>
              <a:t>B</a:t>
            </a:r>
            <a:r>
              <a:rPr lang="zh-CN" altLang="en-US" dirty="0"/>
              <a:t>需要对</a:t>
            </a:r>
            <a:r>
              <a:rPr lang="en-US" altLang="zh-CN" dirty="0"/>
              <a:t>A</a:t>
            </a:r>
            <a:r>
              <a:rPr lang="zh-CN" altLang="en-US" dirty="0"/>
              <a:t>发送的报文进行应答。在应答报文中</a:t>
            </a:r>
            <a:r>
              <a:rPr lang="en-US" altLang="zh-CN" dirty="0"/>
              <a:t>, </a:t>
            </a:r>
            <a:r>
              <a:rPr lang="zh-CN" altLang="en-US" dirty="0"/>
              <a:t>包含</a:t>
            </a:r>
            <a:r>
              <a:rPr lang="en-US" altLang="zh-CN" dirty="0"/>
              <a:t>A</a:t>
            </a:r>
            <a:r>
              <a:rPr lang="zh-CN" altLang="en-US" dirty="0"/>
              <a:t>发送随机数</a:t>
            </a:r>
            <a:r>
              <a:rPr lang="en-US" altLang="zh-CN" dirty="0" err="1"/>
              <a:t>rA</a:t>
            </a:r>
            <a:r>
              <a:rPr lang="zh-CN" altLang="en-US" dirty="0"/>
              <a:t>、</a:t>
            </a:r>
            <a:r>
              <a:rPr lang="en-US" altLang="zh-CN" dirty="0"/>
              <a:t>B</a:t>
            </a:r>
            <a:r>
              <a:rPr lang="zh-CN" altLang="en-US" dirty="0"/>
              <a:t>产生的时间戳</a:t>
            </a:r>
            <a:r>
              <a:rPr lang="en-US" altLang="zh-CN" dirty="0"/>
              <a:t>t</a:t>
            </a:r>
            <a:r>
              <a:rPr lang="zh-CN" altLang="en-US" dirty="0"/>
              <a:t>以及</a:t>
            </a:r>
            <a:r>
              <a:rPr lang="en-US" altLang="zh-CN" dirty="0"/>
              <a:t>B</a:t>
            </a:r>
            <a:r>
              <a:rPr lang="zh-CN" altLang="en-US" dirty="0"/>
              <a:t>产生随机数</a:t>
            </a:r>
            <a:r>
              <a:rPr lang="en-US" altLang="zh-CN" dirty="0" err="1"/>
              <a:t>rb</a:t>
            </a:r>
            <a:r>
              <a:rPr lang="zh-CN" altLang="en-US" dirty="0"/>
              <a:t>。同样，应答报文还可能包括签名的附加信息和会话密钥。</a:t>
            </a:r>
            <a:endParaRPr lang="en-US" altLang="zh-CN" dirty="0"/>
          </a:p>
          <a:p>
            <a:endParaRPr lang="en-US" altLang="zh-CN" dirty="0"/>
          </a:p>
          <a:p>
            <a:r>
              <a:rPr lang="zh-CN" altLang="en-US" sz="1200" b="1" dirty="0">
                <a:solidFill>
                  <a:srgbClr val="C00000"/>
                </a:solidFill>
                <a:latin typeface="Times New Roman" panose="02020603050405020304" pitchFamily="18" charset="0"/>
                <a:cs typeface="Times New Roman" panose="02020603050405020304" pitchFamily="18" charset="0"/>
              </a:rPr>
              <a:t>这是在双向认证一方生产随机数</a:t>
            </a:r>
            <a:r>
              <a:rPr lang="en-US" altLang="zh-CN" sz="1200" b="1" dirty="0" err="1">
                <a:solidFill>
                  <a:srgbClr val="C00000"/>
                </a:solidFill>
                <a:latin typeface="Times New Roman" panose="02020603050405020304" pitchFamily="18" charset="0"/>
                <a:cs typeface="Times New Roman" panose="02020603050405020304" pitchFamily="18" charset="0"/>
              </a:rPr>
              <a:t>rB</a:t>
            </a:r>
            <a:r>
              <a:rPr lang="zh-CN" altLang="en-US" sz="1200" b="1" dirty="0">
                <a:solidFill>
                  <a:srgbClr val="C00000"/>
                </a:solidFill>
                <a:latin typeface="Times New Roman" panose="02020603050405020304" pitchFamily="18" charset="0"/>
                <a:cs typeface="Times New Roman" panose="02020603050405020304" pitchFamily="18" charset="0"/>
              </a:rPr>
              <a:t>的签名返回，来表明确实掌握了与其证书相关的私钥，进一步提供安全性，有点类似三次握手协议</a:t>
            </a: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36</a:t>
            </a:fld>
            <a:endParaRPr lang="zh-CN" altLang="en-US"/>
          </a:p>
        </p:txBody>
      </p:sp>
    </p:spTree>
    <p:extLst>
      <p:ext uri="{BB962C8B-B14F-4D97-AF65-F5344CB8AC3E}">
        <p14:creationId xmlns:p14="http://schemas.microsoft.com/office/powerpoint/2010/main" val="25897374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证书扩展分为三个主要类别： </a:t>
            </a:r>
          </a:p>
          <a:p>
            <a:r>
              <a:rPr lang="zh-CN" altLang="en-US" dirty="0"/>
              <a:t>密钥和策略信息 </a:t>
            </a:r>
            <a:r>
              <a:rPr lang="en-US" altLang="zh-CN" dirty="0"/>
              <a:t>- </a:t>
            </a:r>
            <a:r>
              <a:rPr lang="zh-CN" altLang="en-US" dirty="0"/>
              <a:t>传达有关主体和签发者密钥的额外信息，以及证书策略的指标。证书策略是一套命名的规则，表明证书对具有共同安全要求的特定社区和</a:t>
            </a:r>
            <a:r>
              <a:rPr lang="en-US" altLang="zh-CN" dirty="0"/>
              <a:t>/</a:t>
            </a:r>
            <a:r>
              <a:rPr lang="zh-CN" altLang="en-US" dirty="0"/>
              <a:t>或应用类别的适用性。</a:t>
            </a:r>
          </a:p>
          <a:p>
            <a:r>
              <a:rPr lang="zh-CN" altLang="en-US" dirty="0"/>
              <a:t>主体和签发人属性 </a:t>
            </a:r>
            <a:r>
              <a:rPr lang="en-US" altLang="zh-CN" dirty="0"/>
              <a:t>- </a:t>
            </a:r>
            <a:r>
              <a:rPr lang="zh-CN" altLang="en-US" dirty="0"/>
              <a:t>支持证书主体或证书签发人的其他格式的名称，并可传达有关证书主体的额外信息；例如，邮政地址、电子邮件地址或图片。</a:t>
            </a:r>
          </a:p>
          <a:p>
            <a:r>
              <a:rPr lang="zh-CN" altLang="en-US" dirty="0"/>
              <a:t>认证路径约束</a:t>
            </a:r>
            <a:r>
              <a:rPr lang="en-US" altLang="zh-CN" dirty="0"/>
              <a:t>--</a:t>
            </a:r>
            <a:r>
              <a:rPr lang="zh-CN" altLang="en-US" dirty="0"/>
              <a:t>允许在其他</a:t>
            </a:r>
            <a:r>
              <a:rPr lang="en-US" altLang="zh-CN" dirty="0"/>
              <a:t>CA</a:t>
            </a:r>
            <a:r>
              <a:rPr lang="zh-CN" altLang="en-US" dirty="0"/>
              <a:t>为其颁发的证书中包含约束规范，这些约束规范可能会限制主体</a:t>
            </a:r>
            <a:r>
              <a:rPr lang="en-US" altLang="zh-CN" dirty="0"/>
              <a:t>CA</a:t>
            </a:r>
            <a:r>
              <a:rPr lang="zh-CN" altLang="en-US" dirty="0"/>
              <a:t>所能颁发的证书类型或随后在认证链中可能出现的证书类型。</a:t>
            </a:r>
          </a:p>
        </p:txBody>
      </p:sp>
      <p:sp>
        <p:nvSpPr>
          <p:cNvPr id="4" name="灯片编号占位符 3"/>
          <p:cNvSpPr>
            <a:spLocks noGrp="1"/>
          </p:cNvSpPr>
          <p:nvPr>
            <p:ph type="sldNum" sz="quarter" idx="5"/>
          </p:nvPr>
        </p:nvSpPr>
        <p:spPr/>
        <p:txBody>
          <a:bodyPr/>
          <a:lstStyle/>
          <a:p>
            <a:fld id="{184D3990-B510-4435-90A5-6D9F2619C2A6}" type="slidenum">
              <a:rPr lang="zh-CN" altLang="en-US" smtClean="0"/>
              <a:t>37</a:t>
            </a:fld>
            <a:endParaRPr lang="zh-CN" altLang="en-US"/>
          </a:p>
        </p:txBody>
      </p:sp>
    </p:spTree>
    <p:extLst>
      <p:ext uri="{BB962C8B-B14F-4D97-AF65-F5344CB8AC3E}">
        <p14:creationId xmlns:p14="http://schemas.microsoft.com/office/powerpoint/2010/main" val="4781535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RFC 2822</a:t>
            </a:r>
            <a:r>
              <a:rPr lang="zh-CN" altLang="en-US" dirty="0"/>
              <a:t>（互联网安全术语）将公钥基础设施（</a:t>
            </a:r>
            <a:r>
              <a:rPr lang="en-US" altLang="zh-CN" dirty="0"/>
              <a:t>PKI</a:t>
            </a:r>
            <a:r>
              <a:rPr lang="zh-CN" altLang="en-US" dirty="0"/>
              <a:t>）定义为创建、管理、存储、分发和撤销基于非对称加密技术的数字证书所需的一套硬件、软件、人员、政策和程序。它的主要目的是使安全、方便和有效地获得公钥。</a:t>
            </a:r>
            <a:r>
              <a:rPr lang="en-US" altLang="zh-CN" dirty="0"/>
              <a:t>IETF</a:t>
            </a:r>
            <a:r>
              <a:rPr lang="zh-CN" altLang="en-US" dirty="0"/>
              <a:t>公钥基础设施</a:t>
            </a:r>
            <a:r>
              <a:rPr lang="en-US" altLang="zh-CN" dirty="0"/>
              <a:t>X.509</a:t>
            </a:r>
            <a:r>
              <a:rPr lang="zh-CN" altLang="en-US" dirty="0"/>
              <a:t>（</a:t>
            </a:r>
            <a:r>
              <a:rPr lang="en-US" altLang="zh-CN" dirty="0"/>
              <a:t>PKIX</a:t>
            </a:r>
            <a:r>
              <a:rPr lang="zh-CN" altLang="en-US" dirty="0"/>
              <a:t>）工作组在</a:t>
            </a:r>
            <a:r>
              <a:rPr lang="en-US" altLang="zh-CN" dirty="0"/>
              <a:t>X.509</a:t>
            </a:r>
            <a:r>
              <a:rPr lang="zh-CN" altLang="en-US" dirty="0"/>
              <a:t>的基础上建立了一个正式（和通用）的模型，适合在互联网上部署基于证书的架构。</a:t>
            </a:r>
          </a:p>
        </p:txBody>
      </p:sp>
      <p:sp>
        <p:nvSpPr>
          <p:cNvPr id="4" name="灯片编号占位符 3"/>
          <p:cNvSpPr>
            <a:spLocks noGrp="1"/>
          </p:cNvSpPr>
          <p:nvPr>
            <p:ph type="sldNum" sz="quarter" idx="5"/>
          </p:nvPr>
        </p:nvSpPr>
        <p:spPr/>
        <p:txBody>
          <a:bodyPr/>
          <a:lstStyle/>
          <a:p>
            <a:fld id="{184D3990-B510-4435-90A5-6D9F2619C2A6}" type="slidenum">
              <a:rPr lang="zh-CN" altLang="en-US" smtClean="0"/>
              <a:t>38</a:t>
            </a:fld>
            <a:endParaRPr lang="zh-CN" altLang="en-US"/>
          </a:p>
        </p:txBody>
      </p:sp>
    </p:spTree>
    <p:extLst>
      <p:ext uri="{BB962C8B-B14F-4D97-AF65-F5344CB8AC3E}">
        <p14:creationId xmlns:p14="http://schemas.microsoft.com/office/powerpoint/2010/main" val="40197910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r>
              <a:rPr lang="zh-CN" altLang="en-US" dirty="0"/>
              <a:t>终端实体： 一个通用术语，用于表示终端用户、设备（如服务器、路由器）或任何其他可以在公钥证书的主题栏中识别的实体。终端实体可以消费和</a:t>
            </a:r>
            <a:r>
              <a:rPr lang="en-US" altLang="zh-CN" dirty="0"/>
              <a:t>/</a:t>
            </a:r>
            <a:r>
              <a:rPr lang="zh-CN" altLang="en-US" dirty="0"/>
              <a:t>或支持</a:t>
            </a:r>
            <a:r>
              <a:rPr lang="en-US" altLang="zh-CN" dirty="0"/>
              <a:t>PKI</a:t>
            </a:r>
            <a:r>
              <a:rPr lang="zh-CN" altLang="en-US" dirty="0"/>
              <a:t>相关服务。</a:t>
            </a:r>
          </a:p>
          <a:p>
            <a:r>
              <a:rPr lang="en-US" altLang="zh-CN" dirty="0"/>
              <a:t>- </a:t>
            </a:r>
            <a:r>
              <a:rPr lang="zh-CN" altLang="en-US" dirty="0"/>
              <a:t>认证机构（</a:t>
            </a:r>
            <a:r>
              <a:rPr lang="en-US" altLang="zh-CN" dirty="0"/>
              <a:t>CA</a:t>
            </a:r>
            <a:r>
              <a:rPr lang="zh-CN" altLang="en-US" dirty="0"/>
              <a:t>）： 证书和（通常）证书撤销列表（</a:t>
            </a:r>
            <a:r>
              <a:rPr lang="en-US" altLang="zh-CN" dirty="0"/>
              <a:t>CRL</a:t>
            </a:r>
            <a:r>
              <a:rPr lang="zh-CN" altLang="en-US" dirty="0"/>
              <a:t>）的签发者。它也可以支持各种管理功能，尽管这些功能通常被委托给注册机构。</a:t>
            </a:r>
          </a:p>
          <a:p>
            <a:r>
              <a:rPr lang="en-US" altLang="zh-CN" dirty="0"/>
              <a:t>- </a:t>
            </a:r>
            <a:r>
              <a:rPr lang="zh-CN" altLang="en-US" dirty="0"/>
              <a:t>注册机构（</a:t>
            </a:r>
            <a:r>
              <a:rPr lang="en-US" altLang="zh-CN" dirty="0"/>
              <a:t>RA</a:t>
            </a:r>
            <a:r>
              <a:rPr lang="zh-CN" altLang="en-US" dirty="0"/>
              <a:t>）： 一个可选择的组件，它可以承担</a:t>
            </a:r>
            <a:r>
              <a:rPr lang="en-US" altLang="zh-CN" dirty="0"/>
              <a:t>CA</a:t>
            </a:r>
            <a:r>
              <a:rPr lang="zh-CN" altLang="en-US" dirty="0"/>
              <a:t>的一些管理功能。</a:t>
            </a:r>
            <a:r>
              <a:rPr lang="en-US" altLang="zh-CN" dirty="0"/>
              <a:t>RA</a:t>
            </a:r>
            <a:r>
              <a:rPr lang="zh-CN" altLang="en-US" dirty="0"/>
              <a:t>通常与终端实体的注册过程相关，但也可以在其他一些领域提供协助。</a:t>
            </a:r>
          </a:p>
          <a:p>
            <a:r>
              <a:rPr lang="en-US" altLang="zh-CN" dirty="0"/>
              <a:t>- CRL</a:t>
            </a:r>
            <a:r>
              <a:rPr lang="zh-CN" altLang="en-US" dirty="0"/>
              <a:t>发布者：</a:t>
            </a:r>
            <a:r>
              <a:rPr lang="en-US" altLang="zh-CN" dirty="0"/>
              <a:t>CA</a:t>
            </a:r>
            <a:r>
              <a:rPr lang="zh-CN" altLang="en-US" dirty="0"/>
              <a:t>可以委托其发布</a:t>
            </a:r>
            <a:r>
              <a:rPr lang="en-US" altLang="zh-CN" dirty="0"/>
              <a:t>CRL</a:t>
            </a:r>
            <a:r>
              <a:rPr lang="zh-CN" altLang="en-US" dirty="0"/>
              <a:t>的可选组件。</a:t>
            </a:r>
          </a:p>
          <a:p>
            <a:pPr marL="171450" indent="-171450">
              <a:buFontTx/>
              <a:buChar char="-"/>
            </a:pPr>
            <a:r>
              <a:rPr lang="zh-CN" altLang="en-US" dirty="0"/>
              <a:t>存储库： 一个通用术语，用于表示存储证书和</a:t>
            </a:r>
            <a:r>
              <a:rPr lang="en-US" altLang="zh-CN" dirty="0"/>
              <a:t>CRL</a:t>
            </a:r>
            <a:r>
              <a:rPr lang="zh-CN" altLang="en-US" dirty="0"/>
              <a:t>的任何方法，以便终端实体可以检索到它们。</a:t>
            </a:r>
            <a:endParaRPr lang="en-US" altLang="zh-CN" dirty="0"/>
          </a:p>
          <a:p>
            <a:pPr marL="171450" indent="-171450">
              <a:buFontTx/>
              <a:buChar char="-"/>
            </a:pPr>
            <a:endParaRPr lang="en-US" altLang="zh-CN" dirty="0"/>
          </a:p>
          <a:p>
            <a:r>
              <a:rPr lang="en-US" altLang="zh-CN" dirty="0"/>
              <a:t>PKIX</a:t>
            </a:r>
            <a:r>
              <a:rPr lang="zh-CN" altLang="en-US" dirty="0"/>
              <a:t>确定了一些可能需要由管理协议支持的管理功能：</a:t>
            </a:r>
            <a:endParaRPr lang="en-US" altLang="zh-CN" dirty="0"/>
          </a:p>
          <a:p>
            <a:r>
              <a:rPr lang="en-US" altLang="zh-CN" dirty="0"/>
              <a:t>- </a:t>
            </a:r>
            <a:r>
              <a:rPr lang="zh-CN" altLang="en-US" dirty="0"/>
              <a:t>注册：在为用户颁发证书之前，用户首先向</a:t>
            </a:r>
            <a:r>
              <a:rPr lang="en-US" altLang="zh-CN" dirty="0"/>
              <a:t>CA</a:t>
            </a:r>
            <a:r>
              <a:rPr lang="zh-CN" altLang="en-US" dirty="0"/>
              <a:t>表明自己的身份。它通常涉及一些离线或在线的相互认证程序。</a:t>
            </a:r>
          </a:p>
          <a:p>
            <a:r>
              <a:rPr lang="en-US" altLang="zh-CN" dirty="0"/>
              <a:t>- </a:t>
            </a:r>
            <a:r>
              <a:rPr lang="zh-CN" altLang="en-US" dirty="0"/>
              <a:t>初始化：安装与基础设施中其他地方存储的钥匙有适当关系的钥匙材料。 </a:t>
            </a:r>
          </a:p>
          <a:p>
            <a:r>
              <a:rPr lang="en-US" altLang="zh-CN" dirty="0"/>
              <a:t>- </a:t>
            </a:r>
            <a:r>
              <a:rPr lang="zh-CN" altLang="en-US" dirty="0"/>
              <a:t>认证：</a:t>
            </a:r>
            <a:r>
              <a:rPr lang="en-US" altLang="zh-CN" dirty="0"/>
              <a:t>CA</a:t>
            </a:r>
            <a:r>
              <a:rPr lang="zh-CN" altLang="en-US" dirty="0"/>
              <a:t>为用户的公钥颁发证书，并将其返回给用户的客户系统和</a:t>
            </a:r>
            <a:r>
              <a:rPr lang="en-US" altLang="zh-CN" dirty="0"/>
              <a:t>/</a:t>
            </a:r>
            <a:r>
              <a:rPr lang="zh-CN" altLang="en-US" dirty="0"/>
              <a:t>或发布到存储库的过程。</a:t>
            </a:r>
          </a:p>
          <a:p>
            <a:r>
              <a:rPr lang="en-US" altLang="zh-CN" dirty="0"/>
              <a:t>-</a:t>
            </a:r>
            <a:r>
              <a:rPr lang="zh-CN" altLang="en-US" sz="1200" dirty="0">
                <a:latin typeface="Times New Roman" panose="02020603050405020304" pitchFamily="18" charset="0"/>
                <a:cs typeface="Times New Roman" panose="02020603050405020304" pitchFamily="18" charset="0"/>
              </a:rPr>
              <a:t>密钥对</a:t>
            </a:r>
            <a:r>
              <a:rPr lang="zh-CN" altLang="en-US" dirty="0"/>
              <a:t>恢复：当无法正常访问钥匙材料时，恢复必要的解密钥匙的一种机制。</a:t>
            </a:r>
          </a:p>
          <a:p>
            <a:r>
              <a:rPr lang="en-US" altLang="zh-CN" dirty="0"/>
              <a:t>-</a:t>
            </a:r>
            <a:r>
              <a:rPr lang="zh-CN" altLang="en-US" sz="1200" dirty="0">
                <a:latin typeface="Times New Roman" panose="02020603050405020304" pitchFamily="18" charset="0"/>
                <a:cs typeface="Times New Roman" panose="02020603050405020304" pitchFamily="18" charset="0"/>
              </a:rPr>
              <a:t>密钥对</a:t>
            </a:r>
            <a:r>
              <a:rPr lang="zh-CN" altLang="en-US" dirty="0"/>
              <a:t>更新：配对钥匙需要更新并颁发新的证书。</a:t>
            </a:r>
          </a:p>
          <a:p>
            <a:r>
              <a:rPr lang="en-US" altLang="zh-CN" dirty="0"/>
              <a:t>- </a:t>
            </a:r>
            <a:r>
              <a:rPr lang="zh-CN" altLang="en-US" dirty="0"/>
              <a:t>撤销请求：当授权人告知需要撤销证书时，如私钥泄露、隶属关系改变、姓名改变。</a:t>
            </a:r>
          </a:p>
          <a:p>
            <a:r>
              <a:rPr lang="en-US" altLang="zh-CN" dirty="0"/>
              <a:t>- </a:t>
            </a:r>
            <a:r>
              <a:rPr lang="zh-CN" altLang="en-US" dirty="0"/>
              <a:t>交叉认证：当两个</a:t>
            </a:r>
            <a:r>
              <a:rPr lang="en-US" altLang="zh-CN" dirty="0"/>
              <a:t>CA</a:t>
            </a:r>
            <a:r>
              <a:rPr lang="zh-CN" altLang="en-US" dirty="0"/>
              <a:t>交换用于建立交叉认证的信息时，由一个</a:t>
            </a:r>
            <a:r>
              <a:rPr lang="en-US" altLang="zh-CN" dirty="0"/>
              <a:t>CA</a:t>
            </a:r>
            <a:r>
              <a:rPr lang="zh-CN" altLang="en-US" dirty="0"/>
              <a:t>签发给另一个</a:t>
            </a:r>
            <a:r>
              <a:rPr lang="en-US" altLang="zh-CN" dirty="0"/>
              <a:t>CA</a:t>
            </a:r>
            <a:r>
              <a:rPr lang="zh-CN" altLang="en-US" dirty="0"/>
              <a:t>，其中包含用于签发证书的</a:t>
            </a:r>
            <a:r>
              <a:rPr lang="en-US" altLang="zh-CN" dirty="0"/>
              <a:t>CA</a:t>
            </a:r>
            <a:r>
              <a:rPr lang="zh-CN" altLang="en-US" dirty="0"/>
              <a:t>签名钥匙。</a:t>
            </a:r>
          </a:p>
          <a:p>
            <a:r>
              <a:rPr lang="en-US" altLang="zh-CN" dirty="0"/>
              <a:t>PKIX</a:t>
            </a:r>
            <a:r>
              <a:rPr lang="zh-CN" altLang="en-US" dirty="0"/>
              <a:t>工作组在</a:t>
            </a:r>
            <a:r>
              <a:rPr lang="en-US" altLang="zh-CN" dirty="0"/>
              <a:t>PKIX</a:t>
            </a:r>
            <a:r>
              <a:rPr lang="zh-CN" altLang="en-US" dirty="0"/>
              <a:t>实体之间定义了两种替代的管理协议。</a:t>
            </a:r>
            <a:r>
              <a:rPr lang="en-US" altLang="zh-CN" dirty="0"/>
              <a:t>RFC 2510</a:t>
            </a:r>
            <a:r>
              <a:rPr lang="zh-CN" altLang="en-US" dirty="0"/>
              <a:t>定义了证书管理协议（</a:t>
            </a:r>
            <a:r>
              <a:rPr lang="en-US" altLang="zh-CN" dirty="0"/>
              <a:t>CMP</a:t>
            </a:r>
            <a:r>
              <a:rPr lang="zh-CN" altLang="en-US" dirty="0"/>
              <a:t>），它是一个灵活的协议，能够适应各种技术、操作和商业模式。</a:t>
            </a:r>
            <a:r>
              <a:rPr lang="en-US" altLang="zh-CN" dirty="0"/>
              <a:t>RFC 2797</a:t>
            </a:r>
            <a:r>
              <a:rPr lang="zh-CN" altLang="en-US" dirty="0"/>
              <a:t>定义了</a:t>
            </a:r>
            <a:r>
              <a:rPr lang="en-US" altLang="zh-CN" dirty="0"/>
              <a:t>CMS</a:t>
            </a:r>
            <a:r>
              <a:rPr lang="zh-CN" altLang="en-US" dirty="0"/>
              <a:t>（</a:t>
            </a:r>
            <a:r>
              <a:rPr lang="en-US" altLang="zh-CN" dirty="0"/>
              <a:t>RFC 2630</a:t>
            </a:r>
            <a:r>
              <a:rPr lang="zh-CN" altLang="en-US" dirty="0"/>
              <a:t>）上的证书管理消息，称为</a:t>
            </a:r>
            <a:r>
              <a:rPr lang="en-US" altLang="zh-CN" dirty="0"/>
              <a:t>CMC</a:t>
            </a:r>
            <a:r>
              <a:rPr lang="zh-CN" altLang="en-US" dirty="0"/>
              <a:t>。</a:t>
            </a:r>
          </a:p>
          <a:p>
            <a:pPr marL="171450" indent="-171450">
              <a:buFontTx/>
              <a:buChar char="-"/>
            </a:pPr>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39</a:t>
            </a:fld>
            <a:endParaRPr lang="zh-CN" altLang="en-US"/>
          </a:p>
        </p:txBody>
      </p:sp>
    </p:spTree>
    <p:extLst>
      <p:ext uri="{BB962C8B-B14F-4D97-AF65-F5344CB8AC3E}">
        <p14:creationId xmlns:p14="http://schemas.microsoft.com/office/powerpoint/2010/main" val="16240399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41</a:t>
            </a:fld>
            <a:endParaRPr lang="zh-CN" altLang="en-US"/>
          </a:p>
        </p:txBody>
      </p:sp>
    </p:spTree>
    <p:extLst>
      <p:ext uri="{BB962C8B-B14F-4D97-AF65-F5344CB8AC3E}">
        <p14:creationId xmlns:p14="http://schemas.microsoft.com/office/powerpoint/2010/main" val="12935324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8558C9-EC71-4A62-B3A9-EF0DD3876314}" type="datetime1">
              <a:rPr lang="zh-CN" altLang="en-US" smtClean="0"/>
              <a:t>2024/10/27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DBDE2CB-4801-494F-A0A4-D49D70804842}" type="slidenum">
              <a:rPr lang="zh-CN" altLang="en-US" smtClean="0"/>
              <a:t>‹#›</a:t>
            </a:fld>
            <a:endParaRPr lang="zh-CN" altLang="en-US"/>
          </a:p>
        </p:txBody>
      </p:sp>
      <p:pic>
        <p:nvPicPr>
          <p:cNvPr id="7" name="图片 6">
            <a:extLst>
              <a:ext uri="{FF2B5EF4-FFF2-40B4-BE49-F238E27FC236}">
                <a16:creationId xmlns:a16="http://schemas.microsoft.com/office/drawing/2014/main" id="{C0D110C8-EAF5-47F1-9248-A9C9C6656A2D}"/>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9" name="矩形 8">
            <a:extLst>
              <a:ext uri="{FF2B5EF4-FFF2-40B4-BE49-F238E27FC236}">
                <a16:creationId xmlns:a16="http://schemas.microsoft.com/office/drawing/2014/main" id="{C8B527D9-4F11-7BEC-14E4-975B877658EF}"/>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4280819" y="161924"/>
            <a:ext cx="4639089" cy="685800"/>
          </a:xfrm>
        </p:spPr>
        <p:txBody>
          <a:bodyPr/>
          <a:lstStyle>
            <a:lvl1pPr algn="r">
              <a:defRPr 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12" name="灯片编号占位符 11"/>
          <p:cNvSpPr>
            <a:spLocks noGrp="1"/>
          </p:cNvSpPr>
          <p:nvPr>
            <p:ph type="sldNum" sz="quarter" idx="12"/>
          </p:nvPr>
        </p:nvSpPr>
        <p:spPr>
          <a:xfrm>
            <a:off x="6735062" y="6330951"/>
            <a:ext cx="2057400" cy="365125"/>
          </a:xfrm>
        </p:spPr>
        <p:txBody>
          <a:bodyPr/>
          <a:lstStyle>
            <a:lvl1pPr algn="r">
              <a:defRPr/>
            </a:lvl1pPr>
          </a:lstStyle>
          <a:p>
            <a:fld id="{4DBDE2CB-4801-494F-A0A4-D49D70804842}" type="slidenum">
              <a:rPr lang="zh-CN" altLang="en-US" smtClean="0"/>
              <a:t>‹#›</a:t>
            </a:fld>
            <a:endParaRPr lang="zh-CN" altLang="en-US"/>
          </a:p>
        </p:txBody>
      </p:sp>
      <p:pic>
        <p:nvPicPr>
          <p:cNvPr id="3" name="图片 2">
            <a:extLst>
              <a:ext uri="{FF2B5EF4-FFF2-40B4-BE49-F238E27FC236}">
                <a16:creationId xmlns:a16="http://schemas.microsoft.com/office/drawing/2014/main" id="{1D5D4F7A-35F7-60ED-8EB7-BA542D1E6652}"/>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4" name="矩形 3">
            <a:extLst>
              <a:ext uri="{FF2B5EF4-FFF2-40B4-BE49-F238E27FC236}">
                <a16:creationId xmlns:a16="http://schemas.microsoft.com/office/drawing/2014/main" id="{7BD3D7E2-417C-C947-10F1-1813F74BA87B}"/>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DA4030-5B40-40D4-BB6C-441BB5A09A80}" type="datetime1">
              <a:rPr lang="zh-CN" altLang="en-US" smtClean="0"/>
              <a:t>2024/10/27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DBDE2CB-4801-494F-A0A4-D49D70804842}" type="slidenum">
              <a:rPr lang="zh-CN" altLang="en-US" smtClean="0"/>
              <a:t>‹#›</a:t>
            </a:fld>
            <a:endParaRPr lang="zh-CN" altLang="en-US"/>
          </a:p>
        </p:txBody>
      </p:sp>
      <p:pic>
        <p:nvPicPr>
          <p:cNvPr id="5" name="图片 4">
            <a:extLst>
              <a:ext uri="{FF2B5EF4-FFF2-40B4-BE49-F238E27FC236}">
                <a16:creationId xmlns:a16="http://schemas.microsoft.com/office/drawing/2014/main" id="{C90902D7-D10F-21A2-CB3D-B61DF038D1F9}"/>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6" name="矩形 5">
            <a:extLst>
              <a:ext uri="{FF2B5EF4-FFF2-40B4-BE49-F238E27FC236}">
                <a16:creationId xmlns:a16="http://schemas.microsoft.com/office/drawing/2014/main" id="{8ED5C463-2AB6-0036-6BA1-8AF26FA8335B}"/>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Title 1"/>
          <p:cNvSpPr>
            <a:spLocks noGrp="1"/>
          </p:cNvSpPr>
          <p:nvPr>
            <p:ph type="title"/>
          </p:nvPr>
        </p:nvSpPr>
        <p:spPr>
          <a:xfrm>
            <a:off x="4280819" y="161924"/>
            <a:ext cx="4639089" cy="685800"/>
          </a:xfrm>
        </p:spPr>
        <p:txBody>
          <a:bodyPr/>
          <a:lstStyle>
            <a:lvl1pPr algn="r">
              <a:defRPr 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10" name="日期占位符 9"/>
          <p:cNvSpPr>
            <a:spLocks noGrp="1"/>
          </p:cNvSpPr>
          <p:nvPr>
            <p:ph type="dt" sz="half" idx="10"/>
          </p:nvPr>
        </p:nvSpPr>
        <p:spPr/>
        <p:txBody>
          <a:bodyPr/>
          <a:lstStyle/>
          <a:p>
            <a:fld id="{E91735B9-8A64-41B6-8700-CE98B3E20E6D}" type="datetime1">
              <a:rPr lang="zh-CN" altLang="en-US" smtClean="0"/>
              <a:t>2024/10/27</a:t>
            </a:fld>
            <a:endParaRPr lang="zh-CN" altLang="en-US"/>
          </a:p>
        </p:txBody>
      </p:sp>
      <p:sp>
        <p:nvSpPr>
          <p:cNvPr id="12" name="灯片编号占位符 11"/>
          <p:cNvSpPr>
            <a:spLocks noGrp="1"/>
          </p:cNvSpPr>
          <p:nvPr>
            <p:ph type="sldNum" sz="quarter" idx="12"/>
          </p:nvPr>
        </p:nvSpPr>
        <p:spPr>
          <a:xfrm>
            <a:off x="3543300" y="6330951"/>
            <a:ext cx="2057400" cy="365125"/>
          </a:xfrm>
        </p:spPr>
        <p:txBody>
          <a:bodyPr/>
          <a:lstStyle>
            <a:lvl1pPr algn="ctr">
              <a:defRPr/>
            </a:lvl1pPr>
          </a:lstStyle>
          <a:p>
            <a:fld id="{4DBDE2CB-4801-494F-A0A4-D49D7080484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8558C9-EC71-4A62-B3A9-EF0DD3876314}" type="datetime1">
              <a:rPr lang="zh-CN" altLang="en-US" smtClean="0">
                <a:solidFill>
                  <a:prstClr val="black">
                    <a:tint val="75000"/>
                  </a:prstClr>
                </a:solidFill>
              </a:rPr>
              <a:pPr/>
              <a:t>2024/10/27</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DBDE2CB-4801-494F-A0A4-D49D70804842}" type="slidenum">
              <a:rPr lang="zh-CN" altLang="en-US" smtClean="0">
                <a:solidFill>
                  <a:prstClr val="black">
                    <a:tint val="75000"/>
                  </a:prstClr>
                </a:solidFill>
              </a:rPr>
              <a:pPr/>
              <a:t>‹#›</a:t>
            </a:fld>
            <a:endParaRPr lang="zh-CN" altLang="en-US">
              <a:solidFill>
                <a:prstClr val="black">
                  <a:tint val="75000"/>
                </a:prstClr>
              </a:solidFill>
            </a:endParaRPr>
          </a:p>
        </p:txBody>
      </p:sp>
      <p:pic>
        <p:nvPicPr>
          <p:cNvPr id="7" name="图片 6">
            <a:extLst>
              <a:ext uri="{FF2B5EF4-FFF2-40B4-BE49-F238E27FC236}">
                <a16:creationId xmlns:a16="http://schemas.microsoft.com/office/drawing/2014/main" id="{C0D110C8-EAF5-47F1-9248-A9C9C6656A2D}"/>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9" name="矩形 8">
            <a:extLst>
              <a:ext uri="{FF2B5EF4-FFF2-40B4-BE49-F238E27FC236}">
                <a16:creationId xmlns:a16="http://schemas.microsoft.com/office/drawing/2014/main" id="{C8B527D9-4F11-7BEC-14E4-975B877658EF}"/>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solidFill>
                <a:prstClr val="white"/>
              </a:solidFill>
            </a:endParaRPr>
          </a:p>
        </p:txBody>
      </p:sp>
    </p:spTree>
    <p:extLst>
      <p:ext uri="{BB962C8B-B14F-4D97-AF65-F5344CB8AC3E}">
        <p14:creationId xmlns:p14="http://schemas.microsoft.com/office/powerpoint/2010/main" val="414472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4280819" y="161924"/>
            <a:ext cx="4639089" cy="685800"/>
          </a:xfrm>
        </p:spPr>
        <p:txBody>
          <a:bodyPr/>
          <a:lstStyle>
            <a:lvl1pPr algn="r">
              <a:defRPr 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12" name="灯片编号占位符 11"/>
          <p:cNvSpPr>
            <a:spLocks noGrp="1"/>
          </p:cNvSpPr>
          <p:nvPr>
            <p:ph type="sldNum" sz="quarter" idx="12"/>
          </p:nvPr>
        </p:nvSpPr>
        <p:spPr>
          <a:xfrm>
            <a:off x="6735062" y="6330951"/>
            <a:ext cx="2057400" cy="365125"/>
          </a:xfrm>
        </p:spPr>
        <p:txBody>
          <a:bodyPr/>
          <a:lstStyle>
            <a:lvl1pPr algn="r">
              <a:defRPr/>
            </a:lvl1pPr>
          </a:lstStyle>
          <a:p>
            <a:fld id="{4DBDE2CB-4801-494F-A0A4-D49D70804842}" type="slidenum">
              <a:rPr lang="zh-CN" altLang="en-US" smtClean="0">
                <a:solidFill>
                  <a:prstClr val="black">
                    <a:tint val="75000"/>
                  </a:prstClr>
                </a:solidFill>
              </a:rPr>
              <a:pPr/>
              <a:t>‹#›</a:t>
            </a:fld>
            <a:endParaRPr lang="zh-CN" altLang="en-US">
              <a:solidFill>
                <a:prstClr val="black">
                  <a:tint val="75000"/>
                </a:prstClr>
              </a:solidFill>
            </a:endParaRPr>
          </a:p>
        </p:txBody>
      </p:sp>
      <p:pic>
        <p:nvPicPr>
          <p:cNvPr id="3" name="图片 2">
            <a:extLst>
              <a:ext uri="{FF2B5EF4-FFF2-40B4-BE49-F238E27FC236}">
                <a16:creationId xmlns:a16="http://schemas.microsoft.com/office/drawing/2014/main" id="{1D5D4F7A-35F7-60ED-8EB7-BA542D1E6652}"/>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4" name="矩形 3">
            <a:extLst>
              <a:ext uri="{FF2B5EF4-FFF2-40B4-BE49-F238E27FC236}">
                <a16:creationId xmlns:a16="http://schemas.microsoft.com/office/drawing/2014/main" id="{7BD3D7E2-417C-C947-10F1-1813F74BA87B}"/>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solidFill>
                <a:prstClr val="white"/>
              </a:solidFill>
            </a:endParaRPr>
          </a:p>
        </p:txBody>
      </p:sp>
    </p:spTree>
    <p:extLst>
      <p:ext uri="{BB962C8B-B14F-4D97-AF65-F5344CB8AC3E}">
        <p14:creationId xmlns:p14="http://schemas.microsoft.com/office/powerpoint/2010/main" val="1749936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DA4030-5B40-40D4-BB6C-441BB5A09A80}" type="datetime1">
              <a:rPr lang="zh-CN" altLang="en-US" smtClean="0">
                <a:solidFill>
                  <a:prstClr val="black">
                    <a:tint val="75000"/>
                  </a:prstClr>
                </a:solidFill>
              </a:rPr>
              <a:pPr/>
              <a:t>2024/10/27</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DBDE2CB-4801-494F-A0A4-D49D70804842}" type="slidenum">
              <a:rPr lang="zh-CN" altLang="en-US" smtClean="0">
                <a:solidFill>
                  <a:prstClr val="black">
                    <a:tint val="75000"/>
                  </a:prstClr>
                </a:solidFill>
              </a:rPr>
              <a:pPr/>
              <a:t>‹#›</a:t>
            </a:fld>
            <a:endParaRPr lang="zh-CN" altLang="en-US">
              <a:solidFill>
                <a:prstClr val="black">
                  <a:tint val="75000"/>
                </a:prstClr>
              </a:solidFill>
            </a:endParaRPr>
          </a:p>
        </p:txBody>
      </p:sp>
      <p:pic>
        <p:nvPicPr>
          <p:cNvPr id="5" name="图片 4">
            <a:extLst>
              <a:ext uri="{FF2B5EF4-FFF2-40B4-BE49-F238E27FC236}">
                <a16:creationId xmlns:a16="http://schemas.microsoft.com/office/drawing/2014/main" id="{C90902D7-D10F-21A2-CB3D-B61DF038D1F9}"/>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6" name="矩形 5">
            <a:extLst>
              <a:ext uri="{FF2B5EF4-FFF2-40B4-BE49-F238E27FC236}">
                <a16:creationId xmlns:a16="http://schemas.microsoft.com/office/drawing/2014/main" id="{8ED5C463-2AB6-0036-6BA1-8AF26FA8335B}"/>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solidFill>
                <a:prstClr val="white"/>
              </a:solidFill>
            </a:endParaRPr>
          </a:p>
        </p:txBody>
      </p:sp>
    </p:spTree>
    <p:extLst>
      <p:ext uri="{BB962C8B-B14F-4D97-AF65-F5344CB8AC3E}">
        <p14:creationId xmlns:p14="http://schemas.microsoft.com/office/powerpoint/2010/main" val="528338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Title 1"/>
          <p:cNvSpPr>
            <a:spLocks noGrp="1"/>
          </p:cNvSpPr>
          <p:nvPr>
            <p:ph type="title"/>
          </p:nvPr>
        </p:nvSpPr>
        <p:spPr>
          <a:xfrm>
            <a:off x="4280819" y="161924"/>
            <a:ext cx="4639089" cy="685800"/>
          </a:xfrm>
        </p:spPr>
        <p:txBody>
          <a:bodyPr/>
          <a:lstStyle>
            <a:lvl1pPr algn="r">
              <a:defRPr 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10" name="日期占位符 9"/>
          <p:cNvSpPr>
            <a:spLocks noGrp="1"/>
          </p:cNvSpPr>
          <p:nvPr>
            <p:ph type="dt" sz="half" idx="10"/>
          </p:nvPr>
        </p:nvSpPr>
        <p:spPr/>
        <p:txBody>
          <a:bodyPr/>
          <a:lstStyle/>
          <a:p>
            <a:fld id="{E91735B9-8A64-41B6-8700-CE98B3E20E6D}" type="datetime1">
              <a:rPr lang="zh-CN" altLang="en-US" smtClean="0">
                <a:solidFill>
                  <a:prstClr val="black">
                    <a:tint val="75000"/>
                  </a:prstClr>
                </a:solidFill>
              </a:rPr>
              <a:pPr/>
              <a:t>2024/10/27</a:t>
            </a:fld>
            <a:endParaRPr lang="zh-CN" altLang="en-US">
              <a:solidFill>
                <a:prstClr val="black">
                  <a:tint val="75000"/>
                </a:prstClr>
              </a:solidFill>
            </a:endParaRPr>
          </a:p>
        </p:txBody>
      </p:sp>
      <p:sp>
        <p:nvSpPr>
          <p:cNvPr id="12" name="灯片编号占位符 11"/>
          <p:cNvSpPr>
            <a:spLocks noGrp="1"/>
          </p:cNvSpPr>
          <p:nvPr>
            <p:ph type="sldNum" sz="quarter" idx="12"/>
          </p:nvPr>
        </p:nvSpPr>
        <p:spPr>
          <a:xfrm>
            <a:off x="3543300" y="6330951"/>
            <a:ext cx="2057400" cy="365125"/>
          </a:xfrm>
        </p:spPr>
        <p:txBody>
          <a:bodyPr/>
          <a:lstStyle>
            <a:lvl1pPr algn="ctr">
              <a:defRPr/>
            </a:lvl1pPr>
          </a:lstStyle>
          <a:p>
            <a:fld id="{4DBDE2CB-4801-494F-A0A4-D49D70804842}"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787565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86541E-DE8D-4B0C-80C1-8295F826FE0C}" type="datetime1">
              <a:rPr lang="zh-CN" altLang="en-US" smtClean="0"/>
              <a:t>2024/10/27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BDE2CB-4801-494F-A0A4-D49D7080484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86541E-DE8D-4B0C-80C1-8295F826FE0C}" type="datetime1">
              <a:rPr lang="zh-CN" altLang="en-US" smtClean="0">
                <a:solidFill>
                  <a:prstClr val="black">
                    <a:tint val="75000"/>
                  </a:prstClr>
                </a:solidFill>
              </a:rPr>
              <a:pPr/>
              <a:t>2024/10/27</a:t>
            </a:fld>
            <a:endParaRPr lang="zh-CN" alt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BDE2CB-4801-494F-A0A4-D49D70804842}"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15404625"/>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web.xidian.edu.cn/jfwang"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pn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6.svg"/><Relationship Id="rId11" Type="http://schemas.openxmlformats.org/officeDocument/2006/relationships/image" Target="../media/image11.sv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svg"/><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02.png"/><Relationship Id="rId3" Type="http://schemas.openxmlformats.org/officeDocument/2006/relationships/image" Target="../media/image80.png"/><Relationship Id="rId7" Type="http://schemas.openxmlformats.org/officeDocument/2006/relationships/image" Target="../media/image17.png"/><Relationship Id="rId12" Type="http://schemas.openxmlformats.org/officeDocument/2006/relationships/image" Target="../media/image20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svg"/><Relationship Id="rId11" Type="http://schemas.openxmlformats.org/officeDocument/2006/relationships/image" Target="../media/image660.png"/><Relationship Id="rId5" Type="http://schemas.openxmlformats.org/officeDocument/2006/relationships/image" Target="../media/image15.png"/><Relationship Id="rId15" Type="http://schemas.openxmlformats.org/officeDocument/2006/relationships/image" Target="../media/image203.png"/><Relationship Id="rId10" Type="http://schemas.openxmlformats.org/officeDocument/2006/relationships/image" Target="../media/image200.png"/><Relationship Id="rId4" Type="http://schemas.openxmlformats.org/officeDocument/2006/relationships/image" Target="../media/image14.png"/><Relationship Id="rId9" Type="http://schemas.openxmlformats.org/officeDocument/2006/relationships/image" Target="../media/image199.png"/><Relationship Id="rId14" Type="http://schemas.openxmlformats.org/officeDocument/2006/relationships/image" Target="../media/image1890.png"/></Relationships>
</file>

<file path=ppt/slides/_rels/slide8.xml.rels><?xml version="1.0" encoding="UTF-8" standalone="yes"?>
<Relationships xmlns="http://schemas.openxmlformats.org/package/2006/relationships"><Relationship Id="rId8" Type="http://schemas.openxmlformats.org/officeDocument/2006/relationships/image" Target="../media/image208.png"/><Relationship Id="rId13" Type="http://schemas.openxmlformats.org/officeDocument/2006/relationships/image" Target="../media/image17.png"/><Relationship Id="rId3" Type="http://schemas.openxmlformats.org/officeDocument/2006/relationships/image" Target="../media/image19.png"/><Relationship Id="rId7" Type="http://schemas.openxmlformats.org/officeDocument/2006/relationships/image" Target="../media/image1100.png"/><Relationship Id="rId12"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7.png"/><Relationship Id="rId11" Type="http://schemas.openxmlformats.org/officeDocument/2006/relationships/image" Target="../media/image15.png"/><Relationship Id="rId5" Type="http://schemas.openxmlformats.org/officeDocument/2006/relationships/image" Target="../media/image1080.png"/><Relationship Id="rId10" Type="http://schemas.openxmlformats.org/officeDocument/2006/relationships/image" Target="../media/image1130.png"/><Relationship Id="rId4" Type="http://schemas.openxmlformats.org/officeDocument/2006/relationships/image" Target="../media/image20.png"/><Relationship Id="rId9" Type="http://schemas.openxmlformats.org/officeDocument/2006/relationships/image" Target="../media/image1120.png"/><Relationship Id="rId14" Type="http://schemas.openxmlformats.org/officeDocument/2006/relationships/image" Target="../media/image18.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16.png"/><Relationship Id="rId3" Type="http://schemas.openxmlformats.org/officeDocument/2006/relationships/image" Target="../media/image21.png"/><Relationship Id="rId7" Type="http://schemas.openxmlformats.org/officeDocument/2006/relationships/image" Target="../media/image2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213.png"/><Relationship Id="rId10" Type="http://schemas.openxmlformats.org/officeDocument/2006/relationships/image" Target="../media/image218.png"/><Relationship Id="rId4" Type="http://schemas.openxmlformats.org/officeDocument/2006/relationships/image" Target="../media/image212.png"/><Relationship Id="rId9" Type="http://schemas.openxmlformats.org/officeDocument/2006/relationships/image" Target="../media/image217.png"/></Relationships>
</file>

<file path=ppt/slides/_rels/slide1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230.png"/><Relationship Id="rId13" Type="http://schemas.openxmlformats.org/officeDocument/2006/relationships/image" Target="../media/image17.png"/><Relationship Id="rId3" Type="http://schemas.openxmlformats.org/officeDocument/2006/relationships/image" Target="../media/image204.png"/><Relationship Id="rId12" Type="http://schemas.openxmlformats.org/officeDocument/2006/relationships/image" Target="../media/image16.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31.png"/><Relationship Id="rId11" Type="http://schemas.openxmlformats.org/officeDocument/2006/relationships/image" Target="../media/image15.png"/><Relationship Id="rId5" Type="http://schemas.openxmlformats.org/officeDocument/2006/relationships/image" Target="../media/image220.png"/><Relationship Id="rId10" Type="http://schemas.openxmlformats.org/officeDocument/2006/relationships/image" Target="../media/image260.png"/><Relationship Id="rId4" Type="http://schemas.openxmlformats.org/officeDocument/2006/relationships/image" Target="../media/image210.png"/><Relationship Id="rId9" Type="http://schemas.openxmlformats.org/officeDocument/2006/relationships/image" Target="../media/image24.png"/><Relationship Id="rId14" Type="http://schemas.openxmlformats.org/officeDocument/2006/relationships/image" Target="../media/image18.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microsoft.com/office/2007/relationships/hdphoto" Target="../media/hdphoto2.wdp"/></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2580.png"/><Relationship Id="rId13" Type="http://schemas.openxmlformats.org/officeDocument/2006/relationships/image" Target="../media/image2630.png"/><Relationship Id="rId18" Type="http://schemas.openxmlformats.org/officeDocument/2006/relationships/image" Target="../media/image268.png"/><Relationship Id="rId3" Type="http://schemas.openxmlformats.org/officeDocument/2006/relationships/image" Target="../media/image15.png"/><Relationship Id="rId7" Type="http://schemas.openxmlformats.org/officeDocument/2006/relationships/image" Target="../media/image2570.png"/><Relationship Id="rId12" Type="http://schemas.openxmlformats.org/officeDocument/2006/relationships/image" Target="../media/image2620.png"/><Relationship Id="rId17" Type="http://schemas.openxmlformats.org/officeDocument/2006/relationships/image" Target="../media/image267.png"/><Relationship Id="rId2" Type="http://schemas.openxmlformats.org/officeDocument/2006/relationships/notesSlide" Target="../notesSlides/notesSlide33.xml"/><Relationship Id="rId16" Type="http://schemas.openxmlformats.org/officeDocument/2006/relationships/image" Target="../media/image266.png"/><Relationship Id="rId1" Type="http://schemas.openxmlformats.org/officeDocument/2006/relationships/slideLayout" Target="../slideLayouts/slideLayout2.xml"/><Relationship Id="rId6" Type="http://schemas.openxmlformats.org/officeDocument/2006/relationships/image" Target="../media/image18.svg"/><Relationship Id="rId11" Type="http://schemas.openxmlformats.org/officeDocument/2006/relationships/image" Target="../media/image2610.png"/><Relationship Id="rId5" Type="http://schemas.openxmlformats.org/officeDocument/2006/relationships/image" Target="../media/image17.png"/><Relationship Id="rId15" Type="http://schemas.openxmlformats.org/officeDocument/2006/relationships/image" Target="../media/image265.png"/><Relationship Id="rId10" Type="http://schemas.openxmlformats.org/officeDocument/2006/relationships/image" Target="../media/image2600.png"/><Relationship Id="rId4" Type="http://schemas.openxmlformats.org/officeDocument/2006/relationships/image" Target="../media/image16.svg"/><Relationship Id="rId9" Type="http://schemas.openxmlformats.org/officeDocument/2006/relationships/image" Target="../media/image2590.png"/><Relationship Id="rId14" Type="http://schemas.openxmlformats.org/officeDocument/2006/relationships/image" Target="../media/image264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CF98E0B-E958-5B7D-336A-6BB668778A6B}"/>
              </a:ext>
            </a:extLst>
          </p:cNvPr>
          <p:cNvPicPr>
            <a:picLocks noChangeAspect="1"/>
          </p:cNvPicPr>
          <p:nvPr/>
        </p:nvPicPr>
        <p:blipFill rotWithShape="1">
          <a:blip r:embed="rId3">
            <a:extLst>
              <a:ext uri="{28A0092B-C50C-407E-A947-70E740481C1C}">
                <a14:useLocalDpi xmlns:a14="http://schemas.microsoft.com/office/drawing/2010/main" val="0"/>
              </a:ext>
            </a:extLst>
          </a:blip>
          <a:srcRect l="9888" r="9888" b="12474"/>
          <a:stretch/>
        </p:blipFill>
        <p:spPr>
          <a:xfrm>
            <a:off x="0" y="818440"/>
            <a:ext cx="9144000" cy="6019800"/>
          </a:xfrm>
          <a:prstGeom prst="rect">
            <a:avLst/>
          </a:prstGeom>
        </p:spPr>
      </p:pic>
      <p:sp>
        <p:nvSpPr>
          <p:cNvPr id="3" name="矩形 2">
            <a:extLst>
              <a:ext uri="{FF2B5EF4-FFF2-40B4-BE49-F238E27FC236}">
                <a16:creationId xmlns:a16="http://schemas.microsoft.com/office/drawing/2014/main" id="{2BC83181-D003-1818-8D56-53A785AC9F54}"/>
              </a:ext>
            </a:extLst>
          </p:cNvPr>
          <p:cNvSpPr/>
          <p:nvPr/>
        </p:nvSpPr>
        <p:spPr>
          <a:xfrm>
            <a:off x="-1" y="-19760"/>
            <a:ext cx="9144000" cy="6877760"/>
          </a:xfrm>
          <a:prstGeom prst="rect">
            <a:avLst/>
          </a:prstGeom>
          <a:gradFill>
            <a:gsLst>
              <a:gs pos="42000">
                <a:schemeClr val="bg1">
                  <a:alpha val="75000"/>
                </a:schemeClr>
              </a:gs>
              <a:gs pos="23000">
                <a:schemeClr val="bg1"/>
              </a:gs>
              <a:gs pos="0">
                <a:schemeClr val="bg1"/>
              </a:gs>
              <a:gs pos="94964">
                <a:schemeClr val="bg1">
                  <a:alpha val="55000"/>
                </a:schemeClr>
              </a:gs>
              <a:gs pos="64000">
                <a:schemeClr val="bg1">
                  <a:alpha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a:extLst>
              <a:ext uri="{FF2B5EF4-FFF2-40B4-BE49-F238E27FC236}">
                <a16:creationId xmlns:a16="http://schemas.microsoft.com/office/drawing/2014/main" id="{9E6D7042-E30C-4386-2860-93454B1A376D}"/>
              </a:ext>
            </a:extLst>
          </p:cNvPr>
          <p:cNvGrpSpPr/>
          <p:nvPr/>
        </p:nvGrpSpPr>
        <p:grpSpPr>
          <a:xfrm>
            <a:off x="-15240" y="4800781"/>
            <a:ext cx="9174480" cy="2075436"/>
            <a:chOff x="-15240" y="4117778"/>
            <a:chExt cx="9174480" cy="2758440"/>
          </a:xfrm>
        </p:grpSpPr>
        <p:grpSp>
          <p:nvGrpSpPr>
            <p:cNvPr id="12" name="组合 11">
              <a:extLst>
                <a:ext uri="{FF2B5EF4-FFF2-40B4-BE49-F238E27FC236}">
                  <a16:creationId xmlns:a16="http://schemas.microsoft.com/office/drawing/2014/main" id="{73EE70C5-030B-55D7-A486-40BF8FC20F46}"/>
                </a:ext>
              </a:extLst>
            </p:cNvPr>
            <p:cNvGrpSpPr/>
            <p:nvPr/>
          </p:nvGrpSpPr>
          <p:grpSpPr>
            <a:xfrm>
              <a:off x="-15240" y="4117778"/>
              <a:ext cx="9128760" cy="2758440"/>
              <a:chOff x="-15240" y="4117778"/>
              <a:chExt cx="9128760" cy="2758440"/>
            </a:xfrm>
          </p:grpSpPr>
          <p:sp>
            <p:nvSpPr>
              <p:cNvPr id="5" name="任意多边形: 形状 4">
                <a:extLst>
                  <a:ext uri="{FF2B5EF4-FFF2-40B4-BE49-F238E27FC236}">
                    <a16:creationId xmlns:a16="http://schemas.microsoft.com/office/drawing/2014/main" id="{97702B2D-B81F-C3D4-7E8E-BAF80A54C5A8}"/>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a:extLst>
                  <a:ext uri="{FF2B5EF4-FFF2-40B4-BE49-F238E27FC236}">
                    <a16:creationId xmlns:a16="http://schemas.microsoft.com/office/drawing/2014/main" id="{BA11CE37-E3A4-48B4-20A0-B23DF54A466F}"/>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任意多边形: 形状 9">
                <a:extLst>
                  <a:ext uri="{FF2B5EF4-FFF2-40B4-BE49-F238E27FC236}">
                    <a16:creationId xmlns:a16="http://schemas.microsoft.com/office/drawing/2014/main" id="{B75603F0-CEA4-7762-D0F2-CB314DA2E7CA}"/>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任意多边形: 形状 10">
                <a:extLst>
                  <a:ext uri="{FF2B5EF4-FFF2-40B4-BE49-F238E27FC236}">
                    <a16:creationId xmlns:a16="http://schemas.microsoft.com/office/drawing/2014/main" id="{5DED9DDC-C8FE-3569-86D4-62A4EE771BF1}"/>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a:extLst>
                <a:ext uri="{FF2B5EF4-FFF2-40B4-BE49-F238E27FC236}">
                  <a16:creationId xmlns:a16="http://schemas.microsoft.com/office/drawing/2014/main" id="{3B169210-B449-DA49-54D7-DC1EB9686339}"/>
                </a:ext>
              </a:extLst>
            </p:cNvPr>
            <p:cNvGrpSpPr/>
            <p:nvPr/>
          </p:nvGrpSpPr>
          <p:grpSpPr>
            <a:xfrm flipH="1">
              <a:off x="30480" y="4117778"/>
              <a:ext cx="9128760" cy="2758440"/>
              <a:chOff x="-15240" y="4117778"/>
              <a:chExt cx="9128760" cy="2758440"/>
            </a:xfrm>
          </p:grpSpPr>
          <p:sp>
            <p:nvSpPr>
              <p:cNvPr id="14" name="任意多边形: 形状 13">
                <a:extLst>
                  <a:ext uri="{FF2B5EF4-FFF2-40B4-BE49-F238E27FC236}">
                    <a16:creationId xmlns:a16="http://schemas.microsoft.com/office/drawing/2014/main" id="{90553BD1-EBCE-3A87-F317-1813179B70D1}"/>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任意多边形: 形状 15">
                <a:extLst>
                  <a:ext uri="{FF2B5EF4-FFF2-40B4-BE49-F238E27FC236}">
                    <a16:creationId xmlns:a16="http://schemas.microsoft.com/office/drawing/2014/main" id="{2289105A-A9B7-ADE0-9DC8-449CBCB5BAD1}"/>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任意多边形: 形状 17">
                <a:extLst>
                  <a:ext uri="{FF2B5EF4-FFF2-40B4-BE49-F238E27FC236}">
                    <a16:creationId xmlns:a16="http://schemas.microsoft.com/office/drawing/2014/main" id="{A3E32E6E-204B-8ECE-3313-68A79CE3ACA1}"/>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任意多边形: 形状 18">
                <a:extLst>
                  <a:ext uri="{FF2B5EF4-FFF2-40B4-BE49-F238E27FC236}">
                    <a16:creationId xmlns:a16="http://schemas.microsoft.com/office/drawing/2014/main" id="{DD03A2EE-BA76-089F-BEBB-E7F6C0B84FDE}"/>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1" name="组合 20">
            <a:extLst>
              <a:ext uri="{FF2B5EF4-FFF2-40B4-BE49-F238E27FC236}">
                <a16:creationId xmlns:a16="http://schemas.microsoft.com/office/drawing/2014/main" id="{73139F2C-E6FB-B977-9EE3-BF7D308ED29F}"/>
              </a:ext>
            </a:extLst>
          </p:cNvPr>
          <p:cNvGrpSpPr/>
          <p:nvPr/>
        </p:nvGrpSpPr>
        <p:grpSpPr>
          <a:xfrm>
            <a:off x="2221762" y="1846432"/>
            <a:ext cx="4762842" cy="1289057"/>
            <a:chOff x="3714581" y="2503544"/>
            <a:chExt cx="4762842" cy="1289057"/>
          </a:xfrm>
        </p:grpSpPr>
        <p:sp>
          <p:nvSpPr>
            <p:cNvPr id="22" name="文本框 21">
              <a:extLst>
                <a:ext uri="{FF2B5EF4-FFF2-40B4-BE49-F238E27FC236}">
                  <a16:creationId xmlns:a16="http://schemas.microsoft.com/office/drawing/2014/main" id="{EA097197-2075-5E90-50B8-58B8F35FD43D}"/>
                </a:ext>
              </a:extLst>
            </p:cNvPr>
            <p:cNvSpPr txBox="1"/>
            <p:nvPr/>
          </p:nvSpPr>
          <p:spPr>
            <a:xfrm>
              <a:off x="3714581" y="2503544"/>
              <a:ext cx="4762842" cy="923330"/>
            </a:xfrm>
            <a:prstGeom prst="rect">
              <a:avLst/>
            </a:prstGeom>
            <a:noFill/>
          </p:spPr>
          <p:txBody>
            <a:bodyPr wrap="none" rtlCol="0">
              <a:spAutoFit/>
            </a:bodyPr>
            <a:lstStyle/>
            <a:p>
              <a:pPr algn="ctr"/>
              <a:r>
                <a:rPr kumimoji="1" lang="zh-CN" altLang="en-US" sz="5400" b="1" spc="300" dirty="0">
                  <a:ln w="9525">
                    <a:noFill/>
                  </a:ln>
                  <a:solidFill>
                    <a:srgbClr val="C00000"/>
                  </a:solidFill>
                  <a:latin typeface="Arial" panose="020B0604020202020204" pitchFamily="34" charset="0"/>
                  <a:ea typeface="Microsoft YaHei" panose="020B0503020204020204" pitchFamily="34" charset="-122"/>
                  <a:cs typeface="Arial" panose="020B0604020202020204" pitchFamily="34" charset="0"/>
                </a:rPr>
                <a:t>现 代 密 码 学</a:t>
              </a:r>
            </a:p>
          </p:txBody>
        </p:sp>
        <p:sp>
          <p:nvSpPr>
            <p:cNvPr id="24" name="文本框 23">
              <a:extLst>
                <a:ext uri="{FF2B5EF4-FFF2-40B4-BE49-F238E27FC236}">
                  <a16:creationId xmlns:a16="http://schemas.microsoft.com/office/drawing/2014/main" id="{D75E16C6-D1B3-D31B-9966-0CC5EC04CF2C}"/>
                </a:ext>
              </a:extLst>
            </p:cNvPr>
            <p:cNvSpPr txBox="1"/>
            <p:nvPr/>
          </p:nvSpPr>
          <p:spPr>
            <a:xfrm>
              <a:off x="3725138" y="3377103"/>
              <a:ext cx="4679359" cy="415498"/>
            </a:xfrm>
            <a:prstGeom prst="rect">
              <a:avLst/>
            </a:prstGeom>
            <a:noFill/>
          </p:spPr>
          <p:txBody>
            <a:bodyPr wrap="none" rtlCol="0">
              <a:spAutoFit/>
            </a:bodyPr>
            <a:lstStyle/>
            <a:p>
              <a:pPr algn="ctr"/>
              <a:r>
                <a:rPr kumimoji="1" lang="en-US" altLang="zh-CN"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rPr>
                <a:t>MODERN CRYPTOGRAPHY</a:t>
              </a:r>
              <a:endParaRPr kumimoji="1" lang="zh-CN" altLang="en-US"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endParaRPr>
            </a:p>
          </p:txBody>
        </p:sp>
      </p:grpSp>
      <p:pic>
        <p:nvPicPr>
          <p:cNvPr id="31" name="图片 30">
            <a:extLst>
              <a:ext uri="{FF2B5EF4-FFF2-40B4-BE49-F238E27FC236}">
                <a16:creationId xmlns:a16="http://schemas.microsoft.com/office/drawing/2014/main" id="{6CF5CED3-77D8-8B88-7815-C6C121BE3778}"/>
              </a:ext>
            </a:extLst>
          </p:cNvPr>
          <p:cNvPicPr>
            <a:picLocks noChangeAspect="1"/>
          </p:cNvPicPr>
          <p:nvPr/>
        </p:nvPicPr>
        <p:blipFill>
          <a:blip r:embed="rId4"/>
          <a:stretch>
            <a:fillRect/>
          </a:stretch>
        </p:blipFill>
        <p:spPr>
          <a:xfrm>
            <a:off x="335655" y="331579"/>
            <a:ext cx="2430253" cy="571825"/>
          </a:xfrm>
          <a:prstGeom prst="rect">
            <a:avLst/>
          </a:prstGeom>
        </p:spPr>
      </p:pic>
      <p:sp>
        <p:nvSpPr>
          <p:cNvPr id="6" name="副标题 5">
            <a:extLst>
              <a:ext uri="{FF2B5EF4-FFF2-40B4-BE49-F238E27FC236}">
                <a16:creationId xmlns:a16="http://schemas.microsoft.com/office/drawing/2014/main" id="{17DA2C19-E169-818E-D040-16565931B81D}"/>
              </a:ext>
            </a:extLst>
          </p:cNvPr>
          <p:cNvSpPr txBox="1">
            <a:spLocks/>
          </p:cNvSpPr>
          <p:nvPr/>
        </p:nvSpPr>
        <p:spPr>
          <a:xfrm>
            <a:off x="2229172" y="5216616"/>
            <a:ext cx="5040630" cy="15137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zh-CN" altLang="en-US" sz="2400" b="1" dirty="0">
                <a:latin typeface="+mn-ea"/>
              </a:rPr>
              <a:t>王剑锋</a:t>
            </a:r>
            <a:endParaRPr lang="en-US" altLang="zh-CN" sz="2400" b="1" dirty="0">
              <a:latin typeface="+mn-ea"/>
            </a:endParaRPr>
          </a:p>
          <a:p>
            <a:pPr marL="0" indent="0" algn="ctr">
              <a:buFont typeface="Arial" panose="020B0604020202020204" pitchFamily="34" charset="0"/>
              <a:buNone/>
            </a:pPr>
            <a:r>
              <a:rPr lang="zh-CN" altLang="en-US" sz="2000" b="1" dirty="0">
                <a:latin typeface="+mn-ea"/>
              </a:rPr>
              <a:t>网络与信息安全学院</a:t>
            </a:r>
            <a:endParaRPr lang="en-US" altLang="zh-CN" sz="2000" b="1" dirty="0">
              <a:latin typeface="+mn-ea"/>
            </a:endParaRPr>
          </a:p>
          <a:p>
            <a:pPr marL="0" indent="0" algn="ctr">
              <a:buFont typeface="Arial" panose="020B0604020202020204" pitchFamily="34" charset="0"/>
              <a:buNone/>
            </a:pPr>
            <a:r>
              <a:rPr lang="en-US" altLang="zh-CN" sz="2000" b="1" dirty="0">
                <a:solidFill>
                  <a:srgbClr val="0000FF"/>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http://web.xidian.edu.cn/jfwang</a:t>
            </a:r>
            <a:endParaRPr lang="en-US" altLang="zh-CN" sz="2000" b="1" dirty="0">
              <a:solidFill>
                <a:srgbClr val="0000FF"/>
              </a:solidFill>
              <a:latin typeface="+mn-ea"/>
            </a:endParaRPr>
          </a:p>
          <a:p>
            <a:pPr marL="0" indent="0" algn="ctr">
              <a:buFont typeface="Arial" panose="020B0604020202020204" pitchFamily="34" charset="0"/>
              <a:buNone/>
            </a:pPr>
            <a:endParaRPr lang="en-US" altLang="zh-CN" sz="1600" b="1"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A533AA9C-484E-A373-5137-15DFFB5BA10B}"/>
              </a:ext>
            </a:extLst>
          </p:cNvPr>
          <p:cNvSpPr>
            <a:spLocks noGrp="1"/>
          </p:cNvSpPr>
          <p:nvPr>
            <p:ph type="title"/>
          </p:nvPr>
        </p:nvSpPr>
        <p:spPr/>
        <p:txBody>
          <a:bodyPr/>
          <a:lstStyle/>
          <a:p>
            <a:r>
              <a:rPr lang="zh-CN" altLang="en-US" dirty="0"/>
              <a:t>目录</a:t>
            </a:r>
          </a:p>
        </p:txBody>
      </p:sp>
      <p:sp>
        <p:nvSpPr>
          <p:cNvPr id="4" name="灯片编号占位符 3"/>
          <p:cNvSpPr>
            <a:spLocks noGrp="1"/>
          </p:cNvSpPr>
          <p:nvPr>
            <p:ph type="sldNum" sz="quarter" idx="12"/>
          </p:nvPr>
        </p:nvSpPr>
        <p:spPr/>
        <p:txBody>
          <a:bodyPr/>
          <a:lstStyle/>
          <a:p>
            <a:fld id="{4DBDE2CB-4801-494F-A0A4-D49D70804842}" type="slidenum">
              <a:rPr lang="zh-CN" altLang="en-US" smtClean="0"/>
              <a:t>2</a:t>
            </a:fld>
            <a:endParaRPr lang="zh-CN" altLang="en-US"/>
          </a:p>
        </p:txBody>
      </p:sp>
      <p:grpSp>
        <p:nvGrpSpPr>
          <p:cNvPr id="2" name="组合 1">
            <a:extLst>
              <a:ext uri="{FF2B5EF4-FFF2-40B4-BE49-F238E27FC236}">
                <a16:creationId xmlns:a16="http://schemas.microsoft.com/office/drawing/2014/main" id="{4875FB35-0798-B09A-990C-C787C768861D}"/>
              </a:ext>
            </a:extLst>
          </p:cNvPr>
          <p:cNvGrpSpPr/>
          <p:nvPr/>
        </p:nvGrpSpPr>
        <p:grpSpPr>
          <a:xfrm>
            <a:off x="882711" y="2022529"/>
            <a:ext cx="2821712" cy="3133617"/>
            <a:chOff x="882711" y="2022529"/>
            <a:chExt cx="2821712" cy="3133617"/>
          </a:xfrm>
        </p:grpSpPr>
        <p:grpSp>
          <p:nvGrpSpPr>
            <p:cNvPr id="21" name="组合 20"/>
            <p:cNvGrpSpPr/>
            <p:nvPr/>
          </p:nvGrpSpPr>
          <p:grpSpPr>
            <a:xfrm>
              <a:off x="882712" y="2022529"/>
              <a:ext cx="2821711" cy="3133617"/>
              <a:chOff x="2924436" y="1591950"/>
              <a:chExt cx="3295128" cy="3674100"/>
            </a:xfrm>
          </p:grpSpPr>
          <p:sp>
            <p:nvSpPr>
              <p:cNvPr id="23" name="任意多边形 7"/>
              <p:cNvSpPr/>
              <p:nvPr/>
            </p:nvSpPr>
            <p:spPr>
              <a:xfrm>
                <a:off x="2924436" y="1591950"/>
                <a:ext cx="3295128" cy="367410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solidFill>
                <a:srgbClr val="EEEEEE"/>
              </a:solidFill>
              <a:ln w="222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0" i="0" u="none" strike="noStrike" kern="0" cap="none" spc="30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25" name="文本框 24"/>
              <p:cNvSpPr txBox="1"/>
              <p:nvPr/>
            </p:nvSpPr>
            <p:spPr>
              <a:xfrm>
                <a:off x="3126369" y="3755606"/>
                <a:ext cx="291011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grpSp>
        <p:sp>
          <p:nvSpPr>
            <p:cNvPr id="5" name="文本框 4">
              <a:extLst>
                <a:ext uri="{FF2B5EF4-FFF2-40B4-BE49-F238E27FC236}">
                  <a16:creationId xmlns:a16="http://schemas.microsoft.com/office/drawing/2014/main" id="{54298EAD-4B97-97A0-5561-5EC63275D193}"/>
                </a:ext>
              </a:extLst>
            </p:cNvPr>
            <p:cNvSpPr txBox="1"/>
            <p:nvPr/>
          </p:nvSpPr>
          <p:spPr>
            <a:xfrm>
              <a:off x="882711" y="2873756"/>
              <a:ext cx="2821711" cy="1431161"/>
            </a:xfrm>
            <a:prstGeom prst="rect">
              <a:avLst/>
            </a:prstGeom>
            <a:noFill/>
          </p:spPr>
          <p:txBody>
            <a:bodyPr wrap="square">
              <a:spAutoFit/>
            </a:bodyPr>
            <a:lstStyle/>
            <a:p>
              <a:pPr algn="ctr">
                <a:spcBef>
                  <a:spcPts val="1800"/>
                </a:spcBef>
                <a:buClr>
                  <a:srgbClr val="C00000"/>
                </a:buClr>
              </a:pPr>
              <a:r>
                <a:rPr lang="zh-CN" altLang="en-US" sz="3600" b="1" dirty="0">
                  <a:solidFill>
                    <a:srgbClr val="C00000"/>
                  </a:solidFill>
                  <a:latin typeface="微软雅黑" panose="020B0503020204020204" pitchFamily="34" charset="-122"/>
                  <a:ea typeface="微软雅黑" panose="020B0503020204020204" pitchFamily="34" charset="-122"/>
                </a:rPr>
                <a:t>第六讲 </a:t>
              </a:r>
              <a:endParaRPr lang="en-US" altLang="zh-CN" sz="3600" b="1" dirty="0">
                <a:solidFill>
                  <a:srgbClr val="C00000"/>
                </a:solidFill>
                <a:latin typeface="微软雅黑" panose="020B0503020204020204" pitchFamily="34" charset="-122"/>
                <a:ea typeface="微软雅黑" panose="020B0503020204020204" pitchFamily="34" charset="-122"/>
              </a:endParaRPr>
            </a:p>
            <a:p>
              <a:pPr algn="ctr">
                <a:spcBef>
                  <a:spcPts val="1800"/>
                </a:spcBef>
                <a:buClr>
                  <a:srgbClr val="C00000"/>
                </a:buClr>
              </a:pPr>
              <a:r>
                <a:rPr lang="zh-CN" altLang="en-US" sz="3600" b="1" dirty="0">
                  <a:latin typeface="微软雅黑" panose="020B0503020204020204" pitchFamily="34" charset="-122"/>
                  <a:ea typeface="微软雅黑" panose="020B0503020204020204" pitchFamily="34" charset="-122"/>
                </a:rPr>
                <a:t>认证技术</a:t>
              </a:r>
            </a:p>
          </p:txBody>
        </p:sp>
      </p:grpSp>
      <p:sp>
        <p:nvSpPr>
          <p:cNvPr id="7" name="文本框 6">
            <a:extLst>
              <a:ext uri="{FF2B5EF4-FFF2-40B4-BE49-F238E27FC236}">
                <a16:creationId xmlns:a16="http://schemas.microsoft.com/office/drawing/2014/main" id="{135E0463-104C-B7CF-5713-823757256233}"/>
              </a:ext>
            </a:extLst>
          </p:cNvPr>
          <p:cNvSpPr txBox="1"/>
          <p:nvPr/>
        </p:nvSpPr>
        <p:spPr>
          <a:xfrm>
            <a:off x="4572000" y="1680621"/>
            <a:ext cx="3835816" cy="3906481"/>
          </a:xfrm>
          <a:prstGeom prst="rect">
            <a:avLst/>
          </a:prstGeom>
          <a:noFill/>
        </p:spPr>
        <p:txBody>
          <a:bodyPr wrap="square" rtlCol="0" anchor="ctr" anchorCtr="0">
            <a:noAutofit/>
          </a:bodyPr>
          <a:lstStyle/>
          <a:p>
            <a:pPr algn="l">
              <a:lnSpc>
                <a:spcPct val="250000"/>
              </a:lnSpc>
              <a:buClr>
                <a:srgbClr val="C00000"/>
              </a:buClr>
            </a:pPr>
            <a:r>
              <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认证的基本概念</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250000"/>
              </a:lnSpc>
              <a:buClr>
                <a:srgbClr val="C00000"/>
              </a:buClr>
            </a:pPr>
            <a:r>
              <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2.  </a:t>
            </a: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消息认证</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algn="l">
              <a:lnSpc>
                <a:spcPct val="250000"/>
              </a:lnSpc>
              <a:buClr>
                <a:srgbClr val="C00000"/>
              </a:buClr>
            </a:pPr>
            <a:r>
              <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3.  </a:t>
            </a: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rPr>
              <a:t>身份认证</a:t>
            </a:r>
            <a:endParaRPr lang="en-US" altLang="zh-CN"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extLst>
      <p:ext uri="{BB962C8B-B14F-4D97-AF65-F5344CB8AC3E}">
        <p14:creationId xmlns:p14="http://schemas.microsoft.com/office/powerpoint/2010/main" val="1633319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认证的基本概念</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5" y="992418"/>
            <a:ext cx="8479945" cy="1926681"/>
          </a:xfrm>
          <a:prstGeom prst="rect">
            <a:avLst/>
          </a:prstGeom>
          <a:noFill/>
        </p:spPr>
        <p:txBody>
          <a:bodyPr wrap="square" rtlCol="0">
            <a:spAutoFit/>
          </a:bodyPr>
          <a:lstStyle/>
          <a:p>
            <a:pPr>
              <a:lnSpc>
                <a:spcPct val="130000"/>
              </a:lnSpc>
            </a:pPr>
            <a:r>
              <a:rPr lang="zh-CN" altLang="en-US" sz="2400" b="1" dirty="0">
                <a:solidFill>
                  <a:srgbClr val="FF0000"/>
                </a:solidFill>
                <a:latin typeface="+mn-ea"/>
              </a:rPr>
              <a:t>认证 </a:t>
            </a:r>
            <a:r>
              <a:rPr lang="en-US" altLang="zh-CN" sz="2400" b="1" dirty="0">
                <a:solidFill>
                  <a:srgbClr val="FF0000"/>
                </a:solidFill>
                <a:latin typeface="Times New Roman" panose="02020603050405020304" pitchFamily="18" charset="0"/>
                <a:cs typeface="Times New Roman" panose="02020603050405020304" pitchFamily="18" charset="0"/>
              </a:rPr>
              <a:t>(Authentication) </a:t>
            </a:r>
            <a:r>
              <a:rPr lang="zh-CN" altLang="en-US" sz="2400" b="1" dirty="0">
                <a:solidFill>
                  <a:srgbClr val="FF0000"/>
                </a:solidFill>
                <a:latin typeface="+mn-ea"/>
              </a:rPr>
              <a:t>技术</a:t>
            </a:r>
            <a:endParaRPr lang="en-US" altLang="zh-CN" sz="2400" b="1" dirty="0">
              <a:solidFill>
                <a:srgbClr val="FF0000"/>
              </a:solidFill>
              <a:latin typeface="+mn-ea"/>
            </a:endParaRPr>
          </a:p>
          <a:p>
            <a:pPr lvl="0" algn="just">
              <a:lnSpc>
                <a:spcPct val="130000"/>
              </a:lnSpc>
              <a:spcBef>
                <a:spcPts val="600"/>
              </a:spcBef>
            </a:pPr>
            <a:r>
              <a:rPr lang="zh-CN" altLang="en-US" sz="2000" dirty="0">
                <a:latin typeface="Times New Roman" panose="02020603050405020304" pitchFamily="18" charset="0"/>
                <a:cs typeface="Times New Roman" panose="02020603050405020304" pitchFamily="18" charset="0"/>
              </a:rPr>
              <a:t>        防止消息被伪造、篡改、重放和冒充的重要技术之一，使得发送的消息可以被验证来自可信的发送者且未发生变化。</a:t>
            </a:r>
            <a:r>
              <a:rPr lang="zh-CN" altLang="en-US" sz="2000" b="1" dirty="0">
                <a:solidFill>
                  <a:srgbClr val="FF0000"/>
                </a:solidFill>
                <a:latin typeface="Times New Roman" panose="02020603050405020304" pitchFamily="18" charset="0"/>
                <a:cs typeface="Times New Roman" panose="02020603050405020304" pitchFamily="18" charset="0"/>
              </a:rPr>
              <a:t>认证包括两个分支：</a:t>
            </a:r>
            <a:endParaRPr lang="en-US" altLang="zh-CN" sz="2000" b="1" dirty="0">
              <a:solidFill>
                <a:srgbClr val="FF0000"/>
              </a:solidFill>
              <a:latin typeface="Times New Roman" panose="02020603050405020304" pitchFamily="18" charset="0"/>
              <a:cs typeface="Times New Roman" panose="02020603050405020304" pitchFamily="18" charset="0"/>
            </a:endParaRPr>
          </a:p>
          <a:p>
            <a:pPr algn="just">
              <a:lnSpc>
                <a:spcPct val="130000"/>
              </a:lnSpc>
              <a:spcBef>
                <a:spcPts val="600"/>
              </a:spcBef>
            </a:pPr>
            <a:endParaRPr lang="en-US" altLang="zh-CN" sz="2000"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D9A158E4-AC75-42C7-AC6D-76ABB81CD886}"/>
              </a:ext>
            </a:extLst>
          </p:cNvPr>
          <p:cNvSpPr txBox="1"/>
          <p:nvPr/>
        </p:nvSpPr>
        <p:spPr>
          <a:xfrm>
            <a:off x="312515" y="2525882"/>
            <a:ext cx="8479944" cy="1769715"/>
          </a:xfrm>
          <a:prstGeom prst="rect">
            <a:avLst/>
          </a:prstGeom>
          <a:noFill/>
        </p:spPr>
        <p:txBody>
          <a:bodyPr wrap="square">
            <a:spAutoFit/>
          </a:bodyPr>
          <a:lstStyle/>
          <a:p>
            <a:pPr marL="342900" marR="0" lvl="0" indent="-342900" algn="just" defTabSz="457200" rtl="0" eaLnBrk="1" fontAlgn="auto" latinLnBrk="0" hangingPunct="1">
              <a:lnSpc>
                <a:spcPct val="130000"/>
              </a:lnSpc>
              <a:spcBef>
                <a:spcPts val="600"/>
              </a:spcBef>
              <a:spcAft>
                <a:spcPts val="0"/>
              </a:spcAft>
              <a:buClrTx/>
              <a:buSzTx/>
              <a:buFont typeface="Wingdings" panose="05000000000000000000" pitchFamily="2" charset="2"/>
              <a:buChar char="l"/>
              <a:tabLst/>
              <a:defRPr/>
            </a:pP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消息认证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(Message Authentication)</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：验证消息未被篡改的过程，防止主动攻击。确保</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数据的完整性</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342900" marR="0" lvl="0" indent="-342900" algn="just" defTabSz="457200" rtl="0" eaLnBrk="1" fontAlgn="auto" latinLnBrk="0" hangingPunct="1">
              <a:lnSpc>
                <a:spcPct val="130000"/>
              </a:lnSpc>
              <a:spcBef>
                <a:spcPts val="600"/>
              </a:spcBef>
              <a:spcAft>
                <a:spcPts val="0"/>
              </a:spcAft>
              <a:buClrTx/>
              <a:buSzTx/>
              <a:buFont typeface="Wingdings" panose="05000000000000000000" pitchFamily="2" charset="2"/>
              <a:buChar char="l"/>
              <a:tabLst/>
              <a:defRPr/>
            </a:pP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身份认证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(Identity Authentication)</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：验证消息发送方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数据源</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的真实身份与其声称</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的身份是否相符的过程，防止冒充攻击。确保</a:t>
            </a:r>
            <a:r>
              <a:rPr lang="zh-CN" altLang="en-US" sz="2000" dirty="0">
                <a:solidFill>
                  <a:srgbClr val="0000FF"/>
                </a:solidFill>
                <a:latin typeface="Times New Roman" panose="02020603050405020304" pitchFamily="18" charset="0"/>
                <a:ea typeface="微软雅黑"/>
                <a:cs typeface="Times New Roman" panose="02020603050405020304" pitchFamily="18" charset="0"/>
              </a:rPr>
              <a:t>身份的真实性</a:t>
            </a:r>
            <a:r>
              <a:rPr lang="zh-CN" altLang="en-US" sz="2000" dirty="0">
                <a:solidFill>
                  <a:prstClr val="black"/>
                </a:solidFill>
                <a:latin typeface="Times New Roman" panose="02020603050405020304" pitchFamily="18" charset="0"/>
                <a:ea typeface="微软雅黑"/>
                <a:cs typeface="Times New Roman" panose="02020603050405020304" pitchFamily="18" charset="0"/>
              </a:rPr>
              <a:t>。</a:t>
            </a:r>
            <a:endParaRPr lang="en-US" altLang="zh-CN" sz="2000" dirty="0">
              <a:solidFill>
                <a:prstClr val="black"/>
              </a:solidFill>
              <a:latin typeface="Times New Roman" panose="02020603050405020304" pitchFamily="18" charset="0"/>
              <a:ea typeface="微软雅黑"/>
              <a:cs typeface="Times New Roman" panose="02020603050405020304" pitchFamily="18" charset="0"/>
            </a:endParaRPr>
          </a:p>
        </p:txBody>
      </p:sp>
      <p:sp>
        <p:nvSpPr>
          <p:cNvPr id="7" name="文本框 6">
            <a:extLst>
              <a:ext uri="{FF2B5EF4-FFF2-40B4-BE49-F238E27FC236}">
                <a16:creationId xmlns:a16="http://schemas.microsoft.com/office/drawing/2014/main" id="{724391B0-62B3-7C30-1DD4-E35E206F9B43}"/>
              </a:ext>
            </a:extLst>
          </p:cNvPr>
          <p:cNvSpPr txBox="1"/>
          <p:nvPr/>
        </p:nvSpPr>
        <p:spPr>
          <a:xfrm>
            <a:off x="312514" y="4412552"/>
            <a:ext cx="8479945" cy="1985159"/>
          </a:xfrm>
          <a:prstGeom prst="rect">
            <a:avLst/>
          </a:prstGeom>
          <a:noFill/>
        </p:spPr>
        <p:txBody>
          <a:bodyPr wrap="square" rtlCol="0">
            <a:spAutoFit/>
          </a:bodyPr>
          <a:lstStyle/>
          <a:p>
            <a:pPr>
              <a:lnSpc>
                <a:spcPct val="120000"/>
              </a:lnSpc>
              <a:spcBef>
                <a:spcPts val="600"/>
              </a:spcBef>
            </a:pPr>
            <a:r>
              <a:rPr lang="zh-CN" altLang="en-US" dirty="0">
                <a:latin typeface="Times New Roman" panose="02020603050405020304" pitchFamily="18" charset="0"/>
                <a:cs typeface="Times New Roman" panose="02020603050405020304" pitchFamily="18" charset="0"/>
              </a:rPr>
              <a:t>认证技术可以防御许多</a:t>
            </a:r>
            <a:r>
              <a:rPr lang="zh-CN" altLang="en-US" dirty="0">
                <a:solidFill>
                  <a:srgbClr val="0000FF"/>
                </a:solidFill>
                <a:latin typeface="Times New Roman" panose="02020603050405020304" pitchFamily="18" charset="0"/>
                <a:cs typeface="Times New Roman" panose="02020603050405020304" pitchFamily="18" charset="0"/>
              </a:rPr>
              <a:t>主动攻击</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spcAft>
                <a:spcPts val="600"/>
              </a:spcAft>
              <a:buFont typeface="Wingdings" panose="05000000000000000000" pitchFamily="2" charset="2"/>
              <a:buChar char="l"/>
            </a:pPr>
            <a:r>
              <a:rPr lang="zh-CN" altLang="en-US" b="1" dirty="0">
                <a:solidFill>
                  <a:srgbClr val="2F2F2F"/>
                </a:solidFill>
                <a:latin typeface="微软雅黑" panose="020B0503020204020204" pitchFamily="34" charset="-122"/>
                <a:ea typeface="微软雅黑" panose="020B0503020204020204" pitchFamily="34" charset="-122"/>
              </a:rPr>
              <a:t>冒充攻击</a:t>
            </a:r>
            <a:r>
              <a:rPr lang="zh-CN" altLang="en-US" dirty="0">
                <a:solidFill>
                  <a:srgbClr val="2F2F2F"/>
                </a:solidFill>
                <a:latin typeface="微软雅黑" panose="020B0503020204020204" pitchFamily="34" charset="-122"/>
                <a:ea typeface="微软雅黑" panose="020B0503020204020204" pitchFamily="34" charset="-122"/>
              </a:rPr>
              <a:t>：攻击者在窃取信息后，通过拒绝服务攻击切断通信双方之间的正常通信，然后对认证信息进行</a:t>
            </a:r>
            <a:r>
              <a:rPr lang="zh-CN" altLang="en-US" dirty="0">
                <a:solidFill>
                  <a:srgbClr val="0000FF"/>
                </a:solidFill>
                <a:latin typeface="微软雅黑" panose="020B0503020204020204" pitchFamily="34" charset="-122"/>
                <a:ea typeface="微软雅黑" panose="020B0503020204020204" pitchFamily="34" charset="-122"/>
              </a:rPr>
              <a:t>重放</a:t>
            </a:r>
            <a:r>
              <a:rPr lang="zh-CN" altLang="en-US" dirty="0">
                <a:solidFill>
                  <a:srgbClr val="2F2F2F"/>
                </a:solidFill>
                <a:latin typeface="微软雅黑" panose="020B0503020204020204" pitchFamily="34" charset="-122"/>
                <a:ea typeface="微软雅黑" panose="020B0503020204020204" pitchFamily="34" charset="-122"/>
              </a:rPr>
              <a:t>，从而</a:t>
            </a:r>
            <a:r>
              <a:rPr lang="zh-CN" altLang="en-US" dirty="0">
                <a:solidFill>
                  <a:srgbClr val="0000FF"/>
                </a:solidFill>
                <a:latin typeface="微软雅黑" panose="020B0503020204020204" pitchFamily="34" charset="-122"/>
                <a:ea typeface="微软雅黑" panose="020B0503020204020204" pitchFamily="34" charset="-122"/>
              </a:rPr>
              <a:t>冒充合法用户</a:t>
            </a:r>
            <a:r>
              <a:rPr lang="zh-CN" altLang="en-US" dirty="0">
                <a:solidFill>
                  <a:srgbClr val="2F2F2F"/>
                </a:solidFill>
                <a:latin typeface="微软雅黑" panose="020B0503020204020204" pitchFamily="34" charset="-122"/>
                <a:ea typeface="微软雅黑" panose="020B0503020204020204" pitchFamily="34" charset="-122"/>
              </a:rPr>
              <a:t>。</a:t>
            </a:r>
            <a:endParaRPr lang="en-US" altLang="zh-CN" dirty="0">
              <a:solidFill>
                <a:srgbClr val="2F2F2F"/>
              </a:solidFill>
              <a:latin typeface="微软雅黑" panose="020B0503020204020204" pitchFamily="34" charset="-122"/>
              <a:ea typeface="微软雅黑" panose="020B0503020204020204" pitchFamily="34" charset="-122"/>
            </a:endParaRPr>
          </a:p>
          <a:p>
            <a:pPr marL="457200" indent="-457200" algn="just">
              <a:lnSpc>
                <a:spcPct val="120000"/>
              </a:lnSpc>
              <a:spcBef>
                <a:spcPts val="600"/>
              </a:spcBef>
              <a:spcAft>
                <a:spcPts val="600"/>
              </a:spcAft>
              <a:buFont typeface="Wingdings" panose="05000000000000000000" pitchFamily="2" charset="2"/>
              <a:buChar char="l"/>
            </a:pPr>
            <a:r>
              <a:rPr lang="zh-CN" altLang="en-US" b="1" dirty="0">
                <a:solidFill>
                  <a:srgbClr val="2F2F2F"/>
                </a:solidFill>
                <a:latin typeface="微软雅黑" panose="020B0503020204020204" pitchFamily="34" charset="-122"/>
                <a:ea typeface="微软雅黑" panose="020B0503020204020204" pitchFamily="34" charset="-122"/>
              </a:rPr>
              <a:t>伪造攻击</a:t>
            </a:r>
            <a:r>
              <a:rPr lang="zh-CN" altLang="en-US" dirty="0">
                <a:solidFill>
                  <a:srgbClr val="2F2F2F"/>
                </a:solidFill>
                <a:latin typeface="微软雅黑" panose="020B0503020204020204" pitchFamily="34" charset="-122"/>
                <a:ea typeface="微软雅黑" panose="020B0503020204020204" pitchFamily="34" charset="-122"/>
              </a:rPr>
              <a:t>：冒充攻击的后续或增强，攻击者</a:t>
            </a:r>
            <a:r>
              <a:rPr lang="zh-CN" altLang="en-US" dirty="0">
                <a:solidFill>
                  <a:srgbClr val="0000FF"/>
                </a:solidFill>
                <a:latin typeface="微软雅黑" panose="020B0503020204020204" pitchFamily="34" charset="-122"/>
                <a:ea typeface="微软雅黑" panose="020B0503020204020204" pitchFamily="34" charset="-122"/>
              </a:rPr>
              <a:t>冒充合法身份</a:t>
            </a:r>
            <a:r>
              <a:rPr lang="zh-CN" altLang="en-US" dirty="0">
                <a:solidFill>
                  <a:srgbClr val="2F2F2F"/>
                </a:solidFill>
                <a:latin typeface="微软雅黑" panose="020B0503020204020204" pitchFamily="34" charset="-122"/>
                <a:ea typeface="微软雅黑" panose="020B0503020204020204" pitchFamily="34" charset="-122"/>
              </a:rPr>
              <a:t>后，对信息进行</a:t>
            </a:r>
            <a:r>
              <a:rPr lang="zh-CN" altLang="en-US" dirty="0">
                <a:solidFill>
                  <a:srgbClr val="0000FF"/>
                </a:solidFill>
                <a:latin typeface="微软雅黑" panose="020B0503020204020204" pitchFamily="34" charset="-122"/>
                <a:ea typeface="微软雅黑" panose="020B0503020204020204" pitchFamily="34" charset="-122"/>
              </a:rPr>
              <a:t>篡改</a:t>
            </a:r>
            <a:r>
              <a:rPr lang="zh-CN" altLang="en-US" dirty="0">
                <a:latin typeface="微软雅黑" panose="020B0503020204020204" pitchFamily="34" charset="-122"/>
                <a:ea typeface="微软雅黑" panose="020B0503020204020204" pitchFamily="34" charset="-122"/>
              </a:rPr>
              <a:t>并</a:t>
            </a:r>
            <a:r>
              <a:rPr lang="zh-CN" altLang="en-US" dirty="0">
                <a:solidFill>
                  <a:srgbClr val="2F2F2F"/>
                </a:solidFill>
                <a:latin typeface="微软雅黑" panose="020B0503020204020204" pitchFamily="34" charset="-122"/>
                <a:ea typeface="微软雅黑" panose="020B0503020204020204" pitchFamily="34" charset="-122"/>
              </a:rPr>
              <a:t>发送，危害往往大于单纯的冒充攻击。</a:t>
            </a:r>
            <a:endParaRPr lang="zh-CN" altLang="en-US" dirty="0"/>
          </a:p>
        </p:txBody>
      </p:sp>
    </p:spTree>
    <p:extLst>
      <p:ext uri="{BB962C8B-B14F-4D97-AF65-F5344CB8AC3E}">
        <p14:creationId xmlns:p14="http://schemas.microsoft.com/office/powerpoint/2010/main" val="2344734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55122763-5160-47C3-AAA4-B9DF1724FDFF}"/>
              </a:ext>
            </a:extLst>
          </p:cNvPr>
          <p:cNvGraphicFramePr>
            <a:graphicFrameLocks noGrp="1"/>
          </p:cNvGraphicFramePr>
          <p:nvPr>
            <p:extLst>
              <p:ext uri="{D42A27DB-BD31-4B8C-83A1-F6EECF244321}">
                <p14:modId xmlns:p14="http://schemas.microsoft.com/office/powerpoint/2010/main" val="1969676112"/>
              </p:ext>
            </p:extLst>
          </p:nvPr>
        </p:nvGraphicFramePr>
        <p:xfrm>
          <a:off x="312517" y="1547474"/>
          <a:ext cx="8440923" cy="4675905"/>
        </p:xfrm>
        <a:graphic>
          <a:graphicData uri="http://schemas.openxmlformats.org/drawingml/2006/table">
            <a:tbl>
              <a:tblPr firstRow="1" bandRow="1">
                <a:tableStyleId>{7DF18680-E054-41AD-8BC1-D1AEF772440D}</a:tableStyleId>
              </a:tblPr>
              <a:tblGrid>
                <a:gridCol w="1106850">
                  <a:extLst>
                    <a:ext uri="{9D8B030D-6E8A-4147-A177-3AD203B41FA5}">
                      <a16:colId xmlns:a16="http://schemas.microsoft.com/office/drawing/2014/main" val="2113168748"/>
                    </a:ext>
                  </a:extLst>
                </a:gridCol>
                <a:gridCol w="2265529">
                  <a:extLst>
                    <a:ext uri="{9D8B030D-6E8A-4147-A177-3AD203B41FA5}">
                      <a16:colId xmlns:a16="http://schemas.microsoft.com/office/drawing/2014/main" val="4147661283"/>
                    </a:ext>
                  </a:extLst>
                </a:gridCol>
                <a:gridCol w="5068544">
                  <a:extLst>
                    <a:ext uri="{9D8B030D-6E8A-4147-A177-3AD203B41FA5}">
                      <a16:colId xmlns:a16="http://schemas.microsoft.com/office/drawing/2014/main" val="3610603892"/>
                    </a:ext>
                  </a:extLst>
                </a:gridCol>
              </a:tblGrid>
              <a:tr h="542288">
                <a:tc>
                  <a:txBody>
                    <a:bodyPr/>
                    <a:lstStyle/>
                    <a:p>
                      <a:pPr algn="ctr"/>
                      <a:endParaRPr lang="zh-CN" altLang="en-US" sz="1600" b="0" dirty="0">
                        <a:solidFill>
                          <a:schemeClr val="tx1"/>
                        </a:solidFill>
                      </a:endParaRPr>
                    </a:p>
                  </a:txBody>
                  <a:tcPr anchor="ctr"/>
                </a:tc>
                <a:tc>
                  <a:txBody>
                    <a:bodyPr/>
                    <a:lstStyle/>
                    <a:p>
                      <a:pPr algn="ctr"/>
                      <a:r>
                        <a:rPr lang="zh-CN" altLang="en-US" sz="1800" b="1" dirty="0">
                          <a:solidFill>
                            <a:schemeClr val="bg1"/>
                          </a:solidFill>
                        </a:rPr>
                        <a:t>方法</a:t>
                      </a:r>
                    </a:p>
                  </a:txBody>
                  <a:tcPr anchor="ctr"/>
                </a:tc>
                <a:tc>
                  <a:txBody>
                    <a:bodyPr/>
                    <a:lstStyle/>
                    <a:p>
                      <a:pPr algn="ctr"/>
                      <a:r>
                        <a:rPr lang="zh-CN" altLang="en-US" sz="1800" b="1" dirty="0">
                          <a:solidFill>
                            <a:schemeClr val="bg1"/>
                          </a:solidFill>
                        </a:rPr>
                        <a:t>系统模型</a:t>
                      </a:r>
                    </a:p>
                  </a:txBody>
                  <a:tcPr anchor="ctr"/>
                </a:tc>
                <a:extLst>
                  <a:ext uri="{0D108BD9-81ED-4DB2-BD59-A6C34878D82A}">
                    <a16:rowId xmlns:a16="http://schemas.microsoft.com/office/drawing/2014/main" val="161626528"/>
                  </a:ext>
                </a:extLst>
              </a:tr>
              <a:tr h="2018214">
                <a:tc>
                  <a:txBody>
                    <a:bodyPr/>
                    <a:lstStyle/>
                    <a:p>
                      <a:pPr algn="ctr"/>
                      <a:r>
                        <a:rPr lang="zh-CN" altLang="en-US" sz="1800" b="0" dirty="0">
                          <a:solidFill>
                            <a:schemeClr val="tx1"/>
                          </a:solidFill>
                        </a:rPr>
                        <a:t>消息认证</a:t>
                      </a:r>
                    </a:p>
                  </a:txBody>
                  <a:tcPr anchor="ctr"/>
                </a:tc>
                <a:tc>
                  <a:txBody>
                    <a:bodyPr/>
                    <a:lstStyle/>
                    <a:p>
                      <a:pPr algn="ctr">
                        <a:lnSpc>
                          <a:spcPct val="120000"/>
                        </a:lnSpc>
                      </a:pPr>
                      <a:r>
                        <a:rPr lang="zh-CN" altLang="en-US" sz="1800" b="0" dirty="0">
                          <a:solidFill>
                            <a:schemeClr val="tx1"/>
                          </a:solidFill>
                        </a:rPr>
                        <a:t>单钥体制</a:t>
                      </a:r>
                      <a:endParaRPr lang="en-US" altLang="zh-CN" sz="1800" b="0" dirty="0">
                        <a:solidFill>
                          <a:schemeClr val="tx1"/>
                        </a:solidFill>
                      </a:endParaRPr>
                    </a:p>
                    <a:p>
                      <a:pPr algn="ctr">
                        <a:lnSpc>
                          <a:spcPct val="120000"/>
                        </a:lnSpc>
                      </a:pPr>
                      <a:r>
                        <a:rPr lang="zh-CN" altLang="en-US" sz="1800" b="0" dirty="0">
                          <a:solidFill>
                            <a:schemeClr val="tx1"/>
                          </a:solidFill>
                        </a:rPr>
                        <a:t>消息认证码</a:t>
                      </a:r>
                      <a:endParaRPr lang="en-US" altLang="zh-CN" sz="1800" b="0" dirty="0">
                        <a:solidFill>
                          <a:schemeClr val="tx1"/>
                        </a:solidFill>
                      </a:endParaRPr>
                    </a:p>
                    <a:p>
                      <a:pPr algn="ctr">
                        <a:lnSpc>
                          <a:spcPct val="120000"/>
                        </a:lnSpc>
                      </a:pPr>
                      <a:r>
                        <a:rPr lang="zh-CN" altLang="en-US" sz="1800" b="0" dirty="0">
                          <a:solidFill>
                            <a:schemeClr val="tx1"/>
                          </a:solidFill>
                        </a:rPr>
                        <a:t>数字签名</a:t>
                      </a:r>
                      <a:endParaRPr lang="en-US" altLang="zh-CN" sz="1800" b="0" dirty="0">
                        <a:solidFill>
                          <a:schemeClr val="tx1"/>
                        </a:solidFill>
                      </a:endParaRPr>
                    </a:p>
                  </a:txBody>
                  <a:tcPr anchor="ctr"/>
                </a:tc>
                <a:tc>
                  <a:txBody>
                    <a:bodyPr/>
                    <a:lstStyle/>
                    <a:p>
                      <a:pPr algn="ctr"/>
                      <a:endParaRPr lang="zh-CN" altLang="en-US" sz="1600" b="0" dirty="0">
                        <a:solidFill>
                          <a:schemeClr val="tx1"/>
                        </a:solidFill>
                      </a:endParaRPr>
                    </a:p>
                  </a:txBody>
                  <a:tcPr anchor="ctr"/>
                </a:tc>
                <a:extLst>
                  <a:ext uri="{0D108BD9-81ED-4DB2-BD59-A6C34878D82A}">
                    <a16:rowId xmlns:a16="http://schemas.microsoft.com/office/drawing/2014/main" val="3676124900"/>
                  </a:ext>
                </a:extLst>
              </a:tr>
              <a:tr h="2115403">
                <a:tc>
                  <a:txBody>
                    <a:bodyPr/>
                    <a:lstStyle/>
                    <a:p>
                      <a:pPr algn="ctr"/>
                      <a:r>
                        <a:rPr lang="zh-CN" altLang="en-US" sz="1800" b="0" dirty="0">
                          <a:solidFill>
                            <a:schemeClr val="tx1"/>
                          </a:solidFill>
                        </a:rPr>
                        <a:t>身份认证</a:t>
                      </a:r>
                    </a:p>
                  </a:txBody>
                  <a:tcPr anchor="ctr"/>
                </a:tc>
                <a:tc>
                  <a:txBody>
                    <a:bodyPr/>
                    <a:lstStyle/>
                    <a:p>
                      <a:pPr algn="ctr">
                        <a:lnSpc>
                          <a:spcPct val="120000"/>
                        </a:lnSpc>
                      </a:pPr>
                      <a:r>
                        <a:rPr lang="zh-CN" altLang="en-US" sz="1800" b="0" dirty="0">
                          <a:solidFill>
                            <a:schemeClr val="tx1"/>
                          </a:solidFill>
                        </a:rPr>
                        <a:t>口令、智能卡</a:t>
                      </a:r>
                      <a:endParaRPr lang="en-US" altLang="zh-CN" sz="1800" b="0" dirty="0">
                        <a:solidFill>
                          <a:schemeClr val="tx1"/>
                        </a:solidFill>
                      </a:endParaRPr>
                    </a:p>
                    <a:p>
                      <a:pPr algn="ctr">
                        <a:lnSpc>
                          <a:spcPct val="120000"/>
                        </a:lnSpc>
                      </a:pPr>
                      <a:r>
                        <a:rPr lang="zh-CN" altLang="en-US" sz="1800" b="0" dirty="0">
                          <a:solidFill>
                            <a:schemeClr val="tx1"/>
                          </a:solidFill>
                        </a:rPr>
                        <a:t>生物特征</a:t>
                      </a:r>
                      <a:endParaRPr lang="en-US" altLang="zh-CN" sz="1800" b="0" dirty="0">
                        <a:solidFill>
                          <a:schemeClr val="tx1"/>
                        </a:solidFill>
                      </a:endParaRPr>
                    </a:p>
                    <a:p>
                      <a:pPr algn="ctr">
                        <a:lnSpc>
                          <a:spcPct val="120000"/>
                        </a:lnSpc>
                      </a:pPr>
                      <a:r>
                        <a:rPr lang="zh-CN" altLang="en-US" sz="1800" b="0" dirty="0">
                          <a:solidFill>
                            <a:schemeClr val="tx1"/>
                          </a:solidFill>
                        </a:rPr>
                        <a:t>单钥</a:t>
                      </a:r>
                      <a:r>
                        <a:rPr lang="en-US" altLang="zh-CN" sz="1800" b="0" dirty="0">
                          <a:solidFill>
                            <a:schemeClr val="tx1"/>
                          </a:solidFill>
                        </a:rPr>
                        <a:t>/</a:t>
                      </a:r>
                      <a:r>
                        <a:rPr lang="zh-CN" altLang="en-US" sz="1800" b="0" dirty="0">
                          <a:solidFill>
                            <a:schemeClr val="tx1"/>
                          </a:solidFill>
                        </a:rPr>
                        <a:t>公钥体制</a:t>
                      </a:r>
                      <a:endParaRPr lang="en-US" altLang="zh-CN" sz="1800" b="0" dirty="0">
                        <a:solidFill>
                          <a:schemeClr val="tx1"/>
                        </a:solidFill>
                      </a:endParaRPr>
                    </a:p>
                  </a:txBody>
                  <a:tcPr anchor="ctr"/>
                </a:tc>
                <a:tc>
                  <a:txBody>
                    <a:bodyPr/>
                    <a:lstStyle/>
                    <a:p>
                      <a:pPr algn="ctr"/>
                      <a:endParaRPr lang="zh-CN" altLang="en-US" sz="1600" b="0" dirty="0">
                        <a:solidFill>
                          <a:schemeClr val="tx1"/>
                        </a:solidFill>
                      </a:endParaRPr>
                    </a:p>
                  </a:txBody>
                  <a:tcPr anchor="ctr"/>
                </a:tc>
                <a:extLst>
                  <a:ext uri="{0D108BD9-81ED-4DB2-BD59-A6C34878D82A}">
                    <a16:rowId xmlns:a16="http://schemas.microsoft.com/office/drawing/2014/main" val="4092419922"/>
                  </a:ext>
                </a:extLst>
              </a:tr>
            </a:tbl>
          </a:graphicData>
        </a:graphic>
      </p:graphicFrame>
      <p:sp>
        <p:nvSpPr>
          <p:cNvPr id="2" name="标题 1">
            <a:extLst>
              <a:ext uri="{FF2B5EF4-FFF2-40B4-BE49-F238E27FC236}">
                <a16:creationId xmlns:a16="http://schemas.microsoft.com/office/drawing/2014/main" id="{3A716811-0A1E-A359-DBE5-0585EDAE512C}"/>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认证的基本概念</a:t>
            </a:r>
            <a:endParaRPr kumimoji="1" lang="zh-CN" altLang="en-US" b="0" dirty="0"/>
          </a:p>
        </p:txBody>
      </p:sp>
      <p:sp>
        <p:nvSpPr>
          <p:cNvPr id="3" name="灯片编号占位符 2">
            <a:extLst>
              <a:ext uri="{FF2B5EF4-FFF2-40B4-BE49-F238E27FC236}">
                <a16:creationId xmlns:a16="http://schemas.microsoft.com/office/drawing/2014/main" id="{96C16CBC-5161-003B-27D2-DF8FEE14CB3A}"/>
              </a:ext>
            </a:extLst>
          </p:cNvPr>
          <p:cNvSpPr>
            <a:spLocks noGrp="1"/>
          </p:cNvSpPr>
          <p:nvPr>
            <p:ph type="sldNum" sz="quarter" idx="12"/>
          </p:nvPr>
        </p:nvSpPr>
        <p:spPr/>
        <p:txBody>
          <a:bodyPr/>
          <a:lstStyle/>
          <a:p>
            <a:fld id="{4DBDE2CB-4801-494F-A0A4-D49D70804842}" type="slidenum">
              <a:rPr lang="zh-CN" altLang="en-US" smtClean="0"/>
              <a:t>4</a:t>
            </a:fld>
            <a:endParaRPr lang="zh-CN" altLang="en-US"/>
          </a:p>
        </p:txBody>
      </p:sp>
      <p:sp>
        <p:nvSpPr>
          <p:cNvPr id="6" name="文本框 5">
            <a:extLst>
              <a:ext uri="{FF2B5EF4-FFF2-40B4-BE49-F238E27FC236}">
                <a16:creationId xmlns:a16="http://schemas.microsoft.com/office/drawing/2014/main" id="{2A9EE3E1-CCF5-41E6-A9C0-2D08EF5741DE}"/>
              </a:ext>
            </a:extLst>
          </p:cNvPr>
          <p:cNvSpPr txBox="1"/>
          <p:nvPr/>
        </p:nvSpPr>
        <p:spPr>
          <a:xfrm>
            <a:off x="312517" y="1019100"/>
            <a:ext cx="788001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1.1 </a:t>
            </a:r>
            <a:r>
              <a:rPr lang="zh-CN" altLang="en-US" sz="2400" b="1" dirty="0">
                <a:solidFill>
                  <a:srgbClr val="FF0000"/>
                </a:solidFill>
                <a:latin typeface="Times New Roman" panose="02020603050405020304" pitchFamily="18" charset="0"/>
                <a:cs typeface="Times New Roman" panose="02020603050405020304" pitchFamily="18" charset="0"/>
              </a:rPr>
              <a:t>认证模型</a:t>
            </a:r>
          </a:p>
        </p:txBody>
      </p:sp>
      <p:grpSp>
        <p:nvGrpSpPr>
          <p:cNvPr id="36" name="组合 35">
            <a:extLst>
              <a:ext uri="{FF2B5EF4-FFF2-40B4-BE49-F238E27FC236}">
                <a16:creationId xmlns:a16="http://schemas.microsoft.com/office/drawing/2014/main" id="{2F1AA917-5D57-431C-B1C5-DF0686449648}"/>
              </a:ext>
            </a:extLst>
          </p:cNvPr>
          <p:cNvGrpSpPr/>
          <p:nvPr/>
        </p:nvGrpSpPr>
        <p:grpSpPr>
          <a:xfrm>
            <a:off x="3778856" y="2237386"/>
            <a:ext cx="5013606" cy="1559149"/>
            <a:chOff x="3552258" y="2199831"/>
            <a:chExt cx="5013606" cy="1559149"/>
          </a:xfrm>
        </p:grpSpPr>
        <p:sp>
          <p:nvSpPr>
            <p:cNvPr id="274" name="文本框 273">
              <a:extLst>
                <a:ext uri="{FF2B5EF4-FFF2-40B4-BE49-F238E27FC236}">
                  <a16:creationId xmlns:a16="http://schemas.microsoft.com/office/drawing/2014/main" id="{19790CA9-9F1C-44B3-89A8-57D63DC3BAE8}"/>
                </a:ext>
              </a:extLst>
            </p:cNvPr>
            <p:cNvSpPr txBox="1"/>
            <p:nvPr/>
          </p:nvSpPr>
          <p:spPr>
            <a:xfrm>
              <a:off x="4476938" y="3420426"/>
              <a:ext cx="1289480" cy="338554"/>
            </a:xfrm>
            <a:prstGeom prst="rect">
              <a:avLst/>
            </a:prstGeom>
            <a:noFill/>
          </p:spPr>
          <p:txBody>
            <a:bodyPr wrap="square" rtlCol="0">
              <a:spAutoFit/>
            </a:bodyPr>
            <a:lstStyle/>
            <a:p>
              <a:pPr algn="ctr"/>
              <a:r>
                <a:rPr lang="zh-CN" altLang="en-US" sz="1600" dirty="0"/>
                <a:t>认证编码器</a:t>
              </a:r>
            </a:p>
          </p:txBody>
        </p:sp>
        <p:sp>
          <p:nvSpPr>
            <p:cNvPr id="275" name="文本框 274">
              <a:extLst>
                <a:ext uri="{FF2B5EF4-FFF2-40B4-BE49-F238E27FC236}">
                  <a16:creationId xmlns:a16="http://schemas.microsoft.com/office/drawing/2014/main" id="{E303B464-D86C-4E8C-A77D-285BFA7DF61F}"/>
                </a:ext>
              </a:extLst>
            </p:cNvPr>
            <p:cNvSpPr txBox="1"/>
            <p:nvPr/>
          </p:nvSpPr>
          <p:spPr>
            <a:xfrm>
              <a:off x="6362782" y="3373242"/>
              <a:ext cx="1246839" cy="338554"/>
            </a:xfrm>
            <a:prstGeom prst="rect">
              <a:avLst/>
            </a:prstGeom>
            <a:noFill/>
          </p:spPr>
          <p:txBody>
            <a:bodyPr wrap="square" rtlCol="0">
              <a:spAutoFit/>
            </a:bodyPr>
            <a:lstStyle/>
            <a:p>
              <a:pPr algn="ctr"/>
              <a:r>
                <a:rPr lang="zh-CN" altLang="en-US" sz="1600" dirty="0"/>
                <a:t>认证译码器</a:t>
              </a:r>
            </a:p>
          </p:txBody>
        </p:sp>
        <p:sp>
          <p:nvSpPr>
            <p:cNvPr id="279" name="文本框 278">
              <a:extLst>
                <a:ext uri="{FF2B5EF4-FFF2-40B4-BE49-F238E27FC236}">
                  <a16:creationId xmlns:a16="http://schemas.microsoft.com/office/drawing/2014/main" id="{F1BE5BB1-1D22-4DCD-8FE0-D9A5608CC39E}"/>
                </a:ext>
              </a:extLst>
            </p:cNvPr>
            <p:cNvSpPr txBox="1"/>
            <p:nvPr/>
          </p:nvSpPr>
          <p:spPr>
            <a:xfrm>
              <a:off x="3552258" y="3394249"/>
              <a:ext cx="672911" cy="338554"/>
            </a:xfrm>
            <a:prstGeom prst="rect">
              <a:avLst/>
            </a:prstGeom>
            <a:noFill/>
          </p:spPr>
          <p:txBody>
            <a:bodyPr wrap="square" rtlCol="0">
              <a:spAutoFit/>
            </a:bodyPr>
            <a:lstStyle/>
            <a:p>
              <a:pPr algn="ctr"/>
              <a:r>
                <a:rPr lang="zh-CN" altLang="en-US" sz="1600" dirty="0"/>
                <a:t>信源</a:t>
              </a:r>
            </a:p>
          </p:txBody>
        </p:sp>
        <p:sp>
          <p:nvSpPr>
            <p:cNvPr id="280" name="文本框 279">
              <a:extLst>
                <a:ext uri="{FF2B5EF4-FFF2-40B4-BE49-F238E27FC236}">
                  <a16:creationId xmlns:a16="http://schemas.microsoft.com/office/drawing/2014/main" id="{9AC68C4B-F8B2-4422-88C4-0F9BBF9D4C2C}"/>
                </a:ext>
              </a:extLst>
            </p:cNvPr>
            <p:cNvSpPr txBox="1"/>
            <p:nvPr/>
          </p:nvSpPr>
          <p:spPr>
            <a:xfrm>
              <a:off x="7892953" y="3373242"/>
              <a:ext cx="672911" cy="338554"/>
            </a:xfrm>
            <a:prstGeom prst="rect">
              <a:avLst/>
            </a:prstGeom>
            <a:noFill/>
          </p:spPr>
          <p:txBody>
            <a:bodyPr wrap="square" rtlCol="0">
              <a:spAutoFit/>
            </a:bodyPr>
            <a:lstStyle/>
            <a:p>
              <a:pPr algn="ctr"/>
              <a:r>
                <a:rPr lang="zh-CN" altLang="en-US" sz="1600" dirty="0"/>
                <a:t>信源</a:t>
              </a:r>
            </a:p>
          </p:txBody>
        </p:sp>
        <p:sp>
          <p:nvSpPr>
            <p:cNvPr id="272" name="server_149744">
              <a:extLst>
                <a:ext uri="{FF2B5EF4-FFF2-40B4-BE49-F238E27FC236}">
                  <a16:creationId xmlns:a16="http://schemas.microsoft.com/office/drawing/2014/main" id="{71DBF4D6-ED5A-4B51-B272-A487BC56A336}"/>
                </a:ext>
              </a:extLst>
            </p:cNvPr>
            <p:cNvSpPr>
              <a:spLocks noChangeAspect="1"/>
            </p:cNvSpPr>
            <p:nvPr/>
          </p:nvSpPr>
          <p:spPr>
            <a:xfrm>
              <a:off x="4861568" y="2882818"/>
              <a:ext cx="432608" cy="432000"/>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 name="connsiteX122" fmla="*/ 325000 h 606722"/>
                <a:gd name="connsiteY122" fmla="*/ 325000 h 606722"/>
                <a:gd name="connsiteX123" fmla="*/ 325000 h 606722"/>
                <a:gd name="connsiteY123" fmla="*/ 325000 h 606722"/>
                <a:gd name="connsiteX124" fmla="*/ 325000 h 606722"/>
                <a:gd name="connsiteY124" fmla="*/ 325000 h 606722"/>
                <a:gd name="connsiteX125" fmla="*/ 325000 h 606722"/>
                <a:gd name="connsiteY125" fmla="*/ 325000 h 606722"/>
                <a:gd name="connsiteX126" fmla="*/ 325000 h 606722"/>
                <a:gd name="connsiteY126" fmla="*/ 325000 h 606722"/>
                <a:gd name="connsiteX127" fmla="*/ 325000 h 606722"/>
                <a:gd name="connsiteY127" fmla="*/ 325000 h 606722"/>
                <a:gd name="connsiteX128" fmla="*/ 325000 h 606722"/>
                <a:gd name="connsiteY128" fmla="*/ 325000 h 606722"/>
                <a:gd name="connsiteX129" fmla="*/ 325000 h 606722"/>
                <a:gd name="connsiteY129" fmla="*/ 325000 h 606722"/>
                <a:gd name="connsiteX130" fmla="*/ 325000 h 606722"/>
                <a:gd name="connsiteY130" fmla="*/ 325000 h 606722"/>
                <a:gd name="connsiteX131" fmla="*/ 325000 h 606722"/>
                <a:gd name="connsiteY131" fmla="*/ 325000 h 606722"/>
                <a:gd name="connsiteX132" fmla="*/ 325000 h 606722"/>
                <a:gd name="connsiteY132" fmla="*/ 325000 h 606722"/>
                <a:gd name="connsiteX133" fmla="*/ 325000 h 606722"/>
                <a:gd name="connsiteY133" fmla="*/ 325000 h 606722"/>
                <a:gd name="connsiteX134" fmla="*/ 325000 h 606722"/>
                <a:gd name="connsiteY134" fmla="*/ 325000 h 606722"/>
                <a:gd name="connsiteX135" fmla="*/ 325000 h 606722"/>
                <a:gd name="connsiteY135" fmla="*/ 325000 h 606722"/>
                <a:gd name="connsiteX136" fmla="*/ 325000 h 606722"/>
                <a:gd name="connsiteY136" fmla="*/ 325000 h 606722"/>
                <a:gd name="connsiteX137" fmla="*/ 325000 h 606722"/>
                <a:gd name="connsiteY137" fmla="*/ 325000 h 606722"/>
                <a:gd name="connsiteX138" fmla="*/ 325000 h 606722"/>
                <a:gd name="connsiteY138" fmla="*/ 325000 h 606722"/>
                <a:gd name="connsiteX139" fmla="*/ 325000 h 606722"/>
                <a:gd name="connsiteY139" fmla="*/ 325000 h 606722"/>
                <a:gd name="connsiteX140" fmla="*/ 325000 h 606722"/>
                <a:gd name="connsiteY140" fmla="*/ 325000 h 606722"/>
                <a:gd name="connsiteX141" fmla="*/ 325000 h 606722"/>
                <a:gd name="connsiteY141" fmla="*/ 325000 h 606722"/>
                <a:gd name="connsiteX142" fmla="*/ 325000 h 606722"/>
                <a:gd name="connsiteY142" fmla="*/ 325000 h 606722"/>
                <a:gd name="connsiteX143" fmla="*/ 325000 h 606722"/>
                <a:gd name="connsiteY143" fmla="*/ 325000 h 606722"/>
                <a:gd name="connsiteX144" fmla="*/ 325000 h 606722"/>
                <a:gd name="connsiteY144" fmla="*/ 325000 h 606722"/>
                <a:gd name="connsiteX145" fmla="*/ 325000 h 606722"/>
                <a:gd name="connsiteY145" fmla="*/ 325000 h 606722"/>
                <a:gd name="connsiteX146" fmla="*/ 325000 h 606722"/>
                <a:gd name="connsiteY146" fmla="*/ 325000 h 606722"/>
                <a:gd name="connsiteX147" fmla="*/ 325000 h 606722"/>
                <a:gd name="connsiteY147" fmla="*/ 325000 h 606722"/>
                <a:gd name="connsiteX148" fmla="*/ 325000 h 606722"/>
                <a:gd name="connsiteY148" fmla="*/ 325000 h 606722"/>
                <a:gd name="connsiteX149" fmla="*/ 325000 h 606722"/>
                <a:gd name="connsiteY149" fmla="*/ 325000 h 606722"/>
                <a:gd name="connsiteX150" fmla="*/ 325000 h 606722"/>
                <a:gd name="connsiteY150" fmla="*/ 325000 h 606722"/>
                <a:gd name="connsiteX151" fmla="*/ 325000 h 606722"/>
                <a:gd name="connsiteY151" fmla="*/ 325000 h 606722"/>
                <a:gd name="connsiteX152" fmla="*/ 325000 h 606722"/>
                <a:gd name="connsiteY152" fmla="*/ 325000 h 606722"/>
                <a:gd name="connsiteX153" fmla="*/ 325000 h 606722"/>
                <a:gd name="connsiteY153" fmla="*/ 325000 h 606722"/>
                <a:gd name="connsiteX154" fmla="*/ 325000 h 606722"/>
                <a:gd name="connsiteY154" fmla="*/ 325000 h 606722"/>
                <a:gd name="connsiteX155" fmla="*/ 325000 h 606722"/>
                <a:gd name="connsiteY155" fmla="*/ 325000 h 606722"/>
                <a:gd name="connsiteX156" fmla="*/ 325000 h 606722"/>
                <a:gd name="connsiteY156" fmla="*/ 325000 h 606722"/>
                <a:gd name="connsiteX157" fmla="*/ 325000 h 606722"/>
                <a:gd name="connsiteY157" fmla="*/ 325000 h 606722"/>
                <a:gd name="connsiteX158" fmla="*/ 325000 h 606722"/>
                <a:gd name="connsiteY158" fmla="*/ 325000 h 606722"/>
                <a:gd name="connsiteX159" fmla="*/ 325000 h 606722"/>
                <a:gd name="connsiteY159" fmla="*/ 325000 h 606722"/>
                <a:gd name="connsiteX160" fmla="*/ 325000 h 606722"/>
                <a:gd name="connsiteY160"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607614" h="606761">
                  <a:moveTo>
                    <a:pt x="222601" y="492232"/>
                  </a:moveTo>
                  <a:cubicBezTo>
                    <a:pt x="265127" y="516503"/>
                    <a:pt x="344104" y="528639"/>
                    <a:pt x="420044" y="528639"/>
                  </a:cubicBezTo>
                  <a:cubicBezTo>
                    <a:pt x="490667" y="528639"/>
                    <a:pt x="563569" y="518020"/>
                    <a:pt x="607614" y="497541"/>
                  </a:cubicBezTo>
                  <a:lnTo>
                    <a:pt x="607614" y="536223"/>
                  </a:lnTo>
                  <a:cubicBezTo>
                    <a:pt x="607614" y="537740"/>
                    <a:pt x="606855" y="539257"/>
                    <a:pt x="606855" y="540774"/>
                  </a:cubicBezTo>
                  <a:cubicBezTo>
                    <a:pt x="595464" y="584007"/>
                    <a:pt x="502818" y="606761"/>
                    <a:pt x="415487" y="606761"/>
                  </a:cubicBezTo>
                  <a:cubicBezTo>
                    <a:pt x="327397" y="606761"/>
                    <a:pt x="234751" y="584007"/>
                    <a:pt x="224120" y="540016"/>
                  </a:cubicBezTo>
                  <a:cubicBezTo>
                    <a:pt x="223360" y="539257"/>
                    <a:pt x="222601" y="537740"/>
                    <a:pt x="222601" y="536223"/>
                  </a:cubicBezTo>
                  <a:close/>
                  <a:moveTo>
                    <a:pt x="106327" y="445216"/>
                  </a:moveTo>
                  <a:cubicBezTo>
                    <a:pt x="81264" y="445216"/>
                    <a:pt x="60758" y="465693"/>
                    <a:pt x="60758" y="490719"/>
                  </a:cubicBezTo>
                  <a:cubicBezTo>
                    <a:pt x="60758" y="515746"/>
                    <a:pt x="81264" y="536222"/>
                    <a:pt x="106327" y="536222"/>
                  </a:cubicBezTo>
                  <a:cubicBezTo>
                    <a:pt x="131390" y="536222"/>
                    <a:pt x="151896" y="515746"/>
                    <a:pt x="151896" y="490719"/>
                  </a:cubicBezTo>
                  <a:cubicBezTo>
                    <a:pt x="151896" y="465693"/>
                    <a:pt x="131390" y="445216"/>
                    <a:pt x="106327" y="445216"/>
                  </a:cubicBezTo>
                  <a:close/>
                  <a:moveTo>
                    <a:pt x="8354" y="404264"/>
                  </a:moveTo>
                  <a:lnTo>
                    <a:pt x="202781" y="404264"/>
                  </a:lnTo>
                  <a:lnTo>
                    <a:pt x="202781" y="437633"/>
                  </a:lnTo>
                  <a:lnTo>
                    <a:pt x="202781" y="441425"/>
                  </a:lnTo>
                  <a:lnTo>
                    <a:pt x="202781" y="445216"/>
                  </a:lnTo>
                  <a:lnTo>
                    <a:pt x="202781" y="466451"/>
                  </a:lnTo>
                  <a:lnTo>
                    <a:pt x="202781" y="492236"/>
                  </a:lnTo>
                  <a:lnTo>
                    <a:pt x="202781" y="536222"/>
                  </a:lnTo>
                  <a:cubicBezTo>
                    <a:pt x="202781" y="537739"/>
                    <a:pt x="202781" y="539255"/>
                    <a:pt x="203541" y="540014"/>
                  </a:cubicBezTo>
                  <a:cubicBezTo>
                    <a:pt x="206578" y="552148"/>
                    <a:pt x="215692" y="562765"/>
                    <a:pt x="230122" y="571866"/>
                  </a:cubicBezTo>
                  <a:cubicBezTo>
                    <a:pt x="240755" y="578691"/>
                    <a:pt x="236958" y="596134"/>
                    <a:pt x="224047" y="596892"/>
                  </a:cubicBezTo>
                  <a:lnTo>
                    <a:pt x="223287" y="596892"/>
                  </a:lnTo>
                  <a:lnTo>
                    <a:pt x="46328" y="596892"/>
                  </a:lnTo>
                  <a:cubicBezTo>
                    <a:pt x="21265" y="596892"/>
                    <a:pt x="0" y="575657"/>
                    <a:pt x="0" y="549873"/>
                  </a:cubicBezTo>
                  <a:lnTo>
                    <a:pt x="0" y="430807"/>
                  </a:lnTo>
                  <a:cubicBezTo>
                    <a:pt x="0" y="420948"/>
                    <a:pt x="3038" y="411848"/>
                    <a:pt x="8354" y="404264"/>
                  </a:cubicBezTo>
                  <a:close/>
                  <a:moveTo>
                    <a:pt x="222601" y="401218"/>
                  </a:moveTo>
                  <a:cubicBezTo>
                    <a:pt x="260571" y="423220"/>
                    <a:pt x="329676" y="435359"/>
                    <a:pt x="398781" y="436876"/>
                  </a:cubicBezTo>
                  <a:cubicBezTo>
                    <a:pt x="399540" y="436876"/>
                    <a:pt x="399540" y="436876"/>
                    <a:pt x="399540" y="436876"/>
                  </a:cubicBezTo>
                  <a:cubicBezTo>
                    <a:pt x="402578" y="436876"/>
                    <a:pt x="405615" y="436876"/>
                    <a:pt x="408653" y="437635"/>
                  </a:cubicBezTo>
                  <a:lnTo>
                    <a:pt x="410171" y="437635"/>
                  </a:lnTo>
                  <a:cubicBezTo>
                    <a:pt x="413209" y="437635"/>
                    <a:pt x="417006" y="437635"/>
                    <a:pt x="420044" y="437635"/>
                  </a:cubicBezTo>
                  <a:cubicBezTo>
                    <a:pt x="423841" y="437635"/>
                    <a:pt x="426878" y="437635"/>
                    <a:pt x="430675" y="437635"/>
                  </a:cubicBezTo>
                  <a:cubicBezTo>
                    <a:pt x="431435" y="437635"/>
                    <a:pt x="431435" y="437635"/>
                    <a:pt x="432194" y="437635"/>
                  </a:cubicBezTo>
                  <a:cubicBezTo>
                    <a:pt x="435231" y="436876"/>
                    <a:pt x="438269" y="436876"/>
                    <a:pt x="440547" y="436876"/>
                  </a:cubicBezTo>
                  <a:lnTo>
                    <a:pt x="442066" y="436876"/>
                  </a:lnTo>
                  <a:cubicBezTo>
                    <a:pt x="505096" y="435359"/>
                    <a:pt x="568126" y="424737"/>
                    <a:pt x="607614" y="406529"/>
                  </a:cubicBezTo>
                  <a:lnTo>
                    <a:pt x="607614" y="437635"/>
                  </a:lnTo>
                  <a:lnTo>
                    <a:pt x="607614" y="441428"/>
                  </a:lnTo>
                  <a:lnTo>
                    <a:pt x="607614" y="445222"/>
                  </a:lnTo>
                  <a:lnTo>
                    <a:pt x="607614" y="474052"/>
                  </a:lnTo>
                  <a:cubicBezTo>
                    <a:pt x="577238" y="492261"/>
                    <a:pt x="508133" y="508193"/>
                    <a:pt x="420044" y="508193"/>
                  </a:cubicBezTo>
                  <a:cubicBezTo>
                    <a:pt x="319804" y="508193"/>
                    <a:pt x="244623" y="487708"/>
                    <a:pt x="222601" y="466465"/>
                  </a:cubicBezTo>
                  <a:lnTo>
                    <a:pt x="222601" y="445222"/>
                  </a:lnTo>
                  <a:lnTo>
                    <a:pt x="222601" y="441428"/>
                  </a:lnTo>
                  <a:lnTo>
                    <a:pt x="222601" y="437635"/>
                  </a:lnTo>
                  <a:close/>
                  <a:moveTo>
                    <a:pt x="222601" y="310204"/>
                  </a:moveTo>
                  <a:cubicBezTo>
                    <a:pt x="265127" y="333723"/>
                    <a:pt x="344104" y="346621"/>
                    <a:pt x="420044" y="346621"/>
                  </a:cubicBezTo>
                  <a:cubicBezTo>
                    <a:pt x="490667" y="346621"/>
                    <a:pt x="563569" y="335999"/>
                    <a:pt x="607614" y="315515"/>
                  </a:cubicBezTo>
                  <a:lnTo>
                    <a:pt x="607614" y="346621"/>
                  </a:lnTo>
                  <a:lnTo>
                    <a:pt x="607614" y="350414"/>
                  </a:lnTo>
                  <a:lnTo>
                    <a:pt x="607614" y="354208"/>
                  </a:lnTo>
                  <a:lnTo>
                    <a:pt x="607614" y="383038"/>
                  </a:lnTo>
                  <a:cubicBezTo>
                    <a:pt x="577238" y="401247"/>
                    <a:pt x="506615" y="417179"/>
                    <a:pt x="420044" y="417179"/>
                  </a:cubicBezTo>
                  <a:cubicBezTo>
                    <a:pt x="325879" y="417179"/>
                    <a:pt x="251458" y="398212"/>
                    <a:pt x="225639" y="377727"/>
                  </a:cubicBezTo>
                  <a:cubicBezTo>
                    <a:pt x="225639" y="376969"/>
                    <a:pt x="224879" y="376969"/>
                    <a:pt x="224120" y="376210"/>
                  </a:cubicBezTo>
                  <a:cubicBezTo>
                    <a:pt x="224120" y="376210"/>
                    <a:pt x="223360" y="375451"/>
                    <a:pt x="222601" y="374692"/>
                  </a:cubicBezTo>
                  <a:lnTo>
                    <a:pt x="222601" y="354208"/>
                  </a:lnTo>
                  <a:lnTo>
                    <a:pt x="222601" y="350414"/>
                  </a:lnTo>
                  <a:lnTo>
                    <a:pt x="222601" y="346621"/>
                  </a:lnTo>
                  <a:close/>
                  <a:moveTo>
                    <a:pt x="106343" y="252562"/>
                  </a:moveTo>
                  <a:cubicBezTo>
                    <a:pt x="81277" y="252562"/>
                    <a:pt x="60768" y="273039"/>
                    <a:pt x="60768" y="298066"/>
                  </a:cubicBezTo>
                  <a:cubicBezTo>
                    <a:pt x="60768" y="323094"/>
                    <a:pt x="81277" y="343571"/>
                    <a:pt x="106343" y="343571"/>
                  </a:cubicBezTo>
                  <a:cubicBezTo>
                    <a:pt x="131410" y="343571"/>
                    <a:pt x="151919" y="323094"/>
                    <a:pt x="151919" y="298066"/>
                  </a:cubicBezTo>
                  <a:cubicBezTo>
                    <a:pt x="151919" y="273039"/>
                    <a:pt x="131410" y="252562"/>
                    <a:pt x="106343" y="252562"/>
                  </a:cubicBezTo>
                  <a:close/>
                  <a:moveTo>
                    <a:pt x="8356" y="212366"/>
                  </a:moveTo>
                  <a:lnTo>
                    <a:pt x="243070" y="212366"/>
                  </a:lnTo>
                  <a:cubicBezTo>
                    <a:pt x="221801" y="222984"/>
                    <a:pt x="207369" y="235877"/>
                    <a:pt x="203571" y="251045"/>
                  </a:cubicBezTo>
                  <a:cubicBezTo>
                    <a:pt x="202812" y="252562"/>
                    <a:pt x="202812" y="254079"/>
                    <a:pt x="202812" y="255595"/>
                  </a:cubicBezTo>
                  <a:lnTo>
                    <a:pt x="202812" y="259387"/>
                  </a:lnTo>
                  <a:lnTo>
                    <a:pt x="202812" y="283657"/>
                  </a:lnTo>
                  <a:lnTo>
                    <a:pt x="202812" y="310201"/>
                  </a:lnTo>
                  <a:lnTo>
                    <a:pt x="202812" y="346605"/>
                  </a:lnTo>
                  <a:lnTo>
                    <a:pt x="202812" y="350397"/>
                  </a:lnTo>
                  <a:lnTo>
                    <a:pt x="202812" y="354189"/>
                  </a:lnTo>
                  <a:lnTo>
                    <a:pt x="202812" y="384525"/>
                  </a:lnTo>
                  <a:lnTo>
                    <a:pt x="8356" y="384525"/>
                  </a:lnTo>
                  <a:cubicBezTo>
                    <a:pt x="3038" y="376941"/>
                    <a:pt x="0" y="367840"/>
                    <a:pt x="0" y="357981"/>
                  </a:cubicBezTo>
                  <a:lnTo>
                    <a:pt x="0" y="238910"/>
                  </a:lnTo>
                  <a:cubicBezTo>
                    <a:pt x="0" y="229051"/>
                    <a:pt x="3038" y="219950"/>
                    <a:pt x="8356" y="212366"/>
                  </a:cubicBezTo>
                  <a:close/>
                  <a:moveTo>
                    <a:pt x="415487" y="184343"/>
                  </a:moveTo>
                  <a:cubicBezTo>
                    <a:pt x="503577" y="184343"/>
                    <a:pt x="596223" y="207853"/>
                    <a:pt x="606855" y="251082"/>
                  </a:cubicBezTo>
                  <a:cubicBezTo>
                    <a:pt x="607614" y="252599"/>
                    <a:pt x="607614" y="254116"/>
                    <a:pt x="607614" y="255633"/>
                  </a:cubicBezTo>
                  <a:lnTo>
                    <a:pt x="607614" y="259425"/>
                  </a:lnTo>
                  <a:lnTo>
                    <a:pt x="607614" y="292036"/>
                  </a:lnTo>
                  <a:cubicBezTo>
                    <a:pt x="577238" y="310238"/>
                    <a:pt x="506615" y="326164"/>
                    <a:pt x="420044" y="326164"/>
                  </a:cubicBezTo>
                  <a:cubicBezTo>
                    <a:pt x="322082" y="326164"/>
                    <a:pt x="244623" y="305687"/>
                    <a:pt x="222601" y="283694"/>
                  </a:cubicBezTo>
                  <a:lnTo>
                    <a:pt x="222601" y="259425"/>
                  </a:lnTo>
                  <a:lnTo>
                    <a:pt x="222601" y="255633"/>
                  </a:lnTo>
                  <a:cubicBezTo>
                    <a:pt x="222601" y="254116"/>
                    <a:pt x="223360" y="252599"/>
                    <a:pt x="224120" y="251082"/>
                  </a:cubicBezTo>
                  <a:cubicBezTo>
                    <a:pt x="233992" y="207853"/>
                    <a:pt x="327397" y="184343"/>
                    <a:pt x="415487" y="184343"/>
                  </a:cubicBezTo>
                  <a:close/>
                  <a:moveTo>
                    <a:pt x="526346" y="111497"/>
                  </a:moveTo>
                  <a:cubicBezTo>
                    <a:pt x="521029" y="111497"/>
                    <a:pt x="516472" y="116048"/>
                    <a:pt x="516472" y="121358"/>
                  </a:cubicBezTo>
                  <a:cubicBezTo>
                    <a:pt x="516472" y="126667"/>
                    <a:pt x="521029" y="131218"/>
                    <a:pt x="526346" y="131218"/>
                  </a:cubicBezTo>
                  <a:cubicBezTo>
                    <a:pt x="532422" y="131218"/>
                    <a:pt x="536979" y="126667"/>
                    <a:pt x="536979" y="121358"/>
                  </a:cubicBezTo>
                  <a:cubicBezTo>
                    <a:pt x="536979" y="116048"/>
                    <a:pt x="532422" y="111497"/>
                    <a:pt x="526346" y="111497"/>
                  </a:cubicBezTo>
                  <a:close/>
                  <a:moveTo>
                    <a:pt x="486091" y="111497"/>
                  </a:moveTo>
                  <a:cubicBezTo>
                    <a:pt x="480775" y="111497"/>
                    <a:pt x="476217" y="116048"/>
                    <a:pt x="476217" y="121358"/>
                  </a:cubicBezTo>
                  <a:cubicBezTo>
                    <a:pt x="476217" y="126667"/>
                    <a:pt x="480775" y="131218"/>
                    <a:pt x="486091" y="131218"/>
                  </a:cubicBezTo>
                  <a:cubicBezTo>
                    <a:pt x="491408" y="131218"/>
                    <a:pt x="495965" y="126667"/>
                    <a:pt x="495965" y="121358"/>
                  </a:cubicBezTo>
                  <a:cubicBezTo>
                    <a:pt x="495965" y="116048"/>
                    <a:pt x="491408" y="111497"/>
                    <a:pt x="486091" y="111497"/>
                  </a:cubicBezTo>
                  <a:close/>
                  <a:moveTo>
                    <a:pt x="445837" y="111497"/>
                  </a:moveTo>
                  <a:cubicBezTo>
                    <a:pt x="439761" y="111497"/>
                    <a:pt x="435204" y="116048"/>
                    <a:pt x="435204" y="121358"/>
                  </a:cubicBezTo>
                  <a:cubicBezTo>
                    <a:pt x="435204" y="126667"/>
                    <a:pt x="439761" y="131218"/>
                    <a:pt x="445837" y="131218"/>
                  </a:cubicBezTo>
                  <a:cubicBezTo>
                    <a:pt x="451153" y="131218"/>
                    <a:pt x="455711" y="126667"/>
                    <a:pt x="455711" y="121358"/>
                  </a:cubicBezTo>
                  <a:cubicBezTo>
                    <a:pt x="455711" y="116048"/>
                    <a:pt x="451153" y="111497"/>
                    <a:pt x="445837" y="111497"/>
                  </a:cubicBezTo>
                  <a:close/>
                  <a:moveTo>
                    <a:pt x="404823" y="111497"/>
                  </a:moveTo>
                  <a:cubicBezTo>
                    <a:pt x="399506" y="111497"/>
                    <a:pt x="394949" y="116048"/>
                    <a:pt x="394949" y="121358"/>
                  </a:cubicBezTo>
                  <a:cubicBezTo>
                    <a:pt x="394949" y="126667"/>
                    <a:pt x="399506" y="131218"/>
                    <a:pt x="404823" y="131218"/>
                  </a:cubicBezTo>
                  <a:cubicBezTo>
                    <a:pt x="410899" y="131218"/>
                    <a:pt x="415456" y="126667"/>
                    <a:pt x="415456" y="121358"/>
                  </a:cubicBezTo>
                  <a:cubicBezTo>
                    <a:pt x="415456" y="116048"/>
                    <a:pt x="410899" y="111497"/>
                    <a:pt x="404823" y="111497"/>
                  </a:cubicBezTo>
                  <a:close/>
                  <a:moveTo>
                    <a:pt x="364568" y="111497"/>
                  </a:moveTo>
                  <a:cubicBezTo>
                    <a:pt x="359252" y="111497"/>
                    <a:pt x="354695" y="116048"/>
                    <a:pt x="354695" y="121358"/>
                  </a:cubicBezTo>
                  <a:cubicBezTo>
                    <a:pt x="354695" y="126667"/>
                    <a:pt x="359252" y="131218"/>
                    <a:pt x="364568" y="131218"/>
                  </a:cubicBezTo>
                  <a:cubicBezTo>
                    <a:pt x="369885" y="131218"/>
                    <a:pt x="374442" y="126667"/>
                    <a:pt x="374442" y="121358"/>
                  </a:cubicBezTo>
                  <a:cubicBezTo>
                    <a:pt x="374442" y="116048"/>
                    <a:pt x="369885" y="111497"/>
                    <a:pt x="364568" y="111497"/>
                  </a:cubicBezTo>
                  <a:close/>
                  <a:moveTo>
                    <a:pt x="506598" y="81158"/>
                  </a:moveTo>
                  <a:cubicBezTo>
                    <a:pt x="500522" y="81158"/>
                    <a:pt x="495965" y="85709"/>
                    <a:pt x="495965" y="91018"/>
                  </a:cubicBezTo>
                  <a:cubicBezTo>
                    <a:pt x="495965" y="96328"/>
                    <a:pt x="500522" y="100879"/>
                    <a:pt x="506598" y="100879"/>
                  </a:cubicBezTo>
                  <a:cubicBezTo>
                    <a:pt x="511915" y="100879"/>
                    <a:pt x="516472" y="96328"/>
                    <a:pt x="516472" y="91018"/>
                  </a:cubicBezTo>
                  <a:cubicBezTo>
                    <a:pt x="516472" y="85709"/>
                    <a:pt x="511915" y="81158"/>
                    <a:pt x="506598" y="81158"/>
                  </a:cubicBezTo>
                  <a:close/>
                  <a:moveTo>
                    <a:pt x="465584" y="81158"/>
                  </a:moveTo>
                  <a:cubicBezTo>
                    <a:pt x="460268" y="81158"/>
                    <a:pt x="455711" y="85709"/>
                    <a:pt x="455711" y="91018"/>
                  </a:cubicBezTo>
                  <a:cubicBezTo>
                    <a:pt x="455711" y="96328"/>
                    <a:pt x="460268" y="100879"/>
                    <a:pt x="465584" y="100879"/>
                  </a:cubicBezTo>
                  <a:cubicBezTo>
                    <a:pt x="471660" y="100879"/>
                    <a:pt x="476217" y="96328"/>
                    <a:pt x="476217" y="91018"/>
                  </a:cubicBezTo>
                  <a:cubicBezTo>
                    <a:pt x="476217" y="85709"/>
                    <a:pt x="471660" y="81158"/>
                    <a:pt x="465584" y="81158"/>
                  </a:cubicBezTo>
                  <a:close/>
                  <a:moveTo>
                    <a:pt x="425330" y="81158"/>
                  </a:moveTo>
                  <a:cubicBezTo>
                    <a:pt x="420013" y="81158"/>
                    <a:pt x="415456" y="85709"/>
                    <a:pt x="415456" y="91018"/>
                  </a:cubicBezTo>
                  <a:cubicBezTo>
                    <a:pt x="415456" y="96328"/>
                    <a:pt x="420013" y="100879"/>
                    <a:pt x="425330" y="100879"/>
                  </a:cubicBezTo>
                  <a:cubicBezTo>
                    <a:pt x="430646" y="100879"/>
                    <a:pt x="435204" y="96328"/>
                    <a:pt x="435204" y="91018"/>
                  </a:cubicBezTo>
                  <a:cubicBezTo>
                    <a:pt x="435204" y="85709"/>
                    <a:pt x="430646" y="81158"/>
                    <a:pt x="425330" y="81158"/>
                  </a:cubicBezTo>
                  <a:close/>
                  <a:moveTo>
                    <a:pt x="385075" y="81158"/>
                  </a:moveTo>
                  <a:cubicBezTo>
                    <a:pt x="378999" y="81158"/>
                    <a:pt x="374442" y="85709"/>
                    <a:pt x="374442" y="91018"/>
                  </a:cubicBezTo>
                  <a:cubicBezTo>
                    <a:pt x="374442" y="96328"/>
                    <a:pt x="378999" y="100879"/>
                    <a:pt x="385075" y="100879"/>
                  </a:cubicBezTo>
                  <a:cubicBezTo>
                    <a:pt x="390392" y="100879"/>
                    <a:pt x="394949" y="96328"/>
                    <a:pt x="394949" y="91018"/>
                  </a:cubicBezTo>
                  <a:cubicBezTo>
                    <a:pt x="394949" y="85709"/>
                    <a:pt x="390392" y="81158"/>
                    <a:pt x="385075" y="81158"/>
                  </a:cubicBezTo>
                  <a:close/>
                  <a:moveTo>
                    <a:pt x="344061" y="81158"/>
                  </a:moveTo>
                  <a:cubicBezTo>
                    <a:pt x="338745" y="81158"/>
                    <a:pt x="334188" y="85709"/>
                    <a:pt x="334188" y="91018"/>
                  </a:cubicBezTo>
                  <a:cubicBezTo>
                    <a:pt x="334188" y="96328"/>
                    <a:pt x="338745" y="100879"/>
                    <a:pt x="344061" y="100879"/>
                  </a:cubicBezTo>
                  <a:cubicBezTo>
                    <a:pt x="350138" y="100879"/>
                    <a:pt x="354695" y="96328"/>
                    <a:pt x="354695" y="91018"/>
                  </a:cubicBezTo>
                  <a:cubicBezTo>
                    <a:pt x="354695" y="85709"/>
                    <a:pt x="350138" y="81158"/>
                    <a:pt x="344061" y="81158"/>
                  </a:cubicBezTo>
                  <a:close/>
                  <a:moveTo>
                    <a:pt x="106332" y="60679"/>
                  </a:moveTo>
                  <a:cubicBezTo>
                    <a:pt x="81268" y="60679"/>
                    <a:pt x="60761" y="81158"/>
                    <a:pt x="60761" y="106188"/>
                  </a:cubicBezTo>
                  <a:cubicBezTo>
                    <a:pt x="60761" y="131218"/>
                    <a:pt x="81268" y="151697"/>
                    <a:pt x="106332" y="151697"/>
                  </a:cubicBezTo>
                  <a:cubicBezTo>
                    <a:pt x="131397" y="151697"/>
                    <a:pt x="151904" y="131218"/>
                    <a:pt x="151904" y="106188"/>
                  </a:cubicBezTo>
                  <a:cubicBezTo>
                    <a:pt x="151904" y="81158"/>
                    <a:pt x="131397" y="60679"/>
                    <a:pt x="106332" y="60679"/>
                  </a:cubicBezTo>
                  <a:close/>
                  <a:moveTo>
                    <a:pt x="46331" y="0"/>
                  </a:moveTo>
                  <a:lnTo>
                    <a:pt x="561283" y="0"/>
                  </a:lnTo>
                  <a:cubicBezTo>
                    <a:pt x="586348" y="0"/>
                    <a:pt x="607614" y="21238"/>
                    <a:pt x="607614" y="46268"/>
                  </a:cubicBezTo>
                  <a:lnTo>
                    <a:pt x="607614" y="166108"/>
                  </a:lnTo>
                  <a:cubicBezTo>
                    <a:pt x="607614" y="175969"/>
                    <a:pt x="604576" y="184312"/>
                    <a:pt x="599259" y="191897"/>
                  </a:cubicBezTo>
                  <a:lnTo>
                    <a:pt x="569638" y="191897"/>
                  </a:lnTo>
                  <a:cubicBezTo>
                    <a:pt x="529384" y="173693"/>
                    <a:pt x="468622" y="164591"/>
                    <a:pt x="410899" y="164591"/>
                  </a:cubicBezTo>
                  <a:cubicBezTo>
                    <a:pt x="352416" y="164591"/>
                    <a:pt x="291655" y="173693"/>
                    <a:pt x="251400" y="191897"/>
                  </a:cubicBezTo>
                  <a:lnTo>
                    <a:pt x="8355" y="191897"/>
                  </a:lnTo>
                  <a:cubicBezTo>
                    <a:pt x="3038" y="184312"/>
                    <a:pt x="0" y="175969"/>
                    <a:pt x="0" y="166108"/>
                  </a:cubicBezTo>
                  <a:lnTo>
                    <a:pt x="0" y="46268"/>
                  </a:lnTo>
                  <a:cubicBezTo>
                    <a:pt x="0" y="21238"/>
                    <a:pt x="21267" y="0"/>
                    <a:pt x="46331"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a:p>
          </p:txBody>
        </p:sp>
        <p:sp>
          <p:nvSpPr>
            <p:cNvPr id="273" name="server_149744">
              <a:extLst>
                <a:ext uri="{FF2B5EF4-FFF2-40B4-BE49-F238E27FC236}">
                  <a16:creationId xmlns:a16="http://schemas.microsoft.com/office/drawing/2014/main" id="{33F9302B-976A-486F-95A9-B37C8F615D7B}"/>
                </a:ext>
              </a:extLst>
            </p:cNvPr>
            <p:cNvSpPr>
              <a:spLocks/>
            </p:cNvSpPr>
            <p:nvPr/>
          </p:nvSpPr>
          <p:spPr>
            <a:xfrm>
              <a:off x="6766888" y="2908937"/>
              <a:ext cx="432000" cy="432000"/>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 name="connsiteX122" fmla="*/ 325000 h 606722"/>
                <a:gd name="connsiteY122" fmla="*/ 325000 h 606722"/>
                <a:gd name="connsiteX123" fmla="*/ 325000 h 606722"/>
                <a:gd name="connsiteY123" fmla="*/ 325000 h 606722"/>
                <a:gd name="connsiteX124" fmla="*/ 325000 h 606722"/>
                <a:gd name="connsiteY124" fmla="*/ 325000 h 606722"/>
                <a:gd name="connsiteX125" fmla="*/ 325000 h 606722"/>
                <a:gd name="connsiteY125" fmla="*/ 325000 h 606722"/>
                <a:gd name="connsiteX126" fmla="*/ 325000 h 606722"/>
                <a:gd name="connsiteY126" fmla="*/ 325000 h 606722"/>
                <a:gd name="connsiteX127" fmla="*/ 325000 h 606722"/>
                <a:gd name="connsiteY127" fmla="*/ 325000 h 606722"/>
                <a:gd name="connsiteX128" fmla="*/ 325000 h 606722"/>
                <a:gd name="connsiteY128" fmla="*/ 325000 h 606722"/>
                <a:gd name="connsiteX129" fmla="*/ 325000 h 606722"/>
                <a:gd name="connsiteY129" fmla="*/ 325000 h 606722"/>
                <a:gd name="connsiteX130" fmla="*/ 325000 h 606722"/>
                <a:gd name="connsiteY130" fmla="*/ 325000 h 606722"/>
                <a:gd name="connsiteX131" fmla="*/ 325000 h 606722"/>
                <a:gd name="connsiteY131" fmla="*/ 325000 h 606722"/>
                <a:gd name="connsiteX132" fmla="*/ 325000 h 606722"/>
                <a:gd name="connsiteY132" fmla="*/ 325000 h 606722"/>
                <a:gd name="connsiteX133" fmla="*/ 325000 h 606722"/>
                <a:gd name="connsiteY133" fmla="*/ 325000 h 606722"/>
                <a:gd name="connsiteX134" fmla="*/ 325000 h 606722"/>
                <a:gd name="connsiteY134" fmla="*/ 325000 h 606722"/>
                <a:gd name="connsiteX135" fmla="*/ 325000 h 606722"/>
                <a:gd name="connsiteY135" fmla="*/ 325000 h 606722"/>
                <a:gd name="connsiteX136" fmla="*/ 325000 h 606722"/>
                <a:gd name="connsiteY136" fmla="*/ 325000 h 606722"/>
                <a:gd name="connsiteX137" fmla="*/ 325000 h 606722"/>
                <a:gd name="connsiteY137" fmla="*/ 325000 h 606722"/>
                <a:gd name="connsiteX138" fmla="*/ 325000 h 606722"/>
                <a:gd name="connsiteY138" fmla="*/ 325000 h 606722"/>
                <a:gd name="connsiteX139" fmla="*/ 325000 h 606722"/>
                <a:gd name="connsiteY139" fmla="*/ 325000 h 606722"/>
                <a:gd name="connsiteX140" fmla="*/ 325000 h 606722"/>
                <a:gd name="connsiteY140" fmla="*/ 325000 h 606722"/>
                <a:gd name="connsiteX141" fmla="*/ 325000 h 606722"/>
                <a:gd name="connsiteY141" fmla="*/ 325000 h 606722"/>
                <a:gd name="connsiteX142" fmla="*/ 325000 h 606722"/>
                <a:gd name="connsiteY142" fmla="*/ 325000 h 606722"/>
                <a:gd name="connsiteX143" fmla="*/ 325000 h 606722"/>
                <a:gd name="connsiteY143" fmla="*/ 325000 h 606722"/>
                <a:gd name="connsiteX144" fmla="*/ 325000 h 606722"/>
                <a:gd name="connsiteY144" fmla="*/ 325000 h 606722"/>
                <a:gd name="connsiteX145" fmla="*/ 325000 h 606722"/>
                <a:gd name="connsiteY145" fmla="*/ 325000 h 606722"/>
                <a:gd name="connsiteX146" fmla="*/ 325000 h 606722"/>
                <a:gd name="connsiteY146" fmla="*/ 325000 h 606722"/>
                <a:gd name="connsiteX147" fmla="*/ 325000 h 606722"/>
                <a:gd name="connsiteY147" fmla="*/ 325000 h 606722"/>
                <a:gd name="connsiteX148" fmla="*/ 325000 h 606722"/>
                <a:gd name="connsiteY148" fmla="*/ 325000 h 606722"/>
                <a:gd name="connsiteX149" fmla="*/ 325000 h 606722"/>
                <a:gd name="connsiteY149" fmla="*/ 325000 h 606722"/>
                <a:gd name="connsiteX150" fmla="*/ 325000 h 606722"/>
                <a:gd name="connsiteY150" fmla="*/ 325000 h 606722"/>
                <a:gd name="connsiteX151" fmla="*/ 325000 h 606722"/>
                <a:gd name="connsiteY151" fmla="*/ 325000 h 606722"/>
                <a:gd name="connsiteX152" fmla="*/ 325000 h 606722"/>
                <a:gd name="connsiteY152" fmla="*/ 325000 h 606722"/>
                <a:gd name="connsiteX153" fmla="*/ 325000 h 606722"/>
                <a:gd name="connsiteY153" fmla="*/ 325000 h 606722"/>
                <a:gd name="connsiteX154" fmla="*/ 325000 h 606722"/>
                <a:gd name="connsiteY154" fmla="*/ 325000 h 606722"/>
                <a:gd name="connsiteX155" fmla="*/ 325000 h 606722"/>
                <a:gd name="connsiteY155" fmla="*/ 325000 h 606722"/>
                <a:gd name="connsiteX156" fmla="*/ 325000 h 606722"/>
                <a:gd name="connsiteY156" fmla="*/ 325000 h 606722"/>
                <a:gd name="connsiteX157" fmla="*/ 325000 h 606722"/>
                <a:gd name="connsiteY157" fmla="*/ 325000 h 606722"/>
                <a:gd name="connsiteX158" fmla="*/ 325000 h 606722"/>
                <a:gd name="connsiteY158" fmla="*/ 325000 h 606722"/>
                <a:gd name="connsiteX159" fmla="*/ 325000 h 606722"/>
                <a:gd name="connsiteY159" fmla="*/ 325000 h 606722"/>
                <a:gd name="connsiteX160" fmla="*/ 325000 h 606722"/>
                <a:gd name="connsiteY160"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607614" h="606761">
                  <a:moveTo>
                    <a:pt x="222601" y="492232"/>
                  </a:moveTo>
                  <a:cubicBezTo>
                    <a:pt x="265127" y="516503"/>
                    <a:pt x="344104" y="528639"/>
                    <a:pt x="420044" y="528639"/>
                  </a:cubicBezTo>
                  <a:cubicBezTo>
                    <a:pt x="490667" y="528639"/>
                    <a:pt x="563569" y="518020"/>
                    <a:pt x="607614" y="497541"/>
                  </a:cubicBezTo>
                  <a:lnTo>
                    <a:pt x="607614" y="536223"/>
                  </a:lnTo>
                  <a:cubicBezTo>
                    <a:pt x="607614" y="537740"/>
                    <a:pt x="606855" y="539257"/>
                    <a:pt x="606855" y="540774"/>
                  </a:cubicBezTo>
                  <a:cubicBezTo>
                    <a:pt x="595464" y="584007"/>
                    <a:pt x="502818" y="606761"/>
                    <a:pt x="415487" y="606761"/>
                  </a:cubicBezTo>
                  <a:cubicBezTo>
                    <a:pt x="327397" y="606761"/>
                    <a:pt x="234751" y="584007"/>
                    <a:pt x="224120" y="540016"/>
                  </a:cubicBezTo>
                  <a:cubicBezTo>
                    <a:pt x="223360" y="539257"/>
                    <a:pt x="222601" y="537740"/>
                    <a:pt x="222601" y="536223"/>
                  </a:cubicBezTo>
                  <a:close/>
                  <a:moveTo>
                    <a:pt x="106327" y="445216"/>
                  </a:moveTo>
                  <a:cubicBezTo>
                    <a:pt x="81264" y="445216"/>
                    <a:pt x="60758" y="465693"/>
                    <a:pt x="60758" y="490719"/>
                  </a:cubicBezTo>
                  <a:cubicBezTo>
                    <a:pt x="60758" y="515746"/>
                    <a:pt x="81264" y="536222"/>
                    <a:pt x="106327" y="536222"/>
                  </a:cubicBezTo>
                  <a:cubicBezTo>
                    <a:pt x="131390" y="536222"/>
                    <a:pt x="151896" y="515746"/>
                    <a:pt x="151896" y="490719"/>
                  </a:cubicBezTo>
                  <a:cubicBezTo>
                    <a:pt x="151896" y="465693"/>
                    <a:pt x="131390" y="445216"/>
                    <a:pt x="106327" y="445216"/>
                  </a:cubicBezTo>
                  <a:close/>
                  <a:moveTo>
                    <a:pt x="8354" y="404264"/>
                  </a:moveTo>
                  <a:lnTo>
                    <a:pt x="202781" y="404264"/>
                  </a:lnTo>
                  <a:lnTo>
                    <a:pt x="202781" y="437633"/>
                  </a:lnTo>
                  <a:lnTo>
                    <a:pt x="202781" y="441425"/>
                  </a:lnTo>
                  <a:lnTo>
                    <a:pt x="202781" y="445216"/>
                  </a:lnTo>
                  <a:lnTo>
                    <a:pt x="202781" y="466451"/>
                  </a:lnTo>
                  <a:lnTo>
                    <a:pt x="202781" y="492236"/>
                  </a:lnTo>
                  <a:lnTo>
                    <a:pt x="202781" y="536222"/>
                  </a:lnTo>
                  <a:cubicBezTo>
                    <a:pt x="202781" y="537739"/>
                    <a:pt x="202781" y="539255"/>
                    <a:pt x="203541" y="540014"/>
                  </a:cubicBezTo>
                  <a:cubicBezTo>
                    <a:pt x="206578" y="552148"/>
                    <a:pt x="215692" y="562765"/>
                    <a:pt x="230122" y="571866"/>
                  </a:cubicBezTo>
                  <a:cubicBezTo>
                    <a:pt x="240755" y="578691"/>
                    <a:pt x="236958" y="596134"/>
                    <a:pt x="224047" y="596892"/>
                  </a:cubicBezTo>
                  <a:lnTo>
                    <a:pt x="223287" y="596892"/>
                  </a:lnTo>
                  <a:lnTo>
                    <a:pt x="46328" y="596892"/>
                  </a:lnTo>
                  <a:cubicBezTo>
                    <a:pt x="21265" y="596892"/>
                    <a:pt x="0" y="575657"/>
                    <a:pt x="0" y="549873"/>
                  </a:cubicBezTo>
                  <a:lnTo>
                    <a:pt x="0" y="430807"/>
                  </a:lnTo>
                  <a:cubicBezTo>
                    <a:pt x="0" y="420948"/>
                    <a:pt x="3038" y="411848"/>
                    <a:pt x="8354" y="404264"/>
                  </a:cubicBezTo>
                  <a:close/>
                  <a:moveTo>
                    <a:pt x="222601" y="401218"/>
                  </a:moveTo>
                  <a:cubicBezTo>
                    <a:pt x="260571" y="423220"/>
                    <a:pt x="329676" y="435359"/>
                    <a:pt x="398781" y="436876"/>
                  </a:cubicBezTo>
                  <a:cubicBezTo>
                    <a:pt x="399540" y="436876"/>
                    <a:pt x="399540" y="436876"/>
                    <a:pt x="399540" y="436876"/>
                  </a:cubicBezTo>
                  <a:cubicBezTo>
                    <a:pt x="402578" y="436876"/>
                    <a:pt x="405615" y="436876"/>
                    <a:pt x="408653" y="437635"/>
                  </a:cubicBezTo>
                  <a:lnTo>
                    <a:pt x="410171" y="437635"/>
                  </a:lnTo>
                  <a:cubicBezTo>
                    <a:pt x="413209" y="437635"/>
                    <a:pt x="417006" y="437635"/>
                    <a:pt x="420044" y="437635"/>
                  </a:cubicBezTo>
                  <a:cubicBezTo>
                    <a:pt x="423841" y="437635"/>
                    <a:pt x="426878" y="437635"/>
                    <a:pt x="430675" y="437635"/>
                  </a:cubicBezTo>
                  <a:cubicBezTo>
                    <a:pt x="431435" y="437635"/>
                    <a:pt x="431435" y="437635"/>
                    <a:pt x="432194" y="437635"/>
                  </a:cubicBezTo>
                  <a:cubicBezTo>
                    <a:pt x="435231" y="436876"/>
                    <a:pt x="438269" y="436876"/>
                    <a:pt x="440547" y="436876"/>
                  </a:cubicBezTo>
                  <a:lnTo>
                    <a:pt x="442066" y="436876"/>
                  </a:lnTo>
                  <a:cubicBezTo>
                    <a:pt x="505096" y="435359"/>
                    <a:pt x="568126" y="424737"/>
                    <a:pt x="607614" y="406529"/>
                  </a:cubicBezTo>
                  <a:lnTo>
                    <a:pt x="607614" y="437635"/>
                  </a:lnTo>
                  <a:lnTo>
                    <a:pt x="607614" y="441428"/>
                  </a:lnTo>
                  <a:lnTo>
                    <a:pt x="607614" y="445222"/>
                  </a:lnTo>
                  <a:lnTo>
                    <a:pt x="607614" y="474052"/>
                  </a:lnTo>
                  <a:cubicBezTo>
                    <a:pt x="577238" y="492261"/>
                    <a:pt x="508133" y="508193"/>
                    <a:pt x="420044" y="508193"/>
                  </a:cubicBezTo>
                  <a:cubicBezTo>
                    <a:pt x="319804" y="508193"/>
                    <a:pt x="244623" y="487708"/>
                    <a:pt x="222601" y="466465"/>
                  </a:cubicBezTo>
                  <a:lnTo>
                    <a:pt x="222601" y="445222"/>
                  </a:lnTo>
                  <a:lnTo>
                    <a:pt x="222601" y="441428"/>
                  </a:lnTo>
                  <a:lnTo>
                    <a:pt x="222601" y="437635"/>
                  </a:lnTo>
                  <a:close/>
                  <a:moveTo>
                    <a:pt x="222601" y="310204"/>
                  </a:moveTo>
                  <a:cubicBezTo>
                    <a:pt x="265127" y="333723"/>
                    <a:pt x="344104" y="346621"/>
                    <a:pt x="420044" y="346621"/>
                  </a:cubicBezTo>
                  <a:cubicBezTo>
                    <a:pt x="490667" y="346621"/>
                    <a:pt x="563569" y="335999"/>
                    <a:pt x="607614" y="315515"/>
                  </a:cubicBezTo>
                  <a:lnTo>
                    <a:pt x="607614" y="346621"/>
                  </a:lnTo>
                  <a:lnTo>
                    <a:pt x="607614" y="350414"/>
                  </a:lnTo>
                  <a:lnTo>
                    <a:pt x="607614" y="354208"/>
                  </a:lnTo>
                  <a:lnTo>
                    <a:pt x="607614" y="383038"/>
                  </a:lnTo>
                  <a:cubicBezTo>
                    <a:pt x="577238" y="401247"/>
                    <a:pt x="506615" y="417179"/>
                    <a:pt x="420044" y="417179"/>
                  </a:cubicBezTo>
                  <a:cubicBezTo>
                    <a:pt x="325879" y="417179"/>
                    <a:pt x="251458" y="398212"/>
                    <a:pt x="225639" y="377727"/>
                  </a:cubicBezTo>
                  <a:cubicBezTo>
                    <a:pt x="225639" y="376969"/>
                    <a:pt x="224879" y="376969"/>
                    <a:pt x="224120" y="376210"/>
                  </a:cubicBezTo>
                  <a:cubicBezTo>
                    <a:pt x="224120" y="376210"/>
                    <a:pt x="223360" y="375451"/>
                    <a:pt x="222601" y="374692"/>
                  </a:cubicBezTo>
                  <a:lnTo>
                    <a:pt x="222601" y="354208"/>
                  </a:lnTo>
                  <a:lnTo>
                    <a:pt x="222601" y="350414"/>
                  </a:lnTo>
                  <a:lnTo>
                    <a:pt x="222601" y="346621"/>
                  </a:lnTo>
                  <a:close/>
                  <a:moveTo>
                    <a:pt x="106343" y="252562"/>
                  </a:moveTo>
                  <a:cubicBezTo>
                    <a:pt x="81277" y="252562"/>
                    <a:pt x="60768" y="273039"/>
                    <a:pt x="60768" y="298066"/>
                  </a:cubicBezTo>
                  <a:cubicBezTo>
                    <a:pt x="60768" y="323094"/>
                    <a:pt x="81277" y="343571"/>
                    <a:pt x="106343" y="343571"/>
                  </a:cubicBezTo>
                  <a:cubicBezTo>
                    <a:pt x="131410" y="343571"/>
                    <a:pt x="151919" y="323094"/>
                    <a:pt x="151919" y="298066"/>
                  </a:cubicBezTo>
                  <a:cubicBezTo>
                    <a:pt x="151919" y="273039"/>
                    <a:pt x="131410" y="252562"/>
                    <a:pt x="106343" y="252562"/>
                  </a:cubicBezTo>
                  <a:close/>
                  <a:moveTo>
                    <a:pt x="8356" y="212366"/>
                  </a:moveTo>
                  <a:lnTo>
                    <a:pt x="243070" y="212366"/>
                  </a:lnTo>
                  <a:cubicBezTo>
                    <a:pt x="221801" y="222984"/>
                    <a:pt x="207369" y="235877"/>
                    <a:pt x="203571" y="251045"/>
                  </a:cubicBezTo>
                  <a:cubicBezTo>
                    <a:pt x="202812" y="252562"/>
                    <a:pt x="202812" y="254079"/>
                    <a:pt x="202812" y="255595"/>
                  </a:cubicBezTo>
                  <a:lnTo>
                    <a:pt x="202812" y="259387"/>
                  </a:lnTo>
                  <a:lnTo>
                    <a:pt x="202812" y="283657"/>
                  </a:lnTo>
                  <a:lnTo>
                    <a:pt x="202812" y="310201"/>
                  </a:lnTo>
                  <a:lnTo>
                    <a:pt x="202812" y="346605"/>
                  </a:lnTo>
                  <a:lnTo>
                    <a:pt x="202812" y="350397"/>
                  </a:lnTo>
                  <a:lnTo>
                    <a:pt x="202812" y="354189"/>
                  </a:lnTo>
                  <a:lnTo>
                    <a:pt x="202812" y="384525"/>
                  </a:lnTo>
                  <a:lnTo>
                    <a:pt x="8356" y="384525"/>
                  </a:lnTo>
                  <a:cubicBezTo>
                    <a:pt x="3038" y="376941"/>
                    <a:pt x="0" y="367840"/>
                    <a:pt x="0" y="357981"/>
                  </a:cubicBezTo>
                  <a:lnTo>
                    <a:pt x="0" y="238910"/>
                  </a:lnTo>
                  <a:cubicBezTo>
                    <a:pt x="0" y="229051"/>
                    <a:pt x="3038" y="219950"/>
                    <a:pt x="8356" y="212366"/>
                  </a:cubicBezTo>
                  <a:close/>
                  <a:moveTo>
                    <a:pt x="415487" y="184343"/>
                  </a:moveTo>
                  <a:cubicBezTo>
                    <a:pt x="503577" y="184343"/>
                    <a:pt x="596223" y="207853"/>
                    <a:pt x="606855" y="251082"/>
                  </a:cubicBezTo>
                  <a:cubicBezTo>
                    <a:pt x="607614" y="252599"/>
                    <a:pt x="607614" y="254116"/>
                    <a:pt x="607614" y="255633"/>
                  </a:cubicBezTo>
                  <a:lnTo>
                    <a:pt x="607614" y="259425"/>
                  </a:lnTo>
                  <a:lnTo>
                    <a:pt x="607614" y="292036"/>
                  </a:lnTo>
                  <a:cubicBezTo>
                    <a:pt x="577238" y="310238"/>
                    <a:pt x="506615" y="326164"/>
                    <a:pt x="420044" y="326164"/>
                  </a:cubicBezTo>
                  <a:cubicBezTo>
                    <a:pt x="322082" y="326164"/>
                    <a:pt x="244623" y="305687"/>
                    <a:pt x="222601" y="283694"/>
                  </a:cubicBezTo>
                  <a:lnTo>
                    <a:pt x="222601" y="259425"/>
                  </a:lnTo>
                  <a:lnTo>
                    <a:pt x="222601" y="255633"/>
                  </a:lnTo>
                  <a:cubicBezTo>
                    <a:pt x="222601" y="254116"/>
                    <a:pt x="223360" y="252599"/>
                    <a:pt x="224120" y="251082"/>
                  </a:cubicBezTo>
                  <a:cubicBezTo>
                    <a:pt x="233992" y="207853"/>
                    <a:pt x="327397" y="184343"/>
                    <a:pt x="415487" y="184343"/>
                  </a:cubicBezTo>
                  <a:close/>
                  <a:moveTo>
                    <a:pt x="526346" y="111497"/>
                  </a:moveTo>
                  <a:cubicBezTo>
                    <a:pt x="521029" y="111497"/>
                    <a:pt x="516472" y="116048"/>
                    <a:pt x="516472" y="121358"/>
                  </a:cubicBezTo>
                  <a:cubicBezTo>
                    <a:pt x="516472" y="126667"/>
                    <a:pt x="521029" y="131218"/>
                    <a:pt x="526346" y="131218"/>
                  </a:cubicBezTo>
                  <a:cubicBezTo>
                    <a:pt x="532422" y="131218"/>
                    <a:pt x="536979" y="126667"/>
                    <a:pt x="536979" y="121358"/>
                  </a:cubicBezTo>
                  <a:cubicBezTo>
                    <a:pt x="536979" y="116048"/>
                    <a:pt x="532422" y="111497"/>
                    <a:pt x="526346" y="111497"/>
                  </a:cubicBezTo>
                  <a:close/>
                  <a:moveTo>
                    <a:pt x="486091" y="111497"/>
                  </a:moveTo>
                  <a:cubicBezTo>
                    <a:pt x="480775" y="111497"/>
                    <a:pt x="476217" y="116048"/>
                    <a:pt x="476217" y="121358"/>
                  </a:cubicBezTo>
                  <a:cubicBezTo>
                    <a:pt x="476217" y="126667"/>
                    <a:pt x="480775" y="131218"/>
                    <a:pt x="486091" y="131218"/>
                  </a:cubicBezTo>
                  <a:cubicBezTo>
                    <a:pt x="491408" y="131218"/>
                    <a:pt x="495965" y="126667"/>
                    <a:pt x="495965" y="121358"/>
                  </a:cubicBezTo>
                  <a:cubicBezTo>
                    <a:pt x="495965" y="116048"/>
                    <a:pt x="491408" y="111497"/>
                    <a:pt x="486091" y="111497"/>
                  </a:cubicBezTo>
                  <a:close/>
                  <a:moveTo>
                    <a:pt x="445837" y="111497"/>
                  </a:moveTo>
                  <a:cubicBezTo>
                    <a:pt x="439761" y="111497"/>
                    <a:pt x="435204" y="116048"/>
                    <a:pt x="435204" y="121358"/>
                  </a:cubicBezTo>
                  <a:cubicBezTo>
                    <a:pt x="435204" y="126667"/>
                    <a:pt x="439761" y="131218"/>
                    <a:pt x="445837" y="131218"/>
                  </a:cubicBezTo>
                  <a:cubicBezTo>
                    <a:pt x="451153" y="131218"/>
                    <a:pt x="455711" y="126667"/>
                    <a:pt x="455711" y="121358"/>
                  </a:cubicBezTo>
                  <a:cubicBezTo>
                    <a:pt x="455711" y="116048"/>
                    <a:pt x="451153" y="111497"/>
                    <a:pt x="445837" y="111497"/>
                  </a:cubicBezTo>
                  <a:close/>
                  <a:moveTo>
                    <a:pt x="404823" y="111497"/>
                  </a:moveTo>
                  <a:cubicBezTo>
                    <a:pt x="399506" y="111497"/>
                    <a:pt x="394949" y="116048"/>
                    <a:pt x="394949" y="121358"/>
                  </a:cubicBezTo>
                  <a:cubicBezTo>
                    <a:pt x="394949" y="126667"/>
                    <a:pt x="399506" y="131218"/>
                    <a:pt x="404823" y="131218"/>
                  </a:cubicBezTo>
                  <a:cubicBezTo>
                    <a:pt x="410899" y="131218"/>
                    <a:pt x="415456" y="126667"/>
                    <a:pt x="415456" y="121358"/>
                  </a:cubicBezTo>
                  <a:cubicBezTo>
                    <a:pt x="415456" y="116048"/>
                    <a:pt x="410899" y="111497"/>
                    <a:pt x="404823" y="111497"/>
                  </a:cubicBezTo>
                  <a:close/>
                  <a:moveTo>
                    <a:pt x="364568" y="111497"/>
                  </a:moveTo>
                  <a:cubicBezTo>
                    <a:pt x="359252" y="111497"/>
                    <a:pt x="354695" y="116048"/>
                    <a:pt x="354695" y="121358"/>
                  </a:cubicBezTo>
                  <a:cubicBezTo>
                    <a:pt x="354695" y="126667"/>
                    <a:pt x="359252" y="131218"/>
                    <a:pt x="364568" y="131218"/>
                  </a:cubicBezTo>
                  <a:cubicBezTo>
                    <a:pt x="369885" y="131218"/>
                    <a:pt x="374442" y="126667"/>
                    <a:pt x="374442" y="121358"/>
                  </a:cubicBezTo>
                  <a:cubicBezTo>
                    <a:pt x="374442" y="116048"/>
                    <a:pt x="369885" y="111497"/>
                    <a:pt x="364568" y="111497"/>
                  </a:cubicBezTo>
                  <a:close/>
                  <a:moveTo>
                    <a:pt x="506598" y="81158"/>
                  </a:moveTo>
                  <a:cubicBezTo>
                    <a:pt x="500522" y="81158"/>
                    <a:pt x="495965" y="85709"/>
                    <a:pt x="495965" y="91018"/>
                  </a:cubicBezTo>
                  <a:cubicBezTo>
                    <a:pt x="495965" y="96328"/>
                    <a:pt x="500522" y="100879"/>
                    <a:pt x="506598" y="100879"/>
                  </a:cubicBezTo>
                  <a:cubicBezTo>
                    <a:pt x="511915" y="100879"/>
                    <a:pt x="516472" y="96328"/>
                    <a:pt x="516472" y="91018"/>
                  </a:cubicBezTo>
                  <a:cubicBezTo>
                    <a:pt x="516472" y="85709"/>
                    <a:pt x="511915" y="81158"/>
                    <a:pt x="506598" y="81158"/>
                  </a:cubicBezTo>
                  <a:close/>
                  <a:moveTo>
                    <a:pt x="465584" y="81158"/>
                  </a:moveTo>
                  <a:cubicBezTo>
                    <a:pt x="460268" y="81158"/>
                    <a:pt x="455711" y="85709"/>
                    <a:pt x="455711" y="91018"/>
                  </a:cubicBezTo>
                  <a:cubicBezTo>
                    <a:pt x="455711" y="96328"/>
                    <a:pt x="460268" y="100879"/>
                    <a:pt x="465584" y="100879"/>
                  </a:cubicBezTo>
                  <a:cubicBezTo>
                    <a:pt x="471660" y="100879"/>
                    <a:pt x="476217" y="96328"/>
                    <a:pt x="476217" y="91018"/>
                  </a:cubicBezTo>
                  <a:cubicBezTo>
                    <a:pt x="476217" y="85709"/>
                    <a:pt x="471660" y="81158"/>
                    <a:pt x="465584" y="81158"/>
                  </a:cubicBezTo>
                  <a:close/>
                  <a:moveTo>
                    <a:pt x="425330" y="81158"/>
                  </a:moveTo>
                  <a:cubicBezTo>
                    <a:pt x="420013" y="81158"/>
                    <a:pt x="415456" y="85709"/>
                    <a:pt x="415456" y="91018"/>
                  </a:cubicBezTo>
                  <a:cubicBezTo>
                    <a:pt x="415456" y="96328"/>
                    <a:pt x="420013" y="100879"/>
                    <a:pt x="425330" y="100879"/>
                  </a:cubicBezTo>
                  <a:cubicBezTo>
                    <a:pt x="430646" y="100879"/>
                    <a:pt x="435204" y="96328"/>
                    <a:pt x="435204" y="91018"/>
                  </a:cubicBezTo>
                  <a:cubicBezTo>
                    <a:pt x="435204" y="85709"/>
                    <a:pt x="430646" y="81158"/>
                    <a:pt x="425330" y="81158"/>
                  </a:cubicBezTo>
                  <a:close/>
                  <a:moveTo>
                    <a:pt x="385075" y="81158"/>
                  </a:moveTo>
                  <a:cubicBezTo>
                    <a:pt x="378999" y="81158"/>
                    <a:pt x="374442" y="85709"/>
                    <a:pt x="374442" y="91018"/>
                  </a:cubicBezTo>
                  <a:cubicBezTo>
                    <a:pt x="374442" y="96328"/>
                    <a:pt x="378999" y="100879"/>
                    <a:pt x="385075" y="100879"/>
                  </a:cubicBezTo>
                  <a:cubicBezTo>
                    <a:pt x="390392" y="100879"/>
                    <a:pt x="394949" y="96328"/>
                    <a:pt x="394949" y="91018"/>
                  </a:cubicBezTo>
                  <a:cubicBezTo>
                    <a:pt x="394949" y="85709"/>
                    <a:pt x="390392" y="81158"/>
                    <a:pt x="385075" y="81158"/>
                  </a:cubicBezTo>
                  <a:close/>
                  <a:moveTo>
                    <a:pt x="344061" y="81158"/>
                  </a:moveTo>
                  <a:cubicBezTo>
                    <a:pt x="338745" y="81158"/>
                    <a:pt x="334188" y="85709"/>
                    <a:pt x="334188" y="91018"/>
                  </a:cubicBezTo>
                  <a:cubicBezTo>
                    <a:pt x="334188" y="96328"/>
                    <a:pt x="338745" y="100879"/>
                    <a:pt x="344061" y="100879"/>
                  </a:cubicBezTo>
                  <a:cubicBezTo>
                    <a:pt x="350138" y="100879"/>
                    <a:pt x="354695" y="96328"/>
                    <a:pt x="354695" y="91018"/>
                  </a:cubicBezTo>
                  <a:cubicBezTo>
                    <a:pt x="354695" y="85709"/>
                    <a:pt x="350138" y="81158"/>
                    <a:pt x="344061" y="81158"/>
                  </a:cubicBezTo>
                  <a:close/>
                  <a:moveTo>
                    <a:pt x="106332" y="60679"/>
                  </a:moveTo>
                  <a:cubicBezTo>
                    <a:pt x="81268" y="60679"/>
                    <a:pt x="60761" y="81158"/>
                    <a:pt x="60761" y="106188"/>
                  </a:cubicBezTo>
                  <a:cubicBezTo>
                    <a:pt x="60761" y="131218"/>
                    <a:pt x="81268" y="151697"/>
                    <a:pt x="106332" y="151697"/>
                  </a:cubicBezTo>
                  <a:cubicBezTo>
                    <a:pt x="131397" y="151697"/>
                    <a:pt x="151904" y="131218"/>
                    <a:pt x="151904" y="106188"/>
                  </a:cubicBezTo>
                  <a:cubicBezTo>
                    <a:pt x="151904" y="81158"/>
                    <a:pt x="131397" y="60679"/>
                    <a:pt x="106332" y="60679"/>
                  </a:cubicBezTo>
                  <a:close/>
                  <a:moveTo>
                    <a:pt x="46331" y="0"/>
                  </a:moveTo>
                  <a:lnTo>
                    <a:pt x="561283" y="0"/>
                  </a:lnTo>
                  <a:cubicBezTo>
                    <a:pt x="586348" y="0"/>
                    <a:pt x="607614" y="21238"/>
                    <a:pt x="607614" y="46268"/>
                  </a:cubicBezTo>
                  <a:lnTo>
                    <a:pt x="607614" y="166108"/>
                  </a:lnTo>
                  <a:cubicBezTo>
                    <a:pt x="607614" y="175969"/>
                    <a:pt x="604576" y="184312"/>
                    <a:pt x="599259" y="191897"/>
                  </a:cubicBezTo>
                  <a:lnTo>
                    <a:pt x="569638" y="191897"/>
                  </a:lnTo>
                  <a:cubicBezTo>
                    <a:pt x="529384" y="173693"/>
                    <a:pt x="468622" y="164591"/>
                    <a:pt x="410899" y="164591"/>
                  </a:cubicBezTo>
                  <a:cubicBezTo>
                    <a:pt x="352416" y="164591"/>
                    <a:pt x="291655" y="173693"/>
                    <a:pt x="251400" y="191897"/>
                  </a:cubicBezTo>
                  <a:lnTo>
                    <a:pt x="8355" y="191897"/>
                  </a:lnTo>
                  <a:cubicBezTo>
                    <a:pt x="3038" y="184312"/>
                    <a:pt x="0" y="175969"/>
                    <a:pt x="0" y="166108"/>
                  </a:cubicBezTo>
                  <a:lnTo>
                    <a:pt x="0" y="46268"/>
                  </a:lnTo>
                  <a:cubicBezTo>
                    <a:pt x="0" y="21238"/>
                    <a:pt x="21267" y="0"/>
                    <a:pt x="46331" y="0"/>
                  </a:cubicBezTo>
                  <a:close/>
                </a:path>
              </a:pathLst>
            </a:cu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a:p>
          </p:txBody>
        </p:sp>
        <p:sp>
          <p:nvSpPr>
            <p:cNvPr id="276" name="箭头: 右 275">
              <a:extLst>
                <a:ext uri="{FF2B5EF4-FFF2-40B4-BE49-F238E27FC236}">
                  <a16:creationId xmlns:a16="http://schemas.microsoft.com/office/drawing/2014/main" id="{19AA1CCB-26B8-4C75-B127-1A8F7064BDD9}"/>
                </a:ext>
              </a:extLst>
            </p:cNvPr>
            <p:cNvSpPr/>
            <p:nvPr/>
          </p:nvSpPr>
          <p:spPr>
            <a:xfrm>
              <a:off x="4255441" y="3046402"/>
              <a:ext cx="567105" cy="100483"/>
            </a:xfrm>
            <a:prstGeom prst="rightArrow">
              <a:avLst>
                <a:gd name="adj1" fmla="val 50000"/>
                <a:gd name="adj2" fmla="val 78437"/>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600"/>
            </a:p>
          </p:txBody>
        </p:sp>
        <p:sp>
          <p:nvSpPr>
            <p:cNvPr id="277" name="箭头: 右 276">
              <a:extLst>
                <a:ext uri="{FF2B5EF4-FFF2-40B4-BE49-F238E27FC236}">
                  <a16:creationId xmlns:a16="http://schemas.microsoft.com/office/drawing/2014/main" id="{AE5D7DA8-CDE9-478B-8F8B-418CF3C6E4B9}"/>
                </a:ext>
              </a:extLst>
            </p:cNvPr>
            <p:cNvSpPr/>
            <p:nvPr/>
          </p:nvSpPr>
          <p:spPr>
            <a:xfrm>
              <a:off x="5473674" y="3053148"/>
              <a:ext cx="1080000" cy="89609"/>
            </a:xfrm>
            <a:prstGeom prst="rightArrow">
              <a:avLst>
                <a:gd name="adj1" fmla="val 50000"/>
                <a:gd name="adj2" fmla="val 78437"/>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600"/>
            </a:p>
          </p:txBody>
        </p:sp>
        <p:sp>
          <p:nvSpPr>
            <p:cNvPr id="278" name="箭头: 右 277">
              <a:extLst>
                <a:ext uri="{FF2B5EF4-FFF2-40B4-BE49-F238E27FC236}">
                  <a16:creationId xmlns:a16="http://schemas.microsoft.com/office/drawing/2014/main" id="{1A884F81-3B91-4550-9949-AC77DDD9D31A}"/>
                </a:ext>
              </a:extLst>
            </p:cNvPr>
            <p:cNvSpPr/>
            <p:nvPr/>
          </p:nvSpPr>
          <p:spPr>
            <a:xfrm>
              <a:off x="7287163" y="3127930"/>
              <a:ext cx="567105" cy="100483"/>
            </a:xfrm>
            <a:prstGeom prst="rightArrow">
              <a:avLst>
                <a:gd name="adj1" fmla="val 50000"/>
                <a:gd name="adj2" fmla="val 78437"/>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600"/>
            </a:p>
          </p:txBody>
        </p:sp>
        <p:sp>
          <p:nvSpPr>
            <p:cNvPr id="281" name="文本框 280">
              <a:extLst>
                <a:ext uri="{FF2B5EF4-FFF2-40B4-BE49-F238E27FC236}">
                  <a16:creationId xmlns:a16="http://schemas.microsoft.com/office/drawing/2014/main" id="{3A2FFAE8-18BE-45F8-97AA-E48D727294A5}"/>
                </a:ext>
              </a:extLst>
            </p:cNvPr>
            <p:cNvSpPr txBox="1"/>
            <p:nvPr/>
          </p:nvSpPr>
          <p:spPr>
            <a:xfrm>
              <a:off x="5630576" y="2768872"/>
              <a:ext cx="699307" cy="338554"/>
            </a:xfrm>
            <a:prstGeom prst="rect">
              <a:avLst/>
            </a:prstGeom>
            <a:noFill/>
          </p:spPr>
          <p:txBody>
            <a:bodyPr wrap="square" rtlCol="0">
              <a:spAutoFit/>
            </a:bodyPr>
            <a:lstStyle/>
            <a:p>
              <a:pPr algn="ctr"/>
              <a:r>
                <a:rPr lang="zh-CN" altLang="en-US" sz="1600" dirty="0"/>
                <a:t>信道</a:t>
              </a:r>
            </a:p>
          </p:txBody>
        </p:sp>
        <p:sp>
          <p:nvSpPr>
            <p:cNvPr id="282" name="文本框 281">
              <a:extLst>
                <a:ext uri="{FF2B5EF4-FFF2-40B4-BE49-F238E27FC236}">
                  <a16:creationId xmlns:a16="http://schemas.microsoft.com/office/drawing/2014/main" id="{F1E86509-9BEF-47A0-B322-0FA78805BD03}"/>
                </a:ext>
              </a:extLst>
            </p:cNvPr>
            <p:cNvSpPr txBox="1"/>
            <p:nvPr/>
          </p:nvSpPr>
          <p:spPr>
            <a:xfrm>
              <a:off x="4017336" y="2199831"/>
              <a:ext cx="787246" cy="33855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lIns="0" rIns="0" rtlCol="0">
              <a:spAutoFit/>
            </a:bodyPr>
            <a:lstStyle/>
            <a:p>
              <a:pPr algn="ctr"/>
              <a:r>
                <a:rPr lang="zh-CN" altLang="en-US" sz="1600" dirty="0"/>
                <a:t>密钥源</a:t>
              </a:r>
            </a:p>
          </p:txBody>
        </p:sp>
        <p:cxnSp>
          <p:nvCxnSpPr>
            <p:cNvPr id="5127" name="连接符: 肘形 5126">
              <a:extLst>
                <a:ext uri="{FF2B5EF4-FFF2-40B4-BE49-F238E27FC236}">
                  <a16:creationId xmlns:a16="http://schemas.microsoft.com/office/drawing/2014/main" id="{0D8A7BD9-E26D-4A79-B2C7-F06AF5CCF037}"/>
                </a:ext>
              </a:extLst>
            </p:cNvPr>
            <p:cNvCxnSpPr>
              <a:cxnSpLocks/>
              <a:stCxn id="282" idx="3"/>
            </p:cNvCxnSpPr>
            <p:nvPr/>
          </p:nvCxnSpPr>
          <p:spPr>
            <a:xfrm>
              <a:off x="4804582" y="2369108"/>
              <a:ext cx="269054" cy="513701"/>
            </a:xfrm>
            <a:prstGeom prst="bentConnector2">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5134" name="连接符: 肘形 5133">
              <a:extLst>
                <a:ext uri="{FF2B5EF4-FFF2-40B4-BE49-F238E27FC236}">
                  <a16:creationId xmlns:a16="http://schemas.microsoft.com/office/drawing/2014/main" id="{993DC546-AEE9-4673-A01B-B468D56D169F}"/>
                </a:ext>
              </a:extLst>
            </p:cNvPr>
            <p:cNvCxnSpPr>
              <a:cxnSpLocks/>
            </p:cNvCxnSpPr>
            <p:nvPr/>
          </p:nvCxnSpPr>
          <p:spPr>
            <a:xfrm>
              <a:off x="5089459" y="2529339"/>
              <a:ext cx="1879394" cy="368583"/>
            </a:xfrm>
            <a:prstGeom prst="bentConnector3">
              <a:avLst>
                <a:gd name="adj1" fmla="val 100106"/>
              </a:avLst>
            </a:prstGeom>
            <a:ln>
              <a:tailEnd type="triangle"/>
            </a:ln>
          </p:spPr>
          <p:style>
            <a:lnRef idx="3">
              <a:schemeClr val="accent5"/>
            </a:lnRef>
            <a:fillRef idx="0">
              <a:schemeClr val="accent5"/>
            </a:fillRef>
            <a:effectRef idx="2">
              <a:schemeClr val="accent5"/>
            </a:effectRef>
            <a:fontRef idx="minor">
              <a:schemeClr val="tx1"/>
            </a:fontRef>
          </p:style>
        </p:cxnSp>
        <p:pic>
          <p:nvPicPr>
            <p:cNvPr id="76" name="图形 75" descr="男学生 轮廓">
              <a:extLst>
                <a:ext uri="{FF2B5EF4-FFF2-40B4-BE49-F238E27FC236}">
                  <a16:creationId xmlns:a16="http://schemas.microsoft.com/office/drawing/2014/main" id="{90872031-F386-4EDD-8061-4F62D8AAA5F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44103" y="2723818"/>
              <a:ext cx="699307" cy="699307"/>
            </a:xfrm>
            <a:prstGeom prst="rect">
              <a:avLst/>
            </a:prstGeom>
          </p:spPr>
        </p:pic>
        <p:pic>
          <p:nvPicPr>
            <p:cNvPr id="77" name="图形 76" descr="女学生 轮廓">
              <a:extLst>
                <a:ext uri="{FF2B5EF4-FFF2-40B4-BE49-F238E27FC236}">
                  <a16:creationId xmlns:a16="http://schemas.microsoft.com/office/drawing/2014/main" id="{B87ABE36-187B-440F-A594-D80B25DDF86C}"/>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57462" y="2733577"/>
              <a:ext cx="662501" cy="662501"/>
            </a:xfrm>
            <a:prstGeom prst="rect">
              <a:avLst/>
            </a:prstGeom>
          </p:spPr>
        </p:pic>
        <p:grpSp>
          <p:nvGrpSpPr>
            <p:cNvPr id="15" name="组合 14">
              <a:extLst>
                <a:ext uri="{FF2B5EF4-FFF2-40B4-BE49-F238E27FC236}">
                  <a16:creationId xmlns:a16="http://schemas.microsoft.com/office/drawing/2014/main" id="{66118F1D-5A63-47D5-92EE-5EAF8DEFAC64}"/>
                </a:ext>
              </a:extLst>
            </p:cNvPr>
            <p:cNvGrpSpPr/>
            <p:nvPr/>
          </p:nvGrpSpPr>
          <p:grpSpPr>
            <a:xfrm>
              <a:off x="5366497" y="2333105"/>
              <a:ext cx="1152711" cy="360000"/>
              <a:chOff x="5352482" y="2437652"/>
              <a:chExt cx="1152711" cy="360000"/>
            </a:xfrm>
          </p:grpSpPr>
          <p:sp>
            <p:nvSpPr>
              <p:cNvPr id="293" name="文本框 292">
                <a:extLst>
                  <a:ext uri="{FF2B5EF4-FFF2-40B4-BE49-F238E27FC236}">
                    <a16:creationId xmlns:a16="http://schemas.microsoft.com/office/drawing/2014/main" id="{2A9617CB-BF00-4C27-BE13-3E1F0D0EF004}"/>
                  </a:ext>
                </a:extLst>
              </p:cNvPr>
              <p:cNvSpPr txBox="1"/>
              <p:nvPr/>
            </p:nvSpPr>
            <p:spPr>
              <a:xfrm rot="5400000">
                <a:off x="5785193" y="2077652"/>
                <a:ext cx="360000" cy="1080000"/>
              </a:xfrm>
              <a:prstGeom prst="can">
                <a:avLst>
                  <a:gd name="adj" fmla="val 54625"/>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endParaRPr lang="zh-CN" altLang="en-US" sz="1600" dirty="0"/>
              </a:p>
            </p:txBody>
          </p:sp>
          <p:sp>
            <p:nvSpPr>
              <p:cNvPr id="84" name="文本框 83">
                <a:extLst>
                  <a:ext uri="{FF2B5EF4-FFF2-40B4-BE49-F238E27FC236}">
                    <a16:creationId xmlns:a16="http://schemas.microsoft.com/office/drawing/2014/main" id="{34001593-A4B8-4221-83DE-D12C1857B545}"/>
                  </a:ext>
                </a:extLst>
              </p:cNvPr>
              <p:cNvSpPr txBox="1"/>
              <p:nvPr/>
            </p:nvSpPr>
            <p:spPr>
              <a:xfrm>
                <a:off x="5352482" y="2437652"/>
                <a:ext cx="1070989" cy="338554"/>
              </a:xfrm>
              <a:prstGeom prst="rect">
                <a:avLst/>
              </a:prstGeom>
              <a:noFill/>
            </p:spPr>
            <p:txBody>
              <a:bodyPr wrap="square">
                <a:spAutoFit/>
              </a:bodyPr>
              <a:lstStyle/>
              <a:p>
                <a:pPr algn="ctr"/>
                <a:r>
                  <a:rPr lang="zh-CN" altLang="en-US" sz="1600" dirty="0">
                    <a:solidFill>
                      <a:schemeClr val="bg1"/>
                    </a:solidFill>
                  </a:rPr>
                  <a:t>安全信道</a:t>
                </a:r>
              </a:p>
            </p:txBody>
          </p:sp>
        </p:grpSp>
      </p:grpSp>
      <p:grpSp>
        <p:nvGrpSpPr>
          <p:cNvPr id="35" name="组合 34">
            <a:extLst>
              <a:ext uri="{FF2B5EF4-FFF2-40B4-BE49-F238E27FC236}">
                <a16:creationId xmlns:a16="http://schemas.microsoft.com/office/drawing/2014/main" id="{838E8FB9-A41D-46F5-B0A0-75B1E0A4C339}"/>
              </a:ext>
            </a:extLst>
          </p:cNvPr>
          <p:cNvGrpSpPr/>
          <p:nvPr/>
        </p:nvGrpSpPr>
        <p:grpSpPr>
          <a:xfrm>
            <a:off x="3639462" y="4557850"/>
            <a:ext cx="5103959" cy="1112416"/>
            <a:chOff x="3649481" y="4553120"/>
            <a:chExt cx="5103959" cy="1112416"/>
          </a:xfrm>
        </p:grpSpPr>
        <p:sp>
          <p:nvSpPr>
            <p:cNvPr id="252" name="文本框 251">
              <a:extLst>
                <a:ext uri="{FF2B5EF4-FFF2-40B4-BE49-F238E27FC236}">
                  <a16:creationId xmlns:a16="http://schemas.microsoft.com/office/drawing/2014/main" id="{671620C4-404A-451E-A351-2AA80D0A340B}"/>
                </a:ext>
              </a:extLst>
            </p:cNvPr>
            <p:cNvSpPr txBox="1"/>
            <p:nvPr/>
          </p:nvSpPr>
          <p:spPr>
            <a:xfrm>
              <a:off x="3649481" y="5263098"/>
              <a:ext cx="1276020" cy="338554"/>
            </a:xfrm>
            <a:prstGeom prst="rect">
              <a:avLst/>
            </a:prstGeom>
            <a:noFill/>
          </p:spPr>
          <p:txBody>
            <a:bodyPr wrap="square" rtlCol="0">
              <a:spAutoFit/>
            </a:bodyPr>
            <a:lstStyle/>
            <a:p>
              <a:pPr algn="ctr"/>
              <a:r>
                <a:rPr lang="zh-CN" altLang="en-US" sz="1600" dirty="0"/>
                <a:t>凭证发行者</a:t>
              </a:r>
            </a:p>
          </p:txBody>
        </p:sp>
        <p:sp>
          <p:nvSpPr>
            <p:cNvPr id="54" name="箭头: 右 53">
              <a:extLst>
                <a:ext uri="{FF2B5EF4-FFF2-40B4-BE49-F238E27FC236}">
                  <a16:creationId xmlns:a16="http://schemas.microsoft.com/office/drawing/2014/main" id="{B7423BE2-61D6-4BFE-AEA7-14068BCEA4DA}"/>
                </a:ext>
              </a:extLst>
            </p:cNvPr>
            <p:cNvSpPr/>
            <p:nvPr/>
          </p:nvSpPr>
          <p:spPr>
            <a:xfrm>
              <a:off x="4626030" y="5083305"/>
              <a:ext cx="1152000" cy="100483"/>
            </a:xfrm>
            <a:prstGeom prst="rightArrow">
              <a:avLst>
                <a:gd name="adj1" fmla="val 50000"/>
                <a:gd name="adj2" fmla="val 78437"/>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600"/>
            </a:p>
          </p:txBody>
        </p:sp>
        <p:sp>
          <p:nvSpPr>
            <p:cNvPr id="57" name="文本框 56">
              <a:extLst>
                <a:ext uri="{FF2B5EF4-FFF2-40B4-BE49-F238E27FC236}">
                  <a16:creationId xmlns:a16="http://schemas.microsoft.com/office/drawing/2014/main" id="{4253F2BC-2BD1-4586-B9D0-B3C58855F23B}"/>
                </a:ext>
              </a:extLst>
            </p:cNvPr>
            <p:cNvSpPr txBox="1"/>
            <p:nvPr/>
          </p:nvSpPr>
          <p:spPr>
            <a:xfrm>
              <a:off x="4678813" y="4553120"/>
              <a:ext cx="1046433" cy="338554"/>
            </a:xfrm>
            <a:prstGeom prst="rect">
              <a:avLst/>
            </a:prstGeom>
            <a:noFill/>
          </p:spPr>
          <p:txBody>
            <a:bodyPr wrap="square" rtlCol="0">
              <a:spAutoFit/>
            </a:bodyPr>
            <a:lstStyle/>
            <a:p>
              <a:pPr algn="ctr"/>
              <a:r>
                <a:rPr lang="zh-CN" altLang="en-US" sz="1600" dirty="0"/>
                <a:t>认证请求</a:t>
              </a:r>
            </a:p>
          </p:txBody>
        </p:sp>
        <p:sp>
          <p:nvSpPr>
            <p:cNvPr id="59" name="文本框 58">
              <a:extLst>
                <a:ext uri="{FF2B5EF4-FFF2-40B4-BE49-F238E27FC236}">
                  <a16:creationId xmlns:a16="http://schemas.microsoft.com/office/drawing/2014/main" id="{F099034E-9434-4903-9F8C-CAA63468F9E1}"/>
                </a:ext>
              </a:extLst>
            </p:cNvPr>
            <p:cNvSpPr txBox="1"/>
            <p:nvPr/>
          </p:nvSpPr>
          <p:spPr>
            <a:xfrm>
              <a:off x="7500244" y="5326982"/>
              <a:ext cx="1253196" cy="338554"/>
            </a:xfrm>
            <a:prstGeom prst="rect">
              <a:avLst/>
            </a:prstGeom>
            <a:noFill/>
          </p:spPr>
          <p:txBody>
            <a:bodyPr wrap="square" rtlCol="0">
              <a:spAutoFit/>
            </a:bodyPr>
            <a:lstStyle/>
            <a:p>
              <a:pPr algn="ctr"/>
              <a:r>
                <a:rPr lang="zh-CN" altLang="en-US" sz="1600" dirty="0"/>
                <a:t>服务提供商</a:t>
              </a:r>
            </a:p>
          </p:txBody>
        </p:sp>
        <p:pic>
          <p:nvPicPr>
            <p:cNvPr id="101" name="图形 100" descr="女学生 轮廓">
              <a:extLst>
                <a:ext uri="{FF2B5EF4-FFF2-40B4-BE49-F238E27FC236}">
                  <a16:creationId xmlns:a16="http://schemas.microsoft.com/office/drawing/2014/main" id="{8DF009DF-B6C0-4F9F-B295-7F06BAA14D8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13566" y="4603972"/>
              <a:ext cx="662501" cy="662501"/>
            </a:xfrm>
            <a:prstGeom prst="rect">
              <a:avLst/>
            </a:prstGeom>
          </p:spPr>
        </p:pic>
        <p:pic>
          <p:nvPicPr>
            <p:cNvPr id="30" name="图形 29" descr="云 纯色填充">
              <a:extLst>
                <a:ext uri="{FF2B5EF4-FFF2-40B4-BE49-F238E27FC236}">
                  <a16:creationId xmlns:a16="http://schemas.microsoft.com/office/drawing/2014/main" id="{79366CE3-D7D0-442B-8BEF-9DBE65B4ECDF}"/>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88749" y="4567660"/>
              <a:ext cx="914400" cy="914400"/>
            </a:xfrm>
            <a:prstGeom prst="rect">
              <a:avLst/>
            </a:prstGeom>
          </p:spPr>
        </p:pic>
        <p:sp>
          <p:nvSpPr>
            <p:cNvPr id="104" name="文本框 103">
              <a:extLst>
                <a:ext uri="{FF2B5EF4-FFF2-40B4-BE49-F238E27FC236}">
                  <a16:creationId xmlns:a16="http://schemas.microsoft.com/office/drawing/2014/main" id="{E18F0649-4C8B-49CD-9B89-711FA9E3022F}"/>
                </a:ext>
              </a:extLst>
            </p:cNvPr>
            <p:cNvSpPr txBox="1"/>
            <p:nvPr/>
          </p:nvSpPr>
          <p:spPr>
            <a:xfrm>
              <a:off x="5823315" y="5306242"/>
              <a:ext cx="672911" cy="338554"/>
            </a:xfrm>
            <a:prstGeom prst="rect">
              <a:avLst/>
            </a:prstGeom>
            <a:noFill/>
          </p:spPr>
          <p:txBody>
            <a:bodyPr wrap="square" rtlCol="0">
              <a:spAutoFit/>
            </a:bodyPr>
            <a:lstStyle/>
            <a:p>
              <a:pPr algn="ctr"/>
              <a:r>
                <a:rPr lang="zh-CN" altLang="en-US" sz="1600" dirty="0"/>
                <a:t>用户</a:t>
              </a:r>
            </a:p>
          </p:txBody>
        </p:sp>
        <p:pic>
          <p:nvPicPr>
            <p:cNvPr id="32" name="图形 31" descr="数据库 纯色填充">
              <a:extLst>
                <a:ext uri="{FF2B5EF4-FFF2-40B4-BE49-F238E27FC236}">
                  <a16:creationId xmlns:a16="http://schemas.microsoft.com/office/drawing/2014/main" id="{04D3129E-EC7C-4A75-AE3C-052EEE4BC7B4}"/>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851742" y="4554690"/>
              <a:ext cx="787246" cy="787246"/>
            </a:xfrm>
            <a:prstGeom prst="rect">
              <a:avLst/>
            </a:prstGeom>
          </p:spPr>
        </p:pic>
        <p:pic>
          <p:nvPicPr>
            <p:cNvPr id="34" name="图形 33">
              <a:extLst>
                <a:ext uri="{FF2B5EF4-FFF2-40B4-BE49-F238E27FC236}">
                  <a16:creationId xmlns:a16="http://schemas.microsoft.com/office/drawing/2014/main" id="{C9AEB4D6-123F-47FD-B57E-EE4549BF4AC8}"/>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41199" y="5187959"/>
              <a:ext cx="386127" cy="386127"/>
            </a:xfrm>
            <a:prstGeom prst="rect">
              <a:avLst/>
            </a:prstGeom>
          </p:spPr>
        </p:pic>
        <p:sp>
          <p:nvSpPr>
            <p:cNvPr id="109" name="箭头: 右 108">
              <a:extLst>
                <a:ext uri="{FF2B5EF4-FFF2-40B4-BE49-F238E27FC236}">
                  <a16:creationId xmlns:a16="http://schemas.microsoft.com/office/drawing/2014/main" id="{B28C36EC-2A50-420A-9E53-D2EF925BBF9E}"/>
                </a:ext>
              </a:extLst>
            </p:cNvPr>
            <p:cNvSpPr/>
            <p:nvPr/>
          </p:nvSpPr>
          <p:spPr>
            <a:xfrm flipV="1">
              <a:off x="6525185" y="5017118"/>
              <a:ext cx="1152000" cy="100483"/>
            </a:xfrm>
            <a:prstGeom prst="rightArrow">
              <a:avLst>
                <a:gd name="adj1" fmla="val 50000"/>
                <a:gd name="adj2" fmla="val 78437"/>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600"/>
            </a:p>
          </p:txBody>
        </p:sp>
        <p:sp>
          <p:nvSpPr>
            <p:cNvPr id="110" name="箭头: 右 109">
              <a:extLst>
                <a:ext uri="{FF2B5EF4-FFF2-40B4-BE49-F238E27FC236}">
                  <a16:creationId xmlns:a16="http://schemas.microsoft.com/office/drawing/2014/main" id="{56060F1B-D090-4BE8-99AA-10931A0BA08C}"/>
                </a:ext>
              </a:extLst>
            </p:cNvPr>
            <p:cNvSpPr/>
            <p:nvPr/>
          </p:nvSpPr>
          <p:spPr>
            <a:xfrm flipH="1" flipV="1">
              <a:off x="4588292" y="4945983"/>
              <a:ext cx="1152000" cy="100483"/>
            </a:xfrm>
            <a:prstGeom prst="rightArrow">
              <a:avLst>
                <a:gd name="adj1" fmla="val 50000"/>
                <a:gd name="adj2" fmla="val 78437"/>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600"/>
            </a:p>
          </p:txBody>
        </p:sp>
        <p:sp>
          <p:nvSpPr>
            <p:cNvPr id="111" name="文本框 110">
              <a:extLst>
                <a:ext uri="{FF2B5EF4-FFF2-40B4-BE49-F238E27FC236}">
                  <a16:creationId xmlns:a16="http://schemas.microsoft.com/office/drawing/2014/main" id="{6BBD6B68-913B-4BA4-90C4-3DBCF59F31DC}"/>
                </a:ext>
              </a:extLst>
            </p:cNvPr>
            <p:cNvSpPr txBox="1"/>
            <p:nvPr/>
          </p:nvSpPr>
          <p:spPr>
            <a:xfrm>
              <a:off x="6447292" y="4698363"/>
              <a:ext cx="1046433" cy="338554"/>
            </a:xfrm>
            <a:prstGeom prst="rect">
              <a:avLst/>
            </a:prstGeom>
            <a:noFill/>
          </p:spPr>
          <p:txBody>
            <a:bodyPr wrap="square" rtlCol="0">
              <a:spAutoFit/>
            </a:bodyPr>
            <a:lstStyle/>
            <a:p>
              <a:pPr algn="ctr"/>
              <a:r>
                <a:rPr lang="zh-CN" altLang="en-US" sz="1600" dirty="0"/>
                <a:t>服务请求</a:t>
              </a:r>
            </a:p>
          </p:txBody>
        </p:sp>
        <p:pic>
          <p:nvPicPr>
            <p:cNvPr id="112" name="图形 111">
              <a:extLst>
                <a:ext uri="{FF2B5EF4-FFF2-40B4-BE49-F238E27FC236}">
                  <a16:creationId xmlns:a16="http://schemas.microsoft.com/office/drawing/2014/main" id="{4339632A-820A-42C6-A35F-233E0781978B}"/>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795092" y="5133919"/>
              <a:ext cx="386127" cy="386127"/>
            </a:xfrm>
            <a:prstGeom prst="rect">
              <a:avLst/>
            </a:prstGeom>
          </p:spPr>
        </p:pic>
      </p:grpSp>
    </p:spTree>
    <p:custDataLst>
      <p:tags r:id="rId1"/>
    </p:custDataLst>
    <p:extLst>
      <p:ext uri="{BB962C8B-B14F-4D97-AF65-F5344CB8AC3E}">
        <p14:creationId xmlns:p14="http://schemas.microsoft.com/office/powerpoint/2010/main" val="115538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认证的基本概念</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5</a:t>
            </a:fld>
            <a:endParaRPr lang="zh-CN" altLang="en-US" dirty="0"/>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1.2 </a:t>
            </a:r>
            <a:r>
              <a:rPr lang="zh-CN" altLang="en-US" sz="2400" b="1" dirty="0">
                <a:solidFill>
                  <a:srgbClr val="FF0000"/>
                </a:solidFill>
                <a:latin typeface="Times New Roman" panose="02020603050405020304" pitchFamily="18" charset="0"/>
                <a:cs typeface="Times New Roman" panose="02020603050405020304" pitchFamily="18" charset="0"/>
              </a:rPr>
              <a:t>加密与认证的区别</a:t>
            </a:r>
          </a:p>
        </p:txBody>
      </p:sp>
      <p:graphicFrame>
        <p:nvGraphicFramePr>
          <p:cNvPr id="4" name="表格 6">
            <a:extLst>
              <a:ext uri="{FF2B5EF4-FFF2-40B4-BE49-F238E27FC236}">
                <a16:creationId xmlns:a16="http://schemas.microsoft.com/office/drawing/2014/main" id="{99F17267-BDEE-4994-A809-72D5D47E5189}"/>
              </a:ext>
            </a:extLst>
          </p:cNvPr>
          <p:cNvGraphicFramePr>
            <a:graphicFrameLocks noGrp="1"/>
          </p:cNvGraphicFramePr>
          <p:nvPr>
            <p:extLst>
              <p:ext uri="{D42A27DB-BD31-4B8C-83A1-F6EECF244321}">
                <p14:modId xmlns:p14="http://schemas.microsoft.com/office/powerpoint/2010/main" val="1190944303"/>
              </p:ext>
            </p:extLst>
          </p:nvPr>
        </p:nvGraphicFramePr>
        <p:xfrm>
          <a:off x="571786" y="1820720"/>
          <a:ext cx="8000428" cy="3877190"/>
        </p:xfrm>
        <a:graphic>
          <a:graphicData uri="http://schemas.openxmlformats.org/drawingml/2006/table">
            <a:tbl>
              <a:tblPr firstRow="1" bandRow="1">
                <a:tableStyleId>{74C1A8A3-306A-4EB7-A6B1-4F7E0EB9C5D6}</a:tableStyleId>
              </a:tblPr>
              <a:tblGrid>
                <a:gridCol w="4000214">
                  <a:extLst>
                    <a:ext uri="{9D8B030D-6E8A-4147-A177-3AD203B41FA5}">
                      <a16:colId xmlns:a16="http://schemas.microsoft.com/office/drawing/2014/main" val="1859471950"/>
                    </a:ext>
                  </a:extLst>
                </a:gridCol>
                <a:gridCol w="4000214">
                  <a:extLst>
                    <a:ext uri="{9D8B030D-6E8A-4147-A177-3AD203B41FA5}">
                      <a16:colId xmlns:a16="http://schemas.microsoft.com/office/drawing/2014/main" val="3682925090"/>
                    </a:ext>
                  </a:extLst>
                </a:gridCol>
              </a:tblGrid>
              <a:tr h="492064">
                <a:tc>
                  <a:txBody>
                    <a:bodyPr/>
                    <a:lstStyle/>
                    <a:p>
                      <a:pPr algn="ctr">
                        <a:lnSpc>
                          <a:spcPct val="130000"/>
                        </a:lnSpc>
                        <a:spcBef>
                          <a:spcPts val="600"/>
                        </a:spcBef>
                      </a:pPr>
                      <a:r>
                        <a:rPr lang="zh-CN" altLang="en-US" sz="2000" dirty="0"/>
                        <a:t>加密</a:t>
                      </a:r>
                    </a:p>
                  </a:txBody>
                  <a:tcPr anchor="ctr">
                    <a:lnR w="19050" cap="flat" cmpd="sng" algn="ctr">
                      <a:solidFill>
                        <a:schemeClr val="bg1"/>
                      </a:solidFill>
                      <a:prstDash val="solid"/>
                      <a:round/>
                      <a:headEnd type="none" w="med" len="med"/>
                      <a:tailEnd type="none" w="med" len="med"/>
                    </a:lnR>
                  </a:tcPr>
                </a:tc>
                <a:tc>
                  <a:txBody>
                    <a:bodyPr/>
                    <a:lstStyle/>
                    <a:p>
                      <a:pPr algn="ctr">
                        <a:lnSpc>
                          <a:spcPct val="130000"/>
                        </a:lnSpc>
                        <a:spcBef>
                          <a:spcPts val="600"/>
                        </a:spcBef>
                      </a:pPr>
                      <a:r>
                        <a:rPr lang="zh-CN" altLang="en-US" sz="2000" dirty="0"/>
                        <a:t>认证</a:t>
                      </a:r>
                    </a:p>
                  </a:txBody>
                  <a:tcPr anchor="ctr">
                    <a:lnL w="190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297653436"/>
                  </a:ext>
                </a:extLst>
              </a:tr>
              <a:tr h="1249084">
                <a:tc>
                  <a:txBody>
                    <a:bodyPr/>
                    <a:lstStyle/>
                    <a:p>
                      <a:pPr marL="0" marR="0" lvl="0" indent="0" algn="ctr" defTabSz="914400" rtl="0" eaLnBrk="1" fontAlgn="auto" latinLnBrk="0" hangingPunct="1">
                        <a:lnSpc>
                          <a:spcPct val="130000"/>
                        </a:lnSpc>
                        <a:spcBef>
                          <a:spcPts val="600"/>
                        </a:spcBef>
                        <a:spcAft>
                          <a:spcPts val="0"/>
                        </a:spcAft>
                        <a:buClrTx/>
                        <a:buSzTx/>
                        <a:buFontTx/>
                        <a:buNone/>
                        <a:tabLst/>
                        <a:defRPr/>
                      </a:pPr>
                      <a:r>
                        <a:rPr lang="zh-CN" altLang="en-US" sz="2000" dirty="0">
                          <a:solidFill>
                            <a:schemeClr val="tx1"/>
                          </a:solidFill>
                        </a:rPr>
                        <a:t>保护数据（信息）的</a:t>
                      </a:r>
                      <a:r>
                        <a:rPr lang="zh-CN" altLang="en-US" sz="2000" b="1" dirty="0">
                          <a:solidFill>
                            <a:srgbClr val="0000FF"/>
                          </a:solidFill>
                        </a:rPr>
                        <a:t>机密性</a:t>
                      </a:r>
                      <a:endParaRPr lang="en-US" altLang="zh-CN" sz="2000" dirty="0">
                        <a:latin typeface="Times New Roman" panose="02020603050405020304" pitchFamily="18" charset="0"/>
                        <a:cs typeface="Times New Roman" panose="02020603050405020304" pitchFamily="18" charset="0"/>
                      </a:endParaRPr>
                    </a:p>
                  </a:txBody>
                  <a:tcPr anchor="ctr">
                    <a:lnR w="19050" cap="flat" cmpd="sng" algn="ctr">
                      <a:solidFill>
                        <a:schemeClr val="bg1"/>
                      </a:solidFill>
                      <a:prstDash val="solid"/>
                      <a:round/>
                      <a:headEnd type="none" w="med" len="med"/>
                      <a:tailEnd type="none" w="med" len="med"/>
                    </a:lnR>
                    <a:lnB w="19050" cap="flat" cmpd="sng" algn="ctr">
                      <a:solidFill>
                        <a:schemeClr val="bg1"/>
                      </a:solidFill>
                      <a:prstDash val="solid"/>
                      <a:round/>
                      <a:headEnd type="none" w="med" len="med"/>
                      <a:tailEnd type="none" w="med" len="med"/>
                    </a:lnB>
                    <a:solidFill>
                      <a:srgbClr val="D2DEEF"/>
                    </a:solidFill>
                  </a:tcPr>
                </a:tc>
                <a:tc>
                  <a:txBody>
                    <a:bodyPr/>
                    <a:lstStyle/>
                    <a:p>
                      <a:pPr marL="0" marR="0" lvl="0" indent="0" algn="ctr" defTabSz="914400" rtl="0" eaLnBrk="1" fontAlgn="auto" latinLnBrk="0" hangingPunct="1">
                        <a:lnSpc>
                          <a:spcPct val="130000"/>
                        </a:lnSpc>
                        <a:spcBef>
                          <a:spcPts val="600"/>
                        </a:spcBef>
                        <a:spcAft>
                          <a:spcPts val="0"/>
                        </a:spcAft>
                        <a:buClrTx/>
                        <a:buSzTx/>
                        <a:buFontTx/>
                        <a:buNone/>
                        <a:tabLst/>
                        <a:defRPr/>
                      </a:pPr>
                      <a:r>
                        <a:rPr lang="zh-CN" altLang="en-US" sz="2000" dirty="0">
                          <a:solidFill>
                            <a:schemeClr val="tx1"/>
                          </a:solidFill>
                        </a:rPr>
                        <a:t>保护数据的</a:t>
                      </a:r>
                      <a:r>
                        <a:rPr lang="zh-CN" altLang="en-US" sz="2000" b="1" dirty="0">
                          <a:solidFill>
                            <a:srgbClr val="0000FF"/>
                          </a:solidFill>
                        </a:rPr>
                        <a:t>完整性</a:t>
                      </a:r>
                      <a:r>
                        <a:rPr lang="zh-CN" altLang="en-US" sz="2000" b="0" dirty="0">
                          <a:solidFill>
                            <a:schemeClr val="tx1"/>
                          </a:solidFill>
                        </a:rPr>
                        <a:t>、身份的</a:t>
                      </a:r>
                      <a:r>
                        <a:rPr lang="zh-CN" altLang="en-US" sz="2000" b="1" dirty="0">
                          <a:solidFill>
                            <a:srgbClr val="0000FF"/>
                          </a:solidFill>
                        </a:rPr>
                        <a:t>真实性</a:t>
                      </a:r>
                      <a:endParaRPr lang="en-US" altLang="zh-CN" sz="2000" b="1" dirty="0">
                        <a:latin typeface="Times New Roman" panose="02020603050405020304" pitchFamily="18"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B w="19050" cap="flat" cmpd="sng" algn="ctr">
                      <a:solidFill>
                        <a:schemeClr val="bg1"/>
                      </a:solidFill>
                      <a:prstDash val="solid"/>
                      <a:round/>
                      <a:headEnd type="none" w="med" len="med"/>
                      <a:tailEnd type="none" w="med" len="med"/>
                    </a:lnB>
                    <a:solidFill>
                      <a:srgbClr val="D2DEEF"/>
                    </a:solidFill>
                  </a:tcPr>
                </a:tc>
                <a:extLst>
                  <a:ext uri="{0D108BD9-81ED-4DB2-BD59-A6C34878D82A}">
                    <a16:rowId xmlns:a16="http://schemas.microsoft.com/office/drawing/2014/main" val="943361882"/>
                  </a:ext>
                </a:extLst>
              </a:tr>
              <a:tr h="1249084">
                <a:tc>
                  <a:txBody>
                    <a:bodyPr/>
                    <a:lstStyle/>
                    <a:p>
                      <a:pPr marL="0" marR="0" lvl="0" indent="0" algn="ctr" defTabSz="914400" rtl="0" eaLnBrk="1" fontAlgn="auto" latinLnBrk="0" hangingPunct="1">
                        <a:lnSpc>
                          <a:spcPct val="130000"/>
                        </a:lnSpc>
                        <a:spcBef>
                          <a:spcPts val="600"/>
                        </a:spcBef>
                        <a:spcAft>
                          <a:spcPts val="0"/>
                        </a:spcAft>
                        <a:buClrTx/>
                        <a:buSzTx/>
                        <a:buFontTx/>
                        <a:buNone/>
                        <a:tabLst/>
                        <a:defRPr/>
                      </a:pPr>
                      <a:r>
                        <a:rPr lang="zh-CN" altLang="en-US" sz="2000" dirty="0"/>
                        <a:t>确保只有</a:t>
                      </a:r>
                      <a:r>
                        <a:rPr lang="zh-CN" altLang="en-US" sz="2000" b="1" dirty="0">
                          <a:solidFill>
                            <a:srgbClr val="0000FF"/>
                          </a:solidFill>
                        </a:rPr>
                        <a:t>授权用户可以访问数据</a:t>
                      </a:r>
                      <a:endParaRPr lang="en-US" altLang="zh-CN" sz="2000" b="1" dirty="0">
                        <a:solidFill>
                          <a:srgbClr val="0000FF"/>
                        </a:solidFill>
                        <a:latin typeface="Times New Roman" panose="02020603050405020304" pitchFamily="18" charset="0"/>
                        <a:cs typeface="Times New Roman" panose="02020603050405020304" pitchFamily="18" charset="0"/>
                      </a:endParaRPr>
                    </a:p>
                  </a:txBody>
                  <a:tcPr anchor="ctr">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FF7"/>
                    </a:solidFill>
                  </a:tcPr>
                </a:tc>
                <a:tc>
                  <a:txBody>
                    <a:bodyPr/>
                    <a:lstStyle/>
                    <a:p>
                      <a:pPr marL="0" marR="0" lvl="0" indent="0" algn="ctr" defTabSz="914400" rtl="0" eaLnBrk="1" fontAlgn="auto" latinLnBrk="0" hangingPunct="1">
                        <a:lnSpc>
                          <a:spcPct val="130000"/>
                        </a:lnSpc>
                        <a:spcBef>
                          <a:spcPts val="600"/>
                        </a:spcBef>
                        <a:spcAft>
                          <a:spcPts val="0"/>
                        </a:spcAft>
                        <a:buClrTx/>
                        <a:buSzTx/>
                        <a:buFontTx/>
                        <a:buNone/>
                        <a:tabLst/>
                        <a:defRPr/>
                      </a:pPr>
                      <a:r>
                        <a:rPr lang="zh-CN" altLang="en-US" sz="2000" b="0" dirty="0">
                          <a:solidFill>
                            <a:schemeClr val="tx1"/>
                          </a:solidFill>
                        </a:rPr>
                        <a:t>确保</a:t>
                      </a:r>
                      <a:r>
                        <a:rPr lang="zh-CN" altLang="en-US" sz="2000" b="1" dirty="0">
                          <a:solidFill>
                            <a:srgbClr val="0000FF"/>
                          </a:solidFill>
                        </a:rPr>
                        <a:t>数据没有发生变化</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30000"/>
                        </a:lnSpc>
                        <a:spcBef>
                          <a:spcPts val="600"/>
                        </a:spcBef>
                        <a:spcAft>
                          <a:spcPts val="0"/>
                        </a:spcAft>
                        <a:buClrTx/>
                        <a:buSzTx/>
                        <a:buFontTx/>
                        <a:buNone/>
                        <a:tabLst/>
                        <a:defRPr/>
                      </a:pPr>
                      <a:r>
                        <a:rPr lang="zh-CN" altLang="en-US" sz="2000" dirty="0"/>
                        <a:t>确保只有授权</a:t>
                      </a:r>
                      <a:r>
                        <a:rPr lang="zh-CN" altLang="en-US" sz="2000" b="1" dirty="0">
                          <a:solidFill>
                            <a:srgbClr val="0000FF"/>
                          </a:solidFill>
                        </a:rPr>
                        <a:t>用户可以访问系统；</a:t>
                      </a:r>
                      <a:endParaRPr lang="en-US" altLang="zh-CN" sz="2000" b="1" dirty="0">
                        <a:solidFill>
                          <a:srgbClr val="0000FF"/>
                        </a:solidFill>
                        <a:latin typeface="Times New Roman" panose="02020603050405020304" pitchFamily="18"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FF7"/>
                    </a:solidFill>
                  </a:tcPr>
                </a:tc>
                <a:extLst>
                  <a:ext uri="{0D108BD9-81ED-4DB2-BD59-A6C34878D82A}">
                    <a16:rowId xmlns:a16="http://schemas.microsoft.com/office/drawing/2014/main" val="3986907534"/>
                  </a:ext>
                </a:extLst>
              </a:tr>
              <a:tr h="886958">
                <a:tc>
                  <a:txBody>
                    <a:bodyPr/>
                    <a:lstStyle/>
                    <a:p>
                      <a:pPr marL="0" marR="0" lvl="0" indent="0" algn="ctr" defTabSz="914400" rtl="0" eaLnBrk="1" fontAlgn="auto" latinLnBrk="0" hangingPunct="1">
                        <a:lnSpc>
                          <a:spcPct val="130000"/>
                        </a:lnSpc>
                        <a:spcBef>
                          <a:spcPts val="600"/>
                        </a:spcBef>
                        <a:spcAft>
                          <a:spcPts val="0"/>
                        </a:spcAft>
                        <a:buClrTx/>
                        <a:buSzTx/>
                        <a:buFontTx/>
                        <a:buNone/>
                        <a:tabLst/>
                        <a:defRPr/>
                      </a:pPr>
                      <a:r>
                        <a:rPr lang="zh-CN" altLang="en-US" sz="2000" dirty="0"/>
                        <a:t>末授权者无法解密密文</a:t>
                      </a:r>
                      <a:endParaRPr lang="en-US" altLang="zh-CN" sz="2000" dirty="0">
                        <a:latin typeface="Times New Roman" panose="02020603050405020304" pitchFamily="18" charset="0"/>
                        <a:cs typeface="Times New Roman" panose="02020603050405020304" pitchFamily="18" charset="0"/>
                      </a:endParaRPr>
                    </a:p>
                  </a:txBody>
                  <a:tcPr anchor="ctr">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solidFill>
                      <a:srgbClr val="D2DEEF"/>
                    </a:solidFill>
                  </a:tcPr>
                </a:tc>
                <a:tc>
                  <a:txBody>
                    <a:bodyPr/>
                    <a:lstStyle/>
                    <a:p>
                      <a:pPr marL="0" marR="0" lvl="0" indent="0" algn="ctr" defTabSz="914400" rtl="0" eaLnBrk="1" fontAlgn="auto" latinLnBrk="0" hangingPunct="1">
                        <a:lnSpc>
                          <a:spcPct val="130000"/>
                        </a:lnSpc>
                        <a:spcBef>
                          <a:spcPts val="600"/>
                        </a:spcBef>
                        <a:spcAft>
                          <a:spcPts val="0"/>
                        </a:spcAft>
                        <a:buClrTx/>
                        <a:buSzTx/>
                        <a:buFontTx/>
                        <a:buNone/>
                        <a:tabLst/>
                        <a:defRPr/>
                      </a:pPr>
                      <a:r>
                        <a:rPr lang="zh-CN" altLang="en-US" sz="2000" dirty="0"/>
                        <a:t>未授权者无法访问</a:t>
                      </a:r>
                      <a:endParaRPr lang="en-US" altLang="zh-CN" sz="2000" dirty="0">
                        <a:latin typeface="Times New Roman" panose="02020603050405020304" pitchFamily="18"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T w="19050" cap="flat" cmpd="sng" algn="ctr">
                      <a:solidFill>
                        <a:schemeClr val="bg1"/>
                      </a:solidFill>
                      <a:prstDash val="solid"/>
                      <a:round/>
                      <a:headEnd type="none" w="med" len="med"/>
                      <a:tailEnd type="none" w="med" len="med"/>
                    </a:lnT>
                    <a:solidFill>
                      <a:srgbClr val="D2DEEF"/>
                    </a:solidFill>
                  </a:tcPr>
                </a:tc>
                <a:extLst>
                  <a:ext uri="{0D108BD9-81ED-4DB2-BD59-A6C34878D82A}">
                    <a16:rowId xmlns:a16="http://schemas.microsoft.com/office/drawing/2014/main" val="3414846688"/>
                  </a:ext>
                </a:extLst>
              </a:tr>
            </a:tbl>
          </a:graphicData>
        </a:graphic>
      </p:graphicFrame>
    </p:spTree>
    <p:extLst>
      <p:ext uri="{BB962C8B-B14F-4D97-AF65-F5344CB8AC3E}">
        <p14:creationId xmlns:p14="http://schemas.microsoft.com/office/powerpoint/2010/main" val="2207842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6</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312517" y="1866092"/>
            <a:ext cx="8479945" cy="3954929"/>
          </a:xfrm>
          <a:prstGeom prst="rect">
            <a:avLst/>
          </a:prstGeom>
          <a:noFill/>
        </p:spPr>
        <p:txBody>
          <a:bodyPr wrap="square" rtlCol="0">
            <a:spAutoFit/>
          </a:bodyPr>
          <a:lstStyle/>
          <a:p>
            <a:pPr>
              <a:lnSpc>
                <a:spcPct val="130000"/>
              </a:lnSpc>
              <a:spcBef>
                <a:spcPts val="600"/>
              </a:spcBef>
            </a:pPr>
            <a:r>
              <a:rPr lang="zh-CN" altLang="en-US" sz="2000" dirty="0">
                <a:latin typeface="Times New Roman" panose="02020603050405020304" pitchFamily="18" charset="0"/>
                <a:cs typeface="Times New Roman" panose="02020603050405020304" pitchFamily="18" charset="0"/>
              </a:rPr>
              <a:t>消息认证是一个验证过程，分别验证</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接收消息</a:t>
            </a:r>
            <a:r>
              <a:rPr lang="zh-CN" altLang="en-US" sz="2000" dirty="0">
                <a:solidFill>
                  <a:srgbClr val="0000FF"/>
                </a:solidFill>
                <a:latin typeface="Times New Roman" panose="02020603050405020304" pitchFamily="18" charset="0"/>
                <a:cs typeface="Times New Roman" panose="02020603050405020304" pitchFamily="18" charset="0"/>
              </a:rPr>
              <a:t>完整性</a:t>
            </a:r>
            <a:r>
              <a:rPr lang="zh-CN" altLang="en-US" sz="2000" dirty="0">
                <a:latin typeface="Times New Roman" panose="02020603050405020304" pitchFamily="18" charset="0"/>
                <a:cs typeface="Times New Roman" panose="02020603050405020304" pitchFamily="18" charset="0"/>
              </a:rPr>
              <a:t>（未被篡改、插入 、删除）</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消息的</a:t>
            </a:r>
            <a:r>
              <a:rPr lang="zh-CN" altLang="en-US" sz="2000" dirty="0">
                <a:solidFill>
                  <a:srgbClr val="0000FF"/>
                </a:solidFill>
                <a:latin typeface="Times New Roman" panose="02020603050405020304" pitchFamily="18" charset="0"/>
                <a:cs typeface="Times New Roman" panose="02020603050405020304" pitchFamily="18" charset="0"/>
              </a:rPr>
              <a:t>顺序性和时间性</a:t>
            </a:r>
            <a:r>
              <a:rPr lang="zh-CN" altLang="en-US" sz="2000" dirty="0">
                <a:latin typeface="Times New Roman" panose="02020603050405020304" pitchFamily="18" charset="0"/>
                <a:cs typeface="Times New Roman" panose="02020603050405020304" pitchFamily="18" charset="0"/>
              </a:rPr>
              <a:t>（未被重排、重放、延迟等）</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30000"/>
              </a:lnSpc>
              <a:spcBef>
                <a:spcPts val="600"/>
              </a:spcBef>
              <a:buFont typeface="Arial" panose="020B0604020202020204" pitchFamily="34" charset="0"/>
              <a:buChar char="•"/>
            </a:pPr>
            <a:endParaRPr lang="en-US" altLang="zh-CN" sz="2000" dirty="0">
              <a:latin typeface="Times New Roman" panose="02020603050405020304" pitchFamily="18" charset="0"/>
              <a:cs typeface="Times New Roman" panose="02020603050405020304" pitchFamily="18" charset="0"/>
            </a:endParaRPr>
          </a:p>
          <a:p>
            <a:pPr>
              <a:lnSpc>
                <a:spcPct val="130000"/>
              </a:lnSpc>
              <a:spcBef>
                <a:spcPts val="600"/>
              </a:spcBef>
            </a:pPr>
            <a:r>
              <a:rPr lang="zh-CN" altLang="en-US" sz="2000" dirty="0">
                <a:latin typeface="Times New Roman" panose="02020603050405020304" pitchFamily="18" charset="0"/>
                <a:cs typeface="Times New Roman" panose="02020603050405020304" pitchFamily="18" charset="0"/>
              </a:rPr>
              <a:t>可以用以下技术实现消息认证：</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3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基于单钥加密的认证</a:t>
            </a:r>
            <a:endParaRPr lang="en-US" altLang="zh-CN" sz="2000" b="1" dirty="0">
              <a:latin typeface="Times New Roman" panose="02020603050405020304" pitchFamily="18" charset="0"/>
              <a:cs typeface="Times New Roman" panose="02020603050405020304" pitchFamily="18" charset="0"/>
            </a:endParaRPr>
          </a:p>
          <a:p>
            <a:pPr marL="800100" lvl="1" indent="-342900">
              <a:lnSpc>
                <a:spcPct val="13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基于消息认证码 </a:t>
            </a:r>
            <a:r>
              <a:rPr lang="en-US" altLang="zh-CN" sz="2000" b="1" dirty="0">
                <a:latin typeface="Times New Roman" panose="02020603050405020304" pitchFamily="18" charset="0"/>
                <a:cs typeface="Times New Roman" panose="02020603050405020304" pitchFamily="18" charset="0"/>
              </a:rPr>
              <a:t>(MAC)</a:t>
            </a:r>
            <a:r>
              <a:rPr lang="zh-CN" altLang="en-US" sz="2000" b="1" dirty="0">
                <a:latin typeface="Times New Roman" panose="02020603050405020304" pitchFamily="18" charset="0"/>
                <a:cs typeface="Times New Roman" panose="02020603050405020304" pitchFamily="18" charset="0"/>
              </a:rPr>
              <a:t>的认证</a:t>
            </a:r>
            <a:endParaRPr lang="en-US" altLang="zh-CN" sz="2000" b="1" dirty="0">
              <a:latin typeface="Times New Roman" panose="02020603050405020304" pitchFamily="18" charset="0"/>
              <a:cs typeface="Times New Roman" panose="02020603050405020304" pitchFamily="18" charset="0"/>
            </a:endParaRPr>
          </a:p>
          <a:p>
            <a:pPr marL="800100" lvl="1" indent="-342900">
              <a:lnSpc>
                <a:spcPct val="13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基于数字签名的认证</a:t>
            </a:r>
            <a:endParaRPr lang="en-US" altLang="zh-CN" sz="20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zh-CN" altLang="en-US" sz="2400" b="1" dirty="0">
                <a:solidFill>
                  <a:srgbClr val="FF0000"/>
                </a:solidFill>
                <a:latin typeface="+mn-ea"/>
              </a:rPr>
              <a:t>消息认证 </a:t>
            </a:r>
            <a:r>
              <a:rPr lang="en-US" altLang="zh-CN" sz="2400" b="1" dirty="0">
                <a:solidFill>
                  <a:srgbClr val="FF0000"/>
                </a:solidFill>
                <a:latin typeface="Times New Roman" panose="02020603050405020304" pitchFamily="18" charset="0"/>
                <a:cs typeface="Times New Roman" panose="02020603050405020304" pitchFamily="18" charset="0"/>
              </a:rPr>
              <a:t>(Message Authentication)</a:t>
            </a:r>
            <a:endParaRPr lang="zh-CN" altLang="en-US" sz="2400" b="1" dirty="0">
              <a:solidFill>
                <a:srgbClr val="FF0000"/>
              </a:solidFill>
              <a:latin typeface="+mn-ea"/>
            </a:endParaRPr>
          </a:p>
        </p:txBody>
      </p:sp>
    </p:spTree>
    <p:extLst>
      <p:ext uri="{BB962C8B-B14F-4D97-AF65-F5344CB8AC3E}">
        <p14:creationId xmlns:p14="http://schemas.microsoft.com/office/powerpoint/2010/main" val="3828750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7</a:t>
            </a:fld>
            <a:endParaRPr lang="zh-CN" altLang="en-US"/>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24391B0-62B3-7C30-1DD4-E35E206F9B43}"/>
                  </a:ext>
                </a:extLst>
              </p:cNvPr>
              <p:cNvSpPr txBox="1"/>
              <p:nvPr/>
            </p:nvSpPr>
            <p:spPr>
              <a:xfrm>
                <a:off x="312517" y="1526485"/>
                <a:ext cx="8479945" cy="2000548"/>
              </a:xfrm>
              <a:prstGeom prst="rect">
                <a:avLst/>
              </a:prstGeom>
              <a:noFill/>
            </p:spPr>
            <p:txBody>
              <a:bodyPr wrap="square" rtlCol="0">
                <a:spAutoFit/>
              </a:bodyPr>
              <a:lstStyle/>
              <a:p>
                <a:pPr marL="457200" indent="-457200">
                  <a:lnSpc>
                    <a:spcPct val="150000"/>
                  </a:lnSpc>
                  <a:spcBef>
                    <a:spcPts val="600"/>
                  </a:spcBef>
                  <a:buFont typeface="+mj-lt"/>
                  <a:buAutoNum type="arabicPeriod"/>
                </a:pPr>
                <a:r>
                  <a:rPr lang="zh-CN" altLang="en-US" sz="1900" dirty="0">
                    <a:latin typeface="Times New Roman" panose="02020603050405020304" pitchFamily="18" charset="0"/>
                    <a:cs typeface="Times New Roman" panose="02020603050405020304" pitchFamily="18" charset="0"/>
                  </a:rPr>
                  <a:t>发送方 </a:t>
                </a:r>
                <a:r>
                  <a:rPr lang="en-US" altLang="zh-CN" sz="1900" dirty="0">
                    <a:latin typeface="Times New Roman" panose="02020603050405020304" pitchFamily="18" charset="0"/>
                    <a:cs typeface="Times New Roman" panose="02020603050405020304" pitchFamily="18" charset="0"/>
                  </a:rPr>
                  <a:t>A </a:t>
                </a:r>
                <a:r>
                  <a:rPr lang="zh-CN" altLang="en-US" sz="1900" dirty="0">
                    <a:latin typeface="Times New Roman" panose="02020603050405020304" pitchFamily="18" charset="0"/>
                    <a:cs typeface="Times New Roman" panose="02020603050405020304" pitchFamily="18" charset="0"/>
                  </a:rPr>
                  <a:t>和接收方 </a:t>
                </a:r>
                <a:r>
                  <a:rPr lang="en-US" altLang="zh-CN" sz="1900" dirty="0">
                    <a:latin typeface="Times New Roman" panose="02020603050405020304" pitchFamily="18" charset="0"/>
                    <a:cs typeface="Times New Roman" panose="02020603050405020304" pitchFamily="18" charset="0"/>
                  </a:rPr>
                  <a:t>B </a:t>
                </a:r>
                <a:r>
                  <a:rPr lang="zh-CN" altLang="en-US" sz="1900" dirty="0">
                    <a:solidFill>
                      <a:srgbClr val="0000FF"/>
                    </a:solidFill>
                    <a:latin typeface="Times New Roman" panose="02020603050405020304" pitchFamily="18" charset="0"/>
                    <a:cs typeface="Times New Roman" panose="02020603050405020304" pitchFamily="18" charset="0"/>
                  </a:rPr>
                  <a:t>共享密钥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𝐾</m:t>
                    </m:r>
                  </m:oMath>
                </a14:m>
                <a:r>
                  <a:rPr lang="zh-CN" altLang="en-US" sz="1900" dirty="0">
                    <a:solidFill>
                      <a:srgbClr val="0000FF"/>
                    </a:solidFill>
                    <a:latin typeface="Times New Roman" panose="02020603050405020304" pitchFamily="18" charset="0"/>
                    <a:cs typeface="Times New Roman" panose="02020603050405020304" pitchFamily="18" charset="0"/>
                  </a:rPr>
                  <a:t>；</a:t>
                </a:r>
                <a:endParaRPr lang="en-US" altLang="zh-CN" sz="1900" dirty="0">
                  <a:solidFill>
                    <a:srgbClr val="0000FF"/>
                  </a:solidFill>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mj-lt"/>
                  <a:buAutoNum type="arabicPeriod"/>
                </a:pPr>
                <a:r>
                  <a:rPr lang="en-US" altLang="zh-CN" sz="1900" dirty="0">
                    <a:latin typeface="Times New Roman" panose="02020603050405020304" pitchFamily="18" charset="0"/>
                    <a:cs typeface="Times New Roman" panose="02020603050405020304" pitchFamily="18" charset="0"/>
                  </a:rPr>
                  <a:t>A </a:t>
                </a:r>
                <a:r>
                  <a:rPr lang="zh-CN" altLang="en-US" sz="1900" dirty="0">
                    <a:latin typeface="Times New Roman" panose="02020603050405020304" pitchFamily="18" charset="0"/>
                    <a:cs typeface="Times New Roman" panose="02020603050405020304" pitchFamily="18" charset="0"/>
                  </a:rPr>
                  <a:t>用</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𝐾</m:t>
                    </m:r>
                    <m:r>
                      <a:rPr lang="en-US" altLang="zh-CN" sz="1900" b="0" i="1" smtClean="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对消息 </a:t>
                </a:r>
                <a14:m>
                  <m:oMath xmlns:m="http://schemas.openxmlformats.org/officeDocument/2006/math">
                    <m:r>
                      <a:rPr lang="en-US" altLang="zh-CN" sz="1900" b="0" i="1" smtClean="0">
                        <a:latin typeface="Cambria Math" panose="02040503050406030204" pitchFamily="18" charset="0"/>
                        <a:cs typeface="Times New Roman" panose="02020603050405020304" pitchFamily="18" charset="0"/>
                      </a:rPr>
                      <m:t>𝑀</m:t>
                    </m:r>
                    <m:r>
                      <a:rPr lang="en-US" altLang="zh-CN" sz="1900" b="0" i="1" smtClean="0">
                        <a:latin typeface="Cambria Math" panose="02040503050406030204" pitchFamily="18" charset="0"/>
                        <a:cs typeface="Times New Roman" panose="02020603050405020304" pitchFamily="18" charset="0"/>
                      </a:rPr>
                      <m:t> </m:t>
                    </m:r>
                  </m:oMath>
                </a14:m>
                <a:r>
                  <a:rPr lang="zh-CN" altLang="en-US" sz="1900" b="0" dirty="0">
                    <a:latin typeface="Times New Roman" panose="02020603050405020304" pitchFamily="18" charset="0"/>
                    <a:cs typeface="Times New Roman" panose="02020603050405020304" pitchFamily="18" charset="0"/>
                  </a:rPr>
                  <a:t>进行</a:t>
                </a:r>
                <a:r>
                  <a:rPr lang="zh-CN" altLang="en-US" sz="1900" b="0" dirty="0">
                    <a:solidFill>
                      <a:srgbClr val="0000FF"/>
                    </a:solidFill>
                    <a:latin typeface="Times New Roman" panose="02020603050405020304" pitchFamily="18" charset="0"/>
                    <a:cs typeface="Times New Roman" panose="02020603050405020304" pitchFamily="18" charset="0"/>
                  </a:rPr>
                  <a:t>加密</a:t>
                </a:r>
                <a:r>
                  <a:rPr lang="zh-CN" altLang="en-US" sz="1900" b="0" dirty="0">
                    <a:latin typeface="Times New Roman" panose="02020603050405020304" pitchFamily="18" charset="0"/>
                    <a:cs typeface="Times New Roman" panose="02020603050405020304" pitchFamily="18" charset="0"/>
                  </a:rPr>
                  <a:t>后，将</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𝑀</m:t>
                    </m:r>
                    <m:r>
                      <a:rPr lang="en-US" altLang="zh-CN" sz="1900" b="0" i="1" smtClean="0">
                        <a:latin typeface="Cambria Math" panose="02040503050406030204" pitchFamily="18" charset="0"/>
                        <a:cs typeface="Times New Roman" panose="02020603050405020304" pitchFamily="18" charset="0"/>
                      </a:rPr>
                      <m:t> </m:t>
                    </m:r>
                  </m:oMath>
                </a14:m>
                <a:r>
                  <a:rPr lang="zh-CN" altLang="en-US" sz="1900" b="0" dirty="0">
                    <a:latin typeface="Times New Roman" panose="02020603050405020304" pitchFamily="18" charset="0"/>
                    <a:cs typeface="Times New Roman" panose="02020603050405020304" pitchFamily="18" charset="0"/>
                  </a:rPr>
                  <a:t>和 </a:t>
                </a:r>
                <a14:m>
                  <m:oMath xmlns:m="http://schemas.openxmlformats.org/officeDocument/2006/math">
                    <m:r>
                      <a:rPr lang="en-US" altLang="zh-CN" sz="1900" b="0" i="1" smtClean="0">
                        <a:latin typeface="Cambria Math" panose="02040503050406030204" pitchFamily="18" charset="0"/>
                        <a:cs typeface="Times New Roman" panose="02020603050405020304" pitchFamily="18" charset="0"/>
                      </a:rPr>
                      <m:t>𝐶</m:t>
                    </m:r>
                    <m:r>
                      <a:rPr lang="en-US" altLang="zh-CN" sz="1900" b="0" i="1" smtClean="0">
                        <a:latin typeface="Cambria Math" panose="02040503050406030204" pitchFamily="18" charset="0"/>
                        <a:cs typeface="Times New Roman" panose="02020603050405020304" pitchFamily="18" charset="0"/>
                      </a:rPr>
                      <m:t>=</m:t>
                    </m:r>
                    <m:r>
                      <a:rPr lang="en-US" altLang="zh-CN" sz="1900" i="1">
                        <a:latin typeface="Cambria Math" panose="02040503050406030204" pitchFamily="18" charset="0"/>
                      </a:rPr>
                      <m:t>𝐸</m:t>
                    </m:r>
                    <m:r>
                      <a:rPr lang="en-US" altLang="zh-CN" sz="1900" i="1">
                        <a:latin typeface="Cambria Math" panose="02040503050406030204" pitchFamily="18" charset="0"/>
                      </a:rPr>
                      <m:t>(</m:t>
                    </m:r>
                    <m:r>
                      <a:rPr lang="en-US" altLang="zh-CN" sz="1900" i="1">
                        <a:latin typeface="Cambria Math" panose="02040503050406030204" pitchFamily="18" charset="0"/>
                      </a:rPr>
                      <m:t>𝐾</m:t>
                    </m:r>
                    <m:r>
                      <a:rPr lang="en-US" altLang="zh-CN" sz="1900" i="1">
                        <a:latin typeface="Cambria Math" panose="02040503050406030204" pitchFamily="18" charset="0"/>
                      </a:rPr>
                      <m:t>,</m:t>
                    </m:r>
                    <m:r>
                      <a:rPr lang="en-US" altLang="zh-CN" sz="1900" i="1">
                        <a:latin typeface="Cambria Math" panose="02040503050406030204" pitchFamily="18" charset="0"/>
                      </a:rPr>
                      <m:t>𝑀</m:t>
                    </m:r>
                    <m:r>
                      <a:rPr lang="en-US" altLang="zh-CN" sz="1900" i="1">
                        <a:latin typeface="Cambria Math" panose="02040503050406030204" pitchFamily="18" charset="0"/>
                      </a:rPr>
                      <m:t>)</m:t>
                    </m:r>
                  </m:oMath>
                </a14:m>
                <a:r>
                  <a:rPr lang="zh-CN" altLang="en-US" sz="1900" b="0" dirty="0">
                    <a:latin typeface="Times New Roman" panose="02020603050405020304" pitchFamily="18" charset="0"/>
                    <a:cs typeface="Times New Roman" panose="02020603050405020304" pitchFamily="18" charset="0"/>
                  </a:rPr>
                  <a:t> 传送给 </a:t>
                </a:r>
                <a:r>
                  <a:rPr lang="en-US" altLang="zh-CN" sz="1900" b="0" dirty="0">
                    <a:latin typeface="Times New Roman" panose="02020603050405020304" pitchFamily="18" charset="0"/>
                    <a:cs typeface="Times New Roman" panose="02020603050405020304" pitchFamily="18" charset="0"/>
                  </a:rPr>
                  <a:t>B</a:t>
                </a:r>
                <a:r>
                  <a:rPr lang="zh-CN" altLang="en-US" sz="1900" b="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mj-lt"/>
                  <a:buAutoNum type="arabicPeriod"/>
                </a:pPr>
                <a:r>
                  <a:rPr lang="en-US" altLang="zh-CN" sz="1900" b="0" dirty="0">
                    <a:latin typeface="Times New Roman" panose="02020603050405020304" pitchFamily="18" charset="0"/>
                    <a:cs typeface="Times New Roman" panose="02020603050405020304" pitchFamily="18" charset="0"/>
                  </a:rPr>
                  <a:t>B </a:t>
                </a:r>
                <a:r>
                  <a:rPr lang="zh-CN" altLang="en-US" sz="1900" b="0" dirty="0">
                    <a:latin typeface="Times New Roman" panose="02020603050405020304" pitchFamily="18" charset="0"/>
                    <a:cs typeface="Times New Roman" panose="02020603050405020304" pitchFamily="18" charset="0"/>
                  </a:rPr>
                  <a:t>接收到</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𝐶</m:t>
                    </m:r>
                  </m:oMath>
                </a14:m>
                <a:r>
                  <a:rPr lang="zh-CN" altLang="en-US" sz="1900" b="0" dirty="0">
                    <a:latin typeface="Times New Roman" panose="02020603050405020304" pitchFamily="18" charset="0"/>
                    <a:cs typeface="Times New Roman" panose="02020603050405020304" pitchFamily="18" charset="0"/>
                  </a:rPr>
                  <a:t> 后，通过是否能用</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𝐾</m:t>
                    </m:r>
                    <m:r>
                      <a:rPr lang="en-US" altLang="zh-CN" sz="1900" b="0" i="1" smtClean="0">
                        <a:latin typeface="Cambria Math" panose="02040503050406030204" pitchFamily="18" charset="0"/>
                        <a:cs typeface="Times New Roman" panose="02020603050405020304" pitchFamily="18" charset="0"/>
                      </a:rPr>
                      <m:t> </m:t>
                    </m:r>
                  </m:oMath>
                </a14:m>
                <a:r>
                  <a:rPr lang="zh-CN" altLang="en-US" sz="1900" b="0" dirty="0">
                    <a:latin typeface="Times New Roman" panose="02020603050405020304" pitchFamily="18" charset="0"/>
                    <a:cs typeface="Times New Roman" panose="02020603050405020304" pitchFamily="18" charset="0"/>
                  </a:rPr>
                  <a:t>将其</a:t>
                </a:r>
                <a:r>
                  <a:rPr lang="zh-CN" altLang="en-US" sz="1900" dirty="0">
                    <a:solidFill>
                      <a:srgbClr val="0000FF"/>
                    </a:solidFill>
                    <a:latin typeface="Times New Roman" panose="02020603050405020304" pitchFamily="18" charset="0"/>
                    <a:cs typeface="Times New Roman" panose="02020603050405020304" pitchFamily="18" charset="0"/>
                  </a:rPr>
                  <a:t>恢复</a:t>
                </a:r>
                <a:r>
                  <a:rPr lang="zh-CN" altLang="en-US" sz="1900" b="0" dirty="0">
                    <a:solidFill>
                      <a:srgbClr val="0000FF"/>
                    </a:solidFill>
                    <a:latin typeface="Times New Roman" panose="02020603050405020304" pitchFamily="18" charset="0"/>
                    <a:cs typeface="Times New Roman" panose="02020603050405020304" pitchFamily="18" charset="0"/>
                  </a:rPr>
                  <a:t>成相应的</a:t>
                </a:r>
                <a14:m>
                  <m:oMath xmlns:m="http://schemas.openxmlformats.org/officeDocument/2006/math">
                    <m:r>
                      <a:rPr lang="en-US" altLang="zh-CN" sz="1900" b="0" i="0" smtClean="0">
                        <a:solidFill>
                          <a:srgbClr val="0000FF"/>
                        </a:solidFill>
                        <a:latin typeface="Cambria Math" panose="02040503050406030204" pitchFamily="18" charset="0"/>
                        <a:cs typeface="Times New Roman" panose="02020603050405020304" pitchFamily="18" charset="0"/>
                      </a:rPr>
                      <m:t> </m:t>
                    </m:r>
                    <m:r>
                      <a:rPr lang="en-US" altLang="zh-CN" sz="1900" b="0" i="1" smtClean="0">
                        <a:solidFill>
                          <a:srgbClr val="0000FF"/>
                        </a:solidFill>
                        <a:latin typeface="Cambria Math" panose="02040503050406030204" pitchFamily="18" charset="0"/>
                        <a:cs typeface="Times New Roman" panose="02020603050405020304" pitchFamily="18" charset="0"/>
                      </a:rPr>
                      <m:t>𝑀</m:t>
                    </m:r>
                  </m:oMath>
                </a14:m>
                <a:r>
                  <a:rPr lang="zh-CN" altLang="en-US" sz="1900" b="0" dirty="0">
                    <a:latin typeface="Times New Roman" panose="02020603050405020304" pitchFamily="18" charset="0"/>
                    <a:cs typeface="Times New Roman" panose="02020603050405020304" pitchFamily="18" charset="0"/>
                  </a:rPr>
                  <a:t>，来判断</a:t>
                </a:r>
                <a:r>
                  <a:rPr lang="zh-CN" altLang="en-US" sz="1900" dirty="0">
                    <a:latin typeface="Times New Roman" panose="02020603050405020304" pitchFamily="18" charset="0"/>
                    <a:cs typeface="Times New Roman" panose="02020603050405020304" pitchFamily="18" charset="0"/>
                  </a:rPr>
                  <a:t>消息</a:t>
                </a:r>
                <a:r>
                  <a:rPr lang="zh-CN" altLang="en-US" sz="1900" b="0" dirty="0">
                    <a:latin typeface="Times New Roman" panose="02020603050405020304" pitchFamily="18" charset="0"/>
                    <a:cs typeface="Times New Roman" panose="02020603050405020304" pitchFamily="18" charset="0"/>
                  </a:rPr>
                  <a:t>是否来自</a:t>
                </a:r>
                <a:r>
                  <a:rPr lang="en-US" altLang="zh-CN" sz="1900" b="0" dirty="0">
                    <a:latin typeface="Times New Roman" panose="02020603050405020304" pitchFamily="18" charset="0"/>
                    <a:cs typeface="Times New Roman" panose="02020603050405020304" pitchFamily="18" charset="0"/>
                  </a:rPr>
                  <a:t>A</a:t>
                </a:r>
                <a:r>
                  <a:rPr lang="zh-CN" altLang="en-US" sz="1900" b="0" dirty="0">
                    <a:latin typeface="Times New Roman" panose="02020603050405020304" pitchFamily="18" charset="0"/>
                    <a:cs typeface="Times New Roman" panose="02020603050405020304" pitchFamily="18" charset="0"/>
                  </a:rPr>
                  <a:t>，以及消息是否完整。</a:t>
                </a:r>
                <a:endParaRPr lang="en-US" altLang="zh-CN" sz="1900" b="0"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 xmlns:a16="http://schemas.microsoft.com/office/drawing/2014/main" xmlns:a14="http://schemas.microsoft.com/office/drawing/2010/main" id="{724391B0-62B3-7C30-1DD4-E35E206F9B43}"/>
                  </a:ext>
                </a:extLst>
              </p:cNvPr>
              <p:cNvSpPr txBox="1">
                <a:spLocks noRot="1" noChangeAspect="1" noMove="1" noResize="1" noEditPoints="1" noAdjustHandles="1" noChangeArrowheads="1" noChangeShapeType="1" noTextEdit="1"/>
              </p:cNvSpPr>
              <p:nvPr/>
            </p:nvSpPr>
            <p:spPr>
              <a:xfrm>
                <a:off x="312517" y="1526485"/>
                <a:ext cx="8479945" cy="2000548"/>
              </a:xfrm>
              <a:prstGeom prst="rect">
                <a:avLst/>
              </a:prstGeom>
              <a:blipFill rotWithShape="0">
                <a:blip r:embed="rId3"/>
                <a:stretch>
                  <a:fillRect l="-575" r="-288" b="-1520"/>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2.1 </a:t>
            </a:r>
            <a:r>
              <a:rPr lang="zh-CN" altLang="en-US" sz="2400" b="1" dirty="0">
                <a:solidFill>
                  <a:srgbClr val="FF0000"/>
                </a:solidFill>
                <a:latin typeface="Times New Roman" panose="02020603050405020304" pitchFamily="18" charset="0"/>
                <a:cs typeface="Times New Roman" panose="02020603050405020304" pitchFamily="18" charset="0"/>
              </a:rPr>
              <a:t>基于单钥体制的认证</a:t>
            </a:r>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B13178AA-6A1A-D2A0-FA71-219FFB7BF872}"/>
                  </a:ext>
                </a:extLst>
              </p:cNvPr>
              <p:cNvSpPr txBox="1"/>
              <p:nvPr/>
            </p:nvSpPr>
            <p:spPr>
              <a:xfrm>
                <a:off x="419840" y="4708620"/>
                <a:ext cx="8479945" cy="1485022"/>
              </a:xfrm>
              <a:prstGeom prst="rect">
                <a:avLst/>
              </a:prstGeom>
              <a:noFill/>
            </p:spPr>
            <p:txBody>
              <a:bodyPr wrap="square" rtlCol="0">
                <a:spAutoFit/>
              </a:bodyPr>
              <a:lstStyle/>
              <a:p>
                <a:pPr marL="457200" indent="-457200">
                  <a:lnSpc>
                    <a:spcPct val="150000"/>
                  </a:lnSpc>
                  <a:spcBef>
                    <a:spcPts val="600"/>
                  </a:spcBef>
                  <a:buFont typeface="Wingdings" panose="05000000000000000000" pitchFamily="2" charset="2"/>
                  <a:buChar char="l"/>
                </a:pPr>
                <a:r>
                  <a:rPr lang="zh-CN" altLang="en-US" sz="1900" b="1" dirty="0">
                    <a:latin typeface="Times New Roman" panose="02020603050405020304" pitchFamily="18" charset="0"/>
                    <a:cs typeface="Times New Roman" panose="02020603050405020304" pitchFamily="18" charset="0"/>
                  </a:rPr>
                  <a:t>认证性：</a:t>
                </a:r>
                <a:r>
                  <a:rPr lang="zh-CN" altLang="en-US" sz="1900" dirty="0">
                    <a:latin typeface="Times New Roman" panose="02020603050405020304" pitchFamily="18" charset="0"/>
                    <a:cs typeface="Times New Roman" panose="02020603050405020304" pitchFamily="18" charset="0"/>
                  </a:rPr>
                  <a:t>只有 </a:t>
                </a:r>
                <a:r>
                  <a:rPr lang="en-US" altLang="zh-CN" sz="1900" dirty="0">
                    <a:latin typeface="Times New Roman" panose="02020603050405020304" pitchFamily="18" charset="0"/>
                    <a:cs typeface="Times New Roman" panose="02020603050405020304" pitchFamily="18" charset="0"/>
                  </a:rPr>
                  <a:t>A </a:t>
                </a:r>
                <a:r>
                  <a:rPr lang="zh-CN" altLang="en-US" sz="1900" dirty="0">
                    <a:latin typeface="Times New Roman" panose="02020603050405020304" pitchFamily="18" charset="0"/>
                    <a:cs typeface="Times New Roman" panose="02020603050405020304" pitchFamily="18" charset="0"/>
                  </a:rPr>
                  <a:t>和 </a:t>
                </a:r>
                <a:r>
                  <a:rPr lang="en-US" altLang="zh-CN" sz="1900" dirty="0">
                    <a:latin typeface="Times New Roman" panose="02020603050405020304" pitchFamily="18" charset="0"/>
                    <a:cs typeface="Times New Roman" panose="02020603050405020304" pitchFamily="18" charset="0"/>
                  </a:rPr>
                  <a:t>B </a:t>
                </a:r>
                <a:r>
                  <a:rPr lang="zh-CN" altLang="en-US" sz="1900" dirty="0">
                    <a:latin typeface="Times New Roman" panose="02020603050405020304" pitchFamily="18" charset="0"/>
                    <a:cs typeface="Times New Roman" panose="02020603050405020304" pitchFamily="18" charset="0"/>
                  </a:rPr>
                  <a:t>知道密钥</a:t>
                </a:r>
                <a14:m>
                  <m:oMath xmlns:m="http://schemas.openxmlformats.org/officeDocument/2006/math">
                    <m:r>
                      <a:rPr lang="en-US" altLang="zh-CN" sz="1900" b="0" i="0" dirty="0" smtClean="0">
                        <a:latin typeface="Cambria Math" panose="02040503050406030204" pitchFamily="18" charset="0"/>
                        <a:cs typeface="Times New Roman" panose="02020603050405020304" pitchFamily="18" charset="0"/>
                      </a:rPr>
                      <m:t> </m:t>
                    </m:r>
                    <m:r>
                      <a:rPr lang="en-US" altLang="zh-CN" sz="1900" b="0" i="1" dirty="0" smtClean="0">
                        <a:latin typeface="Cambria Math" panose="02040503050406030204" pitchFamily="18" charset="0"/>
                        <a:cs typeface="Times New Roman" panose="02020603050405020304" pitchFamily="18" charset="0"/>
                      </a:rPr>
                      <m:t>𝐾</m:t>
                    </m:r>
                  </m:oMath>
                </a14:m>
                <a:r>
                  <a:rPr lang="zh-CN" altLang="en-US" sz="1900" dirty="0">
                    <a:latin typeface="Times New Roman" panose="02020603050405020304" pitchFamily="18" charset="0"/>
                    <a:cs typeface="Times New Roman" panose="02020603050405020304" pitchFamily="18" charset="0"/>
                  </a:rPr>
                  <a:t>，消息只能发自 </a:t>
                </a:r>
                <a:r>
                  <a:rPr lang="en-US" altLang="zh-CN" sz="1900" dirty="0">
                    <a:latin typeface="Times New Roman" panose="02020603050405020304" pitchFamily="18" charset="0"/>
                    <a:cs typeface="Times New Roman" panose="02020603050405020304" pitchFamily="18" charset="0"/>
                  </a:rPr>
                  <a:t>A</a:t>
                </a:r>
                <a:r>
                  <a:rPr lang="zh-CN" altLang="en-US" sz="1900" dirty="0">
                    <a:latin typeface="Times New Roman" panose="02020603050405020304" pitchFamily="18" charset="0"/>
                    <a:cs typeface="Times New Roman" panose="02020603050405020304" pitchFamily="18" charset="0"/>
                  </a:rPr>
                  <a:t>，且传输过程中消息未被改变</a:t>
                </a:r>
                <a:endParaRPr lang="en-US" altLang="zh-CN" sz="19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Wingdings" panose="05000000000000000000" pitchFamily="2" charset="2"/>
                  <a:buChar char="l"/>
                </a:pPr>
                <a:r>
                  <a:rPr lang="zh-CN" altLang="en-US" sz="1900" b="1" dirty="0">
                    <a:latin typeface="Times New Roman" panose="02020603050405020304" pitchFamily="18" charset="0"/>
                    <a:cs typeface="Times New Roman" panose="02020603050405020304" pitchFamily="18" charset="0"/>
                  </a:rPr>
                  <a:t>可否认性：</a:t>
                </a:r>
                <a:r>
                  <a:rPr lang="zh-CN" altLang="en-US" sz="1900" dirty="0">
                    <a:latin typeface="Times New Roman" panose="02020603050405020304" pitchFamily="18" charset="0"/>
                    <a:cs typeface="Times New Roman" panose="02020603050405020304" pitchFamily="18" charset="0"/>
                  </a:rPr>
                  <a:t>接收方 </a:t>
                </a:r>
                <a:r>
                  <a:rPr lang="en-US" altLang="zh-CN" sz="1900" dirty="0">
                    <a:latin typeface="Times New Roman" panose="02020603050405020304" pitchFamily="18" charset="0"/>
                    <a:cs typeface="Times New Roman" panose="02020603050405020304" pitchFamily="18" charset="0"/>
                  </a:rPr>
                  <a:t>B </a:t>
                </a:r>
                <a:r>
                  <a:rPr lang="zh-CN" altLang="en-US" sz="1900" dirty="0">
                    <a:latin typeface="Times New Roman" panose="02020603050405020304" pitchFamily="18" charset="0"/>
                    <a:cs typeface="Times New Roman" panose="02020603050405020304" pitchFamily="18" charset="0"/>
                  </a:rPr>
                  <a:t>可以</a:t>
                </a:r>
                <a:r>
                  <a:rPr lang="zh-CN" altLang="en-US" sz="1900" b="1" dirty="0">
                    <a:solidFill>
                      <a:srgbClr val="FF0000"/>
                    </a:solidFill>
                    <a:latin typeface="Times New Roman" panose="02020603050405020304" pitchFamily="18" charset="0"/>
                    <a:cs typeface="Times New Roman" panose="02020603050405020304" pitchFamily="18" charset="0"/>
                  </a:rPr>
                  <a:t>伪造通信</a:t>
                </a:r>
                <a:r>
                  <a:rPr lang="zh-CN" altLang="en-US" sz="1900" dirty="0">
                    <a:latin typeface="Times New Roman" panose="02020603050405020304" pitchFamily="18" charset="0"/>
                    <a:cs typeface="Times New Roman" panose="02020603050405020304" pitchFamily="18" charset="0"/>
                  </a:rPr>
                  <a:t>，发送方 </a:t>
                </a:r>
                <a:r>
                  <a:rPr lang="en-US" altLang="zh-CN" sz="1900" dirty="0">
                    <a:latin typeface="Times New Roman" panose="02020603050405020304" pitchFamily="18" charset="0"/>
                    <a:cs typeface="Times New Roman" panose="02020603050405020304" pitchFamily="18" charset="0"/>
                  </a:rPr>
                  <a:t>A </a:t>
                </a:r>
                <a:r>
                  <a:rPr lang="zh-CN" altLang="en-US" sz="1900" dirty="0">
                    <a:latin typeface="Times New Roman" panose="02020603050405020304" pitchFamily="18" charset="0"/>
                    <a:cs typeface="Times New Roman" panose="02020603050405020304" pitchFamily="18" charset="0"/>
                  </a:rPr>
                  <a:t>也可以</a:t>
                </a:r>
                <a:r>
                  <a:rPr lang="zh-CN" altLang="en-US" sz="1900" b="1" dirty="0">
                    <a:solidFill>
                      <a:srgbClr val="FF0000"/>
                    </a:solidFill>
                    <a:latin typeface="Times New Roman" panose="02020603050405020304" pitchFamily="18" charset="0"/>
                    <a:cs typeface="Times New Roman" panose="02020603050405020304" pitchFamily="18" charset="0"/>
                  </a:rPr>
                  <a:t>抵赖消息的发送</a:t>
                </a:r>
                <a:endParaRPr lang="en-US" altLang="zh-CN" sz="19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8" name="文本框 7">
                <a:extLst>
                  <a:ext uri="{FF2B5EF4-FFF2-40B4-BE49-F238E27FC236}">
                    <a16:creationId xmlns:a16="http://schemas.microsoft.com/office/drawing/2014/main" id="{B13178AA-6A1A-D2A0-FA71-219FFB7BF872}"/>
                  </a:ext>
                </a:extLst>
              </p:cNvPr>
              <p:cNvSpPr txBox="1">
                <a:spLocks noRot="1" noChangeAspect="1" noMove="1" noResize="1" noEditPoints="1" noAdjustHandles="1" noChangeArrowheads="1" noChangeShapeType="1" noTextEdit="1"/>
              </p:cNvSpPr>
              <p:nvPr/>
            </p:nvSpPr>
            <p:spPr>
              <a:xfrm>
                <a:off x="419840" y="4708620"/>
                <a:ext cx="8479945" cy="1485022"/>
              </a:xfrm>
              <a:prstGeom prst="rect">
                <a:avLst/>
              </a:prstGeom>
              <a:blipFill>
                <a:blip r:embed="rId4"/>
                <a:stretch>
                  <a:fillRect l="-599" b="-3390"/>
                </a:stretch>
              </a:blipFill>
            </p:spPr>
            <p:txBody>
              <a:bodyPr/>
              <a:lstStyle/>
              <a:p>
                <a:r>
                  <a:rPr lang="zh-CN" altLang="en-US">
                    <a:noFill/>
                  </a:rPr>
                  <a:t> </a:t>
                </a:r>
              </a:p>
            </p:txBody>
          </p:sp>
        </mc:Fallback>
      </mc:AlternateContent>
      <p:pic>
        <p:nvPicPr>
          <p:cNvPr id="10" name="图形 9" descr="男学生 轮廓">
            <a:extLst>
              <a:ext uri="{FF2B5EF4-FFF2-40B4-BE49-F238E27FC236}">
                <a16:creationId xmlns:a16="http://schemas.microsoft.com/office/drawing/2014/main" id="{9828884C-2B38-B091-B839-7DA10FD601A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02916" y="3429000"/>
            <a:ext cx="914400" cy="914400"/>
          </a:xfrm>
          <a:prstGeom prst="rect">
            <a:avLst/>
          </a:prstGeom>
        </p:spPr>
      </p:pic>
      <p:pic>
        <p:nvPicPr>
          <p:cNvPr id="12" name="图形 11" descr="女学生 轮廓">
            <a:extLst>
              <a:ext uri="{FF2B5EF4-FFF2-40B4-BE49-F238E27FC236}">
                <a16:creationId xmlns:a16="http://schemas.microsoft.com/office/drawing/2014/main" id="{55D7202A-E83E-EB60-5B4B-F15C6ABFD574}"/>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7276" y="3464695"/>
            <a:ext cx="914400" cy="914400"/>
          </a:xfrm>
          <a:prstGeom prst="rect">
            <a:avLst/>
          </a:prstGeom>
        </p:spPr>
      </p:pic>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88578D9F-6FCF-0015-51D2-A0F9D3A668F5}"/>
                  </a:ext>
                </a:extLst>
              </p:cNvPr>
              <p:cNvSpPr/>
              <p:nvPr/>
            </p:nvSpPr>
            <p:spPr>
              <a:xfrm>
                <a:off x="2007480" y="3678147"/>
                <a:ext cx="433632" cy="391797"/>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𝑀</m:t>
                      </m:r>
                    </m:oMath>
                  </m:oMathPara>
                </a14:m>
                <a:endParaRPr lang="zh-CN" altLang="en-US" dirty="0"/>
              </a:p>
            </p:txBody>
          </p:sp>
        </mc:Choice>
        <mc:Fallback xmlns="">
          <p:sp>
            <p:nvSpPr>
              <p:cNvPr id="13" name="矩形 12">
                <a:extLst>
                  <a:ext uri="{FF2B5EF4-FFF2-40B4-BE49-F238E27FC236}">
                    <a16:creationId xmlns:a16="http://schemas.microsoft.com/office/drawing/2014/main" id="{88578D9F-6FCF-0015-51D2-A0F9D3A668F5}"/>
                  </a:ext>
                </a:extLst>
              </p:cNvPr>
              <p:cNvSpPr>
                <a:spLocks noRot="1" noChangeAspect="1" noMove="1" noResize="1" noEditPoints="1" noAdjustHandles="1" noChangeArrowheads="1" noChangeShapeType="1" noTextEdit="1"/>
              </p:cNvSpPr>
              <p:nvPr/>
            </p:nvSpPr>
            <p:spPr>
              <a:xfrm>
                <a:off x="2007480" y="3678147"/>
                <a:ext cx="433632" cy="391797"/>
              </a:xfrm>
              <a:prstGeom prst="rect">
                <a:avLst/>
              </a:prstGeom>
              <a:blipFill>
                <a:blip r:embed="rId9"/>
                <a:stretch>
                  <a:fillRect/>
                </a:stretch>
              </a:blipFill>
              <a:ln/>
            </p:spPr>
            <p:txBody>
              <a:bodyPr/>
              <a:lstStyle/>
              <a:p>
                <a:r>
                  <a:rPr lang="zh-CN" altLang="en-US">
                    <a:noFill/>
                  </a:rPr>
                  <a:t> </a:t>
                </a:r>
              </a:p>
            </p:txBody>
          </p:sp>
        </mc:Fallback>
      </mc:AlternateContent>
      <p:cxnSp>
        <p:nvCxnSpPr>
          <p:cNvPr id="15" name="直接箭头连接符 14">
            <a:extLst>
              <a:ext uri="{FF2B5EF4-FFF2-40B4-BE49-F238E27FC236}">
                <a16:creationId xmlns:a16="http://schemas.microsoft.com/office/drawing/2014/main" id="{B4BE980B-78C4-0E75-F503-A362F32100C6}"/>
              </a:ext>
            </a:extLst>
          </p:cNvPr>
          <p:cNvCxnSpPr>
            <a:cxnSpLocks/>
            <a:stCxn id="13" idx="3"/>
            <a:endCxn id="16" idx="1"/>
          </p:cNvCxnSpPr>
          <p:nvPr/>
        </p:nvCxnSpPr>
        <p:spPr>
          <a:xfrm>
            <a:off x="2441112" y="3874046"/>
            <a:ext cx="488608" cy="1"/>
          </a:xfrm>
          <a:prstGeom prst="straightConnector1">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16" name="流程图: 决策 15">
                <a:extLst>
                  <a:ext uri="{FF2B5EF4-FFF2-40B4-BE49-F238E27FC236}">
                    <a16:creationId xmlns:a16="http://schemas.microsoft.com/office/drawing/2014/main" id="{9B570B59-1827-B92F-D0FD-0F0AF76D5CAA}"/>
                  </a:ext>
                </a:extLst>
              </p:cNvPr>
              <p:cNvSpPr/>
              <p:nvPr/>
            </p:nvSpPr>
            <p:spPr>
              <a:xfrm>
                <a:off x="2929720" y="3647803"/>
                <a:ext cx="612742" cy="452487"/>
              </a:xfrm>
              <a:prstGeom prst="flowChartDecision">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𝐸</m:t>
                      </m:r>
                    </m:oMath>
                  </m:oMathPara>
                </a14:m>
                <a:endParaRPr lang="zh-CN" altLang="en-US" dirty="0"/>
              </a:p>
            </p:txBody>
          </p:sp>
        </mc:Choice>
        <mc:Fallback xmlns="">
          <p:sp>
            <p:nvSpPr>
              <p:cNvPr id="16" name="流程图: 决策 15">
                <a:extLst>
                  <a:ext uri="{FF2B5EF4-FFF2-40B4-BE49-F238E27FC236}">
                    <a16:creationId xmlns:a16="http://schemas.microsoft.com/office/drawing/2014/main" id="{9B570B59-1827-B92F-D0FD-0F0AF76D5CAA}"/>
                  </a:ext>
                </a:extLst>
              </p:cNvPr>
              <p:cNvSpPr>
                <a:spLocks noRot="1" noChangeAspect="1" noMove="1" noResize="1" noEditPoints="1" noAdjustHandles="1" noChangeArrowheads="1" noChangeShapeType="1" noTextEdit="1"/>
              </p:cNvSpPr>
              <p:nvPr/>
            </p:nvSpPr>
            <p:spPr>
              <a:xfrm>
                <a:off x="2929720" y="3647803"/>
                <a:ext cx="612742" cy="452487"/>
              </a:xfrm>
              <a:prstGeom prst="flowChartDecision">
                <a:avLst/>
              </a:prstGeom>
              <a:blipFill>
                <a:blip r:embed="rId10"/>
                <a:stretch>
                  <a:fillRect/>
                </a:stretch>
              </a:blipFill>
              <a:ln/>
            </p:spPr>
            <p:txBody>
              <a:bodyPr/>
              <a:lstStyle/>
              <a:p>
                <a:r>
                  <a:rPr lang="zh-CN" altLang="en-US">
                    <a:noFill/>
                  </a:rPr>
                  <a:t> </a:t>
                </a:r>
              </a:p>
            </p:txBody>
          </p:sp>
        </mc:Fallback>
      </mc:AlternateContent>
      <p:cxnSp>
        <p:nvCxnSpPr>
          <p:cNvPr id="24" name="直接箭头连接符 23">
            <a:extLst>
              <a:ext uri="{FF2B5EF4-FFF2-40B4-BE49-F238E27FC236}">
                <a16:creationId xmlns:a16="http://schemas.microsoft.com/office/drawing/2014/main" id="{A1C8EFBE-0A92-842C-9F5A-E8427D53249E}"/>
              </a:ext>
            </a:extLst>
          </p:cNvPr>
          <p:cNvCxnSpPr>
            <a:cxnSpLocks/>
          </p:cNvCxnSpPr>
          <p:nvPr/>
        </p:nvCxnSpPr>
        <p:spPr>
          <a:xfrm flipV="1">
            <a:off x="3262573" y="4070394"/>
            <a:ext cx="0" cy="309972"/>
          </a:xfrm>
          <a:prstGeom prst="straightConnector1">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7341DDB9-395C-0FF4-F3D0-391499476C51}"/>
                  </a:ext>
                </a:extLst>
              </p:cNvPr>
              <p:cNvSpPr txBox="1"/>
              <p:nvPr/>
            </p:nvSpPr>
            <p:spPr>
              <a:xfrm>
                <a:off x="3272490" y="4047580"/>
                <a:ext cx="4176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𝐾</m:t>
                      </m:r>
                    </m:oMath>
                  </m:oMathPara>
                </a14:m>
                <a:endParaRPr lang="zh-CN" altLang="en-US" dirty="0"/>
              </a:p>
            </p:txBody>
          </p:sp>
        </mc:Choice>
        <mc:Fallback xmlns="">
          <p:sp>
            <p:nvSpPr>
              <p:cNvPr id="26" name="文本框 25">
                <a:extLst>
                  <a:ext uri="{FF2B5EF4-FFF2-40B4-BE49-F238E27FC236}">
                    <a16:creationId xmlns:a16="http://schemas.microsoft.com/office/drawing/2014/main" id="{7341DDB9-395C-0FF4-F3D0-391499476C51}"/>
                  </a:ext>
                </a:extLst>
              </p:cNvPr>
              <p:cNvSpPr txBox="1">
                <a:spLocks noRot="1" noChangeAspect="1" noMove="1" noResize="1" noEditPoints="1" noAdjustHandles="1" noChangeArrowheads="1" noChangeShapeType="1" noTextEdit="1"/>
              </p:cNvSpPr>
              <p:nvPr/>
            </p:nvSpPr>
            <p:spPr>
              <a:xfrm>
                <a:off x="3272490" y="4047580"/>
                <a:ext cx="417678"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圆角 26">
                <a:extLst>
                  <a:ext uri="{FF2B5EF4-FFF2-40B4-BE49-F238E27FC236}">
                    <a16:creationId xmlns:a16="http://schemas.microsoft.com/office/drawing/2014/main" id="{AFAE1940-1CD4-5EF3-FF7D-13DEB0594C50}"/>
                  </a:ext>
                </a:extLst>
              </p:cNvPr>
              <p:cNvSpPr/>
              <p:nvPr/>
            </p:nvSpPr>
            <p:spPr>
              <a:xfrm>
                <a:off x="4013117" y="3672316"/>
                <a:ext cx="1121793" cy="452487"/>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𝐾</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oMath>
                  </m:oMathPara>
                </a14:m>
                <a:endParaRPr lang="en-US" altLang="zh-CN" b="0" dirty="0"/>
              </a:p>
            </p:txBody>
          </p:sp>
        </mc:Choice>
        <mc:Fallback xmlns="">
          <p:sp>
            <p:nvSpPr>
              <p:cNvPr id="27" name="矩形: 圆角 26">
                <a:extLst>
                  <a:ext uri="{FF2B5EF4-FFF2-40B4-BE49-F238E27FC236}">
                    <a16:creationId xmlns:a16="http://schemas.microsoft.com/office/drawing/2014/main" id="{AFAE1940-1CD4-5EF3-FF7D-13DEB0594C50}"/>
                  </a:ext>
                </a:extLst>
              </p:cNvPr>
              <p:cNvSpPr>
                <a:spLocks noRot="1" noChangeAspect="1" noMove="1" noResize="1" noEditPoints="1" noAdjustHandles="1" noChangeArrowheads="1" noChangeShapeType="1" noTextEdit="1"/>
              </p:cNvSpPr>
              <p:nvPr/>
            </p:nvSpPr>
            <p:spPr>
              <a:xfrm>
                <a:off x="4013117" y="3672316"/>
                <a:ext cx="1121793" cy="452487"/>
              </a:xfrm>
              <a:prstGeom prst="roundRect">
                <a:avLst/>
              </a:prstGeom>
              <a:blipFill>
                <a:blip r:embed="rId12"/>
                <a:stretch>
                  <a:fillRect b="-1299"/>
                </a:stretch>
              </a:blipFill>
              <a:ln/>
            </p:spPr>
            <p:txBody>
              <a:bodyPr/>
              <a:lstStyle/>
              <a:p>
                <a:r>
                  <a:rPr lang="zh-CN" altLang="en-US">
                    <a:noFill/>
                  </a:rPr>
                  <a:t> </a:t>
                </a:r>
              </a:p>
            </p:txBody>
          </p:sp>
        </mc:Fallback>
      </mc:AlternateContent>
      <p:cxnSp>
        <p:nvCxnSpPr>
          <p:cNvPr id="28" name="直接箭头连接符 27">
            <a:extLst>
              <a:ext uri="{FF2B5EF4-FFF2-40B4-BE49-F238E27FC236}">
                <a16:creationId xmlns:a16="http://schemas.microsoft.com/office/drawing/2014/main" id="{35D33542-89D5-AEC5-E113-50813CE177FA}"/>
              </a:ext>
            </a:extLst>
          </p:cNvPr>
          <p:cNvCxnSpPr>
            <a:cxnSpLocks/>
          </p:cNvCxnSpPr>
          <p:nvPr/>
        </p:nvCxnSpPr>
        <p:spPr>
          <a:xfrm>
            <a:off x="3542462" y="3886201"/>
            <a:ext cx="488608" cy="1"/>
          </a:xfrm>
          <a:prstGeom prst="straightConnector1">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p:cxnSp>
        <p:nvCxnSpPr>
          <p:cNvPr id="30" name="直接箭头连接符 29">
            <a:extLst>
              <a:ext uri="{FF2B5EF4-FFF2-40B4-BE49-F238E27FC236}">
                <a16:creationId xmlns:a16="http://schemas.microsoft.com/office/drawing/2014/main" id="{0D50A2B5-67C7-DC80-85AF-E6AC64386E1D}"/>
              </a:ext>
            </a:extLst>
          </p:cNvPr>
          <p:cNvCxnSpPr>
            <a:cxnSpLocks/>
            <a:endCxn id="31" idx="1"/>
          </p:cNvCxnSpPr>
          <p:nvPr/>
        </p:nvCxnSpPr>
        <p:spPr>
          <a:xfrm>
            <a:off x="5134910" y="3886200"/>
            <a:ext cx="488608" cy="1"/>
          </a:xfrm>
          <a:prstGeom prst="straightConnector1">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31" name="流程图: 决策 30">
                <a:extLst>
                  <a:ext uri="{FF2B5EF4-FFF2-40B4-BE49-F238E27FC236}">
                    <a16:creationId xmlns:a16="http://schemas.microsoft.com/office/drawing/2014/main" id="{6C11AB02-5B80-9E1C-A526-2F2B000B3697}"/>
                  </a:ext>
                </a:extLst>
              </p:cNvPr>
              <p:cNvSpPr/>
              <p:nvPr/>
            </p:nvSpPr>
            <p:spPr>
              <a:xfrm>
                <a:off x="5623518" y="3659957"/>
                <a:ext cx="612742" cy="452487"/>
              </a:xfrm>
              <a:prstGeom prst="flowChartDecision">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𝐷</m:t>
                      </m:r>
                    </m:oMath>
                  </m:oMathPara>
                </a14:m>
                <a:endParaRPr lang="zh-CN" altLang="en-US" dirty="0"/>
              </a:p>
            </p:txBody>
          </p:sp>
        </mc:Choice>
        <mc:Fallback xmlns="">
          <p:sp>
            <p:nvSpPr>
              <p:cNvPr id="31" name="流程图: 决策 30">
                <a:extLst>
                  <a:ext uri="{FF2B5EF4-FFF2-40B4-BE49-F238E27FC236}">
                    <a16:creationId xmlns:a16="http://schemas.microsoft.com/office/drawing/2014/main" id="{6C11AB02-5B80-9E1C-A526-2F2B000B3697}"/>
                  </a:ext>
                </a:extLst>
              </p:cNvPr>
              <p:cNvSpPr>
                <a:spLocks noRot="1" noChangeAspect="1" noMove="1" noResize="1" noEditPoints="1" noAdjustHandles="1" noChangeArrowheads="1" noChangeShapeType="1" noTextEdit="1"/>
              </p:cNvSpPr>
              <p:nvPr/>
            </p:nvSpPr>
            <p:spPr>
              <a:xfrm>
                <a:off x="5623518" y="3659957"/>
                <a:ext cx="612742" cy="452487"/>
              </a:xfrm>
              <a:prstGeom prst="flowChartDecision">
                <a:avLst/>
              </a:prstGeom>
              <a:blipFill>
                <a:blip r:embed="rId13"/>
                <a:stretch>
                  <a:fillRect/>
                </a:stretch>
              </a:blipFill>
              <a:ln/>
            </p:spPr>
            <p:txBody>
              <a:bodyPr/>
              <a:lstStyle/>
              <a:p>
                <a:r>
                  <a:rPr lang="zh-CN" altLang="en-US">
                    <a:noFill/>
                  </a:rPr>
                  <a:t> </a:t>
                </a:r>
              </a:p>
            </p:txBody>
          </p:sp>
        </mc:Fallback>
      </mc:AlternateContent>
      <p:cxnSp>
        <p:nvCxnSpPr>
          <p:cNvPr id="32" name="直接箭头连接符 31">
            <a:extLst>
              <a:ext uri="{FF2B5EF4-FFF2-40B4-BE49-F238E27FC236}">
                <a16:creationId xmlns:a16="http://schemas.microsoft.com/office/drawing/2014/main" id="{78E1ABFB-A251-129B-FA7C-ED495DF5F402}"/>
              </a:ext>
            </a:extLst>
          </p:cNvPr>
          <p:cNvCxnSpPr>
            <a:cxnSpLocks/>
          </p:cNvCxnSpPr>
          <p:nvPr/>
        </p:nvCxnSpPr>
        <p:spPr>
          <a:xfrm flipV="1">
            <a:off x="5936174" y="4081277"/>
            <a:ext cx="0" cy="309972"/>
          </a:xfrm>
          <a:prstGeom prst="straightConnector1">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4C50C4CB-8FFA-A65C-3740-1B60A0323B66}"/>
                  </a:ext>
                </a:extLst>
              </p:cNvPr>
              <p:cNvSpPr txBox="1"/>
              <p:nvPr/>
            </p:nvSpPr>
            <p:spPr>
              <a:xfrm>
                <a:off x="5960339" y="4062865"/>
                <a:ext cx="4176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𝐾</m:t>
                      </m:r>
                    </m:oMath>
                  </m:oMathPara>
                </a14:m>
                <a:endParaRPr lang="zh-CN" altLang="en-US" dirty="0"/>
              </a:p>
            </p:txBody>
          </p:sp>
        </mc:Choice>
        <mc:Fallback xmlns="">
          <p:sp>
            <p:nvSpPr>
              <p:cNvPr id="33" name="文本框 32">
                <a:extLst>
                  <a:ext uri="{FF2B5EF4-FFF2-40B4-BE49-F238E27FC236}">
                    <a16:creationId xmlns:a16="http://schemas.microsoft.com/office/drawing/2014/main" id="{4C50C4CB-8FFA-A65C-3740-1B60A0323B66}"/>
                  </a:ext>
                </a:extLst>
              </p:cNvPr>
              <p:cNvSpPr txBox="1">
                <a:spLocks noRot="1" noChangeAspect="1" noMove="1" noResize="1" noEditPoints="1" noAdjustHandles="1" noChangeArrowheads="1" noChangeShapeType="1" noTextEdit="1"/>
              </p:cNvSpPr>
              <p:nvPr/>
            </p:nvSpPr>
            <p:spPr>
              <a:xfrm>
                <a:off x="5960339" y="4062865"/>
                <a:ext cx="417678" cy="369332"/>
              </a:xfrm>
              <a:prstGeom prst="rect">
                <a:avLst/>
              </a:prstGeom>
              <a:blipFill>
                <a:blip r:embed="rId14"/>
                <a:stretch>
                  <a:fillRect/>
                </a:stretch>
              </a:blipFill>
            </p:spPr>
            <p:txBody>
              <a:bodyPr/>
              <a:lstStyle/>
              <a:p>
                <a:r>
                  <a:rPr lang="zh-CN" altLang="en-US">
                    <a:noFill/>
                  </a:rPr>
                  <a:t> </a:t>
                </a:r>
              </a:p>
            </p:txBody>
          </p:sp>
        </mc:Fallback>
      </mc:AlternateContent>
      <p:cxnSp>
        <p:nvCxnSpPr>
          <p:cNvPr id="34" name="直接箭头连接符 33">
            <a:extLst>
              <a:ext uri="{FF2B5EF4-FFF2-40B4-BE49-F238E27FC236}">
                <a16:creationId xmlns:a16="http://schemas.microsoft.com/office/drawing/2014/main" id="{CE21614C-A20E-5606-C6D0-A91E4808BB0C}"/>
              </a:ext>
            </a:extLst>
          </p:cNvPr>
          <p:cNvCxnSpPr>
            <a:cxnSpLocks/>
          </p:cNvCxnSpPr>
          <p:nvPr/>
        </p:nvCxnSpPr>
        <p:spPr>
          <a:xfrm>
            <a:off x="6236260" y="3898355"/>
            <a:ext cx="488608" cy="1"/>
          </a:xfrm>
          <a:prstGeom prst="straightConnector1">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552E8A2E-4230-58DE-CB3B-E85C602C3628}"/>
                  </a:ext>
                </a:extLst>
              </p:cNvPr>
              <p:cNvSpPr/>
              <p:nvPr/>
            </p:nvSpPr>
            <p:spPr>
              <a:xfrm>
                <a:off x="6724868" y="3669791"/>
                <a:ext cx="433632" cy="391797"/>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𝑀</m:t>
                      </m:r>
                    </m:oMath>
                  </m:oMathPara>
                </a14:m>
                <a:endParaRPr lang="zh-CN" altLang="en-US" dirty="0"/>
              </a:p>
            </p:txBody>
          </p:sp>
        </mc:Choice>
        <mc:Fallback xmlns="">
          <p:sp>
            <p:nvSpPr>
              <p:cNvPr id="35" name="矩形 34">
                <a:extLst>
                  <a:ext uri="{FF2B5EF4-FFF2-40B4-BE49-F238E27FC236}">
                    <a16:creationId xmlns:a16="http://schemas.microsoft.com/office/drawing/2014/main" id="{552E8A2E-4230-58DE-CB3B-E85C602C3628}"/>
                  </a:ext>
                </a:extLst>
              </p:cNvPr>
              <p:cNvSpPr>
                <a:spLocks noRot="1" noChangeAspect="1" noMove="1" noResize="1" noEditPoints="1" noAdjustHandles="1" noChangeArrowheads="1" noChangeShapeType="1" noTextEdit="1"/>
              </p:cNvSpPr>
              <p:nvPr/>
            </p:nvSpPr>
            <p:spPr>
              <a:xfrm>
                <a:off x="6724868" y="3669791"/>
                <a:ext cx="433632" cy="391797"/>
              </a:xfrm>
              <a:prstGeom prst="rect">
                <a:avLst/>
              </a:prstGeom>
              <a:blipFill>
                <a:blip r:embed="rId15"/>
                <a:stretch>
                  <a:fillRect/>
                </a:stretch>
              </a:blipFill>
              <a:ln/>
            </p:spPr>
            <p:txBody>
              <a:bodyPr/>
              <a:lstStyle/>
              <a:p>
                <a:r>
                  <a:rPr lang="zh-CN" altLang="en-US">
                    <a:noFill/>
                  </a:rPr>
                  <a:t> </a:t>
                </a:r>
              </a:p>
            </p:txBody>
          </p:sp>
        </mc:Fallback>
      </mc:AlternateContent>
    </p:spTree>
    <p:extLst>
      <p:ext uri="{BB962C8B-B14F-4D97-AF65-F5344CB8AC3E}">
        <p14:creationId xmlns:p14="http://schemas.microsoft.com/office/powerpoint/2010/main" val="1143640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8</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2.2 </a:t>
            </a:r>
            <a:r>
              <a:rPr lang="zh-CN" altLang="en-US" sz="2400" b="1" dirty="0">
                <a:solidFill>
                  <a:srgbClr val="FF0000"/>
                </a:solidFill>
                <a:latin typeface="Times New Roman" panose="02020603050405020304" pitchFamily="18" charset="0"/>
                <a:cs typeface="Times New Roman" panose="02020603050405020304" pitchFamily="18" charset="0"/>
              </a:rPr>
              <a:t>基于消息认证码的认证</a:t>
            </a:r>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E4C51DE6-60B1-EE44-2A57-B42419475092}"/>
                  </a:ext>
                </a:extLst>
              </p:cNvPr>
              <p:cNvSpPr txBox="1"/>
              <p:nvPr/>
            </p:nvSpPr>
            <p:spPr>
              <a:xfrm>
                <a:off x="312517" y="1556965"/>
                <a:ext cx="8479945" cy="5101397"/>
              </a:xfrm>
              <a:prstGeom prst="rect">
                <a:avLst/>
              </a:prstGeom>
              <a:noFill/>
            </p:spPr>
            <p:txBody>
              <a:bodyPr wrap="square" rtlCol="0">
                <a:spAutoFit/>
              </a:bodyPr>
              <a:lstStyle/>
              <a:p>
                <a:pPr algn="just">
                  <a:lnSpc>
                    <a:spcPct val="130000"/>
                  </a:lnSpc>
                  <a:spcBef>
                    <a:spcPts val="600"/>
                  </a:spcBef>
                </a:pPr>
                <a:r>
                  <a:rPr lang="zh-CN" altLang="en-US" sz="2000" dirty="0">
                    <a:solidFill>
                      <a:srgbClr val="FF0000"/>
                    </a:solidFill>
                    <a:latin typeface="Times New Roman" panose="02020603050405020304" pitchFamily="18" charset="0"/>
                    <a:cs typeface="Times New Roman" panose="02020603050405020304" pitchFamily="18" charset="0"/>
                  </a:rPr>
                  <a:t>        </a:t>
                </a:r>
                <a:r>
                  <a:rPr lang="zh-CN" altLang="en-US" sz="2000" dirty="0">
                    <a:solidFill>
                      <a:srgbClr val="2A2A2A"/>
                    </a:solidFill>
                    <a:latin typeface="Times New Roman" panose="02020603050405020304" pitchFamily="18" charset="0"/>
                    <a:cs typeface="Times New Roman" panose="02020603050405020304" pitchFamily="18" charset="0"/>
                  </a:rPr>
                  <a:t>消息认证码 </a:t>
                </a:r>
                <a:r>
                  <a:rPr lang="en-US" altLang="zh-CN" sz="2000" dirty="0">
                    <a:solidFill>
                      <a:srgbClr val="2A2A2A"/>
                    </a:solidFill>
                    <a:latin typeface="Times New Roman" panose="02020603050405020304" pitchFamily="18" charset="0"/>
                    <a:cs typeface="Times New Roman" panose="02020603050405020304" pitchFamily="18" charset="0"/>
                  </a:rPr>
                  <a:t>(Message Authentication Code, MAC) </a:t>
                </a:r>
                <a:r>
                  <a:rPr lang="zh-CN" altLang="en-US" sz="2000" dirty="0">
                    <a:solidFill>
                      <a:srgbClr val="2A2A2A"/>
                    </a:solidFill>
                    <a:latin typeface="Times New Roman" panose="02020603050405020304" pitchFamily="18" charset="0"/>
                    <a:cs typeface="Times New Roman" panose="02020603050405020304" pitchFamily="18" charset="0"/>
                  </a:rPr>
                  <a:t>是一个</a:t>
                </a:r>
                <a:r>
                  <a:rPr lang="zh-CN" altLang="en-US" sz="2000" dirty="0">
                    <a:latin typeface="Times New Roman" panose="02020603050405020304" pitchFamily="18" charset="0"/>
                    <a:cs typeface="Times New Roman" panose="02020603050405020304" pitchFamily="18" charset="0"/>
                  </a:rPr>
                  <a:t>提供数据源认证和数据完整性的密码校验值，可以保证消息未被修改。</a:t>
                </a:r>
                <a:endParaRPr lang="en-US" altLang="zh-CN" sz="2000" dirty="0">
                  <a:latin typeface="Times New Roman" panose="02020603050405020304" pitchFamily="18" charset="0"/>
                  <a:cs typeface="Times New Roman" panose="02020603050405020304" pitchFamily="18" charset="0"/>
                </a:endParaRPr>
              </a:p>
              <a:p>
                <a:pPr algn="just">
                  <a:lnSpc>
                    <a:spcPct val="120000"/>
                  </a:lnSpc>
                  <a:spcBef>
                    <a:spcPts val="600"/>
                  </a:spcBef>
                </a:pPr>
                <a:endParaRPr lang="en-US" altLang="zh-CN" sz="2000" dirty="0">
                  <a:latin typeface="Times New Roman" panose="02020603050405020304" pitchFamily="18" charset="0"/>
                  <a:cs typeface="Times New Roman" panose="02020603050405020304" pitchFamily="18" charset="0"/>
                </a:endParaRPr>
              </a:p>
              <a:p>
                <a:pPr algn="just">
                  <a:lnSpc>
                    <a:spcPct val="120000"/>
                  </a:lnSpc>
                  <a:spcBef>
                    <a:spcPts val="600"/>
                  </a:spcBef>
                </a:pPr>
                <a:endParaRPr lang="en-US" altLang="zh-CN" sz="2000" dirty="0">
                  <a:latin typeface="Times New Roman" panose="02020603050405020304" pitchFamily="18" charset="0"/>
                  <a:cs typeface="Times New Roman" panose="02020603050405020304" pitchFamily="18" charset="0"/>
                </a:endParaRPr>
              </a:p>
              <a:p>
                <a:pPr algn="just">
                  <a:lnSpc>
                    <a:spcPct val="120000"/>
                  </a:lnSpc>
                  <a:spcBef>
                    <a:spcPts val="600"/>
                  </a:spcBef>
                </a:pPr>
                <a:endParaRPr lang="en-US" altLang="zh-CN" sz="2000" dirty="0">
                  <a:latin typeface="Times New Roman" panose="02020603050405020304" pitchFamily="18" charset="0"/>
                  <a:cs typeface="Times New Roman" panose="02020603050405020304" pitchFamily="18" charset="0"/>
                </a:endParaRPr>
              </a:p>
              <a:p>
                <a:pPr algn="just">
                  <a:lnSpc>
                    <a:spcPct val="120000"/>
                  </a:lnSpc>
                  <a:spcBef>
                    <a:spcPts val="600"/>
                  </a:spcBef>
                </a:pP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mj-lt"/>
                  <a:buAutoNum type="arabicPeriod"/>
                </a:pPr>
                <a:r>
                  <a:rPr lang="en-US" altLang="zh-CN" sz="1900" dirty="0">
                    <a:latin typeface="Times New Roman" panose="02020603050405020304" pitchFamily="18" charset="0"/>
                    <a:cs typeface="Times New Roman" panose="02020603050405020304" pitchFamily="18" charset="0"/>
                  </a:rPr>
                  <a:t>MAC</a:t>
                </a:r>
                <a:r>
                  <a:rPr lang="zh-CN" altLang="en-US" sz="1900" dirty="0">
                    <a:latin typeface="Times New Roman" panose="02020603050405020304" pitchFamily="18" charset="0"/>
                    <a:cs typeface="Times New Roman" panose="02020603050405020304" pitchFamily="18" charset="0"/>
                  </a:rPr>
                  <a:t>计算取决于消息和</a:t>
                </a:r>
                <a:r>
                  <a:rPr lang="zh-CN" altLang="en-US" sz="1900" dirty="0">
                    <a:solidFill>
                      <a:srgbClr val="0000FF"/>
                    </a:solidFill>
                    <a:latin typeface="Times New Roman" panose="02020603050405020304" pitchFamily="18" charset="0"/>
                    <a:cs typeface="Times New Roman" panose="02020603050405020304" pitchFamily="18" charset="0"/>
                  </a:rPr>
                  <a:t>密钥：</a:t>
                </a:r>
                <a14:m>
                  <m:oMath xmlns:m="http://schemas.openxmlformats.org/officeDocument/2006/math">
                    <m:r>
                      <m:rPr>
                        <m:sty m:val="p"/>
                      </m:rPr>
                      <a:rPr lang="en-US" altLang="zh-CN" sz="1900" i="0" dirty="0" smtClean="0">
                        <a:solidFill>
                          <a:srgbClr val="0000FF"/>
                        </a:solidFill>
                        <a:latin typeface="Cambria Math" panose="02040503050406030204" pitchFamily="18" charset="0"/>
                        <a:cs typeface="Times New Roman" panose="02020603050405020304" pitchFamily="18" charset="0"/>
                      </a:rPr>
                      <m:t>MAC</m:t>
                    </m:r>
                    <m:r>
                      <a:rPr lang="en-US" altLang="zh-CN" sz="1900" i="0" dirty="0" smtClean="0">
                        <a:solidFill>
                          <a:srgbClr val="0000FF"/>
                        </a:solidFill>
                        <a:latin typeface="Cambria Math" panose="02040503050406030204" pitchFamily="18" charset="0"/>
                        <a:cs typeface="Times New Roman" panose="02020603050405020304" pitchFamily="18" charset="0"/>
                      </a:rPr>
                      <m:t> = </m:t>
                    </m:r>
                    <m:r>
                      <a:rPr lang="en-US" altLang="zh-CN" sz="1900" i="1" dirty="0" smtClean="0">
                        <a:solidFill>
                          <a:srgbClr val="0000FF"/>
                        </a:solidFill>
                        <a:latin typeface="Cambria Math" panose="02040503050406030204" pitchFamily="18" charset="0"/>
                        <a:cs typeface="Times New Roman" panose="02020603050405020304" pitchFamily="18" charset="0"/>
                      </a:rPr>
                      <m:t>𝐶</m:t>
                    </m:r>
                    <m:r>
                      <a:rPr lang="en-US" altLang="zh-CN" sz="1900" i="0" dirty="0" smtClean="0">
                        <a:solidFill>
                          <a:srgbClr val="0000FF"/>
                        </a:solidFill>
                        <a:latin typeface="Cambria Math" panose="02040503050406030204" pitchFamily="18" charset="0"/>
                        <a:cs typeface="Times New Roman" panose="02020603050405020304" pitchFamily="18" charset="0"/>
                      </a:rPr>
                      <m:t>(</m:t>
                    </m:r>
                    <m:r>
                      <a:rPr lang="en-US" altLang="zh-CN" sz="1900" i="1" dirty="0" smtClean="0">
                        <a:solidFill>
                          <a:srgbClr val="0000FF"/>
                        </a:solidFill>
                        <a:latin typeface="Cambria Math" panose="02040503050406030204" pitchFamily="18" charset="0"/>
                        <a:cs typeface="Times New Roman" panose="02020603050405020304" pitchFamily="18" charset="0"/>
                      </a:rPr>
                      <m:t>𝐾</m:t>
                    </m:r>
                    <m:r>
                      <a:rPr lang="en-US" altLang="zh-CN" sz="1900" i="0" dirty="0" smtClean="0">
                        <a:solidFill>
                          <a:srgbClr val="0000FF"/>
                        </a:solidFill>
                        <a:latin typeface="Cambria Math" panose="02040503050406030204" pitchFamily="18" charset="0"/>
                        <a:cs typeface="Times New Roman" panose="02020603050405020304" pitchFamily="18" charset="0"/>
                      </a:rPr>
                      <m:t>,</m:t>
                    </m:r>
                    <m:r>
                      <a:rPr lang="en-US" altLang="zh-CN" sz="1900" i="1" dirty="0" smtClean="0">
                        <a:solidFill>
                          <a:srgbClr val="0000FF"/>
                        </a:solidFill>
                        <a:latin typeface="Cambria Math" panose="02040503050406030204" pitchFamily="18" charset="0"/>
                        <a:cs typeface="Times New Roman" panose="02020603050405020304" pitchFamily="18" charset="0"/>
                      </a:rPr>
                      <m:t>𝑀</m:t>
                    </m:r>
                    <m:r>
                      <a:rPr lang="en-US" altLang="zh-CN" sz="1900" i="0" dirty="0" smtClean="0">
                        <a:solidFill>
                          <a:srgbClr val="0000FF"/>
                        </a:solidFill>
                        <a:latin typeface="Cambria Math" panose="02040503050406030204" pitchFamily="18" charset="0"/>
                        <a:cs typeface="Times New Roman" panose="02020603050405020304" pitchFamily="18" charset="0"/>
                      </a:rPr>
                      <m:t>)</m:t>
                    </m:r>
                  </m:oMath>
                </a14:m>
                <a:r>
                  <a:rPr lang="zh-CN" altLang="en-US" sz="1900" dirty="0">
                    <a:latin typeface="Times New Roman" panose="02020603050405020304" pitchFamily="18" charset="0"/>
                    <a:cs typeface="Times New Roman" panose="02020603050405020304" pitchFamily="18" charset="0"/>
                  </a:rPr>
                  <a:t>，生成一个固定大小的数据块；类似加密，通常使用</a:t>
                </a:r>
                <a:r>
                  <a:rPr lang="zh-CN" altLang="en-US" sz="1900" dirty="0">
                    <a:solidFill>
                      <a:srgbClr val="0000FF"/>
                    </a:solidFill>
                    <a:latin typeface="Times New Roman" panose="02020603050405020304" pitchFamily="18" charset="0"/>
                    <a:cs typeface="Times New Roman" panose="02020603050405020304" pitchFamily="18" charset="0"/>
                  </a:rPr>
                  <a:t>单独的密钥</a:t>
                </a:r>
                <a:r>
                  <a:rPr lang="zh-CN" altLang="en-US" sz="1900" dirty="0">
                    <a:latin typeface="Times New Roman" panose="02020603050405020304" pitchFamily="18" charset="0"/>
                    <a:cs typeface="Times New Roman" panose="02020603050405020304" pitchFamily="18" charset="0"/>
                  </a:rPr>
                  <a:t>，但</a:t>
                </a:r>
                <a:r>
                  <a:rPr lang="zh-CN" altLang="en-US" sz="1900" dirty="0">
                    <a:solidFill>
                      <a:srgbClr val="0000FF"/>
                    </a:solidFill>
                    <a:latin typeface="Times New Roman" panose="02020603050405020304" pitchFamily="18" charset="0"/>
                    <a:cs typeface="Times New Roman" panose="02020603050405020304" pitchFamily="18" charset="0"/>
                  </a:rPr>
                  <a:t>不需要可逆</a:t>
                </a:r>
                <a:endParaRPr lang="en-US" altLang="zh-CN" sz="1900" dirty="0">
                  <a:solidFill>
                    <a:srgbClr val="0000FF"/>
                  </a:solidFill>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mj-lt"/>
                  <a:buAutoNum type="arabicPeriod"/>
                </a:pPr>
                <a:r>
                  <a:rPr lang="zh-CN" altLang="en-US" sz="1900" dirty="0">
                    <a:latin typeface="Times New Roman" panose="02020603050405020304" pitchFamily="18" charset="0"/>
                    <a:cs typeface="Times New Roman" panose="02020603050405020304" pitchFamily="18" charset="0"/>
                  </a:rPr>
                  <a:t>发送时</a:t>
                </a:r>
                <a:r>
                  <a:rPr lang="en-US" altLang="zh-CN" sz="1900" dirty="0">
                    <a:latin typeface="Times New Roman" panose="02020603050405020304" pitchFamily="18" charset="0"/>
                    <a:cs typeface="Times New Roman" panose="02020603050405020304" pitchFamily="18" charset="0"/>
                  </a:rPr>
                  <a:t>MAC</a:t>
                </a:r>
                <a:r>
                  <a:rPr lang="zh-CN" altLang="en-US" sz="1900" dirty="0">
                    <a:latin typeface="Times New Roman" panose="02020603050405020304" pitchFamily="18" charset="0"/>
                    <a:cs typeface="Times New Roman" panose="02020603050405020304" pitchFamily="18" charset="0"/>
                  </a:rPr>
                  <a:t>像 </a:t>
                </a:r>
                <a:r>
                  <a:rPr lang="en-US" altLang="zh-CN" sz="1900" dirty="0">
                    <a:latin typeface="Times New Roman" panose="02020603050405020304" pitchFamily="18" charset="0"/>
                    <a:cs typeface="Times New Roman" panose="02020603050405020304" pitchFamily="18" charset="0"/>
                  </a:rPr>
                  <a:t>“</a:t>
                </a:r>
                <a:r>
                  <a:rPr lang="zh-CN" altLang="en-US" sz="1900" dirty="0">
                    <a:solidFill>
                      <a:srgbClr val="0000FF"/>
                    </a:solidFill>
                    <a:latin typeface="Times New Roman" panose="02020603050405020304" pitchFamily="18" charset="0"/>
                    <a:cs typeface="Times New Roman" panose="02020603050405020304" pitchFamily="18" charset="0"/>
                  </a:rPr>
                  <a:t>签名</a:t>
                </a:r>
                <a:r>
                  <a:rPr lang="en-US" altLang="zh-CN" sz="1900" dirty="0">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rPr>
                  <a:t>一样附加到消息上；但</a:t>
                </a:r>
                <a:r>
                  <a:rPr lang="en-US" altLang="zh-CN" sz="1900" dirty="0">
                    <a:latin typeface="Times New Roman" panose="02020603050405020304" pitchFamily="18" charset="0"/>
                    <a:cs typeface="Times New Roman" panose="02020603050405020304" pitchFamily="18" charset="0"/>
                  </a:rPr>
                  <a:t>MAC</a:t>
                </a:r>
                <a:r>
                  <a:rPr lang="zh-CN" altLang="en-US" sz="1900" dirty="0">
                    <a:latin typeface="Times New Roman" panose="02020603050405020304" pitchFamily="18" charset="0"/>
                    <a:cs typeface="Times New Roman" panose="02020603050405020304" pitchFamily="18" charset="0"/>
                  </a:rPr>
                  <a:t>不是数字签名，</a:t>
                </a:r>
                <a:r>
                  <a:rPr lang="zh-CN" altLang="en-US" sz="1900" dirty="0">
                    <a:solidFill>
                      <a:srgbClr val="0000FF"/>
                    </a:solidFill>
                    <a:latin typeface="Times New Roman" panose="02020603050405020304" pitchFamily="18" charset="0"/>
                    <a:cs typeface="Times New Roman" panose="02020603050405020304" pitchFamily="18" charset="0"/>
                  </a:rPr>
                  <a:t>不能提供</a:t>
                </a:r>
                <a:r>
                  <a:rPr lang="zh-CN" altLang="en-US" sz="1900" dirty="0">
                    <a:solidFill>
                      <a:srgbClr val="FF0000"/>
                    </a:solidFill>
                    <a:latin typeface="Times New Roman" panose="02020603050405020304" pitchFamily="18" charset="0"/>
                    <a:cs typeface="Times New Roman" panose="02020603050405020304" pitchFamily="18" charset="0"/>
                  </a:rPr>
                  <a:t>不可抵赖性</a:t>
                </a:r>
                <a:endParaRPr lang="en-US" altLang="zh-CN" sz="1900" dirty="0">
                  <a:solidFill>
                    <a:srgbClr val="FF0000"/>
                  </a:solidFill>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mj-lt"/>
                  <a:buAutoNum type="arabicPeriod"/>
                </a:pPr>
                <a:r>
                  <a:rPr lang="zh-CN" altLang="en-US" sz="1900" dirty="0">
                    <a:latin typeface="Times New Roman" panose="02020603050405020304" pitchFamily="18" charset="0"/>
                    <a:cs typeface="Times New Roman" panose="02020603050405020304" pitchFamily="18" charset="0"/>
                  </a:rPr>
                  <a:t>接收者对信息进行同样的计算，检查其是否与</a:t>
                </a:r>
                <a:r>
                  <a:rPr lang="en-US" altLang="zh-CN" sz="1900" dirty="0">
                    <a:latin typeface="Times New Roman" panose="02020603050405020304" pitchFamily="18" charset="0"/>
                    <a:cs typeface="Times New Roman" panose="02020603050405020304" pitchFamily="18" charset="0"/>
                  </a:rPr>
                  <a:t>MAC</a:t>
                </a:r>
                <a:r>
                  <a:rPr lang="zh-CN" altLang="en-US" sz="1900" dirty="0">
                    <a:latin typeface="Times New Roman" panose="02020603050405020304" pitchFamily="18" charset="0"/>
                    <a:cs typeface="Times New Roman" panose="02020603050405020304" pitchFamily="18" charset="0"/>
                  </a:rPr>
                  <a:t>相符</a:t>
                </a:r>
                <a:endParaRPr lang="en-US" altLang="zh-CN" sz="1900" dirty="0">
                  <a:latin typeface="Times New Roman" panose="02020603050405020304" pitchFamily="18" charset="0"/>
                  <a:cs typeface="Times New Roman" panose="02020603050405020304" pitchFamily="18" charset="0"/>
                </a:endParaRPr>
              </a:p>
            </p:txBody>
          </p:sp>
        </mc:Choice>
        <mc:Fallback>
          <p:sp>
            <p:nvSpPr>
              <p:cNvPr id="8" name="文本框 7">
                <a:extLst>
                  <a:ext uri="{FF2B5EF4-FFF2-40B4-BE49-F238E27FC236}">
                    <a16:creationId xmlns:a16="http://schemas.microsoft.com/office/drawing/2014/main" id="{E4C51DE6-60B1-EE44-2A57-B42419475092}"/>
                  </a:ext>
                </a:extLst>
              </p:cNvPr>
              <p:cNvSpPr txBox="1">
                <a:spLocks noRot="1" noChangeAspect="1" noMove="1" noResize="1" noEditPoints="1" noAdjustHandles="1" noChangeArrowheads="1" noChangeShapeType="1" noTextEdit="1"/>
              </p:cNvSpPr>
              <p:nvPr/>
            </p:nvSpPr>
            <p:spPr>
              <a:xfrm>
                <a:off x="312517" y="1556965"/>
                <a:ext cx="8479945" cy="5101397"/>
              </a:xfrm>
              <a:prstGeom prst="rect">
                <a:avLst/>
              </a:prstGeom>
              <a:blipFill>
                <a:blip r:embed="rId3"/>
                <a:stretch>
                  <a:fillRect l="-747" r="-747" b="-248"/>
                </a:stretch>
              </a:blipFill>
            </p:spPr>
            <p:txBody>
              <a:bodyPr/>
              <a:lstStyle/>
              <a:p>
                <a:r>
                  <a:rPr lang="zh-CN" altLang="en-US">
                    <a:noFill/>
                  </a:rPr>
                  <a:t> </a:t>
                </a:r>
              </a:p>
            </p:txBody>
          </p:sp>
        </mc:Fallback>
      </mc:AlternateContent>
      <p:grpSp>
        <p:nvGrpSpPr>
          <p:cNvPr id="32" name="组合 31">
            <a:extLst>
              <a:ext uri="{FF2B5EF4-FFF2-40B4-BE49-F238E27FC236}">
                <a16:creationId xmlns:a16="http://schemas.microsoft.com/office/drawing/2014/main" id="{02D0858F-2773-4DFA-9625-240094FC56B0}"/>
              </a:ext>
            </a:extLst>
          </p:cNvPr>
          <p:cNvGrpSpPr/>
          <p:nvPr/>
        </p:nvGrpSpPr>
        <p:grpSpPr>
          <a:xfrm>
            <a:off x="1473852" y="2606816"/>
            <a:ext cx="6196295" cy="1322589"/>
            <a:chOff x="1681767" y="5144917"/>
            <a:chExt cx="6196295" cy="1322589"/>
          </a:xfrm>
        </p:grpSpPr>
        <p:sp>
          <p:nvSpPr>
            <p:cNvPr id="33" name="文本框 32">
              <a:extLst>
                <a:ext uri="{FF2B5EF4-FFF2-40B4-BE49-F238E27FC236}">
                  <a16:creationId xmlns:a16="http://schemas.microsoft.com/office/drawing/2014/main" id="{FFFA31A2-38E3-4D14-A3C1-F7C0C270934C}"/>
                </a:ext>
              </a:extLst>
            </p:cNvPr>
            <p:cNvSpPr txBox="1"/>
            <p:nvPr/>
          </p:nvSpPr>
          <p:spPr>
            <a:xfrm>
              <a:off x="6843793" y="5601843"/>
              <a:ext cx="1034269" cy="366254"/>
            </a:xfrm>
            <a:prstGeom prst="rect">
              <a:avLst/>
            </a:prstGeom>
            <a:noFill/>
            <a:ln w="12700">
              <a:noFill/>
            </a:ln>
          </p:spPr>
          <p:txBody>
            <a:bodyPr wrap="square">
              <a:spAutoFit/>
            </a:bodyPr>
            <a:lstStyle/>
            <a:p>
              <a:pPr algn="ctr"/>
              <a:r>
                <a:rPr lang="en-US" altLang="zh-CN" b="0" dirty="0">
                  <a:latin typeface="Times New Roman" panose="02020603050405020304" pitchFamily="18" charset="0"/>
                  <a:cs typeface="Times New Roman" panose="02020603050405020304" pitchFamily="18" charset="0"/>
                </a:rPr>
                <a:t>compare</a:t>
              </a:r>
            </a:p>
          </p:txBody>
        </p:sp>
        <p:cxnSp>
          <p:nvCxnSpPr>
            <p:cNvPr id="37" name="直接箭头连接符 36">
              <a:extLst>
                <a:ext uri="{FF2B5EF4-FFF2-40B4-BE49-F238E27FC236}">
                  <a16:creationId xmlns:a16="http://schemas.microsoft.com/office/drawing/2014/main" id="{5A17A8B2-C944-455E-A475-AA1A62DC738F}"/>
                </a:ext>
              </a:extLst>
            </p:cNvPr>
            <p:cNvCxnSpPr>
              <a:cxnSpLocks/>
            </p:cNvCxnSpPr>
            <p:nvPr/>
          </p:nvCxnSpPr>
          <p:spPr>
            <a:xfrm flipV="1">
              <a:off x="1991497" y="5319584"/>
              <a:ext cx="1527785" cy="6398"/>
            </a:xfrm>
            <a:prstGeom prst="straightConnector1">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p:cxnSp>
          <p:nvCxnSpPr>
            <p:cNvPr id="38" name="连接符: 肘形 37">
              <a:extLst>
                <a:ext uri="{FF2B5EF4-FFF2-40B4-BE49-F238E27FC236}">
                  <a16:creationId xmlns:a16="http://schemas.microsoft.com/office/drawing/2014/main" id="{F86A25A8-C9DF-4728-9223-73AE2F71E418}"/>
                </a:ext>
              </a:extLst>
            </p:cNvPr>
            <p:cNvCxnSpPr>
              <a:cxnSpLocks/>
              <a:endCxn id="44" idx="1"/>
            </p:cNvCxnSpPr>
            <p:nvPr/>
          </p:nvCxnSpPr>
          <p:spPr>
            <a:xfrm>
              <a:off x="1867763" y="5550340"/>
              <a:ext cx="831349" cy="497765"/>
            </a:xfrm>
            <a:prstGeom prst="bentConnector3">
              <a:avLst>
                <a:gd name="adj1" fmla="val 50000"/>
              </a:avLst>
            </a:prstGeom>
            <a:ln w="12700">
              <a:solidFill>
                <a:schemeClr val="tx1"/>
              </a:solidFill>
              <a:tailEnd type="triangle"/>
            </a:ln>
          </p:spPr>
          <p:style>
            <a:lnRef idx="3">
              <a:schemeClr val="accent1"/>
            </a:lnRef>
            <a:fillRef idx="0">
              <a:schemeClr val="accent1"/>
            </a:fillRef>
            <a:effectRef idx="2">
              <a:schemeClr val="accent1"/>
            </a:effectRef>
            <a:fontRef idx="minor">
              <a:schemeClr val="tx1"/>
            </a:fontRef>
          </p:style>
        </p:cxnSp>
        <p:grpSp>
          <p:nvGrpSpPr>
            <p:cNvPr id="42" name="组合 41">
              <a:extLst>
                <a:ext uri="{FF2B5EF4-FFF2-40B4-BE49-F238E27FC236}">
                  <a16:creationId xmlns:a16="http://schemas.microsoft.com/office/drawing/2014/main" id="{5A8CB376-AB9B-4270-B04D-4E9D78BDE1DC}"/>
                </a:ext>
              </a:extLst>
            </p:cNvPr>
            <p:cNvGrpSpPr/>
            <p:nvPr/>
          </p:nvGrpSpPr>
          <p:grpSpPr>
            <a:xfrm>
              <a:off x="3455023" y="5197928"/>
              <a:ext cx="363481" cy="366254"/>
              <a:chOff x="3809523" y="3611124"/>
              <a:chExt cx="366535" cy="369332"/>
            </a:xfrm>
          </p:grpSpPr>
          <p:sp>
            <p:nvSpPr>
              <p:cNvPr id="63" name="椭圆 62">
                <a:extLst>
                  <a:ext uri="{FF2B5EF4-FFF2-40B4-BE49-F238E27FC236}">
                    <a16:creationId xmlns:a16="http://schemas.microsoft.com/office/drawing/2014/main" id="{2AB348B6-B49C-4463-949D-FBD0E7DEC758}"/>
                  </a:ext>
                </a:extLst>
              </p:cNvPr>
              <p:cNvSpPr/>
              <p:nvPr/>
            </p:nvSpPr>
            <p:spPr>
              <a:xfrm>
                <a:off x="3856072" y="3670408"/>
                <a:ext cx="294040" cy="295200"/>
              </a:xfrm>
              <a:prstGeom prst="ellipse">
                <a:avLst/>
              </a:prstGeom>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64" name="文本框 63">
                <a:extLst>
                  <a:ext uri="{FF2B5EF4-FFF2-40B4-BE49-F238E27FC236}">
                    <a16:creationId xmlns:a16="http://schemas.microsoft.com/office/drawing/2014/main" id="{B6AFC063-480D-4C1C-9580-DB4D8A28F7ED}"/>
                  </a:ext>
                </a:extLst>
              </p:cNvPr>
              <p:cNvSpPr txBox="1"/>
              <p:nvPr/>
            </p:nvSpPr>
            <p:spPr>
              <a:xfrm>
                <a:off x="3809523" y="3611124"/>
                <a:ext cx="366535" cy="369332"/>
              </a:xfrm>
              <a:prstGeom prst="rect">
                <a:avLst/>
              </a:prstGeom>
              <a:noFill/>
              <a:ln w="12700">
                <a:noFill/>
              </a:ln>
            </p:spPr>
            <p:txBody>
              <a:bodyPr wrap="square">
                <a:spAutoFit/>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p:txBody>
          </p:sp>
        </p:grpSp>
        <mc:AlternateContent xmlns:mc="http://schemas.openxmlformats.org/markup-compatibility/2006">
          <mc:Choice xmlns:a14="http://schemas.microsoft.com/office/drawing/2010/main" Requires="a14">
            <p:sp>
              <p:nvSpPr>
                <p:cNvPr id="43" name="矩形 42">
                  <a:extLst>
                    <a:ext uri="{FF2B5EF4-FFF2-40B4-BE49-F238E27FC236}">
                      <a16:creationId xmlns:a16="http://schemas.microsoft.com/office/drawing/2014/main" id="{10604614-A04A-4B23-92E1-6CC12B2BF3B2}"/>
                    </a:ext>
                  </a:extLst>
                </p:cNvPr>
                <p:cNvSpPr/>
                <p:nvPr/>
              </p:nvSpPr>
              <p:spPr>
                <a:xfrm>
                  <a:off x="1681767" y="5250629"/>
                  <a:ext cx="381088" cy="388532"/>
                </a:xfrm>
                <a:prstGeom prst="rect">
                  <a:avLst/>
                </a:prstGeom>
                <a:solidFill>
                  <a:schemeClr val="accent5">
                    <a:lumMod val="40000"/>
                    <a:lumOff val="60000"/>
                  </a:schemeClr>
                </a:solidFill>
                <a:ln w="127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rPr>
                          <m:t>𝑀</m:t>
                        </m:r>
                      </m:oMath>
                    </m:oMathPara>
                  </a14:m>
                  <a:endParaRPr lang="zh-CN" altLang="en-US" dirty="0"/>
                </a:p>
              </p:txBody>
            </p:sp>
          </mc:Choice>
          <mc:Fallback>
            <p:sp>
              <p:nvSpPr>
                <p:cNvPr id="43" name="矩形 42">
                  <a:extLst>
                    <a:ext uri="{FF2B5EF4-FFF2-40B4-BE49-F238E27FC236}">
                      <a16:creationId xmlns:a16="http://schemas.microsoft.com/office/drawing/2014/main" id="{10604614-A04A-4B23-92E1-6CC12B2BF3B2}"/>
                    </a:ext>
                  </a:extLst>
                </p:cNvPr>
                <p:cNvSpPr>
                  <a:spLocks noRot="1" noChangeAspect="1" noMove="1" noResize="1" noEditPoints="1" noAdjustHandles="1" noChangeArrowheads="1" noChangeShapeType="1" noTextEdit="1"/>
                </p:cNvSpPr>
                <p:nvPr/>
              </p:nvSpPr>
              <p:spPr>
                <a:xfrm>
                  <a:off x="1681767" y="5250629"/>
                  <a:ext cx="381088" cy="388532"/>
                </a:xfrm>
                <a:prstGeom prst="rect">
                  <a:avLst/>
                </a:prstGeom>
                <a:blipFill>
                  <a:blip r:embed="rId4"/>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流程图: 决策 43">
                  <a:extLst>
                    <a:ext uri="{FF2B5EF4-FFF2-40B4-BE49-F238E27FC236}">
                      <a16:creationId xmlns:a16="http://schemas.microsoft.com/office/drawing/2014/main" id="{E460C8CE-AA39-4969-A6BE-5812DEB20E00}"/>
                    </a:ext>
                  </a:extLst>
                </p:cNvPr>
                <p:cNvSpPr/>
                <p:nvPr/>
              </p:nvSpPr>
              <p:spPr>
                <a:xfrm>
                  <a:off x="2699112" y="5823746"/>
                  <a:ext cx="477614" cy="448717"/>
                </a:xfrm>
                <a:prstGeom prst="flowChartDecision">
                  <a:avLst/>
                </a:prstGeom>
                <a:solidFill>
                  <a:schemeClr val="accent5">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𝐶</m:t>
                        </m:r>
                      </m:oMath>
                    </m:oMathPara>
                  </a14:m>
                  <a:endParaRPr lang="zh-CN" altLang="en-US" dirty="0"/>
                </a:p>
              </p:txBody>
            </p:sp>
          </mc:Choice>
          <mc:Fallback xmlns="">
            <p:sp>
              <p:nvSpPr>
                <p:cNvPr id="11" name="流程图: 决策 10">
                  <a:extLst>
                    <a:ext uri="{FF2B5EF4-FFF2-40B4-BE49-F238E27FC236}">
                      <a16:creationId xmlns:a16="http://schemas.microsoft.com/office/drawing/2014/main" id="{B1F8E815-E5AA-8CD4-0112-50819AAC3FEA}"/>
                    </a:ext>
                  </a:extLst>
                </p:cNvPr>
                <p:cNvSpPr>
                  <a:spLocks noRot="1" noChangeAspect="1" noMove="1" noResize="1" noEditPoints="1" noAdjustHandles="1" noChangeArrowheads="1" noChangeShapeType="1" noTextEdit="1"/>
                </p:cNvSpPr>
                <p:nvPr/>
              </p:nvSpPr>
              <p:spPr>
                <a:xfrm>
                  <a:off x="2699112" y="5823746"/>
                  <a:ext cx="477614" cy="448717"/>
                </a:xfrm>
                <a:prstGeom prst="flowChartDecision">
                  <a:avLst/>
                </a:prstGeom>
                <a:blipFill>
                  <a:blip r:embed="rId5"/>
                  <a:stretch>
                    <a:fillRect/>
                  </a:stretch>
                </a:blipFill>
                <a:ln/>
              </p:spPr>
              <p:txBody>
                <a:bodyPr/>
                <a:lstStyle/>
                <a:p>
                  <a:r>
                    <a:rPr lang="zh-CN" altLang="en-US">
                      <a:noFill/>
                    </a:rPr>
                    <a:t> </a:t>
                  </a:r>
                </a:p>
              </p:txBody>
            </p:sp>
          </mc:Fallback>
        </mc:AlternateContent>
        <p:cxnSp>
          <p:nvCxnSpPr>
            <p:cNvPr id="45" name="直接箭头连接符 44">
              <a:extLst>
                <a:ext uri="{FF2B5EF4-FFF2-40B4-BE49-F238E27FC236}">
                  <a16:creationId xmlns:a16="http://schemas.microsoft.com/office/drawing/2014/main" id="{546B0522-1569-48B2-AEAC-15E986EB0004}"/>
                </a:ext>
              </a:extLst>
            </p:cNvPr>
            <p:cNvCxnSpPr>
              <a:cxnSpLocks/>
            </p:cNvCxnSpPr>
            <p:nvPr/>
          </p:nvCxnSpPr>
          <p:spPr>
            <a:xfrm>
              <a:off x="2937920" y="5524018"/>
              <a:ext cx="0" cy="307389"/>
            </a:xfrm>
            <a:prstGeom prst="straightConnector1">
              <a:avLst/>
            </a:prstGeom>
            <a:ln w="12700">
              <a:solidFill>
                <a:schemeClr val="tx1"/>
              </a:solidFill>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C1B7E1CC-36D2-4BB5-ABC6-D3F3A54C2637}"/>
                    </a:ext>
                  </a:extLst>
                </p:cNvPr>
                <p:cNvSpPr txBox="1"/>
                <p:nvPr/>
              </p:nvSpPr>
              <p:spPr>
                <a:xfrm>
                  <a:off x="2768518" y="5232628"/>
                  <a:ext cx="417678" cy="369332"/>
                </a:xfrm>
                <a:prstGeom prst="rect">
                  <a:avLst/>
                </a:prstGeom>
                <a:noFill/>
                <a:ln w="12700">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𝐾</m:t>
                        </m:r>
                      </m:oMath>
                    </m:oMathPara>
                  </a14:m>
                  <a:endParaRPr lang="zh-CN" altLang="en-US" dirty="0"/>
                </a:p>
              </p:txBody>
            </p:sp>
          </mc:Choice>
          <mc:Fallback xmlns="">
            <p:sp>
              <p:nvSpPr>
                <p:cNvPr id="13" name="文本框 12">
                  <a:extLst>
                    <a:ext uri="{FF2B5EF4-FFF2-40B4-BE49-F238E27FC236}">
                      <a16:creationId xmlns:a16="http://schemas.microsoft.com/office/drawing/2014/main" id="{AB7F19D5-162F-B720-04C5-5663331D3851}"/>
                    </a:ext>
                  </a:extLst>
                </p:cNvPr>
                <p:cNvSpPr txBox="1">
                  <a:spLocks noRot="1" noChangeAspect="1" noMove="1" noResize="1" noEditPoints="1" noAdjustHandles="1" noChangeArrowheads="1" noChangeShapeType="1" noTextEdit="1"/>
                </p:cNvSpPr>
                <p:nvPr/>
              </p:nvSpPr>
              <p:spPr>
                <a:xfrm>
                  <a:off x="2768518" y="5232628"/>
                  <a:ext cx="417678" cy="369332"/>
                </a:xfrm>
                <a:prstGeom prst="rect">
                  <a:avLst/>
                </a:prstGeom>
                <a:blipFill>
                  <a:blip r:embed="rId6"/>
                  <a:stretch>
                    <a:fillRect/>
                  </a:stretch>
                </a:blipFill>
                <a:ln w="12700">
                  <a:noFill/>
                </a:ln>
              </p:spPr>
              <p:txBody>
                <a:bodyPr/>
                <a:lstStyle/>
                <a:p>
                  <a:r>
                    <a:rPr lang="zh-CN" altLang="en-US">
                      <a:noFill/>
                    </a:rPr>
                    <a:t> </a:t>
                  </a:r>
                </a:p>
              </p:txBody>
            </p:sp>
          </mc:Fallback>
        </mc:AlternateContent>
        <p:cxnSp>
          <p:nvCxnSpPr>
            <p:cNvPr id="49" name="连接符: 肘形 48">
              <a:extLst>
                <a:ext uri="{FF2B5EF4-FFF2-40B4-BE49-F238E27FC236}">
                  <a16:creationId xmlns:a16="http://schemas.microsoft.com/office/drawing/2014/main" id="{5D132DF9-956A-4DF5-8979-B7F07DB383B6}"/>
                </a:ext>
              </a:extLst>
            </p:cNvPr>
            <p:cNvCxnSpPr>
              <a:cxnSpLocks/>
            </p:cNvCxnSpPr>
            <p:nvPr/>
          </p:nvCxnSpPr>
          <p:spPr>
            <a:xfrm flipV="1">
              <a:off x="3175616" y="5444895"/>
              <a:ext cx="337015" cy="598972"/>
            </a:xfrm>
            <a:prstGeom prst="bentConnector3">
              <a:avLst>
                <a:gd name="adj1" fmla="val 50000"/>
              </a:avLst>
            </a:prstGeom>
            <a:ln w="12700">
              <a:solidFill>
                <a:schemeClr val="tx1"/>
              </a:solidFill>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46F41D96-12FC-4AB5-B263-1FDFBBB95820}"/>
                    </a:ext>
                  </a:extLst>
                </p:cNvPr>
                <p:cNvSpPr txBox="1"/>
                <p:nvPr/>
              </p:nvSpPr>
              <p:spPr>
                <a:xfrm>
                  <a:off x="3557432" y="6098174"/>
                  <a:ext cx="1277581" cy="369332"/>
                </a:xfrm>
                <a:prstGeom prst="rect">
                  <a:avLst/>
                </a:prstGeom>
                <a:noFill/>
                <a:ln w="12700">
                  <a:noFill/>
                </a:ln>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𝑀𝐴𝐶</m:t>
                        </m:r>
                        <m:r>
                          <a:rPr lang="en-US" altLang="zh-CN" b="0" i="1" smtClean="0">
                            <a:latin typeface="Cambria Math" panose="02040503050406030204" pitchFamily="18" charset="0"/>
                          </a:rPr>
                          <m:t>(</m:t>
                        </m:r>
                        <m:r>
                          <a:rPr lang="en-US" altLang="zh-CN" b="0" i="1" smtClean="0">
                            <a:latin typeface="Cambria Math" panose="02040503050406030204" pitchFamily="18" charset="0"/>
                          </a:rPr>
                          <m:t>𝐾</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oMath>
                    </m:oMathPara>
                  </a14:m>
                  <a:endParaRPr lang="en-US" altLang="zh-CN" b="0" dirty="0"/>
                </a:p>
              </p:txBody>
            </p:sp>
          </mc:Choice>
          <mc:Fallback xmlns="">
            <p:sp>
              <p:nvSpPr>
                <p:cNvPr id="19" name="文本框 18">
                  <a:extLst>
                    <a:ext uri="{FF2B5EF4-FFF2-40B4-BE49-F238E27FC236}">
                      <a16:creationId xmlns:a16="http://schemas.microsoft.com/office/drawing/2014/main" id="{738ECD2B-6EB6-489F-6B21-834199AD9F4E}"/>
                    </a:ext>
                  </a:extLst>
                </p:cNvPr>
                <p:cNvSpPr txBox="1">
                  <a:spLocks noRot="1" noChangeAspect="1" noMove="1" noResize="1" noEditPoints="1" noAdjustHandles="1" noChangeArrowheads="1" noChangeShapeType="1" noTextEdit="1"/>
                </p:cNvSpPr>
                <p:nvPr/>
              </p:nvSpPr>
              <p:spPr>
                <a:xfrm>
                  <a:off x="3557432" y="6098174"/>
                  <a:ext cx="1277581" cy="369332"/>
                </a:xfrm>
                <a:prstGeom prst="rect">
                  <a:avLst/>
                </a:prstGeom>
                <a:blipFill>
                  <a:blip r:embed="rId7"/>
                  <a:stretch>
                    <a:fillRect l="-3349" r="-478" b="-14754"/>
                  </a:stretch>
                </a:blipFill>
                <a:ln w="12700">
                  <a:noFill/>
                </a:ln>
              </p:spPr>
              <p:txBody>
                <a:bodyPr/>
                <a:lstStyle/>
                <a:p>
                  <a:r>
                    <a:rPr lang="zh-CN" altLang="en-US">
                      <a:noFill/>
                    </a:rPr>
                    <a:t> </a:t>
                  </a:r>
                </a:p>
              </p:txBody>
            </p:sp>
          </mc:Fallback>
        </mc:AlternateContent>
        <p:cxnSp>
          <p:nvCxnSpPr>
            <p:cNvPr id="51" name="直接箭头连接符 50">
              <a:extLst>
                <a:ext uri="{FF2B5EF4-FFF2-40B4-BE49-F238E27FC236}">
                  <a16:creationId xmlns:a16="http://schemas.microsoft.com/office/drawing/2014/main" id="{5CF62735-5B8B-4900-9A91-CCFCED83E06F}"/>
                </a:ext>
              </a:extLst>
            </p:cNvPr>
            <p:cNvCxnSpPr>
              <a:cxnSpLocks/>
            </p:cNvCxnSpPr>
            <p:nvPr/>
          </p:nvCxnSpPr>
          <p:spPr>
            <a:xfrm>
              <a:off x="5593073" y="5392269"/>
              <a:ext cx="356826" cy="0"/>
            </a:xfrm>
            <a:prstGeom prst="straightConnector1">
              <a:avLst/>
            </a:prstGeom>
            <a:ln w="12700">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52" name="矩形: 圆角 51">
              <a:extLst>
                <a:ext uri="{FF2B5EF4-FFF2-40B4-BE49-F238E27FC236}">
                  <a16:creationId xmlns:a16="http://schemas.microsoft.com/office/drawing/2014/main" id="{2E44131E-B698-421B-AED2-FCF7460E8A71}"/>
                </a:ext>
              </a:extLst>
            </p:cNvPr>
            <p:cNvSpPr/>
            <p:nvPr/>
          </p:nvSpPr>
          <p:spPr>
            <a:xfrm rot="5400000">
              <a:off x="4914937" y="5373950"/>
              <a:ext cx="906781" cy="448716"/>
            </a:xfrm>
            <a:prstGeom prst="roundRect">
              <a:avLst/>
            </a:prstGeom>
            <a:noFill/>
            <a:ln w="127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ltLang="zh-CN" b="0" dirty="0"/>
            </a:p>
          </p:txBody>
        </p:sp>
        <p:sp>
          <p:nvSpPr>
            <p:cNvPr id="53" name="矩形: 圆角 52">
              <a:extLst>
                <a:ext uri="{FF2B5EF4-FFF2-40B4-BE49-F238E27FC236}">
                  <a16:creationId xmlns:a16="http://schemas.microsoft.com/office/drawing/2014/main" id="{5F5B6F45-2F3D-45D8-BBDE-718F9C5D4135}"/>
                </a:ext>
              </a:extLst>
            </p:cNvPr>
            <p:cNvSpPr/>
            <p:nvPr/>
          </p:nvSpPr>
          <p:spPr>
            <a:xfrm rot="5400000">
              <a:off x="5232588" y="5691601"/>
              <a:ext cx="271478" cy="448716"/>
            </a:xfrm>
            <a:prstGeom prst="roundRect">
              <a:avLst/>
            </a:prstGeom>
            <a:solidFill>
              <a:srgbClr val="D2D2D2"/>
            </a:solidFill>
            <a:ln w="127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ltLang="zh-CN" b="0" dirty="0"/>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A3DD4759-0F61-4563-8993-57129D603DB8}"/>
                    </a:ext>
                  </a:extLst>
                </p:cNvPr>
                <p:cNvSpPr txBox="1"/>
                <p:nvPr/>
              </p:nvSpPr>
              <p:spPr>
                <a:xfrm>
                  <a:off x="5143969" y="5317695"/>
                  <a:ext cx="447835" cy="366254"/>
                </a:xfrm>
                <a:prstGeom prst="rect">
                  <a:avLst/>
                </a:prstGeom>
                <a:noFill/>
                <a:ln w="12700">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oMath>
                    </m:oMathPara>
                  </a14:m>
                  <a:endParaRPr lang="zh-CN" altLang="en-US" dirty="0"/>
                </a:p>
              </p:txBody>
            </p:sp>
          </mc:Choice>
          <mc:Fallback xmlns="">
            <p:sp>
              <p:nvSpPr>
                <p:cNvPr id="24" name="文本框 23">
                  <a:extLst>
                    <a:ext uri="{FF2B5EF4-FFF2-40B4-BE49-F238E27FC236}">
                      <a16:creationId xmlns:a16="http://schemas.microsoft.com/office/drawing/2014/main" id="{149D0BA0-0709-D923-B551-F70A6B57069A}"/>
                    </a:ext>
                  </a:extLst>
                </p:cNvPr>
                <p:cNvSpPr txBox="1">
                  <a:spLocks noRot="1" noChangeAspect="1" noMove="1" noResize="1" noEditPoints="1" noAdjustHandles="1" noChangeArrowheads="1" noChangeShapeType="1" noTextEdit="1"/>
                </p:cNvSpPr>
                <p:nvPr/>
              </p:nvSpPr>
              <p:spPr>
                <a:xfrm>
                  <a:off x="5143969" y="5317695"/>
                  <a:ext cx="447835" cy="366254"/>
                </a:xfrm>
                <a:prstGeom prst="rect">
                  <a:avLst/>
                </a:prstGeom>
                <a:blipFill>
                  <a:blip r:embed="rId8"/>
                  <a:stretch>
                    <a:fillRect/>
                  </a:stretch>
                </a:blipFill>
                <a:ln w="12700">
                  <a:noFill/>
                </a:ln>
              </p:spPr>
              <p:txBody>
                <a:bodyPr/>
                <a:lstStyle/>
                <a:p>
                  <a:r>
                    <a:rPr lang="zh-CN" altLang="en-US">
                      <a:noFill/>
                    </a:rPr>
                    <a:t> </a:t>
                  </a:r>
                </a:p>
              </p:txBody>
            </p:sp>
          </mc:Fallback>
        </mc:AlternateContent>
        <p:cxnSp>
          <p:nvCxnSpPr>
            <p:cNvPr id="55" name="连接符: 肘形 54">
              <a:extLst>
                <a:ext uri="{FF2B5EF4-FFF2-40B4-BE49-F238E27FC236}">
                  <a16:creationId xmlns:a16="http://schemas.microsoft.com/office/drawing/2014/main" id="{BAFC6F6E-B93D-49CA-A7F1-6238340923A0}"/>
                </a:ext>
              </a:extLst>
            </p:cNvPr>
            <p:cNvCxnSpPr>
              <a:cxnSpLocks/>
              <a:stCxn id="59" idx="3"/>
              <a:endCxn id="33" idx="0"/>
            </p:cNvCxnSpPr>
            <p:nvPr/>
          </p:nvCxnSpPr>
          <p:spPr>
            <a:xfrm>
              <a:off x="6423974" y="5392786"/>
              <a:ext cx="936954" cy="209057"/>
            </a:xfrm>
            <a:prstGeom prst="bentConnector2">
              <a:avLst/>
            </a:prstGeom>
            <a:ln w="12700">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56" name="直接箭头连接符 55">
              <a:extLst>
                <a:ext uri="{FF2B5EF4-FFF2-40B4-BE49-F238E27FC236}">
                  <a16:creationId xmlns:a16="http://schemas.microsoft.com/office/drawing/2014/main" id="{D7DECE38-CBD3-4197-822B-4E52D0053C4D}"/>
                </a:ext>
              </a:extLst>
            </p:cNvPr>
            <p:cNvCxnSpPr>
              <a:cxnSpLocks/>
            </p:cNvCxnSpPr>
            <p:nvPr/>
          </p:nvCxnSpPr>
          <p:spPr>
            <a:xfrm>
              <a:off x="3775463" y="5373734"/>
              <a:ext cx="1339269" cy="7321"/>
            </a:xfrm>
            <a:prstGeom prst="straightConnector1">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p:cxnSp>
          <p:nvCxnSpPr>
            <p:cNvPr id="57" name="连接符: 肘形 56">
              <a:extLst>
                <a:ext uri="{FF2B5EF4-FFF2-40B4-BE49-F238E27FC236}">
                  <a16:creationId xmlns:a16="http://schemas.microsoft.com/office/drawing/2014/main" id="{09303881-285D-46A5-9D1D-294DD63AD69D}"/>
                </a:ext>
              </a:extLst>
            </p:cNvPr>
            <p:cNvCxnSpPr>
              <a:cxnSpLocks/>
              <a:stCxn id="53" idx="0"/>
              <a:endCxn id="33" idx="2"/>
            </p:cNvCxnSpPr>
            <p:nvPr/>
          </p:nvCxnSpPr>
          <p:spPr>
            <a:xfrm>
              <a:off x="5592685" y="5915959"/>
              <a:ext cx="1768243" cy="52138"/>
            </a:xfrm>
            <a:prstGeom prst="bentConnector4">
              <a:avLst>
                <a:gd name="adj1" fmla="val 5132"/>
                <a:gd name="adj2" fmla="val 538452"/>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p:cxnSp>
          <p:nvCxnSpPr>
            <p:cNvPr id="58" name="直接箭头连接符 57">
              <a:extLst>
                <a:ext uri="{FF2B5EF4-FFF2-40B4-BE49-F238E27FC236}">
                  <a16:creationId xmlns:a16="http://schemas.microsoft.com/office/drawing/2014/main" id="{F4085339-5EB2-4318-9AB4-961B95EB1E16}"/>
                </a:ext>
              </a:extLst>
            </p:cNvPr>
            <p:cNvCxnSpPr>
              <a:cxnSpLocks/>
            </p:cNvCxnSpPr>
            <p:nvPr/>
          </p:nvCxnSpPr>
          <p:spPr>
            <a:xfrm flipV="1">
              <a:off x="4610400" y="5946108"/>
              <a:ext cx="760042" cy="225403"/>
            </a:xfrm>
            <a:prstGeom prst="straightConnector1">
              <a:avLst/>
            </a:prstGeom>
            <a:ln w="12700">
              <a:solidFill>
                <a:schemeClr val="tx1"/>
              </a:solidFill>
              <a:prstDash val="sysDash"/>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59" name="流程图: 决策 58">
                  <a:extLst>
                    <a:ext uri="{FF2B5EF4-FFF2-40B4-BE49-F238E27FC236}">
                      <a16:creationId xmlns:a16="http://schemas.microsoft.com/office/drawing/2014/main" id="{5D3EC26F-8B56-41A4-A6FA-574B5E813674}"/>
                    </a:ext>
                  </a:extLst>
                </p:cNvPr>
                <p:cNvSpPr/>
                <p:nvPr/>
              </p:nvSpPr>
              <p:spPr>
                <a:xfrm>
                  <a:off x="5946360" y="5168427"/>
                  <a:ext cx="477614" cy="448717"/>
                </a:xfrm>
                <a:prstGeom prst="flowChartDecision">
                  <a:avLst/>
                </a:prstGeom>
                <a:solidFill>
                  <a:schemeClr val="accent5">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𝐶</m:t>
                        </m:r>
                      </m:oMath>
                    </m:oMathPara>
                  </a14:m>
                  <a:endParaRPr lang="zh-CN" altLang="en-US" dirty="0"/>
                </a:p>
              </p:txBody>
            </p:sp>
          </mc:Choice>
          <mc:Fallback xmlns="">
            <p:sp>
              <p:nvSpPr>
                <p:cNvPr id="39" name="流程图: 决策 38">
                  <a:extLst>
                    <a:ext uri="{FF2B5EF4-FFF2-40B4-BE49-F238E27FC236}">
                      <a16:creationId xmlns:a16="http://schemas.microsoft.com/office/drawing/2014/main" id="{1953CB96-3931-A6C3-2DA0-3ABFCBF86A58}"/>
                    </a:ext>
                  </a:extLst>
                </p:cNvPr>
                <p:cNvSpPr>
                  <a:spLocks noRot="1" noChangeAspect="1" noMove="1" noResize="1" noEditPoints="1" noAdjustHandles="1" noChangeArrowheads="1" noChangeShapeType="1" noTextEdit="1"/>
                </p:cNvSpPr>
                <p:nvPr/>
              </p:nvSpPr>
              <p:spPr>
                <a:xfrm>
                  <a:off x="5946360" y="5168427"/>
                  <a:ext cx="477614" cy="448717"/>
                </a:xfrm>
                <a:prstGeom prst="flowChartDecision">
                  <a:avLst/>
                </a:prstGeom>
                <a:blipFill>
                  <a:blip r:embed="rId9"/>
                  <a:stretch>
                    <a:fillRect/>
                  </a:stretch>
                </a:blipFill>
                <a:ln/>
              </p:spPr>
              <p:txBody>
                <a:bodyPr/>
                <a:lstStyle/>
                <a:p>
                  <a:r>
                    <a:rPr lang="zh-CN" altLang="en-US">
                      <a:noFill/>
                    </a:rPr>
                    <a:t> </a:t>
                  </a:r>
                </a:p>
              </p:txBody>
            </p:sp>
          </mc:Fallback>
        </mc:AlternateContent>
        <p:cxnSp>
          <p:nvCxnSpPr>
            <p:cNvPr id="61" name="直接箭头连接符 60">
              <a:extLst>
                <a:ext uri="{FF2B5EF4-FFF2-40B4-BE49-F238E27FC236}">
                  <a16:creationId xmlns:a16="http://schemas.microsoft.com/office/drawing/2014/main" id="{DF6505B4-4DCD-43BE-9629-41E9B1BBDBED}"/>
                </a:ext>
              </a:extLst>
            </p:cNvPr>
            <p:cNvCxnSpPr>
              <a:cxnSpLocks/>
            </p:cNvCxnSpPr>
            <p:nvPr/>
          </p:nvCxnSpPr>
          <p:spPr>
            <a:xfrm flipV="1">
              <a:off x="6185167" y="5591647"/>
              <a:ext cx="0" cy="307389"/>
            </a:xfrm>
            <a:prstGeom prst="straightConnector1">
              <a:avLst/>
            </a:prstGeom>
            <a:ln w="12700">
              <a:solidFill>
                <a:schemeClr val="tx1"/>
              </a:solidFill>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6F719058-DCAB-4F1A-BBC7-264CEB6E3A3E}"/>
                    </a:ext>
                  </a:extLst>
                </p:cNvPr>
                <p:cNvSpPr txBox="1"/>
                <p:nvPr/>
              </p:nvSpPr>
              <p:spPr>
                <a:xfrm>
                  <a:off x="5976328" y="5855698"/>
                  <a:ext cx="417678" cy="369332"/>
                </a:xfrm>
                <a:prstGeom prst="rect">
                  <a:avLst/>
                </a:prstGeom>
                <a:noFill/>
                <a:ln w="12700">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𝐾</m:t>
                        </m:r>
                      </m:oMath>
                    </m:oMathPara>
                  </a14:m>
                  <a:endParaRPr lang="zh-CN" altLang="en-US" dirty="0"/>
                </a:p>
              </p:txBody>
            </p:sp>
          </mc:Choice>
          <mc:Fallback xmlns="">
            <p:sp>
              <p:nvSpPr>
                <p:cNvPr id="41" name="文本框 40">
                  <a:extLst>
                    <a:ext uri="{FF2B5EF4-FFF2-40B4-BE49-F238E27FC236}">
                      <a16:creationId xmlns:a16="http://schemas.microsoft.com/office/drawing/2014/main" id="{24994DF7-0067-0B38-B87E-13B27B3371CF}"/>
                    </a:ext>
                  </a:extLst>
                </p:cNvPr>
                <p:cNvSpPr txBox="1">
                  <a:spLocks noRot="1" noChangeAspect="1" noMove="1" noResize="1" noEditPoints="1" noAdjustHandles="1" noChangeArrowheads="1" noChangeShapeType="1" noTextEdit="1"/>
                </p:cNvSpPr>
                <p:nvPr/>
              </p:nvSpPr>
              <p:spPr>
                <a:xfrm>
                  <a:off x="5976328" y="5855698"/>
                  <a:ext cx="417678" cy="369332"/>
                </a:xfrm>
                <a:prstGeom prst="rect">
                  <a:avLst/>
                </a:prstGeom>
                <a:blipFill>
                  <a:blip r:embed="rId10"/>
                  <a:stretch>
                    <a:fillRect/>
                  </a:stretch>
                </a:blipFill>
                <a:ln w="12700">
                  <a:noFill/>
                </a:ln>
              </p:spPr>
              <p:txBody>
                <a:bodyPr/>
                <a:lstStyle/>
                <a:p>
                  <a:r>
                    <a:rPr lang="zh-CN" altLang="en-US">
                      <a:noFill/>
                    </a:rPr>
                    <a:t> </a:t>
                  </a:r>
                </a:p>
              </p:txBody>
            </p:sp>
          </mc:Fallback>
        </mc:AlternateContent>
      </p:grpSp>
      <p:pic>
        <p:nvPicPr>
          <p:cNvPr id="65" name="图形 64" descr="男学生 轮廓">
            <a:extLst>
              <a:ext uri="{FF2B5EF4-FFF2-40B4-BE49-F238E27FC236}">
                <a16:creationId xmlns:a16="http://schemas.microsoft.com/office/drawing/2014/main" id="{F75F5E0B-0403-4EBE-8989-D22273A50507}"/>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670147" y="2677365"/>
            <a:ext cx="914400" cy="914400"/>
          </a:xfrm>
          <a:prstGeom prst="rect">
            <a:avLst/>
          </a:prstGeom>
        </p:spPr>
      </p:pic>
      <p:pic>
        <p:nvPicPr>
          <p:cNvPr id="66" name="图形 65" descr="女学生 轮廓">
            <a:extLst>
              <a:ext uri="{FF2B5EF4-FFF2-40B4-BE49-F238E27FC236}">
                <a16:creationId xmlns:a16="http://schemas.microsoft.com/office/drawing/2014/main" id="{77C6799D-056A-402B-9290-59BF792D8BC8}"/>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06947" y="2677365"/>
            <a:ext cx="914400" cy="914400"/>
          </a:xfrm>
          <a:prstGeom prst="rect">
            <a:avLst/>
          </a:prstGeom>
        </p:spPr>
      </p:pic>
    </p:spTree>
    <p:extLst>
      <p:ext uri="{BB962C8B-B14F-4D97-AF65-F5344CB8AC3E}">
        <p14:creationId xmlns:p14="http://schemas.microsoft.com/office/powerpoint/2010/main" val="1091930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9</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2.2</a:t>
            </a:r>
            <a:r>
              <a:rPr lang="zh-CN" altLang="en-US" sz="2400" b="1" dirty="0">
                <a:solidFill>
                  <a:srgbClr val="FF0000"/>
                </a:solidFill>
                <a:latin typeface="Times New Roman" panose="02020603050405020304" pitchFamily="18" charset="0"/>
                <a:cs typeface="Times New Roman" panose="02020603050405020304" pitchFamily="18" charset="0"/>
              </a:rPr>
              <a:t> 消息认证码构造方法</a:t>
            </a:r>
          </a:p>
        </p:txBody>
      </p:sp>
      <p:sp>
        <p:nvSpPr>
          <p:cNvPr id="8" name="文本框 7">
            <a:extLst>
              <a:ext uri="{FF2B5EF4-FFF2-40B4-BE49-F238E27FC236}">
                <a16:creationId xmlns:a16="http://schemas.microsoft.com/office/drawing/2014/main" id="{E4C51DE6-60B1-EE44-2A57-B42419475092}"/>
              </a:ext>
            </a:extLst>
          </p:cNvPr>
          <p:cNvSpPr txBox="1"/>
          <p:nvPr/>
        </p:nvSpPr>
        <p:spPr>
          <a:xfrm>
            <a:off x="312517" y="1587701"/>
            <a:ext cx="8479945" cy="2169825"/>
          </a:xfrm>
          <a:prstGeom prst="rect">
            <a:avLst/>
          </a:prstGeom>
          <a:noFill/>
        </p:spPr>
        <p:txBody>
          <a:bodyPr wrap="square" rtlCol="0">
            <a:spAutoFit/>
          </a:bodyPr>
          <a:lstStyle/>
          <a:p>
            <a:pPr marL="457200" indent="-457200">
              <a:lnSpc>
                <a:spcPct val="12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MAC</a:t>
            </a:r>
            <a:r>
              <a:rPr lang="zh-CN" altLang="en-US" sz="2000" dirty="0">
                <a:latin typeface="Times New Roman" panose="02020603050405020304" pitchFamily="18" charset="0"/>
                <a:cs typeface="Times New Roman" panose="02020603050405020304" pitchFamily="18" charset="0"/>
              </a:rPr>
              <a:t>的设计要求</a:t>
            </a:r>
            <a:endParaRPr lang="en-US" altLang="zh-CN" sz="2000" dirty="0">
              <a:latin typeface="Times New Roman" panose="02020603050405020304" pitchFamily="18" charset="0"/>
              <a:cs typeface="Times New Roman" panose="02020603050405020304" pitchFamily="18" charset="0"/>
            </a:endParaRPr>
          </a:p>
          <a:p>
            <a:pPr marL="914400" lvl="1" indent="-457200" algn="just">
              <a:lnSpc>
                <a:spcPct val="12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在知道一个消息和</a:t>
            </a:r>
            <a:r>
              <a:rPr lang="en-US" altLang="zh-CN" sz="2000" dirty="0">
                <a:latin typeface="Times New Roman" panose="02020603050405020304" pitchFamily="18" charset="0"/>
                <a:cs typeface="Times New Roman" panose="02020603050405020304" pitchFamily="18" charset="0"/>
              </a:rPr>
              <a:t>MAC</a:t>
            </a:r>
            <a:r>
              <a:rPr lang="zh-CN" altLang="en-US" sz="2000" dirty="0">
                <a:latin typeface="Times New Roman" panose="02020603050405020304" pitchFamily="18" charset="0"/>
                <a:cs typeface="Times New Roman" panose="02020603050405020304" pitchFamily="18" charset="0"/>
              </a:rPr>
              <a:t>的情况下，找到另一个具有相同</a:t>
            </a:r>
            <a:r>
              <a:rPr lang="en-US" altLang="zh-CN" sz="2000" dirty="0">
                <a:latin typeface="Times New Roman" panose="02020603050405020304" pitchFamily="18" charset="0"/>
                <a:cs typeface="Times New Roman" panose="02020603050405020304" pitchFamily="18" charset="0"/>
              </a:rPr>
              <a:t>MAC</a:t>
            </a:r>
            <a:r>
              <a:rPr lang="zh-CN" altLang="en-US" sz="2000" dirty="0">
                <a:latin typeface="Times New Roman" panose="02020603050405020304" pitchFamily="18" charset="0"/>
                <a:cs typeface="Times New Roman" panose="02020603050405020304" pitchFamily="18" charset="0"/>
              </a:rPr>
              <a:t>的消息是不可能的</a:t>
            </a:r>
          </a:p>
          <a:p>
            <a:pPr marL="914400" lvl="1" indent="-457200" algn="just">
              <a:lnSpc>
                <a:spcPct val="120000"/>
              </a:lnSpc>
              <a:spcBef>
                <a:spcPts val="600"/>
              </a:spcBef>
              <a:buFont typeface="+mj-lt"/>
              <a:buAutoNum type="arabicPeriod"/>
            </a:pPr>
            <a:r>
              <a:rPr lang="en-US" altLang="zh-CN" sz="2000" dirty="0">
                <a:latin typeface="Times New Roman" panose="02020603050405020304" pitchFamily="18" charset="0"/>
                <a:cs typeface="Times New Roman" panose="02020603050405020304" pitchFamily="18" charset="0"/>
              </a:rPr>
              <a:t>MAC</a:t>
            </a:r>
            <a:r>
              <a:rPr lang="zh-CN" altLang="en-US" sz="2000" dirty="0">
                <a:latin typeface="Times New Roman" panose="02020603050405020304" pitchFamily="18" charset="0"/>
                <a:cs typeface="Times New Roman" panose="02020603050405020304" pitchFamily="18" charset="0"/>
              </a:rPr>
              <a:t>应该是</a:t>
            </a:r>
            <a:r>
              <a:rPr lang="zh-CN" altLang="en-US" sz="2000" dirty="0">
                <a:solidFill>
                  <a:srgbClr val="0000FF"/>
                </a:solidFill>
                <a:latin typeface="Times New Roman" panose="02020603050405020304" pitchFamily="18" charset="0"/>
                <a:cs typeface="Times New Roman" panose="02020603050405020304" pitchFamily="18" charset="0"/>
              </a:rPr>
              <a:t>均匀分布</a:t>
            </a:r>
            <a:r>
              <a:rPr lang="zh-CN" altLang="en-US" sz="2000" dirty="0">
                <a:latin typeface="Times New Roman" panose="02020603050405020304" pitchFamily="18" charset="0"/>
                <a:cs typeface="Times New Roman" panose="02020603050405020304" pitchFamily="18" charset="0"/>
              </a:rPr>
              <a:t>的</a:t>
            </a:r>
          </a:p>
          <a:p>
            <a:pPr marL="914400" lvl="1" indent="-457200" algn="just">
              <a:lnSpc>
                <a:spcPct val="120000"/>
              </a:lnSpc>
              <a:spcBef>
                <a:spcPts val="600"/>
              </a:spcBef>
              <a:buFont typeface="+mj-lt"/>
              <a:buAutoNum type="arabicPeriod"/>
            </a:pPr>
            <a:r>
              <a:rPr lang="en-US" altLang="zh-CN" sz="2000" dirty="0">
                <a:latin typeface="Times New Roman" panose="02020603050405020304" pitchFamily="18" charset="0"/>
                <a:cs typeface="Times New Roman" panose="02020603050405020304" pitchFamily="18" charset="0"/>
              </a:rPr>
              <a:t>MAC</a:t>
            </a:r>
            <a:r>
              <a:rPr lang="zh-CN" altLang="en-US" sz="2000" dirty="0">
                <a:latin typeface="Times New Roman" panose="02020603050405020304" pitchFamily="18" charset="0"/>
                <a:cs typeface="Times New Roman" panose="02020603050405020304" pitchFamily="18" charset="0"/>
              </a:rPr>
              <a:t>应该平等地依赖于消息的所有比特</a:t>
            </a:r>
            <a:endParaRPr lang="en-US" altLang="zh-CN" sz="20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7CCD43B3-7FD1-4957-AFDD-6A1E7C33C83C}"/>
              </a:ext>
            </a:extLst>
          </p:cNvPr>
          <p:cNvSpPr txBox="1"/>
          <p:nvPr/>
        </p:nvSpPr>
        <p:spPr>
          <a:xfrm>
            <a:off x="312516" y="4219887"/>
            <a:ext cx="8479945" cy="1354217"/>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消息认证码的构造方法主要有两种：</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mj-lt"/>
              <a:buAutoNum type="arabicPeriod"/>
            </a:pPr>
            <a:r>
              <a:rPr lang="en-US" altLang="zh-CN" sz="2000" b="1" dirty="0">
                <a:latin typeface="Times New Roman" panose="02020603050405020304" pitchFamily="18" charset="0"/>
                <a:cs typeface="Times New Roman" panose="02020603050405020304" pitchFamily="18" charset="0"/>
              </a:rPr>
              <a:t>HMAC</a:t>
            </a:r>
            <a:r>
              <a:rPr lang="zh-CN" altLang="en-US" sz="2000" b="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基于</a:t>
            </a:r>
            <a:r>
              <a:rPr lang="zh-CN" altLang="en-US" sz="2000" dirty="0">
                <a:solidFill>
                  <a:srgbClr val="0000FF"/>
                </a:solidFill>
                <a:latin typeface="Times New Roman" panose="02020603050405020304" pitchFamily="18" charset="0"/>
                <a:cs typeface="Times New Roman" panose="02020603050405020304" pitchFamily="18" charset="0"/>
              </a:rPr>
              <a:t>哈希函数</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mj-lt"/>
              <a:buAutoNum type="arabicPeriod"/>
            </a:pPr>
            <a:r>
              <a:rPr lang="en-US" altLang="zh-CN" sz="2000" b="1" dirty="0">
                <a:latin typeface="Times New Roman" panose="02020603050405020304" pitchFamily="18" charset="0"/>
                <a:cs typeface="Times New Roman" panose="02020603050405020304" pitchFamily="18" charset="0"/>
              </a:rPr>
              <a:t>CMAC</a:t>
            </a:r>
            <a:r>
              <a:rPr lang="zh-CN" altLang="en-US" sz="2000" b="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基于</a:t>
            </a:r>
            <a:r>
              <a:rPr lang="zh-CN" altLang="en-US" sz="2000" dirty="0">
                <a:solidFill>
                  <a:srgbClr val="0000FF"/>
                </a:solidFill>
                <a:latin typeface="Times New Roman" panose="02020603050405020304" pitchFamily="18" charset="0"/>
                <a:cs typeface="Times New Roman" panose="02020603050405020304" pitchFamily="18" charset="0"/>
              </a:rPr>
              <a:t>分组密码</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921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10</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a:t>
            </a:r>
            <a:r>
              <a:rPr lang="zh-CN" altLang="en-US" sz="2400" b="1" dirty="0">
                <a:solidFill>
                  <a:srgbClr val="0000FF"/>
                </a:solidFill>
                <a:latin typeface="Times New Roman" panose="02020603050405020304" pitchFamily="18" charset="0"/>
                <a:cs typeface="Times New Roman" panose="02020603050405020304" pitchFamily="18" charset="0"/>
              </a:rPr>
              <a:t>消息认证码 </a:t>
            </a:r>
            <a:r>
              <a:rPr lang="en-US" altLang="zh-CN" sz="2400" b="1" dirty="0">
                <a:solidFill>
                  <a:srgbClr val="0000FF"/>
                </a:solidFill>
                <a:latin typeface="Times New Roman" panose="02020603050405020304" pitchFamily="18" charset="0"/>
                <a:cs typeface="Times New Roman" panose="02020603050405020304" pitchFamily="18" charset="0"/>
              </a:rPr>
              <a:t>HMAC</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4C51DE6-60B1-EE44-2A57-B42419475092}"/>
                  </a:ext>
                </a:extLst>
              </p:cNvPr>
              <p:cNvSpPr txBox="1"/>
              <p:nvPr/>
            </p:nvSpPr>
            <p:spPr>
              <a:xfrm>
                <a:off x="250301" y="1736225"/>
                <a:ext cx="8643397" cy="4449680"/>
              </a:xfrm>
              <a:prstGeom prst="rect">
                <a:avLst/>
              </a:prstGeom>
              <a:noFill/>
            </p:spPr>
            <p:txBody>
              <a:bodyPr wrap="square" rtlCol="0">
                <a:spAutoFit/>
              </a:bodyPr>
              <a:lstStyle/>
              <a:p>
                <a:pPr marL="342900" indent="-342900">
                  <a:lnSpc>
                    <a:spcPct val="120000"/>
                  </a:lnSpc>
                  <a:spcBef>
                    <a:spcPts val="600"/>
                  </a:spcBef>
                  <a:spcAft>
                    <a:spcPts val="1200"/>
                  </a:spcAft>
                  <a:buFont typeface="Wingdings" panose="05000000000000000000" pitchFamily="2" charset="2"/>
                  <a:buChar char="l"/>
                </a:pPr>
                <a:r>
                  <a:rPr lang="zh-CN" altLang="en-US" sz="2000" dirty="0">
                    <a:solidFill>
                      <a:srgbClr val="0000FF"/>
                    </a:solidFill>
                    <a:latin typeface="Times New Roman" panose="02020603050405020304" pitchFamily="18" charset="0"/>
                    <a:cs typeface="Times New Roman" panose="02020603050405020304" pitchFamily="18" charset="0"/>
                  </a:rPr>
                  <a:t>带密钥的哈希函数：</a:t>
                </a:r>
                <a14:m>
                  <m:oMath xmlns:m="http://schemas.openxmlformats.org/officeDocument/2006/math">
                    <m:r>
                      <a:rPr lang="en-US" altLang="zh-CN" sz="2000" i="1" dirty="0" smtClean="0">
                        <a:latin typeface="Cambria Math" panose="02040503050406030204" pitchFamily="18" charset="0"/>
                        <a:cs typeface="Times New Roman" panose="02020603050405020304" pitchFamily="18" charset="0"/>
                      </a:rPr>
                      <m:t>𝐾𝑒𝑦𝑒𝑑𝐻𝑎𝑠h</m:t>
                    </m:r>
                    <m:r>
                      <a:rPr lang="en-US" altLang="zh-CN" sz="2000" b="0" i="1" dirty="0" smtClean="0">
                        <a:latin typeface="Cambria Math" panose="02040503050406030204" pitchFamily="18" charset="0"/>
                        <a:cs typeface="Times New Roman" panose="02020603050405020304" pitchFamily="18" charset="0"/>
                      </a:rPr>
                      <m:t>=</m:t>
                    </m:r>
                    <m:r>
                      <a:rPr lang="en-US" altLang="zh-CN" sz="2000" i="1" dirty="0" smtClean="0">
                        <a:latin typeface="Cambria Math" panose="02040503050406030204" pitchFamily="18" charset="0"/>
                        <a:cs typeface="Times New Roman" panose="02020603050405020304" pitchFamily="18" charset="0"/>
                      </a:rPr>
                      <m:t>𝐻𝑎𝑠h</m:t>
                    </m:r>
                    <m:r>
                      <a:rPr lang="en-US" altLang="zh-CN" sz="2000" i="1" dirty="0" smtClean="0">
                        <a:latin typeface="Cambria Math" panose="02040503050406030204" pitchFamily="18" charset="0"/>
                        <a:cs typeface="Times New Roman" panose="02020603050405020304" pitchFamily="18" charset="0"/>
                      </a:rPr>
                      <m:t>(</m:t>
                    </m:r>
                    <m:r>
                      <a:rPr lang="en-US" altLang="zh-CN" sz="2000" i="1" dirty="0" err="1" smtClean="0">
                        <a:latin typeface="Cambria Math" panose="02040503050406030204" pitchFamily="18" charset="0"/>
                        <a:cs typeface="Times New Roman" panose="02020603050405020304" pitchFamily="18" charset="0"/>
                      </a:rPr>
                      <m:t>𝐾𝑒𝑦</m:t>
                    </m:r>
                    <m:r>
                      <a:rPr lang="en-US" altLang="zh-CN" sz="2000" i="1" dirty="0">
                        <a:latin typeface="Cambria Math"/>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m:t>
                    </m:r>
                    <m:r>
                      <a:rPr lang="en-US" altLang="zh-CN" sz="2000" b="0" i="1" dirty="0" smtClean="0">
                        <a:latin typeface="Cambria Math"/>
                        <a:cs typeface="Times New Roman" panose="02020603050405020304" pitchFamily="18" charset="0"/>
                      </a:rPr>
                      <m:t>𝑀</m:t>
                    </m:r>
                    <m:r>
                      <a:rPr lang="en-US" altLang="zh-CN" sz="2000" i="1" dirty="0" smtClean="0">
                        <a:latin typeface="Cambria Math" panose="02040503050406030204" pitchFamily="18" charset="0"/>
                        <a:cs typeface="Times New Roman" panose="02020603050405020304" pitchFamily="18" charset="0"/>
                      </a:rPr>
                      <m:t>) </m:t>
                    </m:r>
                  </m:oMath>
                </a14:m>
                <a:endParaRPr lang="en-US" altLang="zh-CN" sz="2000" i="1" dirty="0">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存在的问题</a:t>
                </a:r>
                <a:endParaRPr lang="en-US" altLang="zh-CN" sz="2000" i="1" dirty="0">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长度扩展攻击</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令</a:t>
                </a:r>
                <a14:m>
                  <m:oMath xmlns:m="http://schemas.openxmlformats.org/officeDocument/2006/math">
                    <m:r>
                      <a:rPr lang="en-US" altLang="zh-CN" i="1" dirty="0">
                        <a:latin typeface="Cambria Math" panose="02040503050406030204" pitchFamily="18" charset="0"/>
                        <a:cs typeface="Times New Roman" panose="02020603050405020304" pitchFamily="18" charset="0"/>
                      </a:rPr>
                      <m:t>𝑀</m:t>
                    </m:r>
                    <m:r>
                      <a:rPr lang="en-US" altLang="zh-CN" i="1" dirty="0">
                        <a:latin typeface="Cambria Math" panose="02040503050406030204" pitchFamily="18" charset="0"/>
                        <a:cs typeface="Times New Roman" panose="02020603050405020304" pitchFamily="18" charset="0"/>
                      </a:rPr>
                      <m:t>=</m:t>
                    </m:r>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panose="02040503050406030204" pitchFamily="18" charset="0"/>
                            <a:cs typeface="Times New Roman" panose="02020603050405020304" pitchFamily="18" charset="0"/>
                          </a:rPr>
                          <m:t>𝑀</m:t>
                        </m:r>
                      </m:e>
                      <m:sub>
                        <m:r>
                          <a:rPr lang="en-US" altLang="zh-CN" i="1" dirty="0">
                            <a:latin typeface="Cambria Math" panose="02040503050406030204" pitchFamily="18" charset="0"/>
                            <a:cs typeface="Times New Roman" panose="02020603050405020304" pitchFamily="18" charset="0"/>
                          </a:rPr>
                          <m:t>1</m:t>
                        </m:r>
                      </m:sub>
                    </m:sSub>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panose="02040503050406030204" pitchFamily="18" charset="0"/>
                            <a:cs typeface="Times New Roman" panose="02020603050405020304" pitchFamily="18" charset="0"/>
                          </a:rPr>
                          <m:t>𝑀</m:t>
                        </m:r>
                      </m:e>
                      <m:sub>
                        <m:r>
                          <a:rPr lang="en-US" altLang="zh-CN" i="1" dirty="0">
                            <a:latin typeface="Cambria Math" panose="02040503050406030204" pitchFamily="18" charset="0"/>
                            <a:cs typeface="Times New Roman" panose="02020603050405020304" pitchFamily="18" charset="0"/>
                          </a:rPr>
                          <m:t>2</m:t>
                        </m:r>
                      </m:sub>
                    </m:sSub>
                    <m:r>
                      <a:rPr lang="en-US" altLang="zh-CN" i="1" dirty="0">
                        <a:latin typeface="Cambria Math" panose="02040503050406030204" pitchFamily="18" charset="0"/>
                        <a:cs typeface="Times New Roman" panose="02020603050405020304" pitchFamily="18" charset="0"/>
                      </a:rPr>
                      <m:t>…</m:t>
                    </m:r>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panose="02040503050406030204" pitchFamily="18" charset="0"/>
                            <a:cs typeface="Times New Roman" panose="02020603050405020304" pitchFamily="18" charset="0"/>
                          </a:rPr>
                          <m:t>𝑀</m:t>
                        </m:r>
                      </m:e>
                      <m:sub>
                        <m:r>
                          <a:rPr lang="en-US" altLang="zh-CN" i="1" dirty="0">
                            <a:latin typeface="Cambria Math" panose="02040503050406030204" pitchFamily="18" charset="0"/>
                            <a:cs typeface="Times New Roman" panose="02020603050405020304" pitchFamily="18" charset="0"/>
                          </a:rPr>
                          <m:t>𝐿</m:t>
                        </m:r>
                      </m:sub>
                    </m:sSub>
                  </m:oMath>
                </a14:m>
                <a:r>
                  <a:rPr lang="zh-CN" altLang="en-US" dirty="0">
                    <a:latin typeface="Cambria Math" panose="02040503050406030204" pitchFamily="18" charset="0"/>
                    <a:cs typeface="Times New Roman" panose="02020603050405020304" pitchFamily="18" charset="0"/>
                  </a:rPr>
                  <a:t>，</a:t>
                </a:r>
                <a14:m>
                  <m:oMath xmlns:m="http://schemas.openxmlformats.org/officeDocument/2006/math">
                    <m:r>
                      <a:rPr lang="en-US" altLang="zh-CN" i="1" dirty="0">
                        <a:latin typeface="Cambria Math"/>
                        <a:cs typeface="Times New Roman" panose="02020603050405020304" pitchFamily="18" charset="0"/>
                      </a:rPr>
                      <m:t>𝑀𝐴𝐶</m:t>
                    </m:r>
                    <m:r>
                      <a:rPr lang="pt-BR" altLang="zh-CN" i="1" dirty="0">
                        <a:latin typeface="Cambria Math" panose="02040503050406030204" pitchFamily="18" charset="0"/>
                        <a:cs typeface="Times New Roman" panose="02020603050405020304" pitchFamily="18" charset="0"/>
                      </a:rPr>
                      <m:t>=</m:t>
                    </m:r>
                    <m:r>
                      <a:rPr lang="pt-BR" altLang="zh-CN" i="1" dirty="0">
                        <a:latin typeface="Cambria Math" panose="02040503050406030204" pitchFamily="18" charset="0"/>
                        <a:cs typeface="Times New Roman" panose="02020603050405020304" pitchFamily="18" charset="0"/>
                      </a:rPr>
                      <m:t>𝐻</m:t>
                    </m:r>
                    <m:r>
                      <a:rPr lang="pt-BR" altLang="zh-CN" i="1" dirty="0">
                        <a:latin typeface="Cambria Math" panose="02040503050406030204" pitchFamily="18" charset="0"/>
                        <a:cs typeface="Times New Roman" panose="02020603050405020304" pitchFamily="18" charset="0"/>
                      </a:rPr>
                      <m:t>(</m:t>
                    </m:r>
                    <m:r>
                      <a:rPr lang="pt-BR" altLang="zh-CN" i="1" dirty="0">
                        <a:latin typeface="Cambria Math" panose="02040503050406030204" pitchFamily="18" charset="0"/>
                        <a:cs typeface="Times New Roman" panose="02020603050405020304" pitchFamily="18" charset="0"/>
                      </a:rPr>
                      <m:t>𝐻</m:t>
                    </m:r>
                    <m:r>
                      <a:rPr lang="pt-BR" altLang="zh-CN" i="1" dirty="0">
                        <a:latin typeface="Cambria Math" panose="02040503050406030204" pitchFamily="18" charset="0"/>
                        <a:cs typeface="Times New Roman" panose="02020603050405020304" pitchFamily="18" charset="0"/>
                      </a:rPr>
                      <m:t>(…</m:t>
                    </m:r>
                    <m:r>
                      <a:rPr lang="pt-BR" altLang="zh-CN" i="1" dirty="0">
                        <a:latin typeface="Cambria Math" panose="02040503050406030204" pitchFamily="18" charset="0"/>
                        <a:cs typeface="Times New Roman" panose="02020603050405020304" pitchFamily="18" charset="0"/>
                      </a:rPr>
                      <m:t>𝐻</m:t>
                    </m:r>
                    <m:d>
                      <m:dPr>
                        <m:ctrlPr>
                          <a:rPr lang="pt-BR" altLang="zh-CN" i="1" dirty="0">
                            <a:latin typeface="Cambria Math" panose="02040503050406030204" pitchFamily="18" charset="0"/>
                            <a:cs typeface="Times New Roman" panose="02020603050405020304" pitchFamily="18" charset="0"/>
                          </a:rPr>
                        </m:ctrlPr>
                      </m:dPr>
                      <m:e>
                        <m:r>
                          <a:rPr lang="pt-BR" altLang="zh-CN" i="1" dirty="0">
                            <a:latin typeface="Cambria Math" panose="02040503050406030204" pitchFamily="18" charset="0"/>
                            <a:cs typeface="Times New Roman" panose="02020603050405020304" pitchFamily="18" charset="0"/>
                          </a:rPr>
                          <m:t>𝐻</m:t>
                        </m:r>
                        <m:d>
                          <m:dPr>
                            <m:ctrlPr>
                              <a:rPr lang="pt-BR" altLang="zh-CN" i="1" dirty="0">
                                <a:latin typeface="Cambria Math" panose="02040503050406030204" pitchFamily="18" charset="0"/>
                                <a:cs typeface="Times New Roman" panose="02020603050405020304" pitchFamily="18" charset="0"/>
                              </a:rPr>
                            </m:ctrlPr>
                          </m:dPr>
                          <m:e>
                            <m:r>
                              <a:rPr lang="en-US" altLang="zh-CN" i="1" dirty="0" smtClean="0">
                                <a:latin typeface="Cambria Math"/>
                                <a:cs typeface="Times New Roman" panose="02020603050405020304" pitchFamily="18" charset="0"/>
                              </a:rPr>
                              <m:t>𝐾𝑒𝑦</m:t>
                            </m:r>
                            <m:r>
                              <a:rPr lang="pt-BR" altLang="zh-CN" i="1" dirty="0">
                                <a:latin typeface="Cambria Math" panose="02040503050406030204" pitchFamily="18" charset="0"/>
                                <a:cs typeface="Times New Roman" panose="02020603050405020304" pitchFamily="18" charset="0"/>
                              </a:rPr>
                              <m:t>,</m:t>
                            </m:r>
                            <m:sSub>
                              <m:sSubPr>
                                <m:ctrlPr>
                                  <a:rPr lang="en-US" altLang="zh-CN" i="1" dirty="0">
                                    <a:latin typeface="Cambria Math" panose="02040503050406030204" pitchFamily="18" charset="0"/>
                                    <a:cs typeface="Times New Roman" panose="02020603050405020304" pitchFamily="18" charset="0"/>
                                  </a:rPr>
                                </m:ctrlPr>
                              </m:sSubPr>
                              <m:e>
                                <m:r>
                                  <a:rPr lang="pt-BR" altLang="zh-CN" i="1" dirty="0">
                                    <a:latin typeface="Cambria Math" panose="02040503050406030204" pitchFamily="18" charset="0"/>
                                    <a:cs typeface="Times New Roman" panose="02020603050405020304" pitchFamily="18" charset="0"/>
                                  </a:rPr>
                                  <m:t>𝑀</m:t>
                                </m:r>
                              </m:e>
                              <m:sub>
                                <m:r>
                                  <a:rPr lang="pt-BR" altLang="zh-CN" i="1" dirty="0">
                                    <a:latin typeface="Cambria Math" panose="02040503050406030204" pitchFamily="18" charset="0"/>
                                    <a:cs typeface="Times New Roman" panose="02020603050405020304" pitchFamily="18" charset="0"/>
                                  </a:rPr>
                                  <m:t>1</m:t>
                                </m:r>
                              </m:sub>
                            </m:sSub>
                          </m:e>
                        </m:d>
                        <m:r>
                          <a:rPr lang="pt-BR" altLang="zh-CN" i="1" dirty="0">
                            <a:latin typeface="Cambria Math" panose="02040503050406030204" pitchFamily="18" charset="0"/>
                            <a:cs typeface="Times New Roman" panose="02020603050405020304" pitchFamily="18" charset="0"/>
                          </a:rPr>
                          <m:t>,</m:t>
                        </m:r>
                        <m:sSub>
                          <m:sSubPr>
                            <m:ctrlPr>
                              <a:rPr lang="pt-BR" altLang="zh-CN" i="1" dirty="0">
                                <a:latin typeface="Cambria Math" panose="02040503050406030204" pitchFamily="18" charset="0"/>
                                <a:cs typeface="Times New Roman" panose="02020603050405020304" pitchFamily="18" charset="0"/>
                              </a:rPr>
                            </m:ctrlPr>
                          </m:sSubPr>
                          <m:e>
                            <m:r>
                              <a:rPr lang="pt-BR" altLang="zh-CN" i="1" dirty="0">
                                <a:latin typeface="Cambria Math" panose="02040503050406030204" pitchFamily="18" charset="0"/>
                                <a:cs typeface="Times New Roman" panose="02020603050405020304" pitchFamily="18" charset="0"/>
                              </a:rPr>
                              <m:t>𝑀</m:t>
                            </m:r>
                          </m:e>
                          <m:sub>
                            <m:r>
                              <a:rPr lang="pt-BR" altLang="zh-CN" i="1" dirty="0">
                                <a:latin typeface="Cambria Math" panose="02040503050406030204" pitchFamily="18" charset="0"/>
                                <a:cs typeface="Times New Roman" panose="02020603050405020304" pitchFamily="18" charset="0"/>
                              </a:rPr>
                              <m:t>2</m:t>
                            </m:r>
                          </m:sub>
                        </m:sSub>
                      </m:e>
                    </m:d>
                    <m:r>
                      <a:rPr lang="pt-BR" altLang="zh-CN" i="1" dirty="0">
                        <a:latin typeface="Cambria Math" panose="02040503050406030204" pitchFamily="18" charset="0"/>
                        <a:cs typeface="Times New Roman" panose="02020603050405020304" pitchFamily="18" charset="0"/>
                      </a:rPr>
                      <m:t>,…,</m:t>
                    </m:r>
                    <m:sSub>
                      <m:sSubPr>
                        <m:ctrlPr>
                          <a:rPr lang="pt-BR" altLang="zh-CN" i="1" dirty="0">
                            <a:latin typeface="Cambria Math" panose="02040503050406030204" pitchFamily="18" charset="0"/>
                            <a:cs typeface="Times New Roman" panose="02020603050405020304" pitchFamily="18" charset="0"/>
                          </a:rPr>
                        </m:ctrlPr>
                      </m:sSubPr>
                      <m:e>
                        <m:r>
                          <a:rPr lang="pt-BR" altLang="zh-CN" i="1" dirty="0">
                            <a:latin typeface="Cambria Math" panose="02040503050406030204" pitchFamily="18" charset="0"/>
                            <a:cs typeface="Times New Roman" panose="02020603050405020304" pitchFamily="18" charset="0"/>
                          </a:rPr>
                          <m:t>𝑀</m:t>
                        </m:r>
                      </m:e>
                      <m:sub>
                        <m:r>
                          <a:rPr lang="pt-BR" altLang="zh-CN" i="1" dirty="0">
                            <a:latin typeface="Cambria Math" panose="02040503050406030204" pitchFamily="18" charset="0"/>
                            <a:cs typeface="Times New Roman" panose="02020603050405020304" pitchFamily="18" charset="0"/>
                          </a:rPr>
                          <m:t>𝐿</m:t>
                        </m:r>
                      </m:sub>
                    </m:sSub>
                    <m:r>
                      <a:rPr lang="pt-BR" altLang="zh-CN" i="1" dirty="0">
                        <a:latin typeface="Cambria Math" panose="02040503050406030204" pitchFamily="18" charset="0"/>
                        <a:cs typeface="Times New Roman" panose="02020603050405020304" pitchFamily="18" charset="0"/>
                      </a:rPr>
                      <m:t>)</m:t>
                    </m:r>
                  </m:oMath>
                </a14:m>
                <a:endParaRPr lang="zh-CN" altLang="en-US"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攻击者可以计算</a:t>
                </a:r>
                <a14:m>
                  <m:oMath xmlns:m="http://schemas.openxmlformats.org/officeDocument/2006/math">
                    <m:r>
                      <a:rPr lang="en-US" altLang="zh-CN" dirty="0">
                        <a:solidFill>
                          <a:srgbClr val="FF0000"/>
                        </a:solidFill>
                        <a:latin typeface="Cambria Math" panose="02040503050406030204" pitchFamily="18" charset="0"/>
                        <a:cs typeface="Times New Roman" panose="02020603050405020304" pitchFamily="18" charset="0"/>
                      </a:rPr>
                      <m:t> </m:t>
                    </m:r>
                    <m:sSup>
                      <m:sSupPr>
                        <m:ctrlPr>
                          <a:rPr lang="en-US" altLang="zh-CN" i="1" dirty="0">
                            <a:solidFill>
                              <a:srgbClr val="0000FF"/>
                            </a:solidFill>
                            <a:latin typeface="Cambria Math" panose="02040503050406030204" pitchFamily="18" charset="0"/>
                            <a:cs typeface="Times New Roman" panose="02020603050405020304" pitchFamily="18" charset="0"/>
                          </a:rPr>
                        </m:ctrlPr>
                      </m:sSupPr>
                      <m:e>
                        <m:r>
                          <a:rPr lang="en-US" altLang="zh-CN" b="0" i="1" dirty="0" smtClean="0">
                            <a:solidFill>
                              <a:srgbClr val="0000FF"/>
                            </a:solidFill>
                            <a:latin typeface="Cambria Math"/>
                            <a:cs typeface="Times New Roman" panose="02020603050405020304" pitchFamily="18" charset="0"/>
                          </a:rPr>
                          <m:t>𝑀𝐴𝐶</m:t>
                        </m:r>
                      </m:e>
                      <m:sup>
                        <m:r>
                          <a:rPr lang="en-US" altLang="zh-CN" i="1" dirty="0">
                            <a:solidFill>
                              <a:srgbClr val="0000FF"/>
                            </a:solidFill>
                            <a:latin typeface="Cambria Math" panose="02040503050406030204" pitchFamily="18" charset="0"/>
                            <a:cs typeface="Times New Roman" panose="02020603050405020304" pitchFamily="18" charset="0"/>
                          </a:rPr>
                          <m:t>′</m:t>
                        </m:r>
                      </m:sup>
                    </m:sSup>
                    <m:r>
                      <a:rPr lang="en-US" altLang="zh-CN" i="1" dirty="0">
                        <a:solidFill>
                          <a:srgbClr val="0000FF"/>
                        </a:solidFill>
                        <a:latin typeface="Cambria Math" panose="02040503050406030204" pitchFamily="18" charset="0"/>
                        <a:cs typeface="Times New Roman" panose="02020603050405020304" pitchFamily="18" charset="0"/>
                      </a:rPr>
                      <m:t>=</m:t>
                    </m:r>
                    <m:r>
                      <a:rPr lang="en-US" altLang="zh-CN" i="1" dirty="0">
                        <a:solidFill>
                          <a:srgbClr val="0000FF"/>
                        </a:solidFill>
                        <a:latin typeface="Cambria Math" panose="02040503050406030204" pitchFamily="18" charset="0"/>
                        <a:cs typeface="Times New Roman" panose="02020603050405020304" pitchFamily="18" charset="0"/>
                      </a:rPr>
                      <m:t>𝐻</m:t>
                    </m:r>
                    <m:d>
                      <m:dPr>
                        <m:ctrlPr>
                          <a:rPr lang="en-US" altLang="zh-CN" i="1" dirty="0">
                            <a:solidFill>
                              <a:srgbClr val="0000FF"/>
                            </a:solidFill>
                            <a:latin typeface="Cambria Math" panose="02040503050406030204" pitchFamily="18" charset="0"/>
                            <a:cs typeface="Times New Roman" panose="02020603050405020304" pitchFamily="18" charset="0"/>
                          </a:rPr>
                        </m:ctrlPr>
                      </m:dPr>
                      <m:e>
                        <m:r>
                          <a:rPr lang="en-US" altLang="zh-CN" b="0" i="1" dirty="0" smtClean="0">
                            <a:solidFill>
                              <a:srgbClr val="0000FF"/>
                            </a:solidFill>
                            <a:latin typeface="Cambria Math"/>
                            <a:cs typeface="Times New Roman" panose="02020603050405020304" pitchFamily="18" charset="0"/>
                          </a:rPr>
                          <m:t>𝑀𝐴𝐶</m:t>
                        </m:r>
                        <m:r>
                          <a:rPr lang="en-US" altLang="zh-CN" i="1" dirty="0">
                            <a:solidFill>
                              <a:srgbClr val="0000FF"/>
                            </a:solidFill>
                            <a:latin typeface="Cambria Math" panose="02040503050406030204" pitchFamily="18" charset="0"/>
                            <a:cs typeface="Times New Roman" panose="02020603050405020304" pitchFamily="18" charset="0"/>
                          </a:rPr>
                          <m:t>,</m:t>
                        </m:r>
                        <m:sSub>
                          <m:sSubPr>
                            <m:ctrlPr>
                              <a:rPr lang="en-US" altLang="zh-CN" i="1" dirty="0">
                                <a:solidFill>
                                  <a:srgbClr val="0000FF"/>
                                </a:solidFill>
                                <a:latin typeface="Cambria Math" panose="02040503050406030204" pitchFamily="18" charset="0"/>
                                <a:cs typeface="Times New Roman" panose="02020603050405020304" pitchFamily="18" charset="0"/>
                              </a:rPr>
                            </m:ctrlPr>
                          </m:sSubPr>
                          <m:e>
                            <m:r>
                              <a:rPr lang="en-US" altLang="zh-CN" i="1" dirty="0">
                                <a:solidFill>
                                  <a:srgbClr val="0000FF"/>
                                </a:solidFill>
                                <a:latin typeface="Cambria Math" panose="02040503050406030204" pitchFamily="18" charset="0"/>
                                <a:cs typeface="Times New Roman" panose="02020603050405020304" pitchFamily="18" charset="0"/>
                              </a:rPr>
                              <m:t>𝑀</m:t>
                            </m:r>
                          </m:e>
                          <m:sub>
                            <m:r>
                              <a:rPr lang="en-US" altLang="zh-CN" i="1" dirty="0">
                                <a:solidFill>
                                  <a:srgbClr val="0000FF"/>
                                </a:solidFill>
                                <a:latin typeface="Cambria Math" panose="02040503050406030204" pitchFamily="18" charset="0"/>
                                <a:cs typeface="Times New Roman" panose="02020603050405020304" pitchFamily="18" charset="0"/>
                              </a:rPr>
                              <m:t>𝐿</m:t>
                            </m:r>
                            <m:r>
                              <a:rPr lang="en-US" altLang="zh-CN" i="1" dirty="0">
                                <a:solidFill>
                                  <a:srgbClr val="0000FF"/>
                                </a:solidFill>
                                <a:latin typeface="Cambria Math" panose="02040503050406030204" pitchFamily="18" charset="0"/>
                                <a:cs typeface="Times New Roman" panose="02020603050405020304" pitchFamily="18" charset="0"/>
                              </a:rPr>
                              <m:t>+1</m:t>
                            </m:r>
                          </m:sub>
                        </m:sSub>
                      </m:e>
                    </m:d>
                  </m:oMath>
                </a14:m>
                <a:r>
                  <a:rPr lang="zh-CN" altLang="en-US" dirty="0">
                    <a:latin typeface="Times New Roman" panose="02020603050405020304" pitchFamily="18" charset="0"/>
                    <a:cs typeface="Times New Roman" panose="02020603050405020304" pitchFamily="18" charset="0"/>
                  </a:rPr>
                  <a:t> 来</a:t>
                </a:r>
                <a:r>
                  <a:rPr lang="zh-CN" altLang="en-US" dirty="0">
                    <a:solidFill>
                      <a:srgbClr val="0000FF"/>
                    </a:solidFill>
                    <a:latin typeface="Times New Roman" panose="02020603050405020304" pitchFamily="18" charset="0"/>
                    <a:cs typeface="Times New Roman" panose="02020603050405020304" pitchFamily="18" charset="0"/>
                  </a:rPr>
                  <a:t>伪造有效的区块 </a:t>
                </a:r>
                <a14:m>
                  <m:oMath xmlns:m="http://schemas.openxmlformats.org/officeDocument/2006/math">
                    <m:sSub>
                      <m:sSubPr>
                        <m:ctrlPr>
                          <a:rPr lang="en-US" altLang="zh-CN" i="1" dirty="0">
                            <a:solidFill>
                              <a:srgbClr val="0000FF"/>
                            </a:solidFill>
                            <a:latin typeface="Cambria Math" panose="02040503050406030204" pitchFamily="18" charset="0"/>
                            <a:cs typeface="Times New Roman" panose="02020603050405020304" pitchFamily="18" charset="0"/>
                          </a:rPr>
                        </m:ctrlPr>
                      </m:sSubPr>
                      <m:e>
                        <m:r>
                          <a:rPr lang="en-US" altLang="zh-CN" i="1" dirty="0">
                            <a:solidFill>
                              <a:srgbClr val="0000FF"/>
                            </a:solidFill>
                            <a:latin typeface="Cambria Math" panose="02040503050406030204" pitchFamily="18" charset="0"/>
                            <a:cs typeface="Times New Roman" panose="02020603050405020304" pitchFamily="18" charset="0"/>
                          </a:rPr>
                          <m:t>𝑀</m:t>
                        </m:r>
                      </m:e>
                      <m:sub>
                        <m:r>
                          <a:rPr lang="en-US" altLang="zh-CN" i="1" dirty="0">
                            <a:solidFill>
                              <a:srgbClr val="0000FF"/>
                            </a:solidFill>
                            <a:latin typeface="Cambria Math" panose="02040503050406030204" pitchFamily="18" charset="0"/>
                            <a:cs typeface="Times New Roman" panose="02020603050405020304" pitchFamily="18" charset="0"/>
                          </a:rPr>
                          <m:t>𝐿</m:t>
                        </m:r>
                        <m:r>
                          <a:rPr lang="en-US" altLang="zh-CN" i="1" dirty="0">
                            <a:solidFill>
                              <a:srgbClr val="0000FF"/>
                            </a:solidFill>
                            <a:latin typeface="Cambria Math" panose="02040503050406030204" pitchFamily="18" charset="0"/>
                            <a:cs typeface="Times New Roman" panose="02020603050405020304" pitchFamily="18" charset="0"/>
                          </a:rPr>
                          <m:t>+1</m:t>
                        </m:r>
                      </m:sub>
                    </m:sSub>
                  </m:oMath>
                </a14:m>
                <a:r>
                  <a:rPr lang="zh-CN" altLang="en-US" dirty="0">
                    <a:latin typeface="Times New Roman" panose="02020603050405020304" pitchFamily="18" charset="0"/>
                    <a:cs typeface="Times New Roman" panose="02020603050405020304" pitchFamily="18" charset="0"/>
                  </a:rPr>
                  <a:t>的 </a:t>
                </a:r>
                <a:r>
                  <a:rPr lang="en-US" altLang="zh-CN" dirty="0">
                    <a:latin typeface="Times New Roman" panose="02020603050405020304" pitchFamily="18" charset="0"/>
                    <a:cs typeface="Times New Roman" panose="02020603050405020304" pitchFamily="18" charset="0"/>
                  </a:rPr>
                  <a:t>MAC </a:t>
                </a:r>
                <a:r>
                  <a:rPr lang="zh-CN" altLang="en-US" dirty="0">
                    <a:latin typeface="Times New Roman" panose="02020603050405020304" pitchFamily="18" charset="0"/>
                    <a:cs typeface="Times New Roman" panose="02020603050405020304" pitchFamily="18" charset="0"/>
                  </a:rPr>
                  <a:t>值</a:t>
                </a:r>
                <a:r>
                  <a:rPr lang="en-US" altLang="zh-CN" dirty="0">
                    <a:latin typeface="Times New Roman" panose="02020603050405020304" pitchFamily="18" charset="0"/>
                    <a:cs typeface="Times New Roman" panose="02020603050405020304" pitchFamily="18" charset="0"/>
                  </a:rPr>
                  <a:t> </a:t>
                </a:r>
              </a:p>
              <a:p>
                <a:pPr marL="457200" indent="-457200" algn="just">
                  <a:lnSpc>
                    <a:spcPct val="12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碰撞攻击（支持不同长度的密钥）</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对于</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b="0" i="1" dirty="0" smtClean="0">
                            <a:latin typeface="Cambria Math"/>
                            <a:cs typeface="Times New Roman" panose="02020603050405020304" pitchFamily="18" charset="0"/>
                          </a:rPr>
                          <m:t>𝑚</m:t>
                        </m:r>
                      </m:e>
                      <m:sub>
                        <m:r>
                          <a:rPr lang="en-US" altLang="zh-CN" b="0" i="1" dirty="0" smtClean="0">
                            <a:latin typeface="Cambria Math"/>
                            <a:cs typeface="Times New Roman" panose="02020603050405020304" pitchFamily="18" charset="0"/>
                          </a:rPr>
                          <m:t>1</m:t>
                        </m:r>
                      </m:sub>
                    </m:sSub>
                    <m:r>
                      <a:rPr lang="en-US" altLang="zh-CN" b="0" i="1" dirty="0" smtClean="0">
                        <a:latin typeface="Cambria Math"/>
                        <a:cs typeface="Times New Roman" panose="02020603050405020304" pitchFamily="18" charset="0"/>
                      </a:rPr>
                      <m:t>=</m:t>
                    </m:r>
                    <m:r>
                      <a:rPr lang="en-US" altLang="zh-CN" b="0" i="1" dirty="0" smtClean="0">
                        <a:latin typeface="Cambria Math"/>
                        <a:cs typeface="Times New Roman" panose="02020603050405020304" pitchFamily="18" charset="0"/>
                      </a:rPr>
                      <m:t>𝐾𝑒</m:t>
                    </m:r>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b="0" i="1" dirty="0" smtClean="0">
                            <a:latin typeface="Cambria Math"/>
                            <a:cs typeface="Times New Roman" panose="02020603050405020304" pitchFamily="18" charset="0"/>
                          </a:rPr>
                          <m:t>𝑦</m:t>
                        </m:r>
                      </m:e>
                      <m:sub>
                        <m:r>
                          <a:rPr lang="en-US" altLang="zh-CN" b="0" i="1" dirty="0" smtClean="0">
                            <a:latin typeface="Cambria Math"/>
                            <a:cs typeface="Times New Roman" panose="02020603050405020304" pitchFamily="18" charset="0"/>
                          </a:rPr>
                          <m:t>1</m:t>
                        </m:r>
                      </m:sub>
                    </m:sSub>
                    <m:r>
                      <a:rPr lang="en-US" altLang="zh-CN" b="0" i="1" dirty="0" smtClean="0">
                        <a:latin typeface="Cambria Math"/>
                        <a:cs typeface="Times New Roman" panose="02020603050405020304" pitchFamily="18" charset="0"/>
                      </a:rPr>
                      <m:t>|</m:t>
                    </m:r>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cs typeface="Times New Roman" panose="02020603050405020304" pitchFamily="18" charset="0"/>
                          </a:rPr>
                          <m:t>𝑀</m:t>
                        </m:r>
                      </m:e>
                      <m:sub>
                        <m:r>
                          <a:rPr lang="en-US" altLang="zh-CN" i="1" dirty="0">
                            <a:latin typeface="Cambria Math" panose="02040503050406030204" pitchFamily="18" charset="0"/>
                            <a:cs typeface="Times New Roman" panose="02020603050405020304" pitchFamily="18" charset="0"/>
                          </a:rPr>
                          <m:t>1</m:t>
                        </m:r>
                      </m:sub>
                    </m:sSub>
                  </m:oMath>
                </a14:m>
                <a:r>
                  <a:rPr lang="zh-CN" altLang="en-US" dirty="0">
                    <a:latin typeface="Cambria Math" panose="02040503050406030204" pitchFamily="18" charset="0"/>
                    <a:cs typeface="Times New Roman" panose="02020603050405020304" pitchFamily="18" charset="0"/>
                  </a:rPr>
                  <a:t>，</a:t>
                </a:r>
                <a14:m>
                  <m:oMath xmlns:m="http://schemas.openxmlformats.org/officeDocument/2006/math">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a:cs typeface="Times New Roman" panose="02020603050405020304" pitchFamily="18" charset="0"/>
                          </a:rPr>
                          <m:t>𝑚</m:t>
                        </m:r>
                      </m:e>
                      <m:sub>
                        <m:r>
                          <a:rPr lang="en-US" altLang="zh-CN" b="0" i="1" dirty="0" smtClean="0">
                            <a:latin typeface="Cambria Math"/>
                            <a:cs typeface="Times New Roman" panose="02020603050405020304" pitchFamily="18" charset="0"/>
                          </a:rPr>
                          <m:t>2</m:t>
                        </m:r>
                      </m:sub>
                    </m:sSub>
                  </m:oMath>
                </a14:m>
                <a:r>
                  <a:rPr lang="en-US" altLang="zh-CN" dirty="0">
                    <a:latin typeface="Cambria Math" panose="02040503050406030204" pitchFamily="18" charset="0"/>
                    <a:cs typeface="Times New Roman" panose="02020603050405020304" pitchFamily="18" charset="0"/>
                  </a:rPr>
                  <a:t>=</a:t>
                </a:r>
                <a14:m>
                  <m:oMath xmlns:m="http://schemas.openxmlformats.org/officeDocument/2006/math">
                    <m:r>
                      <a:rPr lang="en-US" altLang="zh-CN" i="1" dirty="0">
                        <a:latin typeface="Cambria Math"/>
                        <a:cs typeface="Times New Roman" panose="02020603050405020304" pitchFamily="18" charset="0"/>
                      </a:rPr>
                      <m:t>𝐾𝑒</m:t>
                    </m:r>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a:latin typeface="Cambria Math"/>
                            <a:cs typeface="Times New Roman" panose="02020603050405020304" pitchFamily="18" charset="0"/>
                          </a:rPr>
                          <m:t>𝑦</m:t>
                        </m:r>
                      </m:e>
                      <m:sub>
                        <m:r>
                          <a:rPr lang="en-US" altLang="zh-CN" b="0" i="1" dirty="0" smtClean="0">
                            <a:latin typeface="Cambria Math"/>
                            <a:cs typeface="Times New Roman" panose="02020603050405020304" pitchFamily="18" charset="0"/>
                          </a:rPr>
                          <m:t>2</m:t>
                        </m:r>
                      </m:sub>
                    </m:sSub>
                    <m:r>
                      <a:rPr lang="en-US" altLang="zh-CN" i="1" dirty="0">
                        <a:latin typeface="Cambria Math"/>
                        <a:cs typeface="Times New Roman" panose="02020603050405020304" pitchFamily="18" charset="0"/>
                      </a:rPr>
                      <m:t>|</m:t>
                    </m:r>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a:latin typeface="Cambria Math" panose="02040503050406030204" pitchFamily="18" charset="0"/>
                            <a:cs typeface="Times New Roman" panose="02020603050405020304" pitchFamily="18" charset="0"/>
                          </a:rPr>
                          <m:t>|</m:t>
                        </m:r>
                        <m:r>
                          <a:rPr lang="en-US" altLang="zh-CN" i="1" dirty="0">
                            <a:latin typeface="Cambria Math"/>
                            <a:cs typeface="Times New Roman" panose="02020603050405020304" pitchFamily="18" charset="0"/>
                          </a:rPr>
                          <m:t>𝑀</m:t>
                        </m:r>
                      </m:e>
                      <m:sub>
                        <m:r>
                          <a:rPr lang="en-US" altLang="zh-CN" b="0" i="0" dirty="0" smtClean="0">
                            <a:latin typeface="Cambria Math"/>
                            <a:cs typeface="Times New Roman" panose="02020603050405020304" pitchFamily="18" charset="0"/>
                          </a:rPr>
                          <m:t>2</m:t>
                        </m:r>
                      </m:sub>
                    </m:sSub>
                    <m:r>
                      <a:rPr lang="zh-CN" altLang="en-US" b="0" i="1" dirty="0" smtClean="0">
                        <a:latin typeface="Cambria Math"/>
                        <a:cs typeface="Times New Roman" panose="02020603050405020304" pitchFamily="18" charset="0"/>
                      </a:rPr>
                      <m:t>，</m:t>
                    </m:r>
                    <m:r>
                      <m:rPr>
                        <m:nor/>
                      </m:rPr>
                      <a:rPr lang="zh-CN" altLang="en-US" dirty="0">
                        <a:latin typeface="Times New Roman" panose="02020603050405020304" pitchFamily="18" charset="0"/>
                        <a:cs typeface="Times New Roman" panose="02020603050405020304" pitchFamily="18" charset="0"/>
                      </a:rPr>
                      <m:t>攻击者</m:t>
                    </m:r>
                    <m:r>
                      <a:rPr lang="zh-CN" altLang="en-US" i="1" dirty="0" smtClean="0">
                        <a:latin typeface="Cambria Math" panose="02040503050406030204" pitchFamily="18" charset="0"/>
                        <a:cs typeface="Times New Roman" panose="02020603050405020304" pitchFamily="18" charset="0"/>
                      </a:rPr>
                      <m:t>的</m:t>
                    </m:r>
                    <m:r>
                      <a:rPr lang="zh-CN" altLang="en-US" i="1" dirty="0">
                        <a:latin typeface="Cambria Math" panose="02040503050406030204" pitchFamily="18" charset="0"/>
                        <a:cs typeface="Times New Roman" panose="02020603050405020304" pitchFamily="18" charset="0"/>
                      </a:rPr>
                      <m:t>目标是</m:t>
                    </m:r>
                    <m:r>
                      <m:rPr>
                        <m:nor/>
                      </m:rPr>
                      <a:rPr lang="zh-CN" altLang="en-US" dirty="0">
                        <a:latin typeface="Times New Roman" panose="02020603050405020304" pitchFamily="18" charset="0"/>
                        <a:cs typeface="Times New Roman" panose="02020603050405020304" pitchFamily="18" charset="0"/>
                      </a:rPr>
                      <m:t>找到两个碰撞的消息</m:t>
                    </m:r>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a:cs typeface="Times New Roman" panose="02020603050405020304" pitchFamily="18" charset="0"/>
                          </a:rPr>
                          <m:t>𝑚</m:t>
                        </m:r>
                      </m:e>
                      <m:sub>
                        <m:r>
                          <a:rPr lang="en-US" altLang="zh-CN" i="1" dirty="0">
                            <a:latin typeface="Cambria Math"/>
                            <a:cs typeface="Times New Roman" panose="02020603050405020304" pitchFamily="18" charset="0"/>
                          </a:rPr>
                          <m:t>1</m:t>
                        </m:r>
                      </m:sub>
                    </m:sSub>
                    <m:r>
                      <m:rPr>
                        <m:nor/>
                      </m:rPr>
                      <a:rPr lang="en-US" altLang="zh-CN" b="0" i="0" dirty="0" smtClean="0">
                        <a:latin typeface="Cambria Math" panose="02040503050406030204" pitchFamily="18" charset="0"/>
                        <a:cs typeface="Times New Roman" panose="02020603050405020304" pitchFamily="18" charset="0"/>
                      </a:rPr>
                      <m:t> </m:t>
                    </m:r>
                    <m:r>
                      <m:rPr>
                        <m:nor/>
                      </m:rPr>
                      <a:rPr lang="zh-CN" altLang="en-US" dirty="0">
                        <a:cs typeface="Times New Roman" panose="02020603050405020304" pitchFamily="18" charset="0"/>
                      </a:rPr>
                      <m:t>和</m:t>
                    </m:r>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a:cs typeface="Times New Roman" panose="02020603050405020304" pitchFamily="18" charset="0"/>
                          </a:rPr>
                          <m:t>𝑚</m:t>
                        </m:r>
                      </m:e>
                      <m:sub>
                        <m:r>
                          <a:rPr lang="en-US" altLang="zh-CN" i="1" dirty="0">
                            <a:latin typeface="Cambria Math"/>
                            <a:cs typeface="Times New Roman" panose="02020603050405020304" pitchFamily="18" charset="0"/>
                          </a:rPr>
                          <m:t>2</m:t>
                        </m:r>
                      </m:sub>
                    </m:sSub>
                    <m:r>
                      <a:rPr lang="zh-CN" altLang="en-US" b="0" i="1" dirty="0" smtClean="0">
                        <a:latin typeface="Cambria Math"/>
                        <a:cs typeface="Times New Roman" panose="02020603050405020304" pitchFamily="18" charset="0"/>
                      </a:rPr>
                      <m:t>，</m:t>
                    </m:r>
                    <m:r>
                      <a:rPr lang="zh-CN" altLang="en-US" i="1" dirty="0">
                        <a:latin typeface="Cambria Math" panose="02040503050406030204" pitchFamily="18" charset="0"/>
                        <a:cs typeface="Times New Roman" panose="02020603050405020304" pitchFamily="18" charset="0"/>
                      </a:rPr>
                      <m:t>使得</m:t>
                    </m:r>
                    <m:r>
                      <a:rPr lang="en-US" altLang="zh-CN" i="1" dirty="0">
                        <a:latin typeface="Cambria Math" panose="02040503050406030204" pitchFamily="18" charset="0"/>
                        <a:cs typeface="Times New Roman" panose="02020603050405020304" pitchFamily="18" charset="0"/>
                      </a:rPr>
                      <m:t>𝐻𝑎𝑠h</m:t>
                    </m:r>
                    <m:d>
                      <m:dPr>
                        <m:ctrlPr>
                          <a:rPr lang="pt-BR" altLang="zh-CN" i="1" dirty="0">
                            <a:latin typeface="Cambria Math" panose="02040503050406030204" pitchFamily="18" charset="0"/>
                            <a:cs typeface="Times New Roman" panose="02020603050405020304" pitchFamily="18" charset="0"/>
                          </a:rPr>
                        </m:ctrlPr>
                      </m:dPr>
                      <m:e>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a:cs typeface="Times New Roman" panose="02020603050405020304" pitchFamily="18" charset="0"/>
                              </a:rPr>
                              <m:t>𝑚</m:t>
                            </m:r>
                          </m:e>
                          <m:sub>
                            <m:r>
                              <a:rPr lang="en-US" altLang="zh-CN" i="1" dirty="0">
                                <a:latin typeface="Cambria Math"/>
                                <a:cs typeface="Times New Roman" panose="02020603050405020304" pitchFamily="18" charset="0"/>
                              </a:rPr>
                              <m:t>1</m:t>
                            </m:r>
                          </m:sub>
                        </m:sSub>
                      </m:e>
                    </m:d>
                    <m:r>
                      <a:rPr lang="en-US" altLang="zh-CN" b="0" i="1" dirty="0" smtClean="0">
                        <a:latin typeface="Cambria Math"/>
                        <a:cs typeface="Times New Roman" panose="02020603050405020304" pitchFamily="18" charset="0"/>
                      </a:rPr>
                      <m:t>=</m:t>
                    </m:r>
                    <m:r>
                      <a:rPr lang="en-US" altLang="zh-CN" i="1" dirty="0">
                        <a:latin typeface="Cambria Math" panose="02040503050406030204" pitchFamily="18" charset="0"/>
                        <a:cs typeface="Times New Roman" panose="02020603050405020304" pitchFamily="18" charset="0"/>
                      </a:rPr>
                      <m:t>𝐻𝑎𝑠h</m:t>
                    </m:r>
                    <m:d>
                      <m:dPr>
                        <m:ctrlPr>
                          <a:rPr lang="pt-BR" altLang="zh-CN" i="1" dirty="0">
                            <a:latin typeface="Cambria Math" panose="02040503050406030204" pitchFamily="18" charset="0"/>
                            <a:cs typeface="Times New Roman" panose="02020603050405020304" pitchFamily="18" charset="0"/>
                          </a:rPr>
                        </m:ctrlPr>
                      </m:dPr>
                      <m:e>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a:cs typeface="Times New Roman" panose="02020603050405020304" pitchFamily="18" charset="0"/>
                              </a:rPr>
                              <m:t>𝑚</m:t>
                            </m:r>
                          </m:e>
                          <m:sub>
                            <m:r>
                              <a:rPr lang="en-US" altLang="zh-CN" b="0" i="1" dirty="0" smtClean="0">
                                <a:latin typeface="Cambria Math"/>
                                <a:cs typeface="Times New Roman" panose="02020603050405020304" pitchFamily="18" charset="0"/>
                              </a:rPr>
                              <m:t>2</m:t>
                            </m:r>
                          </m:sub>
                        </m:sSub>
                      </m:e>
                    </m:d>
                  </m:oMath>
                </a14:m>
                <a:endParaRPr lang="en-US" altLang="zh-CN" dirty="0">
                  <a:latin typeface="Cambria Math" panose="02040503050406030204" pitchFamily="18" charset="0"/>
                  <a:cs typeface="Times New Roman" panose="02020603050405020304" pitchFamily="18" charset="0"/>
                </a:endParaRPr>
              </a:p>
              <a:p>
                <a:pPr marL="800100" lvl="1" indent="-342900" algn="just">
                  <a:lnSpc>
                    <a:spcPct val="120000"/>
                  </a:lnSpc>
                  <a:spcBef>
                    <a:spcPts val="600"/>
                  </a:spcBef>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如若成功，则伪造了一个有效的 </a:t>
                </a:r>
                <a14:m>
                  <m:oMath xmlns:m="http://schemas.openxmlformats.org/officeDocument/2006/math">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a:cs typeface="Times New Roman" panose="02020603050405020304" pitchFamily="18" charset="0"/>
                          </a:rPr>
                          <m:t>𝑀</m:t>
                        </m:r>
                      </m:e>
                      <m:sub>
                        <m:r>
                          <a:rPr lang="en-US" altLang="zh-CN" dirty="0">
                            <a:latin typeface="Cambria Math"/>
                            <a:cs typeface="Times New Roman" panose="02020603050405020304" pitchFamily="18" charset="0"/>
                          </a:rPr>
                          <m:t>2</m:t>
                        </m:r>
                      </m:sub>
                    </m:sSub>
                  </m:oMath>
                </a14:m>
                <a:r>
                  <a:rPr lang="zh-CN" altLang="en-US" dirty="0">
                    <a:latin typeface="Times New Roman" panose="02020603050405020304" pitchFamily="18" charset="0"/>
                    <a:cs typeface="Times New Roman" panose="02020603050405020304" pitchFamily="18" charset="0"/>
                  </a:rPr>
                  <a:t> 的标签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例如改变密钥</a:t>
                </a:r>
                <a:r>
                  <a:rPr lang="en-US" altLang="zh-CN" dirty="0">
                    <a:latin typeface="Times New Roman" panose="02020603050405020304" pitchFamily="18" charset="0"/>
                    <a:cs typeface="Times New Roman" panose="02020603050405020304" pitchFamily="18" charset="0"/>
                  </a:rPr>
                  <a:t>)</a:t>
                </a:r>
              </a:p>
              <a:p>
                <a:pPr marL="342900" indent="-342900" algn="just">
                  <a:lnSpc>
                    <a:spcPct val="120000"/>
                  </a:lnSpc>
                  <a:spcBef>
                    <a:spcPts val="1200"/>
                  </a:spcBef>
                  <a:buFont typeface="Wingdings" panose="05000000000000000000" pitchFamily="2" charset="2"/>
                  <a:buChar char="l"/>
                </a:pPr>
                <a:r>
                  <a:rPr lang="zh-CN" altLang="en-US" sz="2000" dirty="0">
                    <a:solidFill>
                      <a:srgbClr val="0000FF"/>
                    </a:solidFill>
                    <a:latin typeface="Times New Roman" panose="02020603050405020304" pitchFamily="18" charset="0"/>
                    <a:cs typeface="Times New Roman" panose="02020603050405020304" pitchFamily="18" charset="0"/>
                  </a:rPr>
                  <a:t>基于哈希函数的消息验证码 </a:t>
                </a:r>
                <a:r>
                  <a:rPr lang="en-US" altLang="zh-CN" sz="2000" dirty="0">
                    <a:solidFill>
                      <a:srgbClr val="0000FF"/>
                    </a:solidFill>
                    <a:latin typeface="Times New Roman" panose="02020603050405020304" pitchFamily="18" charset="0"/>
                    <a:cs typeface="Times New Roman" panose="02020603050405020304" pitchFamily="18" charset="0"/>
                  </a:rPr>
                  <a:t>(HMAC) </a:t>
                </a:r>
                <a:r>
                  <a:rPr lang="zh-CN" altLang="en-US" sz="2000" dirty="0">
                    <a:latin typeface="Times New Roman" panose="02020603050405020304" pitchFamily="18" charset="0"/>
                    <a:cs typeface="Times New Roman" panose="02020603050405020304" pitchFamily="18" charset="0"/>
                  </a:rPr>
                  <a:t>可以解决上述两种攻击</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E4C51DE6-60B1-EE44-2A57-B42419475092}"/>
                  </a:ext>
                </a:extLst>
              </p:cNvPr>
              <p:cNvSpPr txBox="1">
                <a:spLocks noRot="1" noChangeAspect="1" noMove="1" noResize="1" noEditPoints="1" noAdjustHandles="1" noChangeArrowheads="1" noChangeShapeType="1" noTextEdit="1"/>
              </p:cNvSpPr>
              <p:nvPr/>
            </p:nvSpPr>
            <p:spPr>
              <a:xfrm>
                <a:off x="250301" y="1736225"/>
                <a:ext cx="8643397" cy="4449680"/>
              </a:xfrm>
              <a:prstGeom prst="rect">
                <a:avLst/>
              </a:prstGeom>
              <a:blipFill>
                <a:blip r:embed="rId3"/>
                <a:stretch>
                  <a:fillRect l="-635" t="-137" r="-353" b="-8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81024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11</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(1) </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消息认证码 </a:t>
            </a: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HMAC</a:t>
            </a:r>
            <a:endPar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4C51DE6-60B1-EE44-2A57-B42419475092}"/>
                  </a:ext>
                </a:extLst>
              </p:cNvPr>
              <p:cNvSpPr txBox="1"/>
              <p:nvPr/>
            </p:nvSpPr>
            <p:spPr>
              <a:xfrm>
                <a:off x="332027" y="1654626"/>
                <a:ext cx="8479945" cy="4398127"/>
              </a:xfrm>
              <a:prstGeom prst="rect">
                <a:avLst/>
              </a:prstGeom>
              <a:noFill/>
            </p:spPr>
            <p:txBody>
              <a:bodyPr wrap="square" rtlCol="0">
                <a:spAutoFit/>
              </a:bodyPr>
              <a:lstStyle/>
              <a:p>
                <a:pPr marL="342900" indent="-342900" algn="just">
                  <a:lnSpc>
                    <a:spcPct val="150000"/>
                  </a:lnSpc>
                  <a:spcBef>
                    <a:spcPts val="600"/>
                  </a:spcBef>
                  <a:buFont typeface="Wingdings" panose="05000000000000000000" pitchFamily="2" charset="2"/>
                  <a:buChar char="l"/>
                </a:pPr>
                <a:r>
                  <a:rPr lang="zh-CN" altLang="en-US" sz="2000" b="0" i="0" dirty="0">
                    <a:solidFill>
                      <a:srgbClr val="202122"/>
                    </a:solidFill>
                    <a:effectLst/>
                    <a:latin typeface="Times New Roman" panose="02020603050405020304" pitchFamily="18" charset="0"/>
                    <a:cs typeface="Times New Roman" panose="02020603050405020304" pitchFamily="18" charset="0"/>
                  </a:rPr>
                  <a:t>根据 </a:t>
                </a:r>
                <a:r>
                  <a:rPr lang="en-US" altLang="zh-CN" sz="2000" b="0" i="0" dirty="0">
                    <a:solidFill>
                      <a:srgbClr val="202122"/>
                    </a:solidFill>
                    <a:effectLst/>
                    <a:latin typeface="Times New Roman" panose="02020603050405020304" pitchFamily="18" charset="0"/>
                    <a:cs typeface="Times New Roman" panose="02020603050405020304" pitchFamily="18" charset="0"/>
                  </a:rPr>
                  <a:t>RFC 2104</a:t>
                </a:r>
                <a:r>
                  <a:rPr lang="zh-CN" altLang="en-US" sz="2000" b="0" i="0" dirty="0">
                    <a:solidFill>
                      <a:srgbClr val="202122"/>
                    </a:solidFill>
                    <a:effectLst/>
                    <a:latin typeface="Times New Roman" panose="02020603050405020304" pitchFamily="18" charset="0"/>
                    <a:cs typeface="Times New Roman" panose="02020603050405020304" pitchFamily="18" charset="0"/>
                  </a:rPr>
                  <a:t>，</a:t>
                </a:r>
                <a:r>
                  <a:rPr lang="en-US" altLang="zh-CN" sz="2000" b="0" i="0" dirty="0">
                    <a:solidFill>
                      <a:srgbClr val="202122"/>
                    </a:solidFill>
                    <a:effectLst/>
                    <a:latin typeface="Times New Roman" panose="02020603050405020304" pitchFamily="18" charset="0"/>
                    <a:cs typeface="Times New Roman" panose="02020603050405020304" pitchFamily="18" charset="0"/>
                  </a:rPr>
                  <a:t>HMAC</a:t>
                </a:r>
                <a:r>
                  <a:rPr lang="zh-CN" altLang="en-US" sz="2000" b="0" i="0" dirty="0">
                    <a:solidFill>
                      <a:srgbClr val="202122"/>
                    </a:solidFill>
                    <a:effectLst/>
                    <a:latin typeface="Times New Roman" panose="02020603050405020304" pitchFamily="18" charset="0"/>
                    <a:cs typeface="Times New Roman" panose="02020603050405020304" pitchFamily="18" charset="0"/>
                  </a:rPr>
                  <a:t>的数学公式定义如下：</a:t>
                </a:r>
                <a:endParaRPr lang="en-US" altLang="zh-CN" sz="2000" dirty="0">
                  <a:latin typeface="Times New Roman" panose="02020603050405020304" pitchFamily="18" charset="0"/>
                  <a:cs typeface="Times New Roman" panose="02020603050405020304" pitchFamily="18" charset="0"/>
                </a:endParaRPr>
              </a:p>
              <a:p>
                <a:pPr lvl="1" algn="just">
                  <a:lnSpc>
                    <a:spcPct val="150000"/>
                  </a:lnSpc>
                  <a:spcBef>
                    <a:spcPts val="600"/>
                  </a:spcBef>
                </a:pPr>
                <a14:m>
                  <m:oMath xmlns:m="http://schemas.openxmlformats.org/officeDocument/2006/math">
                    <m:r>
                      <a:rPr lang="en-US" altLang="zh-CN" sz="2000" i="1" dirty="0" smtClean="0">
                        <a:solidFill>
                          <a:srgbClr val="C00000"/>
                        </a:solidFill>
                        <a:latin typeface="Cambria Math" panose="02040503050406030204" pitchFamily="18" charset="0"/>
                        <a:cs typeface="Times New Roman" panose="02020603050405020304" pitchFamily="18" charset="0"/>
                      </a:rPr>
                      <m:t>𝐻𝑀𝐴</m:t>
                    </m:r>
                    <m:r>
                      <a:rPr lang="en-US" altLang="zh-CN" sz="2000" b="0" i="1" dirty="0" smtClean="0">
                        <a:solidFill>
                          <a:srgbClr val="C00000"/>
                        </a:solidFill>
                        <a:latin typeface="Cambria Math" panose="02040503050406030204" pitchFamily="18" charset="0"/>
                        <a:cs typeface="Times New Roman" panose="02020603050405020304" pitchFamily="18" charset="0"/>
                      </a:rPr>
                      <m:t>𝐶</m:t>
                    </m:r>
                    <m:r>
                      <a:rPr lang="en-US" altLang="zh-CN" sz="2000" i="1" dirty="0" smtClean="0">
                        <a:solidFill>
                          <a:srgbClr val="C00000"/>
                        </a:solidFill>
                        <a:latin typeface="Cambria Math" panose="02040503050406030204" pitchFamily="18" charset="0"/>
                        <a:cs typeface="Times New Roman" panose="02020603050405020304" pitchFamily="18" charset="0"/>
                      </a:rPr>
                      <m:t>(</m:t>
                    </m:r>
                    <m:r>
                      <a:rPr lang="en-US" altLang="zh-CN" sz="2000" i="1" dirty="0">
                        <a:solidFill>
                          <a:srgbClr val="C00000"/>
                        </a:solidFill>
                        <a:latin typeface="Cambria Math" panose="02040503050406030204" pitchFamily="18" charset="0"/>
                        <a:cs typeface="Times New Roman" panose="02020603050405020304" pitchFamily="18" charset="0"/>
                      </a:rPr>
                      <m:t>𝐾</m:t>
                    </m:r>
                    <m:r>
                      <a:rPr lang="en-US" altLang="zh-CN" sz="2000" b="0" i="1" dirty="0" smtClean="0">
                        <a:solidFill>
                          <a:srgbClr val="C00000"/>
                        </a:solidFill>
                        <a:latin typeface="Cambria Math" panose="02040503050406030204" pitchFamily="18" charset="0"/>
                        <a:cs typeface="Times New Roman" panose="02020603050405020304" pitchFamily="18" charset="0"/>
                      </a:rPr>
                      <m:t>,</m:t>
                    </m:r>
                    <m:r>
                      <a:rPr lang="en-US" altLang="zh-CN" sz="2000" i="1" dirty="0">
                        <a:solidFill>
                          <a:srgbClr val="C00000"/>
                        </a:solidFill>
                        <a:latin typeface="Cambria Math" panose="02040503050406030204" pitchFamily="18" charset="0"/>
                        <a:cs typeface="Times New Roman" panose="02020603050405020304" pitchFamily="18" charset="0"/>
                      </a:rPr>
                      <m:t>𝑀</m:t>
                    </m:r>
                    <m:r>
                      <a:rPr lang="en-US" altLang="zh-CN" sz="2000" i="1" dirty="0" smtClean="0">
                        <a:solidFill>
                          <a:srgbClr val="C00000"/>
                        </a:solidFill>
                        <a:latin typeface="Cambria Math" panose="02040503050406030204" pitchFamily="18" charset="0"/>
                        <a:cs typeface="Times New Roman" panose="02020603050405020304" pitchFamily="18" charset="0"/>
                      </a:rPr>
                      <m:t>)= </m:t>
                    </m:r>
                    <m:r>
                      <a:rPr lang="en-US" altLang="zh-CN" sz="2000" i="1" dirty="0" smtClean="0">
                        <a:solidFill>
                          <a:srgbClr val="C00000"/>
                        </a:solidFill>
                        <a:latin typeface="Cambria Math" panose="02040503050406030204" pitchFamily="18" charset="0"/>
                        <a:cs typeface="Times New Roman" panose="02020603050405020304" pitchFamily="18" charset="0"/>
                      </a:rPr>
                      <m:t>𝐻𝑎𝑠h</m:t>
                    </m:r>
                    <m:r>
                      <a:rPr lang="en-US" altLang="zh-CN" sz="2000" b="0" i="1" dirty="0" smtClean="0">
                        <a:solidFill>
                          <a:srgbClr val="C00000"/>
                        </a:solidFill>
                        <a:latin typeface="Cambria Math" panose="02040503050406030204" pitchFamily="18" charset="0"/>
                        <a:cs typeface="Times New Roman" panose="02020603050405020304" pitchFamily="18" charset="0"/>
                      </a:rPr>
                      <m:t>[</m:t>
                    </m:r>
                    <m:d>
                      <m:dPr>
                        <m:ctrlPr>
                          <a:rPr lang="en-US" altLang="zh-CN" sz="2000" i="1" dirty="0" smtClean="0">
                            <a:solidFill>
                              <a:srgbClr val="0000FF"/>
                            </a:solidFill>
                            <a:latin typeface="Cambria Math" panose="02040503050406030204" pitchFamily="18" charset="0"/>
                            <a:cs typeface="Times New Roman" panose="02020603050405020304" pitchFamily="18" charset="0"/>
                          </a:rPr>
                        </m:ctrlPr>
                      </m:dPr>
                      <m:e>
                        <m:sSup>
                          <m:sSupPr>
                            <m:ctrlPr>
                              <a:rPr lang="en-US" altLang="zh-CN" sz="2000" i="1" dirty="0" smtClean="0">
                                <a:solidFill>
                                  <a:srgbClr val="0000FF"/>
                                </a:solidFill>
                                <a:latin typeface="Cambria Math" panose="02040503050406030204" pitchFamily="18" charset="0"/>
                                <a:cs typeface="Times New Roman" panose="02020603050405020304" pitchFamily="18" charset="0"/>
                              </a:rPr>
                            </m:ctrlPr>
                          </m:sSupPr>
                          <m:e>
                            <m:r>
                              <a:rPr lang="en-US" altLang="zh-CN" sz="2000" i="1" dirty="0" smtClean="0">
                                <a:solidFill>
                                  <a:srgbClr val="0000FF"/>
                                </a:solidFill>
                                <a:latin typeface="Cambria Math" panose="02040503050406030204" pitchFamily="18" charset="0"/>
                                <a:cs typeface="Times New Roman" panose="02020603050405020304" pitchFamily="18" charset="0"/>
                              </a:rPr>
                              <m:t>𝐾</m:t>
                            </m:r>
                          </m:e>
                          <m:sup>
                            <m:r>
                              <a:rPr lang="en-US" altLang="zh-CN" sz="2000" i="1" dirty="0" smtClean="0">
                                <a:solidFill>
                                  <a:srgbClr val="0000FF"/>
                                </a:solidFill>
                                <a:latin typeface="Cambria Math" panose="02040503050406030204" pitchFamily="18" charset="0"/>
                                <a:cs typeface="Times New Roman" panose="02020603050405020304" pitchFamily="18" charset="0"/>
                              </a:rPr>
                              <m:t>+</m:t>
                            </m:r>
                          </m:sup>
                        </m:sSup>
                        <m:r>
                          <a:rPr lang="en-US" altLang="zh-CN" sz="2000" i="1" dirty="0" smtClean="0">
                            <a:solidFill>
                              <a:srgbClr val="0000FF"/>
                            </a:solidFill>
                            <a:latin typeface="Cambria Math" panose="02040503050406030204" pitchFamily="18" charset="0"/>
                            <a:cs typeface="Times New Roman" panose="02020603050405020304" pitchFamily="18" charset="0"/>
                          </a:rPr>
                          <m:t>𝑋𝑂𝑅</m:t>
                        </m:r>
                        <m:r>
                          <a:rPr lang="en-US" altLang="zh-CN" sz="2000" i="1" dirty="0" smtClean="0">
                            <a:solidFill>
                              <a:srgbClr val="0000FF"/>
                            </a:solidFill>
                            <a:latin typeface="Cambria Math" panose="02040503050406030204" pitchFamily="18" charset="0"/>
                            <a:cs typeface="Times New Roman" panose="02020603050405020304" pitchFamily="18" charset="0"/>
                          </a:rPr>
                          <m:t> </m:t>
                        </m:r>
                        <m:r>
                          <a:rPr lang="en-US" altLang="zh-CN" sz="2000" i="1" dirty="0" err="1" smtClean="0">
                            <a:solidFill>
                              <a:srgbClr val="0000FF"/>
                            </a:solidFill>
                            <a:latin typeface="Cambria Math" panose="02040503050406030204" pitchFamily="18" charset="0"/>
                            <a:cs typeface="Times New Roman" panose="02020603050405020304" pitchFamily="18" charset="0"/>
                          </a:rPr>
                          <m:t>𝑜𝑝𝑎𝑑</m:t>
                        </m:r>
                      </m:e>
                    </m:d>
                    <m:r>
                      <a:rPr lang="en-US" altLang="zh-CN" sz="2000" i="1" dirty="0"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dirty="0" smtClean="0">
                        <a:solidFill>
                          <a:srgbClr val="0000FF"/>
                        </a:solidFill>
                        <a:latin typeface="Cambria Math" panose="02040503050406030204" pitchFamily="18" charset="0"/>
                        <a:cs typeface="Times New Roman" panose="02020603050405020304" pitchFamily="18" charset="0"/>
                      </a:rPr>
                      <m:t>𝐻𝑎𝑠h</m:t>
                    </m:r>
                    <m:r>
                      <a:rPr lang="en-US" altLang="zh-CN" sz="2000" b="0" i="1" dirty="0" smtClean="0">
                        <a:solidFill>
                          <a:srgbClr val="0000FF"/>
                        </a:solidFill>
                        <a:latin typeface="Cambria Math" panose="02040503050406030204" pitchFamily="18" charset="0"/>
                        <a:cs typeface="Times New Roman" panose="02020603050405020304" pitchFamily="18" charset="0"/>
                      </a:rPr>
                      <m:t>(</m:t>
                    </m:r>
                    <m:d>
                      <m:dPr>
                        <m:ctrlPr>
                          <a:rPr lang="en-US" altLang="zh-CN" sz="2000" i="1" dirty="0">
                            <a:solidFill>
                              <a:srgbClr val="0000FF"/>
                            </a:solidFill>
                            <a:latin typeface="Cambria Math" panose="02040503050406030204" pitchFamily="18" charset="0"/>
                            <a:cs typeface="Times New Roman" panose="02020603050405020304" pitchFamily="18" charset="0"/>
                          </a:rPr>
                        </m:ctrlPr>
                      </m:dPr>
                      <m:e>
                        <m:sSup>
                          <m:sSupPr>
                            <m:ctrlPr>
                              <a:rPr lang="en-US" altLang="zh-CN" sz="2000" i="1" dirty="0">
                                <a:solidFill>
                                  <a:srgbClr val="0000FF"/>
                                </a:solidFill>
                                <a:latin typeface="Cambria Math" panose="02040503050406030204" pitchFamily="18" charset="0"/>
                                <a:cs typeface="Times New Roman" panose="02020603050405020304" pitchFamily="18" charset="0"/>
                              </a:rPr>
                            </m:ctrlPr>
                          </m:sSupPr>
                          <m:e>
                            <m:r>
                              <a:rPr lang="en-US" altLang="zh-CN" sz="2000" i="1" dirty="0">
                                <a:solidFill>
                                  <a:srgbClr val="0000FF"/>
                                </a:solidFill>
                                <a:latin typeface="Cambria Math" panose="02040503050406030204" pitchFamily="18" charset="0"/>
                                <a:cs typeface="Times New Roman" panose="02020603050405020304" pitchFamily="18" charset="0"/>
                              </a:rPr>
                              <m:t>𝐾</m:t>
                            </m:r>
                          </m:e>
                          <m:sup>
                            <m:r>
                              <a:rPr lang="en-US" altLang="zh-CN" sz="2000" i="1" dirty="0">
                                <a:solidFill>
                                  <a:srgbClr val="0000FF"/>
                                </a:solidFill>
                                <a:latin typeface="Cambria Math" panose="02040503050406030204" pitchFamily="18" charset="0"/>
                                <a:cs typeface="Times New Roman" panose="02020603050405020304" pitchFamily="18" charset="0"/>
                              </a:rPr>
                              <m:t>+</m:t>
                            </m:r>
                          </m:sup>
                        </m:sSup>
                        <m:r>
                          <a:rPr lang="en-US" altLang="zh-CN" sz="2000" i="1" dirty="0">
                            <a:solidFill>
                              <a:srgbClr val="0000FF"/>
                            </a:solidFill>
                            <a:latin typeface="Cambria Math" panose="02040503050406030204" pitchFamily="18" charset="0"/>
                            <a:cs typeface="Times New Roman" panose="02020603050405020304" pitchFamily="18" charset="0"/>
                          </a:rPr>
                          <m:t>𝑋𝑂𝑅</m:t>
                        </m:r>
                        <m:r>
                          <a:rPr lang="en-US" altLang="zh-CN" sz="2000" i="1" dirty="0">
                            <a:solidFill>
                              <a:srgbClr val="0000FF"/>
                            </a:solidFill>
                            <a:latin typeface="Cambria Math" panose="02040503050406030204" pitchFamily="18" charset="0"/>
                            <a:cs typeface="Times New Roman" panose="02020603050405020304" pitchFamily="18" charset="0"/>
                          </a:rPr>
                          <m:t> </m:t>
                        </m:r>
                        <m:r>
                          <a:rPr lang="en-US" altLang="zh-CN" sz="2000" i="1" dirty="0" smtClean="0">
                            <a:solidFill>
                              <a:srgbClr val="0000FF"/>
                            </a:solidFill>
                            <a:latin typeface="Cambria Math" panose="02040503050406030204" pitchFamily="18" charset="0"/>
                            <a:cs typeface="Times New Roman" panose="02020603050405020304" pitchFamily="18" charset="0"/>
                          </a:rPr>
                          <m:t>𝑖</m:t>
                        </m:r>
                        <m:r>
                          <a:rPr lang="en-US" altLang="zh-CN" sz="2000" i="1" dirty="0" err="1">
                            <a:solidFill>
                              <a:srgbClr val="0000FF"/>
                            </a:solidFill>
                            <a:latin typeface="Cambria Math" panose="02040503050406030204" pitchFamily="18" charset="0"/>
                            <a:cs typeface="Times New Roman" panose="02020603050405020304" pitchFamily="18" charset="0"/>
                          </a:rPr>
                          <m:t>𝑝𝑎𝑑</m:t>
                        </m:r>
                      </m:e>
                    </m:d>
                    <m:r>
                      <a:rPr lang="en-US" altLang="zh-CN" sz="2000" b="0" i="1" dirty="0" smtClean="0">
                        <a:solidFill>
                          <a:srgbClr val="0000FF"/>
                        </a:solidFill>
                        <a:latin typeface="Cambria Math" panose="02040503050406030204" pitchFamily="18" charset="0"/>
                        <a:cs typeface="Times New Roman" panose="02020603050405020304" pitchFamily="18" charset="0"/>
                      </a:rPr>
                      <m:t>||</m:t>
                    </m:r>
                    <m:r>
                      <a:rPr lang="en-US" altLang="zh-CN" sz="2000" b="0" i="1" dirty="0" smtClean="0">
                        <a:solidFill>
                          <a:srgbClr val="0000FF"/>
                        </a:solidFill>
                        <a:latin typeface="Cambria Math" panose="02040503050406030204" pitchFamily="18" charset="0"/>
                        <a:cs typeface="Times New Roman" panose="02020603050405020304" pitchFamily="18" charset="0"/>
                      </a:rPr>
                      <m:t>𝑀</m:t>
                    </m:r>
                  </m:oMath>
                </a14:m>
                <a:r>
                  <a:rPr lang="en-US" altLang="zh-CN" sz="2000" dirty="0">
                    <a:solidFill>
                      <a:srgbClr val="0000FF"/>
                    </a:solidFill>
                    <a:latin typeface="Times New Roman" panose="02020603050405020304" pitchFamily="18" charset="0"/>
                    <a:cs typeface="Times New Roman" panose="02020603050405020304" pitchFamily="18" charset="0"/>
                  </a:rPr>
                  <a:t>)</a:t>
                </a:r>
                <a:r>
                  <a:rPr lang="en-US" altLang="zh-CN" sz="2000" dirty="0">
                    <a:solidFill>
                      <a:srgbClr val="C00000"/>
                    </a:solidFill>
                    <a:latin typeface="Times New Roman" panose="02020603050405020304" pitchFamily="18" charset="0"/>
                    <a:cs typeface="Times New Roman" panose="02020603050405020304" pitchFamily="18" charset="0"/>
                  </a:rPr>
                  <a:t>]</a:t>
                </a:r>
              </a:p>
              <a:p>
                <a:pPr marL="800100" lvl="1" indent="-342900" algn="just">
                  <a:lnSpc>
                    <a:spcPct val="130000"/>
                  </a:lnSpc>
                  <a:spcBef>
                    <a:spcPts val="600"/>
                  </a:spcBef>
                  <a:buFont typeface="Wingdings" panose="05000000000000000000" pitchFamily="2" charset="2"/>
                  <a:buChar char="Ø"/>
                </a:pPr>
                <a14:m>
                  <m:oMath xmlns:m="http://schemas.openxmlformats.org/officeDocument/2006/math">
                    <m:r>
                      <a:rPr lang="en-US" altLang="zh-CN" sz="2000" i="1" dirty="0" smtClean="0">
                        <a:solidFill>
                          <a:srgbClr val="0000FF"/>
                        </a:solidFill>
                        <a:latin typeface="Cambria Math" panose="02040503050406030204" pitchFamily="18" charset="0"/>
                        <a:cs typeface="Times New Roman" panose="02020603050405020304" pitchFamily="18" charset="0"/>
                      </a:rPr>
                      <m:t>𝐾</m:t>
                    </m:r>
                  </m:oMath>
                </a14:m>
                <a:r>
                  <a:rPr lang="zh-CN" altLang="en-US" sz="2000" dirty="0">
                    <a:solidFill>
                      <a:schemeClr val="tx1"/>
                    </a:solidFill>
                    <a:latin typeface="Cambria Math" panose="02040503050406030204" pitchFamily="18" charset="0"/>
                    <a:cs typeface="Times New Roman" panose="02020603050405020304" pitchFamily="18" charset="0"/>
                  </a:rPr>
                  <a:t>：密钥，</a:t>
                </a:r>
                <a14:m>
                  <m:oMath xmlns:m="http://schemas.openxmlformats.org/officeDocument/2006/math">
                    <m:r>
                      <a:rPr lang="en-US" altLang="zh-CN" sz="2000" i="1" dirty="0" smtClean="0">
                        <a:solidFill>
                          <a:srgbClr val="0000FF"/>
                        </a:solidFill>
                        <a:latin typeface="Cambria Math" panose="02040503050406030204" pitchFamily="18" charset="0"/>
                        <a:cs typeface="Times New Roman" panose="02020603050405020304" pitchFamily="18" charset="0"/>
                      </a:rPr>
                      <m:t>𝐻𝑎𝑠h</m:t>
                    </m:r>
                  </m:oMath>
                </a14:m>
                <a:r>
                  <a:rPr lang="zh-CN" altLang="en-US" sz="2000" dirty="0">
                    <a:solidFill>
                      <a:schemeClr val="tx1"/>
                    </a:solidFill>
                    <a:latin typeface="Cambria Math" panose="02040503050406030204" pitchFamily="18" charset="0"/>
                    <a:cs typeface="Times New Roman" panose="02020603050405020304" pitchFamily="18" charset="0"/>
                  </a:rPr>
                  <a:t>：密钥哈希函数 </a:t>
                </a:r>
                <a:r>
                  <a:rPr lang="en-US" altLang="zh-CN" sz="2000" dirty="0">
                    <a:solidFill>
                      <a:schemeClr val="tx1"/>
                    </a:solidFill>
                    <a:latin typeface="Cambria Math" panose="02040503050406030204" pitchFamily="18" charset="0"/>
                    <a:cs typeface="Times New Roman" panose="02020603050405020304" pitchFamily="18" charset="0"/>
                  </a:rPr>
                  <a:t>(</a:t>
                </a:r>
                <a:r>
                  <a:rPr lang="zh-CN" altLang="en-US" sz="2000" dirty="0">
                    <a:solidFill>
                      <a:schemeClr val="tx1"/>
                    </a:solidFill>
                    <a:latin typeface="Cambria Math" panose="02040503050406030204" pitchFamily="18" charset="0"/>
                    <a:cs typeface="Times New Roman" panose="02020603050405020304" pitchFamily="18" charset="0"/>
                  </a:rPr>
                  <a:t>如</a:t>
                </a:r>
                <a:r>
                  <a:rPr lang="en-US" altLang="zh-CN" sz="2000" dirty="0">
                    <a:solidFill>
                      <a:schemeClr val="tx1"/>
                    </a:solidFill>
                    <a:latin typeface="Cambria Math" panose="02040503050406030204" pitchFamily="18" charset="0"/>
                    <a:cs typeface="Times New Roman" panose="02020603050405020304" pitchFamily="18" charset="0"/>
                  </a:rPr>
                  <a:t>SHA</a:t>
                </a:r>
                <a:r>
                  <a:rPr lang="zh-CN" altLang="en-US" sz="2000" dirty="0">
                    <a:solidFill>
                      <a:schemeClr val="tx1"/>
                    </a:solidFill>
                    <a:latin typeface="Cambria Math" panose="02040503050406030204" pitchFamily="18" charset="0"/>
                    <a:cs typeface="Times New Roman" panose="02020603050405020304" pitchFamily="18" charset="0"/>
                  </a:rPr>
                  <a:t>家族</a:t>
                </a:r>
                <a:r>
                  <a:rPr lang="en-US" altLang="zh-CN" sz="2000" dirty="0">
                    <a:solidFill>
                      <a:schemeClr val="tx1"/>
                    </a:solidFill>
                    <a:latin typeface="Cambria Math" panose="02040503050406030204" pitchFamily="18" charset="0"/>
                    <a:cs typeface="Times New Roman" panose="02020603050405020304" pitchFamily="18" charset="0"/>
                  </a:rPr>
                  <a:t>)</a:t>
                </a:r>
                <a:r>
                  <a:rPr lang="zh-CN" altLang="en-US" sz="2000" dirty="0">
                    <a:solidFill>
                      <a:schemeClr val="tx1"/>
                    </a:solidFill>
                    <a:latin typeface="Cambria Math" panose="02040503050406030204" pitchFamily="18" charset="0"/>
                    <a:cs typeface="Times New Roman" panose="02020603050405020304" pitchFamily="18" charset="0"/>
                  </a:rPr>
                  <a:t>，</a:t>
                </a:r>
                <a14:m>
                  <m:oMath xmlns:m="http://schemas.openxmlformats.org/officeDocument/2006/math">
                    <m:r>
                      <a:rPr lang="en-US" altLang="zh-CN" sz="2000" b="0" i="1" smtClean="0">
                        <a:solidFill>
                          <a:srgbClr val="0000FF"/>
                        </a:solidFill>
                        <a:latin typeface="Cambria Math" panose="02040503050406030204" pitchFamily="18" charset="0"/>
                        <a:cs typeface="Times New Roman" panose="02020603050405020304" pitchFamily="18" charset="0"/>
                      </a:rPr>
                      <m:t>𝑀</m:t>
                    </m:r>
                  </m:oMath>
                </a14:m>
                <a:r>
                  <a:rPr lang="zh-CN" altLang="en-US" sz="2000" dirty="0">
                    <a:solidFill>
                      <a:schemeClr val="tx1"/>
                    </a:solidFill>
                    <a:latin typeface="Cambria Math" panose="02040503050406030204" pitchFamily="18" charset="0"/>
                    <a:cs typeface="Times New Roman" panose="02020603050405020304" pitchFamily="18" charset="0"/>
                  </a:rPr>
                  <a:t>：要认证的信息</a:t>
                </a:r>
                <a:endParaRPr lang="en-US" altLang="zh-CN" sz="2000" dirty="0">
                  <a:solidFill>
                    <a:schemeClr val="tx1"/>
                  </a:solidFill>
                  <a:latin typeface="Cambria Math" panose="020405030504060302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pPr>
                <a14:m>
                  <m:oMath xmlns:m="http://schemas.openxmlformats.org/officeDocument/2006/math">
                    <m:sSup>
                      <m:sSupPr>
                        <m:ctrlPr>
                          <a:rPr lang="en-US" altLang="zh-CN" sz="2000" i="1" dirty="0" smtClean="0">
                            <a:solidFill>
                              <a:srgbClr val="0000FF"/>
                            </a:solidFill>
                            <a:latin typeface="Cambria Math" panose="02040503050406030204" pitchFamily="18" charset="0"/>
                            <a:cs typeface="Times New Roman" panose="02020603050405020304" pitchFamily="18" charset="0"/>
                          </a:rPr>
                        </m:ctrlPr>
                      </m:sSupPr>
                      <m:e>
                        <m:r>
                          <a:rPr lang="en-US" altLang="zh-CN" sz="2000" i="1" dirty="0" smtClean="0">
                            <a:solidFill>
                              <a:srgbClr val="0000FF"/>
                            </a:solidFill>
                            <a:latin typeface="Cambria Math" panose="02040503050406030204" pitchFamily="18" charset="0"/>
                            <a:cs typeface="Times New Roman" panose="02020603050405020304" pitchFamily="18" charset="0"/>
                          </a:rPr>
                          <m:t>𝐾</m:t>
                        </m:r>
                      </m:e>
                      <m:sup>
                        <m:r>
                          <a:rPr lang="en-US" altLang="zh-CN" sz="2000" i="1" dirty="0" smtClean="0">
                            <a:solidFill>
                              <a:srgbClr val="0000FF"/>
                            </a:solidFill>
                            <a:latin typeface="Cambria Math" panose="02040503050406030204" pitchFamily="18" charset="0"/>
                            <a:cs typeface="Times New Roman" panose="02020603050405020304" pitchFamily="18" charset="0"/>
                          </a:rPr>
                          <m:t>+</m:t>
                        </m:r>
                      </m:sup>
                    </m:sSup>
                  </m:oMath>
                </a14:m>
                <a:r>
                  <a:rPr lang="zh-CN" altLang="en-US" sz="2000" dirty="0">
                    <a:solidFill>
                      <a:srgbClr val="0000FF"/>
                    </a:solidFill>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：原始密钥</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smtClean="0">
                        <a:latin typeface="Cambria Math" panose="02040503050406030204" pitchFamily="18" charset="0"/>
                        <a:cs typeface="Times New Roman" panose="02020603050405020304" pitchFamily="18" charset="0"/>
                      </a:rPr>
                      <m:t>𝐾</m:t>
                    </m:r>
                    <m:r>
                      <a:rPr lang="en-US" altLang="zh-CN" sz="2000" b="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派生的另一个与块大小等长的密钥</a:t>
                </a:r>
                <a:endParaRPr lang="en-US" altLang="zh-CN" sz="2000" dirty="0">
                  <a:latin typeface="Times New Roman" panose="02020603050405020304" pitchFamily="18" charset="0"/>
                  <a:cs typeface="Times New Roman" panose="02020603050405020304" pitchFamily="18" charset="0"/>
                </a:endParaRPr>
              </a:p>
              <a:p>
                <a:pPr marL="1257300" lvl="2" indent="-342900" algn="just">
                  <a:lnSpc>
                    <a:spcPct val="130000"/>
                  </a:lnSpc>
                  <a:spcBef>
                    <a:spcPts val="6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如果</a:t>
                </a:r>
                <a14:m>
                  <m:oMath xmlns:m="http://schemas.openxmlformats.org/officeDocument/2006/math">
                    <m:r>
                      <a:rPr lang="en-US" altLang="zh-CN" b="0" i="0" dirty="0" smtClean="0">
                        <a:latin typeface="Cambria Math" panose="02040503050406030204" pitchFamily="18" charset="0"/>
                        <a:cs typeface="Times New Roman" panose="02020603050405020304" pitchFamily="18" charset="0"/>
                      </a:rPr>
                      <m:t> </m:t>
                    </m:r>
                    <m:r>
                      <a:rPr lang="en-US" altLang="zh-CN" i="1" dirty="0" smtClean="0">
                        <a:latin typeface="Cambria Math" panose="02040503050406030204" pitchFamily="18" charset="0"/>
                        <a:cs typeface="Times New Roman" panose="02020603050405020304" pitchFamily="18" charset="0"/>
                      </a:rPr>
                      <m:t>𝐾</m:t>
                    </m:r>
                  </m:oMath>
                </a14:m>
                <a:r>
                  <a:rPr lang="zh-CN" altLang="en-US" dirty="0">
                    <a:latin typeface="Times New Roman" panose="02020603050405020304" pitchFamily="18" charset="0"/>
                    <a:cs typeface="Times New Roman" panose="02020603050405020304" pitchFamily="18" charset="0"/>
                  </a:rPr>
                  <a:t> 小于哈希函数的输入块大小，则向右填充零</a:t>
                </a:r>
                <a:endParaRPr lang="en-US" altLang="zh-CN" dirty="0">
                  <a:latin typeface="Times New Roman" panose="02020603050405020304" pitchFamily="18" charset="0"/>
                  <a:cs typeface="Times New Roman" panose="02020603050405020304" pitchFamily="18" charset="0"/>
                </a:endParaRPr>
              </a:p>
              <a:p>
                <a:pPr marL="1257300" lvl="2" indent="-342900" algn="just">
                  <a:lnSpc>
                    <a:spcPct val="130000"/>
                  </a:lnSpc>
                  <a:spcBef>
                    <a:spcPts val="6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如果</a:t>
                </a:r>
                <a14:m>
                  <m:oMath xmlns:m="http://schemas.openxmlformats.org/officeDocument/2006/math">
                    <m:r>
                      <a:rPr lang="en-US" altLang="zh-CN" b="0" i="0" dirty="0" smtClean="0">
                        <a:latin typeface="Cambria Math" panose="02040503050406030204" pitchFamily="18" charset="0"/>
                        <a:cs typeface="Times New Roman" panose="02020603050405020304" pitchFamily="18" charset="0"/>
                      </a:rPr>
                      <m:t> </m:t>
                    </m:r>
                    <m:r>
                      <a:rPr lang="en-US" altLang="zh-CN" i="1" dirty="0" smtClean="0">
                        <a:latin typeface="Cambria Math" panose="02040503050406030204" pitchFamily="18" charset="0"/>
                        <a:cs typeface="Times New Roman" panose="02020603050405020304" pitchFamily="18" charset="0"/>
                      </a:rPr>
                      <m:t>𝐾</m:t>
                    </m:r>
                    <m:r>
                      <a:rPr lang="en-US" altLang="zh-CN" b="0" i="1" dirty="0" smtClean="0">
                        <a:latin typeface="Cambria Math" panose="02040503050406030204" pitchFamily="18" charset="0"/>
                        <a:cs typeface="Times New Roman" panose="02020603050405020304" pitchFamily="18" charset="0"/>
                      </a:rPr>
                      <m:t> </m:t>
                    </m:r>
                  </m:oMath>
                </a14:m>
                <a:r>
                  <a:rPr lang="zh-CN" altLang="en-US" dirty="0">
                    <a:latin typeface="Times New Roman" panose="02020603050405020304" pitchFamily="18" charset="0"/>
                    <a:cs typeface="Times New Roman" panose="02020603050405020304" pitchFamily="18" charset="0"/>
                  </a:rPr>
                  <a:t>大于该块的大小，则对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𝐾</m:t>
                    </m:r>
                  </m:oMath>
                </a14:m>
                <a:r>
                  <a:rPr lang="zh-CN" altLang="en-US" dirty="0">
                    <a:latin typeface="Times New Roman" panose="02020603050405020304" pitchFamily="18" charset="0"/>
                    <a:cs typeface="Times New Roman" panose="02020603050405020304" pitchFamily="18" charset="0"/>
                  </a:rPr>
                  <a:t> 进行哈希</a:t>
                </a:r>
              </a:p>
              <a:p>
                <a:pPr marL="800100" lvl="1" indent="-342900" algn="just">
                  <a:lnSpc>
                    <a:spcPct val="130000"/>
                  </a:lnSpc>
                  <a:spcBef>
                    <a:spcPts val="600"/>
                  </a:spcBef>
                  <a:buFont typeface="Wingdings" panose="05000000000000000000" pitchFamily="2" charset="2"/>
                  <a:buChar char="Ø"/>
                </a:pPr>
                <a14:m>
                  <m:oMath xmlns:m="http://schemas.openxmlformats.org/officeDocument/2006/math">
                    <m:r>
                      <a:rPr lang="en-US" altLang="zh-CN" sz="2000" i="1" dirty="0" smtClean="0">
                        <a:solidFill>
                          <a:srgbClr val="0000FF"/>
                        </a:solidFill>
                        <a:latin typeface="Cambria Math" panose="02040503050406030204" pitchFamily="18" charset="0"/>
                        <a:cs typeface="Times New Roman" panose="02020603050405020304" pitchFamily="18" charset="0"/>
                      </a:rPr>
                      <m:t>𝑜𝑝𝑎𝑑</m:t>
                    </m:r>
                  </m:oMath>
                </a14:m>
                <a:r>
                  <a:rPr lang="zh-CN" altLang="en-US" sz="2000" dirty="0">
                    <a:latin typeface="Cambria Math" panose="02040503050406030204" pitchFamily="18" charset="0"/>
                    <a:cs typeface="Times New Roman" panose="02020603050405020304" pitchFamily="18" charset="0"/>
                  </a:rPr>
                  <a:t>：指定一段十六进制的外部填充</a:t>
                </a:r>
                <a:r>
                  <a:rPr lang="zh-CN" altLang="en-US" sz="2000" dirty="0">
                    <a:latin typeface="Times New Roman" panose="02020603050405020304" pitchFamily="18" charset="0"/>
                    <a:cs typeface="Times New Roman" panose="02020603050405020304" pitchFamily="18" charset="0"/>
                  </a:rPr>
                  <a:t>常数 </a:t>
                </a:r>
                <a:r>
                  <a:rPr lang="en-US" altLang="zh-CN" sz="2000" dirty="0">
                    <a:latin typeface="Cambria Math" panose="02040503050406030204" pitchFamily="18" charset="0"/>
                    <a:cs typeface="Times New Roman" panose="02020603050405020304" pitchFamily="18" charset="0"/>
                  </a:rPr>
                  <a:t>(</a:t>
                </a:r>
                <a14:m>
                  <m:oMath xmlns:m="http://schemas.openxmlformats.org/officeDocument/2006/math">
                    <m:r>
                      <a:rPr lang="en-US" altLang="zh-CN" sz="2000" i="0" dirty="0" smtClean="0">
                        <a:latin typeface="Cambria Math" panose="02040503050406030204" pitchFamily="18" charset="0"/>
                        <a:cs typeface="Times New Roman" panose="02020603050405020304" pitchFamily="18" charset="0"/>
                      </a:rPr>
                      <m:t>0</m:t>
                    </m:r>
                    <m:r>
                      <m:rPr>
                        <m:sty m:val="p"/>
                      </m:rPr>
                      <a:rPr lang="en-US" altLang="zh-CN" sz="2000" i="0" dirty="0" smtClean="0">
                        <a:latin typeface="Cambria Math" panose="02040503050406030204" pitchFamily="18" charset="0"/>
                        <a:cs typeface="Times New Roman" panose="02020603050405020304" pitchFamily="18" charset="0"/>
                      </a:rPr>
                      <m:t>x</m:t>
                    </m:r>
                    <m:r>
                      <a:rPr lang="en-US" altLang="zh-CN" sz="2000" i="0" dirty="0" smtClean="0">
                        <a:latin typeface="Cambria Math" panose="02040503050406030204" pitchFamily="18" charset="0"/>
                        <a:cs typeface="Times New Roman" panose="02020603050405020304" pitchFamily="18" charset="0"/>
                      </a:rPr>
                      <m:t>5</m:t>
                    </m:r>
                    <m:r>
                      <m:rPr>
                        <m:sty m:val="p"/>
                      </m:rPr>
                      <a:rPr lang="en-US" altLang="zh-CN" sz="2000" i="0" dirty="0" smtClean="0">
                        <a:latin typeface="Cambria Math" panose="02040503050406030204" pitchFamily="18" charset="0"/>
                        <a:cs typeface="Times New Roman" panose="02020603050405020304" pitchFamily="18" charset="0"/>
                      </a:rPr>
                      <m:t>c</m:t>
                    </m:r>
                    <m:r>
                      <a:rPr lang="en-US" altLang="zh-CN" sz="2000" i="0" dirty="0" smtClean="0">
                        <a:latin typeface="Cambria Math" panose="02040503050406030204" pitchFamily="18" charset="0"/>
                        <a:cs typeface="Times New Roman" panose="02020603050405020304" pitchFamily="18" charset="0"/>
                      </a:rPr>
                      <m:t>5</m:t>
                    </m:r>
                    <m:r>
                      <m:rPr>
                        <m:sty m:val="p"/>
                      </m:rPr>
                      <a:rPr lang="en-US" altLang="zh-CN" sz="2000" i="0" dirty="0" smtClean="0">
                        <a:latin typeface="Cambria Math" panose="02040503050406030204" pitchFamily="18" charset="0"/>
                        <a:cs typeface="Times New Roman" panose="02020603050405020304" pitchFamily="18" charset="0"/>
                      </a:rPr>
                      <m:t>c</m:t>
                    </m:r>
                    <m:r>
                      <a:rPr lang="en-US" altLang="zh-CN" sz="2000" i="0" dirty="0" smtClean="0">
                        <a:latin typeface="Cambria Math" panose="02040503050406030204" pitchFamily="18" charset="0"/>
                        <a:cs typeface="Times New Roman" panose="02020603050405020304" pitchFamily="18" charset="0"/>
                      </a:rPr>
                      <m:t>5</m:t>
                    </m:r>
                    <m:r>
                      <m:rPr>
                        <m:sty m:val="p"/>
                      </m:rPr>
                      <a:rPr lang="en-US" altLang="zh-CN" sz="2000" i="0" dirty="0" smtClean="0">
                        <a:latin typeface="Cambria Math" panose="02040503050406030204" pitchFamily="18" charset="0"/>
                        <a:cs typeface="Times New Roman" panose="02020603050405020304" pitchFamily="18" charset="0"/>
                      </a:rPr>
                      <m:t>c</m:t>
                    </m:r>
                    <m:r>
                      <a:rPr lang="en-US" altLang="zh-CN" sz="2000" i="0" dirty="0">
                        <a:latin typeface="Cambria Math" panose="02040503050406030204" pitchFamily="18" charset="0"/>
                        <a:cs typeface="Times New Roman" panose="02020603050405020304" pitchFamily="18" charset="0"/>
                      </a:rPr>
                      <m:t>…</m:t>
                    </m:r>
                    <m:r>
                      <a:rPr lang="en-US" altLang="zh-CN" sz="2000" i="0" dirty="0" smtClean="0">
                        <a:latin typeface="Cambria Math" panose="02040503050406030204" pitchFamily="18" charset="0"/>
                        <a:cs typeface="Times New Roman" panose="02020603050405020304" pitchFamily="18" charset="0"/>
                      </a:rPr>
                      <m:t>5</m:t>
                    </m:r>
                    <m:r>
                      <m:rPr>
                        <m:sty m:val="p"/>
                      </m:rPr>
                      <a:rPr lang="en-US" altLang="zh-CN" sz="2000" i="0" dirty="0" smtClean="0">
                        <a:latin typeface="Cambria Math" panose="02040503050406030204" pitchFamily="18" charset="0"/>
                        <a:cs typeface="Times New Roman" panose="02020603050405020304" pitchFamily="18" charset="0"/>
                      </a:rPr>
                      <m:t>c</m:t>
                    </m:r>
                    <m:r>
                      <a:rPr lang="en-US" altLang="zh-CN" sz="2000" i="0" dirty="0" smtClean="0">
                        <a:latin typeface="Cambria Math" panose="02040503050406030204" pitchFamily="18" charset="0"/>
                        <a:cs typeface="Times New Roman" panose="02020603050405020304" pitchFamily="18" charset="0"/>
                      </a:rPr>
                      <m:t>5</m:t>
                    </m:r>
                    <m:r>
                      <m:rPr>
                        <m:sty m:val="p"/>
                      </m:rPr>
                      <a:rPr lang="en-US" altLang="zh-CN" sz="2000" i="0" dirty="0" smtClean="0">
                        <a:latin typeface="Cambria Math" panose="02040503050406030204" pitchFamily="18" charset="0"/>
                        <a:cs typeface="Times New Roman" panose="02020603050405020304" pitchFamily="18" charset="0"/>
                      </a:rPr>
                      <m:t>c</m:t>
                    </m:r>
                  </m:oMath>
                </a14:m>
                <a:r>
                  <a:rPr lang="en-US" altLang="zh-CN" sz="2000" dirty="0">
                    <a:latin typeface="Cambria Math" panose="02040503050406030204" pitchFamily="18" charset="0"/>
                    <a:cs typeface="Times New Roman" panose="02020603050405020304" pitchFamily="18" charset="0"/>
                  </a:rPr>
                  <a:t>)</a:t>
                </a:r>
              </a:p>
              <a:p>
                <a:pPr marL="800100" lvl="1" indent="-342900" algn="just">
                  <a:lnSpc>
                    <a:spcPct val="130000"/>
                  </a:lnSpc>
                  <a:spcBef>
                    <a:spcPts val="600"/>
                  </a:spcBef>
                  <a:buFont typeface="Wingdings" panose="05000000000000000000" pitchFamily="2" charset="2"/>
                  <a:buChar char="Ø"/>
                </a:pPr>
                <a14:m>
                  <m:oMath xmlns:m="http://schemas.openxmlformats.org/officeDocument/2006/math">
                    <m:r>
                      <a:rPr lang="en-US" altLang="zh-CN" sz="2000" i="1" dirty="0" err="1" smtClean="0">
                        <a:solidFill>
                          <a:srgbClr val="0000FF"/>
                        </a:solidFill>
                        <a:latin typeface="Cambria Math" panose="02040503050406030204" pitchFamily="18" charset="0"/>
                        <a:cs typeface="Times New Roman" panose="02020603050405020304" pitchFamily="18" charset="0"/>
                      </a:rPr>
                      <m:t>𝑖𝑝𝑎𝑑</m:t>
                    </m:r>
                  </m:oMath>
                </a14:m>
                <a:r>
                  <a:rPr lang="zh-CN" altLang="en-US" sz="2000" dirty="0">
                    <a:solidFill>
                      <a:srgbClr val="0000FF"/>
                    </a:solidFill>
                    <a:latin typeface="Times New Roman" panose="02020603050405020304" pitchFamily="18" charset="0"/>
                    <a:cs typeface="Times New Roman" panose="02020603050405020304" pitchFamily="18" charset="0"/>
                  </a:rPr>
                  <a:t> </a:t>
                </a:r>
                <a:r>
                  <a:rPr lang="zh-CN" altLang="en-US" sz="2000" dirty="0">
                    <a:latin typeface="Cambria Math" panose="02040503050406030204" pitchFamily="18" charset="0"/>
                    <a:cs typeface="Times New Roman" panose="02020603050405020304" pitchFamily="18" charset="0"/>
                  </a:rPr>
                  <a:t>：指定一段十六进制的内部填充</a:t>
                </a:r>
                <a:r>
                  <a:rPr lang="zh-CN" altLang="en-US" sz="2000" dirty="0">
                    <a:latin typeface="Times New Roman" panose="02020603050405020304" pitchFamily="18" charset="0"/>
                    <a:cs typeface="Times New Roman" panose="02020603050405020304" pitchFamily="18" charset="0"/>
                  </a:rPr>
                  <a:t>常数 </a:t>
                </a:r>
                <a:r>
                  <a:rPr lang="en-US" altLang="zh-CN" sz="2000" dirty="0">
                    <a:latin typeface="Cambria Math" panose="02040503050406030204" pitchFamily="18" charset="0"/>
                    <a:cs typeface="Times New Roman" panose="02020603050405020304" pitchFamily="18" charset="0"/>
                  </a:rPr>
                  <a:t>(</a:t>
                </a:r>
                <a14:m>
                  <m:oMath xmlns:m="http://schemas.openxmlformats.org/officeDocument/2006/math">
                    <m:r>
                      <a:rPr lang="en-US" altLang="zh-CN" sz="2000" i="0" dirty="0" smtClean="0">
                        <a:latin typeface="Cambria Math" panose="02040503050406030204" pitchFamily="18" charset="0"/>
                        <a:cs typeface="Times New Roman" panose="02020603050405020304" pitchFamily="18" charset="0"/>
                      </a:rPr>
                      <m:t>0</m:t>
                    </m:r>
                    <m:r>
                      <m:rPr>
                        <m:sty m:val="p"/>
                      </m:rPr>
                      <a:rPr lang="en-US" altLang="zh-CN" sz="2000" i="0" dirty="0" smtClean="0">
                        <a:latin typeface="Cambria Math" panose="02040503050406030204" pitchFamily="18" charset="0"/>
                        <a:cs typeface="Times New Roman" panose="02020603050405020304" pitchFamily="18" charset="0"/>
                      </a:rPr>
                      <m:t>x</m:t>
                    </m:r>
                    <m:r>
                      <a:rPr lang="en-US" altLang="zh-CN" sz="2000" i="0" dirty="0" smtClean="0">
                        <a:latin typeface="Cambria Math" panose="02040503050406030204" pitchFamily="18" charset="0"/>
                        <a:cs typeface="Times New Roman" panose="02020603050405020304" pitchFamily="18" charset="0"/>
                      </a:rPr>
                      <m:t>363636…3636</m:t>
                    </m:r>
                  </m:oMath>
                </a14:m>
                <a:r>
                  <a:rPr lang="en-US" altLang="zh-CN" sz="2000" dirty="0">
                    <a:latin typeface="Cambria Math" panose="020405030504060302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20000"/>
                  </a:lnSpc>
                  <a:spcBef>
                    <a:spcPts val="12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计算开销：</a:t>
                </a:r>
                <a:r>
                  <a:rPr lang="zh-CN" altLang="en-US" sz="2000" dirty="0">
                    <a:latin typeface="Times New Roman" panose="02020603050405020304" pitchFamily="18" charset="0"/>
                    <a:cs typeface="Times New Roman" panose="02020603050405020304" pitchFamily="18" charset="0"/>
                  </a:rPr>
                  <a:t>开销只比哈希原始消息多</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个哈希计算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两个密钥和内部哈希</a:t>
                </a:r>
                <a:r>
                  <a:rPr lang="en-US" altLang="zh-CN" sz="2000" dirty="0">
                    <a:latin typeface="Times New Roman" panose="02020603050405020304" pitchFamily="18" charset="0"/>
                    <a:cs typeface="Times New Roman" panose="02020603050405020304" pitchFamily="18" charset="0"/>
                  </a:rPr>
                  <a:t>)</a:t>
                </a:r>
              </a:p>
            </p:txBody>
          </p:sp>
        </mc:Choice>
        <mc:Fallback xmlns="">
          <p:sp>
            <p:nvSpPr>
              <p:cNvPr id="8" name="文本框 7">
                <a:extLst>
                  <a:ext uri="{FF2B5EF4-FFF2-40B4-BE49-F238E27FC236}">
                    <a16:creationId xmlns="" xmlns:a16="http://schemas.microsoft.com/office/drawing/2014/main" xmlns:a14="http://schemas.microsoft.com/office/drawing/2010/main" id="{E4C51DE6-60B1-EE44-2A57-B42419475092}"/>
                  </a:ext>
                </a:extLst>
              </p:cNvPr>
              <p:cNvSpPr txBox="1">
                <a:spLocks noRot="1" noChangeAspect="1" noMove="1" noResize="1" noEditPoints="1" noAdjustHandles="1" noChangeArrowheads="1" noChangeShapeType="1" noTextEdit="1"/>
              </p:cNvSpPr>
              <p:nvPr/>
            </p:nvSpPr>
            <p:spPr>
              <a:xfrm>
                <a:off x="332027" y="1654626"/>
                <a:ext cx="8479945" cy="4398127"/>
              </a:xfrm>
              <a:prstGeom prst="rect">
                <a:avLst/>
              </a:prstGeom>
              <a:blipFill rotWithShape="0">
                <a:blip r:embed="rId3"/>
                <a:stretch>
                  <a:fillRect l="-647" r="-1652" b="-8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2238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D172799D-827D-D8DB-555E-510365CAA948}"/>
              </a:ext>
            </a:extLst>
          </p:cNvPr>
          <p:cNvPicPr>
            <a:picLocks noChangeAspect="1"/>
          </p:cNvPicPr>
          <p:nvPr/>
        </p:nvPicPr>
        <p:blipFill rotWithShape="1">
          <a:blip r:embed="rId3"/>
          <a:srcRect l="4284" r="1019" b="868"/>
          <a:stretch/>
        </p:blipFill>
        <p:spPr>
          <a:xfrm>
            <a:off x="3452513" y="1652141"/>
            <a:ext cx="4248291" cy="5121459"/>
          </a:xfrm>
          <a:prstGeom prst="rect">
            <a:avLst/>
          </a:prstGeom>
        </p:spPr>
      </p:pic>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12</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(1) </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消息认证码 </a:t>
            </a: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HMAC</a:t>
            </a:r>
            <a:endPar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对话气泡: 圆角矩形 4">
                <a:extLst>
                  <a:ext uri="{FF2B5EF4-FFF2-40B4-BE49-F238E27FC236}">
                    <a16:creationId xmlns:a16="http://schemas.microsoft.com/office/drawing/2014/main" id="{FEC6AEE0-93FB-C19A-762D-E2BE129B2056}"/>
                  </a:ext>
                </a:extLst>
              </p:cNvPr>
              <p:cNvSpPr/>
              <p:nvPr/>
            </p:nvSpPr>
            <p:spPr>
              <a:xfrm>
                <a:off x="1182958" y="2023193"/>
                <a:ext cx="2007230" cy="582742"/>
              </a:xfrm>
              <a:prstGeom prst="wedgeRoundRectCallout">
                <a:avLst>
                  <a:gd name="adj1" fmla="val 68520"/>
                  <a:gd name="adj2" fmla="val -44017"/>
                  <a:gd name="adj3" fmla="val 16667"/>
                </a:avLst>
              </a:prstGeom>
              <a:solidFill>
                <a:schemeClr val="accent5">
                  <a:alpha val="4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600" dirty="0">
                    <a:solidFill>
                      <a:schemeClr val="tx1"/>
                    </a:solidFill>
                    <a:latin typeface="+mn-ea"/>
                  </a:rPr>
                  <a:t>左边经填充</a:t>
                </a:r>
                <a:r>
                  <a:rPr lang="en-US" altLang="zh-CN" sz="1600" dirty="0">
                    <a:solidFill>
                      <a:schemeClr val="tx1"/>
                    </a:solidFill>
                    <a:latin typeface="+mn-ea"/>
                  </a:rPr>
                  <a:t>0</a:t>
                </a:r>
                <a:r>
                  <a:rPr lang="zh-CN" altLang="en-US" sz="1600" dirty="0">
                    <a:solidFill>
                      <a:schemeClr val="tx1"/>
                    </a:solidFill>
                    <a:latin typeface="+mn-ea"/>
                  </a:rPr>
                  <a:t>后的</a:t>
                </a:r>
                <a14:m>
                  <m:oMath xmlns:m="http://schemas.openxmlformats.org/officeDocument/2006/math">
                    <m:r>
                      <a:rPr lang="en-US" altLang="zh-CN" sz="1600" b="0" i="0"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𝐾</m:t>
                    </m:r>
                  </m:oMath>
                </a14:m>
                <a:r>
                  <a:rPr lang="en-US" altLang="zh-CN" sz="1600" dirty="0">
                    <a:solidFill>
                      <a:schemeClr val="tx1"/>
                    </a:solidFill>
                    <a:latin typeface="+mn-ea"/>
                  </a:rPr>
                  <a:t>,</a:t>
                </a:r>
                <a:r>
                  <a:rPr lang="en-US" altLang="zh-CN" sz="1600" dirty="0">
                    <a:solidFill>
                      <a:schemeClr val="tx1"/>
                    </a:solidFill>
                    <a:cs typeface="Times New Roman" panose="02020603050405020304" pitchFamily="18" charset="0"/>
                  </a:rPr>
                  <a:t> </a:t>
                </a:r>
                <a14:m>
                  <m:oMath xmlns:m="http://schemas.openxmlformats.org/officeDocument/2006/math">
                    <m:sSup>
                      <m:sSupPr>
                        <m:ctrlPr>
                          <a:rPr lang="en-US" altLang="zh-CN" sz="1600" i="1" dirty="0">
                            <a:solidFill>
                              <a:schemeClr val="tx1"/>
                            </a:solidFill>
                            <a:latin typeface="Cambria Math" panose="02040503050406030204" pitchFamily="18" charset="0"/>
                            <a:cs typeface="Times New Roman" panose="02020603050405020304" pitchFamily="18" charset="0"/>
                          </a:rPr>
                        </m:ctrlPr>
                      </m:sSupPr>
                      <m:e>
                        <m:r>
                          <a:rPr lang="en-US" altLang="zh-CN" sz="1600" i="1" dirty="0">
                            <a:solidFill>
                              <a:schemeClr val="tx1"/>
                            </a:solidFill>
                            <a:latin typeface="Cambria Math" panose="02040503050406030204" pitchFamily="18" charset="0"/>
                            <a:cs typeface="Times New Roman" panose="02020603050405020304" pitchFamily="18" charset="0"/>
                          </a:rPr>
                          <m:t>𝐾</m:t>
                        </m:r>
                      </m:e>
                      <m:sup>
                        <m:r>
                          <a:rPr lang="en-US" altLang="zh-CN" sz="1600" i="1" dirty="0">
                            <a:solidFill>
                              <a:schemeClr val="tx1"/>
                            </a:solidFill>
                            <a:latin typeface="Cambria Math" panose="02040503050406030204" pitchFamily="18" charset="0"/>
                            <a:cs typeface="Times New Roman" panose="02020603050405020304" pitchFamily="18" charset="0"/>
                          </a:rPr>
                          <m:t>+</m:t>
                        </m:r>
                        <m:r>
                          <a:rPr lang="en-US" altLang="zh-CN" sz="1600" b="0" i="1" dirty="0" smtClean="0">
                            <a:solidFill>
                              <a:schemeClr val="tx1"/>
                            </a:solidFill>
                            <a:latin typeface="Cambria Math" panose="02040503050406030204" pitchFamily="18" charset="0"/>
                            <a:cs typeface="Times New Roman" panose="02020603050405020304" pitchFamily="18" charset="0"/>
                          </a:rPr>
                          <m:t> </m:t>
                        </m:r>
                      </m:sup>
                    </m:sSup>
                  </m:oMath>
                </a14:m>
                <a:r>
                  <a:rPr lang="zh-CN" altLang="en-US" sz="1600" dirty="0">
                    <a:solidFill>
                      <a:schemeClr val="tx1"/>
                    </a:solidFill>
                    <a:latin typeface="+mn-ea"/>
                  </a:rPr>
                  <a:t>的长度为</a:t>
                </a:r>
                <a14:m>
                  <m:oMath xmlns:m="http://schemas.openxmlformats.org/officeDocument/2006/math">
                    <m:r>
                      <a:rPr lang="en-US" altLang="zh-CN" sz="1600" b="0" i="0" dirty="0" smtClean="0">
                        <a:solidFill>
                          <a:schemeClr val="tx1"/>
                        </a:solidFill>
                        <a:latin typeface="Cambria Math" panose="02040503050406030204" pitchFamily="18" charset="0"/>
                      </a:rPr>
                      <m:t> </m:t>
                    </m:r>
                    <m:r>
                      <a:rPr lang="en-US" altLang="zh-CN" sz="1600" i="1" dirty="0" smtClean="0">
                        <a:solidFill>
                          <a:schemeClr val="tx1"/>
                        </a:solidFill>
                        <a:latin typeface="Cambria Math" panose="02040503050406030204" pitchFamily="18" charset="0"/>
                      </a:rPr>
                      <m:t>𝑏</m:t>
                    </m:r>
                    <m:r>
                      <a:rPr lang="en-US" altLang="zh-CN" sz="1600" b="0" i="0" dirty="0" smtClean="0">
                        <a:solidFill>
                          <a:schemeClr val="tx1"/>
                        </a:solidFill>
                        <a:latin typeface="Cambria Math" panose="02040503050406030204" pitchFamily="18" charset="0"/>
                      </a:rPr>
                      <m:t> </m:t>
                    </m:r>
                  </m:oMath>
                </a14:m>
                <a:r>
                  <a:rPr lang="zh-CN" altLang="en-US" sz="1600" dirty="0">
                    <a:solidFill>
                      <a:schemeClr val="tx1"/>
                    </a:solidFill>
                    <a:latin typeface="+mn-ea"/>
                  </a:rPr>
                  <a:t>比特</a:t>
                </a:r>
              </a:p>
            </p:txBody>
          </p:sp>
        </mc:Choice>
        <mc:Fallback xmlns="">
          <p:sp>
            <p:nvSpPr>
              <p:cNvPr id="5" name="对话气泡: 圆角矩形 4">
                <a:extLst>
                  <a:ext uri="{FF2B5EF4-FFF2-40B4-BE49-F238E27FC236}">
                    <a16:creationId xmlns:a16="http://schemas.microsoft.com/office/drawing/2014/main" id="{FEC6AEE0-93FB-C19A-762D-E2BE129B2056}"/>
                  </a:ext>
                </a:extLst>
              </p:cNvPr>
              <p:cNvSpPr>
                <a:spLocks noRot="1" noChangeAspect="1" noMove="1" noResize="1" noEditPoints="1" noAdjustHandles="1" noChangeArrowheads="1" noChangeShapeType="1" noTextEdit="1"/>
              </p:cNvSpPr>
              <p:nvPr/>
            </p:nvSpPr>
            <p:spPr>
              <a:xfrm>
                <a:off x="1182958" y="2023193"/>
                <a:ext cx="2007230" cy="582742"/>
              </a:xfrm>
              <a:prstGeom prst="wedgeRoundRectCallout">
                <a:avLst>
                  <a:gd name="adj1" fmla="val 68520"/>
                  <a:gd name="adj2" fmla="val -44017"/>
                  <a:gd name="adj3" fmla="val 16667"/>
                </a:avLst>
              </a:prstGeom>
              <a:blipFill>
                <a:blip r:embed="rId4"/>
                <a:stretch>
                  <a:fillRect l="-1279" t="-3125" b="-12500"/>
                </a:stretch>
              </a:blipFill>
              <a:ln w="635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对话气泡: 圆角矩形 6">
                <a:extLst>
                  <a:ext uri="{FF2B5EF4-FFF2-40B4-BE49-F238E27FC236}">
                    <a16:creationId xmlns:a16="http://schemas.microsoft.com/office/drawing/2014/main" id="{6D537D7F-F39F-6667-CF3C-115DEA1B1AFC}"/>
                  </a:ext>
                </a:extLst>
              </p:cNvPr>
              <p:cNvSpPr/>
              <p:nvPr/>
            </p:nvSpPr>
            <p:spPr>
              <a:xfrm>
                <a:off x="5341284" y="1859106"/>
                <a:ext cx="1835370" cy="397048"/>
              </a:xfrm>
              <a:prstGeom prst="wedgeRoundRectCallout">
                <a:avLst>
                  <a:gd name="adj1" fmla="val -93883"/>
                  <a:gd name="adj2" fmla="val -48781"/>
                  <a:gd name="adj3" fmla="val 16667"/>
                </a:avLst>
              </a:prstGeom>
              <a:solidFill>
                <a:schemeClr val="accent5">
                  <a:alpha val="4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14:m>
                  <m:oMath xmlns:m="http://schemas.openxmlformats.org/officeDocument/2006/math">
                    <m:r>
                      <a:rPr lang="en-US" altLang="zh-CN" sz="1600" i="1" dirty="0" smtClean="0">
                        <a:solidFill>
                          <a:schemeClr val="tx1"/>
                        </a:solidFill>
                        <a:latin typeface="Cambria Math" panose="02040503050406030204" pitchFamily="18" charset="0"/>
                      </a:rPr>
                      <m:t>𝑏</m:t>
                    </m:r>
                    <m:r>
                      <a:rPr lang="en-US" altLang="zh-CN" sz="1600" i="1" dirty="0" smtClean="0">
                        <a:solidFill>
                          <a:schemeClr val="tx1"/>
                        </a:solidFill>
                        <a:latin typeface="Cambria Math" panose="02040503050406030204" pitchFamily="18" charset="0"/>
                      </a:rPr>
                      <m:t>/8</m:t>
                    </m:r>
                  </m:oMath>
                </a14:m>
                <a:r>
                  <a:rPr lang="zh-CN" altLang="en-US" sz="1600" dirty="0">
                    <a:solidFill>
                      <a:schemeClr val="tx1"/>
                    </a:solidFill>
                    <a:latin typeface="+mn-ea"/>
                  </a:rPr>
                  <a:t> 个</a:t>
                </a:r>
                <a14:m>
                  <m:oMath xmlns:m="http://schemas.openxmlformats.org/officeDocument/2006/math">
                    <m:r>
                      <a:rPr lang="en-US" altLang="zh-CN" sz="1600" b="0" i="0" dirty="0" smtClean="0">
                        <a:solidFill>
                          <a:schemeClr val="tx1"/>
                        </a:solidFill>
                        <a:latin typeface="Cambria Math" panose="02040503050406030204" pitchFamily="18" charset="0"/>
                      </a:rPr>
                      <m:t> </m:t>
                    </m:r>
                    <m:r>
                      <a:rPr lang="en-US" altLang="zh-CN" sz="1600" i="1" dirty="0" smtClean="0">
                        <a:solidFill>
                          <a:schemeClr val="tx1"/>
                        </a:solidFill>
                        <a:latin typeface="Cambria Math" panose="02040503050406030204" pitchFamily="18" charset="0"/>
                      </a:rPr>
                      <m:t>00110110</m:t>
                    </m:r>
                  </m:oMath>
                </a14:m>
                <a:endParaRPr lang="zh-CN" altLang="en-US" sz="1600" dirty="0">
                  <a:solidFill>
                    <a:schemeClr val="tx1"/>
                  </a:solidFill>
                  <a:latin typeface="+mn-ea"/>
                </a:endParaRPr>
              </a:p>
            </p:txBody>
          </p:sp>
        </mc:Choice>
        <mc:Fallback xmlns="">
          <p:sp>
            <p:nvSpPr>
              <p:cNvPr id="7" name="对话气泡: 圆角矩形 6">
                <a:extLst>
                  <a:ext uri="{FF2B5EF4-FFF2-40B4-BE49-F238E27FC236}">
                    <a16:creationId xmlns:a16="http://schemas.microsoft.com/office/drawing/2014/main" id="{6D537D7F-F39F-6667-CF3C-115DEA1B1AFC}"/>
                  </a:ext>
                </a:extLst>
              </p:cNvPr>
              <p:cNvSpPr>
                <a:spLocks noRot="1" noChangeAspect="1" noMove="1" noResize="1" noEditPoints="1" noAdjustHandles="1" noChangeArrowheads="1" noChangeShapeType="1" noTextEdit="1"/>
              </p:cNvSpPr>
              <p:nvPr/>
            </p:nvSpPr>
            <p:spPr>
              <a:xfrm>
                <a:off x="5341284" y="1859106"/>
                <a:ext cx="1835370" cy="397048"/>
              </a:xfrm>
              <a:prstGeom prst="wedgeRoundRectCallout">
                <a:avLst>
                  <a:gd name="adj1" fmla="val -93883"/>
                  <a:gd name="adj2" fmla="val -48781"/>
                  <a:gd name="adj3" fmla="val 16667"/>
                </a:avLst>
              </a:prstGeom>
              <a:blipFill>
                <a:blip r:embed="rId5"/>
                <a:stretch>
                  <a:fillRect b="-10606"/>
                </a:stretch>
              </a:blipFill>
              <a:ln w="635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话气泡: 圆角矩形 8">
                <a:extLst>
                  <a:ext uri="{FF2B5EF4-FFF2-40B4-BE49-F238E27FC236}">
                    <a16:creationId xmlns:a16="http://schemas.microsoft.com/office/drawing/2014/main" id="{2575FFE1-CDC1-4AFE-ED2C-A8969B7DCFF6}"/>
                  </a:ext>
                </a:extLst>
              </p:cNvPr>
              <p:cNvSpPr/>
              <p:nvPr/>
            </p:nvSpPr>
            <p:spPr>
              <a:xfrm>
                <a:off x="1354188" y="3370173"/>
                <a:ext cx="1836000" cy="396000"/>
              </a:xfrm>
              <a:prstGeom prst="wedgeRoundRectCallout">
                <a:avLst>
                  <a:gd name="adj1" fmla="val 99825"/>
                  <a:gd name="adj2" fmla="val 107873"/>
                  <a:gd name="adj3" fmla="val 16667"/>
                </a:avLst>
              </a:prstGeom>
              <a:solidFill>
                <a:schemeClr val="accent5">
                  <a:alpha val="4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14:m>
                  <m:oMath xmlns:m="http://schemas.openxmlformats.org/officeDocument/2006/math">
                    <m:r>
                      <a:rPr lang="en-US" altLang="zh-CN" sz="1600" i="1" dirty="0" smtClean="0">
                        <a:solidFill>
                          <a:schemeClr val="tx1"/>
                        </a:solidFill>
                        <a:latin typeface="Cambria Math" panose="02040503050406030204" pitchFamily="18" charset="0"/>
                      </a:rPr>
                      <m:t>𝑏</m:t>
                    </m:r>
                    <m:r>
                      <a:rPr lang="en-US" altLang="zh-CN" sz="1600" i="1" dirty="0" smtClean="0">
                        <a:solidFill>
                          <a:schemeClr val="tx1"/>
                        </a:solidFill>
                        <a:latin typeface="Cambria Math" panose="02040503050406030204" pitchFamily="18" charset="0"/>
                      </a:rPr>
                      <m:t>/8</m:t>
                    </m:r>
                  </m:oMath>
                </a14:m>
                <a:r>
                  <a:rPr lang="zh-CN" altLang="en-US" sz="1600" dirty="0">
                    <a:solidFill>
                      <a:schemeClr val="tx1"/>
                    </a:solidFill>
                    <a:latin typeface="+mn-ea"/>
                  </a:rPr>
                  <a:t> 个 </a:t>
                </a:r>
                <a14:m>
                  <m:oMath xmlns:m="http://schemas.openxmlformats.org/officeDocument/2006/math">
                    <m:r>
                      <a:rPr lang="en-US" altLang="zh-CN" sz="1600" b="0" i="1" dirty="0" smtClean="0">
                        <a:solidFill>
                          <a:schemeClr val="tx1"/>
                        </a:solidFill>
                        <a:latin typeface="Cambria Math" panose="02040503050406030204" pitchFamily="18" charset="0"/>
                      </a:rPr>
                      <m:t>01011100</m:t>
                    </m:r>
                  </m:oMath>
                </a14:m>
                <a:endParaRPr lang="zh-CN" altLang="en-US" sz="1600" dirty="0">
                  <a:solidFill>
                    <a:schemeClr val="tx1"/>
                  </a:solidFill>
                  <a:latin typeface="+mn-ea"/>
                </a:endParaRPr>
              </a:p>
            </p:txBody>
          </p:sp>
        </mc:Choice>
        <mc:Fallback xmlns="">
          <p:sp>
            <p:nvSpPr>
              <p:cNvPr id="9" name="对话气泡: 圆角矩形 8">
                <a:extLst>
                  <a:ext uri="{FF2B5EF4-FFF2-40B4-BE49-F238E27FC236}">
                    <a16:creationId xmlns="" xmlns:a16="http://schemas.microsoft.com/office/drawing/2014/main" xmlns:a14="http://schemas.microsoft.com/office/drawing/2010/main" id="{2575FFE1-CDC1-4AFE-ED2C-A8969B7DCFF6}"/>
                  </a:ext>
                </a:extLst>
              </p:cNvPr>
              <p:cNvSpPr>
                <a:spLocks noRot="1" noChangeAspect="1" noMove="1" noResize="1" noEditPoints="1" noAdjustHandles="1" noChangeArrowheads="1" noChangeShapeType="1" noTextEdit="1"/>
              </p:cNvSpPr>
              <p:nvPr/>
            </p:nvSpPr>
            <p:spPr>
              <a:xfrm>
                <a:off x="1354188" y="3370173"/>
                <a:ext cx="1836000" cy="396000"/>
              </a:xfrm>
              <a:prstGeom prst="wedgeRoundRectCallout">
                <a:avLst>
                  <a:gd name="adj1" fmla="val 99825"/>
                  <a:gd name="adj2" fmla="val 107873"/>
                  <a:gd name="adj3" fmla="val 16667"/>
                </a:avLst>
              </a:prstGeom>
              <a:blipFill rotWithShape="0">
                <a:blip r:embed="rId6"/>
                <a:stretch>
                  <a:fillRect/>
                </a:stretch>
              </a:blipFill>
              <a:ln w="635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对话气泡: 圆角矩形 9">
                <a:extLst>
                  <a:ext uri="{FF2B5EF4-FFF2-40B4-BE49-F238E27FC236}">
                    <a16:creationId xmlns:a16="http://schemas.microsoft.com/office/drawing/2014/main" id="{FC4F0F4B-B790-A3C3-402B-A083EEC39A76}"/>
                  </a:ext>
                </a:extLst>
              </p:cNvPr>
              <p:cNvSpPr/>
              <p:nvPr/>
            </p:nvSpPr>
            <p:spPr>
              <a:xfrm>
                <a:off x="1182958" y="4751298"/>
                <a:ext cx="2007230" cy="396000"/>
              </a:xfrm>
              <a:prstGeom prst="wedgeRoundRectCallout">
                <a:avLst>
                  <a:gd name="adj1" fmla="val 104048"/>
                  <a:gd name="adj2" fmla="val -61701"/>
                  <a:gd name="adj3" fmla="val 16667"/>
                </a:avLst>
              </a:prstGeom>
              <a:solidFill>
                <a:schemeClr val="accent5">
                  <a:alpha val="4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14:m>
                  <m:oMath xmlns:m="http://schemas.openxmlformats.org/officeDocument/2006/math">
                    <m:r>
                      <a:rPr lang="zh-CN" altLang="en-US" sz="1600" i="1" dirty="0" smtClean="0">
                        <a:solidFill>
                          <a:schemeClr val="tx1"/>
                        </a:solidFill>
                        <a:latin typeface="Cambria Math" panose="02040503050406030204" pitchFamily="18" charset="0"/>
                      </a:rPr>
                      <m:t>一个</m:t>
                    </m:r>
                  </m:oMath>
                </a14:m>
                <a:r>
                  <a:rPr lang="zh-CN" altLang="en-US" sz="1600" dirty="0">
                    <a:solidFill>
                      <a:schemeClr val="tx1"/>
                    </a:solidFill>
                    <a:latin typeface="+mn-ea"/>
                  </a:rPr>
                  <a:t>分组的比特数</a:t>
                </a:r>
              </a:p>
            </p:txBody>
          </p:sp>
        </mc:Choice>
        <mc:Fallback xmlns="">
          <p:sp>
            <p:nvSpPr>
              <p:cNvPr id="10" name="对话气泡: 圆角矩形 9">
                <a:extLst>
                  <a:ext uri="{FF2B5EF4-FFF2-40B4-BE49-F238E27FC236}">
                    <a16:creationId xmlns:a16="http://schemas.microsoft.com/office/drawing/2014/main" id="{FC4F0F4B-B790-A3C3-402B-A083EEC39A76}"/>
                  </a:ext>
                </a:extLst>
              </p:cNvPr>
              <p:cNvSpPr>
                <a:spLocks noRot="1" noChangeAspect="1" noMove="1" noResize="1" noEditPoints="1" noAdjustHandles="1" noChangeArrowheads="1" noChangeShapeType="1" noTextEdit="1"/>
              </p:cNvSpPr>
              <p:nvPr/>
            </p:nvSpPr>
            <p:spPr>
              <a:xfrm>
                <a:off x="1182958" y="4751298"/>
                <a:ext cx="2007230" cy="396000"/>
              </a:xfrm>
              <a:prstGeom prst="wedgeRoundRectCallout">
                <a:avLst>
                  <a:gd name="adj1" fmla="val 104048"/>
                  <a:gd name="adj2" fmla="val -61701"/>
                  <a:gd name="adj3" fmla="val 16667"/>
                </a:avLst>
              </a:prstGeom>
              <a:blipFill>
                <a:blip r:embed="rId7"/>
                <a:stretch>
                  <a:fillRect b="-9459"/>
                </a:stretch>
              </a:blipFill>
              <a:ln w="635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对话气泡: 圆角矩形 10">
                <a:extLst>
                  <a:ext uri="{FF2B5EF4-FFF2-40B4-BE49-F238E27FC236}">
                    <a16:creationId xmlns:a16="http://schemas.microsoft.com/office/drawing/2014/main" id="{2ED61A7A-794D-3D81-7089-ACC32ADD7E7B}"/>
                  </a:ext>
                </a:extLst>
              </p:cNvPr>
              <p:cNvSpPr/>
              <p:nvPr/>
            </p:nvSpPr>
            <p:spPr>
              <a:xfrm>
                <a:off x="1799128" y="5696947"/>
                <a:ext cx="1391059" cy="583200"/>
              </a:xfrm>
              <a:prstGeom prst="wedgeRoundRectCallout">
                <a:avLst>
                  <a:gd name="adj1" fmla="val 102092"/>
                  <a:gd name="adj2" fmla="val -27426"/>
                  <a:gd name="adj3" fmla="val 16667"/>
                </a:avLst>
              </a:prstGeom>
              <a:solidFill>
                <a:schemeClr val="accent5">
                  <a:alpha val="4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14:m>
                  <m:oMath xmlns:m="http://schemas.openxmlformats.org/officeDocument/2006/math">
                    <m:r>
                      <a:rPr lang="zh-CN" altLang="en-US" sz="1600" i="1" dirty="0" smtClean="0">
                        <a:solidFill>
                          <a:schemeClr val="tx1"/>
                        </a:solidFill>
                        <a:latin typeface="Cambria Math" panose="02040503050406030204" pitchFamily="18" charset="0"/>
                      </a:rPr>
                      <m:t>哈希</m:t>
                    </m:r>
                  </m:oMath>
                </a14:m>
                <a:r>
                  <a:rPr lang="zh-CN" altLang="en-US" sz="1600" dirty="0">
                    <a:solidFill>
                      <a:schemeClr val="tx1"/>
                    </a:solidFill>
                    <a:latin typeface="+mn-ea"/>
                  </a:rPr>
                  <a:t>函数输入的初始值</a:t>
                </a:r>
              </a:p>
            </p:txBody>
          </p:sp>
        </mc:Choice>
        <mc:Fallback xmlns="">
          <p:sp>
            <p:nvSpPr>
              <p:cNvPr id="11" name="对话气泡: 圆角矩形 10">
                <a:extLst>
                  <a:ext uri="{FF2B5EF4-FFF2-40B4-BE49-F238E27FC236}">
                    <a16:creationId xmlns:a16="http://schemas.microsoft.com/office/drawing/2014/main" id="{2ED61A7A-794D-3D81-7089-ACC32ADD7E7B}"/>
                  </a:ext>
                </a:extLst>
              </p:cNvPr>
              <p:cNvSpPr>
                <a:spLocks noRot="1" noChangeAspect="1" noMove="1" noResize="1" noEditPoints="1" noAdjustHandles="1" noChangeArrowheads="1" noChangeShapeType="1" noTextEdit="1"/>
              </p:cNvSpPr>
              <p:nvPr/>
            </p:nvSpPr>
            <p:spPr>
              <a:xfrm>
                <a:off x="1799128" y="5696947"/>
                <a:ext cx="1391059" cy="583200"/>
              </a:xfrm>
              <a:prstGeom prst="wedgeRoundRectCallout">
                <a:avLst>
                  <a:gd name="adj1" fmla="val 102092"/>
                  <a:gd name="adj2" fmla="val -27426"/>
                  <a:gd name="adj3" fmla="val 16667"/>
                </a:avLst>
              </a:prstGeom>
              <a:blipFill>
                <a:blip r:embed="rId8"/>
                <a:stretch>
                  <a:fillRect t="-3125" b="-12500"/>
                </a:stretch>
              </a:blipFill>
              <a:ln w="635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对话气泡: 圆角矩形 11">
                <a:extLst>
                  <a:ext uri="{FF2B5EF4-FFF2-40B4-BE49-F238E27FC236}">
                    <a16:creationId xmlns:a16="http://schemas.microsoft.com/office/drawing/2014/main" id="{FBE586E8-B06F-81F7-469A-8FDB18017B5A}"/>
                  </a:ext>
                </a:extLst>
              </p:cNvPr>
              <p:cNvSpPr/>
              <p:nvPr/>
            </p:nvSpPr>
            <p:spPr>
              <a:xfrm>
                <a:off x="7393826" y="3090152"/>
                <a:ext cx="1563228" cy="397048"/>
              </a:xfrm>
              <a:prstGeom prst="wedgeRoundRectCallout">
                <a:avLst>
                  <a:gd name="adj1" fmla="val -55336"/>
                  <a:gd name="adj2" fmla="val -49883"/>
                  <a:gd name="adj3" fmla="val 16667"/>
                </a:avLst>
              </a:prstGeom>
              <a:solidFill>
                <a:schemeClr val="accent5">
                  <a:alpha val="4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600" dirty="0">
                    <a:solidFill>
                      <a:schemeClr val="tx1"/>
                    </a:solidFill>
                    <a:latin typeface="+mn-ea"/>
                  </a:rPr>
                  <a:t>消息</a:t>
                </a:r>
                <a14:m>
                  <m:oMath xmlns:m="http://schemas.openxmlformats.org/officeDocument/2006/math">
                    <m:r>
                      <a:rPr lang="en-US" altLang="zh-CN" sz="1600" b="0" i="0"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𝑀</m:t>
                    </m:r>
                    <m:r>
                      <a:rPr lang="en-US" altLang="zh-CN" sz="1600" b="0" i="1" smtClean="0">
                        <a:solidFill>
                          <a:schemeClr val="tx1"/>
                        </a:solidFill>
                        <a:latin typeface="Cambria Math" panose="02040503050406030204" pitchFamily="18" charset="0"/>
                      </a:rPr>
                      <m:t> </m:t>
                    </m:r>
                  </m:oMath>
                </a14:m>
                <a:r>
                  <a:rPr lang="zh-CN" altLang="en-US" sz="1600" dirty="0">
                    <a:solidFill>
                      <a:schemeClr val="tx1"/>
                    </a:solidFill>
                    <a:latin typeface="+mn-ea"/>
                  </a:rPr>
                  <a:t>的分组</a:t>
                </a:r>
              </a:p>
            </p:txBody>
          </p:sp>
        </mc:Choice>
        <mc:Fallback xmlns="">
          <p:sp>
            <p:nvSpPr>
              <p:cNvPr id="12" name="对话气泡: 圆角矩形 11">
                <a:extLst>
                  <a:ext uri="{FF2B5EF4-FFF2-40B4-BE49-F238E27FC236}">
                    <a16:creationId xmlns:a16="http://schemas.microsoft.com/office/drawing/2014/main" id="{FBE586E8-B06F-81F7-469A-8FDB18017B5A}"/>
                  </a:ext>
                </a:extLst>
              </p:cNvPr>
              <p:cNvSpPr>
                <a:spLocks noRot="1" noChangeAspect="1" noMove="1" noResize="1" noEditPoints="1" noAdjustHandles="1" noChangeArrowheads="1" noChangeShapeType="1" noTextEdit="1"/>
              </p:cNvSpPr>
              <p:nvPr/>
            </p:nvSpPr>
            <p:spPr>
              <a:xfrm>
                <a:off x="7393826" y="3090152"/>
                <a:ext cx="1563228" cy="397048"/>
              </a:xfrm>
              <a:prstGeom prst="wedgeRoundRectCallout">
                <a:avLst>
                  <a:gd name="adj1" fmla="val -55336"/>
                  <a:gd name="adj2" fmla="val -49883"/>
                  <a:gd name="adj3" fmla="val 16667"/>
                </a:avLst>
              </a:prstGeom>
              <a:blipFill>
                <a:blip r:embed="rId9"/>
                <a:stretch>
                  <a:fillRect b="-10606"/>
                </a:stretch>
              </a:blipFill>
              <a:ln w="635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对话气泡: 圆角矩形 12">
                <a:extLst>
                  <a:ext uri="{FF2B5EF4-FFF2-40B4-BE49-F238E27FC236}">
                    <a16:creationId xmlns:a16="http://schemas.microsoft.com/office/drawing/2014/main" id="{018D565C-7BC3-76B0-BA83-77A835B360CE}"/>
                  </a:ext>
                </a:extLst>
              </p:cNvPr>
              <p:cNvSpPr/>
              <p:nvPr/>
            </p:nvSpPr>
            <p:spPr>
              <a:xfrm>
                <a:off x="7176654" y="4080071"/>
                <a:ext cx="1707356" cy="583200"/>
              </a:xfrm>
              <a:prstGeom prst="wedgeRoundRectCallout">
                <a:avLst>
                  <a:gd name="adj1" fmla="val -107477"/>
                  <a:gd name="adj2" fmla="val -51379"/>
                  <a:gd name="adj3" fmla="val 16667"/>
                </a:avLst>
              </a:prstGeom>
              <a:solidFill>
                <a:schemeClr val="accent5">
                  <a:alpha val="4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14:m>
                  <m:oMath xmlns:m="http://schemas.openxmlformats.org/officeDocument/2006/math">
                    <m:r>
                      <a:rPr lang="zh-CN" altLang="en-US" sz="1600" i="1" dirty="0" smtClean="0">
                        <a:solidFill>
                          <a:schemeClr val="tx1"/>
                        </a:solidFill>
                        <a:latin typeface="Cambria Math" panose="02040503050406030204" pitchFamily="18" charset="0"/>
                      </a:rPr>
                      <m:t>哈希</m:t>
                    </m:r>
                  </m:oMath>
                </a14:m>
                <a:r>
                  <a:rPr lang="zh-CN" altLang="en-US" sz="1600" dirty="0">
                    <a:solidFill>
                      <a:schemeClr val="tx1"/>
                    </a:solidFill>
                    <a:latin typeface="+mn-ea"/>
                  </a:rPr>
                  <a:t>函数所产生的哈希值的长度</a:t>
                </a:r>
              </a:p>
            </p:txBody>
          </p:sp>
        </mc:Choice>
        <mc:Fallback xmlns="">
          <p:sp>
            <p:nvSpPr>
              <p:cNvPr id="13" name="对话气泡: 圆角矩形 12">
                <a:extLst>
                  <a:ext uri="{FF2B5EF4-FFF2-40B4-BE49-F238E27FC236}">
                    <a16:creationId xmlns:a16="http://schemas.microsoft.com/office/drawing/2014/main" id="{018D565C-7BC3-76B0-BA83-77A835B360CE}"/>
                  </a:ext>
                </a:extLst>
              </p:cNvPr>
              <p:cNvSpPr>
                <a:spLocks noRot="1" noChangeAspect="1" noMove="1" noResize="1" noEditPoints="1" noAdjustHandles="1" noChangeArrowheads="1" noChangeShapeType="1" noTextEdit="1"/>
              </p:cNvSpPr>
              <p:nvPr/>
            </p:nvSpPr>
            <p:spPr>
              <a:xfrm>
                <a:off x="7176654" y="4080071"/>
                <a:ext cx="1707356" cy="583200"/>
              </a:xfrm>
              <a:prstGeom prst="wedgeRoundRectCallout">
                <a:avLst>
                  <a:gd name="adj1" fmla="val -107477"/>
                  <a:gd name="adj2" fmla="val -51379"/>
                  <a:gd name="adj3" fmla="val 16667"/>
                </a:avLst>
              </a:prstGeom>
              <a:blipFill>
                <a:blip r:embed="rId10"/>
                <a:stretch>
                  <a:fillRect b="-12121"/>
                </a:stretch>
              </a:blipFill>
              <a:ln w="6350">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3376016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13</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(2) </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消息认证码 </a:t>
            </a: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CMAC</a:t>
            </a:r>
            <a:endPar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4C51DE6-60B1-EE44-2A57-B42419475092}"/>
                  </a:ext>
                </a:extLst>
              </p:cNvPr>
              <p:cNvSpPr txBox="1"/>
              <p:nvPr/>
            </p:nvSpPr>
            <p:spPr>
              <a:xfrm>
                <a:off x="332027" y="1652141"/>
                <a:ext cx="8479945" cy="4588307"/>
              </a:xfrm>
              <a:prstGeom prst="rect">
                <a:avLst/>
              </a:prstGeom>
              <a:noFill/>
            </p:spPr>
            <p:txBody>
              <a:bodyPr wrap="square" rtlCol="0">
                <a:spAutoFit/>
              </a:bodyPr>
              <a:lstStyle/>
              <a:p>
                <a:pPr marL="342900" indent="-342900" algn="just">
                  <a:lnSpc>
                    <a:spcPct val="130000"/>
                  </a:lnSpc>
                  <a:spcBef>
                    <a:spcPts val="600"/>
                  </a:spcBef>
                  <a:buFont typeface="Wingdings" panose="05000000000000000000" pitchFamily="2" charset="2"/>
                  <a:buChar char="l"/>
                </a:pPr>
                <a:r>
                  <a:rPr lang="zh-CN" altLang="en-US" sz="2000" dirty="0">
                    <a:solidFill>
                      <a:srgbClr val="0000FF"/>
                    </a:solidFill>
                    <a:latin typeface="Times New Roman" panose="02020603050405020304" pitchFamily="18" charset="0"/>
                    <a:cs typeface="Times New Roman" panose="02020603050405020304" pitchFamily="18" charset="0"/>
                  </a:rPr>
                  <a:t>数据认证算法</a:t>
                </a:r>
                <a:r>
                  <a:rPr lang="en-US" altLang="zh-CN" sz="2000" dirty="0">
                    <a:solidFill>
                      <a:srgbClr val="0000FF"/>
                    </a:solidFill>
                    <a:latin typeface="Times New Roman" panose="02020603050405020304" pitchFamily="18" charset="0"/>
                    <a:cs typeface="Times New Roman" panose="02020603050405020304" pitchFamily="18" charset="0"/>
                  </a:rPr>
                  <a:t>(DAA)</a:t>
                </a:r>
                <a:r>
                  <a:rPr lang="zh-CN" altLang="en-US" sz="2000" dirty="0">
                    <a:solidFill>
                      <a:srgbClr val="0000FF"/>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基于</a:t>
                </a:r>
                <a:r>
                  <a:rPr lang="en-US" altLang="zh-CN" sz="2000" dirty="0">
                    <a:latin typeface="Times New Roman" panose="02020603050405020304" pitchFamily="18" charset="0"/>
                    <a:cs typeface="Times New Roman" panose="02020603050405020304" pitchFamily="18" charset="0"/>
                  </a:rPr>
                  <a:t>DES-CBC</a:t>
                </a:r>
                <a:r>
                  <a:rPr lang="zh-CN" altLang="en-US" sz="2000" dirty="0">
                    <a:latin typeface="Times New Roman" panose="02020603050405020304" pitchFamily="18" charset="0"/>
                    <a:cs typeface="Times New Roman" panose="02020603050405020304" pitchFamily="18" charset="0"/>
                  </a:rPr>
                  <a:t>的消息认证码 </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对消息</a:t>
                </a:r>
                <a14:m>
                  <m:oMath xmlns:m="http://schemas.openxmlformats.org/officeDocument/2006/math">
                    <m:r>
                      <a:rPr lang="en-US" altLang="zh-CN" dirty="0">
                        <a:latin typeface="Cambria Math" panose="02040503050406030204" pitchFamily="18" charset="0"/>
                        <a:cs typeface="Times New Roman" panose="02020603050405020304" pitchFamily="18" charset="0"/>
                      </a:rPr>
                      <m:t> </m:t>
                    </m:r>
                  </m:oMath>
                </a14:m>
                <a:r>
                  <a:rPr lang="en-US" altLang="zh-CN" i="1"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 进行填充，并分为</a:t>
                </a:r>
                <a:r>
                  <a:rPr lang="en-US" altLang="zh-CN" dirty="0">
                    <a:latin typeface="Times New Roman" panose="02020603050405020304" pitchFamily="18" charset="0"/>
                    <a:cs typeface="Times New Roman" panose="02020603050405020304" pitchFamily="18" charset="0"/>
                  </a:rPr>
                  <a:t>64</a:t>
                </a:r>
                <a:r>
                  <a:rPr lang="zh-CN" altLang="en-US" dirty="0">
                    <a:latin typeface="Times New Roman" panose="02020603050405020304" pitchFamily="18" charset="0"/>
                    <a:cs typeface="Times New Roman" panose="02020603050405020304" pitchFamily="18" charset="0"/>
                  </a:rPr>
                  <a:t>比特的分组，记为</a:t>
                </a:r>
                <a14:m>
                  <m:oMath xmlns:m="http://schemas.openxmlformats.org/officeDocument/2006/math">
                    <m:sSub>
                      <m:sSubPr>
                        <m:ctrlPr>
                          <a:rPr lang="en-US" altLang="zh-CN" i="1">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 </m:t>
                        </m:r>
                        <m:r>
                          <a:rPr lang="en-US" altLang="zh-CN" i="1" dirty="0">
                            <a:solidFill>
                              <a:prstClr val="black"/>
                            </a:solidFill>
                            <a:latin typeface="Cambria Math"/>
                            <a:cs typeface="Times New Roman" panose="02020603050405020304" pitchFamily="18" charset="0"/>
                          </a:rPr>
                          <m:t>𝑀</m:t>
                        </m:r>
                      </m:e>
                      <m:sub>
                        <m:r>
                          <a:rPr lang="en-US" altLang="zh-CN" i="1">
                            <a:latin typeface="Cambria Math" panose="02040503050406030204" pitchFamily="18" charset="0"/>
                            <a:cs typeface="Times New Roman" panose="02020603050405020304" pitchFamily="18" charset="0"/>
                          </a:rPr>
                          <m:t>1</m:t>
                        </m:r>
                      </m:sub>
                    </m:sSub>
                    <m:r>
                      <a:rPr lang="en-US" altLang="zh-CN" i="1">
                        <a:latin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cs typeface="Times New Roman" panose="02020603050405020304" pitchFamily="18" charset="0"/>
                          </a:rPr>
                        </m:ctrlPr>
                      </m:sSubPr>
                      <m:e>
                        <m:r>
                          <a:rPr lang="en-US" altLang="zh-CN" i="1" dirty="0">
                            <a:solidFill>
                              <a:prstClr val="black"/>
                            </a:solidFill>
                            <a:latin typeface="Cambria Math"/>
                            <a:cs typeface="Times New Roman" panose="02020603050405020304" pitchFamily="18" charset="0"/>
                          </a:rPr>
                          <m:t>𝑀</m:t>
                        </m:r>
                      </m:e>
                      <m:sub>
                        <m:r>
                          <a:rPr lang="en-US" altLang="zh-CN" i="1">
                            <a:latin typeface="Cambria Math" panose="02040503050406030204" pitchFamily="18" charset="0"/>
                            <a:cs typeface="Times New Roman" panose="02020603050405020304" pitchFamily="18" charset="0"/>
                          </a:rPr>
                          <m:t>2</m:t>
                        </m:r>
                      </m:sub>
                    </m:sSub>
                    <m:r>
                      <a:rPr lang="en-US" altLang="zh-CN" i="1">
                        <a:latin typeface="Cambria Math" panose="02040503050406030204" pitchFamily="18" charset="0"/>
                        <a:cs typeface="Times New Roman" panose="02020603050405020304" pitchFamily="18" charset="0"/>
                      </a:rPr>
                      <m:t>,…</m:t>
                    </m:r>
                    <m:r>
                      <a:rPr lang="en-US" altLang="zh-CN" b="0" i="1" smtClean="0">
                        <a:latin typeface="Cambria Math"/>
                        <a:cs typeface="Times New Roman" panose="02020603050405020304" pitchFamily="18" charset="0"/>
                      </a:rPr>
                      <m:t>,</m:t>
                    </m:r>
                    <m:sSub>
                      <m:sSubPr>
                        <m:ctrlPr>
                          <a:rPr lang="en-US" altLang="zh-CN" i="1">
                            <a:latin typeface="Cambria Math" panose="02040503050406030204" pitchFamily="18" charset="0"/>
                            <a:cs typeface="Times New Roman" panose="02020603050405020304" pitchFamily="18" charset="0"/>
                          </a:rPr>
                        </m:ctrlPr>
                      </m:sSubPr>
                      <m:e>
                        <m:r>
                          <a:rPr lang="en-US" altLang="zh-CN" i="1" dirty="0">
                            <a:solidFill>
                              <a:prstClr val="black"/>
                            </a:solidFill>
                            <a:latin typeface="Cambria Math"/>
                            <a:cs typeface="Times New Roman" panose="02020603050405020304" pitchFamily="18" charset="0"/>
                          </a:rPr>
                          <m:t>𝑀</m:t>
                        </m:r>
                      </m:e>
                      <m:sub>
                        <m:r>
                          <a:rPr lang="en-US" altLang="zh-CN" i="1">
                            <a:latin typeface="Cambria Math" panose="02040503050406030204" pitchFamily="18" charset="0"/>
                            <a:cs typeface="Times New Roman" panose="02020603050405020304" pitchFamily="18" charset="0"/>
                          </a:rPr>
                          <m:t>𝑁</m:t>
                        </m:r>
                      </m:sub>
                    </m:sSub>
                  </m:oMath>
                </a14:m>
                <a:endParaRPr lang="en-US" altLang="zh-CN" i="1" dirty="0">
                  <a:latin typeface="Cambria Math"/>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在 </a:t>
                </a:r>
                <a:r>
                  <a:rPr lang="en-US" altLang="zh-CN" dirty="0">
                    <a:latin typeface="Times New Roman" panose="02020603050405020304" pitchFamily="18" charset="0"/>
                    <a:cs typeface="Times New Roman" panose="02020603050405020304" pitchFamily="18" charset="0"/>
                  </a:rPr>
                  <a:t>CBC </a:t>
                </a:r>
                <a:r>
                  <a:rPr lang="zh-CN" altLang="en-US" dirty="0">
                    <a:latin typeface="Times New Roman" panose="02020603050405020304" pitchFamily="18" charset="0"/>
                    <a:cs typeface="Times New Roman" panose="02020603050405020304" pitchFamily="18" charset="0"/>
                  </a:rPr>
                  <a:t>模式下使用 </a:t>
                </a:r>
                <a:r>
                  <a:rPr lang="en-US" altLang="zh-CN" dirty="0">
                    <a:latin typeface="Times New Roman" panose="02020603050405020304" pitchFamily="18" charset="0"/>
                    <a:cs typeface="Times New Roman" panose="02020603050405020304" pitchFamily="18" charset="0"/>
                  </a:rPr>
                  <a:t>DES </a:t>
                </a:r>
                <a:r>
                  <a:rPr lang="zh-CN" altLang="en-US" dirty="0">
                    <a:latin typeface="Times New Roman" panose="02020603050405020304" pitchFamily="18" charset="0"/>
                    <a:cs typeface="Times New Roman" panose="02020603050405020304" pitchFamily="18" charset="0"/>
                  </a:rPr>
                  <a:t>对 </a:t>
                </a:r>
                <a:r>
                  <a:rPr lang="en-US" altLang="zh-CN" i="1" dirty="0">
                    <a:latin typeface="Times New Roman" panose="02020603050405020304" pitchFamily="18" charset="0"/>
                    <a:cs typeface="Times New Roman" panose="02020603050405020304" pitchFamily="18" charset="0"/>
                  </a:rPr>
                  <a:t>M </a:t>
                </a:r>
                <a:r>
                  <a:rPr lang="zh-CN" altLang="en-US" dirty="0">
                    <a:latin typeface="Times New Roman" panose="02020603050405020304" pitchFamily="18" charset="0"/>
                    <a:cs typeface="Times New Roman" panose="02020603050405020304" pitchFamily="18" charset="0"/>
                  </a:rPr>
                  <a:t>进行加密</a:t>
                </a:r>
                <a:endParaRPr lang="en-US" altLang="zh-CN" i="1" dirty="0">
                  <a:latin typeface="Cambria Math"/>
                  <a:cs typeface="Times New Roman" panose="02020603050405020304" pitchFamily="18" charset="0"/>
                </a:endParaRPr>
              </a:p>
              <a:p>
                <a:pPr marL="1257300" lvl="2" indent="-342900" algn="just">
                  <a:lnSpc>
                    <a:spcPct val="120000"/>
                  </a:lnSpc>
                  <a:spcBef>
                    <a:spcPts val="600"/>
                  </a:spcBef>
                  <a:buFont typeface="Arial" panose="020B0604020202020204" pitchFamily="34" charset="0"/>
                  <a:buChar char="•"/>
                </a:pPr>
                <a14:m>
                  <m:oMath xmlns:m="http://schemas.openxmlformats.org/officeDocument/2006/math">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𝑂</m:t>
                        </m:r>
                      </m:e>
                      <m:sub>
                        <m:r>
                          <a:rPr lang="en-US" altLang="zh-CN" i="1">
                            <a:latin typeface="Cambria Math" panose="02040503050406030204" pitchFamily="18" charset="0"/>
                            <a:cs typeface="Times New Roman" panose="02020603050405020304" pitchFamily="18" charset="0"/>
                          </a:rPr>
                          <m:t>1</m:t>
                        </m:r>
                      </m:sub>
                    </m:sSub>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𝐾</m:t>
                        </m:r>
                      </m:sub>
                    </m:sSub>
                    <m:d>
                      <m:d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dirty="0">
                                <a:solidFill>
                                  <a:prstClr val="black"/>
                                </a:solidFill>
                                <a:latin typeface="Cambria Math"/>
                                <a:cs typeface="Times New Roman" panose="02020603050405020304" pitchFamily="18" charset="0"/>
                              </a:rPr>
                              <m:t>𝑀</m:t>
                            </m:r>
                          </m:e>
                          <m:sub>
                            <m:r>
                              <a:rPr lang="en-US" altLang="zh-CN" i="1">
                                <a:latin typeface="Cambria Math" panose="02040503050406030204" pitchFamily="18" charset="0"/>
                                <a:ea typeface="Cambria Math" panose="02040503050406030204" pitchFamily="18" charset="0"/>
                                <a:cs typeface="Times New Roman" panose="02020603050405020304" pitchFamily="18" charset="0"/>
                              </a:rPr>
                              <m:t>1</m:t>
                            </m:r>
                          </m:sub>
                        </m:sSub>
                      </m:e>
                    </m:d>
                  </m:oMath>
                </a14:m>
                <a:endParaRPr lang="en-US" altLang="zh-CN" dirty="0">
                  <a:latin typeface="Times New Roman" panose="02020603050405020304" pitchFamily="18" charset="0"/>
                  <a:ea typeface="Cambria Math" panose="02040503050406030204" pitchFamily="18" charset="0"/>
                  <a:cs typeface="Times New Roman" panose="02020603050405020304" pitchFamily="18" charset="0"/>
                </a:endParaRPr>
              </a:p>
              <a:p>
                <a:pPr marL="1257300" lvl="2" indent="-342900" algn="just">
                  <a:lnSpc>
                    <a:spcPct val="120000"/>
                  </a:lnSpc>
                  <a:spcBef>
                    <a:spcPts val="600"/>
                  </a:spcBef>
                  <a:buFont typeface="Arial" panose="020B0604020202020204" pitchFamily="34" charset="0"/>
                  <a:buChar char="•"/>
                </a:pPr>
                <a14:m>
                  <m:oMath xmlns:m="http://schemas.openxmlformats.org/officeDocument/2006/math">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panose="02040503050406030204" pitchFamily="18" charset="0"/>
                            <a:cs typeface="Times New Roman" panose="02020603050405020304" pitchFamily="18" charset="0"/>
                          </a:rPr>
                          <m:t>𝑂</m:t>
                        </m:r>
                      </m:e>
                      <m:sub>
                        <m:r>
                          <a:rPr lang="en-US" altLang="zh-CN" i="1" dirty="0">
                            <a:latin typeface="Cambria Math" panose="02040503050406030204" pitchFamily="18" charset="0"/>
                            <a:cs typeface="Times New Roman" panose="02020603050405020304" pitchFamily="18" charset="0"/>
                          </a:rPr>
                          <m:t>𝑖</m:t>
                        </m:r>
                      </m:sub>
                    </m:sSub>
                    <m:r>
                      <a:rPr lang="en-US" altLang="zh-CN" i="1" dirty="0" err="1">
                        <a:latin typeface="Cambria Math" panose="02040503050406030204" pitchFamily="18" charset="0"/>
                        <a:cs typeface="Times New Roman" panose="02020603050405020304" pitchFamily="18" charset="0"/>
                      </a:rPr>
                      <m:t>←</m:t>
                    </m:r>
                    <m:sSub>
                      <m:sSubPr>
                        <m:ctrlPr>
                          <a:rPr lang="en-US" altLang="zh-CN" i="1" dirty="0">
                            <a:latin typeface="Cambria Math" panose="02040503050406030204" pitchFamily="18" charset="0"/>
                            <a:cs typeface="Times New Roman" panose="02020603050405020304" pitchFamily="18" charset="0"/>
                          </a:rPr>
                        </m:ctrlPr>
                      </m:sSubPr>
                      <m:e>
                        <m:r>
                          <a:rPr lang="en-US" altLang="zh-CN" i="1" dirty="0" err="1">
                            <a:latin typeface="Cambria Math" panose="02040503050406030204" pitchFamily="18" charset="0"/>
                            <a:cs typeface="Times New Roman" panose="02020603050405020304" pitchFamily="18" charset="0"/>
                          </a:rPr>
                          <m:t>𝐸</m:t>
                        </m:r>
                      </m:e>
                      <m:sub>
                        <m:r>
                          <a:rPr lang="en-US" altLang="zh-CN" i="1" dirty="0">
                            <a:latin typeface="Cambria Math" panose="02040503050406030204" pitchFamily="18" charset="0"/>
                            <a:cs typeface="Times New Roman" panose="02020603050405020304" pitchFamily="18" charset="0"/>
                          </a:rPr>
                          <m:t>𝐾</m:t>
                        </m:r>
                      </m:sub>
                    </m:sSub>
                    <m:d>
                      <m:dPr>
                        <m:ctrlPr>
                          <a:rPr lang="en-US" altLang="zh-CN" i="1" dirty="0">
                            <a:latin typeface="Cambria Math" panose="02040503050406030204" pitchFamily="18" charset="0"/>
                            <a:cs typeface="Times New Roman" panose="02020603050405020304" pitchFamily="18" charset="0"/>
                          </a:rPr>
                        </m:ctrlPr>
                      </m:dPr>
                      <m:e>
                        <m:sSub>
                          <m:sSubPr>
                            <m:ctrlPr>
                              <a:rPr lang="en-US" altLang="zh-CN" i="1" dirty="0">
                                <a:latin typeface="Cambria Math" panose="02040503050406030204" pitchFamily="18" charset="0"/>
                                <a:cs typeface="Times New Roman" panose="02020603050405020304" pitchFamily="18" charset="0"/>
                              </a:rPr>
                            </m:ctrlPr>
                          </m:sSubPr>
                          <m:e>
                            <m:sSub>
                              <m:sSubPr>
                                <m:ctrlPr>
                                  <a:rPr lang="en-US" altLang="zh-CN" i="1" dirty="0">
                                    <a:latin typeface="Cambria Math" panose="02040503050406030204" pitchFamily="18" charset="0"/>
                                    <a:cs typeface="Times New Roman" panose="02020603050405020304" pitchFamily="18" charset="0"/>
                                  </a:rPr>
                                </m:ctrlPr>
                              </m:sSubPr>
                              <m:e>
                                <m:r>
                                  <a:rPr lang="en-US" altLang="zh-CN" i="1" dirty="0">
                                    <a:solidFill>
                                      <a:prstClr val="black"/>
                                    </a:solidFill>
                                    <a:latin typeface="Cambria Math"/>
                                    <a:cs typeface="Times New Roman" panose="02020603050405020304" pitchFamily="18" charset="0"/>
                                  </a:rPr>
                                  <m:t>𝑀</m:t>
                                </m:r>
                              </m:e>
                              <m:sub>
                                <m:r>
                                  <a:rPr lang="en-US" altLang="zh-CN" i="1" dirty="0">
                                    <a:latin typeface="Cambria Math" panose="02040503050406030204" pitchFamily="18" charset="0"/>
                                    <a:cs typeface="Times New Roman" panose="02020603050405020304" pitchFamily="18" charset="0"/>
                                  </a:rPr>
                                  <m:t>𝑖</m:t>
                                </m:r>
                              </m:sub>
                            </m:sSub>
                            <m:r>
                              <a:rPr lang="en-US" altLang="zh-CN"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cs typeface="Times New Roman" panose="02020603050405020304" pitchFamily="18" charset="0"/>
                              </a:rPr>
                              <m:t>𝑂</m:t>
                            </m:r>
                          </m:e>
                          <m:sub>
                            <m:r>
                              <a:rPr lang="en-US" altLang="zh-CN" i="1" dirty="0">
                                <a:latin typeface="Cambria Math" panose="02040503050406030204" pitchFamily="18" charset="0"/>
                                <a:cs typeface="Times New Roman" panose="02020603050405020304" pitchFamily="18" charset="0"/>
                              </a:rPr>
                              <m:t>𝑖</m:t>
                            </m:r>
                            <m:r>
                              <a:rPr lang="en-US" altLang="zh-CN" i="1" dirty="0">
                                <a:latin typeface="Cambria Math" panose="02040503050406030204" pitchFamily="18" charset="0"/>
                                <a:cs typeface="Times New Roman" panose="02020603050405020304" pitchFamily="18" charset="0"/>
                              </a:rPr>
                              <m:t>−1</m:t>
                            </m:r>
                          </m:sub>
                        </m:sSub>
                      </m:e>
                    </m:d>
                  </m:oMath>
                </a14:m>
                <a:r>
                  <a:rPr lang="zh-CN" altLang="en-US" dirty="0">
                    <a:latin typeface="Times New Roman" panose="02020603050405020304" pitchFamily="18" charset="0"/>
                    <a:cs typeface="Times New Roman" panose="02020603050405020304" pitchFamily="18" charset="0"/>
                  </a:rPr>
                  <a:t>，</a:t>
                </a:r>
                <a14:m>
                  <m:oMath xmlns:m="http://schemas.openxmlformats.org/officeDocument/2006/math">
                    <m:r>
                      <a:rPr lang="en-US" altLang="zh-CN" i="1" dirty="0">
                        <a:latin typeface="Cambria Math" panose="02040503050406030204" pitchFamily="18" charset="0"/>
                        <a:cs typeface="Times New Roman" panose="02020603050405020304" pitchFamily="18" charset="0"/>
                      </a:rPr>
                      <m:t>2≤</m:t>
                    </m:r>
                    <m:r>
                      <a:rPr lang="en-US" altLang="zh-CN" i="1" dirty="0">
                        <a:latin typeface="Cambria Math" panose="02040503050406030204" pitchFamily="18" charset="0"/>
                        <a:cs typeface="Times New Roman" panose="02020603050405020304" pitchFamily="18" charset="0"/>
                      </a:rPr>
                      <m:t>𝑖</m:t>
                    </m:r>
                    <m:r>
                      <a:rPr lang="en-US" altLang="zh-CN" i="1" dirty="0">
                        <a:latin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cs typeface="Times New Roman" panose="02020603050405020304" pitchFamily="18" charset="0"/>
                      </a:rPr>
                      <m:t>𝑁</m:t>
                    </m:r>
                  </m:oMath>
                </a14:m>
                <a:endParaRPr lang="en-US" altLang="zh-CN"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dirty="0">
                    <a:solidFill>
                      <a:srgbClr val="0000FF"/>
                    </a:solidFill>
                    <a:latin typeface="Times New Roman" panose="02020603050405020304" pitchFamily="18" charset="0"/>
                    <a:cs typeface="Times New Roman" panose="02020603050405020304" pitchFamily="18" charset="0"/>
                  </a:rPr>
                  <a:t>最后一个块的最左边的 </a:t>
                </a:r>
                <a14:m>
                  <m:oMath xmlns:m="http://schemas.openxmlformats.org/officeDocument/2006/math">
                    <m:r>
                      <a:rPr lang="en-US" altLang="zh-CN" i="1" dirty="0">
                        <a:solidFill>
                          <a:srgbClr val="0000FF"/>
                        </a:solidFill>
                        <a:latin typeface="Cambria Math" panose="02040503050406030204" pitchFamily="18" charset="0"/>
                        <a:cs typeface="Times New Roman" panose="02020603050405020304" pitchFamily="18" charset="0"/>
                      </a:rPr>
                      <m:t>𝐿</m:t>
                    </m:r>
                    <m:r>
                      <a:rPr lang="en-US" altLang="zh-CN" i="1" dirty="0">
                        <a:solidFill>
                          <a:srgbClr val="0000FF"/>
                        </a:solidFill>
                        <a:latin typeface="Cambria Math" panose="02040503050406030204" pitchFamily="18" charset="0"/>
                        <a:cs typeface="Times New Roman" panose="02020603050405020304" pitchFamily="18" charset="0"/>
                      </a:rPr>
                      <m:t>  </m:t>
                    </m:r>
                    <m:r>
                      <a:rPr lang="zh-CN" altLang="en-US" i="1" dirty="0">
                        <a:solidFill>
                          <a:srgbClr val="0000FF"/>
                        </a:solidFill>
                        <a:latin typeface="Cambria Math"/>
                        <a:cs typeface="Times New Roman" panose="02020603050405020304" pitchFamily="18" charset="0"/>
                      </a:rPr>
                      <m:t>比特</m:t>
                    </m:r>
                  </m:oMath>
                </a14:m>
                <a:r>
                  <a:rPr lang="zh-CN" altLang="en-US" dirty="0">
                    <a:solidFill>
                      <a:srgbClr val="0000FF"/>
                    </a:solidFill>
                    <a:latin typeface="Times New Roman" panose="02020603050405020304" pitchFamily="18" charset="0"/>
                    <a:cs typeface="Times New Roman" panose="02020603050405020304" pitchFamily="18" charset="0"/>
                  </a:rPr>
                  <a:t> </a:t>
                </a:r>
                <a:r>
                  <a:rPr lang="en-US" altLang="zh-CN" dirty="0">
                    <a:solidFill>
                      <a:srgbClr val="0000FF"/>
                    </a:solidFill>
                    <a:latin typeface="Times New Roman" panose="02020603050405020304" pitchFamily="18" charset="0"/>
                    <a:cs typeface="Times New Roman" panose="02020603050405020304" pitchFamily="18" charset="0"/>
                  </a:rPr>
                  <a:t>(</a:t>
                </a:r>
                <a14:m>
                  <m:oMath xmlns:m="http://schemas.openxmlformats.org/officeDocument/2006/math">
                    <m:r>
                      <a:rPr lang="en-US" altLang="zh-CN" i="1" dirty="0">
                        <a:solidFill>
                          <a:srgbClr val="0000FF"/>
                        </a:solidFill>
                        <a:latin typeface="Cambria Math" panose="02040503050406030204" pitchFamily="18" charset="0"/>
                        <a:cs typeface="Times New Roman" panose="02020603050405020304" pitchFamily="18" charset="0"/>
                      </a:rPr>
                      <m:t>16≤</m:t>
                    </m:r>
                    <m:r>
                      <a:rPr lang="en-US" altLang="zh-CN" i="1" dirty="0">
                        <a:solidFill>
                          <a:srgbClr val="0000FF"/>
                        </a:solidFill>
                        <a:latin typeface="Cambria Math" panose="02040503050406030204" pitchFamily="18" charset="0"/>
                        <a:cs typeface="Times New Roman" panose="02020603050405020304" pitchFamily="18" charset="0"/>
                      </a:rPr>
                      <m:t>𝐿</m:t>
                    </m:r>
                    <m:r>
                      <a:rPr lang="en-US" altLang="zh-CN" i="1" dirty="0">
                        <a:solidFill>
                          <a:srgbClr val="0000FF"/>
                        </a:solidFill>
                        <a:latin typeface="Cambria Math" panose="02040503050406030204" pitchFamily="18" charset="0"/>
                        <a:cs typeface="Times New Roman" panose="02020603050405020304" pitchFamily="18" charset="0"/>
                      </a:rPr>
                      <m:t>≤64</m:t>
                    </m:r>
                  </m:oMath>
                </a14:m>
                <a:r>
                  <a:rPr lang="en-US" altLang="zh-CN" dirty="0">
                    <a:solidFill>
                      <a:srgbClr val="0000FF"/>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作为 </a:t>
                </a:r>
                <a:r>
                  <a:rPr lang="en-US" altLang="zh-CN" dirty="0">
                    <a:latin typeface="Times New Roman" panose="02020603050405020304" pitchFamily="18" charset="0"/>
                    <a:cs typeface="Times New Roman" panose="02020603050405020304" pitchFamily="18" charset="0"/>
                  </a:rPr>
                  <a:t>MAC</a:t>
                </a:r>
              </a:p>
              <a:p>
                <a:pPr marL="342900" indent="-342900" algn="just">
                  <a:lnSpc>
                    <a:spcPct val="120000"/>
                  </a:lnSpc>
                  <a:spcBef>
                    <a:spcPts val="600"/>
                  </a:spcBef>
                  <a:buFont typeface="Wingdings" panose="05000000000000000000" pitchFamily="2" charset="2"/>
                  <a:buChar char="l"/>
                </a:pPr>
                <a:r>
                  <a:rPr lang="zh-CN" altLang="en-US" sz="2000" dirty="0">
                    <a:solidFill>
                      <a:srgbClr val="0000FF"/>
                    </a:solidFill>
                    <a:latin typeface="Times New Roman" panose="02020603050405020304" pitchFamily="18" charset="0"/>
                    <a:cs typeface="Times New Roman" panose="02020603050405020304" pitchFamily="18" charset="0"/>
                  </a:rPr>
                  <a:t>存在的问题：</a:t>
                </a:r>
                <a:r>
                  <a:rPr lang="zh-CN" altLang="en-US" sz="2000" dirty="0">
                    <a:latin typeface="Times New Roman" panose="02020603050405020304" pitchFamily="18" charset="0"/>
                    <a:cs typeface="Times New Roman" panose="02020603050405020304" pitchFamily="18" charset="0"/>
                  </a:rPr>
                  <a:t>对于短消息，攻击者可以很容易就找到符合条件的</a:t>
                </a:r>
                <a14:m>
                  <m:oMath xmlns:m="http://schemas.openxmlformats.org/officeDocument/2006/math">
                    <m:r>
                      <a:rPr lang="en-US" altLang="zh-CN" sz="2000" b="0" i="0" dirty="0" smtClean="0">
                        <a:latin typeface="Cambria Math" panose="02040503050406030204" pitchFamily="18" charset="0"/>
                        <a:cs typeface="Times New Roman" panose="02020603050405020304" pitchFamily="18" charset="0"/>
                      </a:rPr>
                      <m:t> </m:t>
                    </m:r>
                    <m:r>
                      <a:rPr lang="en-US" altLang="zh-CN" sz="2000" i="1" dirty="0">
                        <a:latin typeface="Cambria Math"/>
                        <a:cs typeface="Times New Roman" panose="02020603050405020304" pitchFamily="18" charset="0"/>
                      </a:rPr>
                      <m:t>𝑀</m:t>
                    </m:r>
                    <m:r>
                      <m:rPr>
                        <m:lit/>
                      </m:rPr>
                      <a:rPr lang="en-US" altLang="zh-CN" sz="2000" i="1" dirty="0">
                        <a:latin typeface="Cambria Math"/>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 使得</a:t>
                </a:r>
                <a14:m>
                  <m:oMath xmlns:m="http://schemas.openxmlformats.org/officeDocument/2006/math">
                    <m:r>
                      <a:rPr lang="en-US" altLang="zh-CN" sz="2000" i="1" dirty="0" smtClean="0">
                        <a:latin typeface="Cambria Math"/>
                        <a:cs typeface="Times New Roman" panose="02020603050405020304" pitchFamily="18" charset="0"/>
                      </a:rPr>
                      <m:t>𝑀𝐴𝐶</m:t>
                    </m:r>
                    <m:r>
                      <a:rPr lang="en-US" altLang="zh-CN" sz="2000" i="1" dirty="0" smtClean="0">
                        <a:latin typeface="Cambria Math"/>
                        <a:cs typeface="Times New Roman" panose="02020603050405020304" pitchFamily="18" charset="0"/>
                      </a:rPr>
                      <m:t>(</m:t>
                    </m:r>
                    <m:r>
                      <a:rPr lang="en-US" altLang="zh-CN" sz="2000" i="1" dirty="0" smtClean="0">
                        <a:latin typeface="Cambria Math"/>
                        <a:cs typeface="Times New Roman" panose="02020603050405020304" pitchFamily="18" charset="0"/>
                      </a:rPr>
                      <m:t>𝐾</m:t>
                    </m:r>
                    <m:r>
                      <a:rPr lang="en-US" altLang="zh-CN" sz="2000" i="1" dirty="0" smtClean="0">
                        <a:latin typeface="Cambria Math"/>
                        <a:cs typeface="Times New Roman" panose="02020603050405020304" pitchFamily="18" charset="0"/>
                      </a:rPr>
                      <m:t>, </m:t>
                    </m:r>
                    <m:r>
                      <a:rPr lang="en-US" altLang="zh-CN" sz="2000" i="1" dirty="0" smtClean="0">
                        <a:latin typeface="Cambria Math"/>
                        <a:cs typeface="Times New Roman" panose="02020603050405020304" pitchFamily="18" charset="0"/>
                      </a:rPr>
                      <m:t>𝑀</m:t>
                    </m:r>
                    <m:r>
                      <m:rPr>
                        <m:lit/>
                      </m:rPr>
                      <a:rPr lang="en-US" altLang="zh-CN" sz="2000" i="1" dirty="0">
                        <a:latin typeface="Cambria Math"/>
                        <a:cs typeface="Times New Roman" panose="02020603050405020304" pitchFamily="18" charset="0"/>
                      </a:rPr>
                      <m:t>′</m:t>
                    </m:r>
                    <m:r>
                      <a:rPr lang="en-US" altLang="zh-CN" sz="2000" i="1" dirty="0">
                        <a:latin typeface="Cambria Math"/>
                        <a:cs typeface="Times New Roman" panose="02020603050405020304" pitchFamily="18" charset="0"/>
                      </a:rPr>
                      <m:t>)=</m:t>
                    </m:r>
                    <m:r>
                      <a:rPr lang="en-US" altLang="zh-CN" sz="2000" i="1" dirty="0">
                        <a:latin typeface="Cambria Math"/>
                        <a:cs typeface="Times New Roman" panose="02020603050405020304" pitchFamily="18" charset="0"/>
                      </a:rPr>
                      <m:t>𝑀𝐴𝐶</m:t>
                    </m:r>
                    <m:r>
                      <a:rPr lang="en-US" altLang="zh-CN" sz="2000" i="1" dirty="0">
                        <a:latin typeface="Cambria Math"/>
                        <a:cs typeface="Times New Roman" panose="02020603050405020304" pitchFamily="18" charset="0"/>
                      </a:rPr>
                      <m:t>(</m:t>
                    </m:r>
                    <m:r>
                      <a:rPr lang="en-US" altLang="zh-CN" sz="2000" i="1" dirty="0">
                        <a:latin typeface="Cambria Math"/>
                        <a:cs typeface="Times New Roman" panose="02020603050405020304" pitchFamily="18" charset="0"/>
                      </a:rPr>
                      <m:t>𝐾</m:t>
                    </m:r>
                    <m:r>
                      <a:rPr lang="en-US" altLang="zh-CN" sz="2000" i="1" dirty="0">
                        <a:latin typeface="Cambria Math"/>
                        <a:cs typeface="Times New Roman" panose="02020603050405020304" pitchFamily="18" charset="0"/>
                      </a:rPr>
                      <m:t>, </m:t>
                    </m:r>
                    <m:r>
                      <a:rPr lang="en-US" altLang="zh-CN" sz="2000" i="1" dirty="0">
                        <a:latin typeface="Cambria Math"/>
                        <a:cs typeface="Times New Roman" panose="02020603050405020304" pitchFamily="18" charset="0"/>
                      </a:rPr>
                      <m:t>𝑀</m:t>
                    </m:r>
                    <m:r>
                      <a:rPr lang="en-US" altLang="zh-CN" sz="2000" i="1" dirty="0">
                        <a:latin typeface="Cambria Math"/>
                        <a:cs typeface="Times New Roman" panose="02020603050405020304" pitchFamily="18" charset="0"/>
                      </a:rPr>
                      <m:t>)</m:t>
                    </m:r>
                  </m:oMath>
                </a14:m>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给定一个分组 </a:t>
                </a:r>
                <a14:m>
                  <m:oMath xmlns:m="http://schemas.openxmlformats.org/officeDocument/2006/math">
                    <m:r>
                      <a:rPr lang="en-US" altLang="zh-CN" i="1" dirty="0" smtClean="0">
                        <a:latin typeface="Cambria Math"/>
                        <a:cs typeface="Times New Roman" panose="02020603050405020304" pitchFamily="18" charset="0"/>
                      </a:rPr>
                      <m:t>𝑋</m:t>
                    </m:r>
                    <m:r>
                      <a:rPr lang="en-US" altLang="zh-CN" b="0" i="1" dirty="0" smtClean="0">
                        <a:latin typeface="Cambria Math"/>
                        <a:cs typeface="Times New Roman" panose="02020603050405020304" pitchFamily="18" charset="0"/>
                      </a:rPr>
                      <m:t> </m:t>
                    </m:r>
                  </m:oMath>
                </a14:m>
                <a:r>
                  <a:rPr lang="zh-CN" altLang="en-US" dirty="0">
                    <a:latin typeface="Times New Roman" panose="02020603050405020304" pitchFamily="18" charset="0"/>
                    <a:cs typeface="Times New Roman" panose="02020603050405020304" pitchFamily="18" charset="0"/>
                  </a:rPr>
                  <a:t>的 </a:t>
                </a:r>
                <a:r>
                  <a:rPr lang="en-US" altLang="zh-CN" dirty="0">
                    <a:latin typeface="Times New Roman" panose="02020603050405020304" pitchFamily="18" charset="0"/>
                    <a:cs typeface="Times New Roman" panose="02020603050405020304" pitchFamily="18" charset="0"/>
                  </a:rPr>
                  <a:t>CBC MAC</a:t>
                </a:r>
                <a:r>
                  <a:rPr lang="zh-CN" altLang="en-US" dirty="0">
                    <a:latin typeface="Times New Roman" panose="02020603050405020304" pitchFamily="18" charset="0"/>
                    <a:cs typeface="Times New Roman" panose="02020603050405020304" pitchFamily="18" charset="0"/>
                  </a:rPr>
                  <a:t>，如 </a:t>
                </a:r>
                <a14:m>
                  <m:oMath xmlns:m="http://schemas.openxmlformats.org/officeDocument/2006/math">
                    <m:r>
                      <a:rPr lang="en-US" altLang="zh-CN" i="1" dirty="0" smtClean="0">
                        <a:latin typeface="Cambria Math"/>
                        <a:cs typeface="Times New Roman" panose="02020603050405020304" pitchFamily="18" charset="0"/>
                      </a:rPr>
                      <m:t>𝑇</m:t>
                    </m:r>
                    <m:r>
                      <a:rPr lang="en-US" altLang="zh-CN" i="1" dirty="0" smtClean="0">
                        <a:latin typeface="Cambria Math"/>
                        <a:cs typeface="Times New Roman" panose="02020603050405020304" pitchFamily="18" charset="0"/>
                      </a:rPr>
                      <m:t>=</m:t>
                    </m:r>
                    <m:r>
                      <a:rPr lang="en-US" altLang="zh-CN" i="1" dirty="0" smtClean="0">
                        <a:latin typeface="Cambria Math"/>
                        <a:cs typeface="Times New Roman" panose="02020603050405020304" pitchFamily="18" charset="0"/>
                      </a:rPr>
                      <m:t>𝑀𝐴𝐶</m:t>
                    </m:r>
                    <m:r>
                      <a:rPr lang="en-US" altLang="zh-CN" i="1" dirty="0" smtClean="0">
                        <a:latin typeface="Cambria Math"/>
                        <a:cs typeface="Times New Roman" panose="02020603050405020304" pitchFamily="18" charset="0"/>
                      </a:rPr>
                      <m:t>(</m:t>
                    </m:r>
                    <m:r>
                      <a:rPr lang="en-US" altLang="zh-CN" i="1" dirty="0" smtClean="0">
                        <a:latin typeface="Cambria Math"/>
                        <a:cs typeface="Times New Roman" panose="02020603050405020304" pitchFamily="18" charset="0"/>
                      </a:rPr>
                      <m:t>𝐾</m:t>
                    </m:r>
                    <m:r>
                      <a:rPr lang="en-US" altLang="zh-CN" i="1" dirty="0" smtClean="0">
                        <a:latin typeface="Cambria Math"/>
                        <a:cs typeface="Times New Roman" panose="02020603050405020304" pitchFamily="18" charset="0"/>
                      </a:rPr>
                      <m:t>, </m:t>
                    </m:r>
                    <m:r>
                      <a:rPr lang="en-US" altLang="zh-CN" i="1" dirty="0" smtClean="0">
                        <a:latin typeface="Cambria Math"/>
                        <a:cs typeface="Times New Roman" panose="02020603050405020304" pitchFamily="18" charset="0"/>
                      </a:rPr>
                      <m:t>𝑋</m:t>
                    </m:r>
                    <m:r>
                      <a:rPr lang="en-US" altLang="zh-CN" i="1" dirty="0" smtClean="0">
                        <a:latin typeface="Cambria Math"/>
                        <a:cs typeface="Times New Roman" panose="02020603050405020304" pitchFamily="18" charset="0"/>
                      </a:rPr>
                      <m:t>)</m:t>
                    </m:r>
                  </m:oMath>
                </a14:m>
                <a:r>
                  <a:rPr lang="zh-CN" altLang="en-US" dirty="0">
                    <a:latin typeface="Times New Roman" panose="02020603050405020304" pitchFamily="18" charset="0"/>
                    <a:cs typeface="Times New Roman" panose="02020603050405020304" pitchFamily="18" charset="0"/>
                  </a:rPr>
                  <a:t>，攻击者马上就知道对于两个消息分组 </a:t>
                </a:r>
                <a14:m>
                  <m:oMath xmlns:m="http://schemas.openxmlformats.org/officeDocument/2006/math">
                    <m:r>
                      <a:rPr lang="en-US" altLang="zh-CN" i="1" dirty="0" smtClean="0">
                        <a:latin typeface="Cambria Math"/>
                        <a:cs typeface="Times New Roman" panose="02020603050405020304" pitchFamily="18" charset="0"/>
                      </a:rPr>
                      <m:t>𝑋</m:t>
                    </m:r>
                    <m:r>
                      <a:rPr lang="en-US" altLang="zh-CN" i="1" dirty="0" smtClean="0">
                        <a:latin typeface="Cambria Math"/>
                        <a:cs typeface="Times New Roman" panose="02020603050405020304" pitchFamily="18" charset="0"/>
                      </a:rPr>
                      <m:t> || (</m:t>
                    </m:r>
                    <m:r>
                      <a:rPr lang="en-US" altLang="zh-CN" i="1" dirty="0" smtClean="0">
                        <a:latin typeface="Cambria Math"/>
                        <a:cs typeface="Times New Roman" panose="02020603050405020304" pitchFamily="18" charset="0"/>
                      </a:rPr>
                      <m:t>𝑇</m:t>
                    </m:r>
                    <m:r>
                      <a:rPr lang="en-US" altLang="zh-CN" i="1" dirty="0" smtClean="0">
                        <a:latin typeface="Cambria Math"/>
                        <a:cs typeface="Times New Roman" panose="02020603050405020304" pitchFamily="18" charset="0"/>
                      </a:rPr>
                      <m:t>⊕</m:t>
                    </m:r>
                    <m:r>
                      <a:rPr lang="en-US" altLang="zh-CN" i="1" dirty="0" smtClean="0">
                        <a:latin typeface="Cambria Math"/>
                        <a:cs typeface="Times New Roman" panose="02020603050405020304" pitchFamily="18" charset="0"/>
                      </a:rPr>
                      <m:t>𝑋</m:t>
                    </m:r>
                    <m:r>
                      <a:rPr lang="en-US" altLang="zh-CN" i="1" dirty="0" smtClean="0">
                        <a:latin typeface="Cambria Math"/>
                        <a:cs typeface="Times New Roman" panose="02020603050405020304" pitchFamily="18" charset="0"/>
                      </a:rPr>
                      <m:t>) </m:t>
                    </m:r>
                  </m:oMath>
                </a14:m>
                <a:r>
                  <a:rPr lang="zh-CN" altLang="en-US" dirty="0">
                    <a:latin typeface="Times New Roman" panose="02020603050405020304" pitchFamily="18" charset="0"/>
                    <a:cs typeface="Times New Roman" panose="02020603050405020304" pitchFamily="18" charset="0"/>
                  </a:rPr>
                  <a:t>的 </a:t>
                </a:r>
                <a:r>
                  <a:rPr lang="en-US" altLang="zh-CN" dirty="0">
                    <a:latin typeface="Times New Roman" panose="02020603050405020304" pitchFamily="18" charset="0"/>
                    <a:cs typeface="Times New Roman" panose="02020603050405020304" pitchFamily="18" charset="0"/>
                  </a:rPr>
                  <a:t>CBC MAC</a:t>
                </a:r>
                <a:r>
                  <a:rPr lang="zh-CN" altLang="en-US" dirty="0">
                    <a:latin typeface="Times New Roman" panose="02020603050405020304" pitchFamily="18" charset="0"/>
                    <a:cs typeface="Times New Roman" panose="02020603050405020304" pitchFamily="18" charset="0"/>
                  </a:rPr>
                  <a:t>还是 </a:t>
                </a:r>
                <a14:m>
                  <m:oMath xmlns:m="http://schemas.openxmlformats.org/officeDocument/2006/math">
                    <m:r>
                      <a:rPr lang="en-US" altLang="zh-CN" i="1" dirty="0" smtClean="0">
                        <a:latin typeface="Cambria Math"/>
                        <a:cs typeface="Times New Roman" panose="02020603050405020304" pitchFamily="18" charset="0"/>
                      </a:rPr>
                      <m:t>𝑇</m:t>
                    </m:r>
                  </m:oMath>
                </a14:m>
                <a:endParaRPr lang="en-US" altLang="zh-CN" dirty="0">
                  <a:latin typeface="Times New Roman" panose="02020603050405020304" pitchFamily="18" charset="0"/>
                  <a:cs typeface="Times New Roman" panose="02020603050405020304" pitchFamily="18" charset="0"/>
                </a:endParaRPr>
              </a:p>
              <a:p>
                <a:pPr marL="342900" indent="-342900" algn="just">
                  <a:lnSpc>
                    <a:spcPct val="120000"/>
                  </a:lnSpc>
                  <a:spcBef>
                    <a:spcPts val="1200"/>
                  </a:spcBef>
                  <a:buFont typeface="Wingdings" panose="05000000000000000000" pitchFamily="2" charset="2"/>
                  <a:buChar char="l"/>
                </a:pPr>
                <a:r>
                  <a:rPr lang="zh-CN" altLang="en-US" sz="2000" dirty="0">
                    <a:solidFill>
                      <a:srgbClr val="0000FF"/>
                    </a:solidFill>
                    <a:latin typeface="Times New Roman" panose="02020603050405020304" pitchFamily="18" charset="0"/>
                    <a:cs typeface="Times New Roman" panose="02020603050405020304" pitchFamily="18" charset="0"/>
                  </a:rPr>
                  <a:t>基于分组密码的消息认证码 </a:t>
                </a:r>
                <a:r>
                  <a:rPr lang="en-US" altLang="zh-CN" sz="2000" dirty="0">
                    <a:solidFill>
                      <a:srgbClr val="0000FF"/>
                    </a:solidFill>
                    <a:latin typeface="Times New Roman" panose="02020603050405020304" pitchFamily="18" charset="0"/>
                    <a:cs typeface="Times New Roman" panose="02020603050405020304" pitchFamily="18" charset="0"/>
                  </a:rPr>
                  <a:t>(CMAC) </a:t>
                </a:r>
                <a:r>
                  <a:rPr lang="zh-CN" altLang="en-US" sz="2000" dirty="0">
                    <a:latin typeface="Times New Roman" panose="02020603050405020304" pitchFamily="18" charset="0"/>
                    <a:cs typeface="Times New Roman" panose="02020603050405020304" pitchFamily="18" charset="0"/>
                  </a:rPr>
                  <a:t>可以消除 </a:t>
                </a:r>
                <a:r>
                  <a:rPr lang="en-US" altLang="zh-CN" sz="2000" dirty="0">
                    <a:latin typeface="Times New Roman" panose="02020603050405020304" pitchFamily="18" charset="0"/>
                    <a:cs typeface="Times New Roman" panose="02020603050405020304" pitchFamily="18" charset="0"/>
                  </a:rPr>
                  <a:t>DAA</a:t>
                </a:r>
                <a:r>
                  <a:rPr lang="zh-CN" altLang="en-US" sz="2000" dirty="0">
                    <a:latin typeface="Times New Roman" panose="02020603050405020304" pitchFamily="18" charset="0"/>
                    <a:cs typeface="Times New Roman" panose="02020603050405020304" pitchFamily="18" charset="0"/>
                  </a:rPr>
                  <a:t>存在的安全隐患</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 xmlns:a16="http://schemas.microsoft.com/office/drawing/2014/main" xmlns:a14="http://schemas.microsoft.com/office/drawing/2010/main" id="{E4C51DE6-60B1-EE44-2A57-B42419475092}"/>
                  </a:ext>
                </a:extLst>
              </p:cNvPr>
              <p:cNvSpPr txBox="1">
                <a:spLocks noRot="1" noChangeAspect="1" noMove="1" noResize="1" noEditPoints="1" noAdjustHandles="1" noChangeArrowheads="1" noChangeShapeType="1" noTextEdit="1"/>
              </p:cNvSpPr>
              <p:nvPr/>
            </p:nvSpPr>
            <p:spPr>
              <a:xfrm>
                <a:off x="332027" y="1652141"/>
                <a:ext cx="8479945" cy="4588307"/>
              </a:xfrm>
              <a:prstGeom prst="rect">
                <a:avLst/>
              </a:prstGeom>
              <a:blipFill rotWithShape="0">
                <a:blip r:embed="rId3"/>
                <a:stretch>
                  <a:fillRect l="-647" r="-718" b="-14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94998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solidFill>
                  <a:prstClr val="black">
                    <a:tint val="75000"/>
                  </a:prstClr>
                </a:solidFill>
              </a:rPr>
              <a:pPr/>
              <a:t>14</a:t>
            </a:fld>
            <a:endParaRPr lang="zh-CN" altLang="en-US">
              <a:solidFill>
                <a:prstClr val="black">
                  <a:tint val="75000"/>
                </a:prstClr>
              </a:solidFill>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pPr>
              <a:defRPr/>
            </a:pPr>
            <a:r>
              <a:rPr lang="en-US" altLang="zh-CN" sz="2400" b="1" dirty="0">
                <a:solidFill>
                  <a:srgbClr val="0000FF"/>
                </a:solidFill>
                <a:latin typeface="Times New Roman" panose="02020603050405020304" pitchFamily="18" charset="0"/>
                <a:cs typeface="Times New Roman" panose="02020603050405020304" pitchFamily="18" charset="0"/>
              </a:rPr>
              <a:t>(2) </a:t>
            </a:r>
            <a:r>
              <a:rPr lang="zh-CN" altLang="en-US" sz="2400" b="1" dirty="0">
                <a:solidFill>
                  <a:srgbClr val="0000FF"/>
                </a:solidFill>
                <a:latin typeface="Times New Roman" panose="02020603050405020304" pitchFamily="18" charset="0"/>
                <a:cs typeface="Times New Roman" panose="02020603050405020304" pitchFamily="18" charset="0"/>
              </a:rPr>
              <a:t>消息认证码 </a:t>
            </a:r>
            <a:r>
              <a:rPr lang="en-US" altLang="zh-CN" sz="2400" b="1" dirty="0">
                <a:solidFill>
                  <a:srgbClr val="0000FF"/>
                </a:solidFill>
                <a:latin typeface="Times New Roman" panose="02020603050405020304" pitchFamily="18" charset="0"/>
                <a:cs typeface="Times New Roman" panose="02020603050405020304" pitchFamily="18" charset="0"/>
              </a:rPr>
              <a:t>CMAC</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4C51DE6-60B1-EE44-2A57-B42419475092}"/>
                  </a:ext>
                </a:extLst>
              </p:cNvPr>
              <p:cNvSpPr txBox="1"/>
              <p:nvPr/>
            </p:nvSpPr>
            <p:spPr>
              <a:xfrm>
                <a:off x="312517" y="1609845"/>
                <a:ext cx="8646548" cy="5009705"/>
              </a:xfrm>
              <a:prstGeom prst="rect">
                <a:avLst/>
              </a:prstGeom>
              <a:noFill/>
            </p:spPr>
            <p:txBody>
              <a:bodyPr wrap="square" rtlCol="0">
                <a:spAutoFit/>
              </a:bodyPr>
              <a:lstStyle/>
              <a:p>
                <a:pPr algn="just">
                  <a:lnSpc>
                    <a:spcPct val="120000"/>
                  </a:lnSpc>
                  <a:spcBef>
                    <a:spcPts val="600"/>
                  </a:spcBef>
                </a:pPr>
                <a:r>
                  <a:rPr lang="zh-CN" altLang="en-US" sz="2000" dirty="0">
                    <a:solidFill>
                      <a:srgbClr val="202122"/>
                    </a:solidFill>
                    <a:latin typeface="Times New Roman" panose="02020603050405020304" pitchFamily="18" charset="0"/>
                    <a:cs typeface="Times New Roman" panose="02020603050405020304" pitchFamily="18" charset="0"/>
                  </a:rPr>
                  <a:t>根据 </a:t>
                </a:r>
                <a:r>
                  <a:rPr lang="en-US" altLang="zh-CN" sz="2000" dirty="0">
                    <a:solidFill>
                      <a:srgbClr val="202122"/>
                    </a:solidFill>
                    <a:latin typeface="Times New Roman" panose="02020603050405020304" pitchFamily="18" charset="0"/>
                    <a:cs typeface="Times New Roman" panose="02020603050405020304" pitchFamily="18" charset="0"/>
                  </a:rPr>
                  <a:t>NIST SP800-38B</a:t>
                </a:r>
                <a:r>
                  <a:rPr lang="zh-CN" altLang="en-US" sz="2000" dirty="0">
                    <a:solidFill>
                      <a:srgbClr val="202122"/>
                    </a:solidFill>
                    <a:latin typeface="Times New Roman" panose="02020603050405020304" pitchFamily="18" charset="0"/>
                    <a:cs typeface="Times New Roman" panose="02020603050405020304" pitchFamily="18" charset="0"/>
                  </a:rPr>
                  <a:t>，</a:t>
                </a:r>
                <a:r>
                  <a:rPr lang="en-US" altLang="zh-CN" sz="2000" dirty="0">
                    <a:solidFill>
                      <a:srgbClr val="202122"/>
                    </a:solidFill>
                    <a:latin typeface="Times New Roman" panose="02020603050405020304" pitchFamily="18" charset="0"/>
                    <a:cs typeface="Times New Roman" panose="02020603050405020304" pitchFamily="18" charset="0"/>
                  </a:rPr>
                  <a:t>CMAC </a:t>
                </a:r>
                <a:r>
                  <a:rPr lang="zh-CN" altLang="en-US" sz="2000" dirty="0">
                    <a:solidFill>
                      <a:srgbClr val="202122"/>
                    </a:solidFill>
                    <a:latin typeface="Times New Roman" panose="02020603050405020304" pitchFamily="18" charset="0"/>
                    <a:cs typeface="Times New Roman" panose="02020603050405020304" pitchFamily="18" charset="0"/>
                  </a:rPr>
                  <a:t>定义如下 （如采用</a:t>
                </a:r>
                <a:r>
                  <a:rPr lang="en-US" altLang="zh-CN" sz="2000" dirty="0">
                    <a:solidFill>
                      <a:prstClr val="black"/>
                    </a:solidFill>
                    <a:latin typeface="Times New Roman" panose="02020603050405020304" pitchFamily="18" charset="0"/>
                    <a:cs typeface="Times New Roman" panose="02020603050405020304" pitchFamily="18" charset="0"/>
                  </a:rPr>
                  <a:t>AES (</a:t>
                </a:r>
                <a14:m>
                  <m:oMath xmlns:m="http://schemas.openxmlformats.org/officeDocument/2006/math">
                    <m:r>
                      <a:rPr lang="en-US" altLang="zh-CN" sz="2000" i="1" dirty="0">
                        <a:solidFill>
                          <a:prstClr val="black"/>
                        </a:solidFill>
                        <a:latin typeface="Cambria Math"/>
                        <a:cs typeface="Times New Roman" panose="02020603050405020304" pitchFamily="18" charset="0"/>
                      </a:rPr>
                      <m:t>𝑏</m:t>
                    </m:r>
                    <m:r>
                      <a:rPr lang="en-US" altLang="zh-CN" sz="2000" i="1" dirty="0">
                        <a:solidFill>
                          <a:prstClr val="black"/>
                        </a:solidFill>
                        <a:latin typeface="Cambria Math"/>
                        <a:cs typeface="Times New Roman" panose="02020603050405020304" pitchFamily="18" charset="0"/>
                      </a:rPr>
                      <m:t>=128</m:t>
                    </m:r>
                  </m:oMath>
                </a14:m>
                <a:r>
                  <a:rPr lang="en-US" altLang="zh-CN" sz="2000" dirty="0">
                    <a:solidFill>
                      <a:prstClr val="black"/>
                    </a:solidFill>
                    <a:latin typeface="Times New Roman" panose="02020603050405020304" pitchFamily="18" charset="0"/>
                    <a:cs typeface="Times New Roman" panose="02020603050405020304" pitchFamily="18" charset="0"/>
                  </a:rPr>
                  <a:t>) </a:t>
                </a:r>
                <a:r>
                  <a:rPr lang="zh-CN" altLang="en-US" sz="2000" dirty="0">
                    <a:solidFill>
                      <a:prstClr val="black"/>
                    </a:solidFill>
                    <a:latin typeface="Times New Roman" panose="02020603050405020304" pitchFamily="18" charset="0"/>
                    <a:cs typeface="Times New Roman" panose="02020603050405020304" pitchFamily="18" charset="0"/>
                  </a:rPr>
                  <a:t>加密</a:t>
                </a:r>
                <a:r>
                  <a:rPr lang="zh-CN" altLang="en-US" sz="2000" dirty="0">
                    <a:solidFill>
                      <a:srgbClr val="202122"/>
                    </a:solidFill>
                    <a:latin typeface="Times New Roman" panose="02020603050405020304" pitchFamily="18" charset="0"/>
                    <a:cs typeface="Times New Roman" panose="02020603050405020304" pitchFamily="18" charset="0"/>
                  </a:rPr>
                  <a:t>）：</a:t>
                </a:r>
                <a:endParaRPr lang="en-US" altLang="zh-CN" sz="2000" dirty="0">
                  <a:solidFill>
                    <a:srgbClr val="202122"/>
                  </a:solidFill>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zh-CN" altLang="en-US" sz="1900" dirty="0">
                    <a:solidFill>
                      <a:prstClr val="black"/>
                    </a:solidFill>
                    <a:latin typeface="Times New Roman" panose="02020603050405020304" pitchFamily="18" charset="0"/>
                    <a:cs typeface="Times New Roman" panose="02020603050405020304" pitchFamily="18" charset="0"/>
                  </a:rPr>
                  <a:t>当消息</a:t>
                </a:r>
                <a14:m>
                  <m:oMath xmlns:m="http://schemas.openxmlformats.org/officeDocument/2006/math">
                    <m:r>
                      <a:rPr lang="en-US" altLang="zh-CN" sz="1900" b="0" i="0" dirty="0" smtClean="0">
                        <a:solidFill>
                          <a:prstClr val="black"/>
                        </a:solidFill>
                        <a:latin typeface="Cambria Math" panose="02040503050406030204" pitchFamily="18" charset="0"/>
                        <a:cs typeface="Times New Roman" panose="02020603050405020304" pitchFamily="18" charset="0"/>
                      </a:rPr>
                      <m:t> </m:t>
                    </m:r>
                    <m:r>
                      <a:rPr lang="en-US" altLang="zh-CN" sz="1900" i="1" dirty="0">
                        <a:solidFill>
                          <a:prstClr val="black"/>
                        </a:solidFill>
                        <a:latin typeface="Cambria Math"/>
                        <a:cs typeface="Times New Roman" panose="02020603050405020304" pitchFamily="18" charset="0"/>
                      </a:rPr>
                      <m:t>𝑀</m:t>
                    </m:r>
                  </m:oMath>
                </a14:m>
                <a:r>
                  <a:rPr lang="zh-CN" altLang="en-US" sz="1900" dirty="0">
                    <a:solidFill>
                      <a:prstClr val="black"/>
                    </a:solidFill>
                    <a:latin typeface="Times New Roman" panose="02020603050405020304" pitchFamily="18" charset="0"/>
                    <a:cs typeface="Times New Roman" panose="02020603050405020304" pitchFamily="18" charset="0"/>
                  </a:rPr>
                  <a:t> 长度是分组长度</a:t>
                </a:r>
                <a14:m>
                  <m:oMath xmlns:m="http://schemas.openxmlformats.org/officeDocument/2006/math">
                    <m:r>
                      <a:rPr lang="en-US" altLang="zh-CN" sz="1900" dirty="0" smtClean="0">
                        <a:solidFill>
                          <a:prstClr val="black"/>
                        </a:solidFill>
                        <a:latin typeface="Cambria Math"/>
                        <a:cs typeface="Times New Roman" panose="02020603050405020304" pitchFamily="18" charset="0"/>
                      </a:rPr>
                      <m:t> </m:t>
                    </m:r>
                    <m:r>
                      <a:rPr lang="en-US" altLang="zh-CN" sz="1900" i="1" dirty="0" smtClean="0">
                        <a:solidFill>
                          <a:prstClr val="black"/>
                        </a:solidFill>
                        <a:latin typeface="Cambria Math"/>
                        <a:cs typeface="Times New Roman" panose="02020603050405020304" pitchFamily="18" charset="0"/>
                      </a:rPr>
                      <m:t>𝑏</m:t>
                    </m:r>
                    <m:r>
                      <a:rPr lang="en-US" altLang="zh-CN" sz="1900" i="1" dirty="0" smtClean="0">
                        <a:solidFill>
                          <a:prstClr val="black"/>
                        </a:solidFill>
                        <a:latin typeface="Cambria Math"/>
                        <a:cs typeface="Times New Roman" panose="02020603050405020304" pitchFamily="18" charset="0"/>
                      </a:rPr>
                      <m:t> </m:t>
                    </m:r>
                  </m:oMath>
                </a14:m>
                <a:r>
                  <a:rPr lang="zh-CN" altLang="en-US" sz="1900" dirty="0">
                    <a:solidFill>
                      <a:prstClr val="black"/>
                    </a:solidFill>
                    <a:latin typeface="Times New Roman" panose="02020603050405020304" pitchFamily="18" charset="0"/>
                    <a:cs typeface="Times New Roman" panose="02020603050405020304" pitchFamily="18" charset="0"/>
                  </a:rPr>
                  <a:t>的整数倍 </a:t>
                </a:r>
                <a14:m>
                  <m:oMath xmlns:m="http://schemas.openxmlformats.org/officeDocument/2006/math">
                    <m:r>
                      <a:rPr lang="en-US" altLang="zh-CN" sz="1900" i="1" dirty="0" smtClean="0">
                        <a:solidFill>
                          <a:prstClr val="black"/>
                        </a:solidFill>
                        <a:latin typeface="Cambria Math"/>
                        <a:cs typeface="Times New Roman" panose="02020603050405020304" pitchFamily="18" charset="0"/>
                      </a:rPr>
                      <m:t>𝑛</m:t>
                    </m:r>
                    <m:r>
                      <a:rPr lang="en-US" altLang="zh-CN" sz="1900" i="1" dirty="0" smtClean="0">
                        <a:solidFill>
                          <a:prstClr val="black"/>
                        </a:solidFill>
                        <a:latin typeface="Cambria Math"/>
                        <a:cs typeface="Times New Roman" panose="02020603050405020304" pitchFamily="18" charset="0"/>
                      </a:rPr>
                      <m:t> </m:t>
                    </m:r>
                  </m:oMath>
                </a14:m>
                <a:r>
                  <a:rPr lang="zh-CN" altLang="en-US" sz="1900" dirty="0">
                    <a:solidFill>
                      <a:prstClr val="black"/>
                    </a:solidFill>
                    <a:latin typeface="Times New Roman" panose="02020603050405020304" pitchFamily="18" charset="0"/>
                    <a:cs typeface="Times New Roman" panose="02020603050405020304" pitchFamily="18" charset="0"/>
                  </a:rPr>
                  <a:t>时，</a:t>
                </a:r>
                <a:endParaRPr lang="en-US" altLang="zh-CN" sz="1900" dirty="0">
                  <a:solidFill>
                    <a:prstClr val="black"/>
                  </a:solidFill>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dirty="0">
                    <a:solidFill>
                      <a:prstClr val="black"/>
                    </a:solidFill>
                    <a:latin typeface="Times New Roman" panose="02020603050405020304" pitchFamily="18" charset="0"/>
                    <a:cs typeface="Times New Roman" panose="02020603050405020304" pitchFamily="18" charset="0"/>
                  </a:rPr>
                  <a:t>将消息 </a:t>
                </a:r>
                <a:r>
                  <a:rPr lang="en-US" altLang="zh-CN" i="1" dirty="0">
                    <a:solidFill>
                      <a:prstClr val="black"/>
                    </a:solidFill>
                    <a:latin typeface="Times New Roman" panose="02020603050405020304" pitchFamily="18" charset="0"/>
                    <a:cs typeface="Times New Roman" panose="02020603050405020304" pitchFamily="18" charset="0"/>
                  </a:rPr>
                  <a:t>M </a:t>
                </a:r>
                <a:r>
                  <a:rPr lang="zh-CN" altLang="en-US" dirty="0">
                    <a:solidFill>
                      <a:prstClr val="black"/>
                    </a:solidFill>
                    <a:latin typeface="Times New Roman" panose="02020603050405020304" pitchFamily="18" charset="0"/>
                    <a:cs typeface="Times New Roman" panose="02020603050405020304" pitchFamily="18" charset="0"/>
                  </a:rPr>
                  <a:t>分成 𝑛 个分组，记为</a:t>
                </a:r>
                <a14:m>
                  <m:oMath xmlns:m="http://schemas.openxmlformats.org/officeDocument/2006/math">
                    <m:sSub>
                      <m:sSubPr>
                        <m:ctrlPr>
                          <a:rPr lang="en-US" altLang="zh-CN" i="1" dirty="0" smtClean="0">
                            <a:solidFill>
                              <a:prstClr val="black"/>
                            </a:solidFill>
                            <a:latin typeface="Cambria Math" panose="02040503050406030204" pitchFamily="18" charset="0"/>
                            <a:cs typeface="Times New Roman" panose="02020603050405020304" pitchFamily="18" charset="0"/>
                          </a:rPr>
                        </m:ctrlPr>
                      </m:sSubPr>
                      <m:e>
                        <m:r>
                          <a:rPr lang="en-US" altLang="zh-CN" i="1" dirty="0" smtClean="0">
                            <a:solidFill>
                              <a:prstClr val="black"/>
                            </a:solidFill>
                            <a:latin typeface="Cambria Math"/>
                            <a:cs typeface="Times New Roman" panose="02020603050405020304" pitchFamily="18" charset="0"/>
                          </a:rPr>
                          <m:t> </m:t>
                        </m:r>
                        <m:r>
                          <a:rPr lang="en-US" altLang="zh-CN" i="1" dirty="0" smtClean="0">
                            <a:solidFill>
                              <a:prstClr val="black"/>
                            </a:solidFill>
                            <a:latin typeface="Cambria Math"/>
                            <a:cs typeface="Times New Roman" panose="02020603050405020304" pitchFamily="18" charset="0"/>
                          </a:rPr>
                          <m:t>𝑀</m:t>
                        </m:r>
                      </m:e>
                      <m:sub>
                        <m:r>
                          <a:rPr lang="en-US" altLang="zh-CN" i="1" dirty="0">
                            <a:solidFill>
                              <a:prstClr val="black"/>
                            </a:solidFill>
                            <a:latin typeface="Cambria Math"/>
                            <a:cs typeface="Times New Roman" panose="02020603050405020304" pitchFamily="18" charset="0"/>
                          </a:rPr>
                          <m:t>1</m:t>
                        </m:r>
                      </m:sub>
                    </m:sSub>
                    <m:r>
                      <a:rPr lang="en-US" altLang="zh-CN" i="1" dirty="0">
                        <a:solidFill>
                          <a:prstClr val="black"/>
                        </a:solidFill>
                        <a:latin typeface="Cambria Math"/>
                        <a:cs typeface="Times New Roman" panose="02020603050405020304" pitchFamily="18" charset="0"/>
                      </a:rPr>
                      <m:t>,</m:t>
                    </m:r>
                    <m:sSub>
                      <m:sSubPr>
                        <m:ctrlPr>
                          <a:rPr lang="en-US" altLang="zh-CN" i="1" dirty="0">
                            <a:solidFill>
                              <a:prstClr val="black"/>
                            </a:solidFill>
                            <a:latin typeface="Cambria Math" panose="02040503050406030204" pitchFamily="18" charset="0"/>
                            <a:cs typeface="Times New Roman" panose="02020603050405020304" pitchFamily="18" charset="0"/>
                          </a:rPr>
                        </m:ctrlPr>
                      </m:sSubPr>
                      <m:e>
                        <m:r>
                          <a:rPr lang="en-US" altLang="zh-CN" i="1" dirty="0" smtClean="0">
                            <a:solidFill>
                              <a:prstClr val="black"/>
                            </a:solidFill>
                            <a:latin typeface="Cambria Math"/>
                            <a:cs typeface="Times New Roman" panose="02020603050405020304" pitchFamily="18" charset="0"/>
                          </a:rPr>
                          <m:t>𝑀</m:t>
                        </m:r>
                      </m:e>
                      <m:sub>
                        <m:r>
                          <a:rPr lang="en-US" altLang="zh-CN" i="1" dirty="0">
                            <a:solidFill>
                              <a:prstClr val="black"/>
                            </a:solidFill>
                            <a:latin typeface="Cambria Math"/>
                            <a:cs typeface="Times New Roman" panose="02020603050405020304" pitchFamily="18" charset="0"/>
                          </a:rPr>
                          <m:t>2</m:t>
                        </m:r>
                      </m:sub>
                    </m:sSub>
                    <m:r>
                      <a:rPr lang="en-US" altLang="zh-CN" i="1" dirty="0">
                        <a:solidFill>
                          <a:prstClr val="black"/>
                        </a:solidFill>
                        <a:latin typeface="Cambria Math"/>
                        <a:cs typeface="Times New Roman" panose="02020603050405020304" pitchFamily="18" charset="0"/>
                      </a:rPr>
                      <m:t>,…</m:t>
                    </m:r>
                    <m:r>
                      <a:rPr lang="en-US" altLang="zh-CN" i="1" dirty="0" smtClean="0">
                        <a:solidFill>
                          <a:prstClr val="black"/>
                        </a:solidFill>
                        <a:latin typeface="Cambria Math"/>
                        <a:cs typeface="Times New Roman" panose="02020603050405020304" pitchFamily="18" charset="0"/>
                      </a:rPr>
                      <m:t>,</m:t>
                    </m:r>
                    <m:sSub>
                      <m:sSubPr>
                        <m:ctrlPr>
                          <a:rPr lang="en-US" altLang="zh-CN" i="1" dirty="0">
                            <a:solidFill>
                              <a:prstClr val="black"/>
                            </a:solidFill>
                            <a:latin typeface="Cambria Math" panose="02040503050406030204" pitchFamily="18" charset="0"/>
                            <a:cs typeface="Times New Roman" panose="02020603050405020304" pitchFamily="18" charset="0"/>
                          </a:rPr>
                        </m:ctrlPr>
                      </m:sSubPr>
                      <m:e>
                        <m:r>
                          <a:rPr lang="en-US" altLang="zh-CN" i="1" dirty="0" smtClean="0">
                            <a:solidFill>
                              <a:prstClr val="black"/>
                            </a:solidFill>
                            <a:latin typeface="Cambria Math"/>
                            <a:cs typeface="Times New Roman" panose="02020603050405020304" pitchFamily="18" charset="0"/>
                          </a:rPr>
                          <m:t>𝑀</m:t>
                        </m:r>
                      </m:e>
                      <m:sub>
                        <m:r>
                          <a:rPr lang="en-US" altLang="zh-CN" i="1" dirty="0" smtClean="0">
                            <a:solidFill>
                              <a:prstClr val="black"/>
                            </a:solidFill>
                            <a:latin typeface="Cambria Math"/>
                            <a:cs typeface="Times New Roman" panose="02020603050405020304" pitchFamily="18" charset="0"/>
                          </a:rPr>
                          <m:t>𝑛</m:t>
                        </m:r>
                      </m:sub>
                    </m:sSub>
                  </m:oMath>
                </a14:m>
                <a:r>
                  <a:rPr lang="zh-CN" altLang="en-US" sz="2000" dirty="0">
                    <a:solidFill>
                      <a:prstClr val="black"/>
                    </a:solidFill>
                    <a:latin typeface="Times New Roman" panose="02020603050405020304" pitchFamily="18" charset="0"/>
                    <a:cs typeface="Times New Roman" panose="02020603050405020304" pitchFamily="18" charset="0"/>
                  </a:rPr>
                  <a:t>；</a:t>
                </a:r>
                <a:r>
                  <a:rPr lang="zh-CN" altLang="en-US" dirty="0">
                    <a:solidFill>
                      <a:prstClr val="black"/>
                    </a:solidFill>
                    <a:latin typeface="Times New Roman" panose="02020603050405020304" pitchFamily="18" charset="0"/>
                    <a:cs typeface="Times New Roman" panose="02020603050405020304" pitchFamily="18" charset="0"/>
                  </a:rPr>
                  <a:t>在 </a:t>
                </a:r>
                <a:r>
                  <a:rPr lang="en-US" altLang="zh-CN" dirty="0">
                    <a:solidFill>
                      <a:prstClr val="black"/>
                    </a:solidFill>
                    <a:latin typeface="Times New Roman" panose="02020603050405020304" pitchFamily="18" charset="0"/>
                    <a:cs typeface="Times New Roman" panose="02020603050405020304" pitchFamily="18" charset="0"/>
                  </a:rPr>
                  <a:t>CBC </a:t>
                </a:r>
                <a:r>
                  <a:rPr lang="zh-CN" altLang="en-US" dirty="0">
                    <a:solidFill>
                      <a:prstClr val="black"/>
                    </a:solidFill>
                    <a:latin typeface="Times New Roman" panose="02020603050405020304" pitchFamily="18" charset="0"/>
                    <a:cs typeface="Times New Roman" panose="02020603050405020304" pitchFamily="18" charset="0"/>
                  </a:rPr>
                  <a:t>模式下对其进行加密</a:t>
                </a:r>
                <a:endParaRPr lang="en-US" altLang="zh-CN" dirty="0">
                  <a:solidFill>
                    <a:prstClr val="black"/>
                  </a:solidFill>
                  <a:latin typeface="Times New Roman" panose="02020603050405020304" pitchFamily="18" charset="0"/>
                  <a:cs typeface="Times New Roman" panose="02020603050405020304" pitchFamily="18" charset="0"/>
                </a:endParaRPr>
              </a:p>
              <a:p>
                <a:pPr marL="1257300" lvl="3" indent="-342900" algn="just">
                  <a:lnSpc>
                    <a:spcPct val="120000"/>
                  </a:lnSpc>
                  <a:spcBef>
                    <a:spcPts val="600"/>
                  </a:spcBef>
                  <a:buFont typeface="Arial" panose="020B0604020202020204" pitchFamily="34" charset="0"/>
                  <a:buChar char="•"/>
                </a:pPr>
                <a14:m>
                  <m:oMath xmlns:m="http://schemas.openxmlformats.org/officeDocument/2006/math">
                    <m:sSub>
                      <m:sSubPr>
                        <m:ctrlPr>
                          <a:rPr lang="en-US" altLang="zh-CN" i="1" dirty="0" smtClean="0">
                            <a:solidFill>
                              <a:srgbClr val="0000FF"/>
                            </a:solidFill>
                            <a:latin typeface="Cambria Math" panose="02040503050406030204" pitchFamily="18" charset="0"/>
                            <a:cs typeface="Times New Roman" panose="02020603050405020304" pitchFamily="18" charset="0"/>
                          </a:rPr>
                        </m:ctrlPr>
                      </m:sSubPr>
                      <m:e>
                        <m:r>
                          <a:rPr lang="en-US" altLang="zh-CN" i="1" dirty="0" smtClean="0">
                            <a:solidFill>
                              <a:srgbClr val="0000FF"/>
                            </a:solidFill>
                            <a:latin typeface="Cambria Math"/>
                            <a:cs typeface="Times New Roman" panose="02020603050405020304" pitchFamily="18" charset="0"/>
                          </a:rPr>
                          <m:t>𝐶</m:t>
                        </m:r>
                      </m:e>
                      <m:sub>
                        <m:r>
                          <a:rPr lang="en-US" altLang="zh-CN" i="1" dirty="0" smtClean="0">
                            <a:solidFill>
                              <a:srgbClr val="0000FF"/>
                            </a:solidFill>
                            <a:latin typeface="Cambria Math"/>
                            <a:cs typeface="Times New Roman" panose="02020603050405020304" pitchFamily="18" charset="0"/>
                          </a:rPr>
                          <m:t>1</m:t>
                        </m:r>
                      </m:sub>
                    </m:sSub>
                    <m:r>
                      <a:rPr lang="en-US" altLang="zh-CN" i="1" dirty="0">
                        <a:solidFill>
                          <a:srgbClr val="0000FF"/>
                        </a:solidFill>
                        <a:latin typeface="Cambria Math" panose="02040503050406030204" pitchFamily="18" charset="0"/>
                        <a:cs typeface="Times New Roman" panose="02020603050405020304" pitchFamily="18" charset="0"/>
                      </a:rPr>
                      <m:t>=</m:t>
                    </m:r>
                    <m:sSub>
                      <m:sSubPr>
                        <m:ctrlPr>
                          <a:rPr lang="en-US" altLang="zh-CN" i="1" dirty="0" smtClean="0">
                            <a:solidFill>
                              <a:srgbClr val="0000FF"/>
                            </a:solidFill>
                            <a:latin typeface="Cambria Math" panose="02040503050406030204" pitchFamily="18" charset="0"/>
                            <a:cs typeface="Times New Roman" panose="02020603050405020304" pitchFamily="18" charset="0"/>
                          </a:rPr>
                        </m:ctrlPr>
                      </m:sSubPr>
                      <m:e>
                        <m:r>
                          <a:rPr lang="en-US" altLang="zh-CN" i="1" dirty="0">
                            <a:solidFill>
                              <a:srgbClr val="0000FF"/>
                            </a:solidFill>
                            <a:latin typeface="Cambria Math"/>
                            <a:cs typeface="Times New Roman" panose="02020603050405020304" pitchFamily="18" charset="0"/>
                          </a:rPr>
                          <m:t>𝐸</m:t>
                        </m:r>
                      </m:e>
                      <m:sub>
                        <m:r>
                          <a:rPr lang="en-US" altLang="zh-CN" i="1" dirty="0" smtClean="0">
                            <a:solidFill>
                              <a:srgbClr val="0000FF"/>
                            </a:solidFill>
                            <a:latin typeface="Cambria Math"/>
                            <a:cs typeface="Times New Roman" panose="02020603050405020304" pitchFamily="18" charset="0"/>
                          </a:rPr>
                          <m:t>𝐾</m:t>
                        </m:r>
                      </m:sub>
                    </m:sSub>
                    <m:d>
                      <m:dPr>
                        <m:ctrlPr>
                          <a:rPr lang="en-US" altLang="zh-CN" i="1" dirty="0" smtClean="0">
                            <a:solidFill>
                              <a:srgbClr val="0000FF"/>
                            </a:solidFill>
                            <a:latin typeface="Cambria Math" panose="02040503050406030204" pitchFamily="18" charset="0"/>
                            <a:cs typeface="Times New Roman" panose="02020603050405020304" pitchFamily="18" charset="0"/>
                          </a:rPr>
                        </m:ctrlPr>
                      </m:dPr>
                      <m:e>
                        <m:sSub>
                          <m:sSubPr>
                            <m:ctrlPr>
                              <a:rPr lang="en-US" altLang="zh-CN" i="1" dirty="0" smtClean="0">
                                <a:solidFill>
                                  <a:srgbClr val="0000FF"/>
                                </a:solidFill>
                                <a:latin typeface="Cambria Math" panose="02040503050406030204" pitchFamily="18" charset="0"/>
                                <a:cs typeface="Times New Roman" panose="02020603050405020304" pitchFamily="18" charset="0"/>
                              </a:rPr>
                            </m:ctrlPr>
                          </m:sSubPr>
                          <m:e>
                            <m:r>
                              <a:rPr lang="en-US" altLang="zh-CN" i="1" dirty="0" smtClean="0">
                                <a:solidFill>
                                  <a:srgbClr val="0000FF"/>
                                </a:solidFill>
                                <a:latin typeface="Cambria Math"/>
                                <a:cs typeface="Times New Roman" panose="02020603050405020304" pitchFamily="18" charset="0"/>
                              </a:rPr>
                              <m:t>𝑀</m:t>
                            </m:r>
                          </m:e>
                          <m:sub>
                            <m:r>
                              <a:rPr lang="en-US" altLang="zh-CN" i="1" dirty="0" smtClean="0">
                                <a:solidFill>
                                  <a:srgbClr val="0000FF"/>
                                </a:solidFill>
                                <a:latin typeface="Cambria Math"/>
                                <a:cs typeface="Times New Roman" panose="02020603050405020304" pitchFamily="18" charset="0"/>
                              </a:rPr>
                              <m:t>1</m:t>
                            </m:r>
                          </m:sub>
                        </m:sSub>
                      </m:e>
                    </m:d>
                  </m:oMath>
                </a14:m>
                <a:r>
                  <a:rPr lang="zh-CN" altLang="en-US" dirty="0">
                    <a:solidFill>
                      <a:srgbClr val="0000FF"/>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i="1" smtClean="0">
                            <a:solidFill>
                              <a:srgbClr val="0000FF"/>
                            </a:solidFill>
                            <a:latin typeface="Cambria Math" panose="02040503050406030204" pitchFamily="18" charset="0"/>
                            <a:cs typeface="Times New Roman" panose="02020603050405020304" pitchFamily="18" charset="0"/>
                          </a:rPr>
                        </m:ctrlPr>
                      </m:sSubPr>
                      <m:e>
                        <m:r>
                          <a:rPr lang="en-US" altLang="zh-CN" i="1" smtClean="0">
                            <a:solidFill>
                              <a:srgbClr val="0000FF"/>
                            </a:solidFill>
                            <a:latin typeface="Cambria Math"/>
                            <a:cs typeface="Times New Roman" panose="02020603050405020304" pitchFamily="18" charset="0"/>
                          </a:rPr>
                          <m:t>𝐶</m:t>
                        </m:r>
                      </m:e>
                      <m:sub>
                        <m:r>
                          <a:rPr lang="en-US" altLang="zh-CN" i="1" smtClean="0">
                            <a:solidFill>
                              <a:srgbClr val="0000FF"/>
                            </a:solidFill>
                            <a:latin typeface="Cambria Math"/>
                            <a:cs typeface="Times New Roman" panose="02020603050405020304" pitchFamily="18" charset="0"/>
                          </a:rPr>
                          <m:t>𝑖</m:t>
                        </m:r>
                      </m:sub>
                    </m:sSub>
                    <m:r>
                      <a:rPr lang="en-US" altLang="zh-CN" i="1" smtClean="0">
                        <a:solidFill>
                          <a:srgbClr val="0000FF"/>
                        </a:solidFill>
                        <a:latin typeface="Cambria Math"/>
                        <a:cs typeface="Times New Roman" panose="02020603050405020304" pitchFamily="18" charset="0"/>
                      </a:rPr>
                      <m:t>=</m:t>
                    </m:r>
                    <m:sSub>
                      <m:sSubPr>
                        <m:ctrlPr>
                          <a:rPr lang="en-US" altLang="zh-CN" i="1" smtClean="0">
                            <a:solidFill>
                              <a:srgbClr val="0000FF"/>
                            </a:solidFill>
                            <a:latin typeface="Cambria Math" panose="02040503050406030204" pitchFamily="18" charset="0"/>
                            <a:cs typeface="Times New Roman" panose="02020603050405020304" pitchFamily="18" charset="0"/>
                          </a:rPr>
                        </m:ctrlPr>
                      </m:sSubPr>
                      <m:e>
                        <m:r>
                          <a:rPr lang="en-US" altLang="zh-CN" i="1" smtClean="0">
                            <a:solidFill>
                              <a:srgbClr val="0000FF"/>
                            </a:solidFill>
                            <a:latin typeface="Cambria Math"/>
                            <a:cs typeface="Times New Roman" panose="02020603050405020304" pitchFamily="18" charset="0"/>
                          </a:rPr>
                          <m:t>𝐸</m:t>
                        </m:r>
                      </m:e>
                      <m:sub>
                        <m:r>
                          <a:rPr lang="en-US" altLang="zh-CN" i="1" smtClean="0">
                            <a:solidFill>
                              <a:srgbClr val="0000FF"/>
                            </a:solidFill>
                            <a:latin typeface="Cambria Math"/>
                            <a:cs typeface="Times New Roman" panose="02020603050405020304" pitchFamily="18" charset="0"/>
                          </a:rPr>
                          <m:t>𝐾</m:t>
                        </m:r>
                      </m:sub>
                    </m:sSub>
                    <m:d>
                      <m:dPr>
                        <m:ctrlPr>
                          <a:rPr lang="en-US" altLang="zh-CN" i="1" dirty="0">
                            <a:solidFill>
                              <a:srgbClr val="0000FF"/>
                            </a:solidFill>
                            <a:latin typeface="Cambria Math" panose="02040503050406030204" pitchFamily="18" charset="0"/>
                            <a:cs typeface="Times New Roman" panose="02020603050405020304" pitchFamily="18" charset="0"/>
                          </a:rPr>
                        </m:ctrlPr>
                      </m:dPr>
                      <m:e>
                        <m:sSub>
                          <m:sSubPr>
                            <m:ctrlPr>
                              <a:rPr lang="en-US" altLang="zh-CN" i="1" dirty="0">
                                <a:solidFill>
                                  <a:srgbClr val="0000FF"/>
                                </a:solidFill>
                                <a:latin typeface="Cambria Math" panose="02040503050406030204" pitchFamily="18" charset="0"/>
                                <a:cs typeface="Times New Roman" panose="02020603050405020304" pitchFamily="18" charset="0"/>
                              </a:rPr>
                            </m:ctrlPr>
                          </m:sSubPr>
                          <m:e>
                            <m:sSub>
                              <m:sSubPr>
                                <m:ctrlPr>
                                  <a:rPr lang="en-US" altLang="zh-CN" i="1" dirty="0">
                                    <a:solidFill>
                                      <a:srgbClr val="0000FF"/>
                                    </a:solidFill>
                                    <a:latin typeface="Cambria Math" panose="02040503050406030204" pitchFamily="18" charset="0"/>
                                    <a:cs typeface="Times New Roman" panose="02020603050405020304" pitchFamily="18" charset="0"/>
                                  </a:rPr>
                                </m:ctrlPr>
                              </m:sSubPr>
                              <m:e>
                                <m:r>
                                  <a:rPr lang="en-US" altLang="zh-CN" i="1" dirty="0" smtClean="0">
                                    <a:solidFill>
                                      <a:srgbClr val="0000FF"/>
                                    </a:solidFill>
                                    <a:latin typeface="Cambria Math"/>
                                    <a:cs typeface="Times New Roman" panose="02020603050405020304" pitchFamily="18" charset="0"/>
                                  </a:rPr>
                                  <m:t>𝑀</m:t>
                                </m:r>
                              </m:e>
                              <m:sub>
                                <m:r>
                                  <a:rPr lang="en-US" altLang="zh-CN" i="1" dirty="0">
                                    <a:solidFill>
                                      <a:srgbClr val="0000FF"/>
                                    </a:solidFill>
                                    <a:latin typeface="Cambria Math" panose="02040503050406030204" pitchFamily="18" charset="0"/>
                                    <a:cs typeface="Times New Roman" panose="02020603050405020304" pitchFamily="18" charset="0"/>
                                  </a:rPr>
                                  <m:t>𝑖</m:t>
                                </m:r>
                              </m:sub>
                            </m:sSub>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smtClean="0">
                                <a:solidFill>
                                  <a:srgbClr val="0000FF"/>
                                </a:solidFill>
                                <a:latin typeface="Cambria Math"/>
                                <a:ea typeface="Cambria Math" panose="02040503050406030204" pitchFamily="18" charset="0"/>
                                <a:cs typeface="Times New Roman" panose="02020603050405020304" pitchFamily="18" charset="0"/>
                              </a:rPr>
                              <m:t>𝐶</m:t>
                            </m:r>
                          </m:e>
                          <m:sub>
                            <m:r>
                              <a:rPr lang="en-US" altLang="zh-CN" i="1" dirty="0">
                                <a:solidFill>
                                  <a:srgbClr val="0000FF"/>
                                </a:solidFill>
                                <a:latin typeface="Cambria Math" panose="02040503050406030204" pitchFamily="18" charset="0"/>
                                <a:cs typeface="Times New Roman" panose="02020603050405020304" pitchFamily="18" charset="0"/>
                              </a:rPr>
                              <m:t>𝑖</m:t>
                            </m:r>
                            <m:r>
                              <a:rPr lang="en-US" altLang="zh-CN" i="1" dirty="0">
                                <a:solidFill>
                                  <a:srgbClr val="0000FF"/>
                                </a:solidFill>
                                <a:latin typeface="Cambria Math" panose="02040503050406030204" pitchFamily="18" charset="0"/>
                                <a:cs typeface="Times New Roman" panose="02020603050405020304" pitchFamily="18" charset="0"/>
                              </a:rPr>
                              <m:t>−1</m:t>
                            </m:r>
                          </m:sub>
                        </m:sSub>
                      </m:e>
                    </m:d>
                  </m:oMath>
                </a14:m>
                <a:r>
                  <a:rPr lang="zh-CN" altLang="en-US" dirty="0">
                    <a:solidFill>
                      <a:srgbClr val="0000FF"/>
                    </a:solidFill>
                    <a:latin typeface="Times New Roman" panose="02020603050405020304" pitchFamily="18" charset="0"/>
                    <a:cs typeface="Times New Roman" panose="02020603050405020304" pitchFamily="18" charset="0"/>
                  </a:rPr>
                  <a:t>，</a:t>
                </a:r>
                <a14:m>
                  <m:oMath xmlns:m="http://schemas.openxmlformats.org/officeDocument/2006/math">
                    <m:r>
                      <a:rPr lang="en-US" altLang="zh-CN" i="1" dirty="0">
                        <a:solidFill>
                          <a:srgbClr val="0000FF"/>
                        </a:solidFill>
                        <a:latin typeface="Cambria Math" panose="02040503050406030204" pitchFamily="18" charset="0"/>
                        <a:cs typeface="Times New Roman" panose="02020603050405020304" pitchFamily="18" charset="0"/>
                      </a:rPr>
                      <m:t>2≤</m:t>
                    </m:r>
                    <m:r>
                      <a:rPr lang="en-US" altLang="zh-CN" i="1" dirty="0">
                        <a:solidFill>
                          <a:srgbClr val="0000FF"/>
                        </a:solidFill>
                        <a:latin typeface="Cambria Math" panose="02040503050406030204" pitchFamily="18" charset="0"/>
                        <a:cs typeface="Times New Roman" panose="02020603050405020304" pitchFamily="18" charset="0"/>
                      </a:rPr>
                      <m:t>𝑖</m:t>
                    </m:r>
                    <m:r>
                      <a:rPr lang="en-US" altLang="zh-CN" i="1" dirty="0">
                        <a:solidFill>
                          <a:srgbClr val="0000FF"/>
                        </a:solidFill>
                        <a:latin typeface="Cambria Math" panose="02040503050406030204" pitchFamily="18" charset="0"/>
                        <a:cs typeface="Times New Roman" panose="02020603050405020304" pitchFamily="18" charset="0"/>
                      </a:rPr>
                      <m:t>≤</m:t>
                    </m:r>
                    <m:r>
                      <a:rPr lang="en-US" altLang="zh-CN" i="1" dirty="0" smtClean="0">
                        <a:solidFill>
                          <a:srgbClr val="0000FF"/>
                        </a:solidFill>
                        <a:latin typeface="Cambria Math"/>
                        <a:cs typeface="Times New Roman" panose="02020603050405020304" pitchFamily="18" charset="0"/>
                      </a:rPr>
                      <m:t>𝑛</m:t>
                    </m:r>
                    <m:r>
                      <a:rPr lang="en-US" altLang="zh-CN" i="1" dirty="0" smtClean="0">
                        <a:solidFill>
                          <a:srgbClr val="0000FF"/>
                        </a:solidFill>
                        <a:latin typeface="Cambria Math"/>
                        <a:cs typeface="Times New Roman" panose="02020603050405020304" pitchFamily="18" charset="0"/>
                      </a:rPr>
                      <m:t>−1</m:t>
                    </m:r>
                  </m:oMath>
                </a14:m>
                <a:endParaRPr lang="en-US" altLang="zh-CN" dirty="0">
                  <a:solidFill>
                    <a:srgbClr val="0000FF"/>
                  </a:solidFill>
                  <a:latin typeface="Times New Roman" panose="02020603050405020304" pitchFamily="18" charset="0"/>
                  <a:cs typeface="Times New Roman" panose="02020603050405020304" pitchFamily="18" charset="0"/>
                </a:endParaRPr>
              </a:p>
              <a:p>
                <a:pPr marL="1257300" lvl="3" indent="-342900" algn="just">
                  <a:lnSpc>
                    <a:spcPct val="120000"/>
                  </a:lnSpc>
                  <a:spcBef>
                    <a:spcPts val="600"/>
                  </a:spcBef>
                  <a:buFont typeface="Arial" panose="020B0604020202020204" pitchFamily="34" charset="0"/>
                  <a:buChar char="•"/>
                </a:pPr>
                <a14:m>
                  <m:oMath xmlns:m="http://schemas.openxmlformats.org/officeDocument/2006/math">
                    <m:sSub>
                      <m:sSubPr>
                        <m:ctrlPr>
                          <a:rPr lang="en-US" altLang="zh-CN" i="1">
                            <a:solidFill>
                              <a:srgbClr val="0000FF"/>
                            </a:solidFill>
                            <a:latin typeface="Cambria Math" panose="02040503050406030204" pitchFamily="18" charset="0"/>
                            <a:cs typeface="Times New Roman" panose="02020603050405020304" pitchFamily="18" charset="0"/>
                          </a:rPr>
                        </m:ctrlPr>
                      </m:sSubPr>
                      <m:e>
                        <m:r>
                          <a:rPr lang="en-US" altLang="zh-CN" i="1">
                            <a:solidFill>
                              <a:srgbClr val="0000FF"/>
                            </a:solidFill>
                            <a:latin typeface="Cambria Math"/>
                            <a:cs typeface="Times New Roman" panose="02020603050405020304" pitchFamily="18" charset="0"/>
                          </a:rPr>
                          <m:t>𝐶</m:t>
                        </m:r>
                      </m:e>
                      <m:sub>
                        <m:r>
                          <a:rPr lang="en-US" altLang="zh-CN" i="1" smtClean="0">
                            <a:solidFill>
                              <a:srgbClr val="0000FF"/>
                            </a:solidFill>
                            <a:latin typeface="Cambria Math"/>
                            <a:cs typeface="Times New Roman" panose="02020603050405020304" pitchFamily="18" charset="0"/>
                          </a:rPr>
                          <m:t>𝑛</m:t>
                        </m:r>
                      </m:sub>
                    </m:sSub>
                    <m:r>
                      <a:rPr lang="en-US" altLang="zh-CN" i="1">
                        <a:solidFill>
                          <a:srgbClr val="0000FF"/>
                        </a:solidFill>
                        <a:latin typeface="Cambria Math"/>
                        <a:cs typeface="Times New Roman" panose="02020603050405020304" pitchFamily="18" charset="0"/>
                      </a:rPr>
                      <m:t>=</m:t>
                    </m:r>
                    <m:sSub>
                      <m:sSubPr>
                        <m:ctrlPr>
                          <a:rPr lang="en-US" altLang="zh-CN" i="1">
                            <a:solidFill>
                              <a:srgbClr val="0000FF"/>
                            </a:solidFill>
                            <a:latin typeface="Cambria Math" panose="02040503050406030204" pitchFamily="18" charset="0"/>
                            <a:cs typeface="Times New Roman" panose="02020603050405020304" pitchFamily="18" charset="0"/>
                          </a:rPr>
                        </m:ctrlPr>
                      </m:sSubPr>
                      <m:e>
                        <m:r>
                          <a:rPr lang="en-US" altLang="zh-CN" i="1">
                            <a:solidFill>
                              <a:srgbClr val="0000FF"/>
                            </a:solidFill>
                            <a:latin typeface="Cambria Math"/>
                            <a:cs typeface="Times New Roman" panose="02020603050405020304" pitchFamily="18" charset="0"/>
                          </a:rPr>
                          <m:t>𝐸</m:t>
                        </m:r>
                      </m:e>
                      <m:sub>
                        <m:r>
                          <a:rPr lang="en-US" altLang="zh-CN" i="1">
                            <a:solidFill>
                              <a:srgbClr val="0000FF"/>
                            </a:solidFill>
                            <a:latin typeface="Cambria Math"/>
                            <a:cs typeface="Times New Roman" panose="02020603050405020304" pitchFamily="18" charset="0"/>
                          </a:rPr>
                          <m:t>𝐾</m:t>
                        </m:r>
                      </m:sub>
                    </m:sSub>
                    <m:d>
                      <m:dPr>
                        <m:ctrlPr>
                          <a:rPr lang="en-US" altLang="zh-CN" i="1" dirty="0">
                            <a:solidFill>
                              <a:srgbClr val="0000FF"/>
                            </a:solidFill>
                            <a:latin typeface="Cambria Math" panose="02040503050406030204" pitchFamily="18" charset="0"/>
                            <a:cs typeface="Times New Roman" panose="02020603050405020304" pitchFamily="18" charset="0"/>
                          </a:rPr>
                        </m:ctrlPr>
                      </m:dPr>
                      <m:e>
                        <m:sSub>
                          <m:sSubPr>
                            <m:ctrlPr>
                              <a:rPr lang="en-US" altLang="zh-CN" i="1" dirty="0">
                                <a:solidFill>
                                  <a:srgbClr val="0000FF"/>
                                </a:solidFill>
                                <a:latin typeface="Cambria Math" panose="02040503050406030204" pitchFamily="18" charset="0"/>
                                <a:cs typeface="Times New Roman" panose="02020603050405020304" pitchFamily="18" charset="0"/>
                              </a:rPr>
                            </m:ctrlPr>
                          </m:sSubPr>
                          <m:e>
                            <m:sSub>
                              <m:sSubPr>
                                <m:ctrlPr>
                                  <a:rPr lang="en-US" altLang="zh-CN" i="1" dirty="0">
                                    <a:solidFill>
                                      <a:srgbClr val="0000FF"/>
                                    </a:solidFill>
                                    <a:latin typeface="Cambria Math" panose="02040503050406030204" pitchFamily="18" charset="0"/>
                                    <a:cs typeface="Times New Roman" panose="02020603050405020304" pitchFamily="18" charset="0"/>
                                  </a:rPr>
                                </m:ctrlPr>
                              </m:sSubPr>
                              <m:e>
                                <m:r>
                                  <a:rPr lang="en-US" altLang="zh-CN" i="1" dirty="0">
                                    <a:solidFill>
                                      <a:srgbClr val="0000FF"/>
                                    </a:solidFill>
                                    <a:latin typeface="Cambria Math"/>
                                    <a:cs typeface="Times New Roman" panose="02020603050405020304" pitchFamily="18" charset="0"/>
                                  </a:rPr>
                                  <m:t>𝑀</m:t>
                                </m:r>
                              </m:e>
                              <m:sub>
                                <m:r>
                                  <a:rPr lang="en-US" altLang="zh-CN" i="1" dirty="0" smtClean="0">
                                    <a:solidFill>
                                      <a:srgbClr val="0000FF"/>
                                    </a:solidFill>
                                    <a:latin typeface="Cambria Math"/>
                                    <a:cs typeface="Times New Roman" panose="02020603050405020304" pitchFamily="18" charset="0"/>
                                  </a:rPr>
                                  <m:t>𝑛</m:t>
                                </m:r>
                              </m:sub>
                            </m:sSub>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solidFill>
                                  <a:srgbClr val="0000FF"/>
                                </a:solidFill>
                                <a:latin typeface="Cambria Math"/>
                                <a:ea typeface="Cambria Math" panose="02040503050406030204" pitchFamily="18" charset="0"/>
                                <a:cs typeface="Times New Roman" panose="02020603050405020304" pitchFamily="18" charset="0"/>
                              </a:rPr>
                              <m:t>𝐶</m:t>
                            </m:r>
                          </m:e>
                          <m:sub>
                            <m:r>
                              <a:rPr lang="en-US" altLang="zh-CN" i="1" dirty="0" smtClean="0">
                                <a:solidFill>
                                  <a:srgbClr val="0000FF"/>
                                </a:solidFill>
                                <a:latin typeface="Cambria Math"/>
                                <a:ea typeface="Cambria Math" panose="02040503050406030204" pitchFamily="18" charset="0"/>
                                <a:cs typeface="Times New Roman" panose="02020603050405020304" pitchFamily="18" charset="0"/>
                              </a:rPr>
                              <m:t>𝑛</m:t>
                            </m:r>
                            <m:r>
                              <a:rPr lang="en-US" altLang="zh-CN" i="1" dirty="0">
                                <a:solidFill>
                                  <a:srgbClr val="0000FF"/>
                                </a:solidFill>
                                <a:latin typeface="Cambria Math" panose="02040503050406030204" pitchFamily="18" charset="0"/>
                                <a:cs typeface="Times New Roman" panose="02020603050405020304" pitchFamily="18" charset="0"/>
                              </a:rPr>
                              <m:t>−1</m:t>
                            </m:r>
                          </m:sub>
                        </m:sSub>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dirty="0" smtClean="0">
                                <a:solidFill>
                                  <a:srgbClr val="FF0000"/>
                                </a:solidFill>
                                <a:latin typeface="Cambria Math"/>
                                <a:ea typeface="Cambria Math" panose="02040503050406030204" pitchFamily="18" charset="0"/>
                                <a:cs typeface="Times New Roman" panose="02020603050405020304" pitchFamily="18" charset="0"/>
                              </a:rPr>
                              <m:t>𝐾</m:t>
                            </m:r>
                          </m:e>
                          <m:sub>
                            <m:r>
                              <a:rPr lang="en-US" altLang="zh-CN" i="1" dirty="0" smtClean="0">
                                <a:solidFill>
                                  <a:srgbClr val="FF0000"/>
                                </a:solidFill>
                                <a:latin typeface="Cambria Math"/>
                                <a:ea typeface="Cambria Math" panose="02040503050406030204" pitchFamily="18" charset="0"/>
                                <a:cs typeface="Times New Roman" panose="02020603050405020304" pitchFamily="18" charset="0"/>
                              </a:rPr>
                              <m:t>1</m:t>
                            </m:r>
                          </m:sub>
                        </m:sSub>
                      </m:e>
                    </m:d>
                  </m:oMath>
                </a14:m>
                <a:r>
                  <a:rPr lang="zh-CN" altLang="en-US" dirty="0">
                    <a:solidFill>
                      <a:srgbClr val="0000FF"/>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i="1" smtClean="0">
                        <a:solidFill>
                          <a:srgbClr val="0000FF"/>
                        </a:solidFill>
                        <a:latin typeface="Cambria Math"/>
                        <a:cs typeface="Times New Roman" panose="02020603050405020304" pitchFamily="18" charset="0"/>
                      </a:rPr>
                      <m:t>𝑇</m:t>
                    </m:r>
                    <m:r>
                      <a:rPr lang="en-US" altLang="zh-CN" i="1" smtClean="0">
                        <a:solidFill>
                          <a:srgbClr val="0000FF"/>
                        </a:solidFill>
                        <a:latin typeface="Cambria Math"/>
                        <a:cs typeface="Times New Roman" panose="02020603050405020304" pitchFamily="18" charset="0"/>
                      </a:rPr>
                      <m:t>=</m:t>
                    </m:r>
                    <m:r>
                      <a:rPr lang="en-US" altLang="zh-CN" i="1" smtClean="0">
                        <a:solidFill>
                          <a:srgbClr val="0000FF"/>
                        </a:solidFill>
                        <a:latin typeface="Cambria Math"/>
                        <a:cs typeface="Times New Roman" panose="02020603050405020304" pitchFamily="18" charset="0"/>
                      </a:rPr>
                      <m:t>𝑀𝑆</m:t>
                    </m:r>
                    <m:sSub>
                      <m:sSubPr>
                        <m:ctrlPr>
                          <a:rPr lang="en-US" altLang="zh-CN" i="1" smtClean="0">
                            <a:solidFill>
                              <a:srgbClr val="0000FF"/>
                            </a:solidFill>
                            <a:latin typeface="Cambria Math" panose="02040503050406030204" pitchFamily="18" charset="0"/>
                            <a:cs typeface="Times New Roman" panose="02020603050405020304" pitchFamily="18" charset="0"/>
                          </a:rPr>
                        </m:ctrlPr>
                      </m:sSubPr>
                      <m:e>
                        <m:r>
                          <a:rPr lang="en-US" altLang="zh-CN" i="1" smtClean="0">
                            <a:solidFill>
                              <a:srgbClr val="0000FF"/>
                            </a:solidFill>
                            <a:latin typeface="Cambria Math"/>
                            <a:cs typeface="Times New Roman" panose="02020603050405020304" pitchFamily="18" charset="0"/>
                          </a:rPr>
                          <m:t>𝐵</m:t>
                        </m:r>
                      </m:e>
                      <m:sub>
                        <m:r>
                          <a:rPr lang="en-US" altLang="zh-CN" i="1">
                            <a:solidFill>
                              <a:srgbClr val="0000FF"/>
                            </a:solidFill>
                            <a:latin typeface="Cambria Math" panose="02040503050406030204" pitchFamily="18" charset="0"/>
                            <a:cs typeface="Times New Roman" panose="02020603050405020304" pitchFamily="18" charset="0"/>
                          </a:rPr>
                          <m:t>𝑆</m:t>
                        </m:r>
                      </m:sub>
                    </m:sSub>
                    <m:r>
                      <a:rPr lang="en-US" altLang="zh-CN" i="1" smtClean="0">
                        <a:solidFill>
                          <a:srgbClr val="0000FF"/>
                        </a:solidFill>
                        <a:latin typeface="Cambria Math"/>
                        <a:cs typeface="Times New Roman" panose="02020603050405020304" pitchFamily="18" charset="0"/>
                      </a:rPr>
                      <m:t>(</m:t>
                    </m:r>
                    <m:sSub>
                      <m:sSubPr>
                        <m:ctrlPr>
                          <a:rPr lang="en-US" altLang="zh-CN" i="1" smtClean="0">
                            <a:solidFill>
                              <a:srgbClr val="0000FF"/>
                            </a:solidFill>
                            <a:latin typeface="Cambria Math" panose="02040503050406030204" pitchFamily="18" charset="0"/>
                            <a:cs typeface="Times New Roman" panose="02020603050405020304" pitchFamily="18" charset="0"/>
                          </a:rPr>
                        </m:ctrlPr>
                      </m:sSubPr>
                      <m:e>
                        <m:r>
                          <a:rPr lang="en-US" altLang="zh-CN" i="1" smtClean="0">
                            <a:solidFill>
                              <a:srgbClr val="0000FF"/>
                            </a:solidFill>
                            <a:latin typeface="Cambria Math"/>
                            <a:cs typeface="Times New Roman" panose="02020603050405020304" pitchFamily="18" charset="0"/>
                          </a:rPr>
                          <m:t>𝐶</m:t>
                        </m:r>
                      </m:e>
                      <m:sub>
                        <m:r>
                          <a:rPr lang="en-US" altLang="zh-CN" i="1" smtClean="0">
                            <a:solidFill>
                              <a:srgbClr val="0000FF"/>
                            </a:solidFill>
                            <a:latin typeface="Cambria Math"/>
                            <a:cs typeface="Times New Roman" panose="02020603050405020304" pitchFamily="18" charset="0"/>
                          </a:rPr>
                          <m:t>𝑛</m:t>
                        </m:r>
                      </m:sub>
                    </m:sSub>
                    <m:r>
                      <a:rPr lang="en-US" altLang="zh-CN" i="1" smtClean="0">
                        <a:solidFill>
                          <a:srgbClr val="0000FF"/>
                        </a:solidFill>
                        <a:latin typeface="Cambria Math"/>
                        <a:cs typeface="Times New Roman" panose="02020603050405020304" pitchFamily="18" charset="0"/>
                      </a:rPr>
                      <m:t>)</m:t>
                    </m:r>
                  </m:oMath>
                </a14:m>
                <a:endParaRPr lang="en-US" altLang="zh-CN" dirty="0">
                  <a:solidFill>
                    <a:srgbClr val="0000FF"/>
                  </a:solidFill>
                  <a:latin typeface="Times New Roman" panose="02020603050405020304" pitchFamily="18" charset="0"/>
                  <a:cs typeface="Times New Roman" panose="02020603050405020304" pitchFamily="18" charset="0"/>
                </a:endParaRPr>
              </a:p>
              <a:p>
                <a:pPr marL="342900" indent="-342900" algn="just">
                  <a:lnSpc>
                    <a:spcPct val="120000"/>
                  </a:lnSpc>
                  <a:spcBef>
                    <a:spcPts val="600"/>
                  </a:spcBef>
                  <a:buFont typeface="Wingdings" panose="05000000000000000000" pitchFamily="2" charset="2"/>
                  <a:buChar char="l"/>
                </a:pPr>
                <a:r>
                  <a:rPr lang="zh-CN" altLang="en-US" sz="1900" dirty="0">
                    <a:solidFill>
                      <a:prstClr val="black"/>
                    </a:solidFill>
                    <a:latin typeface="Times New Roman" panose="02020603050405020304" pitchFamily="18" charset="0"/>
                    <a:cs typeface="Times New Roman" panose="02020603050405020304" pitchFamily="18" charset="0"/>
                  </a:rPr>
                  <a:t>当消息</a:t>
                </a:r>
                <a14:m>
                  <m:oMath xmlns:m="http://schemas.openxmlformats.org/officeDocument/2006/math">
                    <m:r>
                      <a:rPr lang="en-US" altLang="zh-CN" sz="1900" dirty="0">
                        <a:solidFill>
                          <a:prstClr val="black"/>
                        </a:solidFill>
                        <a:latin typeface="Cambria Math" panose="02040503050406030204" pitchFamily="18" charset="0"/>
                        <a:cs typeface="Times New Roman" panose="02020603050405020304" pitchFamily="18" charset="0"/>
                      </a:rPr>
                      <m:t> </m:t>
                    </m:r>
                    <m:r>
                      <a:rPr lang="en-US" altLang="zh-CN" sz="1900" i="1" dirty="0">
                        <a:solidFill>
                          <a:prstClr val="black"/>
                        </a:solidFill>
                        <a:latin typeface="Cambria Math"/>
                        <a:cs typeface="Times New Roman" panose="02020603050405020304" pitchFamily="18" charset="0"/>
                      </a:rPr>
                      <m:t>𝑀</m:t>
                    </m:r>
                  </m:oMath>
                </a14:m>
                <a:r>
                  <a:rPr lang="zh-CN" altLang="en-US" sz="1900" dirty="0">
                    <a:solidFill>
                      <a:prstClr val="black"/>
                    </a:solidFill>
                    <a:latin typeface="Times New Roman" panose="02020603050405020304" pitchFamily="18" charset="0"/>
                    <a:cs typeface="Times New Roman" panose="02020603050405020304" pitchFamily="18" charset="0"/>
                  </a:rPr>
                  <a:t> 长度不是分组长度</a:t>
                </a:r>
                <a14:m>
                  <m:oMath xmlns:m="http://schemas.openxmlformats.org/officeDocument/2006/math">
                    <m:r>
                      <a:rPr lang="en-US" altLang="zh-CN" sz="1900" dirty="0">
                        <a:solidFill>
                          <a:prstClr val="black"/>
                        </a:solidFill>
                        <a:latin typeface="Cambria Math"/>
                        <a:cs typeface="Times New Roman" panose="02020603050405020304" pitchFamily="18" charset="0"/>
                      </a:rPr>
                      <m:t> </m:t>
                    </m:r>
                    <m:r>
                      <a:rPr lang="en-US" altLang="zh-CN" sz="1900" i="1" dirty="0">
                        <a:solidFill>
                          <a:prstClr val="black"/>
                        </a:solidFill>
                        <a:latin typeface="Cambria Math"/>
                        <a:cs typeface="Times New Roman" panose="02020603050405020304" pitchFamily="18" charset="0"/>
                      </a:rPr>
                      <m:t>𝑏</m:t>
                    </m:r>
                    <m:r>
                      <a:rPr lang="en-US" altLang="zh-CN" sz="1900" i="1" dirty="0">
                        <a:solidFill>
                          <a:prstClr val="black"/>
                        </a:solidFill>
                        <a:latin typeface="Cambria Math"/>
                        <a:cs typeface="Times New Roman" panose="02020603050405020304" pitchFamily="18" charset="0"/>
                      </a:rPr>
                      <m:t> </m:t>
                    </m:r>
                  </m:oMath>
                </a14:m>
                <a:r>
                  <a:rPr lang="zh-CN" altLang="en-US" sz="1900" dirty="0">
                    <a:solidFill>
                      <a:prstClr val="black"/>
                    </a:solidFill>
                    <a:latin typeface="Times New Roman" panose="02020603050405020304" pitchFamily="18" charset="0"/>
                    <a:cs typeface="Times New Roman" panose="02020603050405020304" pitchFamily="18" charset="0"/>
                  </a:rPr>
                  <a:t>的整数倍 </a:t>
                </a:r>
                <a14:m>
                  <m:oMath xmlns:m="http://schemas.openxmlformats.org/officeDocument/2006/math">
                    <m:r>
                      <a:rPr lang="en-US" altLang="zh-CN" sz="1900" i="1" dirty="0">
                        <a:solidFill>
                          <a:prstClr val="black"/>
                        </a:solidFill>
                        <a:latin typeface="Cambria Math"/>
                        <a:cs typeface="Times New Roman" panose="02020603050405020304" pitchFamily="18" charset="0"/>
                      </a:rPr>
                      <m:t>𝑛</m:t>
                    </m:r>
                    <m:r>
                      <a:rPr lang="en-US" altLang="zh-CN" sz="1900" i="1" dirty="0">
                        <a:solidFill>
                          <a:prstClr val="black"/>
                        </a:solidFill>
                        <a:latin typeface="Cambria Math"/>
                        <a:cs typeface="Times New Roman" panose="02020603050405020304" pitchFamily="18" charset="0"/>
                      </a:rPr>
                      <m:t> </m:t>
                    </m:r>
                  </m:oMath>
                </a14:m>
                <a:r>
                  <a:rPr lang="zh-CN" altLang="en-US" sz="1900" dirty="0">
                    <a:solidFill>
                      <a:prstClr val="black"/>
                    </a:solidFill>
                    <a:latin typeface="Times New Roman" panose="02020603050405020304" pitchFamily="18" charset="0"/>
                    <a:cs typeface="Times New Roman" panose="02020603050405020304" pitchFamily="18" charset="0"/>
                  </a:rPr>
                  <a:t>时，</a:t>
                </a:r>
                <a:endParaRPr lang="en-US" altLang="zh-CN" sz="1900" dirty="0">
                  <a:solidFill>
                    <a:prstClr val="black"/>
                  </a:solidFill>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在最后一块的右侧填充</a:t>
                </a:r>
                <a14:m>
                  <m:oMath xmlns:m="http://schemas.openxmlformats.org/officeDocument/2006/math">
                    <m:r>
                      <a:rPr lang="en-US" altLang="zh-CN" dirty="0">
                        <a:latin typeface="Cambria Math"/>
                        <a:cs typeface="Times New Roman" panose="02020603050405020304" pitchFamily="18" charset="0"/>
                      </a:rPr>
                      <m:t> </m:t>
                    </m:r>
                    <m:r>
                      <a:rPr lang="en-US" altLang="zh-CN" i="1" dirty="0">
                        <a:latin typeface="Cambria Math"/>
                        <a:cs typeface="Times New Roman" panose="02020603050405020304" pitchFamily="18" charset="0"/>
                      </a:rPr>
                      <m:t>1 </m:t>
                    </m:r>
                  </m:oMath>
                </a14:m>
                <a:r>
                  <a:rPr lang="zh-CN" altLang="en-US" dirty="0">
                    <a:latin typeface="Times New Roman" panose="02020603050405020304" pitchFamily="18" charset="0"/>
                    <a:cs typeface="Times New Roman" panose="02020603050405020304" pitchFamily="18" charset="0"/>
                  </a:rPr>
                  <a:t>和尽可能多的</a:t>
                </a:r>
                <a14:m>
                  <m:oMath xmlns:m="http://schemas.openxmlformats.org/officeDocument/2006/math">
                    <m:r>
                      <a:rPr lang="en-US" altLang="zh-CN" dirty="0">
                        <a:latin typeface="Cambria Math"/>
                        <a:cs typeface="Times New Roman" panose="02020603050405020304" pitchFamily="18" charset="0"/>
                      </a:rPr>
                      <m:t> </m:t>
                    </m:r>
                    <m:r>
                      <a:rPr lang="en-US" altLang="zh-CN" i="1" dirty="0">
                        <a:latin typeface="Cambria Math"/>
                        <a:cs typeface="Times New Roman" panose="02020603050405020304" pitchFamily="18" charset="0"/>
                      </a:rPr>
                      <m:t>0</m:t>
                    </m:r>
                  </m:oMath>
                </a14:m>
                <a:r>
                  <a:rPr lang="zh-CN" altLang="en-US" dirty="0">
                    <a:latin typeface="Times New Roman" panose="02020603050405020304" pitchFamily="18" charset="0"/>
                    <a:cs typeface="Times New Roman" panose="02020603050405020304" pitchFamily="18" charset="0"/>
                  </a:rPr>
                  <a:t>，使其符合长度 </a:t>
                </a:r>
                <a14:m>
                  <m:oMath xmlns:m="http://schemas.openxmlformats.org/officeDocument/2006/math">
                    <m:r>
                      <a:rPr lang="en-US" altLang="zh-CN" i="1" dirty="0">
                        <a:solidFill>
                          <a:prstClr val="black"/>
                        </a:solidFill>
                        <a:latin typeface="Cambria Math"/>
                        <a:cs typeface="Times New Roman" panose="02020603050405020304" pitchFamily="18" charset="0"/>
                      </a:rPr>
                      <m:t>𝑏</m:t>
                    </m:r>
                  </m:oMath>
                </a14:m>
                <a:endParaRPr lang="en-US" altLang="zh-CN"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CMAC </a:t>
                </a:r>
                <a:r>
                  <a:rPr lang="zh-CN" altLang="en-US" dirty="0">
                    <a:latin typeface="Times New Roman" panose="02020603050405020304" pitchFamily="18" charset="0"/>
                    <a:cs typeface="Times New Roman" panose="02020603050405020304" pitchFamily="18" charset="0"/>
                  </a:rPr>
                  <a:t>计算如上，但使用了不同的常数密钥 </a:t>
                </a:r>
                <a14:m>
                  <m:oMath xmlns:m="http://schemas.openxmlformats.org/officeDocument/2006/math">
                    <m:sSub>
                      <m:sSubPr>
                        <m:ctrlPr>
                          <a:rPr lang="en-US" altLang="zh-CN"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dirty="0">
                            <a:solidFill>
                              <a:srgbClr val="FF0000"/>
                            </a:solidFill>
                            <a:latin typeface="Cambria Math"/>
                            <a:ea typeface="Cambria Math" panose="02040503050406030204" pitchFamily="18" charset="0"/>
                            <a:cs typeface="Times New Roman" panose="02020603050405020304" pitchFamily="18" charset="0"/>
                          </a:rPr>
                          <m:t>𝐾</m:t>
                        </m:r>
                      </m:e>
                      <m:sub>
                        <m:r>
                          <a:rPr lang="en-US" altLang="zh-CN" i="1" dirty="0">
                            <a:solidFill>
                              <a:srgbClr val="FF0000"/>
                            </a:solidFill>
                            <a:latin typeface="Cambria Math"/>
                            <a:ea typeface="Cambria Math" panose="02040503050406030204" pitchFamily="18" charset="0"/>
                            <a:cs typeface="Times New Roman" panose="02020603050405020304" pitchFamily="18" charset="0"/>
                          </a:rPr>
                          <m:t>2</m:t>
                        </m:r>
                      </m:sub>
                    </m:sSub>
                  </m:oMath>
                </a14:m>
                <a:r>
                  <a:rPr lang="zh-CN" altLang="en-US" dirty="0">
                    <a:latin typeface="Times New Roman" panose="02020603050405020304" pitchFamily="18" charset="0"/>
                    <a:cs typeface="Times New Roman" panose="02020603050405020304" pitchFamily="18" charset="0"/>
                  </a:rPr>
                  <a:t> 来代替 </a:t>
                </a:r>
                <a14:m>
                  <m:oMath xmlns:m="http://schemas.openxmlformats.org/officeDocument/2006/math">
                    <m:sSub>
                      <m:sSubPr>
                        <m:ctrlPr>
                          <a:rPr lang="en-US" altLang="zh-CN"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dirty="0">
                            <a:solidFill>
                              <a:srgbClr val="FF0000"/>
                            </a:solidFill>
                            <a:latin typeface="Cambria Math"/>
                            <a:ea typeface="Cambria Math" panose="02040503050406030204" pitchFamily="18" charset="0"/>
                            <a:cs typeface="Times New Roman" panose="02020603050405020304" pitchFamily="18" charset="0"/>
                          </a:rPr>
                          <m:t>𝐾</m:t>
                        </m:r>
                      </m:e>
                      <m:sub>
                        <m:r>
                          <a:rPr lang="en-US" altLang="zh-CN" i="1" dirty="0">
                            <a:solidFill>
                              <a:srgbClr val="FF0000"/>
                            </a:solidFill>
                            <a:latin typeface="Cambria Math"/>
                            <a:ea typeface="Cambria Math" panose="02040503050406030204" pitchFamily="18" charset="0"/>
                            <a:cs typeface="Times New Roman" panose="02020603050405020304" pitchFamily="18" charset="0"/>
                          </a:rPr>
                          <m:t>1</m:t>
                        </m:r>
                      </m:sub>
                    </m:sSub>
                  </m:oMath>
                </a14:m>
                <a:endParaRPr lang="en-US" altLang="zh-CN" dirty="0">
                  <a:latin typeface="Times New Roman" panose="02020603050405020304" pitchFamily="18" charset="0"/>
                  <a:cs typeface="Times New Roman" panose="02020603050405020304" pitchFamily="18" charset="0"/>
                </a:endParaRPr>
              </a:p>
              <a:p>
                <a:pPr marL="1257300" lvl="3" indent="-342900" algn="just">
                  <a:lnSpc>
                    <a:spcPct val="120000"/>
                  </a:lnSpc>
                  <a:spcBef>
                    <a:spcPts val="600"/>
                  </a:spcBef>
                  <a:spcAft>
                    <a:spcPts val="600"/>
                  </a:spcAft>
                  <a:buFont typeface="Arial" panose="020B0604020202020204" pitchFamily="34" charset="0"/>
                  <a:buChar char="•"/>
                </a:pPr>
                <a14:m>
                  <m:oMath xmlns:m="http://schemas.openxmlformats.org/officeDocument/2006/math">
                    <m:sSub>
                      <m:sSubPr>
                        <m:ctrlPr>
                          <a:rPr lang="en-US" altLang="zh-CN" i="1">
                            <a:solidFill>
                              <a:srgbClr val="0000FF"/>
                            </a:solidFill>
                            <a:latin typeface="Cambria Math" panose="02040503050406030204" pitchFamily="18" charset="0"/>
                            <a:cs typeface="Times New Roman" panose="02020603050405020304" pitchFamily="18" charset="0"/>
                          </a:rPr>
                        </m:ctrlPr>
                      </m:sSubPr>
                      <m:e>
                        <m:r>
                          <a:rPr lang="en-US" altLang="zh-CN" i="1">
                            <a:solidFill>
                              <a:srgbClr val="0000FF"/>
                            </a:solidFill>
                            <a:latin typeface="Cambria Math"/>
                            <a:cs typeface="Times New Roman" panose="02020603050405020304" pitchFamily="18" charset="0"/>
                          </a:rPr>
                          <m:t>𝐶</m:t>
                        </m:r>
                      </m:e>
                      <m:sub>
                        <m:r>
                          <a:rPr lang="en-US" altLang="zh-CN" i="1">
                            <a:solidFill>
                              <a:srgbClr val="0000FF"/>
                            </a:solidFill>
                            <a:latin typeface="Cambria Math"/>
                            <a:cs typeface="Times New Roman" panose="02020603050405020304" pitchFamily="18" charset="0"/>
                          </a:rPr>
                          <m:t>𝑛</m:t>
                        </m:r>
                      </m:sub>
                    </m:sSub>
                    <m:r>
                      <a:rPr lang="en-US" altLang="zh-CN" i="1">
                        <a:solidFill>
                          <a:srgbClr val="0000FF"/>
                        </a:solidFill>
                        <a:latin typeface="Cambria Math"/>
                        <a:cs typeface="Times New Roman" panose="02020603050405020304" pitchFamily="18" charset="0"/>
                      </a:rPr>
                      <m:t>=</m:t>
                    </m:r>
                    <m:sSub>
                      <m:sSubPr>
                        <m:ctrlPr>
                          <a:rPr lang="en-US" altLang="zh-CN" i="1">
                            <a:solidFill>
                              <a:srgbClr val="0000FF"/>
                            </a:solidFill>
                            <a:latin typeface="Cambria Math" panose="02040503050406030204" pitchFamily="18" charset="0"/>
                            <a:cs typeface="Times New Roman" panose="02020603050405020304" pitchFamily="18" charset="0"/>
                          </a:rPr>
                        </m:ctrlPr>
                      </m:sSubPr>
                      <m:e>
                        <m:r>
                          <a:rPr lang="en-US" altLang="zh-CN" i="1">
                            <a:solidFill>
                              <a:srgbClr val="0000FF"/>
                            </a:solidFill>
                            <a:latin typeface="Cambria Math"/>
                            <a:cs typeface="Times New Roman" panose="02020603050405020304" pitchFamily="18" charset="0"/>
                          </a:rPr>
                          <m:t>𝐸</m:t>
                        </m:r>
                      </m:e>
                      <m:sub>
                        <m:r>
                          <a:rPr lang="en-US" altLang="zh-CN" i="1">
                            <a:solidFill>
                              <a:srgbClr val="0000FF"/>
                            </a:solidFill>
                            <a:latin typeface="Cambria Math"/>
                            <a:cs typeface="Times New Roman" panose="02020603050405020304" pitchFamily="18" charset="0"/>
                          </a:rPr>
                          <m:t>𝐾</m:t>
                        </m:r>
                      </m:sub>
                    </m:sSub>
                    <m:d>
                      <m:dPr>
                        <m:ctrlPr>
                          <a:rPr lang="en-US" altLang="zh-CN" i="1" dirty="0">
                            <a:solidFill>
                              <a:srgbClr val="0000FF"/>
                            </a:solidFill>
                            <a:latin typeface="Cambria Math" panose="02040503050406030204" pitchFamily="18" charset="0"/>
                            <a:cs typeface="Times New Roman" panose="02020603050405020304" pitchFamily="18" charset="0"/>
                          </a:rPr>
                        </m:ctrlPr>
                      </m:dPr>
                      <m:e>
                        <m:sSub>
                          <m:sSubPr>
                            <m:ctrlPr>
                              <a:rPr lang="en-US" altLang="zh-CN" i="1" dirty="0">
                                <a:solidFill>
                                  <a:srgbClr val="0000FF"/>
                                </a:solidFill>
                                <a:latin typeface="Cambria Math" panose="02040503050406030204" pitchFamily="18" charset="0"/>
                                <a:cs typeface="Times New Roman" panose="02020603050405020304" pitchFamily="18" charset="0"/>
                              </a:rPr>
                            </m:ctrlPr>
                          </m:sSubPr>
                          <m:e>
                            <m:sSub>
                              <m:sSubPr>
                                <m:ctrlPr>
                                  <a:rPr lang="en-US" altLang="zh-CN" i="1" dirty="0">
                                    <a:solidFill>
                                      <a:srgbClr val="0000FF"/>
                                    </a:solidFill>
                                    <a:latin typeface="Cambria Math" panose="02040503050406030204" pitchFamily="18" charset="0"/>
                                    <a:cs typeface="Times New Roman" panose="02020603050405020304" pitchFamily="18" charset="0"/>
                                  </a:rPr>
                                </m:ctrlPr>
                              </m:sSubPr>
                              <m:e>
                                <m:r>
                                  <a:rPr lang="en-US" altLang="zh-CN" i="1" dirty="0">
                                    <a:solidFill>
                                      <a:srgbClr val="0000FF"/>
                                    </a:solidFill>
                                    <a:latin typeface="Cambria Math"/>
                                    <a:cs typeface="Times New Roman" panose="02020603050405020304" pitchFamily="18" charset="0"/>
                                  </a:rPr>
                                  <m:t>𝑀</m:t>
                                </m:r>
                              </m:e>
                              <m:sub>
                                <m:r>
                                  <a:rPr lang="en-US" altLang="zh-CN" i="1" dirty="0">
                                    <a:solidFill>
                                      <a:srgbClr val="0000FF"/>
                                    </a:solidFill>
                                    <a:latin typeface="Cambria Math"/>
                                    <a:cs typeface="Times New Roman" panose="02020603050405020304" pitchFamily="18" charset="0"/>
                                  </a:rPr>
                                  <m:t>𝑛</m:t>
                                </m:r>
                              </m:sub>
                            </m:sSub>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solidFill>
                                  <a:srgbClr val="0000FF"/>
                                </a:solidFill>
                                <a:latin typeface="Cambria Math"/>
                                <a:ea typeface="Cambria Math" panose="02040503050406030204" pitchFamily="18" charset="0"/>
                                <a:cs typeface="Times New Roman" panose="02020603050405020304" pitchFamily="18" charset="0"/>
                              </a:rPr>
                              <m:t>𝐶</m:t>
                            </m:r>
                          </m:e>
                          <m:sub>
                            <m:r>
                              <a:rPr lang="en-US" altLang="zh-CN" i="1" dirty="0">
                                <a:solidFill>
                                  <a:srgbClr val="0000FF"/>
                                </a:solidFill>
                                <a:latin typeface="Cambria Math"/>
                                <a:ea typeface="Cambria Math" panose="02040503050406030204" pitchFamily="18" charset="0"/>
                                <a:cs typeface="Times New Roman" panose="02020603050405020304" pitchFamily="18" charset="0"/>
                              </a:rPr>
                              <m:t>𝑛</m:t>
                            </m:r>
                            <m:r>
                              <a:rPr lang="en-US" altLang="zh-CN" i="1" dirty="0">
                                <a:solidFill>
                                  <a:srgbClr val="0000FF"/>
                                </a:solidFill>
                                <a:latin typeface="Cambria Math" panose="02040503050406030204" pitchFamily="18" charset="0"/>
                                <a:cs typeface="Times New Roman" panose="02020603050405020304" pitchFamily="18" charset="0"/>
                              </a:rPr>
                              <m:t>−1</m:t>
                            </m:r>
                          </m:sub>
                        </m:sSub>
                        <m:r>
                          <a:rPr lang="en-US" altLang="zh-CN" i="1" dirty="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dirty="0">
                                <a:solidFill>
                                  <a:srgbClr val="FF0000"/>
                                </a:solidFill>
                                <a:latin typeface="Cambria Math"/>
                                <a:ea typeface="Cambria Math" panose="02040503050406030204" pitchFamily="18" charset="0"/>
                                <a:cs typeface="Times New Roman" panose="02020603050405020304" pitchFamily="18" charset="0"/>
                              </a:rPr>
                              <m:t>𝐾</m:t>
                            </m:r>
                          </m:e>
                          <m:sub>
                            <m:r>
                              <a:rPr lang="en-US" altLang="zh-CN" i="1" dirty="0">
                                <a:solidFill>
                                  <a:srgbClr val="FF0000"/>
                                </a:solidFill>
                                <a:latin typeface="Cambria Math"/>
                                <a:ea typeface="Cambria Math" panose="02040503050406030204" pitchFamily="18" charset="0"/>
                                <a:cs typeface="Times New Roman" panose="02020603050405020304" pitchFamily="18" charset="0"/>
                              </a:rPr>
                              <m:t>2</m:t>
                            </m:r>
                          </m:sub>
                        </m:sSub>
                      </m:e>
                    </m:d>
                  </m:oMath>
                </a14:m>
                <a:endParaRPr lang="en-US" altLang="zh-CN" dirty="0">
                  <a:solidFill>
                    <a:srgbClr val="0000FF"/>
                  </a:solidFill>
                  <a:latin typeface="Times New Roman" panose="02020603050405020304" pitchFamily="18" charset="0"/>
                  <a:cs typeface="Times New Roman" panose="02020603050405020304" pitchFamily="18" charset="0"/>
                </a:endParaRPr>
              </a:p>
              <a:p>
                <a:pPr marL="457200" lvl="2" algn="just">
                  <a:lnSpc>
                    <a:spcPct val="130000"/>
                  </a:lnSpc>
                  <a:spcBef>
                    <a:spcPts val="600"/>
                  </a:spcBef>
                </a:pPr>
                <a:r>
                  <a:rPr lang="zh-CN" altLang="en-US" sz="1600" dirty="0">
                    <a:solidFill>
                      <a:prstClr val="black"/>
                    </a:solidFill>
                    <a:cs typeface="Times New Roman" panose="02020603050405020304" pitchFamily="18" charset="0"/>
                  </a:rPr>
                  <a:t>其中</a:t>
                </a:r>
                <a14:m>
                  <m:oMath xmlns:m="http://schemas.openxmlformats.org/officeDocument/2006/math">
                    <m:r>
                      <a:rPr lang="zh-CN" altLang="en-US" sz="1600" i="1" dirty="0">
                        <a:solidFill>
                          <a:prstClr val="black"/>
                        </a:solidFill>
                        <a:latin typeface="Cambria Math" panose="02040503050406030204" pitchFamily="18" charset="0"/>
                        <a:cs typeface="Times New Roman" panose="02020603050405020304" pitchFamily="18" charset="0"/>
                      </a:rPr>
                      <m:t>：</m:t>
                    </m:r>
                    <m:r>
                      <a:rPr lang="en-US" altLang="zh-CN" sz="1600" b="0" i="1" dirty="0" smtClean="0">
                        <a:solidFill>
                          <a:prstClr val="black"/>
                        </a:solidFill>
                        <a:latin typeface="Cambria Math" panose="02040503050406030204" pitchFamily="18" charset="0"/>
                        <a:cs typeface="Times New Roman" panose="02020603050405020304" pitchFamily="18" charset="0"/>
                      </a:rPr>
                      <m:t> </m:t>
                    </m:r>
                    <m:r>
                      <a:rPr lang="en-US" altLang="zh-CN" sz="1600" i="1" dirty="0">
                        <a:solidFill>
                          <a:prstClr val="black"/>
                        </a:solidFill>
                        <a:latin typeface="Cambria Math"/>
                        <a:cs typeface="Times New Roman" panose="02020603050405020304" pitchFamily="18" charset="0"/>
                      </a:rPr>
                      <m:t>𝐾</m:t>
                    </m:r>
                    <m:r>
                      <a:rPr lang="en-US" altLang="zh-CN" sz="1600" i="1" dirty="0">
                        <a:solidFill>
                          <a:prstClr val="black"/>
                        </a:solidFill>
                        <a:latin typeface="Cambria Math"/>
                        <a:cs typeface="Times New Roman" panose="02020603050405020304" pitchFamily="18" charset="0"/>
                      </a:rPr>
                      <m:t> </m:t>
                    </m:r>
                  </m:oMath>
                </a14:m>
                <a:r>
                  <a:rPr lang="zh-CN" altLang="en-US" sz="1600" dirty="0">
                    <a:solidFill>
                      <a:prstClr val="black"/>
                    </a:solidFill>
                    <a:latin typeface="Times New Roman" panose="02020603050405020304" pitchFamily="18" charset="0"/>
                    <a:cs typeface="Times New Roman" panose="02020603050405020304" pitchFamily="18" charset="0"/>
                  </a:rPr>
                  <a:t>：</a:t>
                </a:r>
                <a14:m>
                  <m:oMath xmlns:m="http://schemas.openxmlformats.org/officeDocument/2006/math">
                    <m:r>
                      <a:rPr lang="en-US" altLang="zh-CN" sz="1600" i="1" dirty="0">
                        <a:solidFill>
                          <a:prstClr val="black"/>
                        </a:solidFill>
                        <a:latin typeface="Cambria Math"/>
                        <a:cs typeface="Times New Roman" panose="02020603050405020304" pitchFamily="18" charset="0"/>
                      </a:rPr>
                      <m:t>𝑘</m:t>
                    </m:r>
                  </m:oMath>
                </a14:m>
                <a:r>
                  <a:rPr lang="zh-CN" altLang="en-US" sz="1600" dirty="0">
                    <a:solidFill>
                      <a:prstClr val="black"/>
                    </a:solidFill>
                    <a:latin typeface="Times New Roman" panose="02020603050405020304" pitchFamily="18" charset="0"/>
                    <a:cs typeface="Times New Roman" panose="02020603050405020304" pitchFamily="18" charset="0"/>
                  </a:rPr>
                  <a:t> 比特加密密钥；</a:t>
                </a:r>
                <a:r>
                  <a:rPr lang="en-US" altLang="zh-CN" sz="1600" dirty="0">
                    <a:solidFill>
                      <a:prstClr val="black"/>
                    </a:solidFill>
                    <a:cs typeface="Times New Roman" panose="02020603050405020304" pitchFamily="18" charset="0"/>
                  </a:rPr>
                  <a:t> </a:t>
                </a:r>
                <a14:m>
                  <m:oMath xmlns:m="http://schemas.openxmlformats.org/officeDocument/2006/math">
                    <m:r>
                      <a:rPr lang="en-US" altLang="zh-CN" sz="1600" i="1" smtClean="0">
                        <a:solidFill>
                          <a:prstClr val="black"/>
                        </a:solidFill>
                        <a:latin typeface="Cambria Math"/>
                        <a:cs typeface="Times New Roman" panose="02020603050405020304" pitchFamily="18" charset="0"/>
                      </a:rPr>
                      <m:t>𝑇</m:t>
                    </m:r>
                  </m:oMath>
                </a14:m>
                <a:r>
                  <a:rPr lang="zh-CN" altLang="en-US" sz="1600" dirty="0">
                    <a:solidFill>
                      <a:prstClr val="black"/>
                    </a:solidFill>
                    <a:latin typeface="Times New Roman" panose="02020603050405020304" pitchFamily="18" charset="0"/>
                    <a:cs typeface="Times New Roman" panose="02020603050405020304" pitchFamily="18" charset="0"/>
                  </a:rPr>
                  <a:t>：消息认证码</a:t>
                </a:r>
                <a14:m>
                  <m:oMath xmlns:m="http://schemas.openxmlformats.org/officeDocument/2006/math">
                    <m:r>
                      <a:rPr lang="zh-CN" altLang="en-US" sz="1600" i="1" smtClean="0">
                        <a:solidFill>
                          <a:prstClr val="black"/>
                        </a:solidFill>
                        <a:latin typeface="Cambria Math"/>
                        <a:cs typeface="Times New Roman" panose="02020603050405020304" pitchFamily="18" charset="0"/>
                      </a:rPr>
                      <m:t>；</m:t>
                    </m:r>
                    <m:r>
                      <a:rPr lang="en-US" altLang="zh-CN" sz="1600" i="1" smtClean="0">
                        <a:solidFill>
                          <a:prstClr val="black"/>
                        </a:solidFill>
                        <a:latin typeface="Cambria Math"/>
                        <a:cs typeface="Times New Roman" panose="02020603050405020304" pitchFamily="18" charset="0"/>
                      </a:rPr>
                      <m:t>𝑀𝑆</m:t>
                    </m:r>
                    <m:sSub>
                      <m:sSubPr>
                        <m:ctrlPr>
                          <a:rPr lang="en-US" altLang="zh-CN" sz="1600" i="1">
                            <a:solidFill>
                              <a:prstClr val="black"/>
                            </a:solidFill>
                            <a:latin typeface="Cambria Math" panose="02040503050406030204" pitchFamily="18" charset="0"/>
                            <a:cs typeface="Times New Roman" panose="02020603050405020304" pitchFamily="18" charset="0"/>
                          </a:rPr>
                        </m:ctrlPr>
                      </m:sSubPr>
                      <m:e>
                        <m:r>
                          <a:rPr lang="en-US" altLang="zh-CN" sz="1600" i="1">
                            <a:solidFill>
                              <a:prstClr val="black"/>
                            </a:solidFill>
                            <a:latin typeface="Cambria Math"/>
                            <a:cs typeface="Times New Roman" panose="02020603050405020304" pitchFamily="18" charset="0"/>
                          </a:rPr>
                          <m:t>𝐵</m:t>
                        </m:r>
                      </m:e>
                      <m:sub>
                        <m:r>
                          <a:rPr lang="en-US" altLang="zh-CN" sz="1600" i="1" smtClean="0">
                            <a:solidFill>
                              <a:prstClr val="black"/>
                            </a:solidFill>
                            <a:latin typeface="Cambria Math"/>
                            <a:cs typeface="Times New Roman" panose="02020603050405020304" pitchFamily="18" charset="0"/>
                          </a:rPr>
                          <m:t>𝑠</m:t>
                        </m:r>
                      </m:sub>
                    </m:sSub>
                    <m:d>
                      <m:dPr>
                        <m:ctrlPr>
                          <a:rPr lang="en-US" altLang="zh-CN" sz="1600" i="1">
                            <a:solidFill>
                              <a:prstClr val="black"/>
                            </a:solidFill>
                            <a:latin typeface="Cambria Math" panose="02040503050406030204" pitchFamily="18" charset="0"/>
                            <a:cs typeface="Times New Roman" panose="02020603050405020304" pitchFamily="18" charset="0"/>
                          </a:rPr>
                        </m:ctrlPr>
                      </m:dPr>
                      <m:e>
                        <m:r>
                          <a:rPr lang="en-US" altLang="zh-CN" sz="1600" i="1" smtClean="0">
                            <a:solidFill>
                              <a:prstClr val="black"/>
                            </a:solidFill>
                            <a:latin typeface="Cambria Math"/>
                            <a:cs typeface="Times New Roman" panose="02020603050405020304" pitchFamily="18" charset="0"/>
                          </a:rPr>
                          <m:t>𝑋</m:t>
                        </m:r>
                      </m:e>
                    </m:d>
                  </m:oMath>
                </a14:m>
                <a:r>
                  <a:rPr lang="zh-CN" altLang="en-US" sz="1600" dirty="0">
                    <a:solidFill>
                      <a:prstClr val="black"/>
                    </a:solidFill>
                    <a:latin typeface="Times New Roman" panose="02020603050405020304" pitchFamily="18" charset="0"/>
                    <a:cs typeface="Times New Roman" panose="02020603050405020304" pitchFamily="18" charset="0"/>
                  </a:rPr>
                  <a:t>：比特串</a:t>
                </a:r>
                <a14:m>
                  <m:oMath xmlns:m="http://schemas.openxmlformats.org/officeDocument/2006/math">
                    <m:r>
                      <a:rPr lang="en-US" altLang="zh-CN" sz="1600" b="0" i="0" smtClean="0">
                        <a:solidFill>
                          <a:prstClr val="black"/>
                        </a:solidFill>
                        <a:latin typeface="Cambria Math" panose="02040503050406030204" pitchFamily="18" charset="0"/>
                        <a:cs typeface="Times New Roman" panose="02020603050405020304" pitchFamily="18" charset="0"/>
                      </a:rPr>
                      <m:t> </m:t>
                    </m:r>
                    <m:r>
                      <a:rPr lang="en-US" altLang="zh-CN" sz="1600" i="1" smtClean="0">
                        <a:solidFill>
                          <a:prstClr val="black"/>
                        </a:solidFill>
                        <a:latin typeface="Cambria Math"/>
                        <a:cs typeface="Times New Roman" panose="02020603050405020304" pitchFamily="18" charset="0"/>
                      </a:rPr>
                      <m:t>𝑋</m:t>
                    </m:r>
                    <m:r>
                      <a:rPr lang="en-US" altLang="zh-CN" sz="1600" b="0" i="1" smtClean="0">
                        <a:solidFill>
                          <a:prstClr val="black"/>
                        </a:solidFill>
                        <a:latin typeface="Cambria Math" panose="02040503050406030204" pitchFamily="18" charset="0"/>
                        <a:cs typeface="Times New Roman" panose="02020603050405020304" pitchFamily="18" charset="0"/>
                      </a:rPr>
                      <m:t> </m:t>
                    </m:r>
                  </m:oMath>
                </a14:m>
                <a:r>
                  <a:rPr lang="zh-CN" altLang="en-US" sz="1600" dirty="0">
                    <a:solidFill>
                      <a:prstClr val="black"/>
                    </a:solidFill>
                    <a:latin typeface="Times New Roman" panose="02020603050405020304" pitchFamily="18" charset="0"/>
                    <a:cs typeface="Times New Roman" panose="02020603050405020304" pitchFamily="18" charset="0"/>
                  </a:rPr>
                  <a:t>的最左边</a:t>
                </a:r>
                <a14:m>
                  <m:oMath xmlns:m="http://schemas.openxmlformats.org/officeDocument/2006/math">
                    <m:r>
                      <a:rPr lang="en-US" altLang="zh-CN" sz="1600">
                        <a:solidFill>
                          <a:prstClr val="black"/>
                        </a:solidFill>
                        <a:latin typeface="Cambria Math" panose="02040503050406030204" pitchFamily="18" charset="0"/>
                        <a:cs typeface="Times New Roman" panose="02020603050405020304" pitchFamily="18" charset="0"/>
                      </a:rPr>
                      <m:t> </m:t>
                    </m:r>
                    <m:r>
                      <a:rPr lang="en-US" altLang="zh-CN" sz="1600">
                        <a:solidFill>
                          <a:prstClr val="black"/>
                        </a:solidFill>
                        <a:latin typeface="Cambria Math" panose="02040503050406030204" pitchFamily="18" charset="0"/>
                        <a:cs typeface="Times New Roman" panose="02020603050405020304" pitchFamily="18" charset="0"/>
                      </a:rPr>
                      <m:t>𝑆</m:t>
                    </m:r>
                    <m:r>
                      <a:rPr lang="en-US" altLang="zh-CN" sz="1600">
                        <a:solidFill>
                          <a:prstClr val="black"/>
                        </a:solidFill>
                        <a:latin typeface="Cambria Math" panose="02040503050406030204" pitchFamily="18" charset="0"/>
                        <a:cs typeface="Times New Roman" panose="02020603050405020304" pitchFamily="18" charset="0"/>
                      </a:rPr>
                      <m:t> </m:t>
                    </m:r>
                  </m:oMath>
                </a14:m>
                <a:r>
                  <a:rPr lang="zh-CN" altLang="en-US" sz="1600" dirty="0">
                    <a:solidFill>
                      <a:prstClr val="black"/>
                    </a:solidFill>
                    <a:latin typeface="Times New Roman" panose="02020603050405020304" pitchFamily="18" charset="0"/>
                    <a:cs typeface="Times New Roman" panose="02020603050405020304" pitchFamily="18" charset="0"/>
                  </a:rPr>
                  <a:t>比特；</a:t>
                </a:r>
                <a14:m>
                  <m:oMath xmlns:m="http://schemas.openxmlformats.org/officeDocument/2006/math">
                    <m:r>
                      <a:rPr lang="en-US" altLang="zh-CN" sz="1600">
                        <a:solidFill>
                          <a:prstClr val="black"/>
                        </a:solidFill>
                        <a:latin typeface="Cambria Math" panose="02040503050406030204" pitchFamily="18" charset="0"/>
                        <a:cs typeface="Times New Roman" panose="02020603050405020304" pitchFamily="18" charset="0"/>
                      </a:rPr>
                      <m:t>𝐿</m:t>
                    </m:r>
                    <m:r>
                      <a:rPr lang="en-US" altLang="zh-CN" sz="1600">
                        <a:solidFill>
                          <a:prstClr val="black"/>
                        </a:solidFill>
                        <a:latin typeface="Cambria Math" panose="02040503050406030204" pitchFamily="18" charset="0"/>
                        <a:cs typeface="Times New Roman" panose="02020603050405020304" pitchFamily="18" charset="0"/>
                      </a:rPr>
                      <m:t>=</m:t>
                    </m:r>
                    <m:sSub>
                      <m:sSubPr>
                        <m:ctrlPr>
                          <a:rPr lang="en-US" altLang="zh-CN" sz="1600" i="1">
                            <a:solidFill>
                              <a:prstClr val="black"/>
                            </a:solidFill>
                            <a:latin typeface="Cambria Math" panose="02040503050406030204" pitchFamily="18" charset="0"/>
                            <a:cs typeface="Times New Roman" panose="02020603050405020304" pitchFamily="18" charset="0"/>
                          </a:rPr>
                        </m:ctrlPr>
                      </m:sSubPr>
                      <m:e>
                        <m:r>
                          <a:rPr lang="en-US" altLang="zh-CN" sz="1600">
                            <a:solidFill>
                              <a:prstClr val="black"/>
                            </a:solidFill>
                            <a:latin typeface="Cambria Math" panose="02040503050406030204" pitchFamily="18" charset="0"/>
                            <a:cs typeface="Times New Roman" panose="02020603050405020304" pitchFamily="18" charset="0"/>
                          </a:rPr>
                          <m:t>𝐸</m:t>
                        </m:r>
                      </m:e>
                      <m:sub>
                        <m:r>
                          <a:rPr lang="en-US" altLang="zh-CN" sz="1600">
                            <a:solidFill>
                              <a:prstClr val="black"/>
                            </a:solidFill>
                            <a:latin typeface="Cambria Math" panose="02040503050406030204" pitchFamily="18" charset="0"/>
                            <a:cs typeface="Times New Roman" panose="02020603050405020304" pitchFamily="18" charset="0"/>
                          </a:rPr>
                          <m:t>𝐾</m:t>
                        </m:r>
                      </m:sub>
                    </m:sSub>
                    <m:d>
                      <m:dPr>
                        <m:ctrlPr>
                          <a:rPr lang="en-US" altLang="zh-CN" sz="1600" i="1">
                            <a:solidFill>
                              <a:prstClr val="black"/>
                            </a:solidFill>
                            <a:latin typeface="Cambria Math" panose="02040503050406030204" pitchFamily="18" charset="0"/>
                            <a:cs typeface="Times New Roman" panose="02020603050405020304" pitchFamily="18" charset="0"/>
                          </a:rPr>
                        </m:ctrlPr>
                      </m:dPr>
                      <m:e>
                        <m:sSup>
                          <m:sSupPr>
                            <m:ctrlPr>
                              <a:rPr lang="en-US" altLang="zh-CN" sz="1600" i="1">
                                <a:solidFill>
                                  <a:prstClr val="black"/>
                                </a:solidFill>
                                <a:latin typeface="Cambria Math" panose="02040503050406030204" pitchFamily="18" charset="0"/>
                                <a:cs typeface="Times New Roman" panose="02020603050405020304" pitchFamily="18" charset="0"/>
                              </a:rPr>
                            </m:ctrlPr>
                          </m:sSupPr>
                          <m:e>
                            <m:r>
                              <a:rPr lang="en-US" altLang="zh-CN" sz="1600">
                                <a:solidFill>
                                  <a:prstClr val="black"/>
                                </a:solidFill>
                                <a:latin typeface="Cambria Math" panose="02040503050406030204" pitchFamily="18" charset="0"/>
                                <a:cs typeface="Times New Roman" panose="02020603050405020304" pitchFamily="18" charset="0"/>
                              </a:rPr>
                              <m:t>0</m:t>
                            </m:r>
                          </m:e>
                          <m:sup>
                            <m:r>
                              <a:rPr lang="en-US" altLang="zh-CN" sz="1600">
                                <a:solidFill>
                                  <a:prstClr val="black"/>
                                </a:solidFill>
                                <a:latin typeface="Cambria Math" panose="02040503050406030204" pitchFamily="18" charset="0"/>
                                <a:cs typeface="Times New Roman" panose="02020603050405020304" pitchFamily="18" charset="0"/>
                              </a:rPr>
                              <m:t>𝑛</m:t>
                            </m:r>
                          </m:sup>
                        </m:sSup>
                      </m:e>
                    </m:d>
                  </m:oMath>
                </a14:m>
                <a:r>
                  <a:rPr lang="zh-CN" altLang="en-US" sz="1600" dirty="0">
                    <a:solidFill>
                      <a:prstClr val="black"/>
                    </a:solidFill>
                    <a:latin typeface="Times New Roman" panose="02020603050405020304" pitchFamily="18" charset="0"/>
                    <a:cs typeface="Times New Roman" panose="02020603050405020304" pitchFamily="18" charset="0"/>
                  </a:rPr>
                  <a:t>；</a:t>
                </a:r>
                <a14:m>
                  <m:oMath xmlns:m="http://schemas.openxmlformats.org/officeDocument/2006/math">
                    <m:r>
                      <a:rPr lang="en-US" altLang="zh-CN" sz="1600" i="1">
                        <a:latin typeface="Cambria Math" panose="02040503050406030204" pitchFamily="18" charset="0"/>
                        <a:cs typeface="Times New Roman" panose="02020603050405020304" pitchFamily="18" charset="0"/>
                      </a:rPr>
                      <m:t>𝑥</m:t>
                    </m:r>
                    <m:r>
                      <a:rPr lang="en-US" altLang="zh-CN" sz="1600" i="1">
                        <a:latin typeface="Cambria Math" panose="02040503050406030204" pitchFamily="18" charset="0"/>
                        <a:cs typeface="Times New Roman" panose="02020603050405020304" pitchFamily="18" charset="0"/>
                      </a:rPr>
                      <m:t>=00⋯0∥10</m:t>
                    </m:r>
                  </m:oMath>
                </a14:m>
                <a:r>
                  <a:rPr lang="zh-CN" altLang="en-US" sz="16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1600" i="1">
                            <a:solidFill>
                              <a:prstClr val="black"/>
                            </a:solidFill>
                            <a:latin typeface="Cambria Math" panose="02040503050406030204" pitchFamily="18" charset="0"/>
                            <a:cs typeface="Times New Roman" panose="02020603050405020304" pitchFamily="18" charset="0"/>
                          </a:rPr>
                        </m:ctrlPr>
                      </m:sSubPr>
                      <m:e>
                        <m:r>
                          <a:rPr lang="en-US" altLang="zh-CN" sz="1600">
                            <a:solidFill>
                              <a:prstClr val="black"/>
                            </a:solidFill>
                            <a:latin typeface="Cambria Math" panose="02040503050406030204" pitchFamily="18" charset="0"/>
                            <a:cs typeface="Times New Roman" panose="02020603050405020304" pitchFamily="18" charset="0"/>
                          </a:rPr>
                          <m:t>𝐾</m:t>
                        </m:r>
                      </m:e>
                      <m:sub>
                        <m:r>
                          <a:rPr lang="en-US" altLang="zh-CN" sz="1600">
                            <a:solidFill>
                              <a:prstClr val="black"/>
                            </a:solidFill>
                            <a:latin typeface="Cambria Math" panose="02040503050406030204" pitchFamily="18" charset="0"/>
                            <a:cs typeface="Times New Roman" panose="02020603050405020304" pitchFamily="18" charset="0"/>
                          </a:rPr>
                          <m:t>1</m:t>
                        </m:r>
                      </m:sub>
                    </m:sSub>
                    <m:r>
                      <a:rPr lang="en-US" altLang="zh-CN" sz="1600">
                        <a:solidFill>
                          <a:prstClr val="black"/>
                        </a:solidFill>
                        <a:latin typeface="Cambria Math" panose="02040503050406030204" pitchFamily="18" charset="0"/>
                        <a:cs typeface="Times New Roman" panose="02020603050405020304" pitchFamily="18" charset="0"/>
                      </a:rPr>
                      <m:t>=</m:t>
                    </m:r>
                    <m:r>
                      <a:rPr lang="en-US" altLang="zh-CN" sz="1600">
                        <a:solidFill>
                          <a:prstClr val="black"/>
                        </a:solidFill>
                        <a:latin typeface="Cambria Math" panose="02040503050406030204" pitchFamily="18" charset="0"/>
                        <a:cs typeface="Times New Roman" panose="02020603050405020304" pitchFamily="18" charset="0"/>
                      </a:rPr>
                      <m:t>𝐿</m:t>
                    </m:r>
                    <m:r>
                      <a:rPr lang="en-US" altLang="zh-CN" sz="1600">
                        <a:solidFill>
                          <a:prstClr val="black"/>
                        </a:solidFill>
                        <a:latin typeface="Cambria Math" panose="02040503050406030204" pitchFamily="18" charset="0"/>
                        <a:cs typeface="Times New Roman" panose="02020603050405020304" pitchFamily="18" charset="0"/>
                      </a:rPr>
                      <m:t>⋅</m:t>
                    </m:r>
                    <m:r>
                      <a:rPr lang="en-US" altLang="zh-CN" sz="1600">
                        <a:solidFill>
                          <a:prstClr val="black"/>
                        </a:solidFill>
                        <a:latin typeface="Cambria Math" panose="02040503050406030204" pitchFamily="18" charset="0"/>
                        <a:cs typeface="Times New Roman" panose="02020603050405020304" pitchFamily="18" charset="0"/>
                      </a:rPr>
                      <m:t>𝑥</m:t>
                    </m:r>
                    <m:r>
                      <a:rPr lang="zh-CN" altLang="en-US" sz="1600">
                        <a:solidFill>
                          <a:prstClr val="black"/>
                        </a:solidFill>
                        <a:latin typeface="Cambria Math" panose="02040503050406030204" pitchFamily="18" charset="0"/>
                        <a:cs typeface="Times New Roman" panose="02020603050405020304" pitchFamily="18" charset="0"/>
                      </a:rPr>
                      <m:t>；</m:t>
                    </m:r>
                    <m:sSub>
                      <m:sSubPr>
                        <m:ctrlPr>
                          <a:rPr lang="en-US" altLang="zh-CN" sz="1600" i="1">
                            <a:solidFill>
                              <a:prstClr val="black"/>
                            </a:solidFill>
                            <a:latin typeface="Cambria Math" panose="02040503050406030204" pitchFamily="18" charset="0"/>
                            <a:cs typeface="Times New Roman" panose="02020603050405020304" pitchFamily="18" charset="0"/>
                          </a:rPr>
                        </m:ctrlPr>
                      </m:sSubPr>
                      <m:e>
                        <m:r>
                          <a:rPr lang="en-US" altLang="zh-CN" sz="1600">
                            <a:solidFill>
                              <a:prstClr val="black"/>
                            </a:solidFill>
                            <a:latin typeface="Cambria Math" panose="02040503050406030204" pitchFamily="18" charset="0"/>
                            <a:cs typeface="Times New Roman" panose="02020603050405020304" pitchFamily="18" charset="0"/>
                          </a:rPr>
                          <m:t>𝐾</m:t>
                        </m:r>
                      </m:e>
                      <m:sub>
                        <m:r>
                          <a:rPr lang="en-US" altLang="zh-CN" sz="1600">
                            <a:solidFill>
                              <a:prstClr val="black"/>
                            </a:solidFill>
                            <a:latin typeface="Cambria Math" panose="02040503050406030204" pitchFamily="18" charset="0"/>
                            <a:cs typeface="Times New Roman" panose="02020603050405020304" pitchFamily="18" charset="0"/>
                          </a:rPr>
                          <m:t>2</m:t>
                        </m:r>
                      </m:sub>
                    </m:sSub>
                    <m:r>
                      <a:rPr lang="en-US" altLang="zh-CN" sz="1600">
                        <a:solidFill>
                          <a:prstClr val="black"/>
                        </a:solidFill>
                        <a:latin typeface="Cambria Math" panose="02040503050406030204" pitchFamily="18" charset="0"/>
                        <a:cs typeface="Times New Roman" panose="02020603050405020304" pitchFamily="18" charset="0"/>
                      </a:rPr>
                      <m:t>=</m:t>
                    </m:r>
                    <m:r>
                      <a:rPr lang="en-US" altLang="zh-CN" sz="1600">
                        <a:solidFill>
                          <a:prstClr val="black"/>
                        </a:solidFill>
                        <a:latin typeface="Cambria Math" panose="02040503050406030204" pitchFamily="18" charset="0"/>
                        <a:cs typeface="Times New Roman" panose="02020603050405020304" pitchFamily="18" charset="0"/>
                      </a:rPr>
                      <m:t>𝐿</m:t>
                    </m:r>
                    <m:r>
                      <a:rPr lang="en-US" altLang="zh-CN" sz="1600">
                        <a:solidFill>
                          <a:prstClr val="black"/>
                        </a:solidFill>
                        <a:latin typeface="Cambria Math" panose="02040503050406030204" pitchFamily="18" charset="0"/>
                        <a:cs typeface="Times New Roman" panose="02020603050405020304" pitchFamily="18" charset="0"/>
                      </a:rPr>
                      <m:t>⋅</m:t>
                    </m:r>
                    <m:sSup>
                      <m:sSupPr>
                        <m:ctrlPr>
                          <a:rPr lang="en-US" altLang="zh-CN" sz="1600" i="1">
                            <a:solidFill>
                              <a:prstClr val="black"/>
                            </a:solidFill>
                            <a:latin typeface="Cambria Math" panose="02040503050406030204" pitchFamily="18" charset="0"/>
                            <a:cs typeface="Times New Roman" panose="02020603050405020304" pitchFamily="18" charset="0"/>
                          </a:rPr>
                        </m:ctrlPr>
                      </m:sSupPr>
                      <m:e>
                        <m:r>
                          <a:rPr lang="en-US" altLang="zh-CN" sz="1600">
                            <a:solidFill>
                              <a:prstClr val="black"/>
                            </a:solidFill>
                            <a:latin typeface="Cambria Math" panose="02040503050406030204" pitchFamily="18" charset="0"/>
                            <a:cs typeface="Times New Roman" panose="02020603050405020304" pitchFamily="18" charset="0"/>
                          </a:rPr>
                          <m:t>𝑥</m:t>
                        </m:r>
                      </m:e>
                      <m:sup>
                        <m:r>
                          <a:rPr lang="en-US" altLang="zh-CN" sz="1600">
                            <a:solidFill>
                              <a:prstClr val="black"/>
                            </a:solidFill>
                            <a:latin typeface="Cambria Math" panose="02040503050406030204" pitchFamily="18" charset="0"/>
                            <a:cs typeface="Times New Roman" panose="02020603050405020304" pitchFamily="18" charset="0"/>
                          </a:rPr>
                          <m:t>2</m:t>
                        </m:r>
                      </m:sup>
                    </m:sSup>
                    <m:r>
                      <a:rPr lang="en-US" altLang="zh-CN" sz="1600">
                        <a:solidFill>
                          <a:prstClr val="black"/>
                        </a:solidFill>
                        <a:latin typeface="Cambria Math" panose="02040503050406030204" pitchFamily="18" charset="0"/>
                        <a:cs typeface="Times New Roman" panose="02020603050405020304" pitchFamily="18" charset="0"/>
                      </a:rPr>
                      <m:t>=(</m:t>
                    </m:r>
                    <m:r>
                      <a:rPr lang="en-US" altLang="zh-CN" sz="1600">
                        <a:solidFill>
                          <a:prstClr val="black"/>
                        </a:solidFill>
                        <a:latin typeface="Cambria Math" panose="02040503050406030204" pitchFamily="18" charset="0"/>
                        <a:cs typeface="Times New Roman" panose="02020603050405020304" pitchFamily="18" charset="0"/>
                      </a:rPr>
                      <m:t>𝐿</m:t>
                    </m:r>
                    <m:r>
                      <a:rPr lang="en-US" altLang="zh-CN" sz="1600">
                        <a:solidFill>
                          <a:prstClr val="black"/>
                        </a:solidFill>
                        <a:latin typeface="Cambria Math" panose="02040503050406030204" pitchFamily="18" charset="0"/>
                        <a:cs typeface="Times New Roman" panose="02020603050405020304" pitchFamily="18" charset="0"/>
                      </a:rPr>
                      <m:t>⋅</m:t>
                    </m:r>
                    <m:r>
                      <a:rPr lang="en-US" altLang="zh-CN" sz="1600">
                        <a:solidFill>
                          <a:prstClr val="black"/>
                        </a:solidFill>
                        <a:latin typeface="Cambria Math" panose="02040503050406030204" pitchFamily="18" charset="0"/>
                        <a:cs typeface="Times New Roman" panose="02020603050405020304" pitchFamily="18" charset="0"/>
                      </a:rPr>
                      <m:t>𝑥</m:t>
                    </m:r>
                  </m:oMath>
                </a14:m>
                <a:r>
                  <a:rPr lang="en-US" altLang="zh-CN" sz="1600" dirty="0">
                    <a:solidFill>
                      <a:prstClr val="black"/>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600">
                        <a:solidFill>
                          <a:prstClr val="black"/>
                        </a:solidFill>
                        <a:latin typeface="Cambria Math" panose="02040503050406030204" pitchFamily="18" charset="0"/>
                        <a:cs typeface="Times New Roman" panose="02020603050405020304" pitchFamily="18" charset="0"/>
                      </a:rPr>
                      <m:t>⋅</m:t>
                    </m:r>
                    <m:r>
                      <a:rPr lang="en-US" altLang="zh-CN" sz="1600">
                        <a:solidFill>
                          <a:prstClr val="black"/>
                        </a:solidFill>
                        <a:latin typeface="Cambria Math" panose="02040503050406030204" pitchFamily="18" charset="0"/>
                        <a:cs typeface="Times New Roman" panose="02020603050405020304" pitchFamily="18" charset="0"/>
                      </a:rPr>
                      <m:t>𝑥</m:t>
                    </m:r>
                  </m:oMath>
                </a14:m>
                <a:r>
                  <a:rPr lang="zh-CN" altLang="en-US" sz="1600" dirty="0">
                    <a:solidFill>
                      <a:prstClr val="black"/>
                    </a:solidFill>
                    <a:latin typeface="Times New Roman" panose="02020603050405020304" pitchFamily="18" charset="0"/>
                    <a:cs typeface="Times New Roman" panose="02020603050405020304" pitchFamily="18" charset="0"/>
                  </a:rPr>
                  <a:t>；这里 </a:t>
                </a:r>
                <a14:m>
                  <m:oMath xmlns:m="http://schemas.openxmlformats.org/officeDocument/2006/math">
                    <m:r>
                      <a:rPr lang="en-US" altLang="zh-CN" sz="1600">
                        <a:solidFill>
                          <a:prstClr val="black"/>
                        </a:solidFill>
                        <a:latin typeface="Cambria Math" panose="02040503050406030204" pitchFamily="18" charset="0"/>
                        <a:cs typeface="Times New Roman" panose="02020603050405020304" pitchFamily="18" charset="0"/>
                      </a:rPr>
                      <m:t>⋅</m:t>
                    </m:r>
                  </m:oMath>
                </a14:m>
                <a:r>
                  <a:rPr lang="en-US" altLang="zh-CN" sz="1600" dirty="0">
                    <a:solidFill>
                      <a:prstClr val="black"/>
                    </a:solidFill>
                    <a:latin typeface="Times New Roman" panose="02020603050405020304" pitchFamily="18" charset="0"/>
                    <a:cs typeface="Times New Roman" panose="02020603050405020304" pitchFamily="18" charset="0"/>
                  </a:rPr>
                  <a:t> </a:t>
                </a:r>
                <a:r>
                  <a:rPr lang="zh-CN" altLang="en-US" sz="1600" dirty="0">
                    <a:solidFill>
                      <a:prstClr val="black"/>
                    </a:solidFill>
                    <a:latin typeface="Times New Roman" panose="02020603050405020304" pitchFamily="18" charset="0"/>
                    <a:cs typeface="Times New Roman" panose="02020603050405020304" pitchFamily="18" charset="0"/>
                  </a:rPr>
                  <a:t>表示有限域 </a:t>
                </a:r>
                <a:r>
                  <a:rPr lang="en-US" altLang="zh-CN" sz="1600" dirty="0">
                    <a:solidFill>
                      <a:prstClr val="black"/>
                    </a:solidFill>
                    <a:latin typeface="Times New Roman" panose="02020603050405020304" pitchFamily="18" charset="0"/>
                    <a:cs typeface="Times New Roman" panose="02020603050405020304" pitchFamily="18" charset="0"/>
                  </a:rPr>
                  <a:t>GF(2^n) </a:t>
                </a:r>
                <a:r>
                  <a:rPr lang="zh-CN" altLang="en-US" sz="1600" dirty="0">
                    <a:solidFill>
                      <a:prstClr val="black"/>
                    </a:solidFill>
                    <a:latin typeface="Times New Roman" panose="02020603050405020304" pitchFamily="18" charset="0"/>
                    <a:cs typeface="Times New Roman" panose="02020603050405020304" pitchFamily="18" charset="0"/>
                  </a:rPr>
                  <a:t>上的乘法</a:t>
                </a:r>
                <a:endParaRPr lang="en-US" altLang="zh-CN" sz="1600" dirty="0">
                  <a:solidFill>
                    <a:prstClr val="black"/>
                  </a:solidFill>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E4C51DE6-60B1-EE44-2A57-B42419475092}"/>
                  </a:ext>
                </a:extLst>
              </p:cNvPr>
              <p:cNvSpPr txBox="1">
                <a:spLocks noRot="1" noChangeAspect="1" noMove="1" noResize="1" noEditPoints="1" noAdjustHandles="1" noChangeArrowheads="1" noChangeShapeType="1" noTextEdit="1"/>
              </p:cNvSpPr>
              <p:nvPr/>
            </p:nvSpPr>
            <p:spPr>
              <a:xfrm>
                <a:off x="312517" y="1609845"/>
                <a:ext cx="8646548" cy="5009705"/>
              </a:xfrm>
              <a:prstGeom prst="rect">
                <a:avLst/>
              </a:prstGeom>
              <a:blipFill>
                <a:blip r:embed="rId3"/>
                <a:stretch>
                  <a:fillRect l="-705" r="-3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19963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solidFill>
                  <a:prstClr val="black">
                    <a:tint val="75000"/>
                  </a:prstClr>
                </a:solidFill>
                <a:latin typeface="Times New Roman" panose="02020603050405020304" pitchFamily="18" charset="0"/>
                <a:cs typeface="Times New Roman" panose="02020603050405020304" pitchFamily="18" charset="0"/>
              </a:rPr>
              <a:pPr/>
              <a:t>15</a:t>
            </a:fld>
            <a:endParaRPr lang="zh-CN" altLang="en-US">
              <a:solidFill>
                <a:prstClr val="black">
                  <a:tint val="75000"/>
                </a:prstClr>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pPr>
              <a:defRPr/>
            </a:pPr>
            <a:r>
              <a:rPr lang="en-US" altLang="zh-CN" sz="2400" b="1" dirty="0">
                <a:solidFill>
                  <a:srgbClr val="0000FF"/>
                </a:solidFill>
                <a:latin typeface="Times New Roman" panose="02020603050405020304" pitchFamily="18" charset="0"/>
                <a:cs typeface="Times New Roman" panose="02020603050405020304" pitchFamily="18" charset="0"/>
              </a:rPr>
              <a:t>(2) </a:t>
            </a:r>
            <a:r>
              <a:rPr lang="zh-CN" altLang="en-US" sz="2400" b="1" dirty="0">
                <a:solidFill>
                  <a:srgbClr val="0000FF"/>
                </a:solidFill>
                <a:latin typeface="Times New Roman" panose="02020603050405020304" pitchFamily="18" charset="0"/>
                <a:cs typeface="Times New Roman" panose="02020603050405020304" pitchFamily="18" charset="0"/>
              </a:rPr>
              <a:t>消息认证码 </a:t>
            </a:r>
            <a:r>
              <a:rPr lang="en-US" altLang="zh-CN" sz="2400" b="1" dirty="0">
                <a:solidFill>
                  <a:srgbClr val="0000FF"/>
                </a:solidFill>
                <a:latin typeface="Times New Roman" panose="02020603050405020304" pitchFamily="18" charset="0"/>
                <a:cs typeface="Times New Roman" panose="02020603050405020304" pitchFamily="18" charset="0"/>
              </a:rPr>
              <a:t>CMAC</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graphicFrame>
        <p:nvGraphicFramePr>
          <p:cNvPr id="20" name="表格 19">
            <a:extLst>
              <a:ext uri="{FF2B5EF4-FFF2-40B4-BE49-F238E27FC236}">
                <a16:creationId xmlns:a16="http://schemas.microsoft.com/office/drawing/2014/main" id="{B3541368-B8A4-41A1-B505-361E48FBA70A}"/>
              </a:ext>
            </a:extLst>
          </p:cNvPr>
          <p:cNvGraphicFramePr>
            <a:graphicFrameLocks noGrp="1"/>
          </p:cNvGraphicFramePr>
          <p:nvPr>
            <p:extLst>
              <p:ext uri="{D42A27DB-BD31-4B8C-83A1-F6EECF244321}">
                <p14:modId xmlns:p14="http://schemas.microsoft.com/office/powerpoint/2010/main" val="4203113772"/>
              </p:ext>
            </p:extLst>
          </p:nvPr>
        </p:nvGraphicFramePr>
        <p:xfrm>
          <a:off x="312517" y="1547474"/>
          <a:ext cx="8440923" cy="4783477"/>
        </p:xfrm>
        <a:graphic>
          <a:graphicData uri="http://schemas.openxmlformats.org/drawingml/2006/table">
            <a:tbl>
              <a:tblPr firstRow="1" bandRow="1">
                <a:tableStyleId>{22838BEF-8BB2-4498-84A7-C5851F593DF1}</a:tableStyleId>
              </a:tblPr>
              <a:tblGrid>
                <a:gridCol w="1891187">
                  <a:extLst>
                    <a:ext uri="{9D8B030D-6E8A-4147-A177-3AD203B41FA5}">
                      <a16:colId xmlns:a16="http://schemas.microsoft.com/office/drawing/2014/main" val="2113168748"/>
                    </a:ext>
                  </a:extLst>
                </a:gridCol>
                <a:gridCol w="6549736">
                  <a:extLst>
                    <a:ext uri="{9D8B030D-6E8A-4147-A177-3AD203B41FA5}">
                      <a16:colId xmlns:a16="http://schemas.microsoft.com/office/drawing/2014/main" val="3610603892"/>
                    </a:ext>
                  </a:extLst>
                </a:gridCol>
              </a:tblGrid>
              <a:tr h="2335504">
                <a:tc>
                  <a:txBody>
                    <a:bodyPr/>
                    <a:lstStyle/>
                    <a:p>
                      <a:pPr marL="0" indent="0">
                        <a:lnSpc>
                          <a:spcPct val="120000"/>
                        </a:lnSpc>
                        <a:spcBef>
                          <a:spcPts val="600"/>
                        </a:spcBef>
                        <a:buFont typeface="+mj-ea"/>
                        <a:buNone/>
                      </a:pPr>
                      <a:r>
                        <a:rPr lang="zh-CN" altLang="en-US" b="0" dirty="0">
                          <a:solidFill>
                            <a:srgbClr val="2A2A2A"/>
                          </a:solidFill>
                        </a:rPr>
                        <a:t>消息长度是分组大小的整数倍</a:t>
                      </a:r>
                      <a:endParaRPr lang="zh-CN" altLang="en-US" b="0" dirty="0">
                        <a:solidFill>
                          <a:srgbClr val="2A2A2A"/>
                        </a:solidFill>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1600" b="0" dirty="0">
                        <a:solidFill>
                          <a:schemeClr val="tx1"/>
                        </a:solidFill>
                      </a:endParaRPr>
                    </a:p>
                  </a:txBody>
                  <a:tcPr anchor="ctr"/>
                </a:tc>
                <a:extLst>
                  <a:ext uri="{0D108BD9-81ED-4DB2-BD59-A6C34878D82A}">
                    <a16:rowId xmlns:a16="http://schemas.microsoft.com/office/drawing/2014/main" val="3676124900"/>
                  </a:ext>
                </a:extLst>
              </a:tr>
              <a:tr h="2447973">
                <a:tc>
                  <a:txBody>
                    <a:bodyPr/>
                    <a:lstStyle/>
                    <a:p>
                      <a:pPr marL="0" indent="0">
                        <a:lnSpc>
                          <a:spcPct val="120000"/>
                        </a:lnSpc>
                        <a:spcBef>
                          <a:spcPts val="600"/>
                        </a:spcBef>
                        <a:buFont typeface="+mj-ea"/>
                        <a:buNone/>
                      </a:pPr>
                      <a:r>
                        <a:rPr lang="zh-CN" altLang="en-US" b="0" dirty="0">
                          <a:solidFill>
                            <a:srgbClr val="2A2A2A"/>
                          </a:solidFill>
                          <a:latin typeface="Times New Roman" panose="02020603050405020304" pitchFamily="18" charset="0"/>
                          <a:cs typeface="Times New Roman" panose="02020603050405020304" pitchFamily="18" charset="0"/>
                        </a:rPr>
                        <a:t>消息长度不是分组大小的整数倍</a:t>
                      </a:r>
                    </a:p>
                  </a:txBody>
                  <a:tcPr anchor="ctr"/>
                </a:tc>
                <a:tc>
                  <a:txBody>
                    <a:bodyPr/>
                    <a:lstStyle/>
                    <a:p>
                      <a:pPr algn="ctr"/>
                      <a:endParaRPr lang="zh-CN" altLang="en-US" sz="1600" b="0" dirty="0">
                        <a:solidFill>
                          <a:schemeClr val="tx1"/>
                        </a:solidFill>
                      </a:endParaRPr>
                    </a:p>
                  </a:txBody>
                  <a:tcPr anchor="ctr"/>
                </a:tc>
                <a:extLst>
                  <a:ext uri="{0D108BD9-81ED-4DB2-BD59-A6C34878D82A}">
                    <a16:rowId xmlns:a16="http://schemas.microsoft.com/office/drawing/2014/main" val="4092419922"/>
                  </a:ext>
                </a:extLst>
              </a:tr>
            </a:tbl>
          </a:graphicData>
        </a:graphic>
      </p:graphicFrame>
      <p:pic>
        <p:nvPicPr>
          <p:cNvPr id="21" name="图片 20">
            <a:extLst>
              <a:ext uri="{FF2B5EF4-FFF2-40B4-BE49-F238E27FC236}">
                <a16:creationId xmlns:a16="http://schemas.microsoft.com/office/drawing/2014/main" id="{4196D241-B103-49A1-898E-EE9F00EFC5AB}"/>
              </a:ext>
            </a:extLst>
          </p:cNvPr>
          <p:cNvPicPr>
            <a:picLocks noChangeAspect="1"/>
          </p:cNvPicPr>
          <p:nvPr/>
        </p:nvPicPr>
        <p:blipFill>
          <a:blip r:embed="rId3"/>
          <a:stretch>
            <a:fillRect/>
          </a:stretch>
        </p:blipFill>
        <p:spPr>
          <a:xfrm>
            <a:off x="2379313" y="1694760"/>
            <a:ext cx="6094550" cy="2036852"/>
          </a:xfrm>
          <a:prstGeom prst="rect">
            <a:avLst/>
          </a:prstGeom>
        </p:spPr>
      </p:pic>
      <p:sp>
        <p:nvSpPr>
          <p:cNvPr id="22" name="椭圆 21">
            <a:extLst>
              <a:ext uri="{FF2B5EF4-FFF2-40B4-BE49-F238E27FC236}">
                <a16:creationId xmlns:a16="http://schemas.microsoft.com/office/drawing/2014/main" id="{F1A92CFD-8064-46A6-B240-DF6B72774735}"/>
              </a:ext>
            </a:extLst>
          </p:cNvPr>
          <p:cNvSpPr>
            <a:spLocks/>
          </p:cNvSpPr>
          <p:nvPr/>
        </p:nvSpPr>
        <p:spPr>
          <a:xfrm>
            <a:off x="7960565" y="2221553"/>
            <a:ext cx="432000" cy="432000"/>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solidFill>
                <a:prstClr val="black"/>
              </a:solidFill>
              <a:latin typeface="Times New Roman" panose="02020603050405020304" pitchFamily="18" charset="0"/>
              <a:cs typeface="Times New Roman" panose="02020603050405020304" pitchFamily="18" charset="0"/>
            </a:endParaRPr>
          </a:p>
        </p:txBody>
      </p:sp>
      <p:pic>
        <p:nvPicPr>
          <p:cNvPr id="23" name="图片 22">
            <a:extLst>
              <a:ext uri="{FF2B5EF4-FFF2-40B4-BE49-F238E27FC236}">
                <a16:creationId xmlns:a16="http://schemas.microsoft.com/office/drawing/2014/main" id="{9F8FD949-C245-43B8-93E2-032A65F4A205}"/>
              </a:ext>
            </a:extLst>
          </p:cNvPr>
          <p:cNvPicPr>
            <a:picLocks noChangeAspect="1"/>
          </p:cNvPicPr>
          <p:nvPr/>
        </p:nvPicPr>
        <p:blipFill rotWithShape="1">
          <a:blip r:embed="rId4"/>
          <a:srcRect l="2395"/>
          <a:stretch/>
        </p:blipFill>
        <p:spPr>
          <a:xfrm>
            <a:off x="2379313" y="4109504"/>
            <a:ext cx="6259574" cy="2107472"/>
          </a:xfrm>
          <a:prstGeom prst="rect">
            <a:avLst/>
          </a:prstGeom>
        </p:spPr>
      </p:pic>
      <p:sp>
        <p:nvSpPr>
          <p:cNvPr id="24" name="椭圆 23">
            <a:extLst>
              <a:ext uri="{FF2B5EF4-FFF2-40B4-BE49-F238E27FC236}">
                <a16:creationId xmlns:a16="http://schemas.microsoft.com/office/drawing/2014/main" id="{C9E5E2E8-8DD7-4C41-A110-2172E270EB88}"/>
              </a:ext>
            </a:extLst>
          </p:cNvPr>
          <p:cNvSpPr>
            <a:spLocks/>
          </p:cNvSpPr>
          <p:nvPr/>
        </p:nvSpPr>
        <p:spPr>
          <a:xfrm>
            <a:off x="7644301" y="4128772"/>
            <a:ext cx="432000" cy="432000"/>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5" name="椭圆 24">
            <a:extLst>
              <a:ext uri="{FF2B5EF4-FFF2-40B4-BE49-F238E27FC236}">
                <a16:creationId xmlns:a16="http://schemas.microsoft.com/office/drawing/2014/main" id="{4E6DC3F1-6EA4-43EA-9FE6-EC3C18C289B8}"/>
              </a:ext>
            </a:extLst>
          </p:cNvPr>
          <p:cNvSpPr>
            <a:spLocks/>
          </p:cNvSpPr>
          <p:nvPr/>
        </p:nvSpPr>
        <p:spPr>
          <a:xfrm>
            <a:off x="8096376" y="4643993"/>
            <a:ext cx="432000" cy="432000"/>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2218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消息认证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16</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2.3 </a:t>
            </a:r>
            <a:r>
              <a:rPr lang="zh-CN" altLang="en-US" sz="2400" b="1" dirty="0">
                <a:solidFill>
                  <a:srgbClr val="FF0000"/>
                </a:solidFill>
                <a:latin typeface="Times New Roman" panose="02020603050405020304" pitchFamily="18" charset="0"/>
                <a:cs typeface="Times New Roman" panose="02020603050405020304" pitchFamily="18" charset="0"/>
              </a:rPr>
              <a:t>基于数字签名的认证</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530B298-6F4F-DB18-CFD2-C35A7B198527}"/>
                  </a:ext>
                </a:extLst>
              </p:cNvPr>
              <p:cNvSpPr txBox="1"/>
              <p:nvPr/>
            </p:nvSpPr>
            <p:spPr>
              <a:xfrm>
                <a:off x="394243" y="1613677"/>
                <a:ext cx="8479945" cy="1386533"/>
              </a:xfrm>
              <a:prstGeom prst="rect">
                <a:avLst/>
              </a:prstGeom>
              <a:noFill/>
            </p:spPr>
            <p:txBody>
              <a:bodyPr wrap="square" rtlCol="0">
                <a:spAutoFit/>
              </a:bodyPr>
              <a:lstStyle/>
              <a:p>
                <a:pPr marL="457200" indent="-457200" algn="just">
                  <a:lnSpc>
                    <a:spcPct val="130000"/>
                  </a:lnSpc>
                  <a:spcBef>
                    <a:spcPts val="600"/>
                  </a:spcBef>
                  <a:buFont typeface="+mj-lt"/>
                  <a:buAutoNum type="arabicPeriod"/>
                </a:pPr>
                <a:r>
                  <a:rPr lang="zh-CN" altLang="en-US" sz="1900" dirty="0">
                    <a:latin typeface="Times New Roman" panose="02020603050405020304" pitchFamily="18" charset="0"/>
                    <a:cs typeface="Times New Roman" panose="02020603050405020304" pitchFamily="18" charset="0"/>
                  </a:rPr>
                  <a:t>发送方 </a:t>
                </a:r>
                <a:r>
                  <a:rPr lang="en-US" altLang="zh-CN" sz="1900" dirty="0">
                    <a:latin typeface="Times New Roman" panose="02020603050405020304" pitchFamily="18" charset="0"/>
                    <a:cs typeface="Times New Roman" panose="02020603050405020304" pitchFamily="18" charset="0"/>
                  </a:rPr>
                  <a:t>A </a:t>
                </a:r>
                <a:r>
                  <a:rPr lang="zh-CN" altLang="en-US" sz="1900" dirty="0">
                    <a:latin typeface="Times New Roman" panose="02020603050405020304" pitchFamily="18" charset="0"/>
                    <a:cs typeface="Times New Roman" panose="02020603050405020304" pitchFamily="18" charset="0"/>
                  </a:rPr>
                  <a:t>持有公私钥对</a:t>
                </a:r>
                <a14:m>
                  <m:oMath xmlns:m="http://schemas.openxmlformats.org/officeDocument/2006/math">
                    <m:r>
                      <a:rPr lang="en-US" altLang="zh-CN" sz="1900" dirty="0">
                        <a:latin typeface="Cambria Math" panose="02040503050406030204" pitchFamily="18" charset="0"/>
                        <a:cs typeface="Times New Roman" panose="02020603050405020304" pitchFamily="18" charset="0"/>
                      </a:rPr>
                      <m:t> (</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a:latin typeface="Cambria Math" panose="02040503050406030204" pitchFamily="18" charset="0"/>
                            <a:cs typeface="Times New Roman" panose="02020603050405020304" pitchFamily="18" charset="0"/>
                          </a:rPr>
                          <m:t>𝑃𝐾</m:t>
                        </m:r>
                      </m:e>
                      <m:sub>
                        <m:r>
                          <a:rPr lang="en-US" altLang="zh-CN" sz="1900">
                            <a:latin typeface="Cambria Math" panose="02040503050406030204" pitchFamily="18" charset="0"/>
                            <a:cs typeface="Times New Roman" panose="02020603050405020304" pitchFamily="18" charset="0"/>
                          </a:rPr>
                          <m:t>𝐴</m:t>
                        </m:r>
                      </m:sub>
                    </m:sSub>
                    <m:r>
                      <a:rPr lang="en-US" altLang="zh-CN" sz="1900">
                        <a:latin typeface="Cambria Math" panose="02040503050406030204" pitchFamily="18" charset="0"/>
                        <a:cs typeface="Times New Roman" panose="02020603050405020304" pitchFamily="18" charset="0"/>
                      </a:rPr>
                      <m:t>,</m:t>
                    </m:r>
                    <m:sSub>
                      <m:sSubPr>
                        <m:ctrlPr>
                          <a:rPr lang="en-US" altLang="zh-CN" sz="1900" i="1">
                            <a:latin typeface="Cambria Math" panose="02040503050406030204" pitchFamily="18" charset="0"/>
                            <a:cs typeface="Times New Roman" panose="02020603050405020304" pitchFamily="18" charset="0"/>
                          </a:rPr>
                        </m:ctrlPr>
                      </m:sSubPr>
                      <m:e>
                        <m:r>
                          <a:rPr lang="en-US" altLang="zh-CN" sz="1900">
                            <a:latin typeface="Cambria Math" panose="02040503050406030204" pitchFamily="18" charset="0"/>
                            <a:cs typeface="Times New Roman" panose="02020603050405020304" pitchFamily="18" charset="0"/>
                          </a:rPr>
                          <m:t>𝑆𝐾</m:t>
                        </m:r>
                      </m:e>
                      <m:sub>
                        <m:r>
                          <a:rPr lang="en-US" altLang="zh-CN" sz="1900">
                            <a:latin typeface="Cambria Math" panose="02040503050406030204" pitchFamily="18" charset="0"/>
                            <a:cs typeface="Times New Roman" panose="02020603050405020304" pitchFamily="18" charset="0"/>
                          </a:rPr>
                          <m:t>𝐴</m:t>
                        </m:r>
                      </m:sub>
                    </m:sSub>
                  </m:oMath>
                </a14:m>
                <a:r>
                  <a:rPr lang="en-US" altLang="zh-CN" sz="1900" dirty="0">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rPr>
                  <a:t>，接收方 </a:t>
                </a:r>
                <a:r>
                  <a:rPr lang="en-US" altLang="zh-CN" sz="1900" dirty="0">
                    <a:latin typeface="Times New Roman" panose="02020603050405020304" pitchFamily="18" charset="0"/>
                    <a:cs typeface="Times New Roman" panose="02020603050405020304" pitchFamily="18" charset="0"/>
                  </a:rPr>
                  <a:t>B </a:t>
                </a:r>
                <a:r>
                  <a:rPr lang="zh-CN" altLang="en-US" sz="1900" dirty="0">
                    <a:latin typeface="Times New Roman" panose="02020603050405020304" pitchFamily="18" charset="0"/>
                    <a:cs typeface="Times New Roman" panose="02020603050405020304" pitchFamily="18" charset="0"/>
                  </a:rPr>
                  <a:t>知道发送方 </a:t>
                </a:r>
                <a:r>
                  <a:rPr lang="en-US" altLang="zh-CN" sz="1900" dirty="0">
                    <a:latin typeface="Times New Roman" panose="02020603050405020304" pitchFamily="18" charset="0"/>
                    <a:cs typeface="Times New Roman" panose="02020603050405020304" pitchFamily="18" charset="0"/>
                  </a:rPr>
                  <a:t>A </a:t>
                </a:r>
                <a:r>
                  <a:rPr lang="zh-CN" altLang="en-US" sz="1900" dirty="0">
                    <a:latin typeface="Times New Roman" panose="02020603050405020304" pitchFamily="18" charset="0"/>
                    <a:cs typeface="Times New Roman" panose="02020603050405020304" pitchFamily="18" charset="0"/>
                  </a:rPr>
                  <a:t>的公钥</a:t>
                </a:r>
                <a:endParaRPr lang="en-US" altLang="zh-CN" sz="1900" dirty="0">
                  <a:solidFill>
                    <a:srgbClr val="FF0000"/>
                  </a:solidFill>
                  <a:latin typeface="Times New Roman" panose="02020603050405020304" pitchFamily="18" charset="0"/>
                  <a:cs typeface="Times New Roman" panose="02020603050405020304" pitchFamily="18" charset="0"/>
                </a:endParaRPr>
              </a:p>
              <a:p>
                <a:pPr marL="457200" indent="-457200" algn="just">
                  <a:lnSpc>
                    <a:spcPct val="130000"/>
                  </a:lnSpc>
                  <a:spcBef>
                    <a:spcPts val="600"/>
                  </a:spcBef>
                  <a:buFont typeface="+mj-lt"/>
                  <a:buAutoNum type="arabicPeriod"/>
                </a:pPr>
                <a:r>
                  <a:rPr lang="en-US" altLang="zh-CN" sz="1900" dirty="0">
                    <a:latin typeface="Times New Roman" panose="02020603050405020304" pitchFamily="18" charset="0"/>
                    <a:cs typeface="Times New Roman" panose="02020603050405020304" pitchFamily="18" charset="0"/>
                  </a:rPr>
                  <a:t>A </a:t>
                </a:r>
                <a:r>
                  <a:rPr lang="zh-CN" altLang="en-US" sz="1900" dirty="0">
                    <a:latin typeface="Times New Roman" panose="02020603050405020304" pitchFamily="18" charset="0"/>
                    <a:cs typeface="Times New Roman" panose="02020603050405020304" pitchFamily="18" charset="0"/>
                  </a:rPr>
                  <a:t>用</a:t>
                </a:r>
                <a14:m>
                  <m:oMath xmlns:m="http://schemas.openxmlformats.org/officeDocument/2006/math">
                    <m:sSub>
                      <m:sSubPr>
                        <m:ctrlPr>
                          <a:rPr lang="en-US" altLang="zh-CN" sz="1900" i="1" smtClean="0">
                            <a:latin typeface="Cambria Math" panose="02040503050406030204" pitchFamily="18" charset="0"/>
                          </a:rPr>
                        </m:ctrlPr>
                      </m:sSubPr>
                      <m:e>
                        <m:r>
                          <a:rPr lang="en-US" altLang="zh-CN" sz="1900" b="0" i="1" smtClean="0">
                            <a:latin typeface="Cambria Math" panose="02040503050406030204" pitchFamily="18" charset="0"/>
                          </a:rPr>
                          <m:t> </m:t>
                        </m:r>
                        <m:r>
                          <a:rPr lang="en-US" altLang="zh-CN" sz="1900" b="0" i="1" smtClean="0">
                            <a:latin typeface="Cambria Math"/>
                          </a:rPr>
                          <m:t>𝑆𝐾</m:t>
                        </m:r>
                      </m:e>
                      <m:sub>
                        <m:r>
                          <a:rPr lang="en-US" altLang="zh-CN" sz="1900" i="1">
                            <a:latin typeface="Cambria Math" panose="02040503050406030204" pitchFamily="18" charset="0"/>
                          </a:rPr>
                          <m:t>𝐴</m:t>
                        </m:r>
                        <m:r>
                          <a:rPr lang="en-US" altLang="zh-CN" sz="1900" b="0" i="1" smtClean="0">
                            <a:latin typeface="Cambria Math" panose="02040503050406030204" pitchFamily="18" charset="0"/>
                          </a:rPr>
                          <m:t> </m:t>
                        </m:r>
                      </m:sub>
                    </m:sSub>
                  </m:oMath>
                </a14:m>
                <a:r>
                  <a:rPr lang="zh-CN" altLang="en-US" sz="1900" dirty="0">
                    <a:latin typeface="Times New Roman" panose="02020603050405020304" pitchFamily="18" charset="0"/>
                    <a:cs typeface="Times New Roman" panose="02020603050405020304" pitchFamily="18" charset="0"/>
                  </a:rPr>
                  <a:t>对消息</a:t>
                </a:r>
                <a14:m>
                  <m:oMath xmlns:m="http://schemas.openxmlformats.org/officeDocument/2006/math">
                    <m:r>
                      <a:rPr lang="en-US" altLang="zh-CN" sz="1900" b="0" i="0" smtClean="0">
                        <a:latin typeface="Cambria Math" panose="02040503050406030204" pitchFamily="18" charset="0"/>
                        <a:cs typeface="Times New Roman" panose="02020603050405020304" pitchFamily="18" charset="0"/>
                      </a:rPr>
                      <m:t> </m:t>
                    </m:r>
                    <m:r>
                      <a:rPr lang="en-US" altLang="zh-CN" sz="1900" b="0" i="1" smtClean="0">
                        <a:latin typeface="Cambria Math" panose="02040503050406030204" pitchFamily="18" charset="0"/>
                        <a:cs typeface="Times New Roman" panose="02020603050405020304" pitchFamily="18" charset="0"/>
                      </a:rPr>
                      <m:t>𝑀</m:t>
                    </m:r>
                    <m:r>
                      <a:rPr lang="en-US" altLang="zh-CN" sz="1900" b="0" i="1" smtClean="0">
                        <a:latin typeface="Cambria Math" panose="02040503050406030204" pitchFamily="18" charset="0"/>
                        <a:cs typeface="Times New Roman" panose="02020603050405020304" pitchFamily="18" charset="0"/>
                      </a:rPr>
                      <m:t> </m:t>
                    </m:r>
                  </m:oMath>
                </a14:m>
                <a:r>
                  <a:rPr lang="zh-CN" altLang="en-US" sz="1900" dirty="0">
                    <a:latin typeface="Times New Roman" panose="02020603050405020304" pitchFamily="18" charset="0"/>
                    <a:cs typeface="Times New Roman" panose="02020603050405020304" pitchFamily="18" charset="0"/>
                  </a:rPr>
                  <a:t>进行签名，将</a:t>
                </a:r>
                <a14:m>
                  <m:oMath xmlns:m="http://schemas.openxmlformats.org/officeDocument/2006/math">
                    <m:r>
                      <a:rPr lang="en-US" altLang="zh-CN" sz="1900" b="0" i="0" smtClean="0">
                        <a:latin typeface="Cambria Math" panose="02040503050406030204" pitchFamily="18" charset="0"/>
                      </a:rPr>
                      <m:t> </m:t>
                    </m:r>
                    <m:r>
                      <a:rPr lang="en-US" altLang="zh-CN" sz="1900" i="1">
                        <a:latin typeface="Cambria Math" panose="02040503050406030204" pitchFamily="18" charset="0"/>
                      </a:rPr>
                      <m:t>𝑆</m:t>
                    </m:r>
                    <m:r>
                      <a:rPr lang="en-US" altLang="zh-CN" sz="1900" b="0" i="1" smtClean="0">
                        <a:latin typeface="Cambria Math" panose="02040503050406030204" pitchFamily="18" charset="0"/>
                      </a:rPr>
                      <m:t>=</m:t>
                    </m:r>
                    <m:r>
                      <m:rPr>
                        <m:sty m:val="p"/>
                      </m:rPr>
                      <a:rPr lang="en-US" altLang="zh-CN" sz="1900" i="1">
                        <a:latin typeface="Cambria Math" panose="02040503050406030204" pitchFamily="18" charset="0"/>
                      </a:rPr>
                      <m:t>Sign</m:t>
                    </m:r>
                    <m:r>
                      <a:rPr lang="en-US" altLang="zh-CN" sz="1900" i="1">
                        <a:latin typeface="Cambria Math" panose="02040503050406030204" pitchFamily="18" charset="0"/>
                      </a:rPr>
                      <m:t>(</m:t>
                    </m:r>
                    <m:sSub>
                      <m:sSubPr>
                        <m:ctrlPr>
                          <a:rPr lang="en-US" altLang="zh-CN" sz="1900" i="1">
                            <a:latin typeface="Cambria Math" panose="02040503050406030204" pitchFamily="18" charset="0"/>
                          </a:rPr>
                        </m:ctrlPr>
                      </m:sSubPr>
                      <m:e>
                        <m:r>
                          <a:rPr lang="en-US" altLang="zh-CN" sz="1900" b="0" i="1" smtClean="0">
                            <a:latin typeface="Cambria Math"/>
                          </a:rPr>
                          <m:t>𝑆𝐾</m:t>
                        </m:r>
                      </m:e>
                      <m:sub>
                        <m:r>
                          <a:rPr lang="en-US" altLang="zh-CN" sz="1900" i="1">
                            <a:latin typeface="Cambria Math" panose="02040503050406030204" pitchFamily="18" charset="0"/>
                          </a:rPr>
                          <m:t>𝐴</m:t>
                        </m:r>
                      </m:sub>
                    </m:sSub>
                    <m:r>
                      <a:rPr lang="en-US" altLang="zh-CN" sz="1900" i="1">
                        <a:latin typeface="Cambria Math" panose="02040503050406030204" pitchFamily="18" charset="0"/>
                      </a:rPr>
                      <m:t>,</m:t>
                    </m:r>
                    <m:r>
                      <a:rPr lang="en-US" altLang="zh-CN" sz="1900" i="1">
                        <a:latin typeface="Cambria Math" panose="02040503050406030204" pitchFamily="18" charset="0"/>
                      </a:rPr>
                      <m:t>𝑀</m:t>
                    </m:r>
                    <m:r>
                      <a:rPr lang="en-US" altLang="zh-CN" sz="1900" i="1">
                        <a:latin typeface="Cambria Math" panose="02040503050406030204" pitchFamily="18" charset="0"/>
                      </a:rPr>
                      <m:t>)</m:t>
                    </m:r>
                  </m:oMath>
                </a14:m>
                <a:r>
                  <a:rPr lang="zh-CN" altLang="en-US" sz="1900" dirty="0">
                    <a:latin typeface="Times New Roman" panose="02020603050405020304" pitchFamily="18" charset="0"/>
                    <a:cs typeface="Times New Roman" panose="02020603050405020304" pitchFamily="18" charset="0"/>
                  </a:rPr>
                  <a:t>和</a:t>
                </a:r>
                <a14:m>
                  <m:oMath xmlns:m="http://schemas.openxmlformats.org/officeDocument/2006/math">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𝑀</m:t>
                    </m:r>
                  </m:oMath>
                </a14:m>
                <a:r>
                  <a:rPr lang="zh-CN" altLang="en-US" sz="1900" dirty="0">
                    <a:latin typeface="Times New Roman" panose="02020603050405020304" pitchFamily="18" charset="0"/>
                    <a:cs typeface="Times New Roman" panose="02020603050405020304" pitchFamily="18" charset="0"/>
                  </a:rPr>
                  <a:t> 传送给 </a:t>
                </a:r>
                <a:r>
                  <a:rPr lang="en-US" altLang="zh-CN" sz="1900" dirty="0">
                    <a:latin typeface="Times New Roman" panose="02020603050405020304" pitchFamily="18" charset="0"/>
                    <a:cs typeface="Times New Roman" panose="02020603050405020304" pitchFamily="18" charset="0"/>
                  </a:rPr>
                  <a:t>B</a:t>
                </a:r>
                <a:endParaRPr lang="en-US" altLang="zh-CN" sz="1900" dirty="0">
                  <a:solidFill>
                    <a:srgbClr val="FF0000"/>
                  </a:solidFill>
                  <a:latin typeface="Times New Roman" panose="02020603050405020304" pitchFamily="18" charset="0"/>
                  <a:cs typeface="Times New Roman" panose="02020603050405020304" pitchFamily="18" charset="0"/>
                </a:endParaRPr>
              </a:p>
              <a:p>
                <a:pPr marL="457200" indent="-457200" algn="just">
                  <a:lnSpc>
                    <a:spcPct val="130000"/>
                  </a:lnSpc>
                  <a:spcBef>
                    <a:spcPts val="600"/>
                  </a:spcBef>
                  <a:buFont typeface="+mj-lt"/>
                  <a:buAutoNum type="arabicPeriod"/>
                </a:pPr>
                <a:r>
                  <a:rPr lang="en-US" altLang="zh-CN" sz="1900" b="0" dirty="0">
                    <a:latin typeface="Times New Roman" panose="02020603050405020304" pitchFamily="18" charset="0"/>
                    <a:cs typeface="Times New Roman" panose="02020603050405020304" pitchFamily="18" charset="0"/>
                  </a:rPr>
                  <a:t>B </a:t>
                </a:r>
                <a:r>
                  <a:rPr lang="zh-CN" altLang="en-US" sz="1900" b="0" dirty="0">
                    <a:latin typeface="Times New Roman" panose="02020603050405020304" pitchFamily="18" charset="0"/>
                    <a:cs typeface="Times New Roman" panose="02020603050405020304" pitchFamily="18" charset="0"/>
                  </a:rPr>
                  <a:t>收到</a:t>
                </a:r>
                <a14:m>
                  <m:oMath xmlns:m="http://schemas.openxmlformats.org/officeDocument/2006/math">
                    <m:r>
                      <a:rPr lang="en-US" altLang="zh-CN" sz="1900" b="0" i="0" smtClean="0">
                        <a:latin typeface="Cambria Math" panose="02040503050406030204" pitchFamily="18" charset="0"/>
                      </a:rPr>
                      <m:t> </m:t>
                    </m:r>
                    <m:r>
                      <a:rPr lang="en-US" altLang="zh-CN" sz="1900" i="1">
                        <a:latin typeface="Cambria Math" panose="02040503050406030204" pitchFamily="18" charset="0"/>
                      </a:rPr>
                      <m:t>𝑆</m:t>
                    </m:r>
                    <m:r>
                      <m:rPr>
                        <m:nor/>
                      </m:rPr>
                      <a:rPr lang="en-US" altLang="zh-CN" sz="1900" b="0" i="0" smtClean="0">
                        <a:latin typeface="Cambria Math" panose="02040503050406030204" pitchFamily="18" charset="0"/>
                      </a:rPr>
                      <m:t> </m:t>
                    </m:r>
                    <m:r>
                      <m:rPr>
                        <m:nor/>
                      </m:rPr>
                      <a:rPr lang="zh-CN" altLang="en-US" sz="1900" dirty="0">
                        <a:latin typeface="Times New Roman" panose="02020603050405020304" pitchFamily="18" charset="0"/>
                        <a:cs typeface="Times New Roman" panose="02020603050405020304" pitchFamily="18" charset="0"/>
                      </a:rPr>
                      <m:t>和</m:t>
                    </m:r>
                    <m:r>
                      <a:rPr lang="en-US" altLang="zh-CN" sz="1900">
                        <a:latin typeface="Cambria Math" panose="02040503050406030204" pitchFamily="18" charset="0"/>
                        <a:cs typeface="Times New Roman" panose="02020603050405020304" pitchFamily="18" charset="0"/>
                      </a:rPr>
                      <m:t> </m:t>
                    </m:r>
                    <m:r>
                      <a:rPr lang="en-US" altLang="zh-CN" sz="1900" i="1">
                        <a:latin typeface="Cambria Math" panose="02040503050406030204" pitchFamily="18" charset="0"/>
                        <a:cs typeface="Times New Roman" panose="02020603050405020304" pitchFamily="18" charset="0"/>
                      </a:rPr>
                      <m:t>𝑀</m:t>
                    </m:r>
                  </m:oMath>
                </a14:m>
                <a:r>
                  <a:rPr lang="zh-CN" altLang="en-US" sz="1900" b="0" dirty="0">
                    <a:latin typeface="Times New Roman" panose="02020603050405020304" pitchFamily="18" charset="0"/>
                    <a:cs typeface="Times New Roman" panose="02020603050405020304" pitchFamily="18" charset="0"/>
                  </a:rPr>
                  <a:t> 后，</a:t>
                </a:r>
                <a:r>
                  <a:rPr lang="zh-CN" altLang="en-US" sz="1900" dirty="0">
                    <a:latin typeface="Times New Roman" panose="02020603050405020304" pitchFamily="18" charset="0"/>
                    <a:cs typeface="Times New Roman" panose="02020603050405020304" pitchFamily="18" charset="0"/>
                  </a:rPr>
                  <a:t>用</a:t>
                </a:r>
                <a14:m>
                  <m:oMath xmlns:m="http://schemas.openxmlformats.org/officeDocument/2006/math">
                    <m:sSub>
                      <m:sSubPr>
                        <m:ctrlPr>
                          <a:rPr lang="en-US" altLang="zh-CN" sz="1900" i="1">
                            <a:latin typeface="Cambria Math" panose="02040503050406030204" pitchFamily="18" charset="0"/>
                          </a:rPr>
                        </m:ctrlPr>
                      </m:sSubPr>
                      <m:e>
                        <m:r>
                          <a:rPr lang="en-US" altLang="zh-CN" sz="1900" b="0" i="1" smtClean="0">
                            <a:latin typeface="Cambria Math" panose="02040503050406030204" pitchFamily="18" charset="0"/>
                          </a:rPr>
                          <m:t> </m:t>
                        </m:r>
                        <m:r>
                          <a:rPr lang="en-US" altLang="zh-CN" sz="1900" b="0" i="1" smtClean="0">
                            <a:latin typeface="Cambria Math"/>
                          </a:rPr>
                          <m:t>𝑃𝐾</m:t>
                        </m:r>
                      </m:e>
                      <m:sub>
                        <m:r>
                          <m:rPr>
                            <m:sty m:val="p"/>
                          </m:rPr>
                          <a:rPr lang="en-US" altLang="zh-CN" sz="1900" i="1">
                            <a:latin typeface="Cambria Math" panose="02040503050406030204" pitchFamily="18" charset="0"/>
                          </a:rPr>
                          <m:t>A</m:t>
                        </m:r>
                        <m:r>
                          <a:rPr lang="en-US" altLang="zh-CN" sz="1900" b="0" i="1" smtClean="0">
                            <a:latin typeface="Cambria Math" panose="02040503050406030204" pitchFamily="18" charset="0"/>
                          </a:rPr>
                          <m:t> </m:t>
                        </m:r>
                      </m:sub>
                    </m:sSub>
                  </m:oMath>
                </a14:m>
                <a:r>
                  <a:rPr lang="zh-CN" altLang="en-US" sz="1900" dirty="0">
                    <a:latin typeface="Times New Roman" panose="02020603050405020304" pitchFamily="18" charset="0"/>
                    <a:cs typeface="Times New Roman" panose="02020603050405020304" pitchFamily="18" charset="0"/>
                  </a:rPr>
                  <a:t>进行验证</a:t>
                </a:r>
                <a14:m>
                  <m:oMath xmlns:m="http://schemas.openxmlformats.org/officeDocument/2006/math">
                    <m:r>
                      <a:rPr lang="en-US" altLang="zh-CN" sz="1900" b="0" i="0" smtClean="0">
                        <a:latin typeface="Cambria Math" panose="02040503050406030204" pitchFamily="18" charset="0"/>
                      </a:rPr>
                      <m:t> </m:t>
                    </m:r>
                    <m:r>
                      <a:rPr lang="en-US" altLang="zh-CN" sz="1900" i="1">
                        <a:latin typeface="Cambria Math" panose="02040503050406030204" pitchFamily="18" charset="0"/>
                      </a:rPr>
                      <m:t>𝑆</m:t>
                    </m:r>
                    <m:r>
                      <a:rPr lang="en-US" altLang="zh-CN" sz="1900" i="1">
                        <a:latin typeface="Cambria Math" panose="02040503050406030204" pitchFamily="18" charset="0"/>
                      </a:rPr>
                      <m:t> </m:t>
                    </m:r>
                  </m:oMath>
                </a14:m>
                <a:r>
                  <a:rPr lang="zh-CN" altLang="en-US" sz="1900" b="0" dirty="0">
                    <a:latin typeface="Times New Roman" panose="02020603050405020304" pitchFamily="18" charset="0"/>
                    <a:cs typeface="Times New Roman" panose="02020603050405020304" pitchFamily="18" charset="0"/>
                  </a:rPr>
                  <a:t>的正确性，从而来判断 </a:t>
                </a:r>
                <a14:m>
                  <m:oMath xmlns:m="http://schemas.openxmlformats.org/officeDocument/2006/math">
                    <m:r>
                      <a:rPr lang="en-US" altLang="zh-CN" sz="1900" i="1">
                        <a:latin typeface="Cambria Math" panose="02040503050406030204" pitchFamily="18" charset="0"/>
                        <a:cs typeface="Times New Roman" panose="02020603050405020304" pitchFamily="18" charset="0"/>
                      </a:rPr>
                      <m:t>𝑀</m:t>
                    </m:r>
                  </m:oMath>
                </a14:m>
                <a:r>
                  <a:rPr lang="zh-CN" altLang="en-US" sz="1900" b="0" dirty="0">
                    <a:latin typeface="Times New Roman" panose="02020603050405020304" pitchFamily="18" charset="0"/>
                    <a:cs typeface="Times New Roman" panose="02020603050405020304" pitchFamily="18" charset="0"/>
                  </a:rPr>
                  <a:t> 是否完整</a:t>
                </a:r>
                <a:endParaRPr lang="en-US" altLang="zh-CN" sz="1900" b="0"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 xmlns:a16="http://schemas.microsoft.com/office/drawing/2014/main" xmlns:a14="http://schemas.microsoft.com/office/drawing/2010/main" id="{A530B298-6F4F-DB18-CFD2-C35A7B198527}"/>
                  </a:ext>
                </a:extLst>
              </p:cNvPr>
              <p:cNvSpPr txBox="1">
                <a:spLocks noRot="1" noChangeAspect="1" noMove="1" noResize="1" noEditPoints="1" noAdjustHandles="1" noChangeArrowheads="1" noChangeShapeType="1" noTextEdit="1"/>
              </p:cNvSpPr>
              <p:nvPr/>
            </p:nvSpPr>
            <p:spPr>
              <a:xfrm>
                <a:off x="394243" y="1613677"/>
                <a:ext cx="8479945" cy="1386533"/>
              </a:xfrm>
              <a:prstGeom prst="rect">
                <a:avLst/>
              </a:prstGeom>
              <a:blipFill rotWithShape="0">
                <a:blip r:embed="rId3"/>
                <a:stretch>
                  <a:fillRect l="-575" b="-4405"/>
                </a:stretch>
              </a:blipFill>
            </p:spPr>
            <p:txBody>
              <a:bodyPr/>
              <a:lstStyle/>
              <a:p>
                <a:r>
                  <a:rPr lang="zh-CN" altLang="en-US">
                    <a:noFill/>
                  </a:rPr>
                  <a:t> </a:t>
                </a:r>
              </a:p>
            </p:txBody>
          </p:sp>
        </mc:Fallback>
      </mc:AlternateContent>
      <p:sp>
        <p:nvSpPr>
          <p:cNvPr id="105" name="文本框 104">
            <a:extLst>
              <a:ext uri="{FF2B5EF4-FFF2-40B4-BE49-F238E27FC236}">
                <a16:creationId xmlns:a16="http://schemas.microsoft.com/office/drawing/2014/main" id="{EABF98A1-6A13-8AF5-B9D0-027C6F374D02}"/>
              </a:ext>
            </a:extLst>
          </p:cNvPr>
          <p:cNvSpPr txBox="1"/>
          <p:nvPr/>
        </p:nvSpPr>
        <p:spPr>
          <a:xfrm>
            <a:off x="426276" y="5103996"/>
            <a:ext cx="8479945" cy="1407373"/>
          </a:xfrm>
          <a:prstGeom prst="rect">
            <a:avLst/>
          </a:prstGeom>
          <a:noFill/>
        </p:spPr>
        <p:txBody>
          <a:bodyPr wrap="square" rtlCol="0">
            <a:spAutoFit/>
          </a:bodyPr>
          <a:lstStyle/>
          <a:p>
            <a:pPr marL="457200" indent="-457200">
              <a:lnSpc>
                <a:spcPct val="130000"/>
              </a:lnSpc>
              <a:spcBef>
                <a:spcPts val="600"/>
              </a:spcBef>
              <a:buFont typeface="Wingdings" panose="05000000000000000000" pitchFamily="2" charset="2"/>
              <a:buChar char="l"/>
            </a:pPr>
            <a:r>
              <a:rPr lang="zh-CN" altLang="en-US" sz="1900" b="1" dirty="0">
                <a:latin typeface="Times New Roman" panose="02020603050405020304" pitchFamily="18" charset="0"/>
                <a:cs typeface="Times New Roman" panose="02020603050405020304" pitchFamily="18" charset="0"/>
              </a:rPr>
              <a:t>认证性</a:t>
            </a:r>
            <a:r>
              <a:rPr lang="zh-CN" altLang="en-US" sz="1900" dirty="0">
                <a:latin typeface="Times New Roman" panose="02020603050405020304" pitchFamily="18" charset="0"/>
                <a:cs typeface="Times New Roman" panose="02020603050405020304" pitchFamily="18" charset="0"/>
              </a:rPr>
              <a:t>：只有 </a:t>
            </a:r>
            <a:r>
              <a:rPr lang="en-US" altLang="zh-CN" sz="1900" dirty="0">
                <a:latin typeface="Times New Roman" panose="02020603050405020304" pitchFamily="18" charset="0"/>
                <a:cs typeface="Times New Roman" panose="02020603050405020304" pitchFamily="18" charset="0"/>
              </a:rPr>
              <a:t>A </a:t>
            </a:r>
            <a:r>
              <a:rPr lang="zh-CN" altLang="en-US" sz="1900" dirty="0">
                <a:latin typeface="Times New Roman" panose="02020603050405020304" pitchFamily="18" charset="0"/>
                <a:cs typeface="Times New Roman" panose="02020603050405020304" pitchFamily="18" charset="0"/>
              </a:rPr>
              <a:t>自己知道自己的私钥，</a:t>
            </a:r>
            <a:r>
              <a:rPr lang="en-US" altLang="zh-CN" sz="1900" dirty="0">
                <a:latin typeface="Times New Roman" panose="02020603050405020304" pitchFamily="18" charset="0"/>
                <a:cs typeface="Times New Roman" panose="02020603050405020304" pitchFamily="18" charset="0"/>
              </a:rPr>
              <a:t>B</a:t>
            </a:r>
            <a:r>
              <a:rPr lang="zh-CN" altLang="en-US" sz="1900" dirty="0">
                <a:latin typeface="Times New Roman" panose="02020603050405020304" pitchFamily="18" charset="0"/>
                <a:cs typeface="Times New Roman" panose="02020603050405020304" pitchFamily="18" charset="0"/>
              </a:rPr>
              <a:t>无法伪造签名</a:t>
            </a:r>
            <a:endParaRPr lang="en-US" altLang="zh-CN" sz="1900" dirty="0">
              <a:latin typeface="Times New Roman" panose="02020603050405020304" pitchFamily="18" charset="0"/>
              <a:cs typeface="Times New Roman" panose="02020603050405020304" pitchFamily="18" charset="0"/>
            </a:endParaRPr>
          </a:p>
          <a:p>
            <a:pPr marL="457200" indent="-457200">
              <a:lnSpc>
                <a:spcPct val="130000"/>
              </a:lnSpc>
              <a:spcBef>
                <a:spcPts val="600"/>
              </a:spcBef>
              <a:buFont typeface="Wingdings" panose="05000000000000000000" pitchFamily="2" charset="2"/>
              <a:buChar char="l"/>
            </a:pPr>
            <a:r>
              <a:rPr lang="zh-CN" altLang="en-US" sz="1900" b="1" dirty="0">
                <a:latin typeface="Times New Roman" panose="02020603050405020304" pitchFamily="18" charset="0"/>
                <a:cs typeface="Times New Roman" panose="02020603050405020304" pitchFamily="18" charset="0"/>
              </a:rPr>
              <a:t>不可否认性</a:t>
            </a:r>
            <a:r>
              <a:rPr lang="zh-CN" altLang="en-US" sz="1900" dirty="0">
                <a:latin typeface="Times New Roman" panose="02020603050405020304" pitchFamily="18" charset="0"/>
                <a:cs typeface="Times New Roman" panose="02020603050405020304" pitchFamily="18" charset="0"/>
              </a:rPr>
              <a:t>：</a:t>
            </a:r>
            <a:r>
              <a:rPr lang="en-US" altLang="zh-CN" sz="1900" dirty="0">
                <a:latin typeface="Times New Roman" panose="02020603050405020304" pitchFamily="18" charset="0"/>
                <a:cs typeface="Times New Roman" panose="02020603050405020304" pitchFamily="18" charset="0"/>
              </a:rPr>
              <a:t>A </a:t>
            </a:r>
            <a:r>
              <a:rPr lang="zh-CN" altLang="en-US" sz="1900" dirty="0">
                <a:latin typeface="Times New Roman" panose="02020603050405020304" pitchFamily="18" charset="0"/>
                <a:cs typeface="Times New Roman" panose="02020603050405020304" pitchFamily="18" charset="0"/>
              </a:rPr>
              <a:t>无法否认自己的签名</a:t>
            </a:r>
            <a:endParaRPr lang="en-US" altLang="zh-CN" sz="1900" dirty="0">
              <a:latin typeface="Times New Roman" panose="02020603050405020304" pitchFamily="18" charset="0"/>
              <a:cs typeface="Times New Roman" panose="02020603050405020304" pitchFamily="18" charset="0"/>
            </a:endParaRPr>
          </a:p>
          <a:p>
            <a:pPr marL="457200" indent="-457200">
              <a:lnSpc>
                <a:spcPct val="130000"/>
              </a:lnSpc>
              <a:spcBef>
                <a:spcPts val="600"/>
              </a:spcBef>
              <a:buFont typeface="Wingdings" panose="05000000000000000000" pitchFamily="2" charset="2"/>
              <a:buChar char="l"/>
            </a:pPr>
            <a:r>
              <a:rPr lang="zh-CN" altLang="en-US" sz="1900" b="1" dirty="0">
                <a:latin typeface="Times New Roman" panose="02020603050405020304" pitchFamily="18" charset="0"/>
                <a:cs typeface="Times New Roman" panose="02020603050405020304" pitchFamily="18" charset="0"/>
              </a:rPr>
              <a:t>效率较低</a:t>
            </a:r>
            <a:r>
              <a:rPr lang="zh-CN" altLang="en-US" sz="1900" dirty="0">
                <a:latin typeface="Times New Roman" panose="02020603050405020304" pitchFamily="18" charset="0"/>
                <a:cs typeface="Times New Roman" panose="02020603050405020304" pitchFamily="18" charset="0"/>
              </a:rPr>
              <a:t>：公钥算法复杂</a:t>
            </a:r>
            <a:endParaRPr lang="en-US" altLang="zh-CN" sz="1900" dirty="0">
              <a:solidFill>
                <a:srgbClr val="0000FF"/>
              </a:solidFill>
              <a:latin typeface="Times New Roman" panose="02020603050405020304" pitchFamily="18" charset="0"/>
              <a:cs typeface="Times New Roman" panose="02020603050405020304" pitchFamily="18" charset="0"/>
            </a:endParaRPr>
          </a:p>
        </p:txBody>
      </p:sp>
      <p:grpSp>
        <p:nvGrpSpPr>
          <p:cNvPr id="113" name="组合 112">
            <a:extLst>
              <a:ext uri="{FF2B5EF4-FFF2-40B4-BE49-F238E27FC236}">
                <a16:creationId xmlns:a16="http://schemas.microsoft.com/office/drawing/2014/main" id="{02D0858F-2773-4DFA-9625-240094FC56B0}"/>
              </a:ext>
            </a:extLst>
          </p:cNvPr>
          <p:cNvGrpSpPr/>
          <p:nvPr/>
        </p:nvGrpSpPr>
        <p:grpSpPr>
          <a:xfrm>
            <a:off x="1323044" y="3440088"/>
            <a:ext cx="6183051" cy="1550015"/>
            <a:chOff x="1692129" y="5144917"/>
            <a:chExt cx="6183051" cy="1550015"/>
          </a:xfrm>
        </p:grpSpPr>
        <p:sp>
          <p:nvSpPr>
            <p:cNvPr id="114" name="文本框 32">
              <a:extLst>
                <a:ext uri="{FF2B5EF4-FFF2-40B4-BE49-F238E27FC236}">
                  <a16:creationId xmlns:a16="http://schemas.microsoft.com/office/drawing/2014/main" id="{FFFA31A2-38E3-4D14-A3C1-F7C0C270934C}"/>
                </a:ext>
              </a:extLst>
            </p:cNvPr>
            <p:cNvSpPr txBox="1"/>
            <p:nvPr/>
          </p:nvSpPr>
          <p:spPr>
            <a:xfrm>
              <a:off x="6840911" y="5448542"/>
              <a:ext cx="1034269" cy="366254"/>
            </a:xfrm>
            <a:prstGeom prst="rect">
              <a:avLst/>
            </a:prstGeom>
            <a:noFill/>
            <a:ln w="12700">
              <a:noFill/>
            </a:ln>
          </p:spPr>
          <p:txBody>
            <a:bodyPr wrap="square">
              <a:spAutoFit/>
            </a:bodyPr>
            <a:lstStyle/>
            <a:p>
              <a:pPr algn="ctr"/>
              <a:r>
                <a:rPr lang="en-US" altLang="zh-CN" b="0" dirty="0">
                  <a:latin typeface="Times New Roman" panose="02020603050405020304" pitchFamily="18" charset="0"/>
                  <a:cs typeface="Times New Roman" panose="02020603050405020304" pitchFamily="18" charset="0"/>
                </a:rPr>
                <a:t>compare</a:t>
              </a:r>
            </a:p>
          </p:txBody>
        </p:sp>
        <mc:AlternateContent xmlns:mc="http://schemas.openxmlformats.org/markup-compatibility/2006" xmlns:a14="http://schemas.microsoft.com/office/drawing/2010/main">
          <mc:Choice Requires="a14">
            <p:sp>
              <p:nvSpPr>
                <p:cNvPr id="118" name="矩形 117">
                  <a:extLst>
                    <a:ext uri="{FF2B5EF4-FFF2-40B4-BE49-F238E27FC236}">
                      <a16:creationId xmlns:a16="http://schemas.microsoft.com/office/drawing/2014/main" id="{10604614-A04A-4B23-92E1-6CC12B2BF3B2}"/>
                    </a:ext>
                  </a:extLst>
                </p:cNvPr>
                <p:cNvSpPr/>
                <p:nvPr/>
              </p:nvSpPr>
              <p:spPr>
                <a:xfrm>
                  <a:off x="2637262" y="5250629"/>
                  <a:ext cx="381088" cy="388532"/>
                </a:xfrm>
                <a:prstGeom prst="rect">
                  <a:avLst/>
                </a:prstGeom>
                <a:solidFill>
                  <a:srgbClr val="5B9BD5"/>
                </a:solidFill>
                <a:ln w="127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left"/>
                      </m:oMathParaPr>
                      <m:oMath xmlns:m="http://schemas.openxmlformats.org/officeDocument/2006/math">
                        <m:r>
                          <a:rPr lang="en-US" altLang="zh-CN" b="0" i="1" smtClean="0">
                            <a:solidFill>
                              <a:schemeClr val="bg1"/>
                            </a:solidFill>
                            <a:latin typeface="Cambria Math"/>
                          </a:rPr>
                          <m:t>𝑀</m:t>
                        </m:r>
                      </m:oMath>
                    </m:oMathPara>
                  </a14:m>
                  <a:endParaRPr lang="zh-CN" altLang="en-US" dirty="0"/>
                </a:p>
              </p:txBody>
            </p:sp>
          </mc:Choice>
          <mc:Fallback xmlns="">
            <p:sp>
              <p:nvSpPr>
                <p:cNvPr id="118" name="矩形 117">
                  <a:extLst>
                    <a:ext uri="{FF2B5EF4-FFF2-40B4-BE49-F238E27FC236}">
                      <a16:creationId xmlns="" xmlns:a16="http://schemas.microsoft.com/office/drawing/2014/main" xmlns:a14="http://schemas.microsoft.com/office/drawing/2010/main" id="{10604614-A04A-4B23-92E1-6CC12B2BF3B2}"/>
                    </a:ext>
                  </a:extLst>
                </p:cNvPr>
                <p:cNvSpPr>
                  <a:spLocks noRot="1" noChangeAspect="1" noMove="1" noResize="1" noEditPoints="1" noAdjustHandles="1" noChangeArrowheads="1" noChangeShapeType="1" noTextEdit="1"/>
                </p:cNvSpPr>
                <p:nvPr/>
              </p:nvSpPr>
              <p:spPr>
                <a:xfrm>
                  <a:off x="2637262" y="5250629"/>
                  <a:ext cx="381088" cy="388532"/>
                </a:xfrm>
                <a:prstGeom prst="rect">
                  <a:avLst/>
                </a:prstGeom>
                <a:blipFill rotWithShape="0">
                  <a:blip r:embed="rId4"/>
                  <a:stretch>
                    <a:fillRect/>
                  </a:stretch>
                </a:blipFill>
                <a:ln w="127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1" name="文本框 45">
                  <a:extLst>
                    <a:ext uri="{FF2B5EF4-FFF2-40B4-BE49-F238E27FC236}">
                      <a16:creationId xmlns:a16="http://schemas.microsoft.com/office/drawing/2014/main" id="{C1B7E1CC-36D2-4BB5-ABC6-D3F3A54C2637}"/>
                    </a:ext>
                  </a:extLst>
                </p:cNvPr>
                <p:cNvSpPr txBox="1"/>
                <p:nvPr/>
              </p:nvSpPr>
              <p:spPr>
                <a:xfrm>
                  <a:off x="1692129" y="5961680"/>
                  <a:ext cx="630493" cy="369332"/>
                </a:xfrm>
                <a:prstGeom prst="rect">
                  <a:avLst/>
                </a:prstGeom>
                <a:noFill/>
                <a:ln w="12700">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a:rPr>
                          <m:t>𝑆</m:t>
                        </m:r>
                        <m:sSub>
                          <m:sSubPr>
                            <m:ctrlPr>
                              <a:rPr lang="en-US" altLang="zh-CN" b="0" i="1" smtClean="0">
                                <a:latin typeface="Cambria Math" panose="02040503050406030204" pitchFamily="18" charset="0"/>
                              </a:rPr>
                            </m:ctrlPr>
                          </m:sSubPr>
                          <m:e>
                            <m:r>
                              <a:rPr lang="en-US" altLang="zh-CN" b="0" i="1" smtClean="0">
                                <a:latin typeface="Cambria Math"/>
                              </a:rPr>
                              <m:t>𝐾</m:t>
                            </m:r>
                          </m:e>
                          <m:sub>
                            <m:r>
                              <a:rPr lang="en-US" altLang="zh-CN" b="0" i="1" smtClean="0">
                                <a:latin typeface="Cambria Math"/>
                              </a:rPr>
                              <m:t>𝐴</m:t>
                            </m:r>
                          </m:sub>
                        </m:sSub>
                      </m:oMath>
                    </m:oMathPara>
                  </a14:m>
                  <a:endParaRPr lang="zh-CN" altLang="en-US" dirty="0"/>
                </a:p>
              </p:txBody>
            </p:sp>
          </mc:Choice>
          <mc:Fallback xmlns="">
            <p:sp>
              <p:nvSpPr>
                <p:cNvPr id="121" name="文本框 45">
                  <a:extLst>
                    <a:ext uri="{FF2B5EF4-FFF2-40B4-BE49-F238E27FC236}">
                      <a16:creationId xmlns="" xmlns:a16="http://schemas.microsoft.com/office/drawing/2014/main" xmlns:a14="http://schemas.microsoft.com/office/drawing/2010/main" id="{C1B7E1CC-36D2-4BB5-ABC6-D3F3A54C2637}"/>
                    </a:ext>
                  </a:extLst>
                </p:cNvPr>
                <p:cNvSpPr txBox="1">
                  <a:spLocks noRot="1" noChangeAspect="1" noMove="1" noResize="1" noEditPoints="1" noAdjustHandles="1" noChangeArrowheads="1" noChangeShapeType="1" noTextEdit="1"/>
                </p:cNvSpPr>
                <p:nvPr/>
              </p:nvSpPr>
              <p:spPr>
                <a:xfrm>
                  <a:off x="1692129" y="5961680"/>
                  <a:ext cx="630493" cy="369332"/>
                </a:xfrm>
                <a:prstGeom prst="rect">
                  <a:avLst/>
                </a:prstGeom>
                <a:blipFill rotWithShape="0">
                  <a:blip r:embed="rId5"/>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49">
                  <a:extLst>
                    <a:ext uri="{FF2B5EF4-FFF2-40B4-BE49-F238E27FC236}">
                      <a16:creationId xmlns:a16="http://schemas.microsoft.com/office/drawing/2014/main" id="{46F41D96-12FC-4AB5-B263-1FDFBBB95820}"/>
                    </a:ext>
                  </a:extLst>
                </p:cNvPr>
                <p:cNvSpPr txBox="1"/>
                <p:nvPr/>
              </p:nvSpPr>
              <p:spPr>
                <a:xfrm>
                  <a:off x="4013434" y="6297551"/>
                  <a:ext cx="1704706" cy="338554"/>
                </a:xfrm>
                <a:prstGeom prst="rect">
                  <a:avLst/>
                </a:prstGeom>
                <a:noFill/>
                <a:ln w="12700">
                  <a:noFill/>
                </a:ln>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1600" i="1">
                            <a:latin typeface="Cambria Math" panose="02040503050406030204" pitchFamily="18" charset="0"/>
                          </a:rPr>
                          <m:t>Sign</m:t>
                        </m:r>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a:rPr>
                              <m:t>𝑆𝐾</m:t>
                            </m:r>
                          </m:e>
                          <m:sub>
                            <m:r>
                              <a:rPr lang="en-US" altLang="zh-CN" sz="1600" i="1">
                                <a:latin typeface="Cambria Math" panose="02040503050406030204" pitchFamily="18" charset="0"/>
                              </a:rPr>
                              <m:t>𝐴</m:t>
                            </m:r>
                          </m:sub>
                        </m:sSub>
                        <m:r>
                          <a:rPr lang="en-US" altLang="zh-CN" sz="1600" i="1">
                            <a:latin typeface="Cambria Math" panose="02040503050406030204" pitchFamily="18" charset="0"/>
                          </a:rPr>
                          <m:t>,</m:t>
                        </m:r>
                        <m:r>
                          <a:rPr lang="en-US" altLang="zh-CN" sz="1600" i="1">
                            <a:latin typeface="Cambria Math" panose="02040503050406030204" pitchFamily="18" charset="0"/>
                          </a:rPr>
                          <m:t>𝑀</m:t>
                        </m:r>
                        <m:r>
                          <a:rPr lang="en-US" altLang="zh-CN" sz="1600" i="1">
                            <a:latin typeface="Cambria Math" panose="02040503050406030204" pitchFamily="18" charset="0"/>
                          </a:rPr>
                          <m:t>)</m:t>
                        </m:r>
                      </m:oMath>
                    </m:oMathPara>
                  </a14:m>
                  <a:endParaRPr lang="en-US" altLang="zh-CN" sz="1600" dirty="0"/>
                </a:p>
              </p:txBody>
            </p:sp>
          </mc:Choice>
          <mc:Fallback xmlns="">
            <p:sp>
              <p:nvSpPr>
                <p:cNvPr id="123" name="文本框 49">
                  <a:extLst>
                    <a:ext uri="{FF2B5EF4-FFF2-40B4-BE49-F238E27FC236}">
                      <a16:creationId xmlns="" xmlns:a16="http://schemas.microsoft.com/office/drawing/2014/main" xmlns:a14="http://schemas.microsoft.com/office/drawing/2010/main" id="{46F41D96-12FC-4AB5-B263-1FDFBBB95820}"/>
                    </a:ext>
                  </a:extLst>
                </p:cNvPr>
                <p:cNvSpPr txBox="1">
                  <a:spLocks noRot="1" noChangeAspect="1" noMove="1" noResize="1" noEditPoints="1" noAdjustHandles="1" noChangeArrowheads="1" noChangeShapeType="1" noTextEdit="1"/>
                </p:cNvSpPr>
                <p:nvPr/>
              </p:nvSpPr>
              <p:spPr>
                <a:xfrm>
                  <a:off x="4013434" y="6297551"/>
                  <a:ext cx="1704706" cy="338554"/>
                </a:xfrm>
                <a:prstGeom prst="rect">
                  <a:avLst/>
                </a:prstGeom>
                <a:blipFill rotWithShape="0">
                  <a:blip r:embed="rId6"/>
                  <a:stretch>
                    <a:fillRect b="-10714"/>
                  </a:stretch>
                </a:blipFill>
                <a:ln w="12700">
                  <a:noFill/>
                </a:ln>
              </p:spPr>
              <p:txBody>
                <a:bodyPr/>
                <a:lstStyle/>
                <a:p>
                  <a:r>
                    <a:rPr lang="zh-CN" altLang="en-US">
                      <a:noFill/>
                    </a:rPr>
                    <a:t> </a:t>
                  </a:r>
                </a:p>
              </p:txBody>
            </p:sp>
          </mc:Fallback>
        </mc:AlternateContent>
        <p:sp>
          <p:nvSpPr>
            <p:cNvPr id="125" name="矩形: 圆角 51">
              <a:extLst>
                <a:ext uri="{FF2B5EF4-FFF2-40B4-BE49-F238E27FC236}">
                  <a16:creationId xmlns:a16="http://schemas.microsoft.com/office/drawing/2014/main" id="{2E44131E-B698-421B-AED2-FCF7460E8A71}"/>
                </a:ext>
              </a:extLst>
            </p:cNvPr>
            <p:cNvSpPr/>
            <p:nvPr/>
          </p:nvSpPr>
          <p:spPr>
            <a:xfrm rot="5400000">
              <a:off x="4914937" y="5373950"/>
              <a:ext cx="906781" cy="448716"/>
            </a:xfrm>
            <a:prstGeom prst="roundRect">
              <a:avLst/>
            </a:prstGeom>
            <a:solidFill>
              <a:srgbClr val="5B9BD5"/>
            </a:solidFill>
            <a:ln w="127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ltLang="zh-CN" b="0" dirty="0"/>
            </a:p>
          </p:txBody>
        </p:sp>
        <p:sp>
          <p:nvSpPr>
            <p:cNvPr id="126" name="矩形: 圆角 52">
              <a:extLst>
                <a:ext uri="{FF2B5EF4-FFF2-40B4-BE49-F238E27FC236}">
                  <a16:creationId xmlns:a16="http://schemas.microsoft.com/office/drawing/2014/main" id="{5F5B6F45-2F3D-45D8-BBDE-718F9C5D4135}"/>
                </a:ext>
              </a:extLst>
            </p:cNvPr>
            <p:cNvSpPr/>
            <p:nvPr/>
          </p:nvSpPr>
          <p:spPr>
            <a:xfrm rot="5400000">
              <a:off x="5232588" y="5691601"/>
              <a:ext cx="271478" cy="448716"/>
            </a:xfrm>
            <a:prstGeom prst="roundRect">
              <a:avLst/>
            </a:prstGeom>
            <a:solidFill>
              <a:srgbClr val="0070C0"/>
            </a:solidFill>
            <a:ln w="127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ltLang="zh-CN" b="0" dirty="0"/>
            </a:p>
          </p:txBody>
        </p:sp>
        <mc:AlternateContent xmlns:mc="http://schemas.openxmlformats.org/markup-compatibility/2006" xmlns:a14="http://schemas.microsoft.com/office/drawing/2010/main">
          <mc:Choice Requires="a14">
            <p:sp>
              <p:nvSpPr>
                <p:cNvPr id="127" name="文本框 53">
                  <a:extLst>
                    <a:ext uri="{FF2B5EF4-FFF2-40B4-BE49-F238E27FC236}">
                      <a16:creationId xmlns:a16="http://schemas.microsoft.com/office/drawing/2014/main" id="{A3DD4759-0F61-4563-8993-57129D603DB8}"/>
                    </a:ext>
                  </a:extLst>
                </p:cNvPr>
                <p:cNvSpPr txBox="1"/>
                <p:nvPr/>
              </p:nvSpPr>
              <p:spPr>
                <a:xfrm>
                  <a:off x="5143969" y="5317695"/>
                  <a:ext cx="451598" cy="369332"/>
                </a:xfrm>
                <a:prstGeom prst="rect">
                  <a:avLst/>
                </a:prstGeom>
                <a:noFill/>
                <a:ln w="12700">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a:rPr>
                          <m:t>𝑀</m:t>
                        </m:r>
                      </m:oMath>
                    </m:oMathPara>
                  </a14:m>
                  <a:endParaRPr lang="zh-CN" altLang="en-US" dirty="0">
                    <a:solidFill>
                      <a:schemeClr val="bg1"/>
                    </a:solidFill>
                  </a:endParaRPr>
                </a:p>
              </p:txBody>
            </p:sp>
          </mc:Choice>
          <mc:Fallback xmlns="">
            <p:sp>
              <p:nvSpPr>
                <p:cNvPr id="127" name="文本框 53">
                  <a:extLst>
                    <a:ext uri="{FF2B5EF4-FFF2-40B4-BE49-F238E27FC236}">
                      <a16:creationId xmlns="" xmlns:a16="http://schemas.microsoft.com/office/drawing/2014/main" xmlns:a14="http://schemas.microsoft.com/office/drawing/2010/main" id="{A3DD4759-0F61-4563-8993-57129D603DB8}"/>
                    </a:ext>
                  </a:extLst>
                </p:cNvPr>
                <p:cNvSpPr txBox="1">
                  <a:spLocks noRot="1" noChangeAspect="1" noMove="1" noResize="1" noEditPoints="1" noAdjustHandles="1" noChangeArrowheads="1" noChangeShapeType="1" noTextEdit="1"/>
                </p:cNvSpPr>
                <p:nvPr/>
              </p:nvSpPr>
              <p:spPr>
                <a:xfrm>
                  <a:off x="5143969" y="5317695"/>
                  <a:ext cx="451598" cy="369332"/>
                </a:xfrm>
                <a:prstGeom prst="rect">
                  <a:avLst/>
                </a:prstGeom>
                <a:blipFill rotWithShape="1">
                  <a:blip r:embed="rId8"/>
                  <a:stretch>
                    <a:fillRect/>
                  </a:stretch>
                </a:blipFill>
                <a:ln w="12700">
                  <a:noFill/>
                </a:ln>
              </p:spPr>
              <p:txBody>
                <a:bodyPr/>
                <a:lstStyle/>
                <a:p>
                  <a:r>
                    <a:rPr lang="zh-CN" altLang="en-US">
                      <a:noFill/>
                    </a:rPr>
                    <a:t> </a:t>
                  </a:r>
                </a:p>
              </p:txBody>
            </p:sp>
          </mc:Fallback>
        </mc:AlternateContent>
        <p:cxnSp>
          <p:nvCxnSpPr>
            <p:cNvPr id="128" name="连接符: 肘形 54">
              <a:extLst>
                <a:ext uri="{FF2B5EF4-FFF2-40B4-BE49-F238E27FC236}">
                  <a16:creationId xmlns:a16="http://schemas.microsoft.com/office/drawing/2014/main" id="{BAFC6F6E-B93D-49CA-A7F1-6238340923A0}"/>
                </a:ext>
              </a:extLst>
            </p:cNvPr>
            <p:cNvCxnSpPr>
              <a:cxnSpLocks/>
              <a:endCxn id="114" idx="0"/>
            </p:cNvCxnSpPr>
            <p:nvPr/>
          </p:nvCxnSpPr>
          <p:spPr>
            <a:xfrm>
              <a:off x="5595567" y="5338148"/>
              <a:ext cx="1762479" cy="110394"/>
            </a:xfrm>
            <a:prstGeom prst="bentConnector2">
              <a:avLst/>
            </a:prstGeom>
            <a:ln w="12700">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129" name="直接箭头连接符 128">
              <a:extLst>
                <a:ext uri="{FF2B5EF4-FFF2-40B4-BE49-F238E27FC236}">
                  <a16:creationId xmlns:a16="http://schemas.microsoft.com/office/drawing/2014/main" id="{D7DECE38-CBD3-4197-822B-4E52D0053C4D}"/>
                </a:ext>
              </a:extLst>
            </p:cNvPr>
            <p:cNvCxnSpPr>
              <a:cxnSpLocks/>
            </p:cNvCxnSpPr>
            <p:nvPr/>
          </p:nvCxnSpPr>
          <p:spPr>
            <a:xfrm flipV="1">
              <a:off x="3122484" y="5381055"/>
              <a:ext cx="1992248" cy="12290"/>
            </a:xfrm>
            <a:prstGeom prst="straightConnector1">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p:cxnSp>
          <p:nvCxnSpPr>
            <p:cNvPr id="130" name="连接符: 肘形 56">
              <a:extLst>
                <a:ext uri="{FF2B5EF4-FFF2-40B4-BE49-F238E27FC236}">
                  <a16:creationId xmlns:a16="http://schemas.microsoft.com/office/drawing/2014/main" id="{09303881-285D-46A5-9D1D-294DD63AD69D}"/>
                </a:ext>
              </a:extLst>
            </p:cNvPr>
            <p:cNvCxnSpPr>
              <a:cxnSpLocks/>
              <a:stCxn id="126" idx="0"/>
              <a:endCxn id="114" idx="2"/>
            </p:cNvCxnSpPr>
            <p:nvPr/>
          </p:nvCxnSpPr>
          <p:spPr>
            <a:xfrm flipV="1">
              <a:off x="5592685" y="5814796"/>
              <a:ext cx="1765361" cy="101163"/>
            </a:xfrm>
            <a:prstGeom prst="bentConnector2">
              <a:avLst/>
            </a:prstGeom>
            <a:ln w="12700">
              <a:solidFill>
                <a:schemeClr val="tx1"/>
              </a:solidFill>
              <a:tailEnd type="triangle"/>
            </a:ln>
          </p:spPr>
          <p:style>
            <a:lnRef idx="3">
              <a:schemeClr val="accent5"/>
            </a:lnRef>
            <a:fillRef idx="0">
              <a:schemeClr val="accent5"/>
            </a:fillRef>
            <a:effectRef idx="2">
              <a:schemeClr val="accent5"/>
            </a:effectRef>
            <a:fontRef idx="minor">
              <a:schemeClr val="tx1"/>
            </a:fontRef>
          </p:style>
        </p:cxnSp>
        <p:cxnSp>
          <p:nvCxnSpPr>
            <p:cNvPr id="131" name="直接箭头连接符 130">
              <a:extLst>
                <a:ext uri="{FF2B5EF4-FFF2-40B4-BE49-F238E27FC236}">
                  <a16:creationId xmlns:a16="http://schemas.microsoft.com/office/drawing/2014/main" id="{F4085339-5EB2-4318-9AB4-961B95EB1E16}"/>
                </a:ext>
              </a:extLst>
            </p:cNvPr>
            <p:cNvCxnSpPr>
              <a:cxnSpLocks/>
              <a:stCxn id="123" idx="0"/>
            </p:cNvCxnSpPr>
            <p:nvPr/>
          </p:nvCxnSpPr>
          <p:spPr>
            <a:xfrm flipV="1">
              <a:off x="4865787" y="5946109"/>
              <a:ext cx="504655" cy="351442"/>
            </a:xfrm>
            <a:prstGeom prst="straightConnector1">
              <a:avLst/>
            </a:prstGeom>
            <a:ln w="12700">
              <a:solidFill>
                <a:schemeClr val="tx1"/>
              </a:solidFill>
              <a:prstDash val="sysDash"/>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32" name="流程图: 决策 131">
                  <a:extLst>
                    <a:ext uri="{FF2B5EF4-FFF2-40B4-BE49-F238E27FC236}">
                      <a16:creationId xmlns:a16="http://schemas.microsoft.com/office/drawing/2014/main" id="{5D3EC26F-8B56-41A4-A6FA-574B5E813674}"/>
                    </a:ext>
                  </a:extLst>
                </p:cNvPr>
                <p:cNvSpPr/>
                <p:nvPr/>
              </p:nvSpPr>
              <p:spPr>
                <a:xfrm>
                  <a:off x="6044653" y="5697629"/>
                  <a:ext cx="477614" cy="448717"/>
                </a:xfrm>
                <a:prstGeom prst="flowChartDecision">
                  <a:avLst/>
                </a:prstGeom>
                <a:solidFill>
                  <a:srgbClr val="5B9BD5"/>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chemeClr val="bg1"/>
                            </a:solidFill>
                            <a:latin typeface="Cambria Math" panose="02040503050406030204" pitchFamily="18" charset="0"/>
                          </a:rPr>
                          <m:t> </m:t>
                        </m:r>
                        <m:r>
                          <a:rPr lang="en-US" altLang="zh-CN" i="1">
                            <a:solidFill>
                              <a:schemeClr val="bg1"/>
                            </a:solidFill>
                            <a:latin typeface="Cambria Math" panose="02040503050406030204" pitchFamily="18" charset="0"/>
                          </a:rPr>
                          <m:t>𝑆</m:t>
                        </m:r>
                      </m:oMath>
                    </m:oMathPara>
                  </a14:m>
                  <a:endParaRPr lang="zh-CN" altLang="en-US" i="1" dirty="0">
                    <a:solidFill>
                      <a:schemeClr val="bg1"/>
                    </a:solidFill>
                  </a:endParaRPr>
                </a:p>
              </p:txBody>
            </p:sp>
          </mc:Choice>
          <mc:Fallback xmlns="">
            <p:sp>
              <p:nvSpPr>
                <p:cNvPr id="132" name="流程图: 决策 131">
                  <a:extLst>
                    <a:ext uri="{FF2B5EF4-FFF2-40B4-BE49-F238E27FC236}">
                      <a16:creationId xmlns="" xmlns:a16="http://schemas.microsoft.com/office/drawing/2014/main" xmlns:a14="http://schemas.microsoft.com/office/drawing/2010/main" id="{5D3EC26F-8B56-41A4-A6FA-574B5E813674}"/>
                    </a:ext>
                  </a:extLst>
                </p:cNvPr>
                <p:cNvSpPr>
                  <a:spLocks noRot="1" noChangeAspect="1" noMove="1" noResize="1" noEditPoints="1" noAdjustHandles="1" noChangeArrowheads="1" noChangeShapeType="1" noTextEdit="1"/>
                </p:cNvSpPr>
                <p:nvPr/>
              </p:nvSpPr>
              <p:spPr>
                <a:xfrm>
                  <a:off x="6044653" y="5697629"/>
                  <a:ext cx="477614" cy="448717"/>
                </a:xfrm>
                <a:prstGeom prst="flowChartDecision">
                  <a:avLst/>
                </a:prstGeom>
                <a:blipFill rotWithShape="0">
                  <a:blip r:embed="rId9"/>
                  <a:stretch>
                    <a:fillRect/>
                  </a:stretch>
                </a:blipFill>
                <a:ln/>
              </p:spPr>
              <p:txBody>
                <a:bodyPr/>
                <a:lstStyle/>
                <a:p>
                  <a:r>
                    <a:rPr lang="zh-CN" altLang="en-US">
                      <a:noFill/>
                    </a:rPr>
                    <a:t> </a:t>
                  </a:r>
                </a:p>
              </p:txBody>
            </p:sp>
          </mc:Fallback>
        </mc:AlternateContent>
        <p:cxnSp>
          <p:nvCxnSpPr>
            <p:cNvPr id="133" name="直接箭头连接符 132">
              <a:extLst>
                <a:ext uri="{FF2B5EF4-FFF2-40B4-BE49-F238E27FC236}">
                  <a16:creationId xmlns:a16="http://schemas.microsoft.com/office/drawing/2014/main" id="{DF6505B4-4DCD-43BE-9629-41E9B1BBDBED}"/>
                </a:ext>
              </a:extLst>
            </p:cNvPr>
            <p:cNvCxnSpPr>
              <a:cxnSpLocks/>
            </p:cNvCxnSpPr>
            <p:nvPr/>
          </p:nvCxnSpPr>
          <p:spPr>
            <a:xfrm flipV="1">
              <a:off x="6279341" y="6146346"/>
              <a:ext cx="0" cy="174746"/>
            </a:xfrm>
            <a:prstGeom prst="straightConnector1">
              <a:avLst/>
            </a:prstGeom>
            <a:ln w="12700">
              <a:solidFill>
                <a:schemeClr val="tx1"/>
              </a:solidFill>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34" name="文本框 61">
                  <a:extLst>
                    <a:ext uri="{FF2B5EF4-FFF2-40B4-BE49-F238E27FC236}">
                      <a16:creationId xmlns:a16="http://schemas.microsoft.com/office/drawing/2014/main" id="{6F719058-DCAB-4F1A-BBC7-264CEB6E3A3E}"/>
                    </a:ext>
                  </a:extLst>
                </p:cNvPr>
                <p:cNvSpPr txBox="1"/>
                <p:nvPr/>
              </p:nvSpPr>
              <p:spPr>
                <a:xfrm>
                  <a:off x="5955919" y="6325600"/>
                  <a:ext cx="646844" cy="369332"/>
                </a:xfrm>
                <a:prstGeom prst="rect">
                  <a:avLst/>
                </a:prstGeom>
                <a:noFill/>
                <a:ln w="12700">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𝑃</m:t>
                            </m:r>
                            <m:r>
                              <a:rPr lang="en-US" altLang="zh-CN" b="0" i="1" smtClean="0">
                                <a:latin typeface="Cambria Math"/>
                              </a:rPr>
                              <m:t>𝐾</m:t>
                            </m:r>
                          </m:e>
                          <m:sub>
                            <m:r>
                              <a:rPr lang="en-US" altLang="zh-CN" b="0" i="1" smtClean="0">
                                <a:latin typeface="Cambria Math"/>
                              </a:rPr>
                              <m:t>𝐴</m:t>
                            </m:r>
                          </m:sub>
                        </m:sSub>
                      </m:oMath>
                    </m:oMathPara>
                  </a14:m>
                  <a:endParaRPr lang="en-US" altLang="zh-CN" dirty="0"/>
                </a:p>
              </p:txBody>
            </p:sp>
          </mc:Choice>
          <mc:Fallback xmlns="">
            <p:sp>
              <p:nvSpPr>
                <p:cNvPr id="134" name="文本框 61">
                  <a:extLst>
                    <a:ext uri="{FF2B5EF4-FFF2-40B4-BE49-F238E27FC236}">
                      <a16:creationId xmlns="" xmlns:a16="http://schemas.microsoft.com/office/drawing/2014/main" xmlns:a14="http://schemas.microsoft.com/office/drawing/2010/main" id="{6F719058-DCAB-4F1A-BBC7-264CEB6E3A3E}"/>
                    </a:ext>
                  </a:extLst>
                </p:cNvPr>
                <p:cNvSpPr txBox="1">
                  <a:spLocks noRot="1" noChangeAspect="1" noMove="1" noResize="1" noEditPoints="1" noAdjustHandles="1" noChangeArrowheads="1" noChangeShapeType="1" noTextEdit="1"/>
                </p:cNvSpPr>
                <p:nvPr/>
              </p:nvSpPr>
              <p:spPr>
                <a:xfrm>
                  <a:off x="5955919" y="6325600"/>
                  <a:ext cx="646844" cy="369332"/>
                </a:xfrm>
                <a:prstGeom prst="rect">
                  <a:avLst/>
                </a:prstGeom>
                <a:blipFill rotWithShape="1">
                  <a:blip r:embed="rId10"/>
                  <a:stretch>
                    <a:fillRect/>
                  </a:stretch>
                </a:blipFill>
                <a:ln w="12700">
                  <a:noFill/>
                </a:ln>
              </p:spPr>
              <p:txBody>
                <a:bodyPr/>
                <a:lstStyle/>
                <a:p>
                  <a:r>
                    <a:rPr lang="zh-CN" altLang="en-US">
                      <a:noFill/>
                    </a:rPr>
                    <a:t> </a:t>
                  </a:r>
                </a:p>
              </p:txBody>
            </p:sp>
          </mc:Fallback>
        </mc:AlternateContent>
      </p:grpSp>
      <p:pic>
        <p:nvPicPr>
          <p:cNvPr id="137" name="图形 64" descr="男学生 轮廓">
            <a:extLst>
              <a:ext uri="{FF2B5EF4-FFF2-40B4-BE49-F238E27FC236}">
                <a16:creationId xmlns:a16="http://schemas.microsoft.com/office/drawing/2014/main" id="{F75F5E0B-0403-4EBE-8989-D22273A50507}"/>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543942" y="3420171"/>
            <a:ext cx="914400" cy="914400"/>
          </a:xfrm>
          <a:prstGeom prst="rect">
            <a:avLst/>
          </a:prstGeom>
        </p:spPr>
      </p:pic>
      <p:pic>
        <p:nvPicPr>
          <p:cNvPr id="138" name="图形 65" descr="女学生 轮廓">
            <a:extLst>
              <a:ext uri="{FF2B5EF4-FFF2-40B4-BE49-F238E27FC236}">
                <a16:creationId xmlns:a16="http://schemas.microsoft.com/office/drawing/2014/main" id="{77C6799D-056A-402B-9290-59BF792D8BC8}"/>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56783" y="3420171"/>
            <a:ext cx="914400" cy="914400"/>
          </a:xfrm>
          <a:prstGeom prst="rect">
            <a:avLst/>
          </a:prstGeom>
        </p:spPr>
      </p:pic>
    </p:spTree>
    <p:extLst>
      <p:ext uri="{BB962C8B-B14F-4D97-AF65-F5344CB8AC3E}">
        <p14:creationId xmlns:p14="http://schemas.microsoft.com/office/powerpoint/2010/main" val="1329678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17</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身份认证 </a:t>
            </a:r>
            <a:r>
              <a:rPr lang="en-US" altLang="zh-CN" sz="2400" b="1" dirty="0">
                <a:solidFill>
                  <a:srgbClr val="FF0000"/>
                </a:solidFill>
                <a:latin typeface="Times New Roman" panose="02020603050405020304" pitchFamily="18" charset="0"/>
                <a:cs typeface="Times New Roman" panose="02020603050405020304" pitchFamily="18" charset="0"/>
              </a:rPr>
              <a:t>(Identity Authentication)</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230A9E4F-43B4-AA23-7D0D-22A19A0F5A09}"/>
              </a:ext>
            </a:extLst>
          </p:cNvPr>
          <p:cNvSpPr txBox="1"/>
          <p:nvPr/>
        </p:nvSpPr>
        <p:spPr>
          <a:xfrm>
            <a:off x="312517" y="1797588"/>
            <a:ext cx="8479945" cy="4216539"/>
          </a:xfrm>
          <a:prstGeom prst="rect">
            <a:avLst/>
          </a:prstGeom>
          <a:noFill/>
          <a:ln>
            <a:noFill/>
          </a:ln>
        </p:spPr>
        <p:txBody>
          <a:bodyPr wrap="square" rtlCol="0">
            <a:spAutoFit/>
          </a:bodyPr>
          <a:lstStyle/>
          <a:p>
            <a:pPr>
              <a:lnSpc>
                <a:spcPct val="150000"/>
              </a:lnSpc>
              <a:spcBef>
                <a:spcPts val="600"/>
              </a:spcBef>
            </a:pPr>
            <a:r>
              <a:rPr lang="zh-CN" altLang="en-US" sz="2000" dirty="0">
                <a:solidFill>
                  <a:srgbClr val="0000FF"/>
                </a:solidFill>
                <a:latin typeface="Times New Roman" panose="02020603050405020304" pitchFamily="18" charset="0"/>
                <a:cs typeface="Times New Roman" panose="02020603050405020304" pitchFamily="18" charset="0"/>
              </a:rPr>
              <a:t>身份认证</a:t>
            </a:r>
            <a:r>
              <a:rPr lang="zh-CN" altLang="en-US" sz="2000" dirty="0">
                <a:latin typeface="Times New Roman" panose="02020603050405020304" pitchFamily="18" charset="0"/>
                <a:cs typeface="Times New Roman" panose="02020603050405020304" pitchFamily="18" charset="0"/>
              </a:rPr>
              <a:t>是一个系统实体所声称身份的正确性验证过程。</a:t>
            </a:r>
          </a:p>
          <a:p>
            <a:pPr marL="342900" indent="-342900">
              <a:lnSpc>
                <a:spcPct val="130000"/>
              </a:lnSpc>
              <a:spcBef>
                <a:spcPts val="12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身份认证与消息认证的区别</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消息认证：旨在验证</a:t>
            </a:r>
            <a:r>
              <a:rPr lang="zh-CN" altLang="en-US" sz="2000" dirty="0">
                <a:solidFill>
                  <a:srgbClr val="0000FF"/>
                </a:solidFill>
                <a:latin typeface="Times New Roman" panose="02020603050405020304" pitchFamily="18" charset="0"/>
                <a:cs typeface="Times New Roman" panose="02020603050405020304" pitchFamily="18" charset="0"/>
              </a:rPr>
              <a:t>消息的完整性</a:t>
            </a:r>
            <a:r>
              <a:rPr lang="zh-CN" altLang="en-US" sz="2000" dirty="0">
                <a:latin typeface="Times New Roman" panose="02020603050405020304" pitchFamily="18" charset="0"/>
                <a:cs typeface="Times New Roman" panose="02020603050405020304" pitchFamily="18" charset="0"/>
              </a:rPr>
              <a:t>，确保消息没有被篡改。</a:t>
            </a:r>
            <a:endParaRPr lang="en-US" altLang="zh-CN" sz="2000" dirty="0">
              <a:solidFill>
                <a:srgbClr val="FF0000"/>
              </a:solidFill>
              <a:latin typeface="Times New Roman" panose="02020603050405020304" pitchFamily="18" charset="0"/>
              <a:cs typeface="Times New Roman" panose="02020603050405020304" pitchFamily="18" charset="0"/>
            </a:endParaRPr>
          </a:p>
          <a:p>
            <a:pPr marL="800100" lvl="1" indent="-342900">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身份认证：旨在确认</a:t>
            </a:r>
            <a:r>
              <a:rPr lang="zh-CN" altLang="en-US" sz="2000" dirty="0">
                <a:solidFill>
                  <a:srgbClr val="0000FF"/>
                </a:solidFill>
                <a:latin typeface="Times New Roman" panose="02020603050405020304" pitchFamily="18" charset="0"/>
                <a:cs typeface="Times New Roman" panose="02020603050405020304" pitchFamily="18" charset="0"/>
              </a:rPr>
              <a:t>实体的身份</a:t>
            </a:r>
            <a:r>
              <a:rPr lang="zh-CN" altLang="en-US" sz="2000" dirty="0">
                <a:latin typeface="Times New Roman" panose="02020603050405020304" pitchFamily="18" charset="0"/>
                <a:cs typeface="Times New Roman" panose="02020603050405020304" pitchFamily="18" charset="0"/>
              </a:rPr>
              <a:t>，即当前所声称为某种身份的实体（如用户、设备或系统）确实是其所声称的实体。</a:t>
            </a:r>
            <a:endParaRPr lang="en-US" altLang="zh-CN" sz="2000" dirty="0">
              <a:latin typeface="Times New Roman" panose="02020603050405020304" pitchFamily="18" charset="0"/>
              <a:cs typeface="Times New Roman" panose="02020603050405020304" pitchFamily="18" charset="0"/>
            </a:endParaRPr>
          </a:p>
          <a:p>
            <a:pPr marL="342900" indent="-342900">
              <a:lnSpc>
                <a:spcPct val="130000"/>
              </a:lnSpc>
              <a:spcBef>
                <a:spcPts val="12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身份认证和身份鉴别：</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30000"/>
              </a:lnSpc>
              <a:spcBef>
                <a:spcPts val="12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你到底是不是你所声称的 </a:t>
            </a:r>
            <a:r>
              <a:rPr lang="en-US" altLang="zh-CN" sz="2000" dirty="0">
                <a:latin typeface="Times New Roman" panose="02020603050405020304" pitchFamily="18" charset="0"/>
                <a:cs typeface="Times New Roman" panose="02020603050405020304" pitchFamily="18" charset="0"/>
              </a:rPr>
              <a:t>Alice</a:t>
            </a:r>
            <a:r>
              <a:rPr lang="zh-CN" altLang="en-US" sz="2000" dirty="0">
                <a:latin typeface="Times New Roman" panose="02020603050405020304" pitchFamily="18" charset="0"/>
                <a:cs typeface="Times New Roman" panose="02020603050405020304" pitchFamily="18" charset="0"/>
              </a:rPr>
              <a:t>？</a:t>
            </a:r>
            <a:r>
              <a:rPr lang="zh-CN" altLang="en-US" sz="2000" dirty="0">
                <a:solidFill>
                  <a:srgbClr val="C00000"/>
                </a:solidFill>
                <a:latin typeface="Times New Roman" panose="02020603050405020304" pitchFamily="18" charset="0"/>
                <a:cs typeface="Times New Roman" panose="02020603050405020304" pitchFamily="18" charset="0"/>
              </a:rPr>
              <a:t>决策性问题</a:t>
            </a:r>
            <a:endParaRPr lang="en-US" altLang="zh-CN" sz="2000" dirty="0">
              <a:solidFill>
                <a:srgbClr val="C00000"/>
              </a:solidFill>
              <a:latin typeface="Times New Roman" panose="02020603050405020304" pitchFamily="18" charset="0"/>
              <a:cs typeface="Times New Roman" panose="02020603050405020304" pitchFamily="18" charset="0"/>
            </a:endParaRPr>
          </a:p>
          <a:p>
            <a:pPr marL="800100" lvl="1" indent="-342900">
              <a:lnSpc>
                <a:spcPct val="130000"/>
              </a:lnSpc>
              <a:spcBef>
                <a:spcPts val="12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你到底是谁？</a:t>
            </a:r>
            <a:r>
              <a:rPr lang="zh-CN" altLang="en-US" sz="2000" dirty="0">
                <a:solidFill>
                  <a:srgbClr val="C00000"/>
                </a:solidFill>
                <a:latin typeface="Times New Roman" panose="02020603050405020304" pitchFamily="18" charset="0"/>
                <a:cs typeface="Times New Roman" panose="02020603050405020304" pitchFamily="18" charset="0"/>
              </a:rPr>
              <a:t>计算性问题</a:t>
            </a:r>
            <a:endParaRPr lang="en-US" altLang="zh-CN" sz="20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7477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18</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00110"/>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b="1" dirty="0">
                <a:solidFill>
                  <a:srgbClr val="FF0000"/>
                </a:solidFill>
                <a:latin typeface="Times New Roman" panose="02020603050405020304" pitchFamily="18" charset="0"/>
                <a:cs typeface="Times New Roman" panose="02020603050405020304" pitchFamily="18" charset="0"/>
              </a:rPr>
              <a:t>对身份认证的重放攻击</a:t>
            </a:r>
          </a:p>
        </p:txBody>
      </p:sp>
      <p:sp>
        <p:nvSpPr>
          <p:cNvPr id="4" name="文本框 3">
            <a:extLst>
              <a:ext uri="{FF2B5EF4-FFF2-40B4-BE49-F238E27FC236}">
                <a16:creationId xmlns:a16="http://schemas.microsoft.com/office/drawing/2014/main" id="{230A9E4F-43B4-AA23-7D0D-22A19A0F5A09}"/>
              </a:ext>
            </a:extLst>
          </p:cNvPr>
          <p:cNvSpPr txBox="1"/>
          <p:nvPr/>
        </p:nvSpPr>
        <p:spPr>
          <a:xfrm>
            <a:off x="273496" y="1590586"/>
            <a:ext cx="8518965" cy="2713948"/>
          </a:xfrm>
          <a:prstGeom prst="rect">
            <a:avLst/>
          </a:prstGeom>
          <a:noFill/>
        </p:spPr>
        <p:txBody>
          <a:bodyPr wrap="square" rtlCol="0">
            <a:spAutoFit/>
          </a:bodyPr>
          <a:lstStyle/>
          <a:p>
            <a:pPr marL="914400" lvl="1" indent="-457200" algn="just">
              <a:lnSpc>
                <a:spcPct val="120000"/>
              </a:lnSpc>
              <a:spcBef>
                <a:spcPts val="600"/>
              </a:spcBef>
              <a:buFont typeface="Wingdings" panose="05000000000000000000" pitchFamily="2" charset="2"/>
              <a:buChar char="Ø"/>
            </a:pPr>
            <a:r>
              <a:rPr lang="zh-CN" altLang="en-US" sz="1900" dirty="0">
                <a:latin typeface="Times New Roman" panose="02020603050405020304" pitchFamily="18" charset="0"/>
                <a:cs typeface="Times New Roman" panose="02020603050405020304" pitchFamily="18" charset="0"/>
              </a:rPr>
              <a:t>敌手简单地复制一个消息，然后再重放它</a:t>
            </a:r>
            <a:r>
              <a:rPr lang="en-US" altLang="zh-CN" sz="1900" dirty="0">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rPr>
              <a:t>最简单</a:t>
            </a:r>
            <a:r>
              <a:rPr lang="en-US" altLang="zh-CN" sz="1900" dirty="0">
                <a:latin typeface="Times New Roman" panose="02020603050405020304" pitchFamily="18" charset="0"/>
                <a:cs typeface="Times New Roman" panose="02020603050405020304" pitchFamily="18" charset="0"/>
              </a:rPr>
              <a:t>)</a:t>
            </a:r>
            <a:endParaRPr lang="zh-CN" altLang="en-US" sz="1900" dirty="0">
              <a:latin typeface="Times New Roman" panose="02020603050405020304" pitchFamily="18" charset="0"/>
              <a:cs typeface="Times New Roman" panose="02020603050405020304" pitchFamily="18" charset="0"/>
            </a:endParaRPr>
          </a:p>
          <a:p>
            <a:pPr marL="914400" lvl="1" indent="-457200" algn="just">
              <a:lnSpc>
                <a:spcPct val="120000"/>
              </a:lnSpc>
              <a:spcBef>
                <a:spcPts val="600"/>
              </a:spcBef>
              <a:buFont typeface="Wingdings" panose="05000000000000000000" pitchFamily="2" charset="2"/>
              <a:buChar char="Ø"/>
            </a:pPr>
            <a:r>
              <a:rPr lang="zh-CN" altLang="en-US" sz="1900" dirty="0">
                <a:latin typeface="Times New Roman" panose="02020603050405020304" pitchFamily="18" charset="0"/>
                <a:cs typeface="Times New Roman" panose="02020603050405020304" pitchFamily="18" charset="0"/>
              </a:rPr>
              <a:t>敌手可以在有效的时间窗口内重放一个有时间戳的消息</a:t>
            </a:r>
          </a:p>
          <a:p>
            <a:pPr marL="914400" lvl="1" indent="-457200" algn="just">
              <a:lnSpc>
                <a:spcPct val="120000"/>
              </a:lnSpc>
              <a:spcBef>
                <a:spcPts val="600"/>
              </a:spcBef>
              <a:buFont typeface="Wingdings" panose="05000000000000000000" pitchFamily="2" charset="2"/>
              <a:buChar char="Ø"/>
            </a:pPr>
            <a:r>
              <a:rPr lang="zh-CN" altLang="en-US" sz="1900" dirty="0">
                <a:latin typeface="Times New Roman" panose="02020603050405020304" pitchFamily="18" charset="0"/>
                <a:cs typeface="Times New Roman" panose="02020603050405020304" pitchFamily="18" charset="0"/>
              </a:rPr>
              <a:t>敌手可以在有效的时间窗口内重放一个有时间戳的消息，还</a:t>
            </a:r>
            <a:r>
              <a:rPr lang="zh-CN" altLang="en-US" sz="1900" b="0" i="0" dirty="0">
                <a:solidFill>
                  <a:srgbClr val="2A2B2E"/>
                </a:solidFill>
                <a:effectLst/>
                <a:latin typeface="Times New Roman" panose="02020603050405020304" pitchFamily="18" charset="0"/>
                <a:cs typeface="Times New Roman" panose="02020603050405020304" pitchFamily="18" charset="0"/>
              </a:rPr>
              <a:t>封锁</a:t>
            </a:r>
            <a:r>
              <a:rPr lang="zh-CN" altLang="en-US" sz="1900" dirty="0">
                <a:latin typeface="Times New Roman" panose="02020603050405020304" pitchFamily="18" charset="0"/>
                <a:cs typeface="Times New Roman" panose="02020603050405020304" pitchFamily="18" charset="0"/>
              </a:rPr>
              <a:t>了原始消息，导致无法检测到重放</a:t>
            </a:r>
          </a:p>
          <a:p>
            <a:pPr marL="914400" lvl="1" indent="-457200" algn="just">
              <a:lnSpc>
                <a:spcPct val="120000"/>
              </a:lnSpc>
              <a:spcBef>
                <a:spcPts val="600"/>
              </a:spcBef>
              <a:buFont typeface="Wingdings" panose="05000000000000000000" pitchFamily="2" charset="2"/>
              <a:buChar char="Ø"/>
            </a:pPr>
            <a:r>
              <a:rPr lang="zh-CN" altLang="en-US" sz="1900" b="0" i="0" dirty="0">
                <a:solidFill>
                  <a:srgbClr val="0000FF"/>
                </a:solidFill>
                <a:effectLst/>
                <a:latin typeface="Times New Roman" panose="02020603050405020304" pitchFamily="18" charset="0"/>
                <a:cs typeface="Times New Roman" panose="02020603050405020304" pitchFamily="18" charset="0"/>
              </a:rPr>
              <a:t>反射攻击</a:t>
            </a:r>
            <a:r>
              <a:rPr lang="en-US" altLang="zh-CN" sz="1900" b="0" i="0" dirty="0">
                <a:solidFill>
                  <a:srgbClr val="0000FF"/>
                </a:solidFill>
                <a:effectLst/>
                <a:latin typeface="Times New Roman" panose="02020603050405020304" pitchFamily="18" charset="0"/>
                <a:cs typeface="Times New Roman" panose="02020603050405020304" pitchFamily="18" charset="0"/>
              </a:rPr>
              <a:t>(Reflection Attack)</a:t>
            </a:r>
            <a:r>
              <a:rPr lang="zh-CN" altLang="en-US" sz="1900" b="0" i="0" dirty="0">
                <a:solidFill>
                  <a:srgbClr val="333333"/>
                </a:solidFill>
                <a:effectLst/>
                <a:latin typeface="Times New Roman" panose="02020603050405020304" pitchFamily="18" charset="0"/>
                <a:cs typeface="Times New Roman" panose="02020603050405020304" pitchFamily="18" charset="0"/>
              </a:rPr>
              <a:t>：</a:t>
            </a:r>
            <a:r>
              <a:rPr lang="zh-CN" altLang="en-US" sz="1900" dirty="0">
                <a:latin typeface="Times New Roman" panose="02020603050405020304" pitchFamily="18" charset="0"/>
                <a:cs typeface="Times New Roman" panose="02020603050405020304" pitchFamily="18" charset="0"/>
              </a:rPr>
              <a:t>不加修改的后向重放，</a:t>
            </a:r>
            <a:r>
              <a:rPr lang="zh-CN" altLang="en-US" sz="1800" dirty="0">
                <a:latin typeface="Times New Roman" panose="02020603050405020304" pitchFamily="18" charset="0"/>
                <a:cs typeface="Times New Roman" panose="02020603050405020304" pitchFamily="18" charset="0"/>
              </a:rPr>
              <a:t>特定于对称加密系统。</a:t>
            </a:r>
            <a:r>
              <a:rPr lang="zh-CN" altLang="en-US" sz="1800" b="0" i="0" dirty="0">
                <a:solidFill>
                  <a:srgbClr val="374151"/>
                </a:solidFill>
                <a:effectLst/>
                <a:latin typeface="Söhne"/>
              </a:rPr>
              <a:t>攻击者将截获的消息反射回发送者，由于</a:t>
            </a:r>
            <a:r>
              <a:rPr lang="zh-CN" altLang="en-US" sz="1800" dirty="0">
                <a:latin typeface="Times New Roman" panose="02020603050405020304" pitchFamily="18" charset="0"/>
                <a:cs typeface="Times New Roman" panose="02020603050405020304" pitchFamily="18" charset="0"/>
              </a:rPr>
              <a:t>发送者无法区分</a:t>
            </a:r>
            <a:r>
              <a:rPr lang="zh-CN" altLang="en-US" sz="1800" b="0" i="0" dirty="0">
                <a:solidFill>
                  <a:srgbClr val="374151"/>
                </a:solidFill>
                <a:effectLst/>
                <a:latin typeface="Söhne"/>
              </a:rPr>
              <a:t>是自己发送的消息还是接收的消息，可能处理这个重放的消息，导致非预期操作</a:t>
            </a:r>
            <a:endParaRPr lang="en-US" altLang="zh-CN" sz="19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5900C474-5C96-4778-8C96-E314E6E528FF}"/>
              </a:ext>
            </a:extLst>
          </p:cNvPr>
          <p:cNvSpPr txBox="1"/>
          <p:nvPr/>
        </p:nvSpPr>
        <p:spPr>
          <a:xfrm>
            <a:off x="312516" y="4340610"/>
            <a:ext cx="8479945" cy="2172903"/>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应对重放攻击的方法</a:t>
            </a:r>
            <a:endParaRPr lang="en-US" altLang="zh-CN" sz="2000" dirty="0">
              <a:latin typeface="Times New Roman" panose="02020603050405020304" pitchFamily="18" charset="0"/>
              <a:cs typeface="Times New Roman" panose="02020603050405020304" pitchFamily="18" charset="0"/>
            </a:endParaRPr>
          </a:p>
          <a:p>
            <a:pPr marL="914400" lvl="1" indent="-457200" algn="just">
              <a:lnSpc>
                <a:spcPct val="120000"/>
              </a:lnSpc>
              <a:spcBef>
                <a:spcPts val="600"/>
              </a:spcBef>
              <a:buFont typeface="Wingdings" panose="05000000000000000000" pitchFamily="2" charset="2"/>
              <a:buChar char="Ø"/>
            </a:pPr>
            <a:r>
              <a:rPr lang="zh-CN" altLang="en-US" sz="1900" dirty="0">
                <a:latin typeface="Times New Roman" panose="02020603050405020304" pitchFamily="18" charset="0"/>
                <a:cs typeface="Times New Roman" panose="02020603050405020304" pitchFamily="18" charset="0"/>
              </a:rPr>
              <a:t>为认证交换中使用的每条信息附上一个</a:t>
            </a:r>
            <a:r>
              <a:rPr lang="zh-CN" altLang="en-US" sz="1900" dirty="0">
                <a:solidFill>
                  <a:srgbClr val="0000FF"/>
                </a:solidFill>
                <a:latin typeface="Times New Roman" panose="02020603050405020304" pitchFamily="18" charset="0"/>
                <a:cs typeface="Times New Roman" panose="02020603050405020304" pitchFamily="18" charset="0"/>
              </a:rPr>
              <a:t>序列号</a:t>
            </a:r>
            <a:endParaRPr lang="en-US" altLang="zh-CN" sz="1900" dirty="0">
              <a:solidFill>
                <a:srgbClr val="0000FF"/>
              </a:solidFill>
              <a:latin typeface="Times New Roman" panose="02020603050405020304" pitchFamily="18" charset="0"/>
              <a:cs typeface="Times New Roman" panose="02020603050405020304" pitchFamily="18" charset="0"/>
            </a:endParaRPr>
          </a:p>
          <a:p>
            <a:pPr marL="914400" lvl="1" indent="-457200" algn="just">
              <a:lnSpc>
                <a:spcPct val="120000"/>
              </a:lnSpc>
              <a:spcBef>
                <a:spcPts val="600"/>
              </a:spcBef>
              <a:buFont typeface="Wingdings" panose="05000000000000000000" pitchFamily="2" charset="2"/>
              <a:buChar char="Ø"/>
            </a:pPr>
            <a:r>
              <a:rPr lang="zh-CN" altLang="en-US" sz="1900" dirty="0">
                <a:latin typeface="Times New Roman" panose="02020603050405020304" pitchFamily="18" charset="0"/>
                <a:cs typeface="Times New Roman" panose="02020603050405020304" pitchFamily="18" charset="0"/>
              </a:rPr>
              <a:t>时间戳：要求各参与方的时钟保持同步</a:t>
            </a:r>
            <a:endParaRPr lang="en-US" altLang="zh-CN" sz="1900" dirty="0">
              <a:latin typeface="Times New Roman" panose="02020603050405020304" pitchFamily="18" charset="0"/>
              <a:cs typeface="Times New Roman" panose="02020603050405020304" pitchFamily="18" charset="0"/>
            </a:endParaRPr>
          </a:p>
          <a:p>
            <a:pPr marL="914400" lvl="1" indent="-457200" algn="just">
              <a:lnSpc>
                <a:spcPct val="120000"/>
              </a:lnSpc>
              <a:spcBef>
                <a:spcPts val="600"/>
              </a:spcBef>
              <a:buFont typeface="Wingdings" panose="05000000000000000000" pitchFamily="2" charset="2"/>
              <a:buChar char="Ø"/>
              <a:defRPr/>
            </a:pPr>
            <a:r>
              <a:rPr kumimoji="0" lang="zh-CN" altLang="en-US" sz="19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挑战</a:t>
            </a:r>
            <a:r>
              <a:rPr kumimoji="0" lang="en-US" altLang="zh-CN" sz="19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zh-CN" altLang="en-US" sz="19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回应：发送一个</a:t>
            </a:r>
            <a:r>
              <a:rPr kumimoji="0" lang="en-US" altLang="zh-CN" sz="19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a:cs typeface="Times New Roman" panose="02020603050405020304" pitchFamily="18" charset="0"/>
              </a:rPr>
              <a:t>nonce</a:t>
            </a:r>
            <a:endParaRPr kumimoji="0" lang="en-US" altLang="zh-CN" sz="19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914400" lvl="1" indent="-457200" algn="just">
              <a:lnSpc>
                <a:spcPct val="120000"/>
              </a:lnSpc>
              <a:spcBef>
                <a:spcPts val="600"/>
              </a:spcBef>
              <a:buFont typeface="Wingdings" panose="05000000000000000000" pitchFamily="2" charset="2"/>
              <a:buChar char="Ø"/>
              <a:defRPr/>
            </a:pPr>
            <a:r>
              <a:rPr kumimoji="0" lang="zh-CN" altLang="en-US" sz="19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绑定 </a:t>
            </a:r>
            <a:r>
              <a:rPr kumimoji="0" lang="en-US" altLang="zh-CN" sz="19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(Binding)</a:t>
            </a:r>
          </a:p>
        </p:txBody>
      </p:sp>
    </p:spTree>
    <p:extLst>
      <p:ext uri="{BB962C8B-B14F-4D97-AF65-F5344CB8AC3E}">
        <p14:creationId xmlns:p14="http://schemas.microsoft.com/office/powerpoint/2010/main" val="469839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19</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5" y="1117244"/>
            <a:ext cx="6796943" cy="461665"/>
          </a:xfrm>
          <a:prstGeom prst="rect">
            <a:avLst/>
          </a:prstGeom>
          <a:noFill/>
        </p:spPr>
        <p:txBody>
          <a:bodyPr wrap="square" rtlCol="0">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身份认证的基本途径</a:t>
            </a:r>
          </a:p>
        </p:txBody>
      </p:sp>
      <p:sp>
        <p:nvSpPr>
          <p:cNvPr id="4" name="文本框 3">
            <a:extLst>
              <a:ext uri="{FF2B5EF4-FFF2-40B4-BE49-F238E27FC236}">
                <a16:creationId xmlns:a16="http://schemas.microsoft.com/office/drawing/2014/main" id="{230A9E4F-43B4-AA23-7D0D-22A19A0F5A09}"/>
              </a:ext>
            </a:extLst>
          </p:cNvPr>
          <p:cNvSpPr txBox="1"/>
          <p:nvPr/>
        </p:nvSpPr>
        <p:spPr>
          <a:xfrm>
            <a:off x="127580" y="1708183"/>
            <a:ext cx="8479945" cy="2092881"/>
          </a:xfrm>
          <a:prstGeom prst="rect">
            <a:avLst/>
          </a:prstGeom>
          <a:noFill/>
        </p:spPr>
        <p:txBody>
          <a:bodyPr wrap="square" rtlCol="0">
            <a:spAutoFit/>
          </a:bodyPr>
          <a:lstStyle/>
          <a:p>
            <a:pPr marL="800100" lvl="1" indent="-342900">
              <a:lnSpc>
                <a:spcPct val="15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所知：</a:t>
            </a:r>
            <a:r>
              <a:rPr lang="zh-CN" altLang="en-US" sz="2000" dirty="0">
                <a:latin typeface="Times New Roman" panose="02020603050405020304" pitchFamily="18" charset="0"/>
                <a:cs typeface="Times New Roman" panose="02020603050405020304" pitchFamily="18" charset="0"/>
              </a:rPr>
              <a:t>例如口令、个人识别密码</a:t>
            </a:r>
            <a:r>
              <a:rPr lang="en-US" altLang="zh-CN" sz="2000" dirty="0">
                <a:latin typeface="Times New Roman" panose="02020603050405020304" pitchFamily="18" charset="0"/>
                <a:cs typeface="Times New Roman" panose="02020603050405020304" pitchFamily="18" charset="0"/>
              </a:rPr>
              <a:t>(PIN</a:t>
            </a:r>
            <a:r>
              <a:rPr lang="zh-CN" altLang="en-US" sz="2000" dirty="0">
                <a:latin typeface="Times New Roman" panose="02020603050405020304" pitchFamily="18" charset="0"/>
                <a:cs typeface="Times New Roman" panose="02020603050405020304" pitchFamily="18" charset="0"/>
              </a:rPr>
              <a:t>码</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或对预设问题的回答 </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5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所有：</a:t>
            </a:r>
            <a:r>
              <a:rPr lang="zh-CN" altLang="en-US" sz="2000" dirty="0">
                <a:latin typeface="Times New Roman" panose="02020603050405020304" pitchFamily="18" charset="0"/>
                <a:cs typeface="Times New Roman" panose="02020603050405020304" pitchFamily="18" charset="0"/>
              </a:rPr>
              <a:t>例如加密钥匙、电子钥匙卡、智能卡和物理钥匙等认证器</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800100" lvl="1" indent="-342900">
              <a:lnSpc>
                <a:spcPct val="15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生物特征</a:t>
            </a:r>
            <a:r>
              <a:rPr lang="zh-CN" altLang="en-US" sz="2000" dirty="0">
                <a:latin typeface="Times New Roman" panose="02020603050405020304" pitchFamily="18" charset="0"/>
                <a:cs typeface="Times New Roman" panose="02020603050405020304" pitchFamily="18" charset="0"/>
              </a:rPr>
              <a:t>：例如通过指纹、视网膜、脸部识别、声音、笔迹特征和击键节奏识别等等</a:t>
            </a:r>
            <a:endParaRPr lang="en-US" altLang="zh-CN" sz="20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A0AFCFCC-0908-454F-8376-712C42C0F9CE}"/>
              </a:ext>
            </a:extLst>
          </p:cNvPr>
          <p:cNvSpPr txBox="1"/>
          <p:nvPr/>
        </p:nvSpPr>
        <p:spPr>
          <a:xfrm>
            <a:off x="127580" y="3892748"/>
            <a:ext cx="8479945" cy="2616101"/>
          </a:xfrm>
          <a:prstGeom prst="rect">
            <a:avLst/>
          </a:prstGeom>
          <a:noFill/>
        </p:spPr>
        <p:txBody>
          <a:bodyPr wrap="square" rtlCol="0">
            <a:spAutoFit/>
          </a:bodyPr>
          <a:lstStyle/>
          <a:p>
            <a:pPr>
              <a:lnSpc>
                <a:spcPct val="120000"/>
              </a:lnSpc>
              <a:spcBef>
                <a:spcPts val="600"/>
              </a:spcBef>
            </a:pPr>
            <a:r>
              <a:rPr lang="zh-CN" altLang="en-US" sz="2000" dirty="0">
                <a:latin typeface="Times New Roman" panose="02020603050405020304" pitchFamily="18" charset="0"/>
                <a:cs typeface="Times New Roman" panose="02020603050405020304" pitchFamily="18" charset="0"/>
              </a:rPr>
              <a:t>可以用以下技术实现身份认证：</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口令认证</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生物特征认证</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基于单钥体制的认证：</a:t>
            </a:r>
            <a:r>
              <a:rPr lang="en-US" altLang="zh-CN" sz="2000" dirty="0">
                <a:latin typeface="Times New Roman" panose="02020603050405020304" pitchFamily="18" charset="0"/>
                <a:cs typeface="Times New Roman" panose="02020603050405020304" pitchFamily="18" charset="0"/>
              </a:rPr>
              <a:t> Kerberos </a:t>
            </a:r>
            <a:r>
              <a:rPr lang="zh-CN" altLang="en-US" sz="2000" dirty="0">
                <a:latin typeface="Times New Roman" panose="02020603050405020304" pitchFamily="18" charset="0"/>
                <a:cs typeface="Times New Roman" panose="02020603050405020304" pitchFamily="18" charset="0"/>
              </a:rPr>
              <a:t>协议</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基于公钥体制的认证：</a:t>
            </a:r>
            <a:r>
              <a:rPr lang="en-US" altLang="zh-CN" sz="2000" dirty="0">
                <a:latin typeface="Times New Roman" panose="02020603050405020304" pitchFamily="18" charset="0"/>
                <a:cs typeface="Times New Roman" panose="02020603050405020304" pitchFamily="18" charset="0"/>
              </a:rPr>
              <a:t> X.509 </a:t>
            </a:r>
            <a:r>
              <a:rPr lang="zh-CN" altLang="en-US" sz="2000" dirty="0">
                <a:latin typeface="Times New Roman" panose="02020603050405020304" pitchFamily="18" charset="0"/>
                <a:cs typeface="Times New Roman" panose="02020603050405020304" pitchFamily="18" charset="0"/>
              </a:rPr>
              <a:t>证书</a:t>
            </a:r>
          </a:p>
        </p:txBody>
      </p:sp>
    </p:spTree>
    <p:extLst>
      <p:ext uri="{BB962C8B-B14F-4D97-AF65-F5344CB8AC3E}">
        <p14:creationId xmlns:p14="http://schemas.microsoft.com/office/powerpoint/2010/main" val="2811365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20</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312516" y="1619936"/>
            <a:ext cx="8479945" cy="430182"/>
          </a:xfrm>
          <a:prstGeom prst="rect">
            <a:avLst/>
          </a:prstGeom>
          <a:noFill/>
        </p:spPr>
        <p:txBody>
          <a:bodyPr wrap="square" rtlCol="0">
            <a:spAutoFit/>
          </a:bodyPr>
          <a:lstStyle/>
          <a:p>
            <a:pPr>
              <a:lnSpc>
                <a:spcPct val="120000"/>
              </a:lnSpc>
              <a:spcBef>
                <a:spcPts val="600"/>
              </a:spcBef>
            </a:pPr>
            <a:r>
              <a:rPr lang="zh-CN" altLang="en-US" sz="2000" dirty="0">
                <a:latin typeface="Times New Roman" panose="02020603050405020304" pitchFamily="18" charset="0"/>
                <a:cs typeface="Times New Roman" panose="02020603050405020304" pitchFamily="18" charset="0"/>
              </a:rPr>
              <a:t>口令认证技术分为：</a:t>
            </a:r>
            <a:r>
              <a:rPr lang="zh-CN" altLang="en-US" sz="2000" b="1" dirty="0">
                <a:latin typeface="Times New Roman" panose="02020603050405020304" pitchFamily="18" charset="0"/>
                <a:cs typeface="Times New Roman" panose="02020603050405020304" pitchFamily="18" charset="0"/>
              </a:rPr>
              <a:t>静态口令认证和动态口令认证</a:t>
            </a:r>
            <a:endParaRPr lang="en-US" altLang="zh-CN" sz="20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3.1 </a:t>
            </a:r>
            <a:r>
              <a:rPr lang="zh-CN" altLang="en-US" sz="2400" b="1" dirty="0">
                <a:solidFill>
                  <a:srgbClr val="FF0000"/>
                </a:solidFill>
                <a:latin typeface="Times New Roman" panose="02020603050405020304" pitchFamily="18" charset="0"/>
                <a:cs typeface="Times New Roman" panose="02020603050405020304" pitchFamily="18" charset="0"/>
              </a:rPr>
              <a:t>口令</a:t>
            </a:r>
            <a:r>
              <a:rPr lang="en-US" altLang="zh-CN" sz="2400" b="1" dirty="0">
                <a:solidFill>
                  <a:srgbClr val="FF0000"/>
                </a:solidFill>
                <a:latin typeface="Times New Roman" panose="02020603050405020304" pitchFamily="18" charset="0"/>
                <a:cs typeface="Times New Roman" panose="02020603050405020304" pitchFamily="18" charset="0"/>
              </a:rPr>
              <a:t>(password) </a:t>
            </a:r>
            <a:r>
              <a:rPr lang="zh-CN" altLang="en-US" sz="2400" b="1" dirty="0">
                <a:solidFill>
                  <a:srgbClr val="FF0000"/>
                </a:solidFill>
                <a:latin typeface="Times New Roman" panose="02020603050405020304" pitchFamily="18" charset="0"/>
                <a:cs typeface="Times New Roman" panose="02020603050405020304" pitchFamily="18" charset="0"/>
              </a:rPr>
              <a:t>认证技术</a:t>
            </a:r>
          </a:p>
        </p:txBody>
      </p:sp>
      <p:sp>
        <p:nvSpPr>
          <p:cNvPr id="7" name="文本框 6">
            <a:extLst>
              <a:ext uri="{FF2B5EF4-FFF2-40B4-BE49-F238E27FC236}">
                <a16:creationId xmlns:a16="http://schemas.microsoft.com/office/drawing/2014/main" id="{4D3C1805-72AF-4573-A96C-1E017E6520A8}"/>
              </a:ext>
            </a:extLst>
          </p:cNvPr>
          <p:cNvSpPr txBox="1"/>
          <p:nvPr/>
        </p:nvSpPr>
        <p:spPr>
          <a:xfrm>
            <a:off x="312515" y="2822330"/>
            <a:ext cx="8479945" cy="3631763"/>
          </a:xfrm>
          <a:prstGeom prst="rect">
            <a:avLst/>
          </a:prstGeom>
          <a:noFill/>
        </p:spPr>
        <p:txBody>
          <a:bodyPr wrap="square" rtlCol="0">
            <a:spAutoFit/>
          </a:bodyPr>
          <a:lstStyle/>
          <a:p>
            <a:pPr marL="342900" indent="-3429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静态口令认证一般分为两个阶段：</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5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身份识别阶段：确认认证对象</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5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身份验证阶段：获取身份信息进行验证</a:t>
            </a:r>
          </a:p>
          <a:p>
            <a:pPr marL="342900" indent="-3429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优点：用户使用简单，通信数据量最小，后台服务器数据调用最小，速度最快，实现的成本最低等。</a:t>
            </a:r>
            <a:endParaRPr lang="en-US" altLang="zh-CN" sz="2000" dirty="0">
              <a:latin typeface="Times New Roman" panose="02020603050405020304" pitchFamily="18" charset="0"/>
              <a:cs typeface="Times New Roman" panose="02020603050405020304" pitchFamily="18" charset="0"/>
            </a:endParaRPr>
          </a:p>
          <a:p>
            <a:pPr marL="342900" indent="-342900">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缺点：在口令强度、口令传输、口令验证、口令存储等许多环节都存在严重的</a:t>
            </a:r>
            <a:r>
              <a:rPr lang="zh-CN" altLang="en-US" sz="2000" dirty="0">
                <a:solidFill>
                  <a:srgbClr val="0000FF"/>
                </a:solidFill>
                <a:latin typeface="Times New Roman" panose="02020603050405020304" pitchFamily="18" charset="0"/>
                <a:cs typeface="Times New Roman" panose="02020603050405020304" pitchFamily="18" charset="0"/>
              </a:rPr>
              <a:t>安全隐患</a:t>
            </a:r>
            <a:r>
              <a:rPr lang="zh-CN" altLang="en-US" sz="2000" dirty="0">
                <a:latin typeface="Times New Roman" panose="02020603050405020304" pitchFamily="18" charset="0"/>
                <a:cs typeface="Times New Roman" panose="02020603050405020304" pitchFamily="18" charset="0"/>
              </a:rPr>
              <a:t>，是最不安全的认证技术之一</a:t>
            </a:r>
            <a:r>
              <a:rPr lang="zh-CN" altLang="en-US" sz="1900" dirty="0">
                <a:latin typeface="Times New Roman" panose="02020603050405020304" pitchFamily="18" charset="0"/>
                <a:cs typeface="Times New Roman" panose="02020603050405020304" pitchFamily="18" charset="0"/>
              </a:rPr>
              <a:t>。</a:t>
            </a:r>
          </a:p>
        </p:txBody>
      </p:sp>
      <p:sp>
        <p:nvSpPr>
          <p:cNvPr id="8" name="文本框 7">
            <a:extLst>
              <a:ext uri="{FF2B5EF4-FFF2-40B4-BE49-F238E27FC236}">
                <a16:creationId xmlns:a16="http://schemas.microsoft.com/office/drawing/2014/main" id="{E333AE64-0BE0-4DF3-9C18-2CDF2F7E6B91}"/>
              </a:ext>
            </a:extLst>
          </p:cNvPr>
          <p:cNvSpPr txBox="1"/>
          <p:nvPr/>
        </p:nvSpPr>
        <p:spPr>
          <a:xfrm>
            <a:off x="312516" y="2284738"/>
            <a:ext cx="6796943" cy="430887"/>
          </a:xfrm>
          <a:prstGeom prst="rect">
            <a:avLst/>
          </a:prstGeom>
          <a:noFill/>
        </p:spPr>
        <p:txBody>
          <a:bodyPr wrap="square" rtlCol="0">
            <a:spAutoFit/>
          </a:bodyPr>
          <a:lstStyle/>
          <a:p>
            <a:r>
              <a:rPr lang="en-US" altLang="zh-CN" sz="2200" b="1" dirty="0">
                <a:solidFill>
                  <a:srgbClr val="0000FF"/>
                </a:solidFill>
                <a:latin typeface="Times New Roman" panose="02020603050405020304" pitchFamily="18" charset="0"/>
                <a:cs typeface="Times New Roman" panose="02020603050405020304" pitchFamily="18" charset="0"/>
              </a:rPr>
              <a:t>(1) </a:t>
            </a:r>
            <a:r>
              <a:rPr lang="zh-CN" altLang="en-US" sz="2200" b="1" dirty="0">
                <a:solidFill>
                  <a:srgbClr val="0000FF"/>
                </a:solidFill>
                <a:latin typeface="Times New Roman" panose="02020603050405020304" pitchFamily="18" charset="0"/>
                <a:cs typeface="Times New Roman" panose="02020603050405020304" pitchFamily="18" charset="0"/>
              </a:rPr>
              <a:t>静态口令认证技术</a:t>
            </a:r>
          </a:p>
        </p:txBody>
      </p:sp>
    </p:spTree>
    <p:extLst>
      <p:ext uri="{BB962C8B-B14F-4D97-AF65-F5344CB8AC3E}">
        <p14:creationId xmlns:p14="http://schemas.microsoft.com/office/powerpoint/2010/main" val="3175159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21</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394243" y="1675253"/>
            <a:ext cx="8398219" cy="4368953"/>
          </a:xfrm>
          <a:prstGeom prst="rect">
            <a:avLst/>
          </a:prstGeom>
          <a:noFill/>
        </p:spPr>
        <p:txBody>
          <a:bodyPr wrap="square" rtlCol="0">
            <a:spAutoFit/>
          </a:bodyPr>
          <a:lstStyle/>
          <a:p>
            <a:pPr algn="just">
              <a:lnSpc>
                <a:spcPct val="120000"/>
              </a:lnSpc>
              <a:spcBef>
                <a:spcPts val="600"/>
              </a:spcBef>
            </a:pPr>
            <a:r>
              <a:rPr lang="zh-CN" altLang="en-US" sz="2000" dirty="0">
                <a:latin typeface="Times New Roman" panose="02020603050405020304" pitchFamily="18" charset="0"/>
                <a:cs typeface="Times New Roman" panose="02020603050405020304" pitchFamily="18" charset="0"/>
              </a:rPr>
              <a:t>动态口令认证技术又分为：</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12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口令表认证技术</a:t>
            </a:r>
            <a:endParaRPr lang="en-US" altLang="zh-CN" sz="2000" b="1"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用户必须提供一张记录</a:t>
            </a:r>
            <a:r>
              <a:rPr lang="zh-CN" altLang="en-US" sz="2000" dirty="0">
                <a:solidFill>
                  <a:srgbClr val="0000FF"/>
                </a:solidFill>
                <a:latin typeface="Times New Roman" panose="02020603050405020304" pitchFamily="18" charset="0"/>
                <a:cs typeface="Times New Roman" panose="02020603050405020304" pitchFamily="18" charset="0"/>
              </a:rPr>
              <a:t>有一系列口令的表</a:t>
            </a:r>
            <a:r>
              <a:rPr lang="zh-CN" altLang="en-US" sz="2000" dirty="0">
                <a:latin typeface="Times New Roman" panose="02020603050405020304" pitchFamily="18" charset="0"/>
                <a:cs typeface="Times New Roman" panose="02020603050405020304" pitchFamily="18" charset="0"/>
              </a:rPr>
              <a:t>，并将表保存在系统中</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系统为该表设置了一个指针，用于指示用户下次登录时使用的口令</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20000"/>
              </a:lnSpc>
              <a:spcBef>
                <a:spcPts val="12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双因子认证技术 </a:t>
            </a:r>
            <a:endParaRPr lang="en-US" altLang="zh-CN" sz="2000" b="1" dirty="0">
              <a:solidFill>
                <a:srgbClr val="FF0000"/>
              </a:solidFill>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用户提供</a:t>
            </a:r>
            <a:r>
              <a:rPr lang="zh-CN" altLang="en-US" sz="2000" dirty="0">
                <a:solidFill>
                  <a:srgbClr val="0000FF"/>
                </a:solidFill>
                <a:latin typeface="Times New Roman" panose="02020603050405020304" pitchFamily="18" charset="0"/>
                <a:cs typeface="Times New Roman" panose="02020603050405020304" pitchFamily="18" charset="0"/>
              </a:rPr>
              <a:t>两种不同类型的认证因子</a:t>
            </a:r>
            <a:r>
              <a:rPr lang="zh-CN" altLang="en-US" sz="2000" dirty="0">
                <a:latin typeface="Times New Roman" panose="02020603050405020304" pitchFamily="18" charset="0"/>
                <a:cs typeface="Times New Roman" panose="02020603050405020304" pitchFamily="18" charset="0"/>
              </a:rPr>
              <a:t>来表明自己的身份，如私钥、指纹、短信验证码、时间等，产生</a:t>
            </a:r>
            <a:r>
              <a:rPr lang="zh-CN" altLang="en-US" sz="2000" dirty="0">
                <a:solidFill>
                  <a:srgbClr val="0000FF"/>
                </a:solidFill>
                <a:latin typeface="Times New Roman" panose="02020603050405020304" pitchFamily="18" charset="0"/>
                <a:cs typeface="Times New Roman" panose="02020603050405020304" pitchFamily="18" charset="0"/>
              </a:rPr>
              <a:t>一次性口令</a:t>
            </a:r>
            <a:r>
              <a:rPr lang="zh-CN" altLang="en-US" sz="2000" dirty="0">
                <a:latin typeface="Times New Roman" panose="02020603050405020304" pitchFamily="18" charset="0"/>
                <a:cs typeface="Times New Roman" panose="02020603050405020304" pitchFamily="18" charset="0"/>
              </a:rPr>
              <a:t>，从而提高用户账户的安全性和可靠性</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基于一次性口令的身份认证系统 </a:t>
            </a:r>
            <a:r>
              <a:rPr lang="en-US" altLang="zh-CN" sz="2000" b="1" dirty="0">
                <a:solidFill>
                  <a:srgbClr val="0000FF"/>
                </a:solidFill>
                <a:latin typeface="Times New Roman" panose="02020603050405020304" pitchFamily="18" charset="0"/>
                <a:cs typeface="Times New Roman" panose="02020603050405020304" pitchFamily="18" charset="0"/>
              </a:rPr>
              <a:t>S/Key</a:t>
            </a:r>
            <a:r>
              <a:rPr lang="zh-CN" altLang="en-US" sz="2000" dirty="0">
                <a:latin typeface="Times New Roman" panose="02020603050405020304" pitchFamily="18" charset="0"/>
                <a:cs typeface="Times New Roman" panose="02020603050405020304" pitchFamily="18" charset="0"/>
              </a:rPr>
              <a:t>，已经成为标准协议</a:t>
            </a:r>
            <a:r>
              <a:rPr lang="en-US" altLang="zh-CN" sz="2000" dirty="0">
                <a:latin typeface="Times New Roman" panose="02020603050405020304" pitchFamily="18" charset="0"/>
                <a:cs typeface="Times New Roman" panose="02020603050405020304" pitchFamily="18" charset="0"/>
              </a:rPr>
              <a:t>RFC1760</a:t>
            </a: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(2) </a:t>
            </a:r>
            <a:r>
              <a:rPr lang="zh-CN" altLang="en-US" sz="2400" b="1" dirty="0">
                <a:solidFill>
                  <a:srgbClr val="0000FF"/>
                </a:solidFill>
                <a:latin typeface="+mn-ea"/>
              </a:rPr>
              <a:t>动态口令认证技术</a:t>
            </a:r>
          </a:p>
        </p:txBody>
      </p:sp>
    </p:spTree>
    <p:extLst>
      <p:ext uri="{BB962C8B-B14F-4D97-AF65-F5344CB8AC3E}">
        <p14:creationId xmlns:p14="http://schemas.microsoft.com/office/powerpoint/2010/main" val="2474144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22</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312517" y="1569299"/>
            <a:ext cx="8479945" cy="4447371"/>
          </a:xfrm>
          <a:prstGeom prst="rect">
            <a:avLst/>
          </a:prstGeom>
          <a:noFill/>
        </p:spPr>
        <p:txBody>
          <a:bodyPr wrap="square" rtlCol="0">
            <a:spAutoFit/>
          </a:bodyPr>
          <a:lstStyle/>
          <a:p>
            <a:pPr algn="just">
              <a:lnSpc>
                <a:spcPct val="150000"/>
              </a:lnSpc>
              <a:spcBef>
                <a:spcPts val="600"/>
              </a:spcBef>
            </a:pPr>
            <a:r>
              <a:rPr lang="zh-CN" altLang="en-US" sz="2000" dirty="0">
                <a:latin typeface="Times New Roman" panose="02020603050405020304" pitchFamily="18" charset="0"/>
                <a:cs typeface="Times New Roman" panose="02020603050405020304" pitchFamily="18" charset="0"/>
              </a:rPr>
              <a:t>        生物特征识别技术是一种通过计算机技术利用人的</a:t>
            </a:r>
            <a:r>
              <a:rPr lang="zh-CN" altLang="en-US" sz="2000" dirty="0">
                <a:solidFill>
                  <a:srgbClr val="0000FF"/>
                </a:solidFill>
                <a:latin typeface="Times New Roman" panose="02020603050405020304" pitchFamily="18" charset="0"/>
                <a:cs typeface="Times New Roman" panose="02020603050405020304" pitchFamily="18" charset="0"/>
              </a:rPr>
              <a:t>生理特征或行为特征</a:t>
            </a:r>
            <a:r>
              <a:rPr lang="zh-CN" altLang="en-US" sz="2000" dirty="0">
                <a:latin typeface="Times New Roman" panose="02020603050405020304" pitchFamily="18" charset="0"/>
                <a:cs typeface="Times New Roman" panose="02020603050405020304" pitchFamily="18" charset="0"/>
              </a:rPr>
              <a:t>来验证身份的技术。</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pPr>
            <a:r>
              <a:rPr lang="en-US" altLang="zh-CN" sz="2000" b="1" dirty="0">
                <a:solidFill>
                  <a:srgbClr val="0000FF"/>
                </a:solidFill>
                <a:latin typeface="Times New Roman" panose="02020603050405020304" pitchFamily="18" charset="0"/>
                <a:cs typeface="Times New Roman" panose="02020603050405020304" pitchFamily="18" charset="0"/>
              </a:rPr>
              <a:t> </a:t>
            </a:r>
            <a:r>
              <a:rPr lang="zh-CN" altLang="en-US" sz="2000" b="1" dirty="0">
                <a:solidFill>
                  <a:srgbClr val="0000FF"/>
                </a:solidFill>
                <a:latin typeface="Times New Roman" panose="02020603050405020304" pitchFamily="18" charset="0"/>
                <a:cs typeface="Times New Roman" panose="02020603050405020304" pitchFamily="18" charset="0"/>
              </a:rPr>
              <a:t>静态生物识别技术</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基于生理特征：指纹、面部识别、虹膜识别、掌纹等</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pPr>
            <a:r>
              <a:rPr lang="zh-CN" altLang="en-US" sz="2000" b="1" dirty="0">
                <a:solidFill>
                  <a:srgbClr val="0000FF"/>
                </a:solidFill>
                <a:latin typeface="Times New Roman" panose="02020603050405020304" pitchFamily="18" charset="0"/>
                <a:cs typeface="Times New Roman" panose="02020603050405020304" pitchFamily="18" charset="0"/>
              </a:rPr>
              <a:t>动态生物识别技术</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基于行为特征：声音、笔迹等</a:t>
            </a:r>
            <a:endParaRPr lang="en-US" altLang="zh-CN" sz="2000" dirty="0">
              <a:latin typeface="Times New Roman" panose="02020603050405020304" pitchFamily="18" charset="0"/>
              <a:cs typeface="Times New Roman" panose="02020603050405020304" pitchFamily="18" charset="0"/>
            </a:endParaRPr>
          </a:p>
          <a:p>
            <a:pPr algn="just">
              <a:lnSpc>
                <a:spcPct val="130000"/>
              </a:lnSpc>
              <a:spcBef>
                <a:spcPts val="1800"/>
              </a:spcBef>
            </a:pPr>
            <a:r>
              <a:rPr lang="zh-CN" altLang="en-US" sz="2000" dirty="0">
                <a:latin typeface="Times New Roman" panose="02020603050405020304" pitchFamily="18" charset="0"/>
                <a:cs typeface="Times New Roman" panose="02020603050405020304" pitchFamily="18" charset="0"/>
              </a:rPr>
              <a:t> 生物特征是个体所独有的，基于此进行身份认证可以提高系统的安全性。</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优点：更高的安全性和便利性</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缺点</a:t>
            </a:r>
            <a:r>
              <a:rPr lang="zh-CN" altLang="en-US" sz="2000" dirty="0">
                <a:latin typeface="Times New Roman" panose="02020603050405020304" pitchFamily="18" charset="0"/>
                <a:cs typeface="Times New Roman" panose="02020603050405020304" pitchFamily="18" charset="0"/>
                <a:sym typeface="Wingdings" panose="05000000000000000000" pitchFamily="2" charset="2"/>
              </a:rPr>
              <a:t> ：需要特殊硬件存储、易被篡改、辨识失败率高、成本昂贵</a:t>
            </a:r>
            <a:endParaRPr lang="en-US" altLang="zh-CN" sz="20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3.2 </a:t>
            </a:r>
            <a:r>
              <a:rPr lang="zh-CN" altLang="en-US" sz="2400" b="1" dirty="0">
                <a:solidFill>
                  <a:srgbClr val="FF0000"/>
                </a:solidFill>
                <a:latin typeface="Times New Roman" panose="02020603050405020304" pitchFamily="18" charset="0"/>
                <a:cs typeface="Times New Roman" panose="02020603050405020304" pitchFamily="18" charset="0"/>
              </a:rPr>
              <a:t>生物特征认证技术</a:t>
            </a:r>
          </a:p>
        </p:txBody>
      </p:sp>
    </p:spTree>
    <p:extLst>
      <p:ext uri="{BB962C8B-B14F-4D97-AF65-F5344CB8AC3E}">
        <p14:creationId xmlns:p14="http://schemas.microsoft.com/office/powerpoint/2010/main" val="1169224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23</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312517" y="1662427"/>
            <a:ext cx="8479945" cy="4333494"/>
          </a:xfrm>
          <a:prstGeom prst="rect">
            <a:avLst/>
          </a:prstGeom>
          <a:noFill/>
        </p:spPr>
        <p:txBody>
          <a:bodyPr wrap="square" rtlCol="0">
            <a:spAutoFit/>
          </a:bodyPr>
          <a:lstStyle/>
          <a:p>
            <a:pPr>
              <a:lnSpc>
                <a:spcPct val="120000"/>
              </a:lnSpc>
              <a:spcBef>
                <a:spcPts val="1200"/>
              </a:spcBef>
            </a:pPr>
            <a:r>
              <a:rPr lang="zh-CN" altLang="en-US" sz="2000" dirty="0">
                <a:latin typeface="Times New Roman" panose="02020603050405020304" pitchFamily="18" charset="0"/>
                <a:cs typeface="Times New Roman" panose="02020603050405020304" pitchFamily="18" charset="0"/>
                <a:sym typeface="Wingdings" panose="05000000000000000000" pitchFamily="2" charset="2"/>
              </a:rPr>
              <a:t>目前不少生物识别技术已形成产品，并有一定规模的市场应用。</a:t>
            </a:r>
            <a:endParaRPr lang="en-US" altLang="zh-CN" sz="2000" dirty="0">
              <a:latin typeface="Times New Roman" panose="02020603050405020304" pitchFamily="18" charset="0"/>
              <a:cs typeface="Times New Roman" panose="02020603050405020304" pitchFamily="18" charset="0"/>
              <a:sym typeface="Wingdings" panose="05000000000000000000" pitchFamily="2" charset="2"/>
            </a:endParaRPr>
          </a:p>
          <a:p>
            <a:pPr marL="342900" indent="-342900">
              <a:lnSpc>
                <a:spcPct val="120000"/>
              </a:lnSpc>
              <a:spcBef>
                <a:spcPts val="600"/>
              </a:spcBef>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较为成熟的生物特征识别技术</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mj-lt"/>
              <a:buAutoNum type="arabicPeriod"/>
            </a:pPr>
            <a:r>
              <a:rPr lang="zh-CN" altLang="en-US" dirty="0">
                <a:latin typeface="Times New Roman" panose="02020603050405020304" pitchFamily="18" charset="0"/>
                <a:cs typeface="Times New Roman" panose="02020603050405020304" pitchFamily="18" charset="0"/>
              </a:rPr>
              <a:t>指纹识别技术</a:t>
            </a:r>
            <a:endParaRPr lang="en-US" altLang="zh-CN"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mj-lt"/>
              <a:buAutoNum type="arabicPeriod"/>
            </a:pPr>
            <a:r>
              <a:rPr lang="zh-CN" altLang="en-US" dirty="0">
                <a:latin typeface="Times New Roman" panose="02020603050405020304" pitchFamily="18" charset="0"/>
                <a:cs typeface="Times New Roman" panose="02020603050405020304" pitchFamily="18" charset="0"/>
              </a:rPr>
              <a:t>虹膜识别技术</a:t>
            </a:r>
            <a:endParaRPr lang="en-US" altLang="zh-CN" dirty="0">
              <a:latin typeface="Times New Roman" panose="02020603050405020304" pitchFamily="18" charset="0"/>
              <a:cs typeface="Times New Roman" panose="02020603050405020304" pitchFamily="18" charset="0"/>
            </a:endParaRPr>
          </a:p>
          <a:p>
            <a:pPr marL="342900" indent="-342900">
              <a:lnSpc>
                <a:spcPct val="120000"/>
              </a:lnSpc>
              <a:spcBef>
                <a:spcPts val="1200"/>
              </a:spcBef>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新兴的生物特征识别技术</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mj-lt"/>
              <a:buAutoNum type="arabicPeriod"/>
            </a:pPr>
            <a:r>
              <a:rPr lang="en-US" altLang="zh-CN" dirty="0">
                <a:latin typeface="Times New Roman" panose="02020603050405020304" pitchFamily="18" charset="0"/>
                <a:cs typeface="Times New Roman" panose="02020603050405020304" pitchFamily="18" charset="0"/>
              </a:rPr>
              <a:t>DNA</a:t>
            </a:r>
            <a:r>
              <a:rPr lang="zh-CN" altLang="en-US" dirty="0">
                <a:latin typeface="Times New Roman" panose="02020603050405020304" pitchFamily="18" charset="0"/>
                <a:cs typeface="Times New Roman" panose="02020603050405020304" pitchFamily="18" charset="0"/>
              </a:rPr>
              <a:t>识别技术</a:t>
            </a:r>
            <a:endParaRPr lang="en-US" altLang="zh-CN"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mj-lt"/>
              <a:buAutoNum type="arabicPeriod"/>
            </a:pPr>
            <a:r>
              <a:rPr lang="zh-CN" altLang="en-US" dirty="0">
                <a:latin typeface="Times New Roman" panose="02020603050405020304" pitchFamily="18" charset="0"/>
                <a:cs typeface="Times New Roman" panose="02020603050405020304" pitchFamily="18" charset="0"/>
              </a:rPr>
              <a:t>击键力度识别技术</a:t>
            </a:r>
            <a:endParaRPr lang="en-US" altLang="zh-CN"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mj-lt"/>
              <a:buAutoNum type="arabicPeriod"/>
            </a:pPr>
            <a:r>
              <a:rPr lang="zh-CN" altLang="en-US" dirty="0">
                <a:latin typeface="Times New Roman" panose="02020603050405020304" pitchFamily="18" charset="0"/>
                <a:cs typeface="Times New Roman" panose="02020603050405020304" pitchFamily="18" charset="0"/>
              </a:rPr>
              <a:t>红外温谱图识别技术</a:t>
            </a:r>
            <a:endParaRPr lang="en-US" altLang="zh-CN" dirty="0">
              <a:latin typeface="Times New Roman" panose="02020603050405020304" pitchFamily="18" charset="0"/>
              <a:cs typeface="Times New Roman" panose="02020603050405020304" pitchFamily="18" charset="0"/>
            </a:endParaRPr>
          </a:p>
          <a:p>
            <a:pPr marL="914400" lvl="1" indent="-457200">
              <a:lnSpc>
                <a:spcPct val="120000"/>
              </a:lnSpc>
              <a:spcBef>
                <a:spcPts val="600"/>
              </a:spcBef>
              <a:buFont typeface="+mj-lt"/>
              <a:buAutoNum type="arabicPeriod"/>
            </a:pPr>
            <a:r>
              <a:rPr lang="zh-CN" altLang="en-US" dirty="0">
                <a:latin typeface="Times New Roman" panose="02020603050405020304" pitchFamily="18" charset="0"/>
                <a:cs typeface="Times New Roman" panose="02020603050405020304" pitchFamily="18" charset="0"/>
              </a:rPr>
              <a:t>红外热像纹识别技术</a:t>
            </a:r>
            <a:endParaRPr lang="en-US" altLang="zh-CN" dirty="0">
              <a:latin typeface="Times New Roman" panose="02020603050405020304" pitchFamily="18" charset="0"/>
              <a:cs typeface="Times New Roman" panose="02020603050405020304" pitchFamily="18" charset="0"/>
            </a:endParaRPr>
          </a:p>
          <a:p>
            <a:pPr>
              <a:lnSpc>
                <a:spcPct val="120000"/>
              </a:lnSpc>
              <a:spcBef>
                <a:spcPts val="600"/>
              </a:spcBef>
            </a:pPr>
            <a:r>
              <a:rPr lang="zh-CN" altLang="en-US" sz="2000" dirty="0">
                <a:latin typeface="Times New Roman" panose="02020603050405020304" pitchFamily="18" charset="0"/>
                <a:cs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3.2 </a:t>
            </a:r>
            <a:r>
              <a:rPr lang="zh-CN" altLang="en-US" sz="2400" b="1" dirty="0">
                <a:solidFill>
                  <a:srgbClr val="FF0000"/>
                </a:solidFill>
                <a:latin typeface="Times New Roman" panose="02020603050405020304" pitchFamily="18" charset="0"/>
                <a:cs typeface="Times New Roman" panose="02020603050405020304" pitchFamily="18" charset="0"/>
              </a:rPr>
              <a:t>生物特征认证技术</a:t>
            </a:r>
          </a:p>
        </p:txBody>
      </p:sp>
      <p:sp>
        <p:nvSpPr>
          <p:cNvPr id="14" name="文本框 6">
            <a:extLst>
              <a:ext uri="{FF2B5EF4-FFF2-40B4-BE49-F238E27FC236}">
                <a16:creationId xmlns:a16="http://schemas.microsoft.com/office/drawing/2014/main" id="{1A875079-4ED4-B286-BA06-E04958D667F3}"/>
              </a:ext>
            </a:extLst>
          </p:cNvPr>
          <p:cNvSpPr txBox="1"/>
          <p:nvPr/>
        </p:nvSpPr>
        <p:spPr>
          <a:xfrm>
            <a:off x="4552489" y="3892470"/>
            <a:ext cx="3626857" cy="1623778"/>
          </a:xfrm>
          <a:prstGeom prst="rect">
            <a:avLst/>
          </a:prstGeom>
          <a:noFill/>
        </p:spPr>
        <p:txBody>
          <a:bodyPr wrap="square">
            <a:spAutoFit/>
          </a:bodyPr>
          <a:lstStyle/>
          <a:p>
            <a:pPr marL="457200" indent="-457200">
              <a:lnSpc>
                <a:spcPct val="120000"/>
              </a:lnSpc>
              <a:spcBef>
                <a:spcPts val="600"/>
              </a:spcBef>
              <a:buFont typeface="+mj-lt"/>
              <a:buAutoNum type="arabicPeriod" startAt="5"/>
            </a:pPr>
            <a:r>
              <a:rPr lang="zh-CN" altLang="en-US" dirty="0">
                <a:latin typeface="Times New Roman" panose="02020603050405020304" pitchFamily="18" charset="0"/>
                <a:cs typeface="Times New Roman" panose="02020603050405020304" pitchFamily="18" charset="0"/>
              </a:rPr>
              <a:t>颅像重合识别技术</a:t>
            </a:r>
            <a:endParaRPr lang="en-US" altLang="zh-CN" dirty="0">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mj-lt"/>
              <a:buAutoNum type="arabicPeriod" startAt="5"/>
            </a:pPr>
            <a:r>
              <a:rPr lang="zh-CN" altLang="en-US" dirty="0">
                <a:latin typeface="Times New Roman" panose="02020603050405020304" pitchFamily="18" charset="0"/>
                <a:cs typeface="Times New Roman" panose="02020603050405020304" pitchFamily="18" charset="0"/>
              </a:rPr>
              <a:t>气味识别技术</a:t>
            </a:r>
            <a:endParaRPr lang="en-US" altLang="zh-CN" dirty="0">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mj-lt"/>
              <a:buAutoNum type="arabicPeriod" startAt="5"/>
            </a:pPr>
            <a:r>
              <a:rPr lang="zh-CN" altLang="en-US" dirty="0">
                <a:latin typeface="Times New Roman" panose="02020603050405020304" pitchFamily="18" charset="0"/>
                <a:cs typeface="Times New Roman" panose="02020603050405020304" pitchFamily="18" charset="0"/>
              </a:rPr>
              <a:t>步态识别技术</a:t>
            </a:r>
            <a:endParaRPr lang="en-US" altLang="zh-CN" dirty="0">
              <a:latin typeface="Times New Roman" panose="02020603050405020304" pitchFamily="18" charset="0"/>
              <a:cs typeface="Times New Roman" panose="02020603050405020304" pitchFamily="18" charset="0"/>
            </a:endParaRPr>
          </a:p>
          <a:p>
            <a:pPr>
              <a:lnSpc>
                <a:spcPct val="120000"/>
              </a:lnSpc>
              <a:spcBef>
                <a:spcPts val="600"/>
              </a:spcBef>
            </a:pPr>
            <a:r>
              <a:rPr lang="en-US" altLang="zh-CN" dirty="0">
                <a:latin typeface="Times New Roman" panose="02020603050405020304" pitchFamily="18" charset="0"/>
                <a:cs typeface="Times New Roman" panose="02020603050405020304" pitchFamily="18" charset="0"/>
              </a:rPr>
              <a:t>…</a:t>
            </a:r>
          </a:p>
        </p:txBody>
      </p:sp>
      <p:sp>
        <p:nvSpPr>
          <p:cNvPr id="15" name="文本框 7">
            <a:extLst>
              <a:ext uri="{FF2B5EF4-FFF2-40B4-BE49-F238E27FC236}">
                <a16:creationId xmlns:a16="http://schemas.microsoft.com/office/drawing/2014/main" id="{AB513743-9B81-A6BB-3DFA-1290032D4F62}"/>
              </a:ext>
            </a:extLst>
          </p:cNvPr>
          <p:cNvSpPr txBox="1"/>
          <p:nvPr/>
        </p:nvSpPr>
        <p:spPr>
          <a:xfrm>
            <a:off x="4552489" y="2586529"/>
            <a:ext cx="3375397" cy="805733"/>
          </a:xfrm>
          <a:prstGeom prst="rect">
            <a:avLst/>
          </a:prstGeom>
          <a:noFill/>
        </p:spPr>
        <p:txBody>
          <a:bodyPr wrap="square">
            <a:spAutoFit/>
          </a:bodyPr>
          <a:lstStyle/>
          <a:p>
            <a:pPr marL="457200" indent="-457200">
              <a:lnSpc>
                <a:spcPct val="120000"/>
              </a:lnSpc>
              <a:spcBef>
                <a:spcPts val="600"/>
              </a:spcBef>
              <a:buFont typeface="+mj-lt"/>
              <a:buAutoNum type="arabicPeriod" startAt="3"/>
            </a:pPr>
            <a:r>
              <a:rPr lang="zh-CN" altLang="en-US" dirty="0">
                <a:latin typeface="Times New Roman" panose="02020603050405020304" pitchFamily="18" charset="0"/>
                <a:cs typeface="Times New Roman" panose="02020603050405020304" pitchFamily="18" charset="0"/>
              </a:rPr>
              <a:t>笔迹识别技术</a:t>
            </a:r>
            <a:endParaRPr lang="en-US" altLang="zh-CN" dirty="0">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mj-lt"/>
              <a:buAutoNum type="arabicPeriod" startAt="3"/>
            </a:pPr>
            <a:r>
              <a:rPr lang="zh-CN" altLang="en-US" dirty="0">
                <a:latin typeface="Times New Roman" panose="02020603050405020304" pitchFamily="18" charset="0"/>
                <a:cs typeface="Times New Roman" panose="02020603050405020304" pitchFamily="18" charset="0"/>
              </a:rPr>
              <a:t>语音识别技术</a:t>
            </a: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342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24</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9469258"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3.3 </a:t>
            </a:r>
            <a:r>
              <a:rPr lang="zh-CN" altLang="en-US" sz="2400" b="1" dirty="0">
                <a:solidFill>
                  <a:srgbClr val="FF0000"/>
                </a:solidFill>
                <a:latin typeface="Times New Roman" panose="02020603050405020304" pitchFamily="18" charset="0"/>
                <a:cs typeface="Times New Roman" panose="02020603050405020304" pitchFamily="18" charset="0"/>
              </a:rPr>
              <a:t>基于单钥体制的认证技术</a:t>
            </a:r>
          </a:p>
        </p:txBody>
      </p:sp>
      <p:sp>
        <p:nvSpPr>
          <p:cNvPr id="4" name="文本框 3">
            <a:extLst>
              <a:ext uri="{FF2B5EF4-FFF2-40B4-BE49-F238E27FC236}">
                <a16:creationId xmlns:a16="http://schemas.microsoft.com/office/drawing/2014/main" id="{230A9E4F-43B4-AA23-7D0D-22A19A0F5A09}"/>
              </a:ext>
            </a:extLst>
          </p:cNvPr>
          <p:cNvSpPr txBox="1"/>
          <p:nvPr/>
        </p:nvSpPr>
        <p:spPr>
          <a:xfrm>
            <a:off x="332027" y="1676535"/>
            <a:ext cx="8370013" cy="4654416"/>
          </a:xfrm>
          <a:prstGeom prst="rect">
            <a:avLst/>
          </a:prstGeom>
          <a:noFill/>
        </p:spPr>
        <p:txBody>
          <a:bodyPr wrap="square" rtlCol="0">
            <a:spAutoFit/>
          </a:bodyPr>
          <a:lstStyle/>
          <a:p>
            <a:pPr marL="342900" indent="-342900" algn="just">
              <a:lnSpc>
                <a:spcPct val="15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在分布式环境中，用户通过工作站访问服务器提供的服务时会面临如下问题：</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5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无法相信一个工作站能正确识别其用户的网络服务</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5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工作站上的用户可以假装是另一个用户操作</a:t>
            </a:r>
          </a:p>
          <a:p>
            <a:pPr marL="800100" lvl="1" indent="-342900" algn="just">
              <a:lnSpc>
                <a:spcPct val="15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用户可以改变工作站的地址，从而冒充另一台工作站</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50000"/>
              </a:lnSpc>
              <a:spcBef>
                <a:spcPts val="600"/>
              </a:spcBef>
              <a:buFont typeface="Wingdings" panose="05000000000000000000" pitchFamily="2" charset="2"/>
              <a:buChar char="Ø"/>
            </a:pPr>
            <a:r>
              <a:rPr lang="zh-CN" altLang="en-US" sz="2000" dirty="0"/>
              <a:t>用户可以窃听交换信息并使用重放攻击来进入服务器或破坏操作</a:t>
            </a:r>
            <a:endParaRPr lang="en-US" altLang="zh-CN" sz="2000" dirty="0"/>
          </a:p>
          <a:p>
            <a:pPr marL="342900" indent="-342900" algn="just">
              <a:lnSpc>
                <a:spcPct val="150000"/>
              </a:lnSpc>
              <a:spcBef>
                <a:spcPts val="12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麻省理工大学提出了一个</a:t>
            </a:r>
            <a:r>
              <a:rPr lang="zh-CN" altLang="en-US" sz="2000" dirty="0">
                <a:solidFill>
                  <a:srgbClr val="0000FF"/>
                </a:solidFill>
                <a:latin typeface="Times New Roman" panose="02020603050405020304" pitchFamily="18" charset="0"/>
                <a:cs typeface="Times New Roman" panose="02020603050405020304" pitchFamily="18" charset="0"/>
              </a:rPr>
              <a:t>完全依赖于对称加密</a:t>
            </a:r>
            <a:r>
              <a:rPr lang="zh-CN" altLang="en-US" sz="2000" dirty="0">
                <a:latin typeface="Times New Roman" panose="02020603050405020304" pitchFamily="18" charset="0"/>
                <a:cs typeface="Times New Roman" panose="02020603050405020304" pitchFamily="18" charset="0"/>
              </a:rPr>
              <a:t>的网络身份验证协议</a:t>
            </a:r>
            <a:r>
              <a:rPr lang="en-US" altLang="zh-CN" sz="2000" b="1" dirty="0">
                <a:solidFill>
                  <a:srgbClr val="0000FF"/>
                </a:solidFill>
                <a:latin typeface="Times New Roman" panose="02020603050405020304" pitchFamily="18" charset="0"/>
                <a:cs typeface="Times New Roman" panose="02020603050405020304" pitchFamily="18" charset="0"/>
              </a:rPr>
              <a:t>Kerberos</a:t>
            </a:r>
            <a:r>
              <a:rPr lang="zh-CN" altLang="en-US" sz="2000" dirty="0">
                <a:latin typeface="Times New Roman" panose="02020603050405020304" pitchFamily="18" charset="0"/>
                <a:cs typeface="Times New Roman" panose="02020603050405020304" pitchFamily="18" charset="0"/>
              </a:rPr>
              <a:t>，通过一个中心化的认证服务器，完成服务器与用户之间的</a:t>
            </a:r>
            <a:r>
              <a:rPr lang="zh-CN" altLang="en-US" sz="2000" dirty="0">
                <a:solidFill>
                  <a:srgbClr val="0000FF"/>
                </a:solidFill>
                <a:latin typeface="Times New Roman" panose="02020603050405020304" pitchFamily="18" charset="0"/>
                <a:cs typeface="Times New Roman" panose="02020603050405020304" pitchFamily="18" charset="0"/>
              </a:rPr>
              <a:t>相互认证</a:t>
            </a:r>
          </a:p>
        </p:txBody>
      </p:sp>
    </p:spTree>
    <p:extLst>
      <p:ext uri="{BB962C8B-B14F-4D97-AF65-F5344CB8AC3E}">
        <p14:creationId xmlns:p14="http://schemas.microsoft.com/office/powerpoint/2010/main" val="64755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25</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312517" y="1541725"/>
            <a:ext cx="8479945" cy="4806700"/>
          </a:xfrm>
          <a:prstGeom prst="rect">
            <a:avLst/>
          </a:prstGeom>
          <a:noFill/>
        </p:spPr>
        <p:txBody>
          <a:bodyPr wrap="square" rtlCol="0">
            <a:spAutoFit/>
          </a:bodyPr>
          <a:lstStyle/>
          <a:p>
            <a:pPr marL="457200" indent="-457200">
              <a:lnSpc>
                <a:spcPct val="12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密钥分配中心 </a:t>
            </a:r>
            <a:r>
              <a:rPr lang="en-US" altLang="zh-CN" sz="2000" b="1" dirty="0">
                <a:latin typeface="Times New Roman" panose="02020603050405020304" pitchFamily="18" charset="0"/>
                <a:cs typeface="Times New Roman" panose="02020603050405020304" pitchFamily="18" charset="0"/>
              </a:rPr>
              <a:t>(KDC)</a:t>
            </a:r>
            <a:r>
              <a:rPr lang="zh-CN" altLang="en-US" sz="2000" b="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认证系统的核心，包括</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itchFamily="2" charset="2"/>
              <a:buChar char="Ø"/>
            </a:pPr>
            <a:r>
              <a:rPr lang="zh-CN" altLang="en-US" sz="2000" dirty="0">
                <a:solidFill>
                  <a:srgbClr val="0000FF"/>
                </a:solidFill>
                <a:latin typeface="Times New Roman" panose="02020603050405020304" pitchFamily="18" charset="0"/>
                <a:cs typeface="Times New Roman" panose="02020603050405020304" pitchFamily="18" charset="0"/>
              </a:rPr>
              <a:t>认证服务器 </a:t>
            </a:r>
            <a:r>
              <a:rPr lang="en-US" altLang="zh-CN" sz="2000" dirty="0">
                <a:solidFill>
                  <a:srgbClr val="0000FF"/>
                </a:solidFill>
                <a:latin typeface="Times New Roman" panose="02020603050405020304" pitchFamily="18" charset="0"/>
                <a:cs typeface="Times New Roman" panose="02020603050405020304" pitchFamily="18" charset="0"/>
              </a:rPr>
              <a:t>(Authentication server, AS)</a:t>
            </a:r>
            <a:r>
              <a:rPr lang="zh-CN" altLang="en-US" sz="2000" dirty="0">
                <a:latin typeface="Times New Roman" panose="02020603050405020304" pitchFamily="18" charset="0"/>
                <a:cs typeface="Times New Roman" panose="02020603050405020304" pitchFamily="18" charset="0"/>
              </a:rPr>
              <a:t>：维护</a:t>
            </a:r>
            <a:r>
              <a:rPr lang="zh-CN" altLang="en-US" sz="2000" b="0" dirty="0">
                <a:latin typeface="Times New Roman" panose="02020603050405020304" pitchFamily="18" charset="0"/>
                <a:ea typeface="+mn-ea"/>
                <a:cs typeface="Times New Roman" panose="02020603050405020304" pitchFamily="18" charset="0"/>
              </a:rPr>
              <a:t>所有用户的</a:t>
            </a:r>
            <a:r>
              <a:rPr lang="zh-CN" altLang="en-US" sz="2000" dirty="0">
                <a:latin typeface="Times New Roman" panose="02020603050405020304" pitchFamily="18" charset="0"/>
                <a:cs typeface="Times New Roman" panose="02020603050405020304" pitchFamily="18" charset="0"/>
              </a:rPr>
              <a:t>账户信息</a:t>
            </a:r>
            <a:r>
              <a:rPr lang="zh-CN" altLang="en-US" sz="2000" b="0" dirty="0">
                <a:latin typeface="Times New Roman" panose="02020603050405020304" pitchFamily="18" charset="0"/>
                <a:ea typeface="+mn-ea"/>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对用户进行初始认证。</a:t>
            </a:r>
            <a:endParaRPr lang="en-US" altLang="zh-CN" sz="2000" dirty="0">
              <a:latin typeface="Times New Roman" panose="02020603050405020304" pitchFamily="18" charset="0"/>
              <a:cs typeface="Times New Roman" panose="02020603050405020304" pitchFamily="18" charset="0"/>
            </a:endParaRPr>
          </a:p>
          <a:p>
            <a:pPr marL="1257300" lvl="2" indent="-342900">
              <a:lnSpc>
                <a:spcPct val="120000"/>
              </a:lnSpc>
              <a:spcBef>
                <a:spcPts val="600"/>
              </a:spcBef>
              <a:buFont typeface="Wingdings" panose="05000000000000000000" pitchFamily="2" charset="2"/>
              <a:buChar char="p"/>
            </a:pPr>
            <a:r>
              <a:rPr lang="zh-CN" altLang="en-US" dirty="0">
                <a:latin typeface="Times New Roman" panose="02020603050405020304" pitchFamily="18" charset="0"/>
                <a:cs typeface="Times New Roman" panose="02020603050405020304" pitchFamily="18" charset="0"/>
              </a:rPr>
              <a:t>如果 </a:t>
            </a:r>
            <a:r>
              <a:rPr lang="en-US" altLang="zh-CN" dirty="0">
                <a:latin typeface="Times New Roman" panose="02020603050405020304" pitchFamily="18" charset="0"/>
                <a:cs typeface="Times New Roman" panose="02020603050405020304" pitchFamily="18" charset="0"/>
              </a:rPr>
              <a:t>AS</a:t>
            </a:r>
            <a:r>
              <a:rPr lang="zh-CN" altLang="en-US" dirty="0">
                <a:latin typeface="Times New Roman" panose="02020603050405020304" pitchFamily="18" charset="0"/>
                <a:cs typeface="Times New Roman" panose="02020603050405020304" pitchFamily="18" charset="0"/>
              </a:rPr>
              <a:t> 接受用户为真实用户</a:t>
            </a:r>
            <a:r>
              <a:rPr lang="zh-CN" altLang="en-US" dirty="0">
                <a:latin typeface="Times New Roman" panose="02020603050405020304" pitchFamily="18" charset="0"/>
                <a:ea typeface="+mn-ea"/>
                <a:cs typeface="Times New Roman" panose="02020603050405020304" pitchFamily="18" charset="0"/>
              </a:rPr>
              <a:t>，就发放一个</a:t>
            </a:r>
            <a:r>
              <a:rPr lang="zh-CN" altLang="en-US" dirty="0">
                <a:solidFill>
                  <a:srgbClr val="0000FF"/>
                </a:solidFill>
                <a:latin typeface="Times New Roman" panose="02020603050405020304" pitchFamily="18" charset="0"/>
                <a:cs typeface="Times New Roman" panose="02020603050405020304" pitchFamily="18" charset="0"/>
              </a:rPr>
              <a:t>票据</a:t>
            </a:r>
            <a:r>
              <a:rPr lang="zh-CN" altLang="en-US" dirty="0">
                <a:solidFill>
                  <a:srgbClr val="0000FF"/>
                </a:solidFill>
                <a:latin typeface="Times New Roman" panose="02020603050405020304" pitchFamily="18" charset="0"/>
                <a:ea typeface="+mn-ea"/>
                <a:cs typeface="Times New Roman" panose="02020603050405020304" pitchFamily="18" charset="0"/>
              </a:rPr>
              <a:t>授权票据 </a:t>
            </a:r>
            <a:r>
              <a:rPr lang="en-US" altLang="zh-CN" dirty="0">
                <a:solidFill>
                  <a:srgbClr val="0000FF"/>
                </a:solidFill>
                <a:latin typeface="Times New Roman" panose="02020603050405020304" pitchFamily="18" charset="0"/>
                <a:ea typeface="+mn-ea"/>
                <a:cs typeface="Times New Roman" panose="02020603050405020304" pitchFamily="18" charset="0"/>
              </a:rPr>
              <a:t>(Ticket-granting Ticket, TGT)</a:t>
            </a:r>
            <a:endParaRPr lang="en-US" altLang="zh-CN" dirty="0">
              <a:latin typeface="Times New Roman" panose="02020603050405020304" pitchFamily="18" charset="0"/>
              <a:ea typeface="+mn-ea"/>
              <a:cs typeface="Times New Roman" panose="02020603050405020304" pitchFamily="18" charset="0"/>
            </a:endParaRPr>
          </a:p>
          <a:p>
            <a:pPr marL="800100" lvl="1" indent="-342900">
              <a:lnSpc>
                <a:spcPct val="120000"/>
              </a:lnSpc>
              <a:spcBef>
                <a:spcPts val="600"/>
              </a:spcBef>
              <a:buFont typeface="Wingdings" pitchFamily="2" charset="2"/>
              <a:buChar char="Ø"/>
            </a:pPr>
            <a:r>
              <a:rPr lang="zh-CN" altLang="en-US" sz="2000" b="0" dirty="0">
                <a:solidFill>
                  <a:srgbClr val="0000FF"/>
                </a:solidFill>
                <a:latin typeface="Times New Roman" panose="02020603050405020304" pitchFamily="18" charset="0"/>
                <a:ea typeface="+mn-ea"/>
                <a:cs typeface="Times New Roman" panose="02020603050405020304" pitchFamily="18" charset="0"/>
              </a:rPr>
              <a:t>票据授权服务器</a:t>
            </a:r>
            <a:r>
              <a:rPr lang="en-US" altLang="zh-CN" sz="2000" b="0" dirty="0">
                <a:solidFill>
                  <a:srgbClr val="0000FF"/>
                </a:solidFill>
                <a:latin typeface="Times New Roman" panose="02020603050405020304" pitchFamily="18" charset="0"/>
                <a:ea typeface="+mn-ea"/>
                <a:cs typeface="Times New Roman" panose="02020603050405020304" pitchFamily="18" charset="0"/>
              </a:rPr>
              <a:t> </a:t>
            </a:r>
            <a:r>
              <a:rPr lang="en" altLang="zh-CN" sz="2000" b="0" dirty="0">
                <a:solidFill>
                  <a:srgbClr val="0000FF"/>
                </a:solidFill>
                <a:latin typeface="Times New Roman" panose="02020603050405020304" pitchFamily="18" charset="0"/>
                <a:ea typeface="+mn-ea"/>
                <a:cs typeface="Times New Roman" panose="02020603050405020304" pitchFamily="18" charset="0"/>
              </a:rPr>
              <a:t>(Ticket Granting </a:t>
            </a:r>
            <a:r>
              <a:rPr lang="en-US" altLang="zh-CN" sz="2000" b="0" dirty="0">
                <a:solidFill>
                  <a:srgbClr val="0000FF"/>
                </a:solidFill>
                <a:latin typeface="Times New Roman" panose="02020603050405020304" pitchFamily="18" charset="0"/>
                <a:ea typeface="+mn-ea"/>
                <a:cs typeface="Times New Roman" panose="02020603050405020304" pitchFamily="18" charset="0"/>
              </a:rPr>
              <a:t>S</a:t>
            </a:r>
            <a:r>
              <a:rPr lang="en" altLang="zh-CN" sz="2000" b="0" dirty="0">
                <a:solidFill>
                  <a:srgbClr val="0000FF"/>
                </a:solidFill>
                <a:latin typeface="Times New Roman" panose="02020603050405020304" pitchFamily="18" charset="0"/>
                <a:ea typeface="+mn-ea"/>
                <a:cs typeface="Times New Roman" panose="02020603050405020304" pitchFamily="18" charset="0"/>
              </a:rPr>
              <a:t>erver, TGS)</a:t>
            </a:r>
            <a:r>
              <a:rPr lang="zh-CN" altLang="en-US" sz="2000" b="0" dirty="0">
                <a:latin typeface="Times New Roman" panose="02020603050405020304" pitchFamily="18" charset="0"/>
                <a:ea typeface="+mn-ea"/>
                <a:cs typeface="Times New Roman" panose="02020603050405020304" pitchFamily="18" charset="0"/>
              </a:rPr>
              <a:t>：</a:t>
            </a:r>
            <a:r>
              <a:rPr lang="zh-CN" altLang="en-US" sz="2000" dirty="0">
                <a:latin typeface="Times New Roman" panose="02020603050405020304" pitchFamily="18" charset="0"/>
                <a:ea typeface="+mn-ea"/>
                <a:cs typeface="Times New Roman" panose="02020603050405020304" pitchFamily="18" charset="0"/>
              </a:rPr>
              <a:t>向已通过 </a:t>
            </a:r>
            <a:r>
              <a:rPr lang="en-US" altLang="zh-CN" sz="2000" dirty="0">
                <a:latin typeface="Times New Roman" panose="02020603050405020304" pitchFamily="18" charset="0"/>
                <a:ea typeface="+mn-ea"/>
                <a:cs typeface="Times New Roman" panose="02020603050405020304" pitchFamily="18" charset="0"/>
              </a:rPr>
              <a:t>AS</a:t>
            </a:r>
            <a:r>
              <a:rPr lang="zh-CN" altLang="en-US" sz="2000" dirty="0">
                <a:latin typeface="Times New Roman" panose="02020603050405020304" pitchFamily="18" charset="0"/>
                <a:ea typeface="+mn-ea"/>
                <a:cs typeface="Times New Roman" panose="02020603050405020304" pitchFamily="18" charset="0"/>
              </a:rPr>
              <a:t> 认证的用户发放访问应用服务器所需票据。</a:t>
            </a:r>
            <a:endParaRPr lang="en-US" altLang="zh-CN" sz="2000" dirty="0">
              <a:latin typeface="Times New Roman" panose="02020603050405020304" pitchFamily="18" charset="0"/>
              <a:cs typeface="Times New Roman" panose="02020603050405020304" pitchFamily="18" charset="0"/>
            </a:endParaRPr>
          </a:p>
          <a:p>
            <a:pPr marL="1257300" lvl="2" indent="-342900">
              <a:lnSpc>
                <a:spcPct val="120000"/>
              </a:lnSpc>
              <a:spcBef>
                <a:spcPts val="600"/>
              </a:spcBef>
              <a:buFont typeface="Wingdings" panose="05000000000000000000" pitchFamily="2" charset="2"/>
              <a:buChar char="p"/>
            </a:pPr>
            <a:r>
              <a:rPr lang="zh-CN" altLang="en-US" dirty="0">
                <a:latin typeface="Times New Roman" panose="02020603050405020304" pitchFamily="18" charset="0"/>
                <a:cs typeface="Times New Roman" panose="02020603050405020304" pitchFamily="18" charset="0"/>
              </a:rPr>
              <a:t>用户使用</a:t>
            </a:r>
            <a:r>
              <a:rPr lang="en-US" altLang="zh-CN" dirty="0">
                <a:latin typeface="Times New Roman" panose="02020603050405020304" pitchFamily="18" charset="0"/>
                <a:cs typeface="Times New Roman" panose="02020603050405020304" pitchFamily="18" charset="0"/>
              </a:rPr>
              <a:t> TGT </a:t>
            </a:r>
            <a:r>
              <a:rPr lang="zh-CN" altLang="en-US" dirty="0">
                <a:latin typeface="Times New Roman" panose="02020603050405020304" pitchFamily="18" charset="0"/>
                <a:cs typeface="Times New Roman" panose="02020603050405020304" pitchFamily="18" charset="0"/>
              </a:rPr>
              <a:t>向</a:t>
            </a:r>
            <a:r>
              <a:rPr lang="en-US" altLang="zh-CN" dirty="0">
                <a:latin typeface="Times New Roman" panose="02020603050405020304" pitchFamily="18" charset="0"/>
                <a:cs typeface="Times New Roman" panose="02020603050405020304" pitchFamily="18" charset="0"/>
              </a:rPr>
              <a:t> TGS </a:t>
            </a:r>
            <a:r>
              <a:rPr lang="zh-CN" altLang="en-US" dirty="0">
                <a:latin typeface="Times New Roman" panose="02020603050405020304" pitchFamily="18" charset="0"/>
                <a:cs typeface="Times New Roman" panose="02020603050405020304" pitchFamily="18" charset="0"/>
              </a:rPr>
              <a:t>证明身份，然后</a:t>
            </a:r>
            <a:r>
              <a:rPr lang="en-US" altLang="zh-CN" dirty="0">
                <a:latin typeface="Times New Roman" panose="02020603050405020304" pitchFamily="18" charset="0"/>
                <a:cs typeface="Times New Roman" panose="02020603050405020304" pitchFamily="18" charset="0"/>
              </a:rPr>
              <a:t> TGS </a:t>
            </a:r>
            <a:r>
              <a:rPr lang="zh-CN" altLang="en-US" dirty="0">
                <a:latin typeface="Times New Roman" panose="02020603050405020304" pitchFamily="18" charset="0"/>
                <a:cs typeface="Times New Roman" panose="02020603050405020304" pitchFamily="18" charset="0"/>
              </a:rPr>
              <a:t>为特定的服务发放</a:t>
            </a:r>
            <a:r>
              <a:rPr lang="zh-CN" altLang="en-US" dirty="0">
                <a:solidFill>
                  <a:srgbClr val="0000FF"/>
                </a:solidFill>
                <a:latin typeface="Times New Roman" panose="02020603050405020304" pitchFamily="18" charset="0"/>
                <a:cs typeface="Times New Roman" panose="02020603050405020304" pitchFamily="18" charset="0"/>
              </a:rPr>
              <a:t>服务票据 </a:t>
            </a:r>
            <a:r>
              <a:rPr lang="en-US" altLang="zh-CN" dirty="0">
                <a:solidFill>
                  <a:srgbClr val="0000FF"/>
                </a:solidFill>
                <a:latin typeface="Times New Roman" panose="02020603050405020304" pitchFamily="18" charset="0"/>
                <a:cs typeface="Times New Roman" panose="02020603050405020304" pitchFamily="18" charset="0"/>
              </a:rPr>
              <a:t>(Service-granting ticket, ST )</a:t>
            </a:r>
            <a:endParaRPr lang="en-US" altLang="zh-CN" sz="2000" dirty="0">
              <a:latin typeface="Times New Roman" panose="02020603050405020304" pitchFamily="18" charset="0"/>
              <a:cs typeface="Times New Roman" panose="02020603050405020304" pitchFamily="18" charset="0"/>
            </a:endParaRPr>
          </a:p>
          <a:p>
            <a:pPr marL="457200" indent="-457200">
              <a:lnSpc>
                <a:spcPct val="12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应用服务器：</a:t>
            </a:r>
            <a:r>
              <a:rPr lang="zh-CN" altLang="en-US" sz="2000" dirty="0">
                <a:latin typeface="Times New Roman" panose="02020603050405020304" pitchFamily="18" charset="0"/>
                <a:cs typeface="Times New Roman" panose="02020603050405020304" pitchFamily="18" charset="0"/>
              </a:rPr>
              <a:t>接受用户服务请求，从票据中提取会话密钥，解开加密信息来验证用户，并提供给合法用户所要求的服务</a:t>
            </a:r>
          </a:p>
          <a:p>
            <a:pPr marL="457200" indent="-457200">
              <a:lnSpc>
                <a:spcPct val="120000"/>
              </a:lnSpc>
              <a:spcBef>
                <a:spcPts val="600"/>
              </a:spcBef>
              <a:buFont typeface="Wingdings" panose="05000000000000000000" pitchFamily="2" charset="2"/>
              <a:buChar char="l"/>
            </a:pPr>
            <a:r>
              <a:rPr lang="zh-CN" altLang="en-US" sz="2000" b="1" dirty="0">
                <a:latin typeface="Times New Roman" panose="02020603050405020304" pitchFamily="18" charset="0"/>
                <a:cs typeface="Times New Roman" panose="02020603050405020304" pitchFamily="18" charset="0"/>
              </a:rPr>
              <a:t>客户端：</a:t>
            </a:r>
            <a:r>
              <a:rPr lang="zh-CN" altLang="en-US" sz="2000" dirty="0">
                <a:latin typeface="Times New Roman" panose="02020603050405020304" pitchFamily="18" charset="0"/>
                <a:cs typeface="Times New Roman" panose="02020603050405020304" pitchFamily="18" charset="0"/>
              </a:rPr>
              <a:t>发送各种请求信息，并接收从 </a:t>
            </a:r>
            <a:r>
              <a:rPr lang="en-US" altLang="zh-CN" sz="2000" dirty="0">
                <a:latin typeface="Times New Roman" panose="02020603050405020304" pitchFamily="18" charset="0"/>
                <a:cs typeface="Times New Roman" panose="02020603050405020304" pitchFamily="18" charset="0"/>
              </a:rPr>
              <a:t>KDC </a:t>
            </a:r>
            <a:r>
              <a:rPr lang="zh-CN" altLang="en-US" sz="2000" dirty="0">
                <a:latin typeface="Times New Roman" panose="02020603050405020304" pitchFamily="18" charset="0"/>
                <a:cs typeface="Times New Roman" panose="02020603050405020304" pitchFamily="18" charset="0"/>
              </a:rPr>
              <a:t>返回的信息</a:t>
            </a: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a:t>
            </a:r>
            <a:r>
              <a:rPr lang="zh-CN" altLang="en-US" sz="2400" b="1" dirty="0">
                <a:solidFill>
                  <a:srgbClr val="0000FF"/>
                </a:solidFill>
                <a:latin typeface="Times New Roman" panose="02020603050405020304" pitchFamily="18" charset="0"/>
                <a:cs typeface="Times New Roman" panose="02020603050405020304" pitchFamily="18" charset="0"/>
              </a:rPr>
              <a:t>第四版</a:t>
            </a:r>
            <a:r>
              <a:rPr lang="en-US" altLang="zh-CN" sz="2400" b="1" dirty="0">
                <a:solidFill>
                  <a:srgbClr val="0000FF"/>
                </a:solidFill>
                <a:latin typeface="Times New Roman" panose="02020603050405020304" pitchFamily="18" charset="0"/>
                <a:cs typeface="Times New Roman" panose="02020603050405020304" pitchFamily="18" charset="0"/>
              </a:rPr>
              <a:t>Kerberos</a:t>
            </a:r>
            <a:r>
              <a:rPr lang="zh-CN" altLang="en-US" sz="2400" b="1" dirty="0">
                <a:solidFill>
                  <a:srgbClr val="0000FF"/>
                </a:solidFill>
                <a:latin typeface="Times New Roman" panose="02020603050405020304" pitchFamily="18" charset="0"/>
                <a:cs typeface="Times New Roman" panose="02020603050405020304" pitchFamily="18" charset="0"/>
              </a:rPr>
              <a:t>：模型</a:t>
            </a:r>
          </a:p>
        </p:txBody>
      </p:sp>
    </p:spTree>
    <p:extLst>
      <p:ext uri="{BB962C8B-B14F-4D97-AF65-F5344CB8AC3E}">
        <p14:creationId xmlns:p14="http://schemas.microsoft.com/office/powerpoint/2010/main" val="206626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8A24C52-D754-04EF-5F89-8092473DD52D}"/>
              </a:ext>
            </a:extLst>
          </p:cNvPr>
          <p:cNvGrpSpPr/>
          <p:nvPr/>
        </p:nvGrpSpPr>
        <p:grpSpPr>
          <a:xfrm>
            <a:off x="1262418" y="1596771"/>
            <a:ext cx="7151195" cy="5079252"/>
            <a:chOff x="1262418" y="1596771"/>
            <a:chExt cx="7151195" cy="5079252"/>
          </a:xfrm>
        </p:grpSpPr>
        <p:pic>
          <p:nvPicPr>
            <p:cNvPr id="7" name="图片 6">
              <a:extLst>
                <a:ext uri="{FF2B5EF4-FFF2-40B4-BE49-F238E27FC236}">
                  <a16:creationId xmlns:a16="http://schemas.microsoft.com/office/drawing/2014/main" id="{8DAFEF08-7C5C-4B58-47AA-39BE197092E9}"/>
                </a:ext>
              </a:extLst>
            </p:cNvPr>
            <p:cNvPicPr>
              <a:picLocks noChangeAspect="1"/>
            </p:cNvPicPr>
            <p:nvPr/>
          </p:nvPicPr>
          <p:blipFill rotWithShape="1">
            <a:blip r:embed="rId3">
              <a:extLst>
                <a:ext uri="{BEBA8EAE-BF5A-486C-A8C5-ECC9F3942E4B}">
                  <a14:imgProps xmlns:a14="http://schemas.microsoft.com/office/drawing/2010/main">
                    <a14:imgLayer r:embed="rId4">
                      <a14:imgEffect>
                        <a14:colorTemperature colorTemp="5900"/>
                      </a14:imgEffect>
                    </a14:imgLayer>
                  </a14:imgProps>
                </a:ext>
              </a:extLst>
            </a:blip>
            <a:srcRect l="2005" t="715"/>
            <a:stretch/>
          </p:blipFill>
          <p:spPr>
            <a:xfrm>
              <a:off x="1262418" y="1596771"/>
              <a:ext cx="7151195" cy="5079252"/>
            </a:xfrm>
            <a:prstGeom prst="rect">
              <a:avLst/>
            </a:prstGeom>
          </p:spPr>
        </p:pic>
        <p:sp>
          <p:nvSpPr>
            <p:cNvPr id="4" name="文本框 3">
              <a:extLst>
                <a:ext uri="{FF2B5EF4-FFF2-40B4-BE49-F238E27FC236}">
                  <a16:creationId xmlns:a16="http://schemas.microsoft.com/office/drawing/2014/main" id="{E0884D93-67F0-899F-2FA9-5D54178A711A}"/>
                </a:ext>
              </a:extLst>
            </p:cNvPr>
            <p:cNvSpPr txBox="1"/>
            <p:nvPr/>
          </p:nvSpPr>
          <p:spPr>
            <a:xfrm>
              <a:off x="5414957" y="2195454"/>
              <a:ext cx="1012348" cy="584775"/>
            </a:xfrm>
            <a:prstGeom prst="rect">
              <a:avLst/>
            </a:prstGeom>
            <a:solidFill>
              <a:schemeClr val="bg1"/>
            </a:solidFill>
            <a:ln>
              <a:solidFill>
                <a:schemeClr val="tx1"/>
              </a:solidFill>
            </a:ln>
          </p:spPr>
          <p:txBody>
            <a:bodyPr wrap="square" rtlCol="0">
              <a:spAutoFit/>
            </a:bodyPr>
            <a:lstStyle/>
            <a:p>
              <a:r>
                <a:rPr kumimoji="1" lang="zh-CN" altLang="en-US" sz="1600" dirty="0">
                  <a:latin typeface="Times New Roman" panose="02020603050405020304" pitchFamily="18" charset="0"/>
                  <a:cs typeface="Times New Roman" panose="02020603050405020304" pitchFamily="18" charset="0"/>
                </a:rPr>
                <a:t>认证服务器</a:t>
              </a:r>
              <a:r>
                <a:rPr kumimoji="1" lang="en-US" altLang="zh-CN" sz="1600" dirty="0">
                  <a:latin typeface="Times New Roman" panose="02020603050405020304" pitchFamily="18" charset="0"/>
                  <a:cs typeface="Times New Roman" panose="02020603050405020304" pitchFamily="18" charset="0"/>
                </a:rPr>
                <a:t>(AS)</a:t>
              </a:r>
              <a:endParaRPr kumimoji="1" lang="zh-CN" altLang="en-US" sz="16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5A9467F8-730F-3FEE-661D-501BC40DF358}"/>
                </a:ext>
              </a:extLst>
            </p:cNvPr>
            <p:cNvSpPr txBox="1"/>
            <p:nvPr/>
          </p:nvSpPr>
          <p:spPr>
            <a:xfrm>
              <a:off x="5414955" y="3176934"/>
              <a:ext cx="1237474" cy="584775"/>
            </a:xfrm>
            <a:prstGeom prst="rect">
              <a:avLst/>
            </a:prstGeom>
            <a:solidFill>
              <a:schemeClr val="bg1"/>
            </a:solidFill>
            <a:ln>
              <a:solidFill>
                <a:schemeClr val="tx1"/>
              </a:solidFill>
            </a:ln>
          </p:spPr>
          <p:txBody>
            <a:bodyPr wrap="square" rtlCol="0">
              <a:spAutoFit/>
            </a:bodyPr>
            <a:lstStyle/>
            <a:p>
              <a:r>
                <a:rPr kumimoji="1" lang="zh-CN" altLang="en-US" sz="1600" dirty="0">
                  <a:latin typeface="Times New Roman" panose="02020603050405020304" pitchFamily="18" charset="0"/>
                  <a:cs typeface="Times New Roman" panose="02020603050405020304" pitchFamily="18" charset="0"/>
                </a:rPr>
                <a:t>票据授权服务器</a:t>
              </a:r>
              <a:r>
                <a:rPr kumimoji="1" lang="en-US" altLang="zh-CN" sz="1600" dirty="0">
                  <a:latin typeface="Times New Roman" panose="02020603050405020304" pitchFamily="18" charset="0"/>
                  <a:cs typeface="Times New Roman" panose="02020603050405020304" pitchFamily="18" charset="0"/>
                </a:rPr>
                <a:t>(TGS)</a:t>
              </a:r>
              <a:endParaRPr kumimoji="1" lang="zh-CN" altLang="en-US" sz="1600" dirty="0">
                <a:latin typeface="Times New Roman" panose="02020603050405020304" pitchFamily="18" charset="0"/>
                <a:cs typeface="Times New Roman" panose="02020603050405020304" pitchFamily="18" charset="0"/>
              </a:endParaRPr>
            </a:p>
          </p:txBody>
        </p:sp>
      </p:grpSp>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latin typeface="Times New Roman" panose="02020603050405020304" pitchFamily="18" charset="0"/>
                <a:cs typeface="Times New Roman" panose="02020603050405020304" pitchFamily="18" charset="0"/>
              </a:rPr>
              <a:t>26</a:t>
            </a:fld>
            <a:endParaRPr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a:t>
            </a:r>
            <a:r>
              <a:rPr lang="zh-CN" altLang="en-US" sz="2400" b="1" dirty="0">
                <a:solidFill>
                  <a:srgbClr val="0000FF"/>
                </a:solidFill>
                <a:latin typeface="Times New Roman" panose="02020603050405020304" pitchFamily="18" charset="0"/>
                <a:cs typeface="Times New Roman" panose="02020603050405020304" pitchFamily="18" charset="0"/>
              </a:rPr>
              <a:t>第四版</a:t>
            </a:r>
            <a:r>
              <a:rPr lang="en-US" altLang="zh-CN" sz="2400" b="1" dirty="0">
                <a:solidFill>
                  <a:srgbClr val="0000FF"/>
                </a:solidFill>
                <a:latin typeface="Times New Roman" panose="02020603050405020304" pitchFamily="18" charset="0"/>
                <a:cs typeface="Times New Roman" panose="02020603050405020304" pitchFamily="18" charset="0"/>
              </a:rPr>
              <a:t>Kerberos</a:t>
            </a:r>
            <a:r>
              <a:rPr lang="zh-CN" altLang="en-US" sz="2400" b="1" dirty="0">
                <a:solidFill>
                  <a:srgbClr val="0000FF"/>
                </a:solidFill>
                <a:latin typeface="Times New Roman" panose="02020603050405020304" pitchFamily="18" charset="0"/>
                <a:cs typeface="Times New Roman" panose="02020603050405020304" pitchFamily="18" charset="0"/>
              </a:rPr>
              <a:t>：认证过程</a:t>
            </a:r>
          </a:p>
        </p:txBody>
      </p:sp>
      <p:sp>
        <p:nvSpPr>
          <p:cNvPr id="12" name="文本框 11">
            <a:extLst>
              <a:ext uri="{FF2B5EF4-FFF2-40B4-BE49-F238E27FC236}">
                <a16:creationId xmlns:a16="http://schemas.microsoft.com/office/drawing/2014/main" id="{A151520D-E6F3-6B79-97B5-8642D3098B21}"/>
              </a:ext>
            </a:extLst>
          </p:cNvPr>
          <p:cNvSpPr txBox="1"/>
          <p:nvPr/>
        </p:nvSpPr>
        <p:spPr>
          <a:xfrm>
            <a:off x="1810662" y="1717537"/>
            <a:ext cx="1251193" cy="58477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r>
              <a:rPr lang="zh-CN" altLang="en-US" sz="1600" dirty="0">
                <a:latin typeface="Times New Roman" panose="02020603050405020304" pitchFamily="18" charset="0"/>
                <a:cs typeface="Times New Roman" panose="02020603050405020304" pitchFamily="18" charset="0"/>
              </a:rPr>
              <a:t>每个用户登录会话一次</a:t>
            </a:r>
          </a:p>
        </p:txBody>
      </p:sp>
      <p:sp>
        <p:nvSpPr>
          <p:cNvPr id="14" name="文本框 13">
            <a:extLst>
              <a:ext uri="{FF2B5EF4-FFF2-40B4-BE49-F238E27FC236}">
                <a16:creationId xmlns:a16="http://schemas.microsoft.com/office/drawing/2014/main" id="{62B22950-FBAB-DF37-8814-B54D7FA76711}"/>
              </a:ext>
            </a:extLst>
          </p:cNvPr>
          <p:cNvSpPr txBox="1"/>
          <p:nvPr/>
        </p:nvSpPr>
        <p:spPr>
          <a:xfrm>
            <a:off x="3959969" y="3987220"/>
            <a:ext cx="1121708" cy="58477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r>
              <a:rPr lang="zh-CN" altLang="en-US" sz="1600" dirty="0">
                <a:latin typeface="Times New Roman" panose="02020603050405020304" pitchFamily="18" charset="0"/>
                <a:cs typeface="Times New Roman" panose="02020603050405020304" pitchFamily="18" charset="0"/>
              </a:rPr>
              <a:t>每种服务类型一次</a:t>
            </a:r>
          </a:p>
        </p:txBody>
      </p:sp>
      <p:sp>
        <p:nvSpPr>
          <p:cNvPr id="15" name="文本框 14">
            <a:extLst>
              <a:ext uri="{FF2B5EF4-FFF2-40B4-BE49-F238E27FC236}">
                <a16:creationId xmlns:a16="http://schemas.microsoft.com/office/drawing/2014/main" id="{5490CC7A-8B43-7B86-CA04-B31D7F9DA1DE}"/>
              </a:ext>
            </a:extLst>
          </p:cNvPr>
          <p:cNvSpPr txBox="1"/>
          <p:nvPr/>
        </p:nvSpPr>
        <p:spPr>
          <a:xfrm>
            <a:off x="2384941" y="5479845"/>
            <a:ext cx="1046207" cy="58477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r>
              <a:rPr lang="zh-CN" altLang="en-US" sz="1600" dirty="0">
                <a:latin typeface="Times New Roman" panose="02020603050405020304" pitchFamily="18" charset="0"/>
                <a:cs typeface="Times New Roman" panose="02020603050405020304" pitchFamily="18" charset="0"/>
              </a:rPr>
              <a:t>每个服务会话一次</a:t>
            </a:r>
          </a:p>
        </p:txBody>
      </p:sp>
      <p:sp>
        <p:nvSpPr>
          <p:cNvPr id="18" name="文本框 17">
            <a:extLst>
              <a:ext uri="{FF2B5EF4-FFF2-40B4-BE49-F238E27FC236}">
                <a16:creationId xmlns:a16="http://schemas.microsoft.com/office/drawing/2014/main" id="{E47DBAF8-A6EB-4732-A098-1A5CB173031F}"/>
              </a:ext>
            </a:extLst>
          </p:cNvPr>
          <p:cNvSpPr txBox="1"/>
          <p:nvPr/>
        </p:nvSpPr>
        <p:spPr>
          <a:xfrm rot="20648837">
            <a:off x="3341780" y="2411935"/>
            <a:ext cx="1380560"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请求 </a:t>
            </a:r>
            <a:r>
              <a:rPr lang="en-US" altLang="zh-CN" sz="1600" dirty="0">
                <a:latin typeface="Times New Roman" panose="02020603050405020304" pitchFamily="18" charset="0"/>
                <a:cs typeface="Times New Roman" panose="02020603050405020304" pitchFamily="18" charset="0"/>
              </a:rPr>
              <a:t>TGT</a:t>
            </a:r>
            <a:endParaRPr lang="zh-CN" altLang="en-US" sz="1600"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3FF5519A-0E1D-448D-A215-AA8D59D307B8}"/>
              </a:ext>
            </a:extLst>
          </p:cNvPr>
          <p:cNvSpPr txBox="1">
            <a:spLocks noChangeAspect="1"/>
          </p:cNvSpPr>
          <p:nvPr/>
        </p:nvSpPr>
        <p:spPr>
          <a:xfrm rot="20460000">
            <a:off x="3335747" y="2734392"/>
            <a:ext cx="1859528"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2.TGT + </a:t>
            </a:r>
            <a:r>
              <a:rPr lang="zh-CN" altLang="en-US" sz="1600" dirty="0">
                <a:latin typeface="Times New Roman" panose="02020603050405020304" pitchFamily="18" charset="0"/>
                <a:cs typeface="Times New Roman" panose="02020603050405020304" pitchFamily="18" charset="0"/>
              </a:rPr>
              <a:t>会话密钥</a:t>
            </a:r>
          </a:p>
        </p:txBody>
      </p:sp>
      <p:sp>
        <p:nvSpPr>
          <p:cNvPr id="20" name="文本框 19">
            <a:extLst>
              <a:ext uri="{FF2B5EF4-FFF2-40B4-BE49-F238E27FC236}">
                <a16:creationId xmlns:a16="http://schemas.microsoft.com/office/drawing/2014/main" id="{75375BD9-FBA4-40E7-B51A-F099ADFB49D6}"/>
              </a:ext>
            </a:extLst>
          </p:cNvPr>
          <p:cNvSpPr txBox="1"/>
          <p:nvPr/>
        </p:nvSpPr>
        <p:spPr>
          <a:xfrm rot="21000000">
            <a:off x="3730589" y="3163318"/>
            <a:ext cx="1289179"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3. </a:t>
            </a:r>
            <a:r>
              <a:rPr lang="zh-CN" altLang="en-US" sz="1600" dirty="0">
                <a:latin typeface="Times New Roman" panose="02020603050405020304" pitchFamily="18" charset="0"/>
                <a:cs typeface="Times New Roman" panose="02020603050405020304" pitchFamily="18" charset="0"/>
              </a:rPr>
              <a:t>请求 </a:t>
            </a:r>
            <a:r>
              <a:rPr lang="en-US" altLang="zh-CN" sz="1600" dirty="0">
                <a:latin typeface="Times New Roman" panose="02020603050405020304" pitchFamily="18" charset="0"/>
                <a:cs typeface="Times New Roman" panose="02020603050405020304" pitchFamily="18" charset="0"/>
              </a:rPr>
              <a:t>ST</a:t>
            </a:r>
            <a:endParaRPr lang="zh-CN" altLang="en-US" sz="1600"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CCB544D2-AA8B-42E1-A779-10C4B5A2092F}"/>
              </a:ext>
            </a:extLst>
          </p:cNvPr>
          <p:cNvSpPr txBox="1">
            <a:spLocks noChangeAspect="1"/>
          </p:cNvSpPr>
          <p:nvPr/>
        </p:nvSpPr>
        <p:spPr>
          <a:xfrm rot="21120000">
            <a:off x="3492350" y="3510782"/>
            <a:ext cx="2005141"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4. ST +</a:t>
            </a:r>
            <a:r>
              <a:rPr lang="zh-CN" altLang="en-US" sz="1600" dirty="0">
                <a:latin typeface="Times New Roman" panose="02020603050405020304" pitchFamily="18" charset="0"/>
                <a:cs typeface="Times New Roman" panose="02020603050405020304" pitchFamily="18" charset="0"/>
              </a:rPr>
              <a:t>会话密钥</a:t>
            </a:r>
          </a:p>
        </p:txBody>
      </p:sp>
      <p:sp>
        <p:nvSpPr>
          <p:cNvPr id="22" name="文本框 21">
            <a:extLst>
              <a:ext uri="{FF2B5EF4-FFF2-40B4-BE49-F238E27FC236}">
                <a16:creationId xmlns:a16="http://schemas.microsoft.com/office/drawing/2014/main" id="{632200DE-BA22-4D2D-A59B-5471A86086EF}"/>
              </a:ext>
            </a:extLst>
          </p:cNvPr>
          <p:cNvSpPr txBox="1"/>
          <p:nvPr/>
        </p:nvSpPr>
        <p:spPr>
          <a:xfrm rot="1860000">
            <a:off x="3621688" y="4835993"/>
            <a:ext cx="1412319"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5. </a:t>
            </a:r>
            <a:r>
              <a:rPr lang="zh-CN" altLang="en-US" sz="1600" dirty="0">
                <a:latin typeface="Times New Roman" panose="02020603050405020304" pitchFamily="18" charset="0"/>
                <a:cs typeface="Times New Roman" panose="02020603050405020304" pitchFamily="18" charset="0"/>
              </a:rPr>
              <a:t>请求服务</a:t>
            </a:r>
          </a:p>
        </p:txBody>
      </p:sp>
      <p:sp>
        <p:nvSpPr>
          <p:cNvPr id="23" name="文本框 22">
            <a:extLst>
              <a:ext uri="{FF2B5EF4-FFF2-40B4-BE49-F238E27FC236}">
                <a16:creationId xmlns:a16="http://schemas.microsoft.com/office/drawing/2014/main" id="{417701A2-D96C-4945-8042-BCB7CBDE4CCE}"/>
              </a:ext>
            </a:extLst>
          </p:cNvPr>
          <p:cNvSpPr txBox="1"/>
          <p:nvPr/>
        </p:nvSpPr>
        <p:spPr>
          <a:xfrm rot="1860000">
            <a:off x="3035354" y="5201356"/>
            <a:ext cx="2172140"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6. </a:t>
            </a:r>
            <a:r>
              <a:rPr lang="zh-CN" altLang="en-US" sz="1600" dirty="0">
                <a:latin typeface="Times New Roman" panose="02020603050405020304" pitchFamily="18" charset="0"/>
                <a:cs typeface="Times New Roman" panose="02020603050405020304" pitchFamily="18" charset="0"/>
              </a:rPr>
              <a:t>服务器认证符</a:t>
            </a:r>
          </a:p>
        </p:txBody>
      </p:sp>
      <p:sp>
        <p:nvSpPr>
          <p:cNvPr id="26" name="文本框 25">
            <a:extLst>
              <a:ext uri="{FF2B5EF4-FFF2-40B4-BE49-F238E27FC236}">
                <a16:creationId xmlns:a16="http://schemas.microsoft.com/office/drawing/2014/main" id="{C3DC5302-EBDE-496E-9E82-DEF5B71F8BA6}"/>
              </a:ext>
            </a:extLst>
          </p:cNvPr>
          <p:cNvSpPr txBox="1"/>
          <p:nvPr/>
        </p:nvSpPr>
        <p:spPr>
          <a:xfrm>
            <a:off x="5985333" y="5718950"/>
            <a:ext cx="1452697" cy="369332"/>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r>
              <a:rPr lang="zh-CN" altLang="en-US" b="1" dirty="0">
                <a:latin typeface="Times New Roman" panose="02020603050405020304" pitchFamily="18" charset="0"/>
                <a:cs typeface="Times New Roman" panose="02020603050405020304" pitchFamily="18" charset="0"/>
              </a:rPr>
              <a:t>应用服务器</a:t>
            </a:r>
          </a:p>
        </p:txBody>
      </p:sp>
      <p:sp>
        <p:nvSpPr>
          <p:cNvPr id="28" name="文本框 27">
            <a:extLst>
              <a:ext uri="{FF2B5EF4-FFF2-40B4-BE49-F238E27FC236}">
                <a16:creationId xmlns:a16="http://schemas.microsoft.com/office/drawing/2014/main" id="{3C1FD049-2964-4F51-BEA1-823718CAAD1D}"/>
              </a:ext>
            </a:extLst>
          </p:cNvPr>
          <p:cNvSpPr txBox="1"/>
          <p:nvPr/>
        </p:nvSpPr>
        <p:spPr>
          <a:xfrm>
            <a:off x="1390051" y="4279607"/>
            <a:ext cx="1046207" cy="369332"/>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r>
              <a:rPr lang="zh-CN" altLang="en-US" b="1" dirty="0">
                <a:latin typeface="Times New Roman" panose="02020603050405020304" pitchFamily="18" charset="0"/>
                <a:cs typeface="Times New Roman" panose="02020603050405020304" pitchFamily="18" charset="0"/>
              </a:rPr>
              <a:t>客户端</a:t>
            </a:r>
          </a:p>
        </p:txBody>
      </p:sp>
      <p:sp>
        <p:nvSpPr>
          <p:cNvPr id="30" name="文本框 29">
            <a:extLst>
              <a:ext uri="{FF2B5EF4-FFF2-40B4-BE49-F238E27FC236}">
                <a16:creationId xmlns:a16="http://schemas.microsoft.com/office/drawing/2014/main" id="{2ED2264E-D500-41ED-A376-5F909ECC2FE2}"/>
              </a:ext>
            </a:extLst>
          </p:cNvPr>
          <p:cNvSpPr txBox="1"/>
          <p:nvPr/>
        </p:nvSpPr>
        <p:spPr>
          <a:xfrm>
            <a:off x="5199732" y="1255896"/>
            <a:ext cx="2354007" cy="369332"/>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r>
              <a:rPr lang="zh-CN" altLang="en-US" b="1" dirty="0">
                <a:latin typeface="Times New Roman" panose="02020603050405020304" pitchFamily="18" charset="0"/>
                <a:cs typeface="Times New Roman" panose="02020603050405020304" pitchFamily="18" charset="0"/>
              </a:rPr>
              <a:t>密钥分配中心 </a:t>
            </a:r>
            <a:r>
              <a:rPr lang="en-US" altLang="zh-CN" b="1" dirty="0">
                <a:latin typeface="Times New Roman" panose="02020603050405020304" pitchFamily="18" charset="0"/>
                <a:cs typeface="Times New Roman" panose="02020603050405020304" pitchFamily="18" charset="0"/>
              </a:rPr>
              <a:t>(KDC)</a:t>
            </a:r>
            <a:endParaRPr lang="zh-CN"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345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27</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312517" y="1632561"/>
            <a:ext cx="8561671" cy="4880952"/>
          </a:xfrm>
          <a:prstGeom prst="rect">
            <a:avLst/>
          </a:prstGeom>
          <a:noFill/>
        </p:spPr>
        <p:txBody>
          <a:bodyPr wrap="square" rtlCol="0">
            <a:spAutoFit/>
          </a:bodyPr>
          <a:lstStyle/>
          <a:p>
            <a:pPr marL="342900" lvl="0" indent="-342900" algn="just" defTabSz="914400">
              <a:lnSpc>
                <a:spcPct val="140000"/>
              </a:lnSpc>
              <a:buFont typeface="+mj-lt"/>
              <a:buAutoNum type="arabicPeriod"/>
              <a:defRPr/>
            </a:pPr>
            <a:r>
              <a:rPr lang="zh-CN" altLang="zh-CN" sz="1600" kern="100" dirty="0">
                <a:latin typeface="+mn-ea"/>
                <a:cs typeface="Times New Roman" panose="02020603050405020304" pitchFamily="18" charset="0"/>
              </a:rPr>
              <a:t>用户</a:t>
            </a:r>
            <a:r>
              <a:rPr lang="zh-CN" altLang="en-US" sz="1600" dirty="0">
                <a:latin typeface="+mn-ea"/>
                <a:cs typeface="Times New Roman" panose="02020603050405020304" pitchFamily="18" charset="0"/>
              </a:rPr>
              <a:t>登录并请求主机，</a:t>
            </a:r>
            <a:r>
              <a:rPr lang="zh-CN" altLang="zh-CN" sz="1600" kern="100" dirty="0">
                <a:latin typeface="+mn-ea"/>
                <a:cs typeface="Times New Roman" panose="02020603050405020304" pitchFamily="18" charset="0"/>
              </a:rPr>
              <a:t>以明文方式向认证服务器</a:t>
            </a:r>
            <a:r>
              <a:rPr lang="en-US" altLang="zh-CN" sz="1600" kern="100" dirty="0">
                <a:latin typeface="+mn-ea"/>
                <a:cs typeface="Times New Roman" panose="02020603050405020304" pitchFamily="18" charset="0"/>
              </a:rPr>
              <a:t>AS</a:t>
            </a:r>
            <a:r>
              <a:rPr lang="zh-CN" altLang="zh-CN" sz="1600" kern="100" dirty="0">
                <a:latin typeface="+mn-ea"/>
                <a:cs typeface="Times New Roman" panose="02020603050405020304" pitchFamily="18" charset="0"/>
              </a:rPr>
              <a:t>发出请求，要求获得</a:t>
            </a:r>
            <a:r>
              <a:rPr lang="en-US" altLang="zh-CN" sz="1600" kern="100" dirty="0">
                <a:latin typeface="+mn-ea"/>
                <a:cs typeface="Times New Roman" panose="02020603050405020304" pitchFamily="18" charset="0"/>
              </a:rPr>
              <a:t>TGT</a:t>
            </a:r>
            <a:r>
              <a:rPr lang="zh-CN" altLang="en-US" sz="1600" kern="100" dirty="0">
                <a:latin typeface="+mn-ea"/>
                <a:cs typeface="Times New Roman" panose="02020603050405020304" pitchFamily="18" charset="0"/>
              </a:rPr>
              <a:t>；</a:t>
            </a:r>
            <a:endParaRPr lang="en-US" altLang="zh-CN" sz="1600" kern="100" dirty="0">
              <a:latin typeface="+mn-ea"/>
              <a:cs typeface="Times New Roman" panose="02020603050405020304" pitchFamily="18" charset="0"/>
            </a:endParaRPr>
          </a:p>
          <a:p>
            <a:pPr marL="342900" lvl="0" indent="-342900" algn="just" defTabSz="914400">
              <a:lnSpc>
                <a:spcPct val="140000"/>
              </a:lnSpc>
              <a:buFont typeface="+mj-lt"/>
              <a:buAutoNum type="arabicPeriod"/>
              <a:defRPr/>
            </a:pPr>
            <a:r>
              <a:rPr lang="en-US" altLang="zh-CN" sz="1600" kern="100" dirty="0">
                <a:latin typeface="+mn-ea"/>
                <a:cs typeface="Times New Roman" panose="02020603050405020304" pitchFamily="18" charset="0"/>
              </a:rPr>
              <a:t>AS</a:t>
            </a:r>
            <a:r>
              <a:rPr lang="zh-CN" altLang="en-US" sz="1600" dirty="0">
                <a:latin typeface="+mn-ea"/>
                <a:cs typeface="Times New Roman" panose="02020603050405020304" pitchFamily="18" charset="0"/>
              </a:rPr>
              <a:t>在数据库中验证用户的访问权，创建</a:t>
            </a:r>
            <a:r>
              <a:rPr lang="en-US" altLang="zh-CN" sz="1600" kern="100" dirty="0">
                <a:latin typeface="+mn-ea"/>
                <a:cs typeface="Times New Roman" panose="02020603050405020304" pitchFamily="18" charset="0"/>
              </a:rPr>
              <a:t>TGT</a:t>
            </a:r>
            <a:r>
              <a:rPr lang="zh-CN" altLang="zh-CN" sz="1600" kern="100" dirty="0">
                <a:latin typeface="+mn-ea"/>
                <a:cs typeface="Times New Roman" panose="02020603050405020304" pitchFamily="18" charset="0"/>
              </a:rPr>
              <a:t>和用户与</a:t>
            </a:r>
            <a:r>
              <a:rPr lang="en-US" altLang="zh-CN" sz="1600" kern="100" dirty="0">
                <a:latin typeface="+mn-ea"/>
                <a:cs typeface="Times New Roman" panose="02020603050405020304" pitchFamily="18" charset="0"/>
              </a:rPr>
              <a:t>TGS</a:t>
            </a:r>
            <a:r>
              <a:rPr lang="zh-CN" altLang="zh-CN" sz="1600" kern="100" dirty="0">
                <a:latin typeface="+mn-ea"/>
                <a:cs typeface="Times New Roman" panose="02020603050405020304" pitchFamily="18" charset="0"/>
              </a:rPr>
              <a:t>间的会话密钥（对称加密密钥）。会话密钥</a:t>
            </a:r>
            <a:r>
              <a:rPr lang="zh-CN" altLang="en-US" sz="1600" kern="100" dirty="0">
                <a:latin typeface="+mn-ea"/>
                <a:cs typeface="Times New Roman" panose="02020603050405020304" pitchFamily="18" charset="0"/>
              </a:rPr>
              <a:t>用</a:t>
            </a:r>
            <a:r>
              <a:rPr lang="zh-CN" altLang="zh-CN" sz="1600" kern="100" dirty="0">
                <a:latin typeface="+mn-ea"/>
                <a:cs typeface="Times New Roman" panose="02020603050405020304" pitchFamily="18" charset="0"/>
              </a:rPr>
              <a:t>用户的密钥加密后传输</a:t>
            </a:r>
            <a:r>
              <a:rPr lang="zh-CN" altLang="en-US" sz="1600" kern="100" dirty="0">
                <a:latin typeface="+mn-ea"/>
                <a:cs typeface="Times New Roman" panose="02020603050405020304" pitchFamily="18" charset="0"/>
              </a:rPr>
              <a:t>；</a:t>
            </a:r>
            <a:endParaRPr lang="en-US" altLang="zh-CN" sz="1600" kern="100" dirty="0">
              <a:latin typeface="+mn-ea"/>
              <a:cs typeface="Times New Roman" panose="02020603050405020304" pitchFamily="18" charset="0"/>
            </a:endParaRPr>
          </a:p>
          <a:p>
            <a:pPr marL="342900" lvl="0" indent="-342900" algn="just" defTabSz="914400">
              <a:lnSpc>
                <a:spcPct val="140000"/>
              </a:lnSpc>
              <a:buFont typeface="+mj-lt"/>
              <a:buAutoNum type="arabicPeriod"/>
              <a:defRPr/>
            </a:pPr>
            <a:r>
              <a:rPr lang="zh-CN" altLang="zh-CN" sz="1600" kern="100" dirty="0">
                <a:latin typeface="+mn-ea"/>
                <a:cs typeface="Times New Roman" panose="02020603050405020304" pitchFamily="18" charset="0"/>
              </a:rPr>
              <a:t>用户解密得到的</a:t>
            </a:r>
            <a:r>
              <a:rPr lang="en-US" altLang="zh-CN" sz="1600" kern="100" dirty="0">
                <a:latin typeface="+mn-ea"/>
                <a:cs typeface="Times New Roman" panose="02020603050405020304" pitchFamily="18" charset="0"/>
              </a:rPr>
              <a:t>TGT</a:t>
            </a:r>
            <a:r>
              <a:rPr lang="zh-CN" altLang="zh-CN" sz="1600" kern="100" dirty="0">
                <a:latin typeface="+mn-ea"/>
                <a:cs typeface="Times New Roman" panose="02020603050405020304" pitchFamily="18" charset="0"/>
              </a:rPr>
              <a:t>，</a:t>
            </a:r>
            <a:r>
              <a:rPr lang="zh-CN" altLang="en-US" sz="1600" kern="100" dirty="0">
                <a:latin typeface="+mn-ea"/>
                <a:cs typeface="Times New Roman" panose="02020603050405020304" pitchFamily="18" charset="0"/>
              </a:rPr>
              <a:t>然后将包含</a:t>
            </a:r>
            <a:r>
              <a:rPr lang="en-US" altLang="zh-CN" sz="1600" kern="100" dirty="0">
                <a:latin typeface="+mn-ea"/>
                <a:cs typeface="Times New Roman" panose="02020603050405020304" pitchFamily="18" charset="0"/>
              </a:rPr>
              <a:t>TGT</a:t>
            </a:r>
            <a:r>
              <a:rPr lang="zh-CN" altLang="zh-CN" sz="1600" kern="100" dirty="0">
                <a:latin typeface="+mn-ea"/>
                <a:cs typeface="Times New Roman" panose="02020603050405020304" pitchFamily="18" charset="0"/>
              </a:rPr>
              <a:t>和一个带有时间戳的认证符</a:t>
            </a:r>
            <a:r>
              <a:rPr lang="zh-CN" altLang="en-US" sz="1600" kern="100" dirty="0">
                <a:latin typeface="+mn-ea"/>
                <a:cs typeface="Times New Roman" panose="02020603050405020304" pitchFamily="18" charset="0"/>
              </a:rPr>
              <a:t>发送给</a:t>
            </a:r>
            <a:r>
              <a:rPr lang="en-US" altLang="zh-CN" sz="1600" kern="100" dirty="0">
                <a:latin typeface="+mn-ea"/>
                <a:cs typeface="Times New Roman" panose="02020603050405020304" pitchFamily="18" charset="0"/>
              </a:rPr>
              <a:t>TGS</a:t>
            </a:r>
            <a:r>
              <a:rPr lang="zh-CN" altLang="zh-CN" sz="1600" kern="100" dirty="0">
                <a:latin typeface="+mn-ea"/>
                <a:cs typeface="Times New Roman" panose="02020603050405020304" pitchFamily="18" charset="0"/>
              </a:rPr>
              <a:t>申请服务票据</a:t>
            </a:r>
            <a:r>
              <a:rPr lang="en-US" altLang="zh-CN" sz="1600" kern="100" dirty="0">
                <a:latin typeface="+mn-ea"/>
                <a:cs typeface="Times New Roman" panose="02020603050405020304" pitchFamily="18" charset="0"/>
              </a:rPr>
              <a:t>ST</a:t>
            </a:r>
            <a:r>
              <a:rPr lang="zh-CN" altLang="zh-CN" sz="1600" kern="100" dirty="0">
                <a:latin typeface="+mn-ea"/>
                <a:cs typeface="Times New Roman" panose="02020603050405020304" pitchFamily="18" charset="0"/>
              </a:rPr>
              <a:t>。认证符以用户与</a:t>
            </a:r>
            <a:r>
              <a:rPr lang="en-US" altLang="zh-CN" sz="1600" kern="100" dirty="0">
                <a:latin typeface="+mn-ea"/>
                <a:cs typeface="Times New Roman" panose="02020603050405020304" pitchFamily="18" charset="0"/>
              </a:rPr>
              <a:t>TGS</a:t>
            </a:r>
            <a:r>
              <a:rPr lang="zh-CN" altLang="zh-CN" sz="1600" kern="100" dirty="0">
                <a:latin typeface="+mn-ea"/>
                <a:cs typeface="Times New Roman" panose="02020603050405020304" pitchFamily="18" charset="0"/>
              </a:rPr>
              <a:t>间的会话密钥加密；</a:t>
            </a:r>
            <a:endParaRPr lang="en-US" altLang="zh-CN" sz="1600" kern="100" dirty="0">
              <a:latin typeface="+mn-ea"/>
              <a:cs typeface="Times New Roman" panose="02020603050405020304" pitchFamily="18" charset="0"/>
            </a:endParaRPr>
          </a:p>
          <a:p>
            <a:pPr marL="342900" lvl="0" indent="-342900" algn="just" defTabSz="914400">
              <a:lnSpc>
                <a:spcPct val="140000"/>
              </a:lnSpc>
              <a:buFont typeface="+mj-lt"/>
              <a:buAutoNum type="arabicPeriod"/>
              <a:defRPr/>
            </a:pPr>
            <a:r>
              <a:rPr lang="en-US" altLang="zh-CN" sz="1600" kern="100" dirty="0">
                <a:latin typeface="+mn-ea"/>
                <a:cs typeface="Times New Roman" panose="02020603050405020304" pitchFamily="18" charset="0"/>
              </a:rPr>
              <a:t>TGS</a:t>
            </a:r>
            <a:r>
              <a:rPr lang="zh-CN" altLang="zh-CN" sz="1600" kern="100" dirty="0">
                <a:latin typeface="+mn-ea"/>
                <a:cs typeface="Times New Roman" panose="02020603050405020304" pitchFamily="18" charset="0"/>
              </a:rPr>
              <a:t>从</a:t>
            </a:r>
            <a:r>
              <a:rPr lang="en-US" altLang="zh-CN" sz="1600" kern="100" dirty="0">
                <a:latin typeface="+mn-ea"/>
                <a:cs typeface="Times New Roman" panose="02020603050405020304" pitchFamily="18" charset="0"/>
              </a:rPr>
              <a:t>TGT</a:t>
            </a:r>
            <a:r>
              <a:rPr lang="zh-CN" altLang="zh-CN" sz="1600" kern="100" dirty="0">
                <a:latin typeface="+mn-ea"/>
                <a:cs typeface="Times New Roman" panose="02020603050405020304" pitchFamily="18" charset="0"/>
              </a:rPr>
              <a:t>中取出会话密钥、解密认证符，验证认证符中时间戳的有效性，从而确定用户的请求是否合法。确认用户的合法性后，生成所要求的应用服务器的</a:t>
            </a:r>
            <a:r>
              <a:rPr lang="en-US" altLang="zh-CN" sz="1600" kern="100" dirty="0">
                <a:latin typeface="+mn-ea"/>
                <a:cs typeface="Times New Roman" panose="02020603050405020304" pitchFamily="18" charset="0"/>
              </a:rPr>
              <a:t>ST</a:t>
            </a:r>
            <a:r>
              <a:rPr lang="zh-CN" altLang="en-US" sz="1600" kern="100" dirty="0">
                <a:latin typeface="+mn-ea"/>
                <a:cs typeface="Times New Roman" panose="02020603050405020304" pitchFamily="18" charset="0"/>
              </a:rPr>
              <a:t>、</a:t>
            </a:r>
            <a:r>
              <a:rPr lang="zh-CN" altLang="zh-CN" sz="1600" kern="100" dirty="0">
                <a:latin typeface="+mn-ea"/>
                <a:cs typeface="Times New Roman" panose="02020603050405020304" pitchFamily="18" charset="0"/>
              </a:rPr>
              <a:t>用户与应用服务器之间的会话密钥。将</a:t>
            </a:r>
            <a:r>
              <a:rPr lang="en-US" altLang="zh-CN" sz="1600" kern="100" dirty="0">
                <a:latin typeface="+mn-ea"/>
                <a:cs typeface="Times New Roman" panose="02020603050405020304" pitchFamily="18" charset="0"/>
              </a:rPr>
              <a:t>SGT</a:t>
            </a:r>
            <a:r>
              <a:rPr lang="zh-CN" altLang="zh-CN" sz="1600" kern="100" dirty="0">
                <a:latin typeface="+mn-ea"/>
                <a:cs typeface="Times New Roman" panose="02020603050405020304" pitchFamily="18" charset="0"/>
              </a:rPr>
              <a:t>和会话密钥传回到用户；</a:t>
            </a:r>
            <a:endParaRPr lang="en-US" altLang="zh-CN" sz="1600" kern="100" dirty="0">
              <a:latin typeface="+mn-ea"/>
              <a:cs typeface="Times New Roman" panose="02020603050405020304" pitchFamily="18" charset="0"/>
            </a:endParaRPr>
          </a:p>
          <a:p>
            <a:pPr marL="342900" lvl="0" indent="-342900" algn="just" defTabSz="914400">
              <a:lnSpc>
                <a:spcPct val="140000"/>
              </a:lnSpc>
              <a:buFont typeface="+mj-lt"/>
              <a:buAutoNum type="arabicPeriod"/>
              <a:defRPr/>
            </a:pPr>
            <a:r>
              <a:rPr lang="zh-CN" altLang="zh-CN" sz="1600" kern="100" dirty="0">
                <a:latin typeface="+mn-ea"/>
                <a:cs typeface="Times New Roman" panose="02020603050405020304" pitchFamily="18" charset="0"/>
              </a:rPr>
              <a:t>用户向应用服务器提交</a:t>
            </a:r>
            <a:r>
              <a:rPr lang="en-US" altLang="zh-CN" sz="1600" kern="100" dirty="0">
                <a:latin typeface="+mn-ea"/>
                <a:cs typeface="Times New Roman" panose="02020603050405020304" pitchFamily="18" charset="0"/>
              </a:rPr>
              <a:t>ST</a:t>
            </a:r>
            <a:r>
              <a:rPr lang="zh-CN" altLang="zh-CN" sz="1600" kern="100" dirty="0">
                <a:latin typeface="+mn-ea"/>
                <a:cs typeface="Times New Roman" panose="02020603050405020304" pitchFamily="18" charset="0"/>
              </a:rPr>
              <a:t>和新产生的带时间戳的认证符</a:t>
            </a:r>
            <a:r>
              <a:rPr lang="en-US" altLang="zh-CN" sz="1600" kern="100" dirty="0">
                <a:latin typeface="+mn-ea"/>
                <a:cs typeface="Times New Roman" panose="02020603050405020304" pitchFamily="18" charset="0"/>
              </a:rPr>
              <a:t>(</a:t>
            </a:r>
            <a:r>
              <a:rPr lang="zh-CN" altLang="zh-CN" sz="1600" kern="100" dirty="0">
                <a:latin typeface="+mn-ea"/>
                <a:cs typeface="Times New Roman" panose="02020603050405020304" pitchFamily="18" charset="0"/>
              </a:rPr>
              <a:t>认证符以用户与应用服务器之间的会话密钥加密</a:t>
            </a:r>
            <a:r>
              <a:rPr lang="en-US" altLang="zh-CN" sz="1600" kern="100" dirty="0">
                <a:latin typeface="+mn-ea"/>
                <a:cs typeface="Times New Roman" panose="02020603050405020304" pitchFamily="18" charset="0"/>
              </a:rPr>
              <a:t>)</a:t>
            </a:r>
            <a:r>
              <a:rPr lang="zh-CN" altLang="zh-CN" sz="1600" kern="100" dirty="0">
                <a:latin typeface="+mn-ea"/>
                <a:cs typeface="Times New Roman" panose="02020603050405020304" pitchFamily="18" charset="0"/>
              </a:rPr>
              <a:t>；</a:t>
            </a:r>
            <a:endParaRPr lang="en-US" altLang="zh-CN" sz="1600" kern="100" dirty="0">
              <a:latin typeface="+mn-ea"/>
              <a:cs typeface="Times New Roman" panose="02020603050405020304" pitchFamily="18" charset="0"/>
            </a:endParaRPr>
          </a:p>
          <a:p>
            <a:pPr marL="342900" lvl="0" indent="-342900" algn="just" defTabSz="914400">
              <a:lnSpc>
                <a:spcPct val="140000"/>
              </a:lnSpc>
              <a:buFont typeface="+mj-lt"/>
              <a:buAutoNum type="arabicPeriod"/>
              <a:defRPr/>
            </a:pPr>
            <a:r>
              <a:rPr lang="zh-CN" altLang="zh-CN" sz="1600" kern="100" dirty="0">
                <a:latin typeface="+mn-ea"/>
                <a:cs typeface="Times New Roman" panose="02020603050405020304" pitchFamily="18" charset="0"/>
              </a:rPr>
              <a:t>应用服务器从</a:t>
            </a:r>
            <a:r>
              <a:rPr lang="en-US" altLang="zh-CN" sz="1600" kern="100" dirty="0">
                <a:latin typeface="+mn-ea"/>
                <a:cs typeface="Times New Roman" panose="02020603050405020304" pitchFamily="18" charset="0"/>
              </a:rPr>
              <a:t>ST</a:t>
            </a:r>
            <a:r>
              <a:rPr lang="zh-CN" altLang="zh-CN" sz="1600" kern="100" dirty="0">
                <a:latin typeface="+mn-ea"/>
                <a:cs typeface="Times New Roman" panose="02020603050405020304" pitchFamily="18" charset="0"/>
              </a:rPr>
              <a:t>中取出会话密钥、解密认证符，取出时间戳并检验有效性。然后返回一个带时间戳的认证符，</a:t>
            </a:r>
            <a:r>
              <a:rPr lang="zh-CN" altLang="en-US" sz="1600" kern="100" dirty="0">
                <a:latin typeface="+mn-ea"/>
                <a:cs typeface="Times New Roman" panose="02020603050405020304" pitchFamily="18" charset="0"/>
              </a:rPr>
              <a:t>使用</a:t>
            </a:r>
            <a:r>
              <a:rPr lang="zh-CN" altLang="zh-CN" sz="1600" kern="100" dirty="0">
                <a:latin typeface="+mn-ea"/>
                <a:cs typeface="Times New Roman" panose="02020603050405020304" pitchFamily="18" charset="0"/>
              </a:rPr>
              <a:t>用户与应用服务器之间的会话密钥进行加密。用户据此可以验证应用服务器的合法性。</a:t>
            </a:r>
            <a:endParaRPr lang="en-US" altLang="zh-CN" sz="1600" kern="100" dirty="0">
              <a:latin typeface="+mn-ea"/>
              <a:cs typeface="Times New Roman" panose="02020603050405020304" pitchFamily="18" charset="0"/>
            </a:endParaRPr>
          </a:p>
          <a:p>
            <a:pPr marL="342900" lvl="0" indent="-342900" algn="just" defTabSz="914400">
              <a:lnSpc>
                <a:spcPct val="140000"/>
              </a:lnSpc>
              <a:buFont typeface="+mj-lt"/>
              <a:buAutoNum type="arabicPeriod"/>
              <a:defRPr/>
            </a:pPr>
            <a:r>
              <a:rPr lang="zh-CN" altLang="zh-CN" sz="1600" kern="100" dirty="0">
                <a:latin typeface="+mn-ea"/>
                <a:cs typeface="Times New Roman" panose="02020603050405020304" pitchFamily="18" charset="0"/>
              </a:rPr>
              <a:t>双方完成身份认证，并且拥有了会话密钥</a:t>
            </a:r>
            <a:r>
              <a:rPr lang="zh-CN" altLang="en-US" sz="1600" kern="100" dirty="0">
                <a:latin typeface="+mn-ea"/>
                <a:cs typeface="Times New Roman" panose="02020603050405020304" pitchFamily="18" charset="0"/>
              </a:rPr>
              <a:t>，</a:t>
            </a:r>
            <a:r>
              <a:rPr lang="zh-CN" altLang="zh-CN" sz="1600" kern="100" dirty="0">
                <a:latin typeface="+mn-ea"/>
                <a:cs typeface="Times New Roman" panose="02020603050405020304" pitchFamily="18" charset="0"/>
              </a:rPr>
              <a:t>其后的数据传递将以此会话密钥进行加密。</a:t>
            </a:r>
            <a:endParaRPr lang="zh-CN" altLang="en-US" sz="1400" dirty="0">
              <a:latin typeface="+mn-ea"/>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a:t>
            </a:r>
            <a:r>
              <a:rPr lang="zh-CN" altLang="en-US" sz="2400" b="1" dirty="0">
                <a:solidFill>
                  <a:srgbClr val="0000FF"/>
                </a:solidFill>
                <a:latin typeface="Times New Roman" panose="02020603050405020304" pitchFamily="18" charset="0"/>
                <a:cs typeface="Times New Roman" panose="02020603050405020304" pitchFamily="18" charset="0"/>
              </a:rPr>
              <a:t>第四版</a:t>
            </a:r>
            <a:r>
              <a:rPr lang="en-US" altLang="zh-CN" sz="2400" b="1" dirty="0">
                <a:solidFill>
                  <a:srgbClr val="0000FF"/>
                </a:solidFill>
                <a:latin typeface="Times New Roman" panose="02020603050405020304" pitchFamily="18" charset="0"/>
                <a:cs typeface="Times New Roman" panose="02020603050405020304" pitchFamily="18" charset="0"/>
              </a:rPr>
              <a:t>Kerberos</a:t>
            </a:r>
            <a:r>
              <a:rPr lang="zh-CN" altLang="en-US" sz="2400" b="1" dirty="0">
                <a:solidFill>
                  <a:srgbClr val="0000FF"/>
                </a:solidFill>
                <a:latin typeface="Times New Roman" panose="02020603050405020304" pitchFamily="18" charset="0"/>
                <a:cs typeface="Times New Roman" panose="02020603050405020304" pitchFamily="18" charset="0"/>
              </a:rPr>
              <a:t>：认证过程</a:t>
            </a:r>
          </a:p>
        </p:txBody>
      </p:sp>
    </p:spTree>
    <p:extLst>
      <p:ext uri="{BB962C8B-B14F-4D97-AF65-F5344CB8AC3E}">
        <p14:creationId xmlns:p14="http://schemas.microsoft.com/office/powerpoint/2010/main" val="3567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28</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312517" y="1595065"/>
            <a:ext cx="8479945" cy="4662110"/>
          </a:xfrm>
          <a:prstGeom prst="rect">
            <a:avLst/>
          </a:prstGeom>
          <a:noFill/>
        </p:spPr>
        <p:txBody>
          <a:bodyPr wrap="square" rtlCol="0">
            <a:spAutoFit/>
          </a:bodyPr>
          <a:lstStyle/>
          <a:p>
            <a:pPr algn="just">
              <a:lnSpc>
                <a:spcPct val="140000"/>
              </a:lnSpc>
              <a:spcBef>
                <a:spcPts val="600"/>
              </a:spcBef>
            </a:pPr>
            <a:r>
              <a:rPr lang="zh-CN" altLang="en-US" sz="2000" dirty="0">
                <a:latin typeface="Times New Roman" panose="02020603050405020304" pitchFamily="18" charset="0"/>
                <a:cs typeface="Times New Roman" panose="02020603050405020304" pitchFamily="18" charset="0"/>
              </a:rPr>
              <a:t>由一个 </a:t>
            </a:r>
            <a:r>
              <a:rPr lang="en-US" altLang="zh-CN" sz="2000" dirty="0">
                <a:latin typeface="Times New Roman" panose="02020603050405020304" pitchFamily="18" charset="0"/>
                <a:cs typeface="Times New Roman" panose="02020603050405020304" pitchFamily="18" charset="0"/>
              </a:rPr>
              <a:t>Kerberos </a:t>
            </a:r>
            <a:r>
              <a:rPr lang="zh-CN" altLang="en-US" sz="2000" dirty="0">
                <a:latin typeface="Times New Roman" panose="02020603050405020304" pitchFamily="18" charset="0"/>
                <a:cs typeface="Times New Roman" panose="02020603050405020304" pitchFamily="18" charset="0"/>
              </a:rPr>
              <a:t>服务器、若干客户端和若干应用服务器构成的一个完整的 </a:t>
            </a:r>
            <a:r>
              <a:rPr lang="en-US" altLang="zh-CN" sz="2000" dirty="0">
                <a:latin typeface="Times New Roman" panose="02020603050405020304" pitchFamily="18" charset="0"/>
                <a:cs typeface="Times New Roman" panose="02020603050405020304" pitchFamily="18" charset="0"/>
              </a:rPr>
              <a:t>Kerberos </a:t>
            </a:r>
            <a:r>
              <a:rPr lang="zh-CN" altLang="en-US" sz="2000" dirty="0">
                <a:latin typeface="Times New Roman" panose="02020603050405020304" pitchFamily="18" charset="0"/>
                <a:cs typeface="Times New Roman" panose="02020603050405020304" pitchFamily="18" charset="0"/>
              </a:rPr>
              <a:t>环境，称为</a:t>
            </a:r>
            <a:r>
              <a:rPr lang="zh-CN" altLang="en-US" sz="2000" dirty="0">
                <a:solidFill>
                  <a:srgbClr val="0000FF"/>
                </a:solidFill>
                <a:latin typeface="Times New Roman" panose="02020603050405020304" pitchFamily="18" charset="0"/>
                <a:cs typeface="Times New Roman" panose="02020603050405020304" pitchFamily="18" charset="0"/>
              </a:rPr>
              <a:t>一个</a:t>
            </a:r>
            <a:r>
              <a:rPr lang="zh-CN" altLang="en-US" sz="2000" dirty="0">
                <a:latin typeface="Times New Roman" panose="02020603050405020304" pitchFamily="18" charset="0"/>
                <a:cs typeface="Times New Roman" panose="02020603050405020304" pitchFamily="18" charset="0"/>
              </a:rPr>
              <a:t> </a:t>
            </a:r>
            <a:r>
              <a:rPr lang="en" altLang="zh-CN" sz="2000" dirty="0">
                <a:solidFill>
                  <a:srgbClr val="0000FF"/>
                </a:solidFill>
                <a:latin typeface="Times New Roman" panose="02020603050405020304" pitchFamily="18" charset="0"/>
                <a:cs typeface="Times New Roman" panose="02020603050405020304" pitchFamily="18" charset="0"/>
              </a:rPr>
              <a:t>Kerberos </a:t>
            </a:r>
            <a:r>
              <a:rPr lang="zh-CN" altLang="en" sz="2000" dirty="0">
                <a:solidFill>
                  <a:srgbClr val="0000FF"/>
                </a:solidFill>
                <a:latin typeface="Times New Roman" panose="02020603050405020304" pitchFamily="18" charset="0"/>
                <a:cs typeface="Times New Roman" panose="02020603050405020304" pitchFamily="18" charset="0"/>
              </a:rPr>
              <a:t>领域</a:t>
            </a:r>
            <a:r>
              <a:rPr lang="en" altLang="zh-CN" sz="2000" dirty="0">
                <a:solidFill>
                  <a:srgbClr val="0000FF"/>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rPr>
              <a:t>(</a:t>
            </a:r>
            <a:r>
              <a:rPr lang="en" altLang="zh-CN" sz="2000" dirty="0">
                <a:solidFill>
                  <a:srgbClr val="0000FF"/>
                </a:solidFill>
                <a:latin typeface="Times New Roman" panose="02020603050405020304" pitchFamily="18" charset="0"/>
                <a:cs typeface="Times New Roman" panose="02020603050405020304" pitchFamily="18" charset="0"/>
              </a:rPr>
              <a:t>Realm</a:t>
            </a:r>
            <a:r>
              <a:rPr lang="en-US" altLang="zh-CN" sz="2000" dirty="0">
                <a:solidFill>
                  <a:srgbClr val="0000FF"/>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，需要满足如下条件：</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4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Kerberos </a:t>
            </a:r>
            <a:r>
              <a:rPr lang="zh-CN" altLang="en-US" sz="2000" dirty="0">
                <a:latin typeface="Times New Roman" panose="02020603050405020304" pitchFamily="18" charset="0"/>
                <a:cs typeface="Times New Roman" panose="02020603050405020304" pitchFamily="18" charset="0"/>
              </a:rPr>
              <a:t>服务器中的数据库拥有所有参与用户的用户 </a:t>
            </a:r>
            <a:r>
              <a:rPr lang="en-US" altLang="zh-CN" sz="2000" dirty="0">
                <a:latin typeface="Times New Roman" panose="02020603050405020304" pitchFamily="18" charset="0"/>
                <a:cs typeface="Times New Roman" panose="02020603050405020304" pitchFamily="18" charset="0"/>
              </a:rPr>
              <a:t>ID </a:t>
            </a:r>
            <a:r>
              <a:rPr lang="zh-CN" altLang="en-US" sz="2000" dirty="0">
                <a:latin typeface="Times New Roman" panose="02020603050405020304" pitchFamily="18" charset="0"/>
                <a:cs typeface="Times New Roman" panose="02020603050405020304" pitchFamily="18" charset="0"/>
              </a:rPr>
              <a:t>和口令哈希，所有用户都在 </a:t>
            </a:r>
            <a:r>
              <a:rPr lang="en-US" altLang="zh-CN" sz="2000" dirty="0">
                <a:latin typeface="Times New Roman" panose="02020603050405020304" pitchFamily="18" charset="0"/>
                <a:cs typeface="Times New Roman" panose="02020603050405020304" pitchFamily="18" charset="0"/>
              </a:rPr>
              <a:t>Kerberos </a:t>
            </a:r>
            <a:r>
              <a:rPr lang="zh-CN" altLang="en-US" sz="2000" dirty="0">
                <a:latin typeface="Times New Roman" panose="02020603050405020304" pitchFamily="18" charset="0"/>
                <a:cs typeface="Times New Roman" panose="02020603050405020304" pitchFamily="18" charset="0"/>
              </a:rPr>
              <a:t>服务器上注册</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4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Kerberos </a:t>
            </a:r>
            <a:r>
              <a:rPr lang="zh-CN" altLang="en-US" sz="2000" dirty="0">
                <a:latin typeface="Times New Roman" panose="02020603050405020304" pitchFamily="18" charset="0"/>
                <a:cs typeface="Times New Roman" panose="02020603050405020304" pitchFamily="18" charset="0"/>
              </a:rPr>
              <a:t>服务器与每个服务器共享一个密钥，所有服务器都在 </a:t>
            </a:r>
            <a:r>
              <a:rPr lang="en-US" altLang="zh-CN" sz="2000" dirty="0">
                <a:latin typeface="Times New Roman" panose="02020603050405020304" pitchFamily="18" charset="0"/>
                <a:cs typeface="Times New Roman" panose="02020603050405020304" pitchFamily="18" charset="0"/>
              </a:rPr>
              <a:t>Kerberos </a:t>
            </a:r>
            <a:r>
              <a:rPr lang="zh-CN" altLang="en-US" sz="2000" dirty="0">
                <a:latin typeface="Times New Roman" panose="02020603050405020304" pitchFamily="18" charset="0"/>
                <a:cs typeface="Times New Roman" panose="02020603050405020304" pitchFamily="18" charset="0"/>
              </a:rPr>
              <a:t>服务器上注册</a:t>
            </a:r>
            <a:endParaRPr lang="en-US" altLang="zh-CN" sz="2000" dirty="0">
              <a:latin typeface="Times New Roman" panose="02020603050405020304" pitchFamily="18" charset="0"/>
              <a:cs typeface="Times New Roman" panose="02020603050405020304" pitchFamily="18" charset="0"/>
            </a:endParaRPr>
          </a:p>
          <a:p>
            <a:pPr algn="just">
              <a:lnSpc>
                <a:spcPct val="140000"/>
              </a:lnSpc>
              <a:spcBef>
                <a:spcPts val="600"/>
              </a:spcBef>
            </a:pPr>
            <a:r>
              <a:rPr lang="zh-CN" altLang="en-US" sz="2000" dirty="0">
                <a:latin typeface="Times New Roman" panose="02020603050405020304" pitchFamily="18" charset="0"/>
                <a:cs typeface="Times New Roman" panose="02020603050405020304" pitchFamily="18" charset="0"/>
              </a:rPr>
              <a:t>不同管理机构下的客户机和服务器网络通常构成不同的领域。</a:t>
            </a:r>
            <a:r>
              <a:rPr lang="en" altLang="zh-CN" sz="2000" dirty="0">
                <a:latin typeface="Times New Roman" panose="02020603050405020304" pitchFamily="18" charset="0"/>
                <a:cs typeface="Times New Roman" panose="02020603050405020304" pitchFamily="18" charset="0"/>
              </a:rPr>
              <a:t>Kerberos </a:t>
            </a:r>
            <a:r>
              <a:rPr lang="zh-CN" altLang="en-US" sz="2000" dirty="0">
                <a:latin typeface="Times New Roman" panose="02020603050405020304" pitchFamily="18" charset="0"/>
                <a:cs typeface="Times New Roman" panose="02020603050405020304" pitchFamily="18" charset="0"/>
              </a:rPr>
              <a:t>支持</a:t>
            </a:r>
            <a:r>
              <a:rPr lang="zh-CN" altLang="en-US" sz="2000" dirty="0">
                <a:solidFill>
                  <a:srgbClr val="0000FF"/>
                </a:solidFill>
                <a:latin typeface="Times New Roman" panose="02020603050405020304" pitchFamily="18" charset="0"/>
                <a:cs typeface="Times New Roman" panose="02020603050405020304" pitchFamily="18" charset="0"/>
              </a:rPr>
              <a:t>跨域认证</a:t>
            </a:r>
            <a:r>
              <a:rPr lang="zh-CN" altLang="en-US" sz="2000" dirty="0">
                <a:latin typeface="Times New Roman" panose="02020603050405020304" pitchFamily="18" charset="0"/>
                <a:cs typeface="Times New Roman" panose="02020603050405020304" pitchFamily="18" charset="0"/>
              </a:rPr>
              <a:t>，要求满足第三个条件：</a:t>
            </a:r>
            <a:endParaRPr lang="en-US" altLang="zh-CN" sz="2000" dirty="0">
              <a:latin typeface="Times New Roman" panose="02020603050405020304" pitchFamily="18" charset="0"/>
              <a:cs typeface="Times New Roman" panose="02020603050405020304" pitchFamily="18" charset="0"/>
            </a:endParaRPr>
          </a:p>
          <a:p>
            <a:pPr marL="457200" indent="-457200" algn="just">
              <a:lnSpc>
                <a:spcPct val="14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互操作领域中的 </a:t>
            </a:r>
            <a:r>
              <a:rPr lang="en-US" altLang="zh-CN" sz="2000" dirty="0">
                <a:latin typeface="Times New Roman" panose="02020603050405020304" pitchFamily="18" charset="0"/>
                <a:cs typeface="Times New Roman" panose="02020603050405020304" pitchFamily="18" charset="0"/>
              </a:rPr>
              <a:t>Kerberos </a:t>
            </a:r>
            <a:r>
              <a:rPr lang="zh-CN" altLang="en-US" sz="2000" dirty="0">
                <a:latin typeface="Times New Roman" panose="02020603050405020304" pitchFamily="18" charset="0"/>
                <a:cs typeface="Times New Roman" panose="02020603050405020304" pitchFamily="18" charset="0"/>
              </a:rPr>
              <a:t>服务器与另一领域的服务器共享一个密钥，这两个 </a:t>
            </a:r>
            <a:r>
              <a:rPr lang="en-US" altLang="zh-CN" sz="2000" dirty="0">
                <a:latin typeface="Times New Roman" panose="02020603050405020304" pitchFamily="18" charset="0"/>
                <a:cs typeface="Times New Roman" panose="02020603050405020304" pitchFamily="18" charset="0"/>
              </a:rPr>
              <a:t>Kerberos </a:t>
            </a:r>
            <a:r>
              <a:rPr lang="zh-CN" altLang="en-US" sz="2000" dirty="0">
                <a:latin typeface="Times New Roman" panose="02020603050405020304" pitchFamily="18" charset="0"/>
                <a:cs typeface="Times New Roman" panose="02020603050405020304" pitchFamily="18" charset="0"/>
              </a:rPr>
              <a:t>服务器互相注册。</a:t>
            </a:r>
            <a:endParaRPr lang="en-US" altLang="zh-CN" sz="20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(2) Kerberos</a:t>
            </a:r>
            <a:r>
              <a:rPr lang="zh-CN" altLang="en-US" sz="2400" b="1" dirty="0">
                <a:solidFill>
                  <a:srgbClr val="0000FF"/>
                </a:solidFill>
                <a:latin typeface="Times New Roman" panose="02020603050405020304" pitchFamily="18" charset="0"/>
                <a:cs typeface="Times New Roman" panose="02020603050405020304" pitchFamily="18" charset="0"/>
              </a:rPr>
              <a:t> 领域 </a:t>
            </a:r>
            <a:r>
              <a:rPr lang="en-US" altLang="zh-CN" sz="2400" b="1" dirty="0">
                <a:solidFill>
                  <a:srgbClr val="0000FF"/>
                </a:solidFill>
                <a:latin typeface="Times New Roman" panose="02020603050405020304" pitchFamily="18" charset="0"/>
                <a:cs typeface="Times New Roman" panose="02020603050405020304" pitchFamily="18" charset="0"/>
              </a:rPr>
              <a:t>(Realm) </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327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86EBA97-38F8-4A52-9E29-1F4D7ECCD33F}"/>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900"/>
                    </a14:imgEffect>
                  </a14:imgLayer>
                </a14:imgProps>
              </a:ext>
            </a:extLst>
          </a:blip>
          <a:stretch>
            <a:fillRect/>
          </a:stretch>
        </p:blipFill>
        <p:spPr>
          <a:xfrm>
            <a:off x="4054534" y="1378118"/>
            <a:ext cx="4517361" cy="4952833"/>
          </a:xfrm>
          <a:prstGeom prst="rect">
            <a:avLst/>
          </a:prstGeom>
        </p:spPr>
      </p:pic>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29</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(2) Kerberos</a:t>
            </a:r>
            <a:r>
              <a:rPr lang="zh-CN" altLang="en-US" sz="2400" b="1" dirty="0">
                <a:solidFill>
                  <a:srgbClr val="0000FF"/>
                </a:solidFill>
                <a:latin typeface="Times New Roman" panose="02020603050405020304" pitchFamily="18" charset="0"/>
                <a:cs typeface="Times New Roman" panose="02020603050405020304" pitchFamily="18" charset="0"/>
              </a:rPr>
              <a:t> 领域 ：跨域认证</a:t>
            </a:r>
            <a:r>
              <a:rPr lang="en-US" altLang="zh-CN" sz="2400" b="1" dirty="0">
                <a:solidFill>
                  <a:srgbClr val="0000FF"/>
                </a:solidFill>
                <a:latin typeface="Times New Roman" panose="02020603050405020304" pitchFamily="18" charset="0"/>
                <a:cs typeface="Times New Roman" panose="02020603050405020304" pitchFamily="18" charset="0"/>
              </a:rPr>
              <a:t> </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F94DA2B3-2176-4EAA-B620-7635EFD8401B}"/>
              </a:ext>
            </a:extLst>
          </p:cNvPr>
          <p:cNvSpPr txBox="1"/>
          <p:nvPr/>
        </p:nvSpPr>
        <p:spPr>
          <a:xfrm>
            <a:off x="5445457" y="2011159"/>
            <a:ext cx="395785"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a:t>
            </a:r>
            <a:endParaRPr lang="zh-CN" altLang="en-US" sz="1600" dirty="0"/>
          </a:p>
        </p:txBody>
      </p:sp>
      <p:sp>
        <p:nvSpPr>
          <p:cNvPr id="14" name="文本框 13">
            <a:extLst>
              <a:ext uri="{FF2B5EF4-FFF2-40B4-BE49-F238E27FC236}">
                <a16:creationId xmlns:a16="http://schemas.microsoft.com/office/drawing/2014/main" id="{C56A5240-250B-491D-9320-E1EE89BE63A4}"/>
              </a:ext>
            </a:extLst>
          </p:cNvPr>
          <p:cNvSpPr txBox="1"/>
          <p:nvPr/>
        </p:nvSpPr>
        <p:spPr>
          <a:xfrm>
            <a:off x="5445457" y="2223476"/>
            <a:ext cx="395785"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2</a:t>
            </a:r>
            <a:endParaRPr lang="zh-CN" altLang="en-US" sz="1600" dirty="0"/>
          </a:p>
        </p:txBody>
      </p:sp>
      <p:sp>
        <p:nvSpPr>
          <p:cNvPr id="15" name="文本框 14">
            <a:extLst>
              <a:ext uri="{FF2B5EF4-FFF2-40B4-BE49-F238E27FC236}">
                <a16:creationId xmlns:a16="http://schemas.microsoft.com/office/drawing/2014/main" id="{9015B596-69F8-499B-8F00-77F13757BF50}"/>
              </a:ext>
            </a:extLst>
          </p:cNvPr>
          <p:cNvSpPr txBox="1"/>
          <p:nvPr/>
        </p:nvSpPr>
        <p:spPr>
          <a:xfrm>
            <a:off x="5445456" y="2462557"/>
            <a:ext cx="395785"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3</a:t>
            </a:r>
            <a:endParaRPr lang="zh-CN" altLang="en-US" sz="1600" dirty="0"/>
          </a:p>
        </p:txBody>
      </p:sp>
      <p:sp>
        <p:nvSpPr>
          <p:cNvPr id="16" name="文本框 15">
            <a:extLst>
              <a:ext uri="{FF2B5EF4-FFF2-40B4-BE49-F238E27FC236}">
                <a16:creationId xmlns:a16="http://schemas.microsoft.com/office/drawing/2014/main" id="{8667C691-6BD0-4552-B584-0E17C254A575}"/>
              </a:ext>
            </a:extLst>
          </p:cNvPr>
          <p:cNvSpPr txBox="1"/>
          <p:nvPr/>
        </p:nvSpPr>
        <p:spPr>
          <a:xfrm>
            <a:off x="5445456" y="2794239"/>
            <a:ext cx="395785"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4</a:t>
            </a:r>
            <a:endParaRPr lang="zh-CN" altLang="en-US" sz="1600" dirty="0"/>
          </a:p>
        </p:txBody>
      </p:sp>
      <p:sp>
        <p:nvSpPr>
          <p:cNvPr id="18" name="文本框 17">
            <a:extLst>
              <a:ext uri="{FF2B5EF4-FFF2-40B4-BE49-F238E27FC236}">
                <a16:creationId xmlns:a16="http://schemas.microsoft.com/office/drawing/2014/main" id="{90451CD9-E934-409D-B642-773568109A89}"/>
              </a:ext>
            </a:extLst>
          </p:cNvPr>
          <p:cNvSpPr txBox="1"/>
          <p:nvPr/>
        </p:nvSpPr>
        <p:spPr>
          <a:xfrm>
            <a:off x="5445456" y="3789996"/>
            <a:ext cx="395785"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5</a:t>
            </a:r>
            <a:endParaRPr lang="zh-CN" altLang="en-US" sz="1600" dirty="0"/>
          </a:p>
        </p:txBody>
      </p:sp>
      <p:sp>
        <p:nvSpPr>
          <p:cNvPr id="19" name="文本框 18">
            <a:extLst>
              <a:ext uri="{FF2B5EF4-FFF2-40B4-BE49-F238E27FC236}">
                <a16:creationId xmlns:a16="http://schemas.microsoft.com/office/drawing/2014/main" id="{1F3E90A1-5D2B-41E3-9C72-3300713A5DC7}"/>
              </a:ext>
            </a:extLst>
          </p:cNvPr>
          <p:cNvSpPr txBox="1"/>
          <p:nvPr/>
        </p:nvSpPr>
        <p:spPr>
          <a:xfrm>
            <a:off x="5445456" y="4277213"/>
            <a:ext cx="395785"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6</a:t>
            </a:r>
            <a:endParaRPr lang="zh-CN" altLang="en-US" sz="1600" dirty="0"/>
          </a:p>
        </p:txBody>
      </p:sp>
      <p:sp>
        <p:nvSpPr>
          <p:cNvPr id="20" name="文本框 19">
            <a:extLst>
              <a:ext uri="{FF2B5EF4-FFF2-40B4-BE49-F238E27FC236}">
                <a16:creationId xmlns:a16="http://schemas.microsoft.com/office/drawing/2014/main" id="{E3FCF060-4A0C-4432-A7B5-E44E40E969ED}"/>
              </a:ext>
            </a:extLst>
          </p:cNvPr>
          <p:cNvSpPr txBox="1"/>
          <p:nvPr/>
        </p:nvSpPr>
        <p:spPr>
          <a:xfrm>
            <a:off x="4582234" y="3685257"/>
            <a:ext cx="395785"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7</a:t>
            </a:r>
            <a:endParaRPr lang="zh-CN" altLang="en-US" sz="1600" dirty="0"/>
          </a:p>
        </p:txBody>
      </p:sp>
      <p:sp>
        <p:nvSpPr>
          <p:cNvPr id="21" name="文本框 20">
            <a:extLst>
              <a:ext uri="{FF2B5EF4-FFF2-40B4-BE49-F238E27FC236}">
                <a16:creationId xmlns:a16="http://schemas.microsoft.com/office/drawing/2014/main" id="{45A94815-2128-465C-8D37-B825DE49AC14}"/>
              </a:ext>
            </a:extLst>
          </p:cNvPr>
          <p:cNvSpPr txBox="1"/>
          <p:nvPr/>
        </p:nvSpPr>
        <p:spPr>
          <a:xfrm>
            <a:off x="376783" y="1701347"/>
            <a:ext cx="3509989" cy="4177297"/>
          </a:xfrm>
          <a:prstGeom prst="rect">
            <a:avLst/>
          </a:prstGeom>
          <a:noFill/>
        </p:spPr>
        <p:txBody>
          <a:bodyPr wrap="square" rtlCol="0">
            <a:spAutoFit/>
          </a:bodyPr>
          <a:lstStyle/>
          <a:p>
            <a:pPr>
              <a:lnSpc>
                <a:spcPct val="120000"/>
              </a:lnSpc>
              <a:spcBef>
                <a:spcPts val="600"/>
              </a:spcBef>
            </a:pPr>
            <a:r>
              <a:rPr lang="zh-CN" altLang="en-US" sz="2000" dirty="0">
                <a:latin typeface="Times New Roman" panose="02020603050405020304" pitchFamily="18" charset="0"/>
                <a:cs typeface="Times New Roman" panose="02020603050405020304" pitchFamily="18" charset="0"/>
              </a:rPr>
              <a:t>请求另一个领域中的服务：</a:t>
            </a:r>
            <a:endParaRPr lang="en-US" altLang="zh-CN" sz="20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请求本地 </a:t>
            </a:r>
            <a:r>
              <a:rPr lang="en-US" altLang="zh-CN" sz="2000" dirty="0">
                <a:latin typeface="Times New Roman" panose="02020603050405020304" pitchFamily="18" charset="0"/>
                <a:cs typeface="Times New Roman" panose="02020603050405020304" pitchFamily="18" charset="0"/>
              </a:rPr>
              <a:t>TGS </a:t>
            </a:r>
            <a:r>
              <a:rPr lang="zh-CN" altLang="en-US" sz="2000" dirty="0">
                <a:latin typeface="Times New Roman" panose="02020603050405020304" pitchFamily="18" charset="0"/>
                <a:cs typeface="Times New Roman" panose="02020603050405020304" pitchFamily="18" charset="0"/>
              </a:rPr>
              <a:t>的票据</a:t>
            </a:r>
            <a:endParaRPr lang="en-US" altLang="zh-CN" sz="20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本地 </a:t>
            </a:r>
            <a:r>
              <a:rPr lang="en-US" altLang="zh-CN" sz="2000" dirty="0">
                <a:latin typeface="Times New Roman" panose="02020603050405020304" pitchFamily="18" charset="0"/>
                <a:cs typeface="Times New Roman" panose="02020603050405020304" pitchFamily="18" charset="0"/>
              </a:rPr>
              <a:t>TGS </a:t>
            </a:r>
            <a:r>
              <a:rPr lang="zh-CN" altLang="en-US" sz="2000" dirty="0">
                <a:latin typeface="Times New Roman" panose="02020603050405020304" pitchFamily="18" charset="0"/>
                <a:cs typeface="Times New Roman" panose="02020603050405020304" pitchFamily="18" charset="0"/>
              </a:rPr>
              <a:t>的票据</a:t>
            </a:r>
            <a:endParaRPr lang="en-US" altLang="zh-CN" sz="20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请求远程 </a:t>
            </a:r>
            <a:r>
              <a:rPr lang="en-US" altLang="zh-CN" sz="2000" dirty="0">
                <a:latin typeface="Times New Roman" panose="02020603050405020304" pitchFamily="18" charset="0"/>
                <a:cs typeface="Times New Roman" panose="02020603050405020304" pitchFamily="18" charset="0"/>
              </a:rPr>
              <a:t>TGS </a:t>
            </a:r>
            <a:r>
              <a:rPr lang="zh-CN" altLang="en-US" sz="2000" dirty="0">
                <a:latin typeface="Times New Roman" panose="02020603050405020304" pitchFamily="18" charset="0"/>
                <a:cs typeface="Times New Roman" panose="02020603050405020304" pitchFamily="18" charset="0"/>
              </a:rPr>
              <a:t>的票据</a:t>
            </a:r>
            <a:endParaRPr lang="en-US" altLang="zh-CN" sz="20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远程 </a:t>
            </a:r>
            <a:r>
              <a:rPr lang="en-US" altLang="zh-CN" sz="2000" dirty="0">
                <a:latin typeface="Times New Roman" panose="02020603050405020304" pitchFamily="18" charset="0"/>
                <a:cs typeface="Times New Roman" panose="02020603050405020304" pitchFamily="18" charset="0"/>
              </a:rPr>
              <a:t>TGS </a:t>
            </a:r>
            <a:r>
              <a:rPr lang="zh-CN" altLang="en-US" sz="2000" dirty="0">
                <a:latin typeface="Times New Roman" panose="02020603050405020304" pitchFamily="18" charset="0"/>
                <a:cs typeface="Times New Roman" panose="02020603050405020304" pitchFamily="18" charset="0"/>
              </a:rPr>
              <a:t>的票据</a:t>
            </a:r>
            <a:endParaRPr lang="en-US" altLang="zh-CN" sz="20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请求远程服务器的票据</a:t>
            </a:r>
            <a:endParaRPr lang="en-US" altLang="zh-CN" sz="20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远程服务器的票据</a:t>
            </a:r>
            <a:endParaRPr lang="en-US" altLang="zh-CN" sz="20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Font typeface="+mj-lt"/>
              <a:buAutoNum type="arabicPeriod"/>
            </a:pPr>
            <a:r>
              <a:rPr lang="zh-CN" altLang="en-US" sz="2000" dirty="0">
                <a:latin typeface="Times New Roman" panose="02020603050405020304" pitchFamily="18" charset="0"/>
                <a:cs typeface="Times New Roman" panose="02020603050405020304" pitchFamily="18" charset="0"/>
              </a:rPr>
              <a:t>请求远程服务</a:t>
            </a:r>
          </a:p>
        </p:txBody>
      </p:sp>
    </p:spTree>
    <p:extLst>
      <p:ext uri="{BB962C8B-B14F-4D97-AF65-F5344CB8AC3E}">
        <p14:creationId xmlns:p14="http://schemas.microsoft.com/office/powerpoint/2010/main" val="912890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solidFill>
                  <a:prstClr val="black">
                    <a:tint val="75000"/>
                  </a:prstClr>
                </a:solidFill>
                <a:latin typeface="Times New Roman" panose="02020603050405020304" pitchFamily="18" charset="0"/>
                <a:cs typeface="Times New Roman" panose="02020603050405020304" pitchFamily="18" charset="0"/>
              </a:rPr>
              <a:pPr/>
              <a:t>30</a:t>
            </a:fld>
            <a:endParaRPr lang="zh-CN" altLang="en-US" dirty="0">
              <a:solidFill>
                <a:prstClr val="black">
                  <a:tint val="75000"/>
                </a:prstClr>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9231533" cy="904863"/>
          </a:xfrm>
          <a:prstGeom prst="rect">
            <a:avLst/>
          </a:prstGeom>
          <a:noFill/>
        </p:spPr>
        <p:txBody>
          <a:bodyPr wrap="square" rtlCol="0">
            <a:spAutoFit/>
          </a:bodyPr>
          <a:lstStyle/>
          <a:p>
            <a:pPr>
              <a:lnSpc>
                <a:spcPct val="120000"/>
              </a:lnSpc>
              <a:spcBef>
                <a:spcPts val="600"/>
              </a:spcBef>
            </a:pPr>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第五版</a:t>
            </a:r>
            <a:r>
              <a:rPr lang="en-US" altLang="zh-CN" sz="2400" b="1" dirty="0">
                <a:solidFill>
                  <a:srgbClr val="0000FF"/>
                </a:solidFill>
                <a:latin typeface="Times New Roman" panose="02020603050405020304" pitchFamily="18" charset="0"/>
                <a:cs typeface="Times New Roman" panose="02020603050405020304" pitchFamily="18" charset="0"/>
              </a:rPr>
              <a:t>Kerberos</a:t>
            </a:r>
            <a:r>
              <a:rPr lang="zh-CN" altLang="en-US" sz="2400" b="1" dirty="0">
                <a:solidFill>
                  <a:srgbClr val="0000FF"/>
                </a:solidFill>
                <a:latin typeface="Times New Roman" panose="02020603050405020304" pitchFamily="18" charset="0"/>
                <a:cs typeface="Times New Roman" panose="02020603050405020304" pitchFamily="18" charset="0"/>
              </a:rPr>
              <a:t>：</a:t>
            </a:r>
            <a:r>
              <a:rPr lang="zh-CN" altLang="en-US" sz="2000" dirty="0">
                <a:solidFill>
                  <a:prstClr val="black"/>
                </a:solidFill>
                <a:latin typeface="Times New Roman" panose="02020603050405020304" pitchFamily="18" charset="0"/>
                <a:cs typeface="Times New Roman" panose="02020603050405020304" pitchFamily="18" charset="0"/>
              </a:rPr>
              <a:t>旨在解决第 </a:t>
            </a:r>
            <a:r>
              <a:rPr lang="en-US" altLang="zh-CN" sz="2000" dirty="0">
                <a:solidFill>
                  <a:prstClr val="black"/>
                </a:solidFill>
                <a:latin typeface="Times New Roman" panose="02020603050405020304" pitchFamily="18" charset="0"/>
                <a:cs typeface="Times New Roman" panose="02020603050405020304" pitchFamily="18" charset="0"/>
              </a:rPr>
              <a:t>4 </a:t>
            </a:r>
            <a:r>
              <a:rPr lang="zh-CN" altLang="en-US" sz="2000" dirty="0">
                <a:solidFill>
                  <a:prstClr val="black"/>
                </a:solidFill>
                <a:latin typeface="Times New Roman" panose="02020603050405020304" pitchFamily="18" charset="0"/>
                <a:cs typeface="Times New Roman" panose="02020603050405020304" pitchFamily="18" charset="0"/>
              </a:rPr>
              <a:t>版</a:t>
            </a:r>
            <a:r>
              <a:rPr lang="en-US" altLang="zh-CN" sz="2000" dirty="0">
                <a:solidFill>
                  <a:prstClr val="black"/>
                </a:solidFill>
                <a:latin typeface="Times New Roman" panose="02020603050405020304" pitchFamily="18" charset="0"/>
                <a:cs typeface="Times New Roman" panose="02020603050405020304" pitchFamily="18" charset="0"/>
              </a:rPr>
              <a:t>Kerberos </a:t>
            </a:r>
            <a:r>
              <a:rPr lang="zh-CN" altLang="en-US" sz="2000" dirty="0">
                <a:solidFill>
                  <a:prstClr val="black"/>
                </a:solidFill>
                <a:latin typeface="Times New Roman" panose="02020603050405020304" pitchFamily="18" charset="0"/>
                <a:cs typeface="Times New Roman" panose="02020603050405020304" pitchFamily="18" charset="0"/>
              </a:rPr>
              <a:t>缺陷</a:t>
            </a:r>
            <a:endParaRPr lang="zh-CN" altLang="en-US" sz="2000" b="1" dirty="0">
              <a:solidFill>
                <a:srgbClr val="FF0000"/>
              </a:solidFill>
              <a:latin typeface="Times New Roman" panose="02020603050405020304" pitchFamily="18" charset="0"/>
              <a:cs typeface="Times New Roman" panose="02020603050405020304" pitchFamily="18" charset="0"/>
            </a:endParaRPr>
          </a:p>
          <a:p>
            <a:pPr>
              <a:defRPr/>
            </a:pP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25B7B687-1BD1-442B-8AB8-447814EBDB5A}"/>
              </a:ext>
            </a:extLst>
          </p:cNvPr>
          <p:cNvSpPr txBox="1"/>
          <p:nvPr/>
        </p:nvSpPr>
        <p:spPr>
          <a:xfrm>
            <a:off x="312517" y="1698948"/>
            <a:ext cx="8389523" cy="430182"/>
          </a:xfrm>
          <a:prstGeom prst="rect">
            <a:avLst/>
          </a:prstGeom>
          <a:noFill/>
        </p:spPr>
        <p:txBody>
          <a:bodyPr wrap="square" rtlCol="0">
            <a:spAutoFit/>
          </a:bodyPr>
          <a:lstStyle/>
          <a:p>
            <a:pPr>
              <a:lnSpc>
                <a:spcPct val="120000"/>
              </a:lnSpc>
              <a:spcBef>
                <a:spcPts val="600"/>
              </a:spcBef>
            </a:pPr>
            <a:r>
              <a:rPr lang="zh-CN" altLang="en-US" sz="2000" dirty="0">
                <a:solidFill>
                  <a:srgbClr val="C00000"/>
                </a:solidFill>
                <a:latin typeface="Times New Roman" panose="02020603050405020304" pitchFamily="18" charset="0"/>
                <a:cs typeface="Times New Roman" panose="02020603050405020304" pitchFamily="18" charset="0"/>
              </a:rPr>
              <a:t>环境缺陷</a:t>
            </a:r>
            <a:endParaRPr lang="en-US" altLang="zh-CN" sz="2000"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0" name="表格 9"/>
              <p:cNvGraphicFramePr>
                <a:graphicFrameLocks noGrp="1"/>
              </p:cNvGraphicFramePr>
              <p:nvPr>
                <p:extLst>
                  <p:ext uri="{D42A27DB-BD31-4B8C-83A1-F6EECF244321}">
                    <p14:modId xmlns:p14="http://schemas.microsoft.com/office/powerpoint/2010/main" val="4248380610"/>
                  </p:ext>
                </p:extLst>
              </p:nvPr>
            </p:nvGraphicFramePr>
            <p:xfrm>
              <a:off x="312517" y="2347528"/>
              <a:ext cx="8479945" cy="4326174"/>
            </p:xfrm>
            <a:graphic>
              <a:graphicData uri="http://schemas.openxmlformats.org/drawingml/2006/table">
                <a:tbl>
                  <a:tblPr firstRow="1" bandRow="1">
                    <a:tableStyleId>{7DF18680-E054-41AD-8BC1-D1AEF772440D}</a:tableStyleId>
                  </a:tblPr>
                  <a:tblGrid>
                    <a:gridCol w="2164213">
                      <a:extLst>
                        <a:ext uri="{9D8B030D-6E8A-4147-A177-3AD203B41FA5}">
                          <a16:colId xmlns:a16="http://schemas.microsoft.com/office/drawing/2014/main" val="20000"/>
                        </a:ext>
                      </a:extLst>
                    </a:gridCol>
                    <a:gridCol w="3153070">
                      <a:extLst>
                        <a:ext uri="{9D8B030D-6E8A-4147-A177-3AD203B41FA5}">
                          <a16:colId xmlns:a16="http://schemas.microsoft.com/office/drawing/2014/main" val="20001"/>
                        </a:ext>
                      </a:extLst>
                    </a:gridCol>
                    <a:gridCol w="3162662">
                      <a:extLst>
                        <a:ext uri="{9D8B030D-6E8A-4147-A177-3AD203B41FA5}">
                          <a16:colId xmlns:a16="http://schemas.microsoft.com/office/drawing/2014/main" val="20002"/>
                        </a:ext>
                      </a:extLst>
                    </a:gridCol>
                  </a:tblGrid>
                  <a:tr h="372000">
                    <a:tc>
                      <a:txBody>
                        <a:bodyPr/>
                        <a:lstStyle/>
                        <a:p>
                          <a:pPr algn="ctr"/>
                          <a:r>
                            <a:rPr lang="zh-CN" altLang="en-US" dirty="0">
                              <a:latin typeface="Times New Roman" panose="02020603050405020304" pitchFamily="18" charset="0"/>
                              <a:cs typeface="Times New Roman" panose="02020603050405020304" pitchFamily="18" charset="0"/>
                            </a:rPr>
                            <a:t>环境缺陷</a:t>
                          </a:r>
                        </a:p>
                      </a:txBody>
                      <a:tcPr anchor="ctr"/>
                    </a:tc>
                    <a:tc>
                      <a:txBody>
                        <a:bodyPr/>
                        <a:lstStyle/>
                        <a:p>
                          <a:pPr algn="ctr"/>
                          <a:r>
                            <a:rPr lang="zh-CN" altLang="en-US" sz="1800" b="1" dirty="0">
                              <a:solidFill>
                                <a:schemeClr val="bg1"/>
                              </a:solidFill>
                              <a:latin typeface="Times New Roman" panose="02020603050405020304" pitchFamily="18" charset="0"/>
                              <a:cs typeface="Times New Roman" panose="02020603050405020304" pitchFamily="18" charset="0"/>
                            </a:rPr>
                            <a:t>第 </a:t>
                          </a:r>
                          <a:r>
                            <a:rPr lang="en-US" altLang="zh-CN" sz="1800" b="1" dirty="0">
                              <a:solidFill>
                                <a:schemeClr val="bg1"/>
                              </a:solidFill>
                              <a:latin typeface="Times New Roman" panose="02020603050405020304" pitchFamily="18" charset="0"/>
                              <a:cs typeface="Times New Roman" panose="02020603050405020304" pitchFamily="18" charset="0"/>
                            </a:rPr>
                            <a:t>4 </a:t>
                          </a:r>
                          <a:r>
                            <a:rPr lang="zh-CN" altLang="en-US" sz="1800" b="1" dirty="0">
                              <a:solidFill>
                                <a:schemeClr val="bg1"/>
                              </a:solidFill>
                              <a:latin typeface="Times New Roman" panose="02020603050405020304" pitchFamily="18" charset="0"/>
                              <a:cs typeface="Times New Roman" panose="02020603050405020304" pitchFamily="18" charset="0"/>
                            </a:rPr>
                            <a:t>版</a:t>
                          </a:r>
                          <a:r>
                            <a:rPr lang="en-US" altLang="zh-CN" sz="1800" b="1" dirty="0">
                              <a:solidFill>
                                <a:schemeClr val="bg1"/>
                              </a:solidFill>
                              <a:latin typeface="Times New Roman" panose="02020603050405020304" pitchFamily="18" charset="0"/>
                              <a:cs typeface="Times New Roman" panose="02020603050405020304" pitchFamily="18" charset="0"/>
                            </a:rPr>
                            <a:t>Kerberos</a:t>
                          </a:r>
                          <a:endParaRPr lang="zh-CN" altLang="en-US" b="1"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b="1" dirty="0">
                              <a:solidFill>
                                <a:schemeClr val="bg1"/>
                              </a:solidFill>
                              <a:latin typeface="Times New Roman" panose="02020603050405020304" pitchFamily="18" charset="0"/>
                              <a:cs typeface="Times New Roman" panose="02020603050405020304" pitchFamily="18" charset="0"/>
                            </a:rPr>
                            <a:t>第 </a:t>
                          </a:r>
                          <a:r>
                            <a:rPr lang="en-US" altLang="zh-CN" sz="1800" b="1" dirty="0">
                              <a:solidFill>
                                <a:schemeClr val="bg1"/>
                              </a:solidFill>
                              <a:latin typeface="Times New Roman" panose="02020603050405020304" pitchFamily="18" charset="0"/>
                              <a:cs typeface="Times New Roman" panose="02020603050405020304" pitchFamily="18" charset="0"/>
                            </a:rPr>
                            <a:t>5 </a:t>
                          </a:r>
                          <a:r>
                            <a:rPr lang="zh-CN" altLang="en-US" sz="1800" b="1" dirty="0">
                              <a:solidFill>
                                <a:schemeClr val="bg1"/>
                              </a:solidFill>
                              <a:latin typeface="Times New Roman" panose="02020603050405020304" pitchFamily="18" charset="0"/>
                              <a:cs typeface="Times New Roman" panose="02020603050405020304" pitchFamily="18" charset="0"/>
                            </a:rPr>
                            <a:t>版</a:t>
                          </a:r>
                          <a:r>
                            <a:rPr lang="en-US" altLang="zh-CN" sz="1800" b="1" dirty="0">
                              <a:solidFill>
                                <a:schemeClr val="bg1"/>
                              </a:solidFill>
                              <a:latin typeface="Times New Roman" panose="02020603050405020304" pitchFamily="18" charset="0"/>
                              <a:cs typeface="Times New Roman" panose="02020603050405020304" pitchFamily="18" charset="0"/>
                            </a:rPr>
                            <a:t>Kerberos</a:t>
                          </a:r>
                          <a:endParaRPr lang="zh-CN" altLang="en-US" b="1" dirty="0">
                            <a:solidFill>
                              <a:schemeClr val="bg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589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加密系统的依赖</a:t>
                          </a: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使用</a:t>
                          </a:r>
                          <a:r>
                            <a:rPr lang="en-US" altLang="zh-CN" sz="1800" dirty="0">
                              <a:solidFill>
                                <a:prstClr val="black"/>
                              </a:solidFill>
                              <a:latin typeface="Times New Roman" panose="02020603050405020304" pitchFamily="18" charset="0"/>
                              <a:cs typeface="Times New Roman" panose="02020603050405020304" pitchFamily="18" charset="0"/>
                            </a:rPr>
                            <a:t>DES</a:t>
                          </a:r>
                          <a:r>
                            <a:rPr lang="zh-CN" altLang="en-US" sz="1800" dirty="0">
                              <a:solidFill>
                                <a:prstClr val="black"/>
                              </a:solidFill>
                              <a:latin typeface="Times New Roman" panose="02020603050405020304" pitchFamily="18" charset="0"/>
                              <a:cs typeface="Times New Roman" panose="02020603050405020304" pitchFamily="18" charset="0"/>
                            </a:rPr>
                            <a:t>，强度有限</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密文被标记为加密类型标识符，</a:t>
                          </a:r>
                          <a:r>
                            <a:rPr lang="zh-CN" altLang="en-US" sz="1800" dirty="0">
                              <a:latin typeface="Times New Roman" panose="02020603050405020304" pitchFamily="18" charset="0"/>
                              <a:cs typeface="Times New Roman" panose="02020603050405020304" pitchFamily="18" charset="0"/>
                            </a:rPr>
                            <a:t>可以使用任何加密技术</a:t>
                          </a:r>
                        </a:p>
                      </a:txBody>
                      <a:tcPr anchor="ctr"/>
                    </a:tc>
                    <a:extLst>
                      <a:ext uri="{0D108BD9-81ED-4DB2-BD59-A6C34878D82A}">
                        <a16:rowId xmlns:a16="http://schemas.microsoft.com/office/drawing/2014/main" val="10001"/>
                      </a:ext>
                    </a:extLst>
                  </a:tr>
                  <a:tr h="589000">
                    <a:tc>
                      <a:txBody>
                        <a:bodyPr/>
                        <a:lstStyle/>
                        <a:p>
                          <a:pPr algn="ctr"/>
                          <a:r>
                            <a:rPr lang="zh-CN" altLang="en-US" sz="1800" dirty="0">
                              <a:latin typeface="Times New Roman" panose="02020603050405020304" pitchFamily="18" charset="0"/>
                              <a:cs typeface="Times New Roman" panose="02020603050405020304" pitchFamily="18" charset="0"/>
                            </a:rPr>
                            <a:t>互联网协议的依赖</a:t>
                          </a:r>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使用互联网协议 </a:t>
                          </a:r>
                          <a:r>
                            <a:rPr lang="en-US" altLang="zh-CN" sz="1800" dirty="0">
                              <a:latin typeface="Times New Roman" panose="02020603050405020304" pitchFamily="18" charset="0"/>
                              <a:cs typeface="Times New Roman" panose="02020603050405020304" pitchFamily="18" charset="0"/>
                            </a:rPr>
                            <a:t>(IP)</a:t>
                          </a:r>
                          <a:r>
                            <a:rPr lang="zh-CN" altLang="en-US" sz="1800" dirty="0">
                              <a:latin typeface="Times New Roman" panose="02020603050405020304" pitchFamily="18" charset="0"/>
                              <a:cs typeface="Times New Roman" panose="02020603050405020304" pitchFamily="18" charset="0"/>
                            </a:rPr>
                            <a:t>地址，</a:t>
                          </a:r>
                          <a:endParaRPr lang="en-US" altLang="zh-CN" sz="1800" dirty="0">
                            <a:latin typeface="Times New Roman" panose="02020603050405020304" pitchFamily="18" charset="0"/>
                            <a:cs typeface="Times New Roman" panose="02020603050405020304" pitchFamily="18" charset="0"/>
                          </a:endParaRPr>
                        </a:p>
                        <a:p>
                          <a:pPr algn="ctr"/>
                          <a:r>
                            <a:rPr lang="zh-CN" altLang="en-US" sz="1800" dirty="0">
                              <a:latin typeface="Times New Roman" panose="02020603050405020304" pitchFamily="18" charset="0"/>
                              <a:cs typeface="Times New Roman" panose="02020603050405020304" pitchFamily="18" charset="0"/>
                            </a:rPr>
                            <a:t>其他地址类型不被接纳</a:t>
                          </a:r>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网络地址用类型和长度标记，允许使用任何网络地址类型</a:t>
                          </a:r>
                        </a:p>
                      </a:txBody>
                      <a:tcPr anchor="ctr"/>
                    </a:tc>
                    <a:extLst>
                      <a:ext uri="{0D108BD9-81ED-4DB2-BD59-A6C34878D82A}">
                        <a16:rowId xmlns:a16="http://schemas.microsoft.com/office/drawing/2014/main" val="10002"/>
                      </a:ext>
                    </a:extLst>
                  </a:tr>
                  <a:tr h="4794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0" dirty="0">
                              <a:solidFill>
                                <a:schemeClr val="tx1"/>
                              </a:solidFill>
                              <a:latin typeface="Times New Roman" panose="02020603050405020304" pitchFamily="18" charset="0"/>
                              <a:cs typeface="Times New Roman" panose="02020603050405020304" pitchFamily="18" charset="0"/>
                            </a:rPr>
                            <a:t>消息的字节排序</a:t>
                          </a: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采用自己选择的字节排序</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提供了明确的字节顺序</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589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0" dirty="0">
                              <a:solidFill>
                                <a:schemeClr val="tx1"/>
                              </a:solidFill>
                              <a:latin typeface="Times New Roman" panose="02020603050405020304" pitchFamily="18" charset="0"/>
                              <a:cs typeface="Times New Roman" panose="02020603050405020304" pitchFamily="18" charset="0"/>
                            </a:rPr>
                            <a:t>票据寿命</a:t>
                          </a:r>
                          <a:endParaRPr lang="en-US" altLang="zh-C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可以表示的最大寿命对于某些应用程序并不足够</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票据有显式的开始时间和结束时间，从而具有任意的生存期</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837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0" dirty="0">
                              <a:solidFill>
                                <a:schemeClr val="tx1"/>
                              </a:solidFill>
                              <a:latin typeface="Times New Roman" panose="02020603050405020304" pitchFamily="18" charset="0"/>
                              <a:cs typeface="Times New Roman" panose="02020603050405020304" pitchFamily="18" charset="0"/>
                            </a:rPr>
                            <a:t>认证转发</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不允许将颁发给一个客户的票据转发到其他主机并由其他客户使用</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提供了此功能</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r h="589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0" dirty="0">
                              <a:solidFill>
                                <a:schemeClr val="tx1"/>
                              </a:solidFill>
                              <a:latin typeface="Times New Roman" panose="02020603050405020304" pitchFamily="18" charset="0"/>
                              <a:cs typeface="Times New Roman" panose="02020603050405020304" pitchFamily="18" charset="0"/>
                            </a:rPr>
                            <a:t>领域间认证</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800" i="0" dirty="0">
                              <a:solidFill>
                                <a:prstClr val="black"/>
                              </a:solidFill>
                              <a:latin typeface="Times New Roman" panose="02020603050405020304" pitchFamily="18" charset="0"/>
                              <a:cs typeface="Times New Roman" panose="02020603050405020304" pitchFamily="18" charset="0"/>
                            </a:rPr>
                            <a:t>N</a:t>
                          </a:r>
                          <a:r>
                            <a:rPr lang="zh-CN" altLang="en-US" sz="1800" dirty="0">
                              <a:solidFill>
                                <a:prstClr val="black"/>
                              </a:solidFill>
                              <a:latin typeface="Times New Roman" panose="02020603050405020304" pitchFamily="18" charset="0"/>
                              <a:cs typeface="Times New Roman" panose="02020603050405020304" pitchFamily="18" charset="0"/>
                            </a:rPr>
                            <a:t>个领域之间的请求需要</a:t>
                          </a:r>
                          <a14:m>
                            <m:oMath xmlns:m="http://schemas.openxmlformats.org/officeDocument/2006/math">
                              <m:sSup>
                                <m:sSupPr>
                                  <m:ctrlPr>
                                    <a:rPr lang="en-US" altLang="zh-CN" sz="1800" b="0" i="1" dirty="0" smtClean="0">
                                      <a:solidFill>
                                        <a:prstClr val="black"/>
                                      </a:solidFill>
                                      <a:latin typeface="Cambria Math" panose="02040503050406030204" pitchFamily="18" charset="0"/>
                                    </a:rPr>
                                  </m:ctrlPr>
                                </m:sSupPr>
                                <m:e>
                                  <m:r>
                                    <a:rPr lang="en-US" altLang="zh-CN" sz="1800" i="1" dirty="0" smtClean="0">
                                      <a:solidFill>
                                        <a:prstClr val="black"/>
                                      </a:solidFill>
                                      <a:latin typeface="Cambria Math"/>
                                    </a:rPr>
                                    <m:t>𝑁</m:t>
                                  </m:r>
                                </m:e>
                                <m:sup>
                                  <m:r>
                                    <a:rPr lang="en-US" altLang="zh-CN" sz="1800" i="1" dirty="0" smtClean="0">
                                      <a:solidFill>
                                        <a:prstClr val="black"/>
                                      </a:solidFill>
                                      <a:latin typeface="Cambria Math"/>
                                    </a:rPr>
                                    <m:t>2</m:t>
                                  </m:r>
                                </m:sup>
                              </m:sSup>
                            </m:oMath>
                          </a14:m>
                          <a:r>
                            <a:rPr lang="zh-CN" altLang="en-US" sz="1800" dirty="0">
                              <a:solidFill>
                                <a:prstClr val="black"/>
                              </a:solidFill>
                              <a:latin typeface="Times New Roman" panose="02020603050405020304" pitchFamily="18" charset="0"/>
                              <a:cs typeface="Times New Roman" panose="02020603050405020304" pitchFamily="18" charset="0"/>
                            </a:rPr>
                            <a:t>个</a:t>
                          </a:r>
                          <a:r>
                            <a:rPr lang="en-US" altLang="zh-CN" sz="1800" dirty="0">
                              <a:solidFill>
                                <a:prstClr val="black"/>
                              </a:solidFill>
                              <a:latin typeface="Times New Roman" panose="02020603050405020304" pitchFamily="18" charset="0"/>
                              <a:cs typeface="Times New Roman" panose="02020603050405020304" pitchFamily="18" charset="0"/>
                            </a:rPr>
                            <a:t>Kerberos </a:t>
                          </a:r>
                          <a:r>
                            <a:rPr lang="zh-CN" altLang="en-US" sz="1800" dirty="0">
                              <a:solidFill>
                                <a:prstClr val="black"/>
                              </a:solidFill>
                              <a:latin typeface="Times New Roman" panose="02020603050405020304" pitchFamily="18" charset="0"/>
                              <a:cs typeface="Times New Roman" panose="02020603050405020304" pitchFamily="18" charset="0"/>
                            </a:rPr>
                            <a:t>到 </a:t>
                          </a:r>
                          <a:r>
                            <a:rPr lang="en-US" altLang="zh-CN" sz="1800" dirty="0">
                              <a:solidFill>
                                <a:prstClr val="black"/>
                              </a:solidFill>
                              <a:latin typeface="Times New Roman" panose="02020603050405020304" pitchFamily="18" charset="0"/>
                              <a:cs typeface="Times New Roman" panose="02020603050405020304" pitchFamily="18" charset="0"/>
                            </a:rPr>
                            <a:t>Kerberos</a:t>
                          </a:r>
                          <a:r>
                            <a:rPr lang="zh-CN" altLang="en-US" sz="1800" dirty="0">
                              <a:solidFill>
                                <a:prstClr val="black"/>
                              </a:solidFill>
                              <a:latin typeface="Times New Roman" panose="02020603050405020304" pitchFamily="18" charset="0"/>
                              <a:cs typeface="Times New Roman" panose="02020603050405020304" pitchFamily="18" charset="0"/>
                            </a:rPr>
                            <a:t>关系</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需要的关系更少</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6"/>
                      </a:ext>
                    </a:extLst>
                  </a:tr>
                </a:tbl>
              </a:graphicData>
            </a:graphic>
          </p:graphicFrame>
        </mc:Choice>
        <mc:Fallback xmlns="">
          <p:graphicFrame>
            <p:nvGraphicFramePr>
              <p:cNvPr id="10" name="表格 9"/>
              <p:cNvGraphicFramePr>
                <a:graphicFrameLocks noGrp="1"/>
              </p:cNvGraphicFramePr>
              <p:nvPr>
                <p:extLst>
                  <p:ext uri="{D42A27DB-BD31-4B8C-83A1-F6EECF244321}">
                    <p14:modId xmlns:p14="http://schemas.microsoft.com/office/powerpoint/2010/main" val="4248380610"/>
                  </p:ext>
                </p:extLst>
              </p:nvPr>
            </p:nvGraphicFramePr>
            <p:xfrm>
              <a:off x="312517" y="2347528"/>
              <a:ext cx="8479945" cy="4326174"/>
            </p:xfrm>
            <a:graphic>
              <a:graphicData uri="http://schemas.openxmlformats.org/drawingml/2006/table">
                <a:tbl>
                  <a:tblPr firstRow="1" bandRow="1">
                    <a:tableStyleId>{7DF18680-E054-41AD-8BC1-D1AEF772440D}</a:tableStyleId>
                  </a:tblPr>
                  <a:tblGrid>
                    <a:gridCol w="2164213">
                      <a:extLst>
                        <a:ext uri="{9D8B030D-6E8A-4147-A177-3AD203B41FA5}">
                          <a16:colId xmlns:a16="http://schemas.microsoft.com/office/drawing/2014/main" val="20000"/>
                        </a:ext>
                      </a:extLst>
                    </a:gridCol>
                    <a:gridCol w="3153070">
                      <a:extLst>
                        <a:ext uri="{9D8B030D-6E8A-4147-A177-3AD203B41FA5}">
                          <a16:colId xmlns:a16="http://schemas.microsoft.com/office/drawing/2014/main" val="20001"/>
                        </a:ext>
                      </a:extLst>
                    </a:gridCol>
                    <a:gridCol w="3162662">
                      <a:extLst>
                        <a:ext uri="{9D8B030D-6E8A-4147-A177-3AD203B41FA5}">
                          <a16:colId xmlns:a16="http://schemas.microsoft.com/office/drawing/2014/main" val="20002"/>
                        </a:ext>
                      </a:extLst>
                    </a:gridCol>
                  </a:tblGrid>
                  <a:tr h="372000">
                    <a:tc>
                      <a:txBody>
                        <a:bodyPr/>
                        <a:lstStyle/>
                        <a:p>
                          <a:pPr algn="ctr"/>
                          <a:r>
                            <a:rPr lang="zh-CN" altLang="en-US" dirty="0">
                              <a:latin typeface="Times New Roman" panose="02020603050405020304" pitchFamily="18" charset="0"/>
                              <a:cs typeface="Times New Roman" panose="02020603050405020304" pitchFamily="18" charset="0"/>
                            </a:rPr>
                            <a:t>环境缺陷</a:t>
                          </a:r>
                        </a:p>
                      </a:txBody>
                      <a:tcPr anchor="ctr"/>
                    </a:tc>
                    <a:tc>
                      <a:txBody>
                        <a:bodyPr/>
                        <a:lstStyle/>
                        <a:p>
                          <a:pPr algn="ctr"/>
                          <a:r>
                            <a:rPr lang="zh-CN" altLang="en-US" sz="1800" b="1" dirty="0">
                              <a:solidFill>
                                <a:schemeClr val="bg1"/>
                              </a:solidFill>
                              <a:latin typeface="Times New Roman" panose="02020603050405020304" pitchFamily="18" charset="0"/>
                              <a:cs typeface="Times New Roman" panose="02020603050405020304" pitchFamily="18" charset="0"/>
                            </a:rPr>
                            <a:t>第 </a:t>
                          </a:r>
                          <a:r>
                            <a:rPr lang="en-US" altLang="zh-CN" sz="1800" b="1" dirty="0">
                              <a:solidFill>
                                <a:schemeClr val="bg1"/>
                              </a:solidFill>
                              <a:latin typeface="Times New Roman" panose="02020603050405020304" pitchFamily="18" charset="0"/>
                              <a:cs typeface="Times New Roman" panose="02020603050405020304" pitchFamily="18" charset="0"/>
                            </a:rPr>
                            <a:t>4 </a:t>
                          </a:r>
                          <a:r>
                            <a:rPr lang="zh-CN" altLang="en-US" sz="1800" b="1" dirty="0">
                              <a:solidFill>
                                <a:schemeClr val="bg1"/>
                              </a:solidFill>
                              <a:latin typeface="Times New Roman" panose="02020603050405020304" pitchFamily="18" charset="0"/>
                              <a:cs typeface="Times New Roman" panose="02020603050405020304" pitchFamily="18" charset="0"/>
                            </a:rPr>
                            <a:t>版</a:t>
                          </a:r>
                          <a:r>
                            <a:rPr lang="en-US" altLang="zh-CN" sz="1800" b="1" dirty="0">
                              <a:solidFill>
                                <a:schemeClr val="bg1"/>
                              </a:solidFill>
                              <a:latin typeface="Times New Roman" panose="02020603050405020304" pitchFamily="18" charset="0"/>
                              <a:cs typeface="Times New Roman" panose="02020603050405020304" pitchFamily="18" charset="0"/>
                            </a:rPr>
                            <a:t>Kerberos</a:t>
                          </a:r>
                          <a:endParaRPr lang="zh-CN" altLang="en-US" b="1"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b="1" dirty="0">
                              <a:solidFill>
                                <a:schemeClr val="bg1"/>
                              </a:solidFill>
                              <a:latin typeface="Times New Roman" panose="02020603050405020304" pitchFamily="18" charset="0"/>
                              <a:cs typeface="Times New Roman" panose="02020603050405020304" pitchFamily="18" charset="0"/>
                            </a:rPr>
                            <a:t>第 </a:t>
                          </a:r>
                          <a:r>
                            <a:rPr lang="en-US" altLang="zh-CN" sz="1800" b="1" dirty="0">
                              <a:solidFill>
                                <a:schemeClr val="bg1"/>
                              </a:solidFill>
                              <a:latin typeface="Times New Roman" panose="02020603050405020304" pitchFamily="18" charset="0"/>
                              <a:cs typeface="Times New Roman" panose="02020603050405020304" pitchFamily="18" charset="0"/>
                            </a:rPr>
                            <a:t>5 </a:t>
                          </a:r>
                          <a:r>
                            <a:rPr lang="zh-CN" altLang="en-US" sz="1800" b="1" dirty="0">
                              <a:solidFill>
                                <a:schemeClr val="bg1"/>
                              </a:solidFill>
                              <a:latin typeface="Times New Roman" panose="02020603050405020304" pitchFamily="18" charset="0"/>
                              <a:cs typeface="Times New Roman" panose="02020603050405020304" pitchFamily="18" charset="0"/>
                            </a:rPr>
                            <a:t>版</a:t>
                          </a:r>
                          <a:r>
                            <a:rPr lang="en-US" altLang="zh-CN" sz="1800" b="1" dirty="0">
                              <a:solidFill>
                                <a:schemeClr val="bg1"/>
                              </a:solidFill>
                              <a:latin typeface="Times New Roman" panose="02020603050405020304" pitchFamily="18" charset="0"/>
                              <a:cs typeface="Times New Roman" panose="02020603050405020304" pitchFamily="18" charset="0"/>
                            </a:rPr>
                            <a:t>Kerberos</a:t>
                          </a:r>
                          <a:endParaRPr lang="zh-CN" altLang="en-US" b="1" dirty="0">
                            <a:solidFill>
                              <a:schemeClr val="bg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6400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加密系统的依赖</a:t>
                          </a: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使用</a:t>
                          </a:r>
                          <a:r>
                            <a:rPr lang="en-US" altLang="zh-CN" sz="1800" dirty="0">
                              <a:solidFill>
                                <a:prstClr val="black"/>
                              </a:solidFill>
                              <a:latin typeface="Times New Roman" panose="02020603050405020304" pitchFamily="18" charset="0"/>
                              <a:cs typeface="Times New Roman" panose="02020603050405020304" pitchFamily="18" charset="0"/>
                            </a:rPr>
                            <a:t>DES</a:t>
                          </a:r>
                          <a:r>
                            <a:rPr lang="zh-CN" altLang="en-US" sz="1800" dirty="0">
                              <a:solidFill>
                                <a:prstClr val="black"/>
                              </a:solidFill>
                              <a:latin typeface="Times New Roman" panose="02020603050405020304" pitchFamily="18" charset="0"/>
                              <a:cs typeface="Times New Roman" panose="02020603050405020304" pitchFamily="18" charset="0"/>
                            </a:rPr>
                            <a:t>，强度有限</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密文被标记为加密类型标识符，</a:t>
                          </a:r>
                          <a:r>
                            <a:rPr lang="zh-CN" altLang="en-US" sz="1800" dirty="0">
                              <a:latin typeface="Times New Roman" panose="02020603050405020304" pitchFamily="18" charset="0"/>
                              <a:cs typeface="Times New Roman" panose="02020603050405020304" pitchFamily="18" charset="0"/>
                            </a:rPr>
                            <a:t>可以使用任何加密技术</a:t>
                          </a:r>
                        </a:p>
                      </a:txBody>
                      <a:tcPr anchor="ctr"/>
                    </a:tc>
                    <a:extLst>
                      <a:ext uri="{0D108BD9-81ED-4DB2-BD59-A6C34878D82A}">
                        <a16:rowId xmlns:a16="http://schemas.microsoft.com/office/drawing/2014/main" val="10001"/>
                      </a:ext>
                    </a:extLst>
                  </a:tr>
                  <a:tr h="640080">
                    <a:tc>
                      <a:txBody>
                        <a:bodyPr/>
                        <a:lstStyle/>
                        <a:p>
                          <a:pPr algn="ctr"/>
                          <a:r>
                            <a:rPr lang="zh-CN" altLang="en-US" sz="1800" dirty="0">
                              <a:latin typeface="Times New Roman" panose="02020603050405020304" pitchFamily="18" charset="0"/>
                              <a:cs typeface="Times New Roman" panose="02020603050405020304" pitchFamily="18" charset="0"/>
                            </a:rPr>
                            <a:t>互联网协议的依赖</a:t>
                          </a:r>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使用互联网协议 </a:t>
                          </a:r>
                          <a:r>
                            <a:rPr lang="en-US" altLang="zh-CN" sz="1800" dirty="0">
                              <a:latin typeface="Times New Roman" panose="02020603050405020304" pitchFamily="18" charset="0"/>
                              <a:cs typeface="Times New Roman" panose="02020603050405020304" pitchFamily="18" charset="0"/>
                            </a:rPr>
                            <a:t>(IP)</a:t>
                          </a:r>
                          <a:r>
                            <a:rPr lang="zh-CN" altLang="en-US" sz="1800" dirty="0">
                              <a:latin typeface="Times New Roman" panose="02020603050405020304" pitchFamily="18" charset="0"/>
                              <a:cs typeface="Times New Roman" panose="02020603050405020304" pitchFamily="18" charset="0"/>
                            </a:rPr>
                            <a:t>地址，</a:t>
                          </a:r>
                          <a:endParaRPr lang="en-US" altLang="zh-CN" sz="1800" dirty="0">
                            <a:latin typeface="Times New Roman" panose="02020603050405020304" pitchFamily="18" charset="0"/>
                            <a:cs typeface="Times New Roman" panose="02020603050405020304" pitchFamily="18" charset="0"/>
                          </a:endParaRPr>
                        </a:p>
                        <a:p>
                          <a:pPr algn="ctr"/>
                          <a:r>
                            <a:rPr lang="zh-CN" altLang="en-US" sz="1800" dirty="0">
                              <a:latin typeface="Times New Roman" panose="02020603050405020304" pitchFamily="18" charset="0"/>
                              <a:cs typeface="Times New Roman" panose="02020603050405020304" pitchFamily="18" charset="0"/>
                            </a:rPr>
                            <a:t>其他地址类型不被接纳</a:t>
                          </a:r>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网络地址用类型和长度标记，允许使用任何网络地址类型</a:t>
                          </a:r>
                        </a:p>
                      </a:txBody>
                      <a:tcPr anchor="ctr"/>
                    </a:tc>
                    <a:extLst>
                      <a:ext uri="{0D108BD9-81ED-4DB2-BD59-A6C34878D82A}">
                        <a16:rowId xmlns:a16="http://schemas.microsoft.com/office/drawing/2014/main" val="10002"/>
                      </a:ext>
                    </a:extLst>
                  </a:tr>
                  <a:tr h="4794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0" dirty="0">
                              <a:solidFill>
                                <a:schemeClr val="tx1"/>
                              </a:solidFill>
                              <a:latin typeface="Times New Roman" panose="02020603050405020304" pitchFamily="18" charset="0"/>
                              <a:cs typeface="Times New Roman" panose="02020603050405020304" pitchFamily="18" charset="0"/>
                            </a:rPr>
                            <a:t>消息的字节排序</a:t>
                          </a: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采用自己选择的字节排序</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提供了明确的字节顺序</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6400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0" dirty="0">
                              <a:solidFill>
                                <a:schemeClr val="tx1"/>
                              </a:solidFill>
                              <a:latin typeface="Times New Roman" panose="02020603050405020304" pitchFamily="18" charset="0"/>
                              <a:cs typeface="Times New Roman" panose="02020603050405020304" pitchFamily="18" charset="0"/>
                            </a:rPr>
                            <a:t>票据寿命</a:t>
                          </a:r>
                          <a:endParaRPr lang="en-US" altLang="zh-C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可以表示的最大寿命对于某些应用程序并不足够</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票据有显式的开始时间和结束时间，从而具有任意的生存期</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914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0" dirty="0">
                              <a:solidFill>
                                <a:schemeClr val="tx1"/>
                              </a:solidFill>
                              <a:latin typeface="Times New Roman" panose="02020603050405020304" pitchFamily="18" charset="0"/>
                              <a:cs typeface="Times New Roman" panose="02020603050405020304" pitchFamily="18" charset="0"/>
                            </a:rPr>
                            <a:t>认证转发</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不允许将颁发给一个客户的票据转发到其他主机并由其他客户使用</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提供了此功能</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r h="6400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0" dirty="0">
                              <a:solidFill>
                                <a:schemeClr val="tx1"/>
                              </a:solidFill>
                              <a:latin typeface="Times New Roman" panose="02020603050405020304" pitchFamily="18" charset="0"/>
                              <a:cs typeface="Times New Roman" panose="02020603050405020304" pitchFamily="18" charset="0"/>
                            </a:rPr>
                            <a:t>领域间认证</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CN"/>
                        </a:p>
                      </a:txBody>
                      <a:tcPr anchor="ctr">
                        <a:blipFill>
                          <a:blip r:embed="rId3"/>
                          <a:stretch>
                            <a:fillRect l="-68726" t="-580952" r="-100965" b="-15238"/>
                          </a:stretch>
                        </a:blipFill>
                      </a:tcP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需要的关系更少</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6"/>
                      </a:ext>
                    </a:extLst>
                  </a:tr>
                </a:tbl>
              </a:graphicData>
            </a:graphic>
          </p:graphicFrame>
        </mc:Fallback>
      </mc:AlternateContent>
    </p:spTree>
    <p:extLst>
      <p:ext uri="{BB962C8B-B14F-4D97-AF65-F5344CB8AC3E}">
        <p14:creationId xmlns:p14="http://schemas.microsoft.com/office/powerpoint/2010/main" val="4135116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solidFill>
                  <a:prstClr val="black">
                    <a:tint val="75000"/>
                  </a:prstClr>
                </a:solidFill>
                <a:latin typeface="Times New Roman" panose="02020603050405020304" pitchFamily="18" charset="0"/>
                <a:cs typeface="Times New Roman" panose="02020603050405020304" pitchFamily="18" charset="0"/>
              </a:rPr>
              <a:pPr/>
              <a:t>31</a:t>
            </a:fld>
            <a:endParaRPr lang="zh-CN" altLang="en-US" dirty="0">
              <a:solidFill>
                <a:prstClr val="black">
                  <a:tint val="75000"/>
                </a:prstClr>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8092343" cy="497765"/>
          </a:xfrm>
          <a:prstGeom prst="rect">
            <a:avLst/>
          </a:prstGeom>
          <a:noFill/>
        </p:spPr>
        <p:txBody>
          <a:bodyPr wrap="square" rtlCol="0">
            <a:spAutoFit/>
          </a:bodyPr>
          <a:lstStyle/>
          <a:p>
            <a:pPr>
              <a:lnSpc>
                <a:spcPct val="120000"/>
              </a:lnSpc>
              <a:spcBef>
                <a:spcPts val="600"/>
              </a:spcBef>
            </a:pPr>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第五版</a:t>
            </a:r>
            <a:r>
              <a:rPr lang="en-US" altLang="zh-CN" sz="2400" b="1" dirty="0">
                <a:solidFill>
                  <a:srgbClr val="0000FF"/>
                </a:solidFill>
                <a:latin typeface="Times New Roman" panose="02020603050405020304" pitchFamily="18" charset="0"/>
                <a:cs typeface="Times New Roman" panose="02020603050405020304" pitchFamily="18" charset="0"/>
              </a:rPr>
              <a:t>Kerberos</a:t>
            </a:r>
            <a:r>
              <a:rPr lang="zh-CN" altLang="en-US" sz="2000" b="1" dirty="0">
                <a:solidFill>
                  <a:srgbClr val="0000FF"/>
                </a:solidFill>
                <a:latin typeface="Times New Roman" panose="02020603050405020304" pitchFamily="18" charset="0"/>
                <a:cs typeface="Times New Roman" panose="02020603050405020304" pitchFamily="18" charset="0"/>
              </a:rPr>
              <a:t>：</a:t>
            </a:r>
            <a:r>
              <a:rPr lang="zh-CN" altLang="en-US" sz="2000" dirty="0">
                <a:solidFill>
                  <a:prstClr val="black"/>
                </a:solidFill>
                <a:latin typeface="Times New Roman" panose="02020603050405020304" pitchFamily="18" charset="0"/>
                <a:cs typeface="Times New Roman" panose="02020603050405020304" pitchFamily="18" charset="0"/>
              </a:rPr>
              <a:t>旨在解决第 </a:t>
            </a:r>
            <a:r>
              <a:rPr lang="en-US" altLang="zh-CN" sz="2000" dirty="0">
                <a:solidFill>
                  <a:prstClr val="black"/>
                </a:solidFill>
                <a:latin typeface="Times New Roman" panose="02020603050405020304" pitchFamily="18" charset="0"/>
                <a:cs typeface="Times New Roman" panose="02020603050405020304" pitchFamily="18" charset="0"/>
              </a:rPr>
              <a:t>4 </a:t>
            </a:r>
            <a:r>
              <a:rPr lang="zh-CN" altLang="en-US" sz="2000" dirty="0">
                <a:solidFill>
                  <a:prstClr val="black"/>
                </a:solidFill>
                <a:latin typeface="Times New Roman" panose="02020603050405020304" pitchFamily="18" charset="0"/>
                <a:cs typeface="Times New Roman" panose="02020603050405020304" pitchFamily="18" charset="0"/>
              </a:rPr>
              <a:t>版</a:t>
            </a:r>
            <a:r>
              <a:rPr lang="en-US" altLang="zh-CN" sz="2000" dirty="0">
                <a:solidFill>
                  <a:prstClr val="black"/>
                </a:solidFill>
                <a:latin typeface="Times New Roman" panose="02020603050405020304" pitchFamily="18" charset="0"/>
                <a:cs typeface="Times New Roman" panose="02020603050405020304" pitchFamily="18" charset="0"/>
              </a:rPr>
              <a:t>Kerberos </a:t>
            </a:r>
            <a:r>
              <a:rPr lang="zh-CN" altLang="en-US" sz="2000" dirty="0">
                <a:solidFill>
                  <a:prstClr val="black"/>
                </a:solidFill>
                <a:latin typeface="Times New Roman" panose="02020603050405020304" pitchFamily="18" charset="0"/>
                <a:cs typeface="Times New Roman" panose="02020603050405020304" pitchFamily="18" charset="0"/>
              </a:rPr>
              <a:t>缺陷</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25B7B687-1BD1-442B-8AB8-447814EBDB5A}"/>
              </a:ext>
            </a:extLst>
          </p:cNvPr>
          <p:cNvSpPr txBox="1"/>
          <p:nvPr/>
        </p:nvSpPr>
        <p:spPr>
          <a:xfrm>
            <a:off x="312518" y="1694125"/>
            <a:ext cx="8440924" cy="430182"/>
          </a:xfrm>
          <a:prstGeom prst="rect">
            <a:avLst/>
          </a:prstGeom>
          <a:noFill/>
        </p:spPr>
        <p:txBody>
          <a:bodyPr wrap="square" rtlCol="0">
            <a:spAutoFit/>
          </a:bodyPr>
          <a:lstStyle/>
          <a:p>
            <a:pPr>
              <a:lnSpc>
                <a:spcPct val="120000"/>
              </a:lnSpc>
              <a:spcBef>
                <a:spcPts val="600"/>
              </a:spcBef>
            </a:pPr>
            <a:r>
              <a:rPr lang="zh-CN" altLang="en-US" sz="2000" dirty="0">
                <a:solidFill>
                  <a:srgbClr val="C00000"/>
                </a:solidFill>
                <a:latin typeface="Times New Roman" panose="02020603050405020304" pitchFamily="18" charset="0"/>
                <a:cs typeface="Times New Roman" panose="02020603050405020304" pitchFamily="18" charset="0"/>
              </a:rPr>
              <a:t>技术缺陷</a:t>
            </a:r>
            <a:endParaRPr lang="en-US" altLang="zh-CN" sz="2000" dirty="0">
              <a:solidFill>
                <a:srgbClr val="C00000"/>
              </a:solidFill>
              <a:latin typeface="Times New Roman" panose="02020603050405020304" pitchFamily="18" charset="0"/>
              <a:cs typeface="Times New Roman" panose="02020603050405020304"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1874282548"/>
              </p:ext>
            </p:extLst>
          </p:nvPr>
        </p:nvGraphicFramePr>
        <p:xfrm>
          <a:off x="351538" y="2451598"/>
          <a:ext cx="8440924" cy="3583442"/>
        </p:xfrm>
        <a:graphic>
          <a:graphicData uri="http://schemas.openxmlformats.org/drawingml/2006/table">
            <a:tbl>
              <a:tblPr firstRow="1" bandRow="1">
                <a:tableStyleId>{7DF18680-E054-41AD-8BC1-D1AEF772440D}</a:tableStyleId>
              </a:tblPr>
              <a:tblGrid>
                <a:gridCol w="1416302">
                  <a:extLst>
                    <a:ext uri="{9D8B030D-6E8A-4147-A177-3AD203B41FA5}">
                      <a16:colId xmlns:a16="http://schemas.microsoft.com/office/drawing/2014/main" val="20000"/>
                    </a:ext>
                  </a:extLst>
                </a:gridCol>
                <a:gridCol w="3923020">
                  <a:extLst>
                    <a:ext uri="{9D8B030D-6E8A-4147-A177-3AD203B41FA5}">
                      <a16:colId xmlns:a16="http://schemas.microsoft.com/office/drawing/2014/main" val="20001"/>
                    </a:ext>
                  </a:extLst>
                </a:gridCol>
                <a:gridCol w="3101602">
                  <a:extLst>
                    <a:ext uri="{9D8B030D-6E8A-4147-A177-3AD203B41FA5}">
                      <a16:colId xmlns:a16="http://schemas.microsoft.com/office/drawing/2014/main" val="20002"/>
                    </a:ext>
                  </a:extLst>
                </a:gridCol>
              </a:tblGrid>
              <a:tr h="406129">
                <a:tc>
                  <a:txBody>
                    <a:bodyPr/>
                    <a:lstStyle/>
                    <a:p>
                      <a:pPr algn="ctr"/>
                      <a:r>
                        <a:rPr lang="zh-CN" altLang="en-US" sz="1600" dirty="0">
                          <a:latin typeface="Times New Roman" panose="02020603050405020304" pitchFamily="18" charset="0"/>
                          <a:cs typeface="Times New Roman" panose="02020603050405020304" pitchFamily="18" charset="0"/>
                        </a:rPr>
                        <a:t>技术缺陷</a:t>
                      </a:r>
                    </a:p>
                  </a:txBody>
                  <a:tcPr anchor="ctr"/>
                </a:tc>
                <a:tc>
                  <a:txBody>
                    <a:bodyPr/>
                    <a:lstStyle/>
                    <a:p>
                      <a:pPr algn="ctr"/>
                      <a:r>
                        <a:rPr lang="zh-CN" altLang="en-US" sz="1600" b="1" dirty="0">
                          <a:solidFill>
                            <a:schemeClr val="bg1"/>
                          </a:solidFill>
                          <a:latin typeface="Times New Roman" panose="02020603050405020304" pitchFamily="18" charset="0"/>
                          <a:cs typeface="Times New Roman" panose="02020603050405020304" pitchFamily="18" charset="0"/>
                        </a:rPr>
                        <a:t>第 </a:t>
                      </a:r>
                      <a:r>
                        <a:rPr lang="en-US" altLang="zh-CN" sz="1600" b="1" dirty="0">
                          <a:solidFill>
                            <a:schemeClr val="bg1"/>
                          </a:solidFill>
                          <a:latin typeface="Times New Roman" panose="02020603050405020304" pitchFamily="18" charset="0"/>
                          <a:cs typeface="Times New Roman" panose="02020603050405020304" pitchFamily="18" charset="0"/>
                        </a:rPr>
                        <a:t>4 </a:t>
                      </a:r>
                      <a:r>
                        <a:rPr lang="zh-CN" altLang="en-US" sz="1600" b="1" dirty="0">
                          <a:solidFill>
                            <a:schemeClr val="bg1"/>
                          </a:solidFill>
                          <a:latin typeface="Times New Roman" panose="02020603050405020304" pitchFamily="18" charset="0"/>
                          <a:cs typeface="Times New Roman" panose="02020603050405020304" pitchFamily="18" charset="0"/>
                        </a:rPr>
                        <a:t>版</a:t>
                      </a:r>
                      <a:r>
                        <a:rPr lang="en-US" altLang="zh-CN" sz="1600" b="1" dirty="0">
                          <a:solidFill>
                            <a:schemeClr val="bg1"/>
                          </a:solidFill>
                          <a:latin typeface="Times New Roman" panose="02020603050405020304" pitchFamily="18" charset="0"/>
                          <a:cs typeface="Times New Roman" panose="02020603050405020304" pitchFamily="18" charset="0"/>
                        </a:rPr>
                        <a:t>Kerberos</a:t>
                      </a:r>
                      <a:endParaRPr lang="zh-CN" altLang="en-US" sz="1600" b="1"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600" b="1" dirty="0">
                          <a:solidFill>
                            <a:schemeClr val="bg1"/>
                          </a:solidFill>
                          <a:latin typeface="Times New Roman" panose="02020603050405020304" pitchFamily="18" charset="0"/>
                          <a:cs typeface="Times New Roman" panose="02020603050405020304" pitchFamily="18" charset="0"/>
                        </a:rPr>
                        <a:t>第 </a:t>
                      </a:r>
                      <a:r>
                        <a:rPr lang="en-US" altLang="zh-CN" sz="1600" b="1" dirty="0">
                          <a:solidFill>
                            <a:schemeClr val="bg1"/>
                          </a:solidFill>
                          <a:latin typeface="Times New Roman" panose="02020603050405020304" pitchFamily="18" charset="0"/>
                          <a:cs typeface="Times New Roman" panose="02020603050405020304" pitchFamily="18" charset="0"/>
                        </a:rPr>
                        <a:t>5 </a:t>
                      </a:r>
                      <a:r>
                        <a:rPr lang="zh-CN" altLang="en-US" sz="1600" b="1" dirty="0">
                          <a:solidFill>
                            <a:schemeClr val="bg1"/>
                          </a:solidFill>
                          <a:latin typeface="Times New Roman" panose="02020603050405020304" pitchFamily="18" charset="0"/>
                          <a:cs typeface="Times New Roman" panose="02020603050405020304" pitchFamily="18" charset="0"/>
                        </a:rPr>
                        <a:t>版</a:t>
                      </a:r>
                      <a:r>
                        <a:rPr lang="en-US" altLang="zh-CN" sz="1600" b="1" dirty="0">
                          <a:solidFill>
                            <a:schemeClr val="bg1"/>
                          </a:solidFill>
                          <a:latin typeface="Times New Roman" panose="02020603050405020304" pitchFamily="18" charset="0"/>
                          <a:cs typeface="Times New Roman" panose="02020603050405020304" pitchFamily="18" charset="0"/>
                        </a:rPr>
                        <a:t>Kerberos</a:t>
                      </a:r>
                      <a:endParaRPr lang="zh-CN" altLang="en-US" sz="1600" b="1" dirty="0">
                        <a:solidFill>
                          <a:schemeClr val="bg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71063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双重加密</a:t>
                      </a: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提供给客户端的票据经过两次加密，浪费计算资源</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去除第二次加密</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710630">
                <a:tc>
                  <a:txBody>
                    <a:bodyPr/>
                    <a:lstStyle/>
                    <a:p>
                      <a:pPr algn="ctr"/>
                      <a:r>
                        <a:rPr lang="en-US" altLang="zh-CN" sz="1800" dirty="0">
                          <a:latin typeface="Times New Roman" panose="02020603050405020304" pitchFamily="18" charset="0"/>
                          <a:cs typeface="Times New Roman" panose="02020603050405020304" pitchFamily="18" charset="0"/>
                        </a:rPr>
                        <a:t>PCBC</a:t>
                      </a:r>
                      <a:r>
                        <a:rPr lang="zh-CN" altLang="en-US" sz="1800" dirty="0">
                          <a:latin typeface="Times New Roman" panose="02020603050405020304" pitchFamily="18" charset="0"/>
                          <a:cs typeface="Times New Roman" panose="02020603050405020304" pitchFamily="18" charset="0"/>
                        </a:rPr>
                        <a:t>加密</a:t>
                      </a: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使用非标准</a:t>
                      </a:r>
                      <a:r>
                        <a:rPr lang="en-US" altLang="zh-CN" sz="1800" dirty="0">
                          <a:solidFill>
                            <a:prstClr val="black"/>
                          </a:solidFill>
                          <a:latin typeface="Times New Roman" panose="02020603050405020304" pitchFamily="18" charset="0"/>
                          <a:cs typeface="Times New Roman" panose="02020603050405020304" pitchFamily="18" charset="0"/>
                        </a:rPr>
                        <a:t>DES</a:t>
                      </a:r>
                      <a:r>
                        <a:rPr lang="zh-CN" altLang="en-US" sz="1800" dirty="0">
                          <a:solidFill>
                            <a:prstClr val="black"/>
                          </a:solidFill>
                          <a:latin typeface="Times New Roman" panose="02020603050405020304" pitchFamily="18" charset="0"/>
                          <a:cs typeface="Times New Roman" panose="02020603050405020304" pitchFamily="18" charset="0"/>
                        </a:rPr>
                        <a:t>模式（</a:t>
                      </a:r>
                      <a:r>
                        <a:rPr lang="en-US" altLang="zh-CN" sz="1800" dirty="0">
                          <a:solidFill>
                            <a:prstClr val="black"/>
                          </a:solidFill>
                          <a:latin typeface="Times New Roman" panose="02020603050405020304" pitchFamily="18" charset="0"/>
                          <a:cs typeface="Times New Roman" panose="02020603050405020304" pitchFamily="18" charset="0"/>
                        </a:rPr>
                        <a:t>PCBC</a:t>
                      </a:r>
                      <a:r>
                        <a:rPr lang="zh-CN" altLang="en-US" sz="1800" dirty="0">
                          <a:solidFill>
                            <a:prstClr val="black"/>
                          </a:solidFill>
                          <a:latin typeface="Times New Roman" panose="02020603050405020304" pitchFamily="18" charset="0"/>
                          <a:cs typeface="Times New Roman" panose="02020603050405020304" pitchFamily="18" charset="0"/>
                        </a:rPr>
                        <a:t>），易受到密文块交换攻击</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使用标准的</a:t>
                      </a:r>
                      <a:r>
                        <a:rPr lang="en-US" altLang="zh-CN" sz="1800" dirty="0">
                          <a:solidFill>
                            <a:prstClr val="black"/>
                          </a:solidFill>
                          <a:latin typeface="Times New Roman" panose="02020603050405020304" pitchFamily="18" charset="0"/>
                          <a:cs typeface="Times New Roman" panose="02020603050405020304" pitchFamily="18" charset="0"/>
                        </a:rPr>
                        <a:t>CBC</a:t>
                      </a:r>
                      <a:r>
                        <a:rPr lang="zh-CN" altLang="en-US" sz="1800" dirty="0">
                          <a:solidFill>
                            <a:prstClr val="black"/>
                          </a:solidFill>
                          <a:latin typeface="Times New Roman" panose="02020603050405020304" pitchFamily="18" charset="0"/>
                          <a:cs typeface="Times New Roman" panose="02020603050405020304" pitchFamily="18" charset="0"/>
                        </a:rPr>
                        <a:t>模式</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7106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0" dirty="0">
                          <a:solidFill>
                            <a:schemeClr val="tx1"/>
                          </a:solidFill>
                          <a:latin typeface="Times New Roman" panose="02020603050405020304" pitchFamily="18" charset="0"/>
                          <a:cs typeface="Times New Roman" panose="02020603050405020304" pitchFamily="18" charset="0"/>
                        </a:rPr>
                        <a:t>会话密钥</a:t>
                      </a: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敌手可以将旧会话中的消息重播到</a:t>
                      </a:r>
                      <a:endParaRPr lang="en-US" altLang="zh-CN" sz="1800" dirty="0">
                        <a:solidFill>
                          <a:prstClr val="black"/>
                        </a:solidFill>
                        <a:latin typeface="Times New Roman" panose="02020603050405020304" pitchFamily="18" charset="0"/>
                        <a:cs typeface="Times New Roman" panose="02020603050405020304" pitchFamily="18" charset="0"/>
                      </a:endParaRPr>
                    </a:p>
                    <a:p>
                      <a:pPr algn="ctr"/>
                      <a:r>
                        <a:rPr lang="zh-CN" altLang="en-US" sz="1800" dirty="0">
                          <a:solidFill>
                            <a:prstClr val="black"/>
                          </a:solidFill>
                          <a:latin typeface="Times New Roman" panose="02020603050405020304" pitchFamily="18" charset="0"/>
                          <a:cs typeface="Times New Roman" panose="02020603050405020304" pitchFamily="18" charset="0"/>
                        </a:rPr>
                        <a:t>客户端或服务器</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客户和服务器协商一个子会话密钥仅用于该次连接</a:t>
                      </a:r>
                    </a:p>
                  </a:txBody>
                  <a:tcPr anchor="ctr"/>
                </a:tc>
                <a:extLst>
                  <a:ext uri="{0D108BD9-81ED-4DB2-BD59-A6C34878D82A}">
                    <a16:rowId xmlns:a16="http://schemas.microsoft.com/office/drawing/2014/main" val="10003"/>
                  </a:ext>
                </a:extLst>
              </a:tr>
              <a:tr h="1045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0" dirty="0">
                          <a:solidFill>
                            <a:schemeClr val="tx1"/>
                          </a:solidFill>
                          <a:latin typeface="Times New Roman" panose="02020603050405020304" pitchFamily="18" charset="0"/>
                          <a:cs typeface="Times New Roman" panose="02020603050405020304" pitchFamily="18" charset="0"/>
                        </a:rPr>
                        <a:t>密码攻击</a:t>
                      </a:r>
                      <a:endParaRPr lang="en-US" altLang="zh-C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敌手可以捕获密钥加密的信息，并尝试解密。如果解密成功，可以使用它来获得 </a:t>
                      </a:r>
                      <a:r>
                        <a:rPr lang="en-US" altLang="zh-CN" sz="1800" dirty="0">
                          <a:solidFill>
                            <a:prstClr val="black"/>
                          </a:solidFill>
                          <a:latin typeface="Times New Roman" panose="02020603050405020304" pitchFamily="18" charset="0"/>
                          <a:cs typeface="Times New Roman" panose="02020603050405020304" pitchFamily="18" charset="0"/>
                        </a:rPr>
                        <a:t>Kerberos </a:t>
                      </a:r>
                      <a:r>
                        <a:rPr lang="zh-CN" altLang="en-US" sz="1800" dirty="0">
                          <a:solidFill>
                            <a:prstClr val="black"/>
                          </a:solidFill>
                          <a:latin typeface="Times New Roman" panose="02020603050405020304" pitchFamily="18" charset="0"/>
                          <a:cs typeface="Times New Roman" panose="02020603050405020304" pitchFamily="18" charset="0"/>
                        </a:rPr>
                        <a:t>的认证票据</a:t>
                      </a:r>
                    </a:p>
                  </a:txBody>
                  <a:tcPr anchor="ctr"/>
                </a:tc>
                <a:tc>
                  <a:txBody>
                    <a:bodyPr/>
                    <a:lstStyle/>
                    <a:p>
                      <a:pPr algn="ctr"/>
                      <a:r>
                        <a:rPr lang="zh-CN" altLang="en-US" sz="1800" dirty="0">
                          <a:solidFill>
                            <a:prstClr val="black"/>
                          </a:solidFill>
                          <a:latin typeface="Times New Roman" panose="02020603050405020304" pitchFamily="18" charset="0"/>
                          <a:cs typeface="Times New Roman" panose="02020603050405020304" pitchFamily="18" charset="0"/>
                        </a:rPr>
                        <a:t>提供了预身份验证机制，使密码攻击变得更加困难，但并没有阻止它们</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21023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32</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312517" y="1793185"/>
            <a:ext cx="8479945" cy="4592539"/>
          </a:xfrm>
          <a:prstGeom prst="rect">
            <a:avLst/>
          </a:prstGeom>
          <a:noFill/>
        </p:spPr>
        <p:txBody>
          <a:bodyPr wrap="square" rtlCol="0">
            <a:spAutoFit/>
          </a:bodyPr>
          <a:lstStyle/>
          <a:p>
            <a:pPr marL="342900" indent="-342900" algn="just">
              <a:lnSpc>
                <a:spcPct val="13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公钥证书可以用来证明持有者的身份：</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由受信任的</a:t>
            </a:r>
            <a:r>
              <a:rPr lang="zh-CN" altLang="en-US" sz="2000" dirty="0">
                <a:solidFill>
                  <a:srgbClr val="0000FF"/>
                </a:solidFill>
                <a:latin typeface="Times New Roman" panose="02020603050405020304" pitchFamily="18" charset="0"/>
                <a:cs typeface="Times New Roman" panose="02020603050405020304" pitchFamily="18" charset="0"/>
              </a:rPr>
              <a:t>证书颁发机构 </a:t>
            </a:r>
            <a:r>
              <a:rPr lang="en-US" altLang="zh-CN" sz="2000" dirty="0">
                <a:solidFill>
                  <a:srgbClr val="0000FF"/>
                </a:solidFill>
                <a:latin typeface="Times New Roman" panose="02020603050405020304" pitchFamily="18" charset="0"/>
                <a:cs typeface="Times New Roman" panose="02020603050405020304" pitchFamily="18" charset="0"/>
              </a:rPr>
              <a:t>CA(Certificate Authority) </a:t>
            </a:r>
            <a:r>
              <a:rPr lang="zh-CN" altLang="en-US" sz="2000" dirty="0">
                <a:latin typeface="Times New Roman" panose="02020603050405020304" pitchFamily="18" charset="0"/>
                <a:cs typeface="Times New Roman" panose="02020603050405020304" pitchFamily="18" charset="0"/>
              </a:rPr>
              <a:t>发放并签名</a:t>
            </a:r>
            <a:endParaRPr lang="en-US" altLang="zh-CN" sz="2000" dirty="0">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将证书所有者的身份信息与公钥结合起来，通常带有其他信息，如 </a:t>
            </a:r>
            <a:r>
              <a:rPr lang="en-US" altLang="zh-CN" sz="2000" dirty="0">
                <a:latin typeface="Times New Roman" panose="02020603050405020304" pitchFamily="18" charset="0"/>
                <a:cs typeface="Times New Roman" panose="02020603050405020304" pitchFamily="18" charset="0"/>
              </a:rPr>
              <a:t>CA </a:t>
            </a:r>
            <a:r>
              <a:rPr lang="zh-CN" altLang="en-US" sz="2000" dirty="0">
                <a:latin typeface="Times New Roman" panose="02020603050405020304" pitchFamily="18" charset="0"/>
                <a:cs typeface="Times New Roman" panose="02020603050405020304" pitchFamily="18" charset="0"/>
              </a:rPr>
              <a:t>的签名、证书有效期、使用权等</a:t>
            </a:r>
          </a:p>
          <a:p>
            <a:pPr marL="800100" lvl="1" indent="-3429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任何知道公钥机构的公钥的实体都可以验证</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pPr>
            <a:r>
              <a:rPr lang="en-US" altLang="zh-CN" sz="2000" b="1" dirty="0">
                <a:latin typeface="Times New Roman" panose="02020603050405020304" pitchFamily="18" charset="0"/>
                <a:cs typeface="Times New Roman" panose="02020603050405020304" pitchFamily="18" charset="0"/>
              </a:rPr>
              <a:t>X.509 </a:t>
            </a:r>
            <a:r>
              <a:rPr lang="zh-CN" altLang="en-US" sz="2000" b="1" dirty="0">
                <a:latin typeface="Times New Roman" panose="02020603050405020304" pitchFamily="18" charset="0"/>
                <a:cs typeface="Times New Roman" panose="02020603050405020304" pitchFamily="18" charset="0"/>
              </a:rPr>
              <a:t>标准</a:t>
            </a:r>
            <a:r>
              <a:rPr lang="zh-CN" altLang="en-US" sz="2000" dirty="0">
                <a:latin typeface="Times New Roman" panose="02020603050405020304" pitchFamily="18" charset="0"/>
                <a:cs typeface="Times New Roman" panose="02020603050405020304" pitchFamily="18" charset="0"/>
              </a:rPr>
              <a:t>已被普遍接受用于格式化公钥证书</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30000"/>
              </a:lnSpc>
              <a:spcBef>
                <a:spcPts val="600"/>
              </a:spcBef>
              <a:buFont typeface="Wingdings" panose="05000000000000000000" pitchFamily="2" charset="2"/>
              <a:buChar char="l"/>
            </a:pPr>
            <a:r>
              <a:rPr lang="en-US" altLang="zh-CN" sz="2000" b="1" dirty="0">
                <a:latin typeface="Times New Roman" panose="02020603050405020304" pitchFamily="18" charset="0"/>
                <a:cs typeface="Times New Roman" panose="02020603050405020304" pitchFamily="18" charset="0"/>
              </a:rPr>
              <a:t>X.509 </a:t>
            </a:r>
            <a:r>
              <a:rPr lang="zh-CN" altLang="en-US" sz="2000" b="1" dirty="0">
                <a:latin typeface="Times New Roman" panose="02020603050405020304" pitchFamily="18" charset="0"/>
                <a:cs typeface="Times New Roman" panose="02020603050405020304" pitchFamily="18" charset="0"/>
              </a:rPr>
              <a:t>证书</a:t>
            </a:r>
            <a:endParaRPr lang="en-US" altLang="zh-CN" sz="2000" b="1" dirty="0">
              <a:latin typeface="Times New Roman" panose="02020603050405020304" pitchFamily="18" charset="0"/>
              <a:cs typeface="Times New Roman" panose="02020603050405020304" pitchFamily="18" charset="0"/>
            </a:endParaRPr>
          </a:p>
          <a:p>
            <a:pPr marL="800100" lvl="1" indent="-3429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由</a:t>
            </a:r>
            <a:r>
              <a:rPr lang="en-US" altLang="zh-CN" sz="2000" dirty="0">
                <a:latin typeface="Times New Roman" panose="02020603050405020304" pitchFamily="18" charset="0"/>
                <a:cs typeface="Times New Roman" panose="02020603050405020304" pitchFamily="18" charset="0"/>
              </a:rPr>
              <a:t>ITU-T</a:t>
            </a:r>
            <a:r>
              <a:rPr lang="zh-CN" altLang="en-US" sz="2000" dirty="0">
                <a:latin typeface="Times New Roman" panose="02020603050405020304" pitchFamily="18" charset="0"/>
                <a:cs typeface="Times New Roman" panose="02020603050405020304" pitchFamily="18" charset="0"/>
              </a:rPr>
              <a:t>制定，是</a:t>
            </a:r>
            <a:r>
              <a:rPr lang="en-US" altLang="zh-CN" sz="2000" dirty="0">
                <a:latin typeface="Times New Roman" panose="02020603050405020304" pitchFamily="18" charset="0"/>
                <a:cs typeface="Times New Roman" panose="02020603050405020304" pitchFamily="18" charset="0"/>
              </a:rPr>
              <a:t>X.500</a:t>
            </a:r>
            <a:r>
              <a:rPr lang="zh-CN" altLang="en-US" sz="2000" dirty="0">
                <a:latin typeface="Times New Roman" panose="02020603050405020304" pitchFamily="18" charset="0"/>
                <a:cs typeface="Times New Roman" panose="02020603050405020304" pitchFamily="18" charset="0"/>
              </a:rPr>
              <a:t>目录服务标准的一部分，</a:t>
            </a:r>
          </a:p>
          <a:p>
            <a:pPr marL="800100" lvl="1" indent="-342900" algn="just">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被用于大多数网络安全应用，包括 </a:t>
            </a:r>
            <a:r>
              <a:rPr lang="en-US" altLang="zh-CN" sz="2000" dirty="0">
                <a:latin typeface="Times New Roman" panose="02020603050405020304" pitchFamily="18" charset="0"/>
                <a:cs typeface="Times New Roman" panose="02020603050405020304" pitchFamily="18" charset="0"/>
              </a:rPr>
              <a:t>IP </a:t>
            </a:r>
            <a:r>
              <a:rPr lang="zh-CN" altLang="en-US" sz="2000" dirty="0">
                <a:latin typeface="Times New Roman" panose="02020603050405020304" pitchFamily="18" charset="0"/>
                <a:cs typeface="Times New Roman" panose="02020603050405020304" pitchFamily="18" charset="0"/>
              </a:rPr>
              <a:t>安全、安全套接字协议</a:t>
            </a:r>
            <a:r>
              <a:rPr lang="en-US" altLang="zh-CN" sz="2000" dirty="0">
                <a:latin typeface="Times New Roman" panose="02020603050405020304" pitchFamily="18" charset="0"/>
                <a:cs typeface="Times New Roman" panose="02020603050405020304" pitchFamily="18" charset="0"/>
              </a:rPr>
              <a:t>(SSL)</a:t>
            </a:r>
            <a:r>
              <a:rPr lang="zh-CN" altLang="en-US" sz="2000" dirty="0">
                <a:latin typeface="Times New Roman" panose="02020603050405020304" pitchFamily="18" charset="0"/>
                <a:cs typeface="Times New Roman" panose="02020603050405020304" pitchFamily="18" charset="0"/>
              </a:rPr>
              <a:t>和</a:t>
            </a:r>
            <a:r>
              <a:rPr lang="zh-CN" altLang="en-US" sz="2000" b="0" i="0" dirty="0">
                <a:solidFill>
                  <a:srgbClr val="333333"/>
                </a:solidFill>
                <a:effectLst/>
                <a:latin typeface="Arial" panose="020B0604020202020204" pitchFamily="34" charset="0"/>
              </a:rPr>
              <a:t>多用途网际邮件扩充协议</a:t>
            </a:r>
            <a:r>
              <a:rPr lang="en-US" altLang="zh-CN" sz="2000" b="0" i="0" dirty="0">
                <a:solidFill>
                  <a:srgbClr val="333333"/>
                </a:solidFill>
                <a:effectLst/>
                <a:latin typeface="Arial" panose="020B0604020202020204" pitchFamily="34" charset="0"/>
              </a:rPr>
              <a:t>(</a:t>
            </a:r>
            <a:r>
              <a:rPr lang="en-US" altLang="zh-CN" sz="2000" dirty="0">
                <a:latin typeface="Times New Roman" panose="02020603050405020304" pitchFamily="18" charset="0"/>
                <a:cs typeface="Times New Roman" panose="02020603050405020304" pitchFamily="18" charset="0"/>
              </a:rPr>
              <a:t>S/MIME)</a:t>
            </a:r>
            <a:r>
              <a:rPr lang="zh-CN" altLang="en-US" sz="2000" dirty="0">
                <a:latin typeface="Times New Roman" panose="02020603050405020304" pitchFamily="18" charset="0"/>
                <a:cs typeface="Times New Roman" panose="02020603050405020304" pitchFamily="18" charset="0"/>
              </a:rPr>
              <a:t>。</a:t>
            </a: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3.4 </a:t>
            </a:r>
            <a:r>
              <a:rPr lang="zh-CN" altLang="en-US" sz="2400" b="1" dirty="0">
                <a:solidFill>
                  <a:srgbClr val="FF0000"/>
                </a:solidFill>
                <a:latin typeface="+mn-ea"/>
              </a:rPr>
              <a:t>基于公钥证书的认证技术</a:t>
            </a:r>
          </a:p>
        </p:txBody>
      </p:sp>
    </p:spTree>
    <p:extLst>
      <p:ext uri="{BB962C8B-B14F-4D97-AF65-F5344CB8AC3E}">
        <p14:creationId xmlns:p14="http://schemas.microsoft.com/office/powerpoint/2010/main" val="3399864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33</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312517" y="1654626"/>
            <a:ext cx="4121347" cy="4445897"/>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定义了认证服务的框架 </a:t>
            </a:r>
          </a:p>
          <a:p>
            <a:pPr marL="800100" lvl="1" indent="-342900">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目录可以存储公钥证书</a:t>
            </a:r>
          </a:p>
          <a:p>
            <a:pPr marL="800100" lvl="1" indent="-342900">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用户公钥由认证机构签署</a:t>
            </a:r>
          </a:p>
          <a:p>
            <a:pPr marL="342900" indent="-3429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定义了认证协议 </a:t>
            </a:r>
          </a:p>
          <a:p>
            <a:pPr marL="342900" indent="-3429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基于公钥加密和数字签名</a:t>
            </a:r>
          </a:p>
          <a:p>
            <a:pPr marL="800100" lvl="1" indent="-342900">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算法没有标准化</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推荐使用</a:t>
            </a:r>
            <a:r>
              <a:rPr lang="en-US" altLang="zh-CN" sz="2000" dirty="0">
                <a:latin typeface="Times New Roman" panose="02020603050405020304" pitchFamily="18" charset="0"/>
                <a:cs typeface="Times New Roman" panose="02020603050405020304" pitchFamily="18" charset="0"/>
              </a:rPr>
              <a:t>RSA</a:t>
            </a:r>
            <a:r>
              <a:rPr lang="zh-CN" altLang="en-US" sz="2000" dirty="0">
                <a:latin typeface="Times New Roman" panose="02020603050405020304" pitchFamily="18" charset="0"/>
                <a:cs typeface="Times New Roman" panose="02020603050405020304" pitchFamily="18" charset="0"/>
              </a:rPr>
              <a:t>算法</a:t>
            </a:r>
          </a:p>
          <a:p>
            <a:pPr marL="342900" indent="-3429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被广泛使用</a:t>
            </a:r>
          </a:p>
          <a:p>
            <a:pPr marL="800100" lvl="1" indent="-342900">
              <a:lnSpc>
                <a:spcPct val="12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有</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个版本 </a:t>
            </a:r>
          </a:p>
          <a:p>
            <a:pPr>
              <a:lnSpc>
                <a:spcPct val="120000"/>
              </a:lnSpc>
              <a:spcBef>
                <a:spcPts val="600"/>
              </a:spcBef>
            </a:pPr>
            <a:endParaRPr lang="zh-CN" altLang="en-US" sz="20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X.509 </a:t>
            </a:r>
            <a:r>
              <a:rPr lang="zh-CN" altLang="en-US" sz="2400" b="1" dirty="0">
                <a:solidFill>
                  <a:srgbClr val="0000FF"/>
                </a:solidFill>
                <a:latin typeface="Times New Roman" panose="02020603050405020304" pitchFamily="18" charset="0"/>
                <a:cs typeface="Times New Roman" panose="02020603050405020304" pitchFamily="18" charset="0"/>
              </a:rPr>
              <a:t>证书：格式</a:t>
            </a:r>
          </a:p>
        </p:txBody>
      </p:sp>
      <p:grpSp>
        <p:nvGrpSpPr>
          <p:cNvPr id="7" name="组合 6">
            <a:extLst>
              <a:ext uri="{FF2B5EF4-FFF2-40B4-BE49-F238E27FC236}">
                <a16:creationId xmlns:a16="http://schemas.microsoft.com/office/drawing/2014/main" id="{795AC4CB-93EC-45F4-84B6-8A02D1D4ABA2}"/>
              </a:ext>
            </a:extLst>
          </p:cNvPr>
          <p:cNvGrpSpPr/>
          <p:nvPr/>
        </p:nvGrpSpPr>
        <p:grpSpPr>
          <a:xfrm>
            <a:off x="4327012" y="1471058"/>
            <a:ext cx="4455262" cy="4775376"/>
            <a:chOff x="312517" y="1568758"/>
            <a:chExt cx="4455262" cy="4775376"/>
          </a:xfrm>
        </p:grpSpPr>
        <p:grpSp>
          <p:nvGrpSpPr>
            <p:cNvPr id="8" name="组合 7">
              <a:extLst>
                <a:ext uri="{FF2B5EF4-FFF2-40B4-BE49-F238E27FC236}">
                  <a16:creationId xmlns:a16="http://schemas.microsoft.com/office/drawing/2014/main" id="{DC5060E3-801B-4AA6-B580-0F81255032EE}"/>
                </a:ext>
              </a:extLst>
            </p:cNvPr>
            <p:cNvGrpSpPr/>
            <p:nvPr/>
          </p:nvGrpSpPr>
          <p:grpSpPr>
            <a:xfrm>
              <a:off x="1556033" y="1568758"/>
              <a:ext cx="2026983" cy="4762193"/>
              <a:chOff x="1198819" y="1494821"/>
              <a:chExt cx="2026983" cy="4762193"/>
            </a:xfrm>
          </p:grpSpPr>
          <p:sp>
            <p:nvSpPr>
              <p:cNvPr id="25" name="矩形 24">
                <a:extLst>
                  <a:ext uri="{FF2B5EF4-FFF2-40B4-BE49-F238E27FC236}">
                    <a16:creationId xmlns:a16="http://schemas.microsoft.com/office/drawing/2014/main" id="{D89C351D-BD91-4C69-B0E5-7BD4E7025358}"/>
                  </a:ext>
                </a:extLst>
              </p:cNvPr>
              <p:cNvSpPr>
                <a:spLocks noChangeAspect="1"/>
              </p:cNvSpPr>
              <p:nvPr/>
            </p:nvSpPr>
            <p:spPr>
              <a:xfrm rot="10800000" flipV="1">
                <a:off x="1198820" y="1494821"/>
                <a:ext cx="2026979" cy="307425"/>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solidFill>
                      <a:schemeClr val="tx1"/>
                    </a:solidFill>
                  </a:rPr>
                  <a:t>版本</a:t>
                </a:r>
              </a:p>
            </p:txBody>
          </p:sp>
          <p:sp>
            <p:nvSpPr>
              <p:cNvPr id="26" name="矩形 25">
                <a:extLst>
                  <a:ext uri="{FF2B5EF4-FFF2-40B4-BE49-F238E27FC236}">
                    <a16:creationId xmlns:a16="http://schemas.microsoft.com/office/drawing/2014/main" id="{382D3970-C6C2-43CE-8B44-3DA786029778}"/>
                  </a:ext>
                </a:extLst>
              </p:cNvPr>
              <p:cNvSpPr>
                <a:spLocks noChangeAspect="1"/>
              </p:cNvSpPr>
              <p:nvPr/>
            </p:nvSpPr>
            <p:spPr>
              <a:xfrm rot="10800000" flipV="1">
                <a:off x="1198820" y="1796226"/>
                <a:ext cx="2026979" cy="307425"/>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solidFill>
                      <a:schemeClr val="tx1"/>
                    </a:solidFill>
                  </a:rPr>
                  <a:t>证书序列号</a:t>
                </a:r>
              </a:p>
            </p:txBody>
          </p:sp>
          <p:sp>
            <p:nvSpPr>
              <p:cNvPr id="27" name="矩形 26">
                <a:extLst>
                  <a:ext uri="{FF2B5EF4-FFF2-40B4-BE49-F238E27FC236}">
                    <a16:creationId xmlns:a16="http://schemas.microsoft.com/office/drawing/2014/main" id="{A66E0F30-C57E-4D2C-BA3D-37254F7B211B}"/>
                  </a:ext>
                </a:extLst>
              </p:cNvPr>
              <p:cNvSpPr>
                <a:spLocks noChangeAspect="1"/>
              </p:cNvSpPr>
              <p:nvPr/>
            </p:nvSpPr>
            <p:spPr>
              <a:xfrm rot="10800000" flipV="1">
                <a:off x="1198823" y="2089638"/>
                <a:ext cx="2026979" cy="540798"/>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600" dirty="0">
                    <a:solidFill>
                      <a:schemeClr val="tx1"/>
                    </a:solidFill>
                  </a:rPr>
                  <a:t>算法</a:t>
                </a:r>
                <a:endParaRPr lang="en-US" altLang="zh-CN" sz="1600" dirty="0">
                  <a:solidFill>
                    <a:schemeClr val="tx1"/>
                  </a:solidFill>
                </a:endParaRPr>
              </a:p>
              <a:p>
                <a:pPr algn="ctr">
                  <a:spcBef>
                    <a:spcPts val="300"/>
                  </a:spcBef>
                </a:pPr>
                <a:r>
                  <a:rPr lang="zh-CN" altLang="en-US" sz="1600" dirty="0">
                    <a:solidFill>
                      <a:schemeClr val="tx1"/>
                    </a:solidFill>
                  </a:rPr>
                  <a:t>参数</a:t>
                </a:r>
              </a:p>
            </p:txBody>
          </p:sp>
          <p:cxnSp>
            <p:nvCxnSpPr>
              <p:cNvPr id="28" name="直接连接符 27">
                <a:extLst>
                  <a:ext uri="{FF2B5EF4-FFF2-40B4-BE49-F238E27FC236}">
                    <a16:creationId xmlns:a16="http://schemas.microsoft.com/office/drawing/2014/main" id="{3253EC2D-651D-45C9-85D9-8673531CA2F7}"/>
                  </a:ext>
                </a:extLst>
              </p:cNvPr>
              <p:cNvCxnSpPr>
                <a:stCxn id="27" idx="3"/>
                <a:endCxn id="27" idx="1"/>
              </p:cNvCxnSpPr>
              <p:nvPr/>
            </p:nvCxnSpPr>
            <p:spPr>
              <a:xfrm>
                <a:off x="1198823" y="2360037"/>
                <a:ext cx="2026979" cy="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29" name="矩形 28">
                <a:extLst>
                  <a:ext uri="{FF2B5EF4-FFF2-40B4-BE49-F238E27FC236}">
                    <a16:creationId xmlns:a16="http://schemas.microsoft.com/office/drawing/2014/main" id="{A6EE4C3B-E264-483F-B763-E5DB873FB2D4}"/>
                  </a:ext>
                </a:extLst>
              </p:cNvPr>
              <p:cNvSpPr>
                <a:spLocks noChangeAspect="1"/>
              </p:cNvSpPr>
              <p:nvPr/>
            </p:nvSpPr>
            <p:spPr>
              <a:xfrm rot="10800000" flipV="1">
                <a:off x="1198822" y="2624458"/>
                <a:ext cx="2026979" cy="307425"/>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solidFill>
                      <a:schemeClr val="tx1"/>
                    </a:solidFill>
                  </a:rPr>
                  <a:t>发行者名称</a:t>
                </a:r>
              </a:p>
            </p:txBody>
          </p:sp>
          <p:sp>
            <p:nvSpPr>
              <p:cNvPr id="30" name="矩形 29">
                <a:extLst>
                  <a:ext uri="{FF2B5EF4-FFF2-40B4-BE49-F238E27FC236}">
                    <a16:creationId xmlns:a16="http://schemas.microsoft.com/office/drawing/2014/main" id="{196DA671-F882-4F41-88BA-6A1EA197F0D1}"/>
                  </a:ext>
                </a:extLst>
              </p:cNvPr>
              <p:cNvSpPr>
                <a:spLocks noChangeAspect="1"/>
              </p:cNvSpPr>
              <p:nvPr/>
            </p:nvSpPr>
            <p:spPr>
              <a:xfrm rot="10800000" flipV="1">
                <a:off x="1198820" y="2934398"/>
                <a:ext cx="2026979" cy="513652"/>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600" dirty="0">
                    <a:solidFill>
                      <a:schemeClr val="tx1"/>
                    </a:solidFill>
                  </a:rPr>
                  <a:t>起止时间</a:t>
                </a:r>
                <a:endParaRPr lang="en-US" altLang="zh-CN" sz="1600" dirty="0">
                  <a:solidFill>
                    <a:schemeClr val="tx1"/>
                  </a:solidFill>
                </a:endParaRPr>
              </a:p>
              <a:p>
                <a:pPr algn="ctr"/>
                <a:r>
                  <a:rPr lang="zh-CN" altLang="en-US" sz="1600" dirty="0">
                    <a:solidFill>
                      <a:schemeClr val="tx1"/>
                    </a:solidFill>
                  </a:rPr>
                  <a:t>终止时间</a:t>
                </a:r>
              </a:p>
            </p:txBody>
          </p:sp>
          <p:cxnSp>
            <p:nvCxnSpPr>
              <p:cNvPr id="31" name="直接连接符 30">
                <a:extLst>
                  <a:ext uri="{FF2B5EF4-FFF2-40B4-BE49-F238E27FC236}">
                    <a16:creationId xmlns:a16="http://schemas.microsoft.com/office/drawing/2014/main" id="{A7E2DA7B-8AB5-4A12-B881-E09922F68190}"/>
                  </a:ext>
                </a:extLst>
              </p:cNvPr>
              <p:cNvCxnSpPr>
                <a:cxnSpLocks/>
                <a:stCxn id="30" idx="3"/>
                <a:endCxn id="30" idx="1"/>
              </p:cNvCxnSpPr>
              <p:nvPr/>
            </p:nvCxnSpPr>
            <p:spPr>
              <a:xfrm>
                <a:off x="1198820" y="3191224"/>
                <a:ext cx="2026979" cy="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32" name="矩形 31">
                <a:extLst>
                  <a:ext uri="{FF2B5EF4-FFF2-40B4-BE49-F238E27FC236}">
                    <a16:creationId xmlns:a16="http://schemas.microsoft.com/office/drawing/2014/main" id="{CFDF6F61-B104-43AB-A1AB-98A2AEBDBCE6}"/>
                  </a:ext>
                </a:extLst>
              </p:cNvPr>
              <p:cNvSpPr>
                <a:spLocks noChangeAspect="1"/>
              </p:cNvSpPr>
              <p:nvPr/>
            </p:nvSpPr>
            <p:spPr>
              <a:xfrm rot="10800000" flipV="1">
                <a:off x="1198820" y="3752013"/>
                <a:ext cx="2026979" cy="794588"/>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600" dirty="0">
                    <a:solidFill>
                      <a:schemeClr val="tx1"/>
                    </a:solidFill>
                  </a:rPr>
                  <a:t>算法</a:t>
                </a:r>
                <a:endParaRPr lang="en-US" altLang="zh-CN" sz="1600" dirty="0">
                  <a:solidFill>
                    <a:schemeClr val="tx1"/>
                  </a:solidFill>
                </a:endParaRPr>
              </a:p>
              <a:p>
                <a:pPr algn="ctr">
                  <a:spcBef>
                    <a:spcPts val="300"/>
                  </a:spcBef>
                </a:pPr>
                <a:r>
                  <a:rPr lang="zh-CN" altLang="en-US" sz="1600" dirty="0">
                    <a:solidFill>
                      <a:schemeClr val="tx1"/>
                    </a:solidFill>
                  </a:rPr>
                  <a:t>参数</a:t>
                </a:r>
                <a:endParaRPr lang="en-US" altLang="zh-CN" sz="1600" dirty="0">
                  <a:solidFill>
                    <a:schemeClr val="tx1"/>
                  </a:solidFill>
                </a:endParaRPr>
              </a:p>
              <a:p>
                <a:pPr algn="ctr">
                  <a:spcBef>
                    <a:spcPts val="300"/>
                  </a:spcBef>
                </a:pPr>
                <a:r>
                  <a:rPr lang="zh-CN" altLang="en-US" sz="1600" dirty="0">
                    <a:solidFill>
                      <a:schemeClr val="tx1"/>
                    </a:solidFill>
                  </a:rPr>
                  <a:t>公钥</a:t>
                </a:r>
              </a:p>
            </p:txBody>
          </p:sp>
          <p:sp>
            <p:nvSpPr>
              <p:cNvPr id="33" name="矩形 32">
                <a:extLst>
                  <a:ext uri="{FF2B5EF4-FFF2-40B4-BE49-F238E27FC236}">
                    <a16:creationId xmlns:a16="http://schemas.microsoft.com/office/drawing/2014/main" id="{7C36A701-1165-4A4D-BC09-A6678A039C0A}"/>
                  </a:ext>
                </a:extLst>
              </p:cNvPr>
              <p:cNvSpPr>
                <a:spLocks noChangeAspect="1"/>
              </p:cNvSpPr>
              <p:nvPr/>
            </p:nvSpPr>
            <p:spPr>
              <a:xfrm rot="10800000" flipV="1">
                <a:off x="1198820" y="3448051"/>
                <a:ext cx="2026979" cy="307425"/>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solidFill>
                      <a:schemeClr val="tx1"/>
                    </a:solidFill>
                  </a:rPr>
                  <a:t>主体名称</a:t>
                </a:r>
              </a:p>
            </p:txBody>
          </p:sp>
          <p:cxnSp>
            <p:nvCxnSpPr>
              <p:cNvPr id="34" name="直接连接符 33">
                <a:extLst>
                  <a:ext uri="{FF2B5EF4-FFF2-40B4-BE49-F238E27FC236}">
                    <a16:creationId xmlns:a16="http://schemas.microsoft.com/office/drawing/2014/main" id="{A2E74D86-0A31-488C-B957-29B3F1DB047D}"/>
                  </a:ext>
                </a:extLst>
              </p:cNvPr>
              <p:cNvCxnSpPr>
                <a:cxnSpLocks/>
              </p:cNvCxnSpPr>
              <p:nvPr/>
            </p:nvCxnSpPr>
            <p:spPr>
              <a:xfrm flipH="1">
                <a:off x="1198819" y="4017387"/>
                <a:ext cx="2026982"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5" name="直接连接符 34">
                <a:extLst>
                  <a:ext uri="{FF2B5EF4-FFF2-40B4-BE49-F238E27FC236}">
                    <a16:creationId xmlns:a16="http://schemas.microsoft.com/office/drawing/2014/main" id="{64BD4E66-E16E-4739-9E84-3D05A10EFBBA}"/>
                  </a:ext>
                </a:extLst>
              </p:cNvPr>
              <p:cNvCxnSpPr>
                <a:cxnSpLocks/>
              </p:cNvCxnSpPr>
              <p:nvPr/>
            </p:nvCxnSpPr>
            <p:spPr>
              <a:xfrm flipH="1">
                <a:off x="1198819" y="4296787"/>
                <a:ext cx="2026983" cy="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36" name="矩形 35">
                <a:extLst>
                  <a:ext uri="{FF2B5EF4-FFF2-40B4-BE49-F238E27FC236}">
                    <a16:creationId xmlns:a16="http://schemas.microsoft.com/office/drawing/2014/main" id="{E95281A4-F850-432F-A486-FFD9819211AD}"/>
                  </a:ext>
                </a:extLst>
              </p:cNvPr>
              <p:cNvSpPr>
                <a:spLocks noChangeAspect="1"/>
              </p:cNvSpPr>
              <p:nvPr/>
            </p:nvSpPr>
            <p:spPr>
              <a:xfrm rot="10800000" flipV="1">
                <a:off x="1198820" y="4546601"/>
                <a:ext cx="2026979" cy="307425"/>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solidFill>
                      <a:schemeClr val="tx1"/>
                    </a:solidFill>
                  </a:rPr>
                  <a:t>发行者唯一标识符</a:t>
                </a:r>
              </a:p>
            </p:txBody>
          </p:sp>
          <p:sp>
            <p:nvSpPr>
              <p:cNvPr id="37" name="矩形 36">
                <a:extLst>
                  <a:ext uri="{FF2B5EF4-FFF2-40B4-BE49-F238E27FC236}">
                    <a16:creationId xmlns:a16="http://schemas.microsoft.com/office/drawing/2014/main" id="{382DB2CB-1F6E-4825-A25A-0DB42F9B4139}"/>
                  </a:ext>
                </a:extLst>
              </p:cNvPr>
              <p:cNvSpPr>
                <a:spLocks noChangeAspect="1"/>
              </p:cNvSpPr>
              <p:nvPr/>
            </p:nvSpPr>
            <p:spPr>
              <a:xfrm rot="10800000" flipV="1">
                <a:off x="1198820" y="4851876"/>
                <a:ext cx="2026979" cy="307425"/>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solidFill>
                      <a:schemeClr val="tx1"/>
                    </a:solidFill>
                  </a:rPr>
                  <a:t>主体唯一标识符</a:t>
                </a:r>
              </a:p>
            </p:txBody>
          </p:sp>
          <p:sp>
            <p:nvSpPr>
              <p:cNvPr id="38" name="矩形 37">
                <a:extLst>
                  <a:ext uri="{FF2B5EF4-FFF2-40B4-BE49-F238E27FC236}">
                    <a16:creationId xmlns:a16="http://schemas.microsoft.com/office/drawing/2014/main" id="{E33D352B-C7B2-4937-BDB9-F1DF8B9BA75E}"/>
                  </a:ext>
                </a:extLst>
              </p:cNvPr>
              <p:cNvSpPr>
                <a:spLocks noChangeAspect="1"/>
              </p:cNvSpPr>
              <p:nvPr/>
            </p:nvSpPr>
            <p:spPr>
              <a:xfrm rot="10800000" flipV="1">
                <a:off x="1198820" y="5157151"/>
                <a:ext cx="2026979" cy="307425"/>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solidFill>
                      <a:schemeClr val="tx1"/>
                    </a:solidFill>
                  </a:rPr>
                  <a:t>扩充域</a:t>
                </a:r>
              </a:p>
            </p:txBody>
          </p:sp>
          <p:sp>
            <p:nvSpPr>
              <p:cNvPr id="39" name="矩形 38">
                <a:extLst>
                  <a:ext uri="{FF2B5EF4-FFF2-40B4-BE49-F238E27FC236}">
                    <a16:creationId xmlns:a16="http://schemas.microsoft.com/office/drawing/2014/main" id="{3FF4A683-0230-4BC5-824A-96C6B9A534B5}"/>
                  </a:ext>
                </a:extLst>
              </p:cNvPr>
              <p:cNvSpPr>
                <a:spLocks noChangeAspect="1"/>
              </p:cNvSpPr>
              <p:nvPr/>
            </p:nvSpPr>
            <p:spPr>
              <a:xfrm rot="10800000" flipV="1">
                <a:off x="1198820" y="5462426"/>
                <a:ext cx="2026979" cy="794588"/>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600" dirty="0">
                    <a:solidFill>
                      <a:schemeClr val="tx1"/>
                    </a:solidFill>
                  </a:rPr>
                  <a:t>算法</a:t>
                </a:r>
                <a:endParaRPr lang="en-US" altLang="zh-CN" sz="1600" dirty="0">
                  <a:solidFill>
                    <a:schemeClr val="tx1"/>
                  </a:solidFill>
                </a:endParaRPr>
              </a:p>
              <a:p>
                <a:pPr algn="ctr">
                  <a:spcBef>
                    <a:spcPts val="300"/>
                  </a:spcBef>
                </a:pPr>
                <a:r>
                  <a:rPr lang="zh-CN" altLang="en-US" sz="1600" dirty="0">
                    <a:solidFill>
                      <a:schemeClr val="tx1"/>
                    </a:solidFill>
                  </a:rPr>
                  <a:t>参数</a:t>
                </a:r>
                <a:endParaRPr lang="en-US" altLang="zh-CN" sz="1600" dirty="0">
                  <a:solidFill>
                    <a:schemeClr val="tx1"/>
                  </a:solidFill>
                </a:endParaRPr>
              </a:p>
              <a:p>
                <a:pPr algn="ctr">
                  <a:spcBef>
                    <a:spcPts val="300"/>
                  </a:spcBef>
                </a:pPr>
                <a:r>
                  <a:rPr lang="zh-CN" altLang="en-US" sz="1600" dirty="0">
                    <a:solidFill>
                      <a:schemeClr val="tx1"/>
                    </a:solidFill>
                  </a:rPr>
                  <a:t>加密哈希（签名）</a:t>
                </a:r>
              </a:p>
            </p:txBody>
          </p:sp>
          <p:cxnSp>
            <p:nvCxnSpPr>
              <p:cNvPr id="40" name="直接连接符 39">
                <a:extLst>
                  <a:ext uri="{FF2B5EF4-FFF2-40B4-BE49-F238E27FC236}">
                    <a16:creationId xmlns:a16="http://schemas.microsoft.com/office/drawing/2014/main" id="{820CE4D0-3D7E-489D-B119-269408315820}"/>
                  </a:ext>
                </a:extLst>
              </p:cNvPr>
              <p:cNvCxnSpPr>
                <a:cxnSpLocks/>
              </p:cNvCxnSpPr>
              <p:nvPr/>
            </p:nvCxnSpPr>
            <p:spPr>
              <a:xfrm flipH="1">
                <a:off x="1198819" y="5727800"/>
                <a:ext cx="2026982"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F5B9A87E-C23F-4126-984F-4BC93B016675}"/>
                  </a:ext>
                </a:extLst>
              </p:cNvPr>
              <p:cNvCxnSpPr>
                <a:cxnSpLocks/>
              </p:cNvCxnSpPr>
              <p:nvPr/>
            </p:nvCxnSpPr>
            <p:spPr>
              <a:xfrm flipH="1">
                <a:off x="1198819" y="6007200"/>
                <a:ext cx="2026982" cy="0"/>
              </a:xfrm>
              <a:prstGeom prst="line">
                <a:avLst/>
              </a:prstGeom>
              <a:ln w="12700">
                <a:prstDash val="dash"/>
              </a:ln>
            </p:spPr>
            <p:style>
              <a:lnRef idx="1">
                <a:schemeClr val="dk1"/>
              </a:lnRef>
              <a:fillRef idx="0">
                <a:schemeClr val="dk1"/>
              </a:fillRef>
              <a:effectRef idx="0">
                <a:schemeClr val="dk1"/>
              </a:effectRef>
              <a:fontRef idx="minor">
                <a:schemeClr val="tx1"/>
              </a:fontRef>
            </p:style>
          </p:cxnSp>
        </p:grpSp>
        <p:sp>
          <p:nvSpPr>
            <p:cNvPr id="9" name="文本框 8">
              <a:extLst>
                <a:ext uri="{FF2B5EF4-FFF2-40B4-BE49-F238E27FC236}">
                  <a16:creationId xmlns:a16="http://schemas.microsoft.com/office/drawing/2014/main" id="{150AB5BD-8502-4D8C-AC53-8FE68E392EEB}"/>
                </a:ext>
              </a:extLst>
            </p:cNvPr>
            <p:cNvSpPr txBox="1"/>
            <p:nvPr/>
          </p:nvSpPr>
          <p:spPr>
            <a:xfrm>
              <a:off x="315776" y="2090993"/>
              <a:ext cx="1121012" cy="646331"/>
            </a:xfrm>
            <a:prstGeom prst="rect">
              <a:avLst/>
            </a:prstGeom>
            <a:noFill/>
          </p:spPr>
          <p:txBody>
            <a:bodyPr wrap="square">
              <a:spAutoFit/>
            </a:bodyPr>
            <a:lstStyle/>
            <a:p>
              <a:pPr algn="ctr"/>
              <a:r>
                <a:rPr lang="zh-CN" altLang="en-US" dirty="0"/>
                <a:t>签名算法标识符</a:t>
              </a:r>
            </a:p>
          </p:txBody>
        </p:sp>
        <p:sp>
          <p:nvSpPr>
            <p:cNvPr id="10" name="左大括号 9">
              <a:extLst>
                <a:ext uri="{FF2B5EF4-FFF2-40B4-BE49-F238E27FC236}">
                  <a16:creationId xmlns:a16="http://schemas.microsoft.com/office/drawing/2014/main" id="{9FBE51AA-33A8-4B5E-AFFB-DAB9025CF83C}"/>
                </a:ext>
              </a:extLst>
            </p:cNvPr>
            <p:cNvSpPr/>
            <p:nvPr/>
          </p:nvSpPr>
          <p:spPr>
            <a:xfrm>
              <a:off x="1358822" y="2173571"/>
              <a:ext cx="155933" cy="520806"/>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A142CE23-665B-47A6-BD6C-A039AD1A8E1A}"/>
                </a:ext>
              </a:extLst>
            </p:cNvPr>
            <p:cNvSpPr txBox="1"/>
            <p:nvPr/>
          </p:nvSpPr>
          <p:spPr>
            <a:xfrm>
              <a:off x="312517" y="3080495"/>
              <a:ext cx="1121012" cy="369332"/>
            </a:xfrm>
            <a:prstGeom prst="rect">
              <a:avLst/>
            </a:prstGeom>
            <a:noFill/>
          </p:spPr>
          <p:txBody>
            <a:bodyPr wrap="square">
              <a:spAutoFit/>
            </a:bodyPr>
            <a:lstStyle/>
            <a:p>
              <a:pPr algn="ctr"/>
              <a:r>
                <a:rPr lang="zh-CN" altLang="en-US" dirty="0"/>
                <a:t>有效期</a:t>
              </a:r>
            </a:p>
          </p:txBody>
        </p:sp>
        <p:sp>
          <p:nvSpPr>
            <p:cNvPr id="12" name="左大括号 11">
              <a:extLst>
                <a:ext uri="{FF2B5EF4-FFF2-40B4-BE49-F238E27FC236}">
                  <a16:creationId xmlns:a16="http://schemas.microsoft.com/office/drawing/2014/main" id="{53325909-23AB-4A3A-B3FE-8518876FE16F}"/>
                </a:ext>
              </a:extLst>
            </p:cNvPr>
            <p:cNvSpPr/>
            <p:nvPr/>
          </p:nvSpPr>
          <p:spPr>
            <a:xfrm>
              <a:off x="1358822" y="3001183"/>
              <a:ext cx="155933" cy="5208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DE4D91CB-D00B-4135-BC8D-06434381B1E7}"/>
                </a:ext>
              </a:extLst>
            </p:cNvPr>
            <p:cNvSpPr txBox="1"/>
            <p:nvPr/>
          </p:nvSpPr>
          <p:spPr>
            <a:xfrm>
              <a:off x="312517" y="3900078"/>
              <a:ext cx="1121012" cy="646331"/>
            </a:xfrm>
            <a:prstGeom prst="rect">
              <a:avLst/>
            </a:prstGeom>
            <a:noFill/>
          </p:spPr>
          <p:txBody>
            <a:bodyPr wrap="square">
              <a:spAutoFit/>
            </a:bodyPr>
            <a:lstStyle/>
            <a:p>
              <a:pPr algn="ctr"/>
              <a:r>
                <a:rPr lang="zh-CN" altLang="en-US" dirty="0"/>
                <a:t>主体公钥信息</a:t>
              </a:r>
            </a:p>
          </p:txBody>
        </p:sp>
        <p:sp>
          <p:nvSpPr>
            <p:cNvPr id="14" name="左大括号 13">
              <a:extLst>
                <a:ext uri="{FF2B5EF4-FFF2-40B4-BE49-F238E27FC236}">
                  <a16:creationId xmlns:a16="http://schemas.microsoft.com/office/drawing/2014/main" id="{190F638C-37A6-411C-81A9-F4FE689B478E}"/>
                </a:ext>
              </a:extLst>
            </p:cNvPr>
            <p:cNvSpPr/>
            <p:nvPr/>
          </p:nvSpPr>
          <p:spPr>
            <a:xfrm>
              <a:off x="1358822" y="3825950"/>
              <a:ext cx="155933" cy="79458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E8E7FA5A-1E5E-4DEE-9A08-695FF8EE5CA5}"/>
                </a:ext>
              </a:extLst>
            </p:cNvPr>
            <p:cNvSpPr txBox="1"/>
            <p:nvPr/>
          </p:nvSpPr>
          <p:spPr>
            <a:xfrm>
              <a:off x="312517" y="5741461"/>
              <a:ext cx="1121012" cy="369332"/>
            </a:xfrm>
            <a:prstGeom prst="rect">
              <a:avLst/>
            </a:prstGeom>
            <a:noFill/>
          </p:spPr>
          <p:txBody>
            <a:bodyPr wrap="square">
              <a:spAutoFit/>
            </a:bodyPr>
            <a:lstStyle/>
            <a:p>
              <a:pPr algn="ctr"/>
              <a:r>
                <a:rPr lang="zh-CN" altLang="en-US" dirty="0"/>
                <a:t>签名</a:t>
              </a:r>
            </a:p>
          </p:txBody>
        </p:sp>
        <p:sp>
          <p:nvSpPr>
            <p:cNvPr id="16" name="左大括号 15">
              <a:extLst>
                <a:ext uri="{FF2B5EF4-FFF2-40B4-BE49-F238E27FC236}">
                  <a16:creationId xmlns:a16="http://schemas.microsoft.com/office/drawing/2014/main" id="{F125511E-8B84-42BC-B1C6-1B8E07947256}"/>
                </a:ext>
              </a:extLst>
            </p:cNvPr>
            <p:cNvSpPr/>
            <p:nvPr/>
          </p:nvSpPr>
          <p:spPr>
            <a:xfrm>
              <a:off x="1358822" y="5533656"/>
              <a:ext cx="155933" cy="794589"/>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10624663-60B6-408E-8561-5158087FFD81}"/>
                </a:ext>
              </a:extLst>
            </p:cNvPr>
            <p:cNvCxnSpPr>
              <a:cxnSpLocks/>
            </p:cNvCxnSpPr>
            <p:nvPr/>
          </p:nvCxnSpPr>
          <p:spPr>
            <a:xfrm>
              <a:off x="3967559" y="1568758"/>
              <a:ext cx="0" cy="305178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8" name="文本框 17">
              <a:extLst>
                <a:ext uri="{FF2B5EF4-FFF2-40B4-BE49-F238E27FC236}">
                  <a16:creationId xmlns:a16="http://schemas.microsoft.com/office/drawing/2014/main" id="{52113B02-31EF-4D48-B7C5-76B08677D8D7}"/>
                </a:ext>
              </a:extLst>
            </p:cNvPr>
            <p:cNvSpPr txBox="1"/>
            <p:nvPr/>
          </p:nvSpPr>
          <p:spPr>
            <a:xfrm>
              <a:off x="3567449" y="2807996"/>
              <a:ext cx="400110" cy="630942"/>
            </a:xfrm>
            <a:prstGeom prst="rect">
              <a:avLst/>
            </a:prstGeom>
            <a:noFill/>
          </p:spPr>
          <p:txBody>
            <a:bodyPr vert="eaVert" wrap="none" rtlCol="0">
              <a:spAutoFit/>
            </a:bodyPr>
            <a:lstStyle/>
            <a:p>
              <a:r>
                <a:rPr lang="zh-CN" altLang="en-US" sz="1400" dirty="0"/>
                <a:t>第一版</a:t>
              </a:r>
            </a:p>
          </p:txBody>
        </p:sp>
        <p:cxnSp>
          <p:nvCxnSpPr>
            <p:cNvPr id="19" name="直接箭头连接符 18">
              <a:extLst>
                <a:ext uri="{FF2B5EF4-FFF2-40B4-BE49-F238E27FC236}">
                  <a16:creationId xmlns:a16="http://schemas.microsoft.com/office/drawing/2014/main" id="{8E3565A1-1D0F-485B-ACB8-BBC674869873}"/>
                </a:ext>
              </a:extLst>
            </p:cNvPr>
            <p:cNvCxnSpPr>
              <a:cxnSpLocks/>
            </p:cNvCxnSpPr>
            <p:nvPr/>
          </p:nvCxnSpPr>
          <p:spPr>
            <a:xfrm>
              <a:off x="4322642" y="1568758"/>
              <a:ext cx="0" cy="366233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0" name="文本框 19">
              <a:extLst>
                <a:ext uri="{FF2B5EF4-FFF2-40B4-BE49-F238E27FC236}">
                  <a16:creationId xmlns:a16="http://schemas.microsoft.com/office/drawing/2014/main" id="{7ED6BF3D-2BFC-4E25-89CB-69E6AB8EBBF9}"/>
                </a:ext>
              </a:extLst>
            </p:cNvPr>
            <p:cNvSpPr txBox="1"/>
            <p:nvPr/>
          </p:nvSpPr>
          <p:spPr>
            <a:xfrm>
              <a:off x="3967559" y="3067245"/>
              <a:ext cx="400110" cy="630942"/>
            </a:xfrm>
            <a:prstGeom prst="rect">
              <a:avLst/>
            </a:prstGeom>
            <a:noFill/>
          </p:spPr>
          <p:txBody>
            <a:bodyPr vert="eaVert" wrap="none" rtlCol="0">
              <a:spAutoFit/>
            </a:bodyPr>
            <a:lstStyle/>
            <a:p>
              <a:r>
                <a:rPr lang="zh-CN" altLang="en-US" sz="1400" dirty="0"/>
                <a:t>第二版</a:t>
              </a:r>
            </a:p>
          </p:txBody>
        </p:sp>
        <p:cxnSp>
          <p:nvCxnSpPr>
            <p:cNvPr id="21" name="直接箭头连接符 20">
              <a:extLst>
                <a:ext uri="{FF2B5EF4-FFF2-40B4-BE49-F238E27FC236}">
                  <a16:creationId xmlns:a16="http://schemas.microsoft.com/office/drawing/2014/main" id="{2B1083D1-F238-46EE-A59B-36BF6A766B35}"/>
                </a:ext>
              </a:extLst>
            </p:cNvPr>
            <p:cNvCxnSpPr>
              <a:cxnSpLocks/>
            </p:cNvCxnSpPr>
            <p:nvPr/>
          </p:nvCxnSpPr>
          <p:spPr>
            <a:xfrm flipH="1">
              <a:off x="4704110" y="1568758"/>
              <a:ext cx="15568" cy="3964898"/>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2" name="文本框 21">
              <a:extLst>
                <a:ext uri="{FF2B5EF4-FFF2-40B4-BE49-F238E27FC236}">
                  <a16:creationId xmlns:a16="http://schemas.microsoft.com/office/drawing/2014/main" id="{9521E24E-9C69-4F6F-85B5-1D2B79DCB759}"/>
                </a:ext>
              </a:extLst>
            </p:cNvPr>
            <p:cNvSpPr txBox="1"/>
            <p:nvPr/>
          </p:nvSpPr>
          <p:spPr>
            <a:xfrm>
              <a:off x="4324581" y="3318518"/>
              <a:ext cx="443198" cy="630942"/>
            </a:xfrm>
            <a:prstGeom prst="rect">
              <a:avLst/>
            </a:prstGeom>
            <a:noFill/>
          </p:spPr>
          <p:txBody>
            <a:bodyPr vert="eaVert" wrap="none" rtlCol="0">
              <a:spAutoFit/>
            </a:bodyPr>
            <a:lstStyle/>
            <a:p>
              <a:pPr>
                <a:lnSpc>
                  <a:spcPct val="120000"/>
                </a:lnSpc>
              </a:pPr>
              <a:r>
                <a:rPr lang="zh-CN" altLang="en-US" sz="1400" dirty="0"/>
                <a:t>第三版</a:t>
              </a:r>
            </a:p>
          </p:txBody>
        </p:sp>
        <p:cxnSp>
          <p:nvCxnSpPr>
            <p:cNvPr id="23" name="直接箭头连接符 22">
              <a:extLst>
                <a:ext uri="{FF2B5EF4-FFF2-40B4-BE49-F238E27FC236}">
                  <a16:creationId xmlns:a16="http://schemas.microsoft.com/office/drawing/2014/main" id="{04A93EA1-C5C4-45BA-8508-B4BB1726CFE1}"/>
                </a:ext>
              </a:extLst>
            </p:cNvPr>
            <p:cNvCxnSpPr>
              <a:cxnSpLocks/>
            </p:cNvCxnSpPr>
            <p:nvPr/>
          </p:nvCxnSpPr>
          <p:spPr>
            <a:xfrm flipV="1">
              <a:off x="3767504" y="5533656"/>
              <a:ext cx="0" cy="794589"/>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4" name="文本框 23">
              <a:extLst>
                <a:ext uri="{FF2B5EF4-FFF2-40B4-BE49-F238E27FC236}">
                  <a16:creationId xmlns:a16="http://schemas.microsoft.com/office/drawing/2014/main" id="{BCBD6711-E7CF-4ACA-AA87-06A61075B320}"/>
                </a:ext>
              </a:extLst>
            </p:cNvPr>
            <p:cNvSpPr txBox="1"/>
            <p:nvPr/>
          </p:nvSpPr>
          <p:spPr>
            <a:xfrm>
              <a:off x="3757532" y="5533656"/>
              <a:ext cx="400110" cy="810478"/>
            </a:xfrm>
            <a:prstGeom prst="rect">
              <a:avLst/>
            </a:prstGeom>
            <a:noFill/>
          </p:spPr>
          <p:txBody>
            <a:bodyPr vert="eaVert" wrap="none" rtlCol="0">
              <a:spAutoFit/>
            </a:bodyPr>
            <a:lstStyle/>
            <a:p>
              <a:r>
                <a:rPr lang="zh-CN" altLang="en-US" sz="1400" dirty="0"/>
                <a:t>所有版本</a:t>
              </a:r>
            </a:p>
          </p:txBody>
        </p:sp>
      </p:grpSp>
    </p:spTree>
    <p:extLst>
      <p:ext uri="{BB962C8B-B14F-4D97-AF65-F5344CB8AC3E}">
        <p14:creationId xmlns:p14="http://schemas.microsoft.com/office/powerpoint/2010/main" val="8642372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34</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4958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X.509 </a:t>
            </a:r>
            <a:r>
              <a:rPr lang="zh-CN" altLang="en-US" sz="2400" b="1" dirty="0">
                <a:solidFill>
                  <a:srgbClr val="0000FF"/>
                </a:solidFill>
                <a:latin typeface="Times New Roman" panose="02020603050405020304" pitchFamily="18" charset="0"/>
                <a:cs typeface="Times New Roman" panose="02020603050405020304" pitchFamily="18" charset="0"/>
              </a:rPr>
              <a:t>证书：使用方式</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cxnSp>
        <p:nvCxnSpPr>
          <p:cNvPr id="9" name="直接箭头连接符 8">
            <a:extLst>
              <a:ext uri="{FF2B5EF4-FFF2-40B4-BE49-F238E27FC236}">
                <a16:creationId xmlns:a16="http://schemas.microsoft.com/office/drawing/2014/main" id="{FC06EE7D-CC5E-4ED0-9DA9-FA310003F896}"/>
              </a:ext>
            </a:extLst>
          </p:cNvPr>
          <p:cNvCxnSpPr>
            <a:cxnSpLocks/>
            <a:stCxn id="14" idx="1"/>
            <a:endCxn id="18" idx="1"/>
          </p:cNvCxnSpPr>
          <p:nvPr/>
        </p:nvCxnSpPr>
        <p:spPr>
          <a:xfrm flipV="1">
            <a:off x="1991800" y="3707981"/>
            <a:ext cx="546841" cy="197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连接符: 肘形 11">
            <a:extLst>
              <a:ext uri="{FF2B5EF4-FFF2-40B4-BE49-F238E27FC236}">
                <a16:creationId xmlns:a16="http://schemas.microsoft.com/office/drawing/2014/main" id="{89D4032E-9835-48B1-B3E5-D1F9E39ED878}"/>
              </a:ext>
            </a:extLst>
          </p:cNvPr>
          <p:cNvCxnSpPr>
            <a:cxnSpLocks/>
            <a:endCxn id="11" idx="0"/>
          </p:cNvCxnSpPr>
          <p:nvPr/>
        </p:nvCxnSpPr>
        <p:spPr>
          <a:xfrm rot="10800000" flipV="1">
            <a:off x="1281414" y="2452995"/>
            <a:ext cx="2221746" cy="28572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14" name="矩形 13">
            <a:extLst>
              <a:ext uri="{FF2B5EF4-FFF2-40B4-BE49-F238E27FC236}">
                <a16:creationId xmlns:a16="http://schemas.microsoft.com/office/drawing/2014/main" id="{0B6BF4B9-931F-4A6E-873A-5C91E1A7844A}"/>
              </a:ext>
            </a:extLst>
          </p:cNvPr>
          <p:cNvSpPr>
            <a:spLocks noChangeAspect="1"/>
          </p:cNvSpPr>
          <p:nvPr/>
        </p:nvSpPr>
        <p:spPr>
          <a:xfrm rot="10800000">
            <a:off x="571027" y="3511702"/>
            <a:ext cx="1420773" cy="432000"/>
          </a:xfrm>
          <a:prstGeom prst="rect">
            <a:avLst/>
          </a:prstGeom>
          <a:solidFill>
            <a:schemeClr val="tx2">
              <a:lumMod val="20000"/>
              <a:lumOff val="8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2400" dirty="0"/>
          </a:p>
        </p:txBody>
      </p:sp>
      <p:sp>
        <p:nvSpPr>
          <p:cNvPr id="16" name="文本框 15">
            <a:extLst>
              <a:ext uri="{FF2B5EF4-FFF2-40B4-BE49-F238E27FC236}">
                <a16:creationId xmlns:a16="http://schemas.microsoft.com/office/drawing/2014/main" id="{2C7FBC23-411F-46CD-974A-FE739666FBD5}"/>
              </a:ext>
            </a:extLst>
          </p:cNvPr>
          <p:cNvSpPr txBox="1"/>
          <p:nvPr/>
        </p:nvSpPr>
        <p:spPr>
          <a:xfrm>
            <a:off x="312517" y="3910281"/>
            <a:ext cx="1887890" cy="338554"/>
          </a:xfrm>
          <a:prstGeom prst="rect">
            <a:avLst/>
          </a:prstGeom>
          <a:noFill/>
        </p:spPr>
        <p:txBody>
          <a:bodyPr wrap="square">
            <a:spAutoFit/>
          </a:bodyPr>
          <a:lstStyle/>
          <a:p>
            <a:pPr algn="ctr"/>
            <a:r>
              <a:rPr lang="zh-CN" altLang="en-US" sz="1600" i="0" dirty="0">
                <a:solidFill>
                  <a:srgbClr val="2A2B2E"/>
                </a:solidFill>
                <a:effectLst/>
                <a:latin typeface="PingFang SC"/>
              </a:rPr>
              <a:t>未签名证书的哈希</a:t>
            </a:r>
            <a:endParaRPr lang="zh-CN" altLang="en-US" sz="1600" dirty="0"/>
          </a:p>
        </p:txBody>
      </p:sp>
      <mc:AlternateContent xmlns:mc="http://schemas.openxmlformats.org/markup-compatibility/2006" xmlns:a14="http://schemas.microsoft.com/office/drawing/2010/main">
        <mc:Choice Requires="a14">
          <p:sp>
            <p:nvSpPr>
              <p:cNvPr id="18" name="流程图: 决策 17">
                <a:extLst>
                  <a:ext uri="{FF2B5EF4-FFF2-40B4-BE49-F238E27FC236}">
                    <a16:creationId xmlns:a16="http://schemas.microsoft.com/office/drawing/2014/main" id="{17FE7BA5-F07D-4374-9BFE-9418D4C1ADB4}"/>
                  </a:ext>
                </a:extLst>
              </p:cNvPr>
              <p:cNvSpPr/>
              <p:nvPr/>
            </p:nvSpPr>
            <p:spPr>
              <a:xfrm>
                <a:off x="2538641" y="3491364"/>
                <a:ext cx="748148" cy="433233"/>
              </a:xfrm>
              <a:prstGeom prst="flowChartDecision">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 </m:t>
                      </m:r>
                      <m:r>
                        <a:rPr lang="en-US" altLang="zh-CN" b="1" i="0" smtClean="0">
                          <a:solidFill>
                            <a:srgbClr val="FFFF00"/>
                          </a:solidFill>
                          <a:latin typeface="Cambria Math" panose="02040503050406030204" pitchFamily="18" charset="0"/>
                        </a:rPr>
                        <m:t>𝐒𝐢𝐠𝐧</m:t>
                      </m:r>
                    </m:oMath>
                  </m:oMathPara>
                </a14:m>
                <a:endParaRPr lang="zh-CN" altLang="en-US" b="1" dirty="0">
                  <a:solidFill>
                    <a:srgbClr val="FFFF00"/>
                  </a:solidFill>
                </a:endParaRPr>
              </a:p>
            </p:txBody>
          </p:sp>
        </mc:Choice>
        <mc:Fallback xmlns="">
          <p:sp>
            <p:nvSpPr>
              <p:cNvPr id="18" name="流程图: 决策 17">
                <a:extLst>
                  <a:ext uri="{FF2B5EF4-FFF2-40B4-BE49-F238E27FC236}">
                    <a16:creationId xmlns="" xmlns:a16="http://schemas.microsoft.com/office/drawing/2014/main" xmlns:a14="http://schemas.microsoft.com/office/drawing/2010/main" id="{17FE7BA5-F07D-4374-9BFE-9418D4C1ADB4}"/>
                  </a:ext>
                </a:extLst>
              </p:cNvPr>
              <p:cNvSpPr>
                <a:spLocks noRot="1" noChangeAspect="1" noMove="1" noResize="1" noEditPoints="1" noAdjustHandles="1" noChangeArrowheads="1" noChangeShapeType="1" noTextEdit="1"/>
              </p:cNvSpPr>
              <p:nvPr/>
            </p:nvSpPr>
            <p:spPr>
              <a:xfrm>
                <a:off x="2538641" y="3491364"/>
                <a:ext cx="748148" cy="433233"/>
              </a:xfrm>
              <a:prstGeom prst="flowChartDecision">
                <a:avLst/>
              </a:prstGeom>
              <a:blipFill rotWithShape="0">
                <a:blip r:embed="rId3"/>
                <a:stretch>
                  <a:fillRect b="-1333"/>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流程图: 决策 18">
                <a:extLst>
                  <a:ext uri="{FF2B5EF4-FFF2-40B4-BE49-F238E27FC236}">
                    <a16:creationId xmlns:a16="http://schemas.microsoft.com/office/drawing/2014/main" id="{BEDCF23B-1A5E-4690-BA65-867FA22B4E39}"/>
                  </a:ext>
                </a:extLst>
              </p:cNvPr>
              <p:cNvSpPr/>
              <p:nvPr/>
            </p:nvSpPr>
            <p:spPr>
              <a:xfrm>
                <a:off x="5783075" y="3519034"/>
                <a:ext cx="870734" cy="433233"/>
              </a:xfrm>
              <a:prstGeom prst="flowChartDecision">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 </m:t>
                      </m:r>
                      <m:r>
                        <a:rPr lang="en-US" altLang="zh-CN" b="1" i="0" smtClean="0">
                          <a:solidFill>
                            <a:srgbClr val="FFFF00"/>
                          </a:solidFill>
                          <a:latin typeface="Cambria Math" panose="02040503050406030204" pitchFamily="18" charset="0"/>
                        </a:rPr>
                        <m:t>𝐕𝐞𝐫𝐢𝐟𝐲</m:t>
                      </m:r>
                    </m:oMath>
                  </m:oMathPara>
                </a14:m>
                <a:endParaRPr lang="zh-CN" altLang="en-US" b="1" dirty="0">
                  <a:solidFill>
                    <a:srgbClr val="FFFF00"/>
                  </a:solidFill>
                </a:endParaRPr>
              </a:p>
            </p:txBody>
          </p:sp>
        </mc:Choice>
        <mc:Fallback xmlns="">
          <p:sp>
            <p:nvSpPr>
              <p:cNvPr id="19" name="流程图: 决策 18">
                <a:extLst>
                  <a:ext uri="{FF2B5EF4-FFF2-40B4-BE49-F238E27FC236}">
                    <a16:creationId xmlns="" xmlns:a16="http://schemas.microsoft.com/office/drawing/2014/main" xmlns:a14="http://schemas.microsoft.com/office/drawing/2010/main" id="{BEDCF23B-1A5E-4690-BA65-867FA22B4E39}"/>
                  </a:ext>
                </a:extLst>
              </p:cNvPr>
              <p:cNvSpPr>
                <a:spLocks noRot="1" noChangeAspect="1" noMove="1" noResize="1" noEditPoints="1" noAdjustHandles="1" noChangeArrowheads="1" noChangeShapeType="1" noTextEdit="1"/>
              </p:cNvSpPr>
              <p:nvPr/>
            </p:nvSpPr>
            <p:spPr>
              <a:xfrm>
                <a:off x="5783075" y="3519034"/>
                <a:ext cx="870734" cy="433233"/>
              </a:xfrm>
              <a:prstGeom prst="flowChartDecision">
                <a:avLst/>
              </a:prstGeom>
              <a:blipFill rotWithShape="0">
                <a:blip r:embed="rId4"/>
                <a:stretch>
                  <a:fillRect l="-671" b="-2667"/>
                </a:stretch>
              </a:blipFill>
              <a:ln/>
            </p:spPr>
            <p:txBody>
              <a:bodyPr/>
              <a:lstStyle/>
              <a:p>
                <a:r>
                  <a:rPr lang="zh-CN" altLang="en-US">
                    <a:noFill/>
                  </a:rPr>
                  <a:t> </a:t>
                </a:r>
              </a:p>
            </p:txBody>
          </p:sp>
        </mc:Fallback>
      </mc:AlternateContent>
      <p:sp>
        <p:nvSpPr>
          <p:cNvPr id="20" name="梯形 19">
            <a:extLst>
              <a:ext uri="{FF2B5EF4-FFF2-40B4-BE49-F238E27FC236}">
                <a16:creationId xmlns:a16="http://schemas.microsoft.com/office/drawing/2014/main" id="{43C2707A-A7AD-4BF5-8F26-FF41499A065C}"/>
              </a:ext>
            </a:extLst>
          </p:cNvPr>
          <p:cNvSpPr/>
          <p:nvPr/>
        </p:nvSpPr>
        <p:spPr>
          <a:xfrm rot="5400000">
            <a:off x="5873656" y="2287616"/>
            <a:ext cx="545978" cy="360494"/>
          </a:xfrm>
          <a:prstGeom prst="trapezoid">
            <a:avLst>
              <a:gd name="adj" fmla="val 34651"/>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BAB354B-F9AD-4721-AB1D-013D3ED1A699}"/>
                  </a:ext>
                </a:extLst>
              </p:cNvPr>
              <p:cNvSpPr txBox="1"/>
              <p:nvPr/>
            </p:nvSpPr>
            <p:spPr>
              <a:xfrm>
                <a:off x="5983383" y="2270461"/>
                <a:ext cx="327436" cy="369332"/>
              </a:xfrm>
              <a:prstGeom prst="rect">
                <a:avLst/>
              </a:prstGeom>
              <a:noFill/>
              <a:ln w="1270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FFFFFF"/>
                          </a:solidFill>
                          <a:latin typeface="Cambria Math" panose="02040503050406030204" pitchFamily="18" charset="0"/>
                        </a:rPr>
                        <m:t>𝐻</m:t>
                      </m:r>
                    </m:oMath>
                  </m:oMathPara>
                </a14:m>
                <a:endParaRPr lang="zh-CN" altLang="en-US" dirty="0">
                  <a:solidFill>
                    <a:srgbClr val="FFFFFF"/>
                  </a:solidFill>
                </a:endParaRPr>
              </a:p>
            </p:txBody>
          </p:sp>
        </mc:Choice>
        <mc:Fallback xmlns="">
          <p:sp>
            <p:nvSpPr>
              <p:cNvPr id="21" name="文本框 20">
                <a:extLst>
                  <a:ext uri="{FF2B5EF4-FFF2-40B4-BE49-F238E27FC236}">
                    <a16:creationId xmlns:a16="http://schemas.microsoft.com/office/drawing/2014/main" id="{3BAB354B-F9AD-4721-AB1D-013D3ED1A699}"/>
                  </a:ext>
                </a:extLst>
              </p:cNvPr>
              <p:cNvSpPr txBox="1">
                <a:spLocks noRot="1" noChangeAspect="1" noMove="1" noResize="1" noEditPoints="1" noAdjustHandles="1" noChangeArrowheads="1" noChangeShapeType="1" noTextEdit="1"/>
              </p:cNvSpPr>
              <p:nvPr/>
            </p:nvSpPr>
            <p:spPr>
              <a:xfrm>
                <a:off x="5983383" y="2270461"/>
                <a:ext cx="327436" cy="369332"/>
              </a:xfrm>
              <a:prstGeom prst="rect">
                <a:avLst/>
              </a:prstGeom>
              <a:blipFill>
                <a:blip r:embed="rId5"/>
                <a:stretch>
                  <a:fillRect r="-5660"/>
                </a:stretch>
              </a:blipFill>
              <a:ln w="12700">
                <a:noFill/>
              </a:ln>
            </p:spPr>
            <p:txBody>
              <a:bodyPr/>
              <a:lstStyle/>
              <a:p>
                <a:r>
                  <a:rPr lang="zh-CN" altLang="en-US">
                    <a:noFill/>
                  </a:rPr>
                  <a:t> </a:t>
                </a:r>
              </a:p>
            </p:txBody>
          </p:sp>
        </mc:Fallback>
      </mc:AlternateContent>
      <p:sp>
        <p:nvSpPr>
          <p:cNvPr id="22" name="梯形 21">
            <a:extLst>
              <a:ext uri="{FF2B5EF4-FFF2-40B4-BE49-F238E27FC236}">
                <a16:creationId xmlns:a16="http://schemas.microsoft.com/office/drawing/2014/main" id="{EEA77224-607D-4200-8AEF-6C9FCA2E2507}"/>
              </a:ext>
            </a:extLst>
          </p:cNvPr>
          <p:cNvSpPr/>
          <p:nvPr/>
        </p:nvSpPr>
        <p:spPr>
          <a:xfrm rot="10800000">
            <a:off x="1008425" y="2750643"/>
            <a:ext cx="545978" cy="360494"/>
          </a:xfrm>
          <a:prstGeom prst="trapezoid">
            <a:avLst>
              <a:gd name="adj" fmla="val 34651"/>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797A63D-3D19-4347-8435-FE68A382CA3E}"/>
                  </a:ext>
                </a:extLst>
              </p:cNvPr>
              <p:cNvSpPr txBox="1"/>
              <p:nvPr/>
            </p:nvSpPr>
            <p:spPr>
              <a:xfrm>
                <a:off x="1071675" y="2738715"/>
                <a:ext cx="41947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FFFFFF"/>
                          </a:solidFill>
                          <a:latin typeface="Cambria Math" panose="02040503050406030204" pitchFamily="18" charset="0"/>
                          <a:cs typeface="Times New Roman" panose="02020603050405020304" pitchFamily="18" charset="0"/>
                        </a:rPr>
                        <m:t>𝐻</m:t>
                      </m:r>
                    </m:oMath>
                  </m:oMathPara>
                </a14:m>
                <a:endParaRPr lang="zh-CN" altLang="en-US" i="1" dirty="0">
                  <a:solidFill>
                    <a:srgbClr val="FFFFFF"/>
                  </a:solidFill>
                  <a:latin typeface="Times New Roman" panose="02020603050405020304" pitchFamily="18" charset="0"/>
                  <a:cs typeface="Times New Roman" panose="02020603050405020304" pitchFamily="18" charset="0"/>
                </a:endParaRPr>
              </a:p>
            </p:txBody>
          </p:sp>
        </mc:Choice>
        <mc:Fallback xmlns="">
          <p:sp>
            <p:nvSpPr>
              <p:cNvPr id="11" name="文本框 10">
                <a:extLst>
                  <a:ext uri="{FF2B5EF4-FFF2-40B4-BE49-F238E27FC236}">
                    <a16:creationId xmlns:a16="http://schemas.microsoft.com/office/drawing/2014/main" id="{0797A63D-3D19-4347-8435-FE68A382CA3E}"/>
                  </a:ext>
                </a:extLst>
              </p:cNvPr>
              <p:cNvSpPr txBox="1">
                <a:spLocks noRot="1" noChangeAspect="1" noMove="1" noResize="1" noEditPoints="1" noAdjustHandles="1" noChangeArrowheads="1" noChangeShapeType="1" noTextEdit="1"/>
              </p:cNvSpPr>
              <p:nvPr/>
            </p:nvSpPr>
            <p:spPr>
              <a:xfrm>
                <a:off x="1071675" y="2738715"/>
                <a:ext cx="419478" cy="369332"/>
              </a:xfrm>
              <a:prstGeom prst="rect">
                <a:avLst/>
              </a:prstGeom>
              <a:blipFill>
                <a:blip r:embed="rId6"/>
                <a:stretch>
                  <a:fillRect/>
                </a:stretch>
              </a:blipFill>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42634836-C3FA-41F9-A13F-4144F12BB240}"/>
              </a:ext>
            </a:extLst>
          </p:cNvPr>
          <p:cNvCxnSpPr>
            <a:cxnSpLocks/>
            <a:stCxn id="22" idx="0"/>
            <a:endCxn id="14" idx="2"/>
          </p:cNvCxnSpPr>
          <p:nvPr/>
        </p:nvCxnSpPr>
        <p:spPr>
          <a:xfrm flipH="1">
            <a:off x="1281413" y="3111137"/>
            <a:ext cx="1" cy="4005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0" name="矩形 29">
            <a:extLst>
              <a:ext uri="{FF2B5EF4-FFF2-40B4-BE49-F238E27FC236}">
                <a16:creationId xmlns:a16="http://schemas.microsoft.com/office/drawing/2014/main" id="{BE6F7F35-EAD8-4047-81DA-B3025AC11F29}"/>
              </a:ext>
            </a:extLst>
          </p:cNvPr>
          <p:cNvSpPr/>
          <p:nvPr/>
        </p:nvSpPr>
        <p:spPr>
          <a:xfrm>
            <a:off x="3834315" y="1725988"/>
            <a:ext cx="1420773" cy="721076"/>
          </a:xfrm>
          <a:prstGeom prst="rect">
            <a:avLst/>
          </a:prstGeom>
          <a:no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lnSpc>
                <a:spcPct val="120000"/>
              </a:lnSpc>
              <a:spcBef>
                <a:spcPts val="600"/>
              </a:spcBef>
            </a:pPr>
            <a:r>
              <a:rPr lang="en-US" altLang="zh-CN" dirty="0">
                <a:solidFill>
                  <a:schemeClr val="tx1"/>
                </a:solidFill>
                <a:latin typeface="Times New Roman" panose="02020603050405020304" pitchFamily="18" charset="0"/>
                <a:cs typeface="Times New Roman" panose="02020603050405020304" pitchFamily="18" charset="0"/>
              </a:rPr>
              <a:t>Bob </a:t>
            </a:r>
            <a:r>
              <a:rPr lang="zh-CN" altLang="en-US" dirty="0">
                <a:solidFill>
                  <a:schemeClr val="tx1"/>
                </a:solidFill>
                <a:latin typeface="Times New Roman" panose="02020603050405020304" pitchFamily="18" charset="0"/>
                <a:cs typeface="Times New Roman" panose="02020603050405020304" pitchFamily="18" charset="0"/>
              </a:rPr>
              <a:t>的 </a:t>
            </a:r>
            <a:r>
              <a:rPr lang="en-US" altLang="zh-CN" i="0" dirty="0">
                <a:solidFill>
                  <a:schemeClr val="tx1"/>
                </a:solidFill>
                <a:latin typeface="Times New Roman" panose="02020603050405020304" pitchFamily="18" charset="0"/>
                <a:cs typeface="Times New Roman" panose="02020603050405020304" pitchFamily="18" charset="0"/>
              </a:rPr>
              <a:t>ID</a:t>
            </a:r>
            <a:endParaRPr lang="en-US" altLang="zh-CN" dirty="0">
              <a:solidFill>
                <a:schemeClr val="tx1"/>
              </a:solidFill>
              <a:latin typeface="Times New Roman" panose="02020603050405020304" pitchFamily="18" charset="0"/>
              <a:cs typeface="Times New Roman" panose="02020603050405020304" pitchFamily="18" charset="0"/>
            </a:endParaRPr>
          </a:p>
          <a:p>
            <a:pPr algn="ctr">
              <a:lnSpc>
                <a:spcPct val="120000"/>
              </a:lnSpc>
            </a:pPr>
            <a:r>
              <a:rPr lang="zh-CN" altLang="en-US" dirty="0">
                <a:solidFill>
                  <a:schemeClr val="tx1"/>
                </a:solidFill>
                <a:latin typeface="Times New Roman" panose="02020603050405020304" pitchFamily="18" charset="0"/>
                <a:cs typeface="Times New Roman" panose="02020603050405020304" pitchFamily="18" charset="0"/>
              </a:rPr>
              <a:t>信息</a:t>
            </a:r>
          </a:p>
        </p:txBody>
      </p:sp>
      <p:sp>
        <p:nvSpPr>
          <p:cNvPr id="31" name="矩形 30">
            <a:extLst>
              <a:ext uri="{FF2B5EF4-FFF2-40B4-BE49-F238E27FC236}">
                <a16:creationId xmlns:a16="http://schemas.microsoft.com/office/drawing/2014/main" id="{36DEBEAE-EAA3-44A0-A312-2CB87BF877A6}"/>
              </a:ext>
            </a:extLst>
          </p:cNvPr>
          <p:cNvSpPr/>
          <p:nvPr/>
        </p:nvSpPr>
        <p:spPr>
          <a:xfrm>
            <a:off x="3834316" y="2456056"/>
            <a:ext cx="1420773" cy="634900"/>
          </a:xfrm>
          <a:prstGeom prst="rect">
            <a:avLst/>
          </a:prstGeom>
          <a:no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Bob </a:t>
            </a:r>
            <a:r>
              <a:rPr lang="zh-CN" altLang="en-US" dirty="0">
                <a:solidFill>
                  <a:schemeClr val="tx1"/>
                </a:solidFill>
                <a:latin typeface="Times New Roman" panose="02020603050405020304" pitchFamily="18" charset="0"/>
                <a:cs typeface="Times New Roman" panose="02020603050405020304" pitchFamily="18" charset="0"/>
              </a:rPr>
              <a:t>的公钥</a:t>
            </a:r>
            <a:endParaRPr lang="en-US" altLang="zh-CN" dirty="0">
              <a:solidFill>
                <a:schemeClr val="tx1"/>
              </a:solidFill>
              <a:latin typeface="Times New Roman" panose="02020603050405020304" pitchFamily="18" charset="0"/>
              <a:cs typeface="Times New Roman" panose="02020603050405020304" pitchFamily="18" charset="0"/>
            </a:endParaRPr>
          </a:p>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41" name="矩形 40">
            <a:extLst>
              <a:ext uri="{FF2B5EF4-FFF2-40B4-BE49-F238E27FC236}">
                <a16:creationId xmlns:a16="http://schemas.microsoft.com/office/drawing/2014/main" id="{7174EA7A-60E6-4D1A-A35D-A870C6C35C92}"/>
              </a:ext>
            </a:extLst>
          </p:cNvPr>
          <p:cNvSpPr/>
          <p:nvPr/>
        </p:nvSpPr>
        <p:spPr>
          <a:xfrm>
            <a:off x="3834317" y="3092185"/>
            <a:ext cx="1420773" cy="426849"/>
          </a:xfrm>
          <a:prstGeom prst="rect">
            <a:avLst/>
          </a:prstGeom>
          <a:noFill/>
          <a:ln w="127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lnSpc>
                <a:spcPct val="120000"/>
              </a:lnSpc>
            </a:pPr>
            <a:r>
              <a:rPr lang="en-US" altLang="zh-CN" dirty="0">
                <a:solidFill>
                  <a:schemeClr val="tx1"/>
                </a:solidFill>
                <a:latin typeface="Times New Roman" panose="02020603050405020304" pitchFamily="18" charset="0"/>
                <a:cs typeface="Times New Roman" panose="02020603050405020304" pitchFamily="18" charset="0"/>
              </a:rPr>
              <a:t>CA </a:t>
            </a:r>
            <a:r>
              <a:rPr lang="zh-CN" altLang="en-US" dirty="0">
                <a:solidFill>
                  <a:schemeClr val="tx1"/>
                </a:solidFill>
                <a:latin typeface="Times New Roman" panose="02020603050405020304" pitchFamily="18" charset="0"/>
                <a:cs typeface="Times New Roman" panose="02020603050405020304" pitchFamily="18" charset="0"/>
              </a:rPr>
              <a:t>信息</a:t>
            </a:r>
          </a:p>
        </p:txBody>
      </p:sp>
      <p:sp>
        <p:nvSpPr>
          <p:cNvPr id="43" name="矩形 42">
            <a:extLst>
              <a:ext uri="{FF2B5EF4-FFF2-40B4-BE49-F238E27FC236}">
                <a16:creationId xmlns:a16="http://schemas.microsoft.com/office/drawing/2014/main" id="{5760E049-1411-4EF0-B5D4-017303AB7D60}"/>
              </a:ext>
            </a:extLst>
          </p:cNvPr>
          <p:cNvSpPr>
            <a:spLocks noChangeAspect="1"/>
          </p:cNvSpPr>
          <p:nvPr/>
        </p:nvSpPr>
        <p:spPr>
          <a:xfrm rot="10800000">
            <a:off x="3834317" y="3519034"/>
            <a:ext cx="1420773" cy="4320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cxnSp>
        <p:nvCxnSpPr>
          <p:cNvPr id="45" name="直接箭头连接符 44">
            <a:extLst>
              <a:ext uri="{FF2B5EF4-FFF2-40B4-BE49-F238E27FC236}">
                <a16:creationId xmlns:a16="http://schemas.microsoft.com/office/drawing/2014/main" id="{401D6FAC-6F12-49A0-9EC8-92AD534A6CA9}"/>
              </a:ext>
            </a:extLst>
          </p:cNvPr>
          <p:cNvCxnSpPr>
            <a:cxnSpLocks/>
            <a:stCxn id="18" idx="3"/>
            <a:endCxn id="43" idx="3"/>
          </p:cNvCxnSpPr>
          <p:nvPr/>
        </p:nvCxnSpPr>
        <p:spPr>
          <a:xfrm>
            <a:off x="3286789" y="3707981"/>
            <a:ext cx="547528" cy="270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直接箭头连接符 50">
            <a:extLst>
              <a:ext uri="{FF2B5EF4-FFF2-40B4-BE49-F238E27FC236}">
                <a16:creationId xmlns:a16="http://schemas.microsoft.com/office/drawing/2014/main" id="{DC55060F-D103-48A6-84D4-B9109ACB49D7}"/>
              </a:ext>
            </a:extLst>
          </p:cNvPr>
          <p:cNvCxnSpPr>
            <a:cxnSpLocks/>
            <a:stCxn id="43" idx="1"/>
            <a:endCxn id="19" idx="1"/>
          </p:cNvCxnSpPr>
          <p:nvPr/>
        </p:nvCxnSpPr>
        <p:spPr>
          <a:xfrm>
            <a:off x="5255090" y="3735034"/>
            <a:ext cx="527985" cy="61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直接箭头连接符 52">
            <a:extLst>
              <a:ext uri="{FF2B5EF4-FFF2-40B4-BE49-F238E27FC236}">
                <a16:creationId xmlns:a16="http://schemas.microsoft.com/office/drawing/2014/main" id="{44F0D501-4737-4F25-A3E8-6620FF2848A6}"/>
              </a:ext>
            </a:extLst>
          </p:cNvPr>
          <p:cNvCxnSpPr>
            <a:cxnSpLocks/>
            <a:stCxn id="19" idx="3"/>
          </p:cNvCxnSpPr>
          <p:nvPr/>
        </p:nvCxnSpPr>
        <p:spPr>
          <a:xfrm flipV="1">
            <a:off x="6653809" y="3735035"/>
            <a:ext cx="458961" cy="6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0" name="左大括号 59">
            <a:extLst>
              <a:ext uri="{FF2B5EF4-FFF2-40B4-BE49-F238E27FC236}">
                <a16:creationId xmlns:a16="http://schemas.microsoft.com/office/drawing/2014/main" id="{EAA317E5-4179-4804-823D-A1B02DEAD88A}"/>
              </a:ext>
            </a:extLst>
          </p:cNvPr>
          <p:cNvSpPr/>
          <p:nvPr/>
        </p:nvSpPr>
        <p:spPr>
          <a:xfrm>
            <a:off x="3503160" y="1812162"/>
            <a:ext cx="238728" cy="1690687"/>
          </a:xfrm>
          <a:prstGeom prst="leftBrace">
            <a:avLst>
              <a:gd name="adj1" fmla="val 8333"/>
              <a:gd name="adj2" fmla="val 3745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61" name="左大括号 60">
            <a:extLst>
              <a:ext uri="{FF2B5EF4-FFF2-40B4-BE49-F238E27FC236}">
                <a16:creationId xmlns:a16="http://schemas.microsoft.com/office/drawing/2014/main" id="{24BB8B54-B839-4440-8458-2EBF89E5A3B6}"/>
              </a:ext>
            </a:extLst>
          </p:cNvPr>
          <p:cNvSpPr/>
          <p:nvPr/>
        </p:nvSpPr>
        <p:spPr>
          <a:xfrm flipH="1">
            <a:off x="5324877" y="1812161"/>
            <a:ext cx="224999" cy="1674791"/>
          </a:xfrm>
          <a:prstGeom prst="leftBrace">
            <a:avLst>
              <a:gd name="adj1" fmla="val 8333"/>
              <a:gd name="adj2" fmla="val 3851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cxnSp>
        <p:nvCxnSpPr>
          <p:cNvPr id="66" name="直接箭头连接符 65">
            <a:extLst>
              <a:ext uri="{FF2B5EF4-FFF2-40B4-BE49-F238E27FC236}">
                <a16:creationId xmlns:a16="http://schemas.microsoft.com/office/drawing/2014/main" id="{E1CFF6F9-EB13-491B-9949-981613737447}"/>
              </a:ext>
            </a:extLst>
          </p:cNvPr>
          <p:cNvCxnSpPr>
            <a:cxnSpLocks/>
            <a:endCxn id="20" idx="2"/>
          </p:cNvCxnSpPr>
          <p:nvPr/>
        </p:nvCxnSpPr>
        <p:spPr>
          <a:xfrm>
            <a:off x="5549876" y="2464793"/>
            <a:ext cx="416522" cy="30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7" name="矩形 66">
            <a:extLst>
              <a:ext uri="{FF2B5EF4-FFF2-40B4-BE49-F238E27FC236}">
                <a16:creationId xmlns:a16="http://schemas.microsoft.com/office/drawing/2014/main" id="{70A3DAA7-62D4-470A-9B9A-419BA32BB6C2}"/>
              </a:ext>
            </a:extLst>
          </p:cNvPr>
          <p:cNvSpPr>
            <a:spLocks noChangeAspect="1"/>
          </p:cNvSpPr>
          <p:nvPr/>
        </p:nvSpPr>
        <p:spPr>
          <a:xfrm rot="10800000">
            <a:off x="7119995" y="2248255"/>
            <a:ext cx="1420773" cy="432000"/>
          </a:xfrm>
          <a:prstGeom prst="rect">
            <a:avLst/>
          </a:prstGeom>
          <a:solidFill>
            <a:schemeClr val="tx2">
              <a:lumMod val="20000"/>
              <a:lumOff val="8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2400" dirty="0"/>
          </a:p>
        </p:txBody>
      </p:sp>
      <p:cxnSp>
        <p:nvCxnSpPr>
          <p:cNvPr id="75" name="直接箭头连接符 74">
            <a:extLst>
              <a:ext uri="{FF2B5EF4-FFF2-40B4-BE49-F238E27FC236}">
                <a16:creationId xmlns:a16="http://schemas.microsoft.com/office/drawing/2014/main" id="{B7024A22-ABD6-458D-B63E-039E791A8357}"/>
              </a:ext>
            </a:extLst>
          </p:cNvPr>
          <p:cNvCxnSpPr>
            <a:cxnSpLocks/>
            <a:stCxn id="20" idx="0"/>
            <a:endCxn id="67" idx="3"/>
          </p:cNvCxnSpPr>
          <p:nvPr/>
        </p:nvCxnSpPr>
        <p:spPr>
          <a:xfrm flipV="1">
            <a:off x="6326892" y="2464255"/>
            <a:ext cx="793103" cy="360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6" name="文本框 85">
            <a:extLst>
              <a:ext uri="{FF2B5EF4-FFF2-40B4-BE49-F238E27FC236}">
                <a16:creationId xmlns:a16="http://schemas.microsoft.com/office/drawing/2014/main" id="{D4B6D818-9245-41DF-8609-71B1A7D80893}"/>
              </a:ext>
            </a:extLst>
          </p:cNvPr>
          <p:cNvSpPr txBox="1"/>
          <p:nvPr/>
        </p:nvSpPr>
        <p:spPr>
          <a:xfrm>
            <a:off x="1680746" y="2059975"/>
            <a:ext cx="1423079" cy="338554"/>
          </a:xfrm>
          <a:prstGeom prst="rect">
            <a:avLst/>
          </a:prstGeom>
          <a:noFill/>
        </p:spPr>
        <p:txBody>
          <a:bodyPr wrap="square">
            <a:spAutoFit/>
          </a:bodyPr>
          <a:lstStyle/>
          <a:p>
            <a:r>
              <a:rPr lang="zh-CN" altLang="en-US" sz="1600" dirty="0">
                <a:latin typeface="Times New Roman" panose="02020603050405020304" pitchFamily="18" charset="0"/>
                <a:cs typeface="Times New Roman" panose="02020603050405020304" pitchFamily="18" charset="0"/>
              </a:rPr>
              <a:t>未签名证书</a:t>
            </a:r>
          </a:p>
        </p:txBody>
      </p:sp>
      <p:sp>
        <p:nvSpPr>
          <p:cNvPr id="92" name="文本框 91">
            <a:extLst>
              <a:ext uri="{FF2B5EF4-FFF2-40B4-BE49-F238E27FC236}">
                <a16:creationId xmlns:a16="http://schemas.microsoft.com/office/drawing/2014/main" id="{D9C9D19A-949D-4E14-80E5-4538D4AD3B64}"/>
              </a:ext>
            </a:extLst>
          </p:cNvPr>
          <p:cNvSpPr txBox="1"/>
          <p:nvPr/>
        </p:nvSpPr>
        <p:spPr>
          <a:xfrm>
            <a:off x="7329682" y="2916777"/>
            <a:ext cx="1203861" cy="338554"/>
          </a:xfrm>
          <a:prstGeom prst="rect">
            <a:avLst/>
          </a:prstGeom>
          <a:noFill/>
        </p:spPr>
        <p:txBody>
          <a:bodyPr wrap="square">
            <a:spAutoFit/>
          </a:bodyPr>
          <a:lstStyle/>
          <a:p>
            <a:r>
              <a:rPr lang="zh-CN" altLang="en-US" sz="1600" b="1" dirty="0">
                <a:latin typeface="Times New Roman" panose="02020603050405020304" pitchFamily="18" charset="0"/>
                <a:cs typeface="Times New Roman" panose="02020603050405020304" pitchFamily="18" charset="0"/>
              </a:rPr>
              <a:t>验证签名</a:t>
            </a:r>
          </a:p>
        </p:txBody>
      </p:sp>
      <p:cxnSp>
        <p:nvCxnSpPr>
          <p:cNvPr id="102" name="直接箭头连接符 101">
            <a:extLst>
              <a:ext uri="{FF2B5EF4-FFF2-40B4-BE49-F238E27FC236}">
                <a16:creationId xmlns:a16="http://schemas.microsoft.com/office/drawing/2014/main" id="{305FD1E5-EBEE-4B35-9961-E427A394FC5F}"/>
              </a:ext>
            </a:extLst>
          </p:cNvPr>
          <p:cNvCxnSpPr>
            <a:cxnSpLocks/>
            <a:stCxn id="47" idx="1"/>
            <a:endCxn id="18" idx="2"/>
          </p:cNvCxnSpPr>
          <p:nvPr/>
        </p:nvCxnSpPr>
        <p:spPr>
          <a:xfrm flipH="1" flipV="1">
            <a:off x="2912715" y="3924597"/>
            <a:ext cx="343" cy="3290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1" name="直接箭头连接符 110">
            <a:extLst>
              <a:ext uri="{FF2B5EF4-FFF2-40B4-BE49-F238E27FC236}">
                <a16:creationId xmlns:a16="http://schemas.microsoft.com/office/drawing/2014/main" id="{A0E43285-2EDB-416F-A10D-B32D0B2B620C}"/>
              </a:ext>
            </a:extLst>
          </p:cNvPr>
          <p:cNvCxnSpPr>
            <a:cxnSpLocks/>
          </p:cNvCxnSpPr>
          <p:nvPr/>
        </p:nvCxnSpPr>
        <p:spPr>
          <a:xfrm>
            <a:off x="7809833" y="2669981"/>
            <a:ext cx="0" cy="2987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9" name="文本框 118">
            <a:extLst>
              <a:ext uri="{FF2B5EF4-FFF2-40B4-BE49-F238E27FC236}">
                <a16:creationId xmlns:a16="http://schemas.microsoft.com/office/drawing/2014/main" id="{6DC1E11A-593C-4F38-A955-D27A8EB023A6}"/>
              </a:ext>
            </a:extLst>
          </p:cNvPr>
          <p:cNvSpPr txBox="1"/>
          <p:nvPr/>
        </p:nvSpPr>
        <p:spPr>
          <a:xfrm>
            <a:off x="1337481" y="4643800"/>
            <a:ext cx="2926855"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 用 </a:t>
            </a:r>
            <a:r>
              <a:rPr lang="zh-CN" altLang="en-US" dirty="0">
                <a:solidFill>
                  <a:srgbClr val="FF0000"/>
                </a:solidFill>
                <a:latin typeface="Times New Roman" panose="02020603050405020304" pitchFamily="18" charset="0"/>
                <a:cs typeface="Times New Roman" panose="02020603050405020304" pitchFamily="18" charset="0"/>
              </a:rPr>
              <a:t>CA的私钥 </a:t>
            </a:r>
            <a:r>
              <a:rPr lang="zh-CN" altLang="en-US" dirty="0">
                <a:latin typeface="Times New Roman" panose="02020603050405020304" pitchFamily="18" charset="0"/>
                <a:cs typeface="Times New Roman" panose="02020603050405020304" pitchFamily="18" charset="0"/>
              </a:rPr>
              <a:t>签名</a:t>
            </a:r>
          </a:p>
        </p:txBody>
      </p:sp>
      <p:sp>
        <p:nvSpPr>
          <p:cNvPr id="120" name="文本框 119">
            <a:extLst>
              <a:ext uri="{FF2B5EF4-FFF2-40B4-BE49-F238E27FC236}">
                <a16:creationId xmlns:a16="http://schemas.microsoft.com/office/drawing/2014/main" id="{913EF978-DD08-438C-B8B9-F907D5466D68}"/>
              </a:ext>
            </a:extLst>
          </p:cNvPr>
          <p:cNvSpPr txBox="1"/>
          <p:nvPr/>
        </p:nvSpPr>
        <p:spPr>
          <a:xfrm>
            <a:off x="5142471" y="4643800"/>
            <a:ext cx="2602068" cy="369332"/>
          </a:xfrm>
          <a:prstGeom prst="rect">
            <a:avLst/>
          </a:prstGeom>
          <a:noFill/>
        </p:spPr>
        <p:txBody>
          <a:bodyPr wrap="square">
            <a:spAutoFit/>
          </a:bodyPr>
          <a:lstStyle/>
          <a:p>
            <a:pPr algn="ctr"/>
            <a:r>
              <a:rPr lang="zh-CN" altLang="en-US" dirty="0">
                <a:latin typeface="Times New Roman" panose="02020603050405020304" pitchFamily="18" charset="0"/>
                <a:cs typeface="Times New Roman" panose="02020603050405020304" pitchFamily="18" charset="0"/>
              </a:rPr>
              <a:t>用 </a:t>
            </a:r>
            <a:r>
              <a:rPr lang="en-US" altLang="zh-CN" dirty="0">
                <a:solidFill>
                  <a:srgbClr val="FF0000"/>
                </a:solidFill>
                <a:latin typeface="Times New Roman" panose="02020603050405020304" pitchFamily="18" charset="0"/>
                <a:cs typeface="Times New Roman" panose="02020603050405020304" pitchFamily="18" charset="0"/>
              </a:rPr>
              <a:t>CA</a:t>
            </a:r>
            <a:r>
              <a:rPr lang="zh-CN" altLang="en-US" dirty="0">
                <a:solidFill>
                  <a:srgbClr val="FF0000"/>
                </a:solidFill>
                <a:latin typeface="Times New Roman" panose="02020603050405020304" pitchFamily="18" charset="0"/>
                <a:cs typeface="Times New Roman" panose="02020603050405020304" pitchFamily="18" charset="0"/>
              </a:rPr>
              <a:t>的公钥 </a:t>
            </a:r>
            <a:r>
              <a:rPr lang="zh-CN" altLang="en-US" dirty="0">
                <a:latin typeface="Times New Roman" panose="02020603050405020304" pitchFamily="18" charset="0"/>
                <a:cs typeface="Times New Roman" panose="02020603050405020304" pitchFamily="18" charset="0"/>
              </a:rPr>
              <a:t>验证</a:t>
            </a:r>
          </a:p>
        </p:txBody>
      </p:sp>
      <p:sp>
        <p:nvSpPr>
          <p:cNvPr id="122" name="文本框 121">
            <a:extLst>
              <a:ext uri="{FF2B5EF4-FFF2-40B4-BE49-F238E27FC236}">
                <a16:creationId xmlns:a16="http://schemas.microsoft.com/office/drawing/2014/main" id="{1C84091A-CEA9-4A20-9939-10681926475A}"/>
              </a:ext>
            </a:extLst>
          </p:cNvPr>
          <p:cNvSpPr txBox="1"/>
          <p:nvPr/>
        </p:nvSpPr>
        <p:spPr>
          <a:xfrm>
            <a:off x="3964951" y="3980582"/>
            <a:ext cx="1174668" cy="369332"/>
          </a:xfrm>
          <a:prstGeom prst="rect">
            <a:avLst/>
          </a:prstGeom>
          <a:noFill/>
        </p:spPr>
        <p:txBody>
          <a:bodyPr wrap="square">
            <a:spAutoFit/>
          </a:bodyPr>
          <a:lstStyle/>
          <a:p>
            <a:pPr algn="ctr"/>
            <a:r>
              <a:rPr lang="zh-CN" altLang="en-US" dirty="0">
                <a:solidFill>
                  <a:srgbClr val="FF0000"/>
                </a:solidFill>
              </a:rPr>
              <a:t>签名证书</a:t>
            </a:r>
          </a:p>
        </p:txBody>
      </p:sp>
      <p:sp>
        <p:nvSpPr>
          <p:cNvPr id="124" name="左大括号 123">
            <a:extLst>
              <a:ext uri="{FF2B5EF4-FFF2-40B4-BE49-F238E27FC236}">
                <a16:creationId xmlns:a16="http://schemas.microsoft.com/office/drawing/2014/main" id="{17DA934D-3F98-41F8-A5FE-76778EC39244}"/>
              </a:ext>
            </a:extLst>
          </p:cNvPr>
          <p:cNvSpPr/>
          <p:nvPr/>
        </p:nvSpPr>
        <p:spPr>
          <a:xfrm rot="16200000">
            <a:off x="2381722" y="3420219"/>
            <a:ext cx="238728" cy="3466898"/>
          </a:xfrm>
          <a:prstGeom prst="leftBrace">
            <a:avLst>
              <a:gd name="adj1" fmla="val 8333"/>
              <a:gd name="adj2" fmla="val 49143"/>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25" name="左大括号 124">
            <a:extLst>
              <a:ext uri="{FF2B5EF4-FFF2-40B4-BE49-F238E27FC236}">
                <a16:creationId xmlns:a16="http://schemas.microsoft.com/office/drawing/2014/main" id="{53D28541-2043-431E-A1CB-99C5B30DC6C1}"/>
              </a:ext>
            </a:extLst>
          </p:cNvPr>
          <p:cNvSpPr/>
          <p:nvPr/>
        </p:nvSpPr>
        <p:spPr>
          <a:xfrm rot="16200000">
            <a:off x="6534445" y="3408197"/>
            <a:ext cx="238728" cy="3490942"/>
          </a:xfrm>
          <a:prstGeom prst="leftBrace">
            <a:avLst>
              <a:gd name="adj1" fmla="val 8333"/>
              <a:gd name="adj2" fmla="val 49143"/>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27" name="文本框 126">
            <a:extLst>
              <a:ext uri="{FF2B5EF4-FFF2-40B4-BE49-F238E27FC236}">
                <a16:creationId xmlns:a16="http://schemas.microsoft.com/office/drawing/2014/main" id="{2241DFA6-9090-45E4-8E2A-E582418D177C}"/>
              </a:ext>
            </a:extLst>
          </p:cNvPr>
          <p:cNvSpPr txBox="1"/>
          <p:nvPr/>
        </p:nvSpPr>
        <p:spPr>
          <a:xfrm>
            <a:off x="1456599" y="5329827"/>
            <a:ext cx="2057400" cy="908864"/>
          </a:xfrm>
          <a:prstGeom prst="ellipse">
            <a:avLst/>
          </a:prstGeom>
          <a:noFill/>
          <a:ln w="12700">
            <a:solidFill>
              <a:schemeClr val="tx1"/>
            </a:solidFill>
          </a:ln>
        </p:spPr>
        <p:txBody>
          <a:bodyPr wrap="square" anchor="ctr" anchorCtr="1">
            <a:spAutoFit/>
          </a:bodyPr>
          <a:lstStyle/>
          <a:p>
            <a:r>
              <a:rPr lang="zh-CN" altLang="en-US" dirty="0"/>
              <a:t>创建已签名的数字证书</a:t>
            </a:r>
          </a:p>
        </p:txBody>
      </p:sp>
      <p:sp>
        <p:nvSpPr>
          <p:cNvPr id="128" name="文本框 127">
            <a:extLst>
              <a:ext uri="{FF2B5EF4-FFF2-40B4-BE49-F238E27FC236}">
                <a16:creationId xmlns:a16="http://schemas.microsoft.com/office/drawing/2014/main" id="{3A78542A-9804-4A31-BB2F-AFB99840A1BD}"/>
              </a:ext>
            </a:extLst>
          </p:cNvPr>
          <p:cNvSpPr txBox="1"/>
          <p:nvPr/>
        </p:nvSpPr>
        <p:spPr>
          <a:xfrm>
            <a:off x="5504471" y="5329827"/>
            <a:ext cx="2240068" cy="908864"/>
          </a:xfrm>
          <a:prstGeom prst="ellipse">
            <a:avLst/>
          </a:prstGeom>
          <a:noFill/>
          <a:ln w="12700">
            <a:solidFill>
              <a:schemeClr val="tx1"/>
            </a:solidFill>
          </a:ln>
        </p:spPr>
        <p:txBody>
          <a:bodyPr wrap="square" anchor="ctr" anchorCtr="1">
            <a:spAutoFit/>
          </a:bodyPr>
          <a:lstStyle/>
          <a:p>
            <a:r>
              <a:rPr lang="zh-CN" altLang="en-US" dirty="0"/>
              <a:t>使用证书来验证 </a:t>
            </a:r>
            <a:r>
              <a:rPr lang="en-US" altLang="zh-CN" dirty="0">
                <a:latin typeface="Times New Roman" panose="02020603050405020304" pitchFamily="18" charset="0"/>
                <a:cs typeface="Times New Roman" panose="02020603050405020304" pitchFamily="18" charset="0"/>
              </a:rPr>
              <a:t>Bob</a:t>
            </a:r>
            <a:r>
              <a:rPr lang="zh-CN" altLang="en-US" dirty="0"/>
              <a:t>的公钥</a:t>
            </a:r>
          </a:p>
        </p:txBody>
      </p:sp>
      <p:sp>
        <p:nvSpPr>
          <p:cNvPr id="141" name="文本框 140">
            <a:extLst>
              <a:ext uri="{FF2B5EF4-FFF2-40B4-BE49-F238E27FC236}">
                <a16:creationId xmlns:a16="http://schemas.microsoft.com/office/drawing/2014/main" id="{6ECD625A-6FAE-4850-834A-0B0C9B94DBB6}"/>
              </a:ext>
            </a:extLst>
          </p:cNvPr>
          <p:cNvSpPr txBox="1"/>
          <p:nvPr/>
        </p:nvSpPr>
        <p:spPr>
          <a:xfrm rot="2760000">
            <a:off x="4353009" y="2746225"/>
            <a:ext cx="360750" cy="369332"/>
          </a:xfrm>
          <a:prstGeom prst="rect">
            <a:avLst/>
          </a:prstGeom>
          <a:noFill/>
        </p:spPr>
        <p:txBody>
          <a:bodyPr wrap="square">
            <a:spAutoFit/>
          </a:bodyPr>
          <a:lstStyle/>
          <a:p>
            <a:pPr algn="ctr"/>
            <a:r>
              <a:rPr lang="zh-CN" altLang="en-US" dirty="0">
                <a:solidFill>
                  <a:schemeClr val="tx1">
                    <a:lumMod val="50000"/>
                    <a:lumOff val="50000"/>
                  </a:schemeClr>
                </a:solidFill>
                <a:latin typeface="Times New Roman" panose="02020603050405020304" pitchFamily="18" charset="0"/>
                <a:cs typeface="Times New Roman" panose="02020603050405020304" pitchFamily="18" charset="0"/>
              </a:rPr>
              <a:t>🔑</a:t>
            </a:r>
          </a:p>
        </p:txBody>
      </p:sp>
      <p:sp>
        <p:nvSpPr>
          <p:cNvPr id="47" name="文本框 140">
            <a:extLst>
              <a:ext uri="{FF2B5EF4-FFF2-40B4-BE49-F238E27FC236}">
                <a16:creationId xmlns:a16="http://schemas.microsoft.com/office/drawing/2014/main" id="{6ECD625A-6FAE-4850-834A-0B0C9B94DBB6}"/>
              </a:ext>
            </a:extLst>
          </p:cNvPr>
          <p:cNvSpPr txBox="1"/>
          <p:nvPr/>
        </p:nvSpPr>
        <p:spPr>
          <a:xfrm rot="5400000">
            <a:off x="2732683" y="4249345"/>
            <a:ext cx="360750" cy="369332"/>
          </a:xfrm>
          <a:prstGeom prst="rect">
            <a:avLst/>
          </a:prstGeom>
          <a:noFill/>
        </p:spPr>
        <p:txBody>
          <a:bodyPr wrap="square">
            <a:spAutoFit/>
          </a:bodyPr>
          <a:lstStyle/>
          <a:p>
            <a:pPr algn="ctr"/>
            <a:r>
              <a:rPr lang="zh-CN" altLang="en-US" dirty="0">
                <a:solidFill>
                  <a:schemeClr val="tx1">
                    <a:lumMod val="50000"/>
                    <a:lumOff val="50000"/>
                  </a:schemeClr>
                </a:solidFill>
                <a:latin typeface="Times New Roman" panose="02020603050405020304" pitchFamily="18" charset="0"/>
                <a:cs typeface="Times New Roman" panose="02020603050405020304" pitchFamily="18" charset="0"/>
              </a:rPr>
              <a:t>🔑</a:t>
            </a:r>
          </a:p>
        </p:txBody>
      </p:sp>
      <p:sp>
        <p:nvSpPr>
          <p:cNvPr id="49" name="文本框 140">
            <a:extLst>
              <a:ext uri="{FF2B5EF4-FFF2-40B4-BE49-F238E27FC236}">
                <a16:creationId xmlns:a16="http://schemas.microsoft.com/office/drawing/2014/main" id="{6ECD625A-6FAE-4850-834A-0B0C9B94DBB6}"/>
              </a:ext>
            </a:extLst>
          </p:cNvPr>
          <p:cNvSpPr txBox="1"/>
          <p:nvPr/>
        </p:nvSpPr>
        <p:spPr>
          <a:xfrm rot="5400000">
            <a:off x="6053634" y="4325127"/>
            <a:ext cx="360750" cy="369332"/>
          </a:xfrm>
          <a:prstGeom prst="rect">
            <a:avLst/>
          </a:prstGeom>
          <a:noFill/>
        </p:spPr>
        <p:txBody>
          <a:bodyPr wrap="square">
            <a:spAutoFit/>
          </a:bodyPr>
          <a:lstStyle/>
          <a:p>
            <a:pPr algn="ctr"/>
            <a:r>
              <a:rPr lang="zh-CN" altLang="en-US" dirty="0">
                <a:solidFill>
                  <a:schemeClr val="tx1">
                    <a:lumMod val="50000"/>
                    <a:lumOff val="50000"/>
                  </a:schemeClr>
                </a:solidFill>
                <a:latin typeface="Times New Roman" panose="02020603050405020304" pitchFamily="18" charset="0"/>
                <a:cs typeface="Times New Roman" panose="02020603050405020304" pitchFamily="18" charset="0"/>
              </a:rPr>
              <a:t>🔑</a:t>
            </a:r>
          </a:p>
        </p:txBody>
      </p:sp>
      <p:cxnSp>
        <p:nvCxnSpPr>
          <p:cNvPr id="71" name="直接箭头连接符 70">
            <a:extLst>
              <a:ext uri="{FF2B5EF4-FFF2-40B4-BE49-F238E27FC236}">
                <a16:creationId xmlns:a16="http://schemas.microsoft.com/office/drawing/2014/main" id="{305FD1E5-EBEE-4B35-9961-E427A394FC5F}"/>
              </a:ext>
            </a:extLst>
          </p:cNvPr>
          <p:cNvCxnSpPr>
            <a:cxnSpLocks/>
          </p:cNvCxnSpPr>
          <p:nvPr/>
        </p:nvCxnSpPr>
        <p:spPr>
          <a:xfrm flipH="1" flipV="1">
            <a:off x="6229294" y="3984110"/>
            <a:ext cx="343" cy="3290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6" name="直接箭头连接符 75">
            <a:extLst>
              <a:ext uri="{FF2B5EF4-FFF2-40B4-BE49-F238E27FC236}">
                <a16:creationId xmlns:a16="http://schemas.microsoft.com/office/drawing/2014/main" id="{305FD1E5-EBEE-4B35-9961-E427A394FC5F}"/>
              </a:ext>
            </a:extLst>
          </p:cNvPr>
          <p:cNvCxnSpPr>
            <a:cxnSpLocks/>
          </p:cNvCxnSpPr>
          <p:nvPr/>
        </p:nvCxnSpPr>
        <p:spPr>
          <a:xfrm flipH="1" flipV="1">
            <a:off x="7822063" y="3203696"/>
            <a:ext cx="343" cy="3290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6" name="矩形 45">
            <a:extLst>
              <a:ext uri="{FF2B5EF4-FFF2-40B4-BE49-F238E27FC236}">
                <a16:creationId xmlns:a16="http://schemas.microsoft.com/office/drawing/2014/main" id="{5760E049-1411-4EF0-B5D4-017303AB7D60}"/>
              </a:ext>
            </a:extLst>
          </p:cNvPr>
          <p:cNvSpPr>
            <a:spLocks noChangeAspect="1"/>
          </p:cNvSpPr>
          <p:nvPr/>
        </p:nvSpPr>
        <p:spPr>
          <a:xfrm rot="10800000">
            <a:off x="7132810" y="3507719"/>
            <a:ext cx="1420773" cy="4320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Tree>
    <p:extLst>
      <p:ext uri="{BB962C8B-B14F-4D97-AF65-F5344CB8AC3E}">
        <p14:creationId xmlns:p14="http://schemas.microsoft.com/office/powerpoint/2010/main" val="404682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35</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X.509 </a:t>
            </a:r>
            <a:r>
              <a:rPr lang="zh-CN" altLang="en-US" sz="2400" b="1" dirty="0">
                <a:solidFill>
                  <a:srgbClr val="0000FF"/>
                </a:solidFill>
                <a:latin typeface="Times New Roman" panose="02020603050405020304" pitchFamily="18" charset="0"/>
                <a:cs typeface="Times New Roman" panose="02020603050405020304" pitchFamily="18" charset="0"/>
              </a:rPr>
              <a:t>证书：撤销</a:t>
            </a:r>
          </a:p>
        </p:txBody>
      </p:sp>
      <p:grpSp>
        <p:nvGrpSpPr>
          <p:cNvPr id="10" name="组合 9">
            <a:extLst>
              <a:ext uri="{FF2B5EF4-FFF2-40B4-BE49-F238E27FC236}">
                <a16:creationId xmlns:a16="http://schemas.microsoft.com/office/drawing/2014/main" id="{678F8659-0F98-4CBC-A899-FDE4539F7E99}"/>
              </a:ext>
            </a:extLst>
          </p:cNvPr>
          <p:cNvGrpSpPr/>
          <p:nvPr/>
        </p:nvGrpSpPr>
        <p:grpSpPr>
          <a:xfrm>
            <a:off x="5099812" y="1618821"/>
            <a:ext cx="3270499" cy="4123278"/>
            <a:chOff x="2521790" y="2174376"/>
            <a:chExt cx="3270499" cy="4123278"/>
          </a:xfrm>
        </p:grpSpPr>
        <p:sp>
          <p:nvSpPr>
            <p:cNvPr id="48" name="矩形 47">
              <a:extLst>
                <a:ext uri="{FF2B5EF4-FFF2-40B4-BE49-F238E27FC236}">
                  <a16:creationId xmlns:a16="http://schemas.microsoft.com/office/drawing/2014/main" id="{D34771C1-E429-406F-B495-2CF366FE1CEA}"/>
                </a:ext>
              </a:extLst>
            </p:cNvPr>
            <p:cNvSpPr>
              <a:spLocks noChangeAspect="1"/>
            </p:cNvSpPr>
            <p:nvPr/>
          </p:nvSpPr>
          <p:spPr>
            <a:xfrm rot="10800000" flipV="1">
              <a:off x="3765310" y="2246958"/>
              <a:ext cx="2026979" cy="540798"/>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600" dirty="0">
                  <a:solidFill>
                    <a:schemeClr val="tx1"/>
                  </a:solidFill>
                </a:rPr>
                <a:t>算法</a:t>
              </a:r>
              <a:endParaRPr lang="en-US" altLang="zh-CN" sz="1600" dirty="0">
                <a:solidFill>
                  <a:schemeClr val="tx1"/>
                </a:solidFill>
              </a:endParaRPr>
            </a:p>
            <a:p>
              <a:pPr algn="ctr">
                <a:spcBef>
                  <a:spcPts val="300"/>
                </a:spcBef>
              </a:pPr>
              <a:r>
                <a:rPr lang="zh-CN" altLang="en-US" sz="1600" dirty="0">
                  <a:solidFill>
                    <a:schemeClr val="tx1"/>
                  </a:solidFill>
                </a:rPr>
                <a:t>参数</a:t>
              </a:r>
            </a:p>
          </p:txBody>
        </p:sp>
        <p:cxnSp>
          <p:nvCxnSpPr>
            <p:cNvPr id="5" name="直接连接符 4">
              <a:extLst>
                <a:ext uri="{FF2B5EF4-FFF2-40B4-BE49-F238E27FC236}">
                  <a16:creationId xmlns:a16="http://schemas.microsoft.com/office/drawing/2014/main" id="{711ADEC9-7571-44E5-A44C-04FC71324641}"/>
                </a:ext>
              </a:extLst>
            </p:cNvPr>
            <p:cNvCxnSpPr>
              <a:stCxn id="48" idx="3"/>
              <a:endCxn id="48" idx="1"/>
            </p:cNvCxnSpPr>
            <p:nvPr/>
          </p:nvCxnSpPr>
          <p:spPr>
            <a:xfrm>
              <a:off x="3765310" y="2517357"/>
              <a:ext cx="2026979" cy="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50" name="矩形 49">
              <a:extLst>
                <a:ext uri="{FF2B5EF4-FFF2-40B4-BE49-F238E27FC236}">
                  <a16:creationId xmlns:a16="http://schemas.microsoft.com/office/drawing/2014/main" id="{3884B265-0118-4F0F-8517-F678CEFCB910}"/>
                </a:ext>
              </a:extLst>
            </p:cNvPr>
            <p:cNvSpPr>
              <a:spLocks noChangeAspect="1"/>
            </p:cNvSpPr>
            <p:nvPr/>
          </p:nvSpPr>
          <p:spPr>
            <a:xfrm rot="10800000" flipV="1">
              <a:off x="3765309" y="2781778"/>
              <a:ext cx="2026979" cy="307425"/>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solidFill>
                    <a:schemeClr val="tx1"/>
                  </a:solidFill>
                </a:rPr>
                <a:t>发行者名称</a:t>
              </a:r>
            </a:p>
          </p:txBody>
        </p:sp>
        <p:sp>
          <p:nvSpPr>
            <p:cNvPr id="55" name="矩形 54">
              <a:extLst>
                <a:ext uri="{FF2B5EF4-FFF2-40B4-BE49-F238E27FC236}">
                  <a16:creationId xmlns:a16="http://schemas.microsoft.com/office/drawing/2014/main" id="{E3A14C69-93C7-475C-AC6C-2604AB55B7A0}"/>
                </a:ext>
              </a:extLst>
            </p:cNvPr>
            <p:cNvSpPr>
              <a:spLocks noChangeAspect="1"/>
            </p:cNvSpPr>
            <p:nvPr/>
          </p:nvSpPr>
          <p:spPr>
            <a:xfrm rot="10800000" flipV="1">
              <a:off x="3765307" y="3690641"/>
              <a:ext cx="2026979" cy="513652"/>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600" dirty="0">
                  <a:solidFill>
                    <a:schemeClr val="tx1"/>
                  </a:solidFill>
                </a:rPr>
                <a:t>用户证书序列</a:t>
              </a:r>
              <a:r>
                <a:rPr lang="en-US" altLang="zh-CN" sz="1600" dirty="0">
                  <a:solidFill>
                    <a:schemeClr val="tx1"/>
                  </a:solidFill>
                </a:rPr>
                <a:t>#</a:t>
              </a:r>
            </a:p>
            <a:p>
              <a:pPr algn="ctr"/>
              <a:r>
                <a:rPr lang="zh-CN" altLang="en-US" sz="1600" dirty="0">
                  <a:solidFill>
                    <a:schemeClr val="tx1"/>
                  </a:solidFill>
                </a:rPr>
                <a:t>撤销时间</a:t>
              </a:r>
            </a:p>
          </p:txBody>
        </p:sp>
        <p:cxnSp>
          <p:nvCxnSpPr>
            <p:cNvPr id="56" name="直接连接符 55">
              <a:extLst>
                <a:ext uri="{FF2B5EF4-FFF2-40B4-BE49-F238E27FC236}">
                  <a16:creationId xmlns:a16="http://schemas.microsoft.com/office/drawing/2014/main" id="{C052F43A-0077-4B26-B9D5-7B8DF1B5C1CC}"/>
                </a:ext>
              </a:extLst>
            </p:cNvPr>
            <p:cNvCxnSpPr>
              <a:cxnSpLocks/>
              <a:stCxn id="55" idx="3"/>
              <a:endCxn id="55" idx="1"/>
            </p:cNvCxnSpPr>
            <p:nvPr/>
          </p:nvCxnSpPr>
          <p:spPr>
            <a:xfrm>
              <a:off x="3765307" y="3947467"/>
              <a:ext cx="2026979" cy="0"/>
            </a:xfrm>
            <a:prstGeom prst="line">
              <a:avLst/>
            </a:prstGeom>
            <a:ln w="12700">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9CA008B3-F750-43FC-9F6A-66683A33D42E}"/>
                    </a:ext>
                  </a:extLst>
                </p:cNvPr>
                <p:cNvSpPr>
                  <a:spLocks noChangeAspect="1"/>
                </p:cNvSpPr>
                <p:nvPr/>
              </p:nvSpPr>
              <p:spPr>
                <a:xfrm rot="10800000" flipV="1">
                  <a:off x="3765307" y="4198184"/>
                  <a:ext cx="2026979" cy="794588"/>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ea typeface="Cambria Math" panose="02040503050406030204" pitchFamily="18" charset="0"/>
                          </a:rPr>
                          <m:t>∙</m:t>
                        </m:r>
                      </m:oMath>
                    </m:oMathPara>
                  </a14:m>
                  <a:endParaRPr lang="en-US" altLang="zh-CN" dirty="0">
                    <a:solidFill>
                      <a:schemeClr val="tx1"/>
                    </a:solidFill>
                  </a:endParaRPr>
                </a:p>
                <a:p>
                  <a:pPr algn="ct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ea typeface="Cambria Math" panose="02040503050406030204" pitchFamily="18" charset="0"/>
                          </a:rPr>
                          <m:t>∙</m:t>
                        </m:r>
                      </m:oMath>
                    </m:oMathPara>
                  </a14:m>
                  <a:endParaRPr lang="en-US" altLang="zh-CN" dirty="0">
                    <a:solidFill>
                      <a:schemeClr val="tx1"/>
                    </a:solidFill>
                  </a:endParaRPr>
                </a:p>
                <a:p>
                  <a:pPr algn="ctr">
                    <a:spcBef>
                      <a:spcPts val="300"/>
                    </a:spcBef>
                  </a:pP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ea typeface="Cambria Math" panose="02040503050406030204" pitchFamily="18" charset="0"/>
                          </a:rPr>
                          <m:t>∙</m:t>
                        </m:r>
                      </m:oMath>
                    </m:oMathPara>
                  </a14:m>
                  <a:endParaRPr lang="zh-CN" altLang="en-US" dirty="0">
                    <a:solidFill>
                      <a:schemeClr val="tx1"/>
                    </a:solidFill>
                  </a:endParaRPr>
                </a:p>
              </p:txBody>
            </p:sp>
          </mc:Choice>
          <mc:Fallback xmlns="">
            <p:sp>
              <p:nvSpPr>
                <p:cNvPr id="62" name="矩形 61">
                  <a:extLst>
                    <a:ext uri="{FF2B5EF4-FFF2-40B4-BE49-F238E27FC236}">
                      <a16:creationId xmlns:a16="http://schemas.microsoft.com/office/drawing/2014/main" id="{9CA008B3-F750-43FC-9F6A-66683A33D42E}"/>
                    </a:ext>
                  </a:extLst>
                </p:cNvPr>
                <p:cNvSpPr>
                  <a:spLocks noRot="1" noChangeAspect="1" noMove="1" noResize="1" noEditPoints="1" noAdjustHandles="1" noChangeArrowheads="1" noChangeShapeType="1" noTextEdit="1"/>
                </p:cNvSpPr>
                <p:nvPr/>
              </p:nvSpPr>
              <p:spPr>
                <a:xfrm rot="10800000" flipV="1">
                  <a:off x="3765307" y="4198184"/>
                  <a:ext cx="2026979" cy="794588"/>
                </a:xfrm>
                <a:prstGeom prst="rect">
                  <a:avLst/>
                </a:prstGeom>
                <a:blipFill>
                  <a:blip r:embed="rId3"/>
                  <a:stretch>
                    <a:fillRect/>
                  </a:stretch>
                </a:blipFill>
                <a:ln w="12700">
                  <a:solidFill>
                    <a:schemeClr val="tx1"/>
                  </a:solidFill>
                </a:ln>
              </p:spPr>
              <p:txBody>
                <a:bodyPr/>
                <a:lstStyle/>
                <a:p>
                  <a:r>
                    <a:rPr lang="zh-CN" altLang="en-US">
                      <a:noFill/>
                    </a:rPr>
                    <a:t> </a:t>
                  </a:r>
                </a:p>
              </p:txBody>
            </p:sp>
          </mc:Fallback>
        </mc:AlternateContent>
        <p:sp>
          <p:nvSpPr>
            <p:cNvPr id="76" name="矩形 75">
              <a:extLst>
                <a:ext uri="{FF2B5EF4-FFF2-40B4-BE49-F238E27FC236}">
                  <a16:creationId xmlns:a16="http://schemas.microsoft.com/office/drawing/2014/main" id="{75352AA3-FA3C-4CBC-B22C-2D718415087C}"/>
                </a:ext>
              </a:extLst>
            </p:cNvPr>
            <p:cNvSpPr>
              <a:spLocks noChangeAspect="1"/>
            </p:cNvSpPr>
            <p:nvPr/>
          </p:nvSpPr>
          <p:spPr>
            <a:xfrm rot="10800000" flipV="1">
              <a:off x="3765307" y="5503066"/>
              <a:ext cx="2026979" cy="794588"/>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600" dirty="0">
                  <a:solidFill>
                    <a:schemeClr val="tx1"/>
                  </a:solidFill>
                </a:rPr>
                <a:t>算法</a:t>
              </a:r>
              <a:endParaRPr lang="en-US" altLang="zh-CN" sz="1600" dirty="0">
                <a:solidFill>
                  <a:schemeClr val="tx1"/>
                </a:solidFill>
              </a:endParaRPr>
            </a:p>
            <a:p>
              <a:pPr algn="ctr">
                <a:spcBef>
                  <a:spcPts val="300"/>
                </a:spcBef>
              </a:pPr>
              <a:r>
                <a:rPr lang="zh-CN" altLang="en-US" sz="1600" dirty="0">
                  <a:solidFill>
                    <a:schemeClr val="tx1"/>
                  </a:solidFill>
                </a:rPr>
                <a:t>参数</a:t>
              </a:r>
              <a:endParaRPr lang="en-US" altLang="zh-CN" sz="1600" dirty="0">
                <a:solidFill>
                  <a:schemeClr val="tx1"/>
                </a:solidFill>
              </a:endParaRPr>
            </a:p>
            <a:p>
              <a:pPr algn="ctr">
                <a:spcBef>
                  <a:spcPts val="300"/>
                </a:spcBef>
              </a:pPr>
              <a:r>
                <a:rPr lang="zh-CN" altLang="en-US" sz="1600" dirty="0">
                  <a:solidFill>
                    <a:schemeClr val="tx1"/>
                  </a:solidFill>
                </a:rPr>
                <a:t>加密哈希（签名）</a:t>
              </a:r>
            </a:p>
          </p:txBody>
        </p:sp>
        <p:cxnSp>
          <p:nvCxnSpPr>
            <p:cNvPr id="77" name="直接连接符 76">
              <a:extLst>
                <a:ext uri="{FF2B5EF4-FFF2-40B4-BE49-F238E27FC236}">
                  <a16:creationId xmlns:a16="http://schemas.microsoft.com/office/drawing/2014/main" id="{D5CB7448-964E-4F46-BF7B-B0ECB7FA0B37}"/>
                </a:ext>
              </a:extLst>
            </p:cNvPr>
            <p:cNvCxnSpPr>
              <a:cxnSpLocks/>
            </p:cNvCxnSpPr>
            <p:nvPr/>
          </p:nvCxnSpPr>
          <p:spPr>
            <a:xfrm flipH="1">
              <a:off x="3765306" y="5768440"/>
              <a:ext cx="2026982"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78" name="直接连接符 77">
              <a:extLst>
                <a:ext uri="{FF2B5EF4-FFF2-40B4-BE49-F238E27FC236}">
                  <a16:creationId xmlns:a16="http://schemas.microsoft.com/office/drawing/2014/main" id="{5B449166-CEDA-41E2-AFA8-DB4EF4C468BE}"/>
                </a:ext>
              </a:extLst>
            </p:cNvPr>
            <p:cNvCxnSpPr>
              <a:cxnSpLocks/>
            </p:cNvCxnSpPr>
            <p:nvPr/>
          </p:nvCxnSpPr>
          <p:spPr>
            <a:xfrm flipH="1">
              <a:off x="3765306" y="6047840"/>
              <a:ext cx="2026982" cy="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87" name="文本框 86">
              <a:extLst>
                <a:ext uri="{FF2B5EF4-FFF2-40B4-BE49-F238E27FC236}">
                  <a16:creationId xmlns:a16="http://schemas.microsoft.com/office/drawing/2014/main" id="{0B28B366-BD4E-4CD4-B4BD-A197E39480C2}"/>
                </a:ext>
              </a:extLst>
            </p:cNvPr>
            <p:cNvSpPr txBox="1"/>
            <p:nvPr/>
          </p:nvSpPr>
          <p:spPr>
            <a:xfrm>
              <a:off x="2525049" y="2174376"/>
              <a:ext cx="1121012" cy="646331"/>
            </a:xfrm>
            <a:prstGeom prst="rect">
              <a:avLst/>
            </a:prstGeom>
            <a:noFill/>
          </p:spPr>
          <p:txBody>
            <a:bodyPr wrap="square">
              <a:spAutoFit/>
            </a:bodyPr>
            <a:lstStyle/>
            <a:p>
              <a:pPr algn="ctr"/>
              <a:r>
                <a:rPr lang="zh-CN" altLang="en-US" dirty="0"/>
                <a:t>签名算法标识符</a:t>
              </a:r>
            </a:p>
          </p:txBody>
        </p:sp>
        <p:sp>
          <p:nvSpPr>
            <p:cNvPr id="37" name="左大括号 36">
              <a:extLst>
                <a:ext uri="{FF2B5EF4-FFF2-40B4-BE49-F238E27FC236}">
                  <a16:creationId xmlns:a16="http://schemas.microsoft.com/office/drawing/2014/main" id="{4BD3E69F-0DB5-4B6E-8031-6914EB02886A}"/>
                </a:ext>
              </a:extLst>
            </p:cNvPr>
            <p:cNvSpPr/>
            <p:nvPr/>
          </p:nvSpPr>
          <p:spPr>
            <a:xfrm>
              <a:off x="3568095" y="2256954"/>
              <a:ext cx="155933" cy="520806"/>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F5DF30CC-E88A-4AB4-A411-DEB2EB4465AF}"/>
                </a:ext>
              </a:extLst>
            </p:cNvPr>
            <p:cNvSpPr txBox="1"/>
            <p:nvPr/>
          </p:nvSpPr>
          <p:spPr>
            <a:xfrm>
              <a:off x="2521790" y="3754047"/>
              <a:ext cx="1121012" cy="369332"/>
            </a:xfrm>
            <a:prstGeom prst="rect">
              <a:avLst/>
            </a:prstGeom>
            <a:noFill/>
          </p:spPr>
          <p:txBody>
            <a:bodyPr wrap="square">
              <a:spAutoFit/>
            </a:bodyPr>
            <a:lstStyle/>
            <a:p>
              <a:pPr algn="ctr"/>
              <a:r>
                <a:rPr lang="zh-CN" altLang="en-US" dirty="0"/>
                <a:t>撤销证书</a:t>
              </a:r>
            </a:p>
          </p:txBody>
        </p:sp>
        <p:sp>
          <p:nvSpPr>
            <p:cNvPr id="90" name="左大括号 89">
              <a:extLst>
                <a:ext uri="{FF2B5EF4-FFF2-40B4-BE49-F238E27FC236}">
                  <a16:creationId xmlns:a16="http://schemas.microsoft.com/office/drawing/2014/main" id="{EB8A7612-5B5D-42E4-B783-F4105C8D575A}"/>
                </a:ext>
              </a:extLst>
            </p:cNvPr>
            <p:cNvSpPr/>
            <p:nvPr/>
          </p:nvSpPr>
          <p:spPr>
            <a:xfrm>
              <a:off x="3568095" y="3684530"/>
              <a:ext cx="155933" cy="513654"/>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5" name="文本框 94">
              <a:extLst>
                <a:ext uri="{FF2B5EF4-FFF2-40B4-BE49-F238E27FC236}">
                  <a16:creationId xmlns:a16="http://schemas.microsoft.com/office/drawing/2014/main" id="{B8FC2B8F-4D08-4B1E-9FF3-F225DB6EA667}"/>
                </a:ext>
              </a:extLst>
            </p:cNvPr>
            <p:cNvSpPr txBox="1"/>
            <p:nvPr/>
          </p:nvSpPr>
          <p:spPr>
            <a:xfrm>
              <a:off x="2521790" y="5708164"/>
              <a:ext cx="1121012" cy="369332"/>
            </a:xfrm>
            <a:prstGeom prst="rect">
              <a:avLst/>
            </a:prstGeom>
            <a:noFill/>
          </p:spPr>
          <p:txBody>
            <a:bodyPr wrap="square">
              <a:spAutoFit/>
            </a:bodyPr>
            <a:lstStyle/>
            <a:p>
              <a:pPr algn="ctr"/>
              <a:r>
                <a:rPr lang="zh-CN" altLang="en-US" dirty="0"/>
                <a:t>签名</a:t>
              </a:r>
            </a:p>
          </p:txBody>
        </p:sp>
        <p:sp>
          <p:nvSpPr>
            <p:cNvPr id="96" name="左大括号 95">
              <a:extLst>
                <a:ext uri="{FF2B5EF4-FFF2-40B4-BE49-F238E27FC236}">
                  <a16:creationId xmlns:a16="http://schemas.microsoft.com/office/drawing/2014/main" id="{72B61226-80B8-4BFE-BCF5-D53A9272404F}"/>
                </a:ext>
              </a:extLst>
            </p:cNvPr>
            <p:cNvSpPr/>
            <p:nvPr/>
          </p:nvSpPr>
          <p:spPr>
            <a:xfrm>
              <a:off x="3568095" y="5500359"/>
              <a:ext cx="155933" cy="794589"/>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437620DE-7EAF-4F27-A3FD-E3243F79FA37}"/>
                </a:ext>
              </a:extLst>
            </p:cNvPr>
            <p:cNvSpPr>
              <a:spLocks noChangeAspect="1"/>
            </p:cNvSpPr>
            <p:nvPr/>
          </p:nvSpPr>
          <p:spPr>
            <a:xfrm rot="10800000" flipV="1">
              <a:off x="3765307" y="3084566"/>
              <a:ext cx="2026979" cy="307425"/>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solidFill>
                    <a:schemeClr val="tx1"/>
                  </a:solidFill>
                </a:rPr>
                <a:t>这次更新时间</a:t>
              </a:r>
            </a:p>
          </p:txBody>
        </p:sp>
        <p:sp>
          <p:nvSpPr>
            <p:cNvPr id="44" name="矩形 43">
              <a:extLst>
                <a:ext uri="{FF2B5EF4-FFF2-40B4-BE49-F238E27FC236}">
                  <a16:creationId xmlns:a16="http://schemas.microsoft.com/office/drawing/2014/main" id="{19CD0BAC-E4FE-48CE-9521-11EB816EA986}"/>
                </a:ext>
              </a:extLst>
            </p:cNvPr>
            <p:cNvSpPr>
              <a:spLocks noChangeAspect="1"/>
            </p:cNvSpPr>
            <p:nvPr/>
          </p:nvSpPr>
          <p:spPr>
            <a:xfrm rot="10800000" flipV="1">
              <a:off x="3765307" y="3382439"/>
              <a:ext cx="2026979" cy="307425"/>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solidFill>
                    <a:schemeClr val="tx1"/>
                  </a:solidFill>
                </a:rPr>
                <a:t>下次更新时间</a:t>
              </a:r>
            </a:p>
          </p:txBody>
        </p:sp>
        <p:sp>
          <p:nvSpPr>
            <p:cNvPr id="52" name="矩形 51">
              <a:extLst>
                <a:ext uri="{FF2B5EF4-FFF2-40B4-BE49-F238E27FC236}">
                  <a16:creationId xmlns:a16="http://schemas.microsoft.com/office/drawing/2014/main" id="{5463B875-6D51-4BB7-BAE2-59E4D3E95FE0}"/>
                </a:ext>
              </a:extLst>
            </p:cNvPr>
            <p:cNvSpPr>
              <a:spLocks noChangeAspect="1"/>
            </p:cNvSpPr>
            <p:nvPr/>
          </p:nvSpPr>
          <p:spPr>
            <a:xfrm rot="10800000" flipV="1">
              <a:off x="3765307" y="4989414"/>
              <a:ext cx="2026979" cy="513652"/>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600" dirty="0">
                  <a:solidFill>
                    <a:schemeClr val="tx1"/>
                  </a:solidFill>
                </a:rPr>
                <a:t>用户证书序列</a:t>
              </a:r>
              <a:r>
                <a:rPr lang="en-US" altLang="zh-CN" sz="1600" dirty="0">
                  <a:solidFill>
                    <a:schemeClr val="tx1"/>
                  </a:solidFill>
                </a:rPr>
                <a:t>#</a:t>
              </a:r>
            </a:p>
            <a:p>
              <a:pPr algn="ctr"/>
              <a:r>
                <a:rPr lang="zh-CN" altLang="en-US" sz="1600" dirty="0">
                  <a:solidFill>
                    <a:schemeClr val="tx1"/>
                  </a:solidFill>
                </a:rPr>
                <a:t>撤销时间</a:t>
              </a:r>
            </a:p>
          </p:txBody>
        </p:sp>
        <p:cxnSp>
          <p:nvCxnSpPr>
            <p:cNvPr id="53" name="直接连接符 52">
              <a:extLst>
                <a:ext uri="{FF2B5EF4-FFF2-40B4-BE49-F238E27FC236}">
                  <a16:creationId xmlns:a16="http://schemas.microsoft.com/office/drawing/2014/main" id="{7C90E8E5-D730-4C61-AF59-96803045EEDE}"/>
                </a:ext>
              </a:extLst>
            </p:cNvPr>
            <p:cNvCxnSpPr>
              <a:cxnSpLocks/>
              <a:stCxn id="52" idx="3"/>
              <a:endCxn id="52" idx="1"/>
            </p:cNvCxnSpPr>
            <p:nvPr/>
          </p:nvCxnSpPr>
          <p:spPr>
            <a:xfrm>
              <a:off x="3765307" y="5246240"/>
              <a:ext cx="2026979" cy="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54" name="文本框 53">
              <a:extLst>
                <a:ext uri="{FF2B5EF4-FFF2-40B4-BE49-F238E27FC236}">
                  <a16:creationId xmlns:a16="http://schemas.microsoft.com/office/drawing/2014/main" id="{54B0A9B7-23CC-4163-9186-9FA5231B1B45}"/>
                </a:ext>
              </a:extLst>
            </p:cNvPr>
            <p:cNvSpPr txBox="1"/>
            <p:nvPr/>
          </p:nvSpPr>
          <p:spPr>
            <a:xfrm>
              <a:off x="2521790" y="5048571"/>
              <a:ext cx="1121012" cy="369332"/>
            </a:xfrm>
            <a:prstGeom prst="rect">
              <a:avLst/>
            </a:prstGeom>
            <a:noFill/>
          </p:spPr>
          <p:txBody>
            <a:bodyPr wrap="square">
              <a:spAutoFit/>
            </a:bodyPr>
            <a:lstStyle/>
            <a:p>
              <a:pPr algn="ctr"/>
              <a:r>
                <a:rPr lang="zh-CN" altLang="en-US" dirty="0"/>
                <a:t>撤销证书</a:t>
              </a:r>
            </a:p>
          </p:txBody>
        </p:sp>
        <p:sp>
          <p:nvSpPr>
            <p:cNvPr id="57" name="左大括号 56">
              <a:extLst>
                <a:ext uri="{FF2B5EF4-FFF2-40B4-BE49-F238E27FC236}">
                  <a16:creationId xmlns:a16="http://schemas.microsoft.com/office/drawing/2014/main" id="{C6BB7A47-F9E6-45BC-90AD-708FC79F0476}"/>
                </a:ext>
              </a:extLst>
            </p:cNvPr>
            <p:cNvSpPr/>
            <p:nvPr/>
          </p:nvSpPr>
          <p:spPr>
            <a:xfrm>
              <a:off x="3568095" y="4979054"/>
              <a:ext cx="155933" cy="513654"/>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sp>
        <p:nvSpPr>
          <p:cNvPr id="59" name="文本框 58">
            <a:extLst>
              <a:ext uri="{FF2B5EF4-FFF2-40B4-BE49-F238E27FC236}">
                <a16:creationId xmlns:a16="http://schemas.microsoft.com/office/drawing/2014/main" id="{57D0591D-8532-4563-A70A-1AD602C6CD8A}"/>
              </a:ext>
            </a:extLst>
          </p:cNvPr>
          <p:cNvSpPr txBox="1"/>
          <p:nvPr/>
        </p:nvSpPr>
        <p:spPr>
          <a:xfrm>
            <a:off x="312518" y="1816045"/>
            <a:ext cx="4204892" cy="3792641"/>
          </a:xfrm>
          <a:prstGeom prst="rect">
            <a:avLst/>
          </a:prstGeom>
          <a:noFill/>
        </p:spPr>
        <p:txBody>
          <a:bodyPr wrap="square" rtlCol="0">
            <a:spAutoFit/>
          </a:bodyPr>
          <a:lstStyle/>
          <a:p>
            <a:pPr marL="342900" indent="-342900">
              <a:lnSpc>
                <a:spcPct val="13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证书有一个有效期限</a:t>
            </a:r>
            <a:endParaRPr lang="en-US" altLang="zh-CN" sz="2000" dirty="0">
              <a:latin typeface="Times New Roman" panose="02020603050405020304" pitchFamily="18" charset="0"/>
              <a:cs typeface="Times New Roman" panose="02020603050405020304" pitchFamily="18" charset="0"/>
            </a:endParaRPr>
          </a:p>
          <a:p>
            <a:pPr marL="342900" indent="-342900">
              <a:lnSpc>
                <a:spcPct val="13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发生以下情况需要在到期前撤销</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用户的私钥被泄露</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用户不再被该</a:t>
            </a:r>
            <a:r>
              <a:rPr lang="en-US" altLang="zh-CN" sz="2000" dirty="0">
                <a:latin typeface="Times New Roman" panose="02020603050405020304" pitchFamily="18" charset="0"/>
                <a:cs typeface="Times New Roman" panose="02020603050405020304" pitchFamily="18" charset="0"/>
              </a:rPr>
              <a:t>CA</a:t>
            </a:r>
            <a:r>
              <a:rPr lang="zh-CN" altLang="en-US" sz="2000" dirty="0">
                <a:latin typeface="Times New Roman" panose="02020603050405020304" pitchFamily="18" charset="0"/>
                <a:cs typeface="Times New Roman" panose="02020603050405020304" pitchFamily="18" charset="0"/>
              </a:rPr>
              <a:t>认证</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30000"/>
              </a:lnSpc>
              <a:spcBef>
                <a:spcPts val="600"/>
              </a:spcBef>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CA</a:t>
            </a:r>
            <a:r>
              <a:rPr lang="zh-CN" altLang="en-US" sz="2000" dirty="0">
                <a:latin typeface="Times New Roman" panose="02020603050405020304" pitchFamily="18" charset="0"/>
                <a:cs typeface="Times New Roman" panose="02020603050405020304" pitchFamily="18" charset="0"/>
              </a:rPr>
              <a:t>的证书被破坏</a:t>
            </a:r>
            <a:endParaRPr lang="en-US" altLang="zh-CN" sz="2000" dirty="0">
              <a:latin typeface="Times New Roman" panose="02020603050405020304" pitchFamily="18" charset="0"/>
              <a:cs typeface="Times New Roman" panose="02020603050405020304" pitchFamily="18" charset="0"/>
            </a:endParaRPr>
          </a:p>
          <a:p>
            <a:pPr marL="342900" indent="-342900">
              <a:lnSpc>
                <a:spcPct val="130000"/>
              </a:lnSpc>
              <a:spcBef>
                <a:spcPts val="600"/>
              </a:spcBef>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CA</a:t>
            </a:r>
            <a:r>
              <a:rPr lang="zh-CN" altLang="en-US" sz="2000" dirty="0">
                <a:latin typeface="Times New Roman" panose="02020603050405020304" pitchFamily="18" charset="0"/>
                <a:cs typeface="Times New Roman" panose="02020603050405020304" pitchFamily="18" charset="0"/>
              </a:rPr>
              <a:t>维护已撤销的证书列表</a:t>
            </a:r>
            <a:endParaRPr lang="en-US" altLang="zh-CN" sz="2000" dirty="0">
              <a:latin typeface="Times New Roman" panose="02020603050405020304" pitchFamily="18" charset="0"/>
              <a:cs typeface="Times New Roman" panose="02020603050405020304" pitchFamily="18" charset="0"/>
            </a:endParaRPr>
          </a:p>
          <a:p>
            <a:pPr marL="800100" lvl="1" indent="-342900">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证书撤销列表</a:t>
            </a:r>
            <a:r>
              <a:rPr lang="en-US" altLang="zh-CN" sz="2000" dirty="0">
                <a:latin typeface="Times New Roman" panose="02020603050405020304" pitchFamily="18" charset="0"/>
                <a:cs typeface="Times New Roman" panose="02020603050405020304" pitchFamily="18" charset="0"/>
              </a:rPr>
              <a:t>(CRL)</a:t>
            </a:r>
            <a:endParaRPr lang="zh-CN" altLang="en-US" sz="2000" dirty="0">
              <a:latin typeface="Times New Roman" panose="02020603050405020304" pitchFamily="18" charset="0"/>
              <a:cs typeface="Times New Roman" panose="02020603050405020304" pitchFamily="18" charset="0"/>
            </a:endParaRPr>
          </a:p>
          <a:p>
            <a:pPr marL="342900" indent="-342900">
              <a:lnSpc>
                <a:spcPct val="13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用户应根据</a:t>
            </a:r>
            <a:r>
              <a:rPr lang="en-US" altLang="zh-CN" sz="2000" dirty="0">
                <a:latin typeface="Times New Roman" panose="02020603050405020304" pitchFamily="18" charset="0"/>
                <a:cs typeface="Times New Roman" panose="02020603050405020304" pitchFamily="18" charset="0"/>
              </a:rPr>
              <a:t>CA</a:t>
            </a:r>
            <a:r>
              <a:rPr lang="zh-CN" altLang="en-US" sz="2000" dirty="0">
                <a:latin typeface="Times New Roman" panose="02020603050405020304" pitchFamily="18" charset="0"/>
                <a:cs typeface="Times New Roman" panose="02020603050405020304" pitchFamily="18" charset="0"/>
              </a:rPr>
              <a:t>的</a:t>
            </a:r>
            <a:r>
              <a:rPr lang="en-US" altLang="zh-CN" sz="2000" dirty="0">
                <a:latin typeface="Times New Roman" panose="02020603050405020304" pitchFamily="18" charset="0"/>
                <a:cs typeface="Times New Roman" panose="02020603050405020304" pitchFamily="18" charset="0"/>
              </a:rPr>
              <a:t>CRL</a:t>
            </a:r>
            <a:r>
              <a:rPr lang="zh-CN" altLang="en-US" sz="2000" dirty="0">
                <a:latin typeface="Times New Roman" panose="02020603050405020304" pitchFamily="18" charset="0"/>
                <a:cs typeface="Times New Roman" panose="02020603050405020304" pitchFamily="18" charset="0"/>
              </a:rPr>
              <a:t>检查证书</a:t>
            </a:r>
          </a:p>
        </p:txBody>
      </p:sp>
    </p:spTree>
    <p:extLst>
      <p:ext uri="{BB962C8B-B14F-4D97-AF65-F5344CB8AC3E}">
        <p14:creationId xmlns:p14="http://schemas.microsoft.com/office/powerpoint/2010/main" val="1250394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36</a:t>
            </a:fld>
            <a:endParaRPr lang="zh-CN" altLang="en-US"/>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X.509 </a:t>
            </a:r>
            <a:r>
              <a:rPr lang="zh-CN" altLang="en-US" sz="2400" b="1" dirty="0">
                <a:solidFill>
                  <a:srgbClr val="0000FF"/>
                </a:solidFill>
                <a:latin typeface="Times New Roman" panose="02020603050405020304" pitchFamily="18" charset="0"/>
                <a:cs typeface="Times New Roman" panose="02020603050405020304" pitchFamily="18" charset="0"/>
              </a:rPr>
              <a:t>证书：认证</a:t>
            </a:r>
          </a:p>
        </p:txBody>
      </p:sp>
      <p:sp>
        <p:nvSpPr>
          <p:cNvPr id="59" name="文本框 58">
            <a:extLst>
              <a:ext uri="{FF2B5EF4-FFF2-40B4-BE49-F238E27FC236}">
                <a16:creationId xmlns:a16="http://schemas.microsoft.com/office/drawing/2014/main" id="{57D0591D-8532-4563-A70A-1AD602C6CD8A}"/>
              </a:ext>
            </a:extLst>
          </p:cNvPr>
          <p:cNvSpPr txBox="1"/>
          <p:nvPr/>
        </p:nvSpPr>
        <p:spPr>
          <a:xfrm>
            <a:off x="312518" y="1480765"/>
            <a:ext cx="4204892" cy="430182"/>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单向认证</a:t>
            </a:r>
            <a:endParaRPr lang="en-US" altLang="zh-CN" sz="2000" dirty="0">
              <a:latin typeface="Times New Roman" panose="02020603050405020304" pitchFamily="18" charset="0"/>
              <a:cs typeface="Times New Roman" panose="02020603050405020304" pitchFamily="18" charset="0"/>
            </a:endParaRPr>
          </a:p>
        </p:txBody>
      </p:sp>
      <p:pic>
        <p:nvPicPr>
          <p:cNvPr id="28" name="图形 27" descr="男学生 轮廓">
            <a:extLst>
              <a:ext uri="{FF2B5EF4-FFF2-40B4-BE49-F238E27FC236}">
                <a16:creationId xmlns:a16="http://schemas.microsoft.com/office/drawing/2014/main" id="{F05156B9-E846-4A4E-8B2D-27CEE24A2E3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52230" y="1973262"/>
            <a:ext cx="914400" cy="914400"/>
          </a:xfrm>
          <a:prstGeom prst="rect">
            <a:avLst/>
          </a:prstGeom>
        </p:spPr>
      </p:pic>
      <p:pic>
        <p:nvPicPr>
          <p:cNvPr id="29" name="图形 28" descr="女学生 轮廓">
            <a:extLst>
              <a:ext uri="{FF2B5EF4-FFF2-40B4-BE49-F238E27FC236}">
                <a16:creationId xmlns:a16="http://schemas.microsoft.com/office/drawing/2014/main" id="{52F1A24D-64BC-4FBA-A56F-4A4BB6690FC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2475" y="1973262"/>
            <a:ext cx="914400" cy="914400"/>
          </a:xfrm>
          <a:prstGeom prst="rect">
            <a:avLst/>
          </a:prstGeom>
        </p:spPr>
      </p:pic>
      <p:cxnSp>
        <p:nvCxnSpPr>
          <p:cNvPr id="31" name="直接箭头连接符 30">
            <a:extLst>
              <a:ext uri="{FF2B5EF4-FFF2-40B4-BE49-F238E27FC236}">
                <a16:creationId xmlns:a16="http://schemas.microsoft.com/office/drawing/2014/main" id="{79F6044E-6756-4611-8B56-33BE56E58C28}"/>
              </a:ext>
            </a:extLst>
          </p:cNvPr>
          <p:cNvCxnSpPr>
            <a:cxnSpLocks/>
            <a:stCxn id="29" idx="3"/>
            <a:endCxn id="28" idx="1"/>
          </p:cNvCxnSpPr>
          <p:nvPr/>
        </p:nvCxnSpPr>
        <p:spPr>
          <a:xfrm>
            <a:off x="1946875" y="2430462"/>
            <a:ext cx="5005355" cy="0"/>
          </a:xfrm>
          <a:prstGeom prst="straightConnector1">
            <a:avLst/>
          </a:prstGeom>
          <a:ln w="12700">
            <a:solidFill>
              <a:schemeClr val="tx1"/>
            </a:solidFill>
            <a:headEnd type="triangle" w="med" len="med"/>
            <a:tailEnd type="triangle" w="med" len="med"/>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3182175C-DFB1-4659-BB08-BFF8F05910AE}"/>
                  </a:ext>
                </a:extLst>
              </p:cNvPr>
              <p:cNvSpPr txBox="1"/>
              <p:nvPr/>
            </p:nvSpPr>
            <p:spPr>
              <a:xfrm>
                <a:off x="782321" y="2238223"/>
                <a:ext cx="41549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i="1">
                          <a:latin typeface="Cambria Math" panose="02040503050406030204" pitchFamily="18" charset="0"/>
                        </a:rPr>
                        <m:t>A</m:t>
                      </m:r>
                    </m:oMath>
                  </m:oMathPara>
                </a14:m>
                <a:endParaRPr lang="zh-CN" altLang="en-US" sz="2000" dirty="0"/>
              </a:p>
            </p:txBody>
          </p:sp>
        </mc:Choice>
        <mc:Fallback xmlns="">
          <p:sp>
            <p:nvSpPr>
              <p:cNvPr id="34" name="文本框 33">
                <a:extLst>
                  <a:ext uri="{FF2B5EF4-FFF2-40B4-BE49-F238E27FC236}">
                    <a16:creationId xmlns:a16="http://schemas.microsoft.com/office/drawing/2014/main" id="{3182175C-DFB1-4659-BB08-BFF8F05910AE}"/>
                  </a:ext>
                </a:extLst>
              </p:cNvPr>
              <p:cNvSpPr txBox="1">
                <a:spLocks noRot="1" noChangeAspect="1" noMove="1" noResize="1" noEditPoints="1" noAdjustHandles="1" noChangeArrowheads="1" noChangeShapeType="1" noTextEdit="1"/>
              </p:cNvSpPr>
              <p:nvPr/>
            </p:nvSpPr>
            <p:spPr>
              <a:xfrm>
                <a:off x="782321" y="2238223"/>
                <a:ext cx="415498" cy="40011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B9A55583-DFA8-4AD3-A921-5EA5066764C2}"/>
                  </a:ext>
                </a:extLst>
              </p:cNvPr>
              <p:cNvSpPr txBox="1"/>
              <p:nvPr/>
            </p:nvSpPr>
            <p:spPr>
              <a:xfrm>
                <a:off x="7635862" y="2187455"/>
                <a:ext cx="41229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i="0" dirty="0" smtClean="0">
                          <a:latin typeface="Cambria Math" panose="02040503050406030204" pitchFamily="18" charset="0"/>
                        </a:rPr>
                        <m:t>B</m:t>
                      </m:r>
                    </m:oMath>
                  </m:oMathPara>
                </a14:m>
                <a:endParaRPr lang="zh-CN" altLang="en-US" sz="2000" dirty="0"/>
              </a:p>
            </p:txBody>
          </p:sp>
        </mc:Choice>
        <mc:Fallback xmlns="">
          <p:sp>
            <p:nvSpPr>
              <p:cNvPr id="41" name="文本框 40">
                <a:extLst>
                  <a:ext uri="{FF2B5EF4-FFF2-40B4-BE49-F238E27FC236}">
                    <a16:creationId xmlns:a16="http://schemas.microsoft.com/office/drawing/2014/main" id="{B9A55583-DFA8-4AD3-A921-5EA5066764C2}"/>
                  </a:ext>
                </a:extLst>
              </p:cNvPr>
              <p:cNvSpPr txBox="1">
                <a:spLocks noRot="1" noChangeAspect="1" noMove="1" noResize="1" noEditPoints="1" noAdjustHandles="1" noChangeArrowheads="1" noChangeShapeType="1" noTextEdit="1"/>
              </p:cNvSpPr>
              <p:nvPr/>
            </p:nvSpPr>
            <p:spPr>
              <a:xfrm>
                <a:off x="7635862" y="2187455"/>
                <a:ext cx="412292" cy="4001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B08EDFB-C33C-4685-8FC4-36C2CD13764F}"/>
                  </a:ext>
                </a:extLst>
              </p:cNvPr>
              <p:cNvSpPr txBox="1"/>
              <p:nvPr/>
            </p:nvSpPr>
            <p:spPr>
              <a:xfrm>
                <a:off x="2414964" y="2037341"/>
                <a:ext cx="3966855" cy="3931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𝑆𝑖</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𝐴</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𝐼</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sign</m:t>
                      </m:r>
                      <m:r>
                        <a:rPr lang="en-US" altLang="zh-CN" b="0" i="1" smtClean="0">
                          <a:latin typeface="Cambria Math" panose="02040503050406030204" pitchFamily="18" charset="0"/>
                        </a:rPr>
                        <m:t>𝐷𝑎𝑡𝑎</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𝑃𝑈</m:t>
                              </m:r>
                            </m:e>
                            <m:sub>
                              <m:r>
                                <a:rPr lang="en-US" altLang="zh-CN" b="0" i="1" smtClean="0">
                                  <a:latin typeface="Cambria Math" panose="02040503050406030204" pitchFamily="18" charset="0"/>
                                </a:rPr>
                                <m:t>𝐵</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𝐴𝐵</m:t>
                          </m:r>
                        </m:sub>
                      </m:sSub>
                      <m:r>
                        <a:rPr lang="en-US" altLang="zh-CN" b="0" i="1" smtClean="0">
                          <a:latin typeface="Cambria Math" panose="02040503050406030204" pitchFamily="18" charset="0"/>
                        </a:rPr>
                        <m:t>)}</m:t>
                      </m:r>
                    </m:oMath>
                  </m:oMathPara>
                </a14:m>
                <a:endParaRPr lang="zh-CN" altLang="en-US" dirty="0"/>
              </a:p>
            </p:txBody>
          </p:sp>
        </mc:Choice>
        <mc:Fallback xmlns="">
          <p:sp>
            <p:nvSpPr>
              <p:cNvPr id="11" name="文本框 10">
                <a:extLst>
                  <a:ext uri="{FF2B5EF4-FFF2-40B4-BE49-F238E27FC236}">
                    <a16:creationId xmlns:a16="http://schemas.microsoft.com/office/drawing/2014/main" id="{6B08EDFB-C33C-4685-8FC4-36C2CD13764F}"/>
                  </a:ext>
                </a:extLst>
              </p:cNvPr>
              <p:cNvSpPr txBox="1">
                <a:spLocks noRot="1" noChangeAspect="1" noMove="1" noResize="1" noEditPoints="1" noAdjustHandles="1" noChangeArrowheads="1" noChangeShapeType="1" noTextEdit="1"/>
              </p:cNvSpPr>
              <p:nvPr/>
            </p:nvSpPr>
            <p:spPr>
              <a:xfrm>
                <a:off x="2414964" y="2037341"/>
                <a:ext cx="3966855" cy="393121"/>
              </a:xfrm>
              <a:prstGeom prst="rect">
                <a:avLst/>
              </a:prstGeom>
              <a:blipFill>
                <a:blip r:embed="rId9"/>
                <a:stretch>
                  <a:fillRect b="-9231"/>
                </a:stretch>
              </a:blipFill>
            </p:spPr>
            <p:txBody>
              <a:bodyPr/>
              <a:lstStyle/>
              <a:p>
                <a:r>
                  <a:rPr lang="zh-CN" altLang="en-US">
                    <a:noFill/>
                  </a:rPr>
                  <a:t> </a:t>
                </a:r>
              </a:p>
            </p:txBody>
          </p:sp>
        </mc:Fallback>
      </mc:AlternateContent>
      <p:sp>
        <p:nvSpPr>
          <p:cNvPr id="49" name="文本框 48">
            <a:extLst>
              <a:ext uri="{FF2B5EF4-FFF2-40B4-BE49-F238E27FC236}">
                <a16:creationId xmlns:a16="http://schemas.microsoft.com/office/drawing/2014/main" id="{E8C02152-73F9-4AE1-964D-4AD8E2EE7286}"/>
              </a:ext>
            </a:extLst>
          </p:cNvPr>
          <p:cNvSpPr txBox="1"/>
          <p:nvPr/>
        </p:nvSpPr>
        <p:spPr>
          <a:xfrm>
            <a:off x="312518" y="2959728"/>
            <a:ext cx="4204892" cy="430182"/>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双向认证</a:t>
            </a:r>
            <a:endParaRPr lang="en-US" altLang="zh-CN" sz="2000" dirty="0">
              <a:latin typeface="Times New Roman" panose="02020603050405020304" pitchFamily="18" charset="0"/>
              <a:cs typeface="Times New Roman" panose="02020603050405020304" pitchFamily="18" charset="0"/>
            </a:endParaRPr>
          </a:p>
        </p:txBody>
      </p:sp>
      <p:pic>
        <p:nvPicPr>
          <p:cNvPr id="51" name="图形 50" descr="男学生 轮廓">
            <a:extLst>
              <a:ext uri="{FF2B5EF4-FFF2-40B4-BE49-F238E27FC236}">
                <a16:creationId xmlns:a16="http://schemas.microsoft.com/office/drawing/2014/main" id="{7F091419-373E-49F7-83DC-1324475F981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52231" y="3380883"/>
            <a:ext cx="914400" cy="914400"/>
          </a:xfrm>
          <a:prstGeom prst="rect">
            <a:avLst/>
          </a:prstGeom>
        </p:spPr>
      </p:pic>
      <p:pic>
        <p:nvPicPr>
          <p:cNvPr id="58" name="图形 57" descr="女学生 轮廓">
            <a:extLst>
              <a:ext uri="{FF2B5EF4-FFF2-40B4-BE49-F238E27FC236}">
                <a16:creationId xmlns:a16="http://schemas.microsoft.com/office/drawing/2014/main" id="{F1B17933-A4B4-41DD-9F32-D447A76CB513}"/>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2476" y="3380883"/>
            <a:ext cx="914400" cy="914400"/>
          </a:xfrm>
          <a:prstGeom prst="rect">
            <a:avLst/>
          </a:prstGeom>
        </p:spPr>
      </p:pic>
      <p:cxnSp>
        <p:nvCxnSpPr>
          <p:cNvPr id="60" name="直接箭头连接符 59">
            <a:extLst>
              <a:ext uri="{FF2B5EF4-FFF2-40B4-BE49-F238E27FC236}">
                <a16:creationId xmlns:a16="http://schemas.microsoft.com/office/drawing/2014/main" id="{E47FBE96-E635-45BB-86A1-5B3C37F2592F}"/>
              </a:ext>
            </a:extLst>
          </p:cNvPr>
          <p:cNvCxnSpPr>
            <a:cxnSpLocks/>
          </p:cNvCxnSpPr>
          <p:nvPr/>
        </p:nvCxnSpPr>
        <p:spPr>
          <a:xfrm flipV="1">
            <a:off x="1946875" y="3888069"/>
            <a:ext cx="5088546" cy="11913"/>
          </a:xfrm>
          <a:prstGeom prst="straightConnector1">
            <a:avLst/>
          </a:prstGeom>
          <a:ln w="12700">
            <a:solidFill>
              <a:schemeClr val="tx1"/>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D6CCDA8-22CA-44CF-8D8B-93827CF06FC0}"/>
                  </a:ext>
                </a:extLst>
              </p:cNvPr>
              <p:cNvSpPr txBox="1"/>
              <p:nvPr/>
            </p:nvSpPr>
            <p:spPr>
              <a:xfrm>
                <a:off x="782322" y="3714082"/>
                <a:ext cx="41549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i="1">
                          <a:latin typeface="Cambria Math" panose="02040503050406030204" pitchFamily="18" charset="0"/>
                        </a:rPr>
                        <m:t>A</m:t>
                      </m:r>
                    </m:oMath>
                  </m:oMathPara>
                </a14:m>
                <a:endParaRPr lang="zh-CN" altLang="en-US" sz="2000" dirty="0"/>
              </a:p>
            </p:txBody>
          </p:sp>
        </mc:Choice>
        <mc:Fallback xmlns="">
          <p:sp>
            <p:nvSpPr>
              <p:cNvPr id="61" name="文本框 60">
                <a:extLst>
                  <a:ext uri="{FF2B5EF4-FFF2-40B4-BE49-F238E27FC236}">
                    <a16:creationId xmlns:a16="http://schemas.microsoft.com/office/drawing/2014/main" id="{0D6CCDA8-22CA-44CF-8D8B-93827CF06FC0}"/>
                  </a:ext>
                </a:extLst>
              </p:cNvPr>
              <p:cNvSpPr txBox="1">
                <a:spLocks noRot="1" noChangeAspect="1" noMove="1" noResize="1" noEditPoints="1" noAdjustHandles="1" noChangeArrowheads="1" noChangeShapeType="1" noTextEdit="1"/>
              </p:cNvSpPr>
              <p:nvPr/>
            </p:nvSpPr>
            <p:spPr>
              <a:xfrm>
                <a:off x="782322" y="3714082"/>
                <a:ext cx="415498" cy="40011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AEC26C5D-C583-4425-B8A1-9EF764100CE2}"/>
                  </a:ext>
                </a:extLst>
              </p:cNvPr>
              <p:cNvSpPr txBox="1"/>
              <p:nvPr/>
            </p:nvSpPr>
            <p:spPr>
              <a:xfrm>
                <a:off x="7709793" y="3666583"/>
                <a:ext cx="41229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i="0" dirty="0" smtClean="0">
                          <a:latin typeface="Cambria Math" panose="02040503050406030204" pitchFamily="18" charset="0"/>
                        </a:rPr>
                        <m:t>B</m:t>
                      </m:r>
                    </m:oMath>
                  </m:oMathPara>
                </a14:m>
                <a:endParaRPr lang="zh-CN" altLang="en-US" sz="2000" dirty="0"/>
              </a:p>
            </p:txBody>
          </p:sp>
        </mc:Choice>
        <mc:Fallback xmlns="">
          <p:sp>
            <p:nvSpPr>
              <p:cNvPr id="63" name="文本框 62">
                <a:extLst>
                  <a:ext uri="{FF2B5EF4-FFF2-40B4-BE49-F238E27FC236}">
                    <a16:creationId xmlns:a16="http://schemas.microsoft.com/office/drawing/2014/main" id="{AEC26C5D-C583-4425-B8A1-9EF764100CE2}"/>
                  </a:ext>
                </a:extLst>
              </p:cNvPr>
              <p:cNvSpPr txBox="1">
                <a:spLocks noRot="1" noChangeAspect="1" noMove="1" noResize="1" noEditPoints="1" noAdjustHandles="1" noChangeArrowheads="1" noChangeShapeType="1" noTextEdit="1"/>
              </p:cNvSpPr>
              <p:nvPr/>
            </p:nvSpPr>
            <p:spPr>
              <a:xfrm>
                <a:off x="7709793" y="3666583"/>
                <a:ext cx="412292" cy="40011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A7824A08-C0C1-4878-96F0-5E9BE3C581BD}"/>
                  </a:ext>
                </a:extLst>
              </p:cNvPr>
              <p:cNvSpPr txBox="1"/>
              <p:nvPr/>
            </p:nvSpPr>
            <p:spPr>
              <a:xfrm>
                <a:off x="2407044" y="3539538"/>
                <a:ext cx="3966855" cy="3931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𝑆𝑖</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𝐴</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𝐼</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sign</m:t>
                      </m:r>
                      <m:r>
                        <a:rPr lang="en-US" altLang="zh-CN" b="0" i="1" smtClean="0">
                          <a:latin typeface="Cambria Math" panose="02040503050406030204" pitchFamily="18" charset="0"/>
                        </a:rPr>
                        <m:t>𝐷𝑎𝑡𝑎</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𝑃𝑈</m:t>
                              </m:r>
                            </m:e>
                            <m:sub>
                              <m:r>
                                <a:rPr lang="en-US" altLang="zh-CN" i="1">
                                  <a:latin typeface="Cambria Math" panose="02040503050406030204" pitchFamily="18" charset="0"/>
                                </a:rPr>
                                <m:t>𝐵</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𝐴𝐵</m:t>
                          </m:r>
                        </m:sub>
                      </m:sSub>
                      <m:r>
                        <a:rPr lang="en-US" altLang="zh-CN" b="0" i="1" smtClean="0">
                          <a:latin typeface="Cambria Math" panose="02040503050406030204" pitchFamily="18" charset="0"/>
                        </a:rPr>
                        <m:t>)}</m:t>
                      </m:r>
                    </m:oMath>
                  </m:oMathPara>
                </a14:m>
                <a:endParaRPr lang="zh-CN" altLang="en-US" dirty="0"/>
              </a:p>
            </p:txBody>
          </p:sp>
        </mc:Choice>
        <mc:Fallback xmlns="">
          <p:sp>
            <p:nvSpPr>
              <p:cNvPr id="64" name="文本框 63">
                <a:extLst>
                  <a:ext uri="{FF2B5EF4-FFF2-40B4-BE49-F238E27FC236}">
                    <a16:creationId xmlns:a16="http://schemas.microsoft.com/office/drawing/2014/main" id="{A7824A08-C0C1-4878-96F0-5E9BE3C581BD}"/>
                  </a:ext>
                </a:extLst>
              </p:cNvPr>
              <p:cNvSpPr txBox="1">
                <a:spLocks noRot="1" noChangeAspect="1" noMove="1" noResize="1" noEditPoints="1" noAdjustHandles="1" noChangeArrowheads="1" noChangeShapeType="1" noTextEdit="1"/>
              </p:cNvSpPr>
              <p:nvPr/>
            </p:nvSpPr>
            <p:spPr>
              <a:xfrm>
                <a:off x="2407044" y="3539538"/>
                <a:ext cx="3966855" cy="393121"/>
              </a:xfrm>
              <a:prstGeom prst="rect">
                <a:avLst/>
              </a:prstGeom>
              <a:blipFill>
                <a:blip r:embed="rId12"/>
                <a:stretch>
                  <a:fillRect b="-10938"/>
                </a:stretch>
              </a:blipFill>
            </p:spPr>
            <p:txBody>
              <a:bodyPr/>
              <a:lstStyle/>
              <a:p>
                <a:r>
                  <a:rPr lang="zh-CN" altLang="en-US">
                    <a:noFill/>
                  </a:rPr>
                  <a:t> </a:t>
                </a:r>
              </a:p>
            </p:txBody>
          </p:sp>
        </mc:Fallback>
      </mc:AlternateContent>
      <p:cxnSp>
        <p:nvCxnSpPr>
          <p:cNvPr id="65" name="直接箭头连接符 64">
            <a:extLst>
              <a:ext uri="{FF2B5EF4-FFF2-40B4-BE49-F238E27FC236}">
                <a16:creationId xmlns:a16="http://schemas.microsoft.com/office/drawing/2014/main" id="{A1510496-8024-4D91-8F22-8CFF9402CB6B}"/>
              </a:ext>
            </a:extLst>
          </p:cNvPr>
          <p:cNvCxnSpPr>
            <a:cxnSpLocks/>
          </p:cNvCxnSpPr>
          <p:nvPr/>
        </p:nvCxnSpPr>
        <p:spPr>
          <a:xfrm flipV="1">
            <a:off x="1946875" y="4045605"/>
            <a:ext cx="5088546" cy="4321"/>
          </a:xfrm>
          <a:prstGeom prst="straightConnector1">
            <a:avLst/>
          </a:prstGeom>
          <a:ln w="12700">
            <a:solidFill>
              <a:schemeClr val="tx1"/>
            </a:solidFill>
            <a:headEnd type="triangle" w="med" len="med"/>
            <a:tailEnd type="none" w="med" len="med"/>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1A6DFAFE-F9B0-4A4B-8252-F5B146586299}"/>
                  </a:ext>
                </a:extLst>
              </p:cNvPr>
              <p:cNvSpPr txBox="1"/>
              <p:nvPr/>
            </p:nvSpPr>
            <p:spPr>
              <a:xfrm>
                <a:off x="2452434" y="4092083"/>
                <a:ext cx="3994235" cy="3931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𝑆𝑖</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b="0" i="1" smtClean="0">
                              <a:latin typeface="Cambria Math" panose="02040503050406030204" pitchFamily="18" charset="0"/>
                            </a:rPr>
                            <m:t>𝐵</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𝐼</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sign</m:t>
                      </m:r>
                      <m:r>
                        <a:rPr lang="en-US" altLang="zh-CN" b="0" i="1" smtClean="0">
                          <a:latin typeface="Cambria Math" panose="02040503050406030204" pitchFamily="18" charset="0"/>
                        </a:rPr>
                        <m:t>𝐷𝑎𝑡𝑎</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𝑃𝑈</m:t>
                              </m:r>
                            </m:e>
                            <m:sub>
                              <m:r>
                                <a:rPr lang="en-US" altLang="zh-CN" b="0" i="1" smtClean="0">
                                  <a:latin typeface="Cambria Math" panose="02040503050406030204" pitchFamily="18" charset="0"/>
                                </a:rPr>
                                <m:t>𝐴</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𝐵𝐴</m:t>
                          </m:r>
                        </m:sub>
                      </m:sSub>
                      <m:r>
                        <a:rPr lang="en-US" altLang="zh-CN" b="0" i="1" smtClean="0">
                          <a:latin typeface="Cambria Math" panose="02040503050406030204" pitchFamily="18" charset="0"/>
                        </a:rPr>
                        <m:t>)}</m:t>
                      </m:r>
                    </m:oMath>
                  </m:oMathPara>
                </a14:m>
                <a:endParaRPr lang="zh-CN" altLang="en-US" dirty="0"/>
              </a:p>
            </p:txBody>
          </p:sp>
        </mc:Choice>
        <mc:Fallback xmlns="">
          <p:sp>
            <p:nvSpPr>
              <p:cNvPr id="66" name="文本框 65">
                <a:extLst>
                  <a:ext uri="{FF2B5EF4-FFF2-40B4-BE49-F238E27FC236}">
                    <a16:creationId xmlns:a16="http://schemas.microsoft.com/office/drawing/2014/main" id="{1A6DFAFE-F9B0-4A4B-8252-F5B146586299}"/>
                  </a:ext>
                </a:extLst>
              </p:cNvPr>
              <p:cNvSpPr txBox="1">
                <a:spLocks noRot="1" noChangeAspect="1" noMove="1" noResize="1" noEditPoints="1" noAdjustHandles="1" noChangeArrowheads="1" noChangeShapeType="1" noTextEdit="1"/>
              </p:cNvSpPr>
              <p:nvPr/>
            </p:nvSpPr>
            <p:spPr>
              <a:xfrm>
                <a:off x="2452434" y="4092083"/>
                <a:ext cx="3994235" cy="393121"/>
              </a:xfrm>
              <a:prstGeom prst="rect">
                <a:avLst/>
              </a:prstGeom>
              <a:blipFill>
                <a:blip r:embed="rId13"/>
                <a:stretch>
                  <a:fillRect b="-9231"/>
                </a:stretch>
              </a:blipFill>
            </p:spPr>
            <p:txBody>
              <a:bodyPr/>
              <a:lstStyle/>
              <a:p>
                <a:r>
                  <a:rPr lang="zh-CN" altLang="en-US">
                    <a:noFill/>
                  </a:rPr>
                  <a:t> </a:t>
                </a:r>
              </a:p>
            </p:txBody>
          </p:sp>
        </mc:Fallback>
      </mc:AlternateContent>
      <p:sp>
        <p:nvSpPr>
          <p:cNvPr id="68" name="文本框 67">
            <a:extLst>
              <a:ext uri="{FF2B5EF4-FFF2-40B4-BE49-F238E27FC236}">
                <a16:creationId xmlns:a16="http://schemas.microsoft.com/office/drawing/2014/main" id="{25EB155A-83A4-458E-A721-A44175EB2D49}"/>
              </a:ext>
            </a:extLst>
          </p:cNvPr>
          <p:cNvSpPr txBox="1"/>
          <p:nvPr/>
        </p:nvSpPr>
        <p:spPr>
          <a:xfrm>
            <a:off x="303725" y="4619777"/>
            <a:ext cx="4204892" cy="430182"/>
          </a:xfrm>
          <a:prstGeom prst="rect">
            <a:avLst/>
          </a:prstGeom>
          <a:noFill/>
        </p:spPr>
        <p:txBody>
          <a:bodyPr wrap="square" rtlCol="0">
            <a:spAutoFit/>
          </a:bodyPr>
          <a:lstStyle/>
          <a:p>
            <a:pPr marL="342900" indent="-342900">
              <a:lnSpc>
                <a:spcPct val="12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三向认证</a:t>
            </a:r>
            <a:endParaRPr lang="en-US" altLang="zh-CN" sz="2000" dirty="0">
              <a:solidFill>
                <a:srgbClr val="FF0000"/>
              </a:solidFill>
              <a:latin typeface="Times New Roman" panose="02020603050405020304" pitchFamily="18" charset="0"/>
              <a:cs typeface="Times New Roman" panose="02020603050405020304" pitchFamily="18" charset="0"/>
            </a:endParaRPr>
          </a:p>
        </p:txBody>
      </p:sp>
      <p:pic>
        <p:nvPicPr>
          <p:cNvPr id="69" name="图形 68" descr="男学生 轮廓">
            <a:extLst>
              <a:ext uri="{FF2B5EF4-FFF2-40B4-BE49-F238E27FC236}">
                <a16:creationId xmlns:a16="http://schemas.microsoft.com/office/drawing/2014/main" id="{B95FD628-6001-4F25-AA8C-BE59FBE5D1A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52231" y="5299724"/>
            <a:ext cx="914400" cy="914400"/>
          </a:xfrm>
          <a:prstGeom prst="rect">
            <a:avLst/>
          </a:prstGeom>
        </p:spPr>
      </p:pic>
      <p:pic>
        <p:nvPicPr>
          <p:cNvPr id="70" name="图形 69" descr="女学生 轮廓">
            <a:extLst>
              <a:ext uri="{FF2B5EF4-FFF2-40B4-BE49-F238E27FC236}">
                <a16:creationId xmlns:a16="http://schemas.microsoft.com/office/drawing/2014/main" id="{943D2ABA-6C78-4DD3-A58D-4214576E268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2476" y="5299724"/>
            <a:ext cx="914400" cy="914400"/>
          </a:xfrm>
          <a:prstGeom prst="rect">
            <a:avLst/>
          </a:prstGeom>
        </p:spPr>
      </p:pic>
      <p:cxnSp>
        <p:nvCxnSpPr>
          <p:cNvPr id="71" name="直接箭头连接符 70">
            <a:extLst>
              <a:ext uri="{FF2B5EF4-FFF2-40B4-BE49-F238E27FC236}">
                <a16:creationId xmlns:a16="http://schemas.microsoft.com/office/drawing/2014/main" id="{8F50442F-F18B-48FD-B313-BAC9E3AC5D61}"/>
              </a:ext>
            </a:extLst>
          </p:cNvPr>
          <p:cNvCxnSpPr>
            <a:cxnSpLocks/>
          </p:cNvCxnSpPr>
          <p:nvPr/>
        </p:nvCxnSpPr>
        <p:spPr>
          <a:xfrm flipV="1">
            <a:off x="1946875" y="5587033"/>
            <a:ext cx="5116893" cy="7906"/>
          </a:xfrm>
          <a:prstGeom prst="straightConnector1">
            <a:avLst/>
          </a:prstGeom>
          <a:ln w="12700">
            <a:solidFill>
              <a:schemeClr val="tx1"/>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7F57EFB3-B199-4EEC-8EDD-A67D6B01F331}"/>
                  </a:ext>
                </a:extLst>
              </p:cNvPr>
              <p:cNvSpPr txBox="1"/>
              <p:nvPr/>
            </p:nvSpPr>
            <p:spPr>
              <a:xfrm>
                <a:off x="782322" y="5632923"/>
                <a:ext cx="41549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i="1">
                          <a:latin typeface="Cambria Math" panose="02040503050406030204" pitchFamily="18" charset="0"/>
                        </a:rPr>
                        <m:t>A</m:t>
                      </m:r>
                    </m:oMath>
                  </m:oMathPara>
                </a14:m>
                <a:endParaRPr lang="zh-CN" altLang="en-US" sz="2000" dirty="0"/>
              </a:p>
            </p:txBody>
          </p:sp>
        </mc:Choice>
        <mc:Fallback xmlns="">
          <p:sp>
            <p:nvSpPr>
              <p:cNvPr id="72" name="文本框 71">
                <a:extLst>
                  <a:ext uri="{FF2B5EF4-FFF2-40B4-BE49-F238E27FC236}">
                    <a16:creationId xmlns:a16="http://schemas.microsoft.com/office/drawing/2014/main" id="{7F57EFB3-B199-4EEC-8EDD-A67D6B01F331}"/>
                  </a:ext>
                </a:extLst>
              </p:cNvPr>
              <p:cNvSpPr txBox="1">
                <a:spLocks noRot="1" noChangeAspect="1" noMove="1" noResize="1" noEditPoints="1" noAdjustHandles="1" noChangeArrowheads="1" noChangeShapeType="1" noTextEdit="1"/>
              </p:cNvSpPr>
              <p:nvPr/>
            </p:nvSpPr>
            <p:spPr>
              <a:xfrm>
                <a:off x="782322" y="5632923"/>
                <a:ext cx="415498" cy="400110"/>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930AD0BD-8DE1-41A8-9039-472B8C2F0A84}"/>
                  </a:ext>
                </a:extLst>
              </p:cNvPr>
              <p:cNvSpPr txBox="1"/>
              <p:nvPr/>
            </p:nvSpPr>
            <p:spPr>
              <a:xfrm>
                <a:off x="7709793" y="5585424"/>
                <a:ext cx="41229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i="0" dirty="0" smtClean="0">
                          <a:latin typeface="Cambria Math" panose="02040503050406030204" pitchFamily="18" charset="0"/>
                        </a:rPr>
                        <m:t>B</m:t>
                      </m:r>
                    </m:oMath>
                  </m:oMathPara>
                </a14:m>
                <a:endParaRPr lang="zh-CN" altLang="en-US" sz="2000" dirty="0"/>
              </a:p>
            </p:txBody>
          </p:sp>
        </mc:Choice>
        <mc:Fallback xmlns="">
          <p:sp>
            <p:nvSpPr>
              <p:cNvPr id="73" name="文本框 72">
                <a:extLst>
                  <a:ext uri="{FF2B5EF4-FFF2-40B4-BE49-F238E27FC236}">
                    <a16:creationId xmlns:a16="http://schemas.microsoft.com/office/drawing/2014/main" id="{930AD0BD-8DE1-41A8-9039-472B8C2F0A84}"/>
                  </a:ext>
                </a:extLst>
              </p:cNvPr>
              <p:cNvSpPr txBox="1">
                <a:spLocks noRot="1" noChangeAspect="1" noMove="1" noResize="1" noEditPoints="1" noAdjustHandles="1" noChangeArrowheads="1" noChangeShapeType="1" noTextEdit="1"/>
              </p:cNvSpPr>
              <p:nvPr/>
            </p:nvSpPr>
            <p:spPr>
              <a:xfrm>
                <a:off x="7709793" y="5585424"/>
                <a:ext cx="412292" cy="400110"/>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206A77BA-490F-41C1-AAD0-C76C675BE56D}"/>
                  </a:ext>
                </a:extLst>
              </p:cNvPr>
              <p:cNvSpPr txBox="1"/>
              <p:nvPr/>
            </p:nvSpPr>
            <p:spPr>
              <a:xfrm>
                <a:off x="2497933" y="5227223"/>
                <a:ext cx="3966855" cy="3931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𝑆𝑖</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𝐴</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𝐼</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sign</m:t>
                      </m:r>
                      <m:r>
                        <a:rPr lang="en-US" altLang="zh-CN" b="0" i="1" smtClean="0">
                          <a:latin typeface="Cambria Math" panose="02040503050406030204" pitchFamily="18" charset="0"/>
                        </a:rPr>
                        <m:t>𝐷𝑎𝑡𝑎</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𝑃𝑈</m:t>
                              </m:r>
                            </m:e>
                            <m:sub>
                              <m:r>
                                <a:rPr lang="en-US" altLang="zh-CN" i="1">
                                  <a:latin typeface="Cambria Math" panose="02040503050406030204" pitchFamily="18" charset="0"/>
                                </a:rPr>
                                <m:t>𝐵</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𝐴𝐵</m:t>
                          </m:r>
                        </m:sub>
                      </m:sSub>
                      <m:r>
                        <a:rPr lang="en-US" altLang="zh-CN" b="0" i="1" smtClean="0">
                          <a:latin typeface="Cambria Math" panose="02040503050406030204" pitchFamily="18" charset="0"/>
                        </a:rPr>
                        <m:t>)}</m:t>
                      </m:r>
                    </m:oMath>
                  </m:oMathPara>
                </a14:m>
                <a:endParaRPr lang="zh-CN" altLang="en-US" dirty="0"/>
              </a:p>
            </p:txBody>
          </p:sp>
        </mc:Choice>
        <mc:Fallback xmlns="">
          <p:sp>
            <p:nvSpPr>
              <p:cNvPr id="74" name="文本框 73">
                <a:extLst>
                  <a:ext uri="{FF2B5EF4-FFF2-40B4-BE49-F238E27FC236}">
                    <a16:creationId xmlns:a16="http://schemas.microsoft.com/office/drawing/2014/main" id="{206A77BA-490F-41C1-AAD0-C76C675BE56D}"/>
                  </a:ext>
                </a:extLst>
              </p:cNvPr>
              <p:cNvSpPr txBox="1">
                <a:spLocks noRot="1" noChangeAspect="1" noMove="1" noResize="1" noEditPoints="1" noAdjustHandles="1" noChangeArrowheads="1" noChangeShapeType="1" noTextEdit="1"/>
              </p:cNvSpPr>
              <p:nvPr/>
            </p:nvSpPr>
            <p:spPr>
              <a:xfrm>
                <a:off x="2497933" y="5227223"/>
                <a:ext cx="3966855" cy="393121"/>
              </a:xfrm>
              <a:prstGeom prst="rect">
                <a:avLst/>
              </a:prstGeom>
              <a:blipFill>
                <a:blip r:embed="rId16"/>
                <a:stretch>
                  <a:fillRect b="-9231"/>
                </a:stretch>
              </a:blipFill>
            </p:spPr>
            <p:txBody>
              <a:bodyPr/>
              <a:lstStyle/>
              <a:p>
                <a:r>
                  <a:rPr lang="zh-CN" altLang="en-US">
                    <a:noFill/>
                  </a:rPr>
                  <a:t> </a:t>
                </a:r>
              </a:p>
            </p:txBody>
          </p:sp>
        </mc:Fallback>
      </mc:AlternateContent>
      <p:cxnSp>
        <p:nvCxnSpPr>
          <p:cNvPr id="75" name="直接箭头连接符 74">
            <a:extLst>
              <a:ext uri="{FF2B5EF4-FFF2-40B4-BE49-F238E27FC236}">
                <a16:creationId xmlns:a16="http://schemas.microsoft.com/office/drawing/2014/main" id="{6B9F0949-554F-4A06-8884-DEB2E687CD16}"/>
              </a:ext>
            </a:extLst>
          </p:cNvPr>
          <p:cNvCxnSpPr>
            <a:cxnSpLocks/>
          </p:cNvCxnSpPr>
          <p:nvPr/>
        </p:nvCxnSpPr>
        <p:spPr>
          <a:xfrm>
            <a:off x="1946875" y="5970707"/>
            <a:ext cx="5088546" cy="21661"/>
          </a:xfrm>
          <a:prstGeom prst="straightConnector1">
            <a:avLst/>
          </a:prstGeom>
          <a:ln w="12700">
            <a:solidFill>
              <a:schemeClr val="tx1"/>
            </a:solidFill>
            <a:headEnd type="triangle" w="med" len="med"/>
            <a:tailEnd type="none" w="med" len="med"/>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15586600-D602-4F8D-9757-BCAEA641D6FA}"/>
                  </a:ext>
                </a:extLst>
              </p:cNvPr>
              <p:cNvSpPr txBox="1"/>
              <p:nvPr/>
            </p:nvSpPr>
            <p:spPr>
              <a:xfrm>
                <a:off x="2470553" y="5585424"/>
                <a:ext cx="3994235" cy="3931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𝑆𝑖</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b="0" i="1" smtClean="0">
                              <a:latin typeface="Cambria Math" panose="02040503050406030204" pitchFamily="18" charset="0"/>
                            </a:rPr>
                            <m:t>𝐵</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𝐼</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sign</m:t>
                      </m:r>
                      <m:r>
                        <a:rPr lang="en-US" altLang="zh-CN" b="0" i="1" smtClean="0">
                          <a:latin typeface="Cambria Math" panose="02040503050406030204" pitchFamily="18" charset="0"/>
                        </a:rPr>
                        <m:t>𝐷𝑎𝑡𝑎</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𝑃𝑈</m:t>
                              </m:r>
                            </m:e>
                            <m:sub>
                              <m:r>
                                <a:rPr lang="en-US" altLang="zh-CN" b="0" i="1" smtClean="0">
                                  <a:latin typeface="Cambria Math" panose="02040503050406030204" pitchFamily="18" charset="0"/>
                                </a:rPr>
                                <m:t>𝐴</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𝐵𝐴</m:t>
                          </m:r>
                        </m:sub>
                      </m:sSub>
                      <m:r>
                        <a:rPr lang="en-US" altLang="zh-CN" b="0" i="1" smtClean="0">
                          <a:latin typeface="Cambria Math" panose="02040503050406030204" pitchFamily="18" charset="0"/>
                        </a:rPr>
                        <m:t>)}</m:t>
                      </m:r>
                    </m:oMath>
                  </m:oMathPara>
                </a14:m>
                <a:endParaRPr lang="zh-CN" altLang="en-US" dirty="0"/>
              </a:p>
            </p:txBody>
          </p:sp>
        </mc:Choice>
        <mc:Fallback xmlns="">
          <p:sp>
            <p:nvSpPr>
              <p:cNvPr id="79" name="文本框 78">
                <a:extLst>
                  <a:ext uri="{FF2B5EF4-FFF2-40B4-BE49-F238E27FC236}">
                    <a16:creationId xmlns:a16="http://schemas.microsoft.com/office/drawing/2014/main" id="{15586600-D602-4F8D-9757-BCAEA641D6FA}"/>
                  </a:ext>
                </a:extLst>
              </p:cNvPr>
              <p:cNvSpPr txBox="1">
                <a:spLocks noRot="1" noChangeAspect="1" noMove="1" noResize="1" noEditPoints="1" noAdjustHandles="1" noChangeArrowheads="1" noChangeShapeType="1" noTextEdit="1"/>
              </p:cNvSpPr>
              <p:nvPr/>
            </p:nvSpPr>
            <p:spPr>
              <a:xfrm>
                <a:off x="2470553" y="5585424"/>
                <a:ext cx="3994235" cy="393121"/>
              </a:xfrm>
              <a:prstGeom prst="rect">
                <a:avLst/>
              </a:prstGeom>
              <a:blipFill>
                <a:blip r:embed="rId17"/>
                <a:stretch>
                  <a:fillRect b="-9231"/>
                </a:stretch>
              </a:blipFill>
            </p:spPr>
            <p:txBody>
              <a:bodyPr/>
              <a:lstStyle/>
              <a:p>
                <a:r>
                  <a:rPr lang="zh-CN" altLang="en-US">
                    <a:noFill/>
                  </a:rPr>
                  <a:t> </a:t>
                </a:r>
              </a:p>
            </p:txBody>
          </p:sp>
        </mc:Fallback>
      </mc:AlternateContent>
      <p:sp>
        <p:nvSpPr>
          <p:cNvPr id="80" name="矩形 79">
            <a:extLst>
              <a:ext uri="{FF2B5EF4-FFF2-40B4-BE49-F238E27FC236}">
                <a16:creationId xmlns:a16="http://schemas.microsoft.com/office/drawing/2014/main" id="{5A6A2F5F-1177-4ADB-A84A-96FD8C54D3CA}"/>
              </a:ext>
            </a:extLst>
          </p:cNvPr>
          <p:cNvSpPr/>
          <p:nvPr/>
        </p:nvSpPr>
        <p:spPr>
          <a:xfrm>
            <a:off x="723331" y="1941001"/>
            <a:ext cx="7506269" cy="1023608"/>
          </a:xfrm>
          <a:prstGeom prst="rect">
            <a:avLst/>
          </a:prstGeom>
          <a:noFill/>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81" name="矩形 80">
            <a:extLst>
              <a:ext uri="{FF2B5EF4-FFF2-40B4-BE49-F238E27FC236}">
                <a16:creationId xmlns:a16="http://schemas.microsoft.com/office/drawing/2014/main" id="{EA2FE39D-7B91-4C1E-93BE-6634EEFD45A1}"/>
              </a:ext>
            </a:extLst>
          </p:cNvPr>
          <p:cNvSpPr/>
          <p:nvPr/>
        </p:nvSpPr>
        <p:spPr>
          <a:xfrm>
            <a:off x="723330" y="3455147"/>
            <a:ext cx="7506269" cy="1072691"/>
          </a:xfrm>
          <a:prstGeom prst="rect">
            <a:avLst/>
          </a:prstGeom>
          <a:noFill/>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cxnSp>
        <p:nvCxnSpPr>
          <p:cNvPr id="82" name="直接箭头连接符 81">
            <a:extLst>
              <a:ext uri="{FF2B5EF4-FFF2-40B4-BE49-F238E27FC236}">
                <a16:creationId xmlns:a16="http://schemas.microsoft.com/office/drawing/2014/main" id="{DCB782FC-2339-44B5-8CE7-6B5C94832E31}"/>
              </a:ext>
            </a:extLst>
          </p:cNvPr>
          <p:cNvCxnSpPr>
            <a:cxnSpLocks/>
          </p:cNvCxnSpPr>
          <p:nvPr/>
        </p:nvCxnSpPr>
        <p:spPr>
          <a:xfrm>
            <a:off x="1999397" y="6105314"/>
            <a:ext cx="5064371" cy="12215"/>
          </a:xfrm>
          <a:prstGeom prst="straightConnector1">
            <a:avLst/>
          </a:prstGeom>
          <a:ln w="12700">
            <a:solidFill>
              <a:schemeClr val="tx1"/>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0CD56554-C288-42D5-AA25-012E3CB203F5}"/>
                  </a:ext>
                </a:extLst>
              </p:cNvPr>
              <p:cNvSpPr txBox="1"/>
              <p:nvPr/>
            </p:nvSpPr>
            <p:spPr>
              <a:xfrm>
                <a:off x="3848753" y="6081188"/>
                <a:ext cx="10992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𝑆𝑖</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oMath>
                  </m:oMathPara>
                </a14:m>
                <a:endParaRPr lang="zh-CN" altLang="en-US" dirty="0"/>
              </a:p>
            </p:txBody>
          </p:sp>
        </mc:Choice>
        <mc:Fallback xmlns="">
          <p:sp>
            <p:nvSpPr>
              <p:cNvPr id="83" name="文本框 82">
                <a:extLst>
                  <a:ext uri="{FF2B5EF4-FFF2-40B4-BE49-F238E27FC236}">
                    <a16:creationId xmlns:a16="http://schemas.microsoft.com/office/drawing/2014/main" id="{0CD56554-C288-42D5-AA25-012E3CB203F5}"/>
                  </a:ext>
                </a:extLst>
              </p:cNvPr>
              <p:cNvSpPr txBox="1">
                <a:spLocks noRot="1" noChangeAspect="1" noMove="1" noResize="1" noEditPoints="1" noAdjustHandles="1" noChangeArrowheads="1" noChangeShapeType="1" noTextEdit="1"/>
              </p:cNvSpPr>
              <p:nvPr/>
            </p:nvSpPr>
            <p:spPr>
              <a:xfrm>
                <a:off x="3848753" y="6081188"/>
                <a:ext cx="1099275" cy="369332"/>
              </a:xfrm>
              <a:prstGeom prst="rect">
                <a:avLst/>
              </a:prstGeom>
              <a:blipFill>
                <a:blip r:embed="rId18"/>
                <a:stretch>
                  <a:fillRect b="-18333"/>
                </a:stretch>
              </a:blipFill>
            </p:spPr>
            <p:txBody>
              <a:bodyPr/>
              <a:lstStyle/>
              <a:p>
                <a:r>
                  <a:rPr lang="zh-CN" altLang="en-US">
                    <a:noFill/>
                  </a:rPr>
                  <a:t> </a:t>
                </a:r>
              </a:p>
            </p:txBody>
          </p:sp>
        </mc:Fallback>
      </mc:AlternateContent>
      <p:sp>
        <p:nvSpPr>
          <p:cNvPr id="84" name="矩形 83">
            <a:extLst>
              <a:ext uri="{FF2B5EF4-FFF2-40B4-BE49-F238E27FC236}">
                <a16:creationId xmlns:a16="http://schemas.microsoft.com/office/drawing/2014/main" id="{CFBB5590-E6D8-448E-A15E-811B5743EF87}"/>
              </a:ext>
            </a:extLst>
          </p:cNvPr>
          <p:cNvSpPr/>
          <p:nvPr/>
        </p:nvSpPr>
        <p:spPr>
          <a:xfrm>
            <a:off x="723330" y="5092116"/>
            <a:ext cx="7506269" cy="1394745"/>
          </a:xfrm>
          <a:prstGeom prst="rect">
            <a:avLst/>
          </a:prstGeom>
          <a:noFill/>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Tree>
    <p:extLst>
      <p:ext uri="{BB962C8B-B14F-4D97-AF65-F5344CB8AC3E}">
        <p14:creationId xmlns:p14="http://schemas.microsoft.com/office/powerpoint/2010/main" val="33661570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t>37</a:t>
            </a:fld>
            <a:endParaRPr lang="zh-CN" altLang="en-US"/>
          </a:p>
        </p:txBody>
      </p:sp>
      <p:sp>
        <p:nvSpPr>
          <p:cNvPr id="5" name="文本框 4">
            <a:extLst>
              <a:ext uri="{FF2B5EF4-FFF2-40B4-BE49-F238E27FC236}">
                <a16:creationId xmlns:a16="http://schemas.microsoft.com/office/drawing/2014/main" id="{724391B0-62B3-7C30-1DD4-E35E206F9B43}"/>
              </a:ext>
            </a:extLst>
          </p:cNvPr>
          <p:cNvSpPr txBox="1"/>
          <p:nvPr/>
        </p:nvSpPr>
        <p:spPr>
          <a:xfrm>
            <a:off x="-4874" y="1661146"/>
            <a:ext cx="8479945" cy="4669805"/>
          </a:xfrm>
          <a:prstGeom prst="rect">
            <a:avLst/>
          </a:prstGeom>
          <a:noFill/>
        </p:spPr>
        <p:txBody>
          <a:bodyPr wrap="square" rtlCol="0">
            <a:spAutoFit/>
          </a:bodyPr>
          <a:lstStyle/>
          <a:p>
            <a:pPr>
              <a:lnSpc>
                <a:spcPct val="130000"/>
              </a:lnSpc>
              <a:spcBef>
                <a:spcPts val="600"/>
              </a:spcBef>
            </a:pPr>
            <a:r>
              <a:rPr lang="zh-CN" altLang="en-US" sz="2000" dirty="0">
                <a:latin typeface="Times New Roman" panose="02020603050405020304" pitchFamily="18" charset="0"/>
                <a:cs typeface="Times New Roman" panose="02020603050405020304" pitchFamily="18" charset="0"/>
              </a:rPr>
              <a:t>       证书扩展分为三个主要类别： </a:t>
            </a:r>
            <a:endParaRPr lang="en-US" altLang="zh-CN" sz="2000" dirty="0">
              <a:latin typeface="Times New Roman" panose="02020603050405020304" pitchFamily="18" charset="0"/>
              <a:cs typeface="Times New Roman" panose="02020603050405020304" pitchFamily="18" charset="0"/>
            </a:endParaRPr>
          </a:p>
          <a:p>
            <a:pPr marL="914400" lvl="1" indent="-457200">
              <a:lnSpc>
                <a:spcPct val="13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密钥和政策信息</a:t>
            </a:r>
          </a:p>
          <a:p>
            <a:pPr marL="1257300" lvl="2" indent="-342900">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传达有关主体和发行者密钥的信息，以及证书政策的指标</a:t>
            </a:r>
          </a:p>
          <a:p>
            <a:pPr marL="914400" lvl="1" indent="-457200">
              <a:lnSpc>
                <a:spcPct val="13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证书主体和签发人属性</a:t>
            </a:r>
          </a:p>
          <a:p>
            <a:pPr marL="1257300" lvl="2" indent="-342900">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支持证书主体和</a:t>
            </a:r>
            <a:r>
              <a:rPr lang="en-US" altLang="zh-CN" sz="2000" b="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或签发者的其他格式的名称</a:t>
            </a:r>
            <a:endParaRPr lang="en-US" altLang="zh-CN" sz="2000" dirty="0">
              <a:latin typeface="Times New Roman" panose="02020603050405020304" pitchFamily="18" charset="0"/>
              <a:cs typeface="Times New Roman" panose="02020603050405020304" pitchFamily="18" charset="0"/>
            </a:endParaRPr>
          </a:p>
          <a:p>
            <a:pPr marL="1257300" lvl="2" indent="-342900">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可传达有关证书主体的额外信息，如邮政地址、电子邮件地址</a:t>
            </a:r>
          </a:p>
          <a:p>
            <a:pPr marL="914400" lvl="1" indent="-457200">
              <a:lnSpc>
                <a:spcPct val="130000"/>
              </a:lnSpc>
              <a:spcBef>
                <a:spcPts val="600"/>
              </a:spcBef>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证书路径限制</a:t>
            </a:r>
          </a:p>
          <a:p>
            <a:pPr marL="1257300" lvl="2" indent="-342900">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允许对其他</a:t>
            </a:r>
            <a:r>
              <a:rPr lang="en-US" altLang="zh-CN" sz="2000" dirty="0">
                <a:latin typeface="Times New Roman" panose="02020603050405020304" pitchFamily="18" charset="0"/>
                <a:cs typeface="Times New Roman" panose="02020603050405020304" pitchFamily="18" charset="0"/>
              </a:rPr>
              <a:t>CA</a:t>
            </a:r>
            <a:r>
              <a:rPr lang="zh-CN" altLang="en-US" sz="2000" dirty="0">
                <a:latin typeface="Times New Roman" panose="02020603050405020304" pitchFamily="18" charset="0"/>
                <a:cs typeface="Times New Roman" panose="02020603050405020304" pitchFamily="18" charset="0"/>
              </a:rPr>
              <a:t>的证书使用进行限制</a:t>
            </a:r>
            <a:endParaRPr lang="en-US" altLang="zh-CN" sz="2000" dirty="0">
              <a:latin typeface="Times New Roman" panose="02020603050405020304" pitchFamily="18" charset="0"/>
              <a:cs typeface="Times New Roman" panose="02020603050405020304" pitchFamily="18" charset="0"/>
            </a:endParaRPr>
          </a:p>
          <a:p>
            <a:pPr marL="1257300" lvl="2" indent="-342900">
              <a:lnSpc>
                <a:spcPct val="130000"/>
              </a:lnSpc>
              <a:spcBef>
                <a:spcPts val="600"/>
              </a:spcBef>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限制主体</a:t>
            </a:r>
            <a:r>
              <a:rPr lang="en-US" altLang="zh-CN" sz="2000" dirty="0">
                <a:latin typeface="Times New Roman" panose="02020603050405020304" pitchFamily="18" charset="0"/>
                <a:cs typeface="Times New Roman" panose="02020603050405020304" pitchFamily="18" charset="0"/>
              </a:rPr>
              <a:t>CA</a:t>
            </a:r>
            <a:r>
              <a:rPr lang="zh-CN" altLang="en-US" sz="2000" dirty="0">
                <a:latin typeface="Times New Roman" panose="02020603050405020304" pitchFamily="18" charset="0"/>
                <a:cs typeface="Times New Roman" panose="02020603050405020304" pitchFamily="18" charset="0"/>
              </a:rPr>
              <a:t>所能颁发的证书类型或随后在认证链中可能出现的证书类型</a:t>
            </a: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(1) X.509 </a:t>
            </a:r>
            <a:r>
              <a:rPr lang="zh-CN" altLang="en-US" sz="2400" b="1" dirty="0">
                <a:solidFill>
                  <a:srgbClr val="0000FF"/>
                </a:solidFill>
                <a:latin typeface="Times New Roman" panose="02020603050405020304" pitchFamily="18" charset="0"/>
                <a:cs typeface="Times New Roman" panose="02020603050405020304" pitchFamily="18" charset="0"/>
              </a:rPr>
              <a:t>证书：扩展</a:t>
            </a:r>
          </a:p>
        </p:txBody>
      </p:sp>
    </p:spTree>
    <p:extLst>
      <p:ext uri="{BB962C8B-B14F-4D97-AF65-F5344CB8AC3E}">
        <p14:creationId xmlns:p14="http://schemas.microsoft.com/office/powerpoint/2010/main" val="6422253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(2) PKI </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sp>
        <p:nvSpPr>
          <p:cNvPr id="4" name="矩形 3"/>
          <p:cNvSpPr/>
          <p:nvPr/>
        </p:nvSpPr>
        <p:spPr>
          <a:xfrm>
            <a:off x="390419" y="1652141"/>
            <a:ext cx="8198777" cy="4247317"/>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sz="2000" dirty="0"/>
              <a:t>什么是基础设施？电力基础设施，交通基础设施</a:t>
            </a:r>
            <a:r>
              <a:rPr lang="en-US" altLang="zh-CN" sz="2000" dirty="0"/>
              <a:t>…..</a:t>
            </a:r>
          </a:p>
          <a:p>
            <a:pPr marL="342900" indent="-342900" algn="just">
              <a:lnSpc>
                <a:spcPct val="150000"/>
              </a:lnSpc>
              <a:buFont typeface="Wingdings" panose="05000000000000000000" pitchFamily="2" charset="2"/>
              <a:buChar char="l"/>
            </a:pPr>
            <a:r>
              <a:rPr lang="en-US" altLang="zh-CN" sz="2000" dirty="0"/>
              <a:t>RFC 2822</a:t>
            </a:r>
            <a:r>
              <a:rPr lang="zh-CN" altLang="en-US" sz="2000" dirty="0"/>
              <a:t>（互联网安全术语）将公钥基础设施（</a:t>
            </a:r>
            <a:r>
              <a:rPr lang="en-US" altLang="zh-CN" sz="2000" dirty="0"/>
              <a:t>PKI</a:t>
            </a:r>
            <a:r>
              <a:rPr lang="zh-CN" altLang="en-US" sz="2000" dirty="0"/>
              <a:t>）定义为创建、管理、存储、分发和撤销基于非对称加密技术的数字证书所需的一套硬件、软件、人员、政策和程序。目标是</a:t>
            </a:r>
            <a:r>
              <a:rPr lang="zh-CN" altLang="en-US" sz="2000" dirty="0">
                <a:latin typeface="Times New Roman" panose="02020603050405020304" pitchFamily="18" charset="0"/>
                <a:cs typeface="Times New Roman" panose="02020603050405020304" pitchFamily="18" charset="0"/>
              </a:rPr>
              <a:t>利用公钥密码技术旨在解决网上身份安全认证、数据的完整性和不可否认等问题，提供安全的网络服务。</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l"/>
            </a:pPr>
            <a:r>
              <a:rPr lang="zh-CN" altLang="en-US" sz="2000" dirty="0"/>
              <a:t>它的主要功能是安全、方便和有效地获得公钥。</a:t>
            </a:r>
            <a:endParaRPr lang="en-US" altLang="zh-CN" sz="2000" dirty="0"/>
          </a:p>
          <a:p>
            <a:pPr marL="342900" indent="-342900" algn="just">
              <a:lnSpc>
                <a:spcPct val="150000"/>
              </a:lnSpc>
              <a:buFont typeface="Wingdings" panose="05000000000000000000" pitchFamily="2" charset="2"/>
              <a:buChar char="l"/>
            </a:pPr>
            <a:r>
              <a:rPr lang="en-US" altLang="zh-CN" sz="2000" dirty="0"/>
              <a:t>IETF</a:t>
            </a:r>
            <a:r>
              <a:rPr lang="zh-CN" altLang="en-US" sz="2000" dirty="0"/>
              <a:t>公钥基础设施</a:t>
            </a:r>
            <a:r>
              <a:rPr lang="en-US" altLang="zh-CN" sz="2000" dirty="0"/>
              <a:t>X.509</a:t>
            </a:r>
            <a:r>
              <a:rPr lang="zh-CN" altLang="en-US" sz="2000" dirty="0"/>
              <a:t>（</a:t>
            </a:r>
            <a:r>
              <a:rPr lang="en-US" altLang="zh-CN" sz="2000" dirty="0"/>
              <a:t>PKIX</a:t>
            </a:r>
            <a:r>
              <a:rPr lang="zh-CN" altLang="en-US" sz="2000" dirty="0"/>
              <a:t>）工作组在</a:t>
            </a:r>
            <a:r>
              <a:rPr lang="en-US" altLang="zh-CN" sz="2000" dirty="0"/>
              <a:t>X.509</a:t>
            </a:r>
            <a:r>
              <a:rPr lang="zh-CN" altLang="en-US" sz="2000" dirty="0"/>
              <a:t>的基础上建立了一个正式（和通用）的模型，适合在互联网上部署基于证书的架构</a:t>
            </a:r>
            <a:r>
              <a:rPr lang="zh-CN" altLang="en-US" dirty="0"/>
              <a:t>。</a:t>
            </a:r>
          </a:p>
        </p:txBody>
      </p:sp>
      <p:sp>
        <p:nvSpPr>
          <p:cNvPr id="32"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a:xfrm>
            <a:off x="6735062" y="6330951"/>
            <a:ext cx="2057400" cy="365125"/>
          </a:xfrm>
        </p:spPr>
        <p:txBody>
          <a:bodyPr/>
          <a:lstStyle/>
          <a:p>
            <a:fld id="{4DBDE2CB-4801-494F-A0A4-D49D70804842}" type="slidenum">
              <a:rPr lang="zh-CN" altLang="en-US" smtClean="0">
                <a:latin typeface="Times New Roman" panose="02020603050405020304" pitchFamily="18" charset="0"/>
                <a:cs typeface="Times New Roman" panose="02020603050405020304" pitchFamily="18" charset="0"/>
              </a:rPr>
              <a:t>38</a:t>
            </a:fld>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901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身份认证</a:t>
            </a:r>
          </a:p>
        </p:txBody>
      </p:sp>
      <p:sp>
        <p:nvSpPr>
          <p:cNvPr id="3" name="灯片编号占位符 2">
            <a:extLst>
              <a:ext uri="{FF2B5EF4-FFF2-40B4-BE49-F238E27FC236}">
                <a16:creationId xmlns:a16="http://schemas.microsoft.com/office/drawing/2014/main" id="{63707B48-87E5-F42B-10D4-00C144DBA275}"/>
              </a:ext>
            </a:extLst>
          </p:cNvPr>
          <p:cNvSpPr>
            <a:spLocks noGrp="1"/>
          </p:cNvSpPr>
          <p:nvPr>
            <p:ph type="sldNum" sz="quarter" idx="12"/>
          </p:nvPr>
        </p:nvSpPr>
        <p:spPr/>
        <p:txBody>
          <a:bodyPr/>
          <a:lstStyle/>
          <a:p>
            <a:fld id="{4DBDE2CB-4801-494F-A0A4-D49D70804842}" type="slidenum">
              <a:rPr lang="zh-CN" altLang="en-US" smtClean="0">
                <a:latin typeface="Times New Roman" panose="02020603050405020304" pitchFamily="18" charset="0"/>
                <a:cs typeface="Times New Roman" panose="02020603050405020304" pitchFamily="18" charset="0"/>
              </a:rPr>
              <a:t>39</a:t>
            </a:fld>
            <a:endParaRPr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8C57E7B-0901-6E92-5F4B-4D56E453B476}"/>
              </a:ext>
            </a:extLst>
          </p:cNvPr>
          <p:cNvSpPr txBox="1"/>
          <p:nvPr/>
        </p:nvSpPr>
        <p:spPr>
          <a:xfrm>
            <a:off x="312517" y="1019100"/>
            <a:ext cx="6796943" cy="461665"/>
          </a:xfrm>
          <a:prstGeom prst="rect">
            <a:avLst/>
          </a:prstGeom>
          <a:noFill/>
        </p:spPr>
        <p:txBody>
          <a:bodyPr wrap="squar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(2) PKI </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sp>
        <p:nvSpPr>
          <p:cNvPr id="31" name="矩形 30">
            <a:extLst>
              <a:ext uri="{FF2B5EF4-FFF2-40B4-BE49-F238E27FC236}">
                <a16:creationId xmlns:a16="http://schemas.microsoft.com/office/drawing/2014/main" id="{B67D1933-DD3C-4EB3-BB4F-02BD6CB390EB}"/>
              </a:ext>
            </a:extLst>
          </p:cNvPr>
          <p:cNvSpPr>
            <a:spLocks noChangeAspect="1"/>
          </p:cNvSpPr>
          <p:nvPr/>
        </p:nvSpPr>
        <p:spPr>
          <a:xfrm rot="10800000" flipV="1">
            <a:off x="1580803" y="1556989"/>
            <a:ext cx="6340572" cy="886560"/>
          </a:xfrm>
          <a:prstGeom prst="rect">
            <a:avLst/>
          </a:prstGeom>
          <a:solidFill>
            <a:schemeClr val="accent5">
              <a:lumMod val="60000"/>
              <a:lumOff val="4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488B2206-14C1-429F-BCA2-A0EE6A360534}"/>
              </a:ext>
            </a:extLst>
          </p:cNvPr>
          <p:cNvSpPr>
            <a:spLocks noChangeAspect="1"/>
          </p:cNvSpPr>
          <p:nvPr/>
        </p:nvSpPr>
        <p:spPr>
          <a:xfrm rot="10800000" flipV="1">
            <a:off x="4057838" y="1748869"/>
            <a:ext cx="1024675" cy="298250"/>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nchorCtr="1"/>
          <a:lstStyle/>
          <a:p>
            <a:pPr algn="ctr"/>
            <a:r>
              <a:rPr lang="zh-CN" altLang="en-US" sz="1600" dirty="0">
                <a:solidFill>
                  <a:srgbClr val="FFFFFF"/>
                </a:solidFill>
                <a:latin typeface="Times New Roman" panose="02020603050405020304" pitchFamily="18" charset="0"/>
                <a:cs typeface="Times New Roman" panose="02020603050405020304" pitchFamily="18" charset="0"/>
              </a:rPr>
              <a:t>终端实体</a:t>
            </a:r>
          </a:p>
        </p:txBody>
      </p:sp>
      <p:sp>
        <p:nvSpPr>
          <p:cNvPr id="34" name="矩形 33">
            <a:extLst>
              <a:ext uri="{FF2B5EF4-FFF2-40B4-BE49-F238E27FC236}">
                <a16:creationId xmlns:a16="http://schemas.microsoft.com/office/drawing/2014/main" id="{9099589B-E2FB-442B-A4F9-B6988DBCD9B4}"/>
              </a:ext>
            </a:extLst>
          </p:cNvPr>
          <p:cNvSpPr>
            <a:spLocks noChangeAspect="1"/>
          </p:cNvSpPr>
          <p:nvPr/>
        </p:nvSpPr>
        <p:spPr>
          <a:xfrm rot="10800000" flipV="1">
            <a:off x="1565649" y="2479416"/>
            <a:ext cx="6355726" cy="2727078"/>
          </a:xfrm>
          <a:prstGeom prst="rect">
            <a:avLst/>
          </a:prstGeom>
          <a:solidFill>
            <a:srgbClr val="DEEBF7"/>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9B1B0780-66CF-4C75-9A9B-2A2B543A8935}"/>
              </a:ext>
            </a:extLst>
          </p:cNvPr>
          <p:cNvSpPr>
            <a:spLocks noChangeAspect="1"/>
          </p:cNvSpPr>
          <p:nvPr/>
        </p:nvSpPr>
        <p:spPr>
          <a:xfrm rot="10800000" flipV="1">
            <a:off x="3033163" y="2798794"/>
            <a:ext cx="1024675" cy="298250"/>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nchorCtr="1"/>
          <a:lstStyle/>
          <a:p>
            <a:pPr algn="ctr"/>
            <a:r>
              <a:rPr lang="zh-CN" altLang="en-US" sz="1600" dirty="0">
                <a:solidFill>
                  <a:srgbClr val="FFFFFF"/>
                </a:solidFill>
                <a:latin typeface="Times New Roman" panose="02020603050405020304" pitchFamily="18" charset="0"/>
                <a:cs typeface="Times New Roman" panose="02020603050405020304" pitchFamily="18" charset="0"/>
              </a:rPr>
              <a:t>注册机构</a:t>
            </a:r>
          </a:p>
        </p:txBody>
      </p:sp>
      <p:sp>
        <p:nvSpPr>
          <p:cNvPr id="36" name="矩形 35">
            <a:extLst>
              <a:ext uri="{FF2B5EF4-FFF2-40B4-BE49-F238E27FC236}">
                <a16:creationId xmlns:a16="http://schemas.microsoft.com/office/drawing/2014/main" id="{DBA54A4B-42E9-4560-8B82-FED4264DF830}"/>
              </a:ext>
            </a:extLst>
          </p:cNvPr>
          <p:cNvSpPr>
            <a:spLocks noChangeAspect="1"/>
          </p:cNvSpPr>
          <p:nvPr/>
        </p:nvSpPr>
        <p:spPr>
          <a:xfrm rot="10800000" flipV="1">
            <a:off x="4149346" y="3838994"/>
            <a:ext cx="1024675" cy="298250"/>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nchorCtr="1"/>
          <a:lstStyle/>
          <a:p>
            <a:pPr algn="ctr"/>
            <a:r>
              <a:rPr lang="zh-CN" altLang="en-US" sz="1600" dirty="0">
                <a:solidFill>
                  <a:srgbClr val="FFFFFF"/>
                </a:solidFill>
                <a:latin typeface="Times New Roman" panose="02020603050405020304" pitchFamily="18" charset="0"/>
                <a:cs typeface="Times New Roman" panose="02020603050405020304" pitchFamily="18" charset="0"/>
              </a:rPr>
              <a:t>认证机构</a:t>
            </a:r>
          </a:p>
        </p:txBody>
      </p:sp>
      <p:sp>
        <p:nvSpPr>
          <p:cNvPr id="39" name="矩形 38">
            <a:extLst>
              <a:ext uri="{FF2B5EF4-FFF2-40B4-BE49-F238E27FC236}">
                <a16:creationId xmlns:a16="http://schemas.microsoft.com/office/drawing/2014/main" id="{39DDEB66-06EA-42D9-A16F-018961650885}"/>
              </a:ext>
            </a:extLst>
          </p:cNvPr>
          <p:cNvSpPr>
            <a:spLocks noChangeAspect="1"/>
          </p:cNvSpPr>
          <p:nvPr/>
        </p:nvSpPr>
        <p:spPr>
          <a:xfrm rot="10800000" flipV="1">
            <a:off x="3300677" y="4321141"/>
            <a:ext cx="1233797" cy="298250"/>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nchorCtr="1"/>
          <a:lstStyle/>
          <a:p>
            <a:pPr algn="ctr"/>
            <a:r>
              <a:rPr lang="en-US" altLang="zh-CN" sz="1600" dirty="0">
                <a:solidFill>
                  <a:srgbClr val="FFFFFF"/>
                </a:solidFill>
                <a:latin typeface="Times New Roman" panose="02020603050405020304" pitchFamily="18" charset="0"/>
                <a:cs typeface="Times New Roman" panose="02020603050405020304" pitchFamily="18" charset="0"/>
              </a:rPr>
              <a:t>CRL</a:t>
            </a:r>
            <a:r>
              <a:rPr lang="zh-CN" altLang="en-US" sz="1600" dirty="0">
                <a:solidFill>
                  <a:srgbClr val="FFFFFF"/>
                </a:solidFill>
                <a:latin typeface="Times New Roman" panose="02020603050405020304" pitchFamily="18" charset="0"/>
                <a:cs typeface="Times New Roman" panose="02020603050405020304" pitchFamily="18" charset="0"/>
              </a:rPr>
              <a:t>发行者</a:t>
            </a:r>
          </a:p>
        </p:txBody>
      </p:sp>
      <p:sp>
        <p:nvSpPr>
          <p:cNvPr id="40" name="矩形 39">
            <a:extLst>
              <a:ext uri="{FF2B5EF4-FFF2-40B4-BE49-F238E27FC236}">
                <a16:creationId xmlns:a16="http://schemas.microsoft.com/office/drawing/2014/main" id="{0C430886-9E98-4A1D-90A8-6FDE2D68C909}"/>
              </a:ext>
            </a:extLst>
          </p:cNvPr>
          <p:cNvSpPr>
            <a:spLocks noChangeAspect="1"/>
          </p:cNvSpPr>
          <p:nvPr/>
        </p:nvSpPr>
        <p:spPr>
          <a:xfrm rot="10800000" flipV="1">
            <a:off x="4586344" y="4715450"/>
            <a:ext cx="1024675" cy="298250"/>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nchorCtr="1"/>
          <a:lstStyle/>
          <a:p>
            <a:pPr algn="ctr"/>
            <a:r>
              <a:rPr lang="zh-CN" altLang="en-US" sz="1600" dirty="0">
                <a:solidFill>
                  <a:srgbClr val="FFFFFF"/>
                </a:solidFill>
                <a:latin typeface="Times New Roman" panose="02020603050405020304" pitchFamily="18" charset="0"/>
                <a:cs typeface="Times New Roman" panose="02020603050405020304" pitchFamily="18" charset="0"/>
              </a:rPr>
              <a:t>认证机构</a:t>
            </a:r>
          </a:p>
        </p:txBody>
      </p:sp>
      <p:sp>
        <p:nvSpPr>
          <p:cNvPr id="41" name="文本框 40">
            <a:extLst>
              <a:ext uri="{FF2B5EF4-FFF2-40B4-BE49-F238E27FC236}">
                <a16:creationId xmlns:a16="http://schemas.microsoft.com/office/drawing/2014/main" id="{A5B72A7E-E8C8-452D-9236-EBE0E545FBA5}"/>
              </a:ext>
            </a:extLst>
          </p:cNvPr>
          <p:cNvSpPr txBox="1"/>
          <p:nvPr/>
        </p:nvSpPr>
        <p:spPr>
          <a:xfrm>
            <a:off x="1103984" y="1748164"/>
            <a:ext cx="461665" cy="28712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eaVert" wrap="square" rtlCol="0">
            <a:spAutoFit/>
          </a:bodyPr>
          <a:lstStyle/>
          <a:p>
            <a:pPr algn="ctr"/>
            <a:r>
              <a:rPr lang="zh-CN" altLang="en-US" dirty="0">
                <a:latin typeface="Times New Roman" panose="02020603050405020304" pitchFamily="18" charset="0"/>
                <a:cs typeface="Times New Roman" panose="02020603050405020304" pitchFamily="18" charset="0"/>
              </a:rPr>
              <a:t>证书</a:t>
            </a:r>
            <a:r>
              <a:rPr lang="en-US" altLang="zh-CN" dirty="0">
                <a:latin typeface="Times New Roman" panose="02020603050405020304" pitchFamily="18" charset="0"/>
                <a:cs typeface="Times New Roman" panose="02020603050405020304" pitchFamily="18" charset="0"/>
              </a:rPr>
              <a:t>\CRL</a:t>
            </a:r>
            <a:r>
              <a:rPr lang="zh-CN" altLang="en-US" dirty="0">
                <a:latin typeface="Times New Roman" panose="02020603050405020304" pitchFamily="18" charset="0"/>
                <a:cs typeface="Times New Roman" panose="02020603050405020304" pitchFamily="18" charset="0"/>
              </a:rPr>
              <a:t>存储库</a:t>
            </a:r>
          </a:p>
        </p:txBody>
      </p:sp>
      <p:cxnSp>
        <p:nvCxnSpPr>
          <p:cNvPr id="42" name="直接箭头连接符 41">
            <a:extLst>
              <a:ext uri="{FF2B5EF4-FFF2-40B4-BE49-F238E27FC236}">
                <a16:creationId xmlns:a16="http://schemas.microsoft.com/office/drawing/2014/main" id="{94893AA5-7E5D-4055-847C-8594FC020987}"/>
              </a:ext>
            </a:extLst>
          </p:cNvPr>
          <p:cNvCxnSpPr>
            <a:cxnSpLocks/>
            <a:endCxn id="33" idx="3"/>
          </p:cNvCxnSpPr>
          <p:nvPr/>
        </p:nvCxnSpPr>
        <p:spPr>
          <a:xfrm>
            <a:off x="1566452" y="1896305"/>
            <a:ext cx="2491386" cy="1689"/>
          </a:xfrm>
          <a:prstGeom prst="straightConnector1">
            <a:avLst/>
          </a:prstGeom>
          <a:ln w="12700">
            <a:solidFill>
              <a:schemeClr val="tx1"/>
            </a:solidFill>
            <a:headEnd type="triangle" w="med" len="med"/>
            <a:tailEnd type="none" w="med" len="med"/>
          </a:ln>
        </p:spPr>
        <p:style>
          <a:lnRef idx="3">
            <a:schemeClr val="accent5"/>
          </a:lnRef>
          <a:fillRef idx="0">
            <a:schemeClr val="accent5"/>
          </a:fillRef>
          <a:effectRef idx="2">
            <a:schemeClr val="accent5"/>
          </a:effectRef>
          <a:fontRef idx="minor">
            <a:schemeClr val="tx1"/>
          </a:fontRef>
        </p:style>
      </p:cxnSp>
      <p:sp>
        <p:nvSpPr>
          <p:cNvPr id="43" name="文本框 42">
            <a:extLst>
              <a:ext uri="{FF2B5EF4-FFF2-40B4-BE49-F238E27FC236}">
                <a16:creationId xmlns:a16="http://schemas.microsoft.com/office/drawing/2014/main" id="{E2CFD8C5-0430-4E20-BF62-CA1E797629D1}"/>
              </a:ext>
            </a:extLst>
          </p:cNvPr>
          <p:cNvSpPr txBox="1"/>
          <p:nvPr/>
        </p:nvSpPr>
        <p:spPr>
          <a:xfrm>
            <a:off x="1890960" y="1903687"/>
            <a:ext cx="1612900" cy="338554"/>
          </a:xfrm>
          <a:prstGeom prst="rect">
            <a:avLst/>
          </a:prstGeom>
          <a:noFill/>
        </p:spPr>
        <p:txBody>
          <a:bodyPr wrap="square">
            <a:spAutoFit/>
          </a:bodyPr>
          <a:lstStyle/>
          <a:p>
            <a:r>
              <a:rPr lang="zh-CN" altLang="en-US" sz="1600" dirty="0">
                <a:latin typeface="Times New Roman" panose="02020603050405020304" pitchFamily="18" charset="0"/>
                <a:cs typeface="Times New Roman" panose="02020603050405020304" pitchFamily="18" charset="0"/>
              </a:rPr>
              <a:t>证书/CRL检索</a:t>
            </a:r>
          </a:p>
        </p:txBody>
      </p:sp>
      <p:cxnSp>
        <p:nvCxnSpPr>
          <p:cNvPr id="44" name="直接箭头连接符 43">
            <a:extLst>
              <a:ext uri="{FF2B5EF4-FFF2-40B4-BE49-F238E27FC236}">
                <a16:creationId xmlns:a16="http://schemas.microsoft.com/office/drawing/2014/main" id="{0B9F52B8-FE78-470A-8AC4-E5E8C4CAAAA4}"/>
              </a:ext>
            </a:extLst>
          </p:cNvPr>
          <p:cNvCxnSpPr>
            <a:cxnSpLocks/>
            <a:endCxn id="35" idx="3"/>
          </p:cNvCxnSpPr>
          <p:nvPr/>
        </p:nvCxnSpPr>
        <p:spPr>
          <a:xfrm>
            <a:off x="1566452" y="2936520"/>
            <a:ext cx="1466711" cy="11399"/>
          </a:xfrm>
          <a:prstGeom prst="straightConnector1">
            <a:avLst/>
          </a:prstGeom>
          <a:ln w="12700">
            <a:solidFill>
              <a:schemeClr val="tx1"/>
            </a:solidFill>
            <a:headEnd type="triangle" w="med" len="med"/>
            <a:tailEnd type="none" w="med" len="med"/>
          </a:ln>
        </p:spPr>
        <p:style>
          <a:lnRef idx="3">
            <a:schemeClr val="accent5"/>
          </a:lnRef>
          <a:fillRef idx="0">
            <a:schemeClr val="accent5"/>
          </a:fillRef>
          <a:effectRef idx="2">
            <a:schemeClr val="accent5"/>
          </a:effectRef>
          <a:fontRef idx="minor">
            <a:schemeClr val="tx1"/>
          </a:fontRef>
        </p:style>
      </p:cxnSp>
      <p:sp>
        <p:nvSpPr>
          <p:cNvPr id="45" name="文本框 44">
            <a:extLst>
              <a:ext uri="{FF2B5EF4-FFF2-40B4-BE49-F238E27FC236}">
                <a16:creationId xmlns:a16="http://schemas.microsoft.com/office/drawing/2014/main" id="{B59E54B7-C6CA-4EE4-A04B-B75E5D7A406F}"/>
              </a:ext>
            </a:extLst>
          </p:cNvPr>
          <p:cNvSpPr txBox="1"/>
          <p:nvPr/>
        </p:nvSpPr>
        <p:spPr>
          <a:xfrm>
            <a:off x="1815002" y="2586122"/>
            <a:ext cx="1024675" cy="338554"/>
          </a:xfrm>
          <a:prstGeom prst="rect">
            <a:avLst/>
          </a:prstGeom>
          <a:noFill/>
        </p:spPr>
        <p:txBody>
          <a:bodyPr wrap="square">
            <a:spAutoFit/>
          </a:bodyPr>
          <a:lstStyle/>
          <a:p>
            <a:r>
              <a:rPr lang="zh-CN" altLang="en-US" sz="1600" dirty="0">
                <a:latin typeface="Times New Roman" panose="02020603050405020304" pitchFamily="18" charset="0"/>
                <a:cs typeface="Times New Roman" panose="02020603050405020304" pitchFamily="18" charset="0"/>
              </a:rPr>
              <a:t>证书发布</a:t>
            </a:r>
          </a:p>
        </p:txBody>
      </p:sp>
      <p:cxnSp>
        <p:nvCxnSpPr>
          <p:cNvPr id="46" name="连接符: 肘形 45">
            <a:extLst>
              <a:ext uri="{FF2B5EF4-FFF2-40B4-BE49-F238E27FC236}">
                <a16:creationId xmlns:a16="http://schemas.microsoft.com/office/drawing/2014/main" id="{58DE3BC2-0D52-4B2F-9E82-017E12D46423}"/>
              </a:ext>
            </a:extLst>
          </p:cNvPr>
          <p:cNvCxnSpPr>
            <a:cxnSpLocks/>
          </p:cNvCxnSpPr>
          <p:nvPr/>
        </p:nvCxnSpPr>
        <p:spPr>
          <a:xfrm rot="5400000">
            <a:off x="3829183" y="2256077"/>
            <a:ext cx="826267" cy="362210"/>
          </a:xfrm>
          <a:prstGeom prst="bentConnector3">
            <a:avLst>
              <a:gd name="adj1" fmla="val 99569"/>
            </a:avLst>
          </a:prstGeom>
          <a:ln w="12700">
            <a:tailEnd type="triangle"/>
          </a:ln>
        </p:spPr>
        <p:style>
          <a:lnRef idx="2">
            <a:schemeClr val="dk1"/>
          </a:lnRef>
          <a:fillRef idx="0">
            <a:schemeClr val="dk1"/>
          </a:fillRef>
          <a:effectRef idx="1">
            <a:schemeClr val="dk1"/>
          </a:effectRef>
          <a:fontRef idx="minor">
            <a:schemeClr val="tx1"/>
          </a:fontRef>
        </p:style>
      </p:cxnSp>
      <p:sp>
        <p:nvSpPr>
          <p:cNvPr id="47" name="文本框 46">
            <a:extLst>
              <a:ext uri="{FF2B5EF4-FFF2-40B4-BE49-F238E27FC236}">
                <a16:creationId xmlns:a16="http://schemas.microsoft.com/office/drawing/2014/main" id="{35777178-577D-4033-B1EC-AE751797C858}"/>
              </a:ext>
            </a:extLst>
          </p:cNvPr>
          <p:cNvSpPr txBox="1"/>
          <p:nvPr/>
        </p:nvSpPr>
        <p:spPr>
          <a:xfrm>
            <a:off x="5664467" y="2445584"/>
            <a:ext cx="1486603" cy="183999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a:spAutoFit/>
          </a:bodyPr>
          <a:lstStyle/>
          <a:p>
            <a:pPr marL="285750" indent="-285750">
              <a:lnSpc>
                <a:spcPct val="120000"/>
              </a:lnSpc>
              <a:buFont typeface="Arial" panose="020B0604020202020204" pitchFamily="34" charset="0"/>
              <a:buChar char="•"/>
            </a:pPr>
            <a:r>
              <a:rPr lang="zh-CN" altLang="en-US" sz="1600" dirty="0">
                <a:solidFill>
                  <a:srgbClr val="0000FF"/>
                </a:solidFill>
                <a:latin typeface="Times New Roman" panose="02020603050405020304" pitchFamily="18" charset="0"/>
                <a:cs typeface="Times New Roman" panose="02020603050405020304" pitchFamily="18" charset="0"/>
              </a:rPr>
              <a:t>注册</a:t>
            </a:r>
            <a:endParaRPr lang="en-US" altLang="zh-CN" sz="1600" dirty="0">
              <a:solidFill>
                <a:srgbClr val="0000FF"/>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en-US" sz="1600" dirty="0">
                <a:solidFill>
                  <a:srgbClr val="0000FF"/>
                </a:solidFill>
                <a:latin typeface="Times New Roman" panose="02020603050405020304" pitchFamily="18" charset="0"/>
                <a:cs typeface="Times New Roman" panose="02020603050405020304" pitchFamily="18" charset="0"/>
              </a:rPr>
              <a:t>初始化</a:t>
            </a:r>
            <a:endParaRPr lang="en-US" altLang="zh-CN" sz="1600" dirty="0">
              <a:solidFill>
                <a:srgbClr val="0000FF"/>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en-US" sz="1600" dirty="0">
                <a:solidFill>
                  <a:srgbClr val="0000FF"/>
                </a:solidFill>
                <a:latin typeface="Times New Roman" panose="02020603050405020304" pitchFamily="18" charset="0"/>
                <a:cs typeface="Times New Roman" panose="02020603050405020304" pitchFamily="18" charset="0"/>
              </a:rPr>
              <a:t>认证</a:t>
            </a:r>
            <a:endParaRPr lang="en-US" altLang="zh-CN" sz="1600" dirty="0">
              <a:solidFill>
                <a:srgbClr val="0000FF"/>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en-US" sz="1600" dirty="0">
                <a:solidFill>
                  <a:srgbClr val="0000FF"/>
                </a:solidFill>
                <a:latin typeface="Times New Roman" panose="02020603050405020304" pitchFamily="18" charset="0"/>
                <a:cs typeface="Times New Roman" panose="02020603050405020304" pitchFamily="18" charset="0"/>
              </a:rPr>
              <a:t>密钥对恢复</a:t>
            </a:r>
            <a:endParaRPr lang="en-US" altLang="zh-CN" sz="1600" dirty="0">
              <a:solidFill>
                <a:srgbClr val="0000FF"/>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en-US" sz="1600" dirty="0">
                <a:solidFill>
                  <a:srgbClr val="0000FF"/>
                </a:solidFill>
                <a:latin typeface="Times New Roman" panose="02020603050405020304" pitchFamily="18" charset="0"/>
                <a:cs typeface="Times New Roman" panose="02020603050405020304" pitchFamily="18" charset="0"/>
              </a:rPr>
              <a:t>密钥对更新</a:t>
            </a:r>
            <a:endParaRPr lang="en-US" altLang="zh-CN" sz="1600" dirty="0">
              <a:solidFill>
                <a:srgbClr val="0000FF"/>
              </a:solidFill>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en-US" sz="1600" dirty="0">
                <a:solidFill>
                  <a:srgbClr val="0000FF"/>
                </a:solidFill>
                <a:latin typeface="Times New Roman" panose="02020603050405020304" pitchFamily="18" charset="0"/>
                <a:cs typeface="Times New Roman" panose="02020603050405020304" pitchFamily="18" charset="0"/>
              </a:rPr>
              <a:t>撤销请求</a:t>
            </a:r>
          </a:p>
        </p:txBody>
      </p:sp>
      <p:cxnSp>
        <p:nvCxnSpPr>
          <p:cNvPr id="49" name="直接箭头连接符 48">
            <a:extLst>
              <a:ext uri="{FF2B5EF4-FFF2-40B4-BE49-F238E27FC236}">
                <a16:creationId xmlns:a16="http://schemas.microsoft.com/office/drawing/2014/main" id="{5643AD53-2D61-4180-80FA-3B5D4D54886D}"/>
              </a:ext>
            </a:extLst>
          </p:cNvPr>
          <p:cNvCxnSpPr>
            <a:cxnSpLocks/>
          </p:cNvCxnSpPr>
          <p:nvPr/>
        </p:nvCxnSpPr>
        <p:spPr>
          <a:xfrm flipV="1">
            <a:off x="4885395" y="2041112"/>
            <a:ext cx="0" cy="1797882"/>
          </a:xfrm>
          <a:prstGeom prst="straightConnector1">
            <a:avLst/>
          </a:prstGeom>
          <a:ln w="19050">
            <a:solidFill>
              <a:srgbClr val="0000FF"/>
            </a:solidFill>
            <a:headEnd type="triangl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50" name="连接符: 肘形 49">
            <a:extLst>
              <a:ext uri="{FF2B5EF4-FFF2-40B4-BE49-F238E27FC236}">
                <a16:creationId xmlns:a16="http://schemas.microsoft.com/office/drawing/2014/main" id="{22324490-7C4D-4627-9C0E-B162108BC333}"/>
              </a:ext>
            </a:extLst>
          </p:cNvPr>
          <p:cNvCxnSpPr>
            <a:cxnSpLocks/>
            <a:endCxn id="36" idx="0"/>
          </p:cNvCxnSpPr>
          <p:nvPr/>
        </p:nvCxnSpPr>
        <p:spPr>
          <a:xfrm rot="16200000" flipH="1">
            <a:off x="3927531" y="3104842"/>
            <a:ext cx="845274" cy="623030"/>
          </a:xfrm>
          <a:prstGeom prst="bentConnector3">
            <a:avLst>
              <a:gd name="adj1" fmla="val -844"/>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51" name="直接箭头连接符 50">
            <a:extLst>
              <a:ext uri="{FF2B5EF4-FFF2-40B4-BE49-F238E27FC236}">
                <a16:creationId xmlns:a16="http://schemas.microsoft.com/office/drawing/2014/main" id="{7659B405-0DDF-4E72-8C52-0B8E86B25A1F}"/>
              </a:ext>
            </a:extLst>
          </p:cNvPr>
          <p:cNvCxnSpPr>
            <a:cxnSpLocks/>
            <a:endCxn id="36" idx="3"/>
          </p:cNvCxnSpPr>
          <p:nvPr/>
        </p:nvCxnSpPr>
        <p:spPr>
          <a:xfrm>
            <a:off x="1566452" y="3980737"/>
            <a:ext cx="2582894" cy="7382"/>
          </a:xfrm>
          <a:prstGeom prst="straightConnector1">
            <a:avLst/>
          </a:prstGeom>
          <a:ln w="12700">
            <a:solidFill>
              <a:schemeClr val="tx1"/>
            </a:solidFill>
            <a:headEnd type="triangle" w="med" len="med"/>
            <a:tailEnd type="none" w="med" len="med"/>
          </a:ln>
        </p:spPr>
        <p:style>
          <a:lnRef idx="3">
            <a:schemeClr val="accent5"/>
          </a:lnRef>
          <a:fillRef idx="0">
            <a:schemeClr val="accent5"/>
          </a:fillRef>
          <a:effectRef idx="2">
            <a:schemeClr val="accent5"/>
          </a:effectRef>
          <a:fontRef idx="minor">
            <a:schemeClr val="tx1"/>
          </a:fontRef>
        </p:style>
      </p:cxnSp>
      <p:sp>
        <p:nvSpPr>
          <p:cNvPr id="52" name="文本框 51">
            <a:extLst>
              <a:ext uri="{FF2B5EF4-FFF2-40B4-BE49-F238E27FC236}">
                <a16:creationId xmlns:a16="http://schemas.microsoft.com/office/drawing/2014/main" id="{18171E51-CD14-4C03-B5C7-455F36EC864E}"/>
              </a:ext>
            </a:extLst>
          </p:cNvPr>
          <p:cNvSpPr txBox="1"/>
          <p:nvPr/>
        </p:nvSpPr>
        <p:spPr>
          <a:xfrm>
            <a:off x="1905050" y="3642183"/>
            <a:ext cx="1662831" cy="338554"/>
          </a:xfrm>
          <a:prstGeom prst="rect">
            <a:avLst/>
          </a:prstGeom>
          <a:noFill/>
        </p:spPr>
        <p:txBody>
          <a:bodyPr wrap="square">
            <a:spAutoFit/>
          </a:bodyPr>
          <a:lstStyle/>
          <a:p>
            <a:r>
              <a:rPr lang="zh-CN" altLang="en-US" sz="1600" dirty="0">
                <a:latin typeface="Times New Roman" panose="02020603050405020304" pitchFamily="18" charset="0"/>
                <a:cs typeface="Times New Roman" panose="02020603050405020304" pitchFamily="18" charset="0"/>
              </a:rPr>
              <a:t>证书</a:t>
            </a:r>
            <a:r>
              <a:rPr lang="en-US" altLang="zh-CN" sz="1600" dirty="0">
                <a:latin typeface="Times New Roman" panose="02020603050405020304" pitchFamily="18" charset="0"/>
                <a:cs typeface="Times New Roman" panose="02020603050405020304" pitchFamily="18" charset="0"/>
              </a:rPr>
              <a:t>/CRL</a:t>
            </a:r>
            <a:r>
              <a:rPr lang="zh-CN" altLang="en-US" sz="1600" dirty="0">
                <a:latin typeface="Times New Roman" panose="02020603050405020304" pitchFamily="18" charset="0"/>
                <a:cs typeface="Times New Roman" panose="02020603050405020304" pitchFamily="18" charset="0"/>
              </a:rPr>
              <a:t>发布</a:t>
            </a:r>
          </a:p>
        </p:txBody>
      </p:sp>
      <p:cxnSp>
        <p:nvCxnSpPr>
          <p:cNvPr id="53" name="直接箭头连接符 52">
            <a:extLst>
              <a:ext uri="{FF2B5EF4-FFF2-40B4-BE49-F238E27FC236}">
                <a16:creationId xmlns:a16="http://schemas.microsoft.com/office/drawing/2014/main" id="{01DE5268-C7C4-4B99-AFE8-40B2CD327408}"/>
              </a:ext>
            </a:extLst>
          </p:cNvPr>
          <p:cNvCxnSpPr>
            <a:cxnSpLocks/>
            <a:endCxn id="39" idx="3"/>
          </p:cNvCxnSpPr>
          <p:nvPr/>
        </p:nvCxnSpPr>
        <p:spPr>
          <a:xfrm>
            <a:off x="1566452" y="4458779"/>
            <a:ext cx="1734225" cy="11487"/>
          </a:xfrm>
          <a:prstGeom prst="straightConnector1">
            <a:avLst/>
          </a:prstGeom>
          <a:ln w="12700">
            <a:solidFill>
              <a:schemeClr val="tx1"/>
            </a:solidFill>
            <a:headEnd type="triangle" w="med" len="med"/>
            <a:tailEnd type="none" w="med" len="med"/>
          </a:ln>
        </p:spPr>
        <p:style>
          <a:lnRef idx="3">
            <a:schemeClr val="accent5"/>
          </a:lnRef>
          <a:fillRef idx="0">
            <a:schemeClr val="accent5"/>
          </a:fillRef>
          <a:effectRef idx="2">
            <a:schemeClr val="accent5"/>
          </a:effectRef>
          <a:fontRef idx="minor">
            <a:schemeClr val="tx1"/>
          </a:fontRef>
        </p:style>
      </p:cxnSp>
      <p:sp>
        <p:nvSpPr>
          <p:cNvPr id="54" name="文本框 53">
            <a:extLst>
              <a:ext uri="{FF2B5EF4-FFF2-40B4-BE49-F238E27FC236}">
                <a16:creationId xmlns:a16="http://schemas.microsoft.com/office/drawing/2014/main" id="{1B77ED7A-8148-4CA2-AB2F-880D421C0A28}"/>
              </a:ext>
            </a:extLst>
          </p:cNvPr>
          <p:cNvSpPr txBox="1"/>
          <p:nvPr/>
        </p:nvSpPr>
        <p:spPr>
          <a:xfrm>
            <a:off x="1992930" y="4120225"/>
            <a:ext cx="1024677"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CRL</a:t>
            </a:r>
            <a:r>
              <a:rPr lang="zh-CN" altLang="en-US" sz="1600" dirty="0">
                <a:latin typeface="Times New Roman" panose="02020603050405020304" pitchFamily="18" charset="0"/>
                <a:cs typeface="Times New Roman" panose="02020603050405020304" pitchFamily="18" charset="0"/>
              </a:rPr>
              <a:t>发布</a:t>
            </a:r>
          </a:p>
        </p:txBody>
      </p:sp>
      <p:cxnSp>
        <p:nvCxnSpPr>
          <p:cNvPr id="55" name="连接符: 肘形 54">
            <a:extLst>
              <a:ext uri="{FF2B5EF4-FFF2-40B4-BE49-F238E27FC236}">
                <a16:creationId xmlns:a16="http://schemas.microsoft.com/office/drawing/2014/main" id="{97AB1DB7-22A9-4217-BA2F-8148AA9AEDB7}"/>
              </a:ext>
            </a:extLst>
          </p:cNvPr>
          <p:cNvCxnSpPr>
            <a:cxnSpLocks/>
          </p:cNvCxnSpPr>
          <p:nvPr/>
        </p:nvCxnSpPr>
        <p:spPr>
          <a:xfrm rot="5400000">
            <a:off x="4445387" y="4234885"/>
            <a:ext cx="330418" cy="140344"/>
          </a:xfrm>
          <a:prstGeom prst="bentConnector2">
            <a:avLst/>
          </a:prstGeom>
          <a:ln w="12700">
            <a:tailEnd type="triangle"/>
          </a:ln>
        </p:spPr>
        <p:style>
          <a:lnRef idx="2">
            <a:schemeClr val="dk1"/>
          </a:lnRef>
          <a:fillRef idx="0">
            <a:schemeClr val="dk1"/>
          </a:fillRef>
          <a:effectRef idx="1">
            <a:schemeClr val="dk1"/>
          </a:effectRef>
          <a:fontRef idx="minor">
            <a:schemeClr val="tx1"/>
          </a:fontRef>
        </p:style>
      </p:cxnSp>
      <p:cxnSp>
        <p:nvCxnSpPr>
          <p:cNvPr id="56" name="直接箭头连接符 55">
            <a:extLst>
              <a:ext uri="{FF2B5EF4-FFF2-40B4-BE49-F238E27FC236}">
                <a16:creationId xmlns:a16="http://schemas.microsoft.com/office/drawing/2014/main" id="{2910A419-2BAD-457A-B0CE-13A215E0A324}"/>
              </a:ext>
            </a:extLst>
          </p:cNvPr>
          <p:cNvCxnSpPr>
            <a:cxnSpLocks/>
          </p:cNvCxnSpPr>
          <p:nvPr/>
        </p:nvCxnSpPr>
        <p:spPr>
          <a:xfrm flipV="1">
            <a:off x="4971500" y="4137245"/>
            <a:ext cx="0" cy="576372"/>
          </a:xfrm>
          <a:prstGeom prst="straightConnector1">
            <a:avLst/>
          </a:prstGeom>
          <a:ln w="19050">
            <a:solidFill>
              <a:srgbClr val="0000FF"/>
            </a:solidFill>
            <a:headEnd type="triangle" w="med" len="med"/>
            <a:tailEnd type="none" w="med" len="med"/>
          </a:ln>
        </p:spPr>
        <p:style>
          <a:lnRef idx="3">
            <a:schemeClr val="accent5"/>
          </a:lnRef>
          <a:fillRef idx="0">
            <a:schemeClr val="accent5"/>
          </a:fillRef>
          <a:effectRef idx="2">
            <a:schemeClr val="accent5"/>
          </a:effectRef>
          <a:fontRef idx="minor">
            <a:schemeClr val="tx1"/>
          </a:fontRef>
        </p:style>
      </p:cxnSp>
      <p:sp>
        <p:nvSpPr>
          <p:cNvPr id="57" name="文本框 56">
            <a:extLst>
              <a:ext uri="{FF2B5EF4-FFF2-40B4-BE49-F238E27FC236}">
                <a16:creationId xmlns:a16="http://schemas.microsoft.com/office/drawing/2014/main" id="{653B87B7-E460-4D0E-B377-E3B7D0AA240D}"/>
              </a:ext>
            </a:extLst>
          </p:cNvPr>
          <p:cNvSpPr txBox="1"/>
          <p:nvPr/>
        </p:nvSpPr>
        <p:spPr>
          <a:xfrm>
            <a:off x="4998708" y="4292797"/>
            <a:ext cx="1221024" cy="338554"/>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a:spAutoFit/>
          </a:bodyPr>
          <a:lstStyle/>
          <a:p>
            <a:r>
              <a:rPr lang="zh-CN" altLang="en-US" sz="1600" dirty="0">
                <a:solidFill>
                  <a:srgbClr val="0000FF"/>
                </a:solidFill>
                <a:latin typeface="Times New Roman" panose="02020603050405020304" pitchFamily="18" charset="0"/>
                <a:cs typeface="Times New Roman" panose="02020603050405020304" pitchFamily="18" charset="0"/>
              </a:rPr>
              <a:t>交叉认证</a:t>
            </a:r>
          </a:p>
        </p:txBody>
      </p:sp>
      <p:sp>
        <p:nvSpPr>
          <p:cNvPr id="58" name="文本框 57">
            <a:extLst>
              <a:ext uri="{FF2B5EF4-FFF2-40B4-BE49-F238E27FC236}">
                <a16:creationId xmlns:a16="http://schemas.microsoft.com/office/drawing/2014/main" id="{E62F5EC5-B8B2-4174-A8CB-DCE7B0FFFFC4}"/>
              </a:ext>
            </a:extLst>
          </p:cNvPr>
          <p:cNvSpPr txBox="1"/>
          <p:nvPr/>
        </p:nvSpPr>
        <p:spPr>
          <a:xfrm>
            <a:off x="6458451" y="1630937"/>
            <a:ext cx="1086212" cy="369332"/>
          </a:xfrm>
          <a:prstGeom prst="rect">
            <a:avLst/>
          </a:prstGeom>
          <a:solidFill>
            <a:schemeClr val="accent5">
              <a:lumMod val="40000"/>
              <a:lumOff val="60000"/>
            </a:schemeClr>
          </a:solidFill>
          <a:ln>
            <a:noFill/>
          </a:ln>
        </p:spPr>
        <p:txBody>
          <a:bodyPr wrap="square">
            <a:spAutoFit/>
          </a:bodyPr>
          <a:lstStyle/>
          <a:p>
            <a:r>
              <a:rPr lang="zh-CN" altLang="en-US" dirty="0">
                <a:latin typeface="Times New Roman" panose="02020603050405020304" pitchFamily="18" charset="0"/>
                <a:cs typeface="Times New Roman" panose="02020603050405020304" pitchFamily="18" charset="0"/>
              </a:rPr>
              <a:t>PKI 用户</a:t>
            </a:r>
          </a:p>
        </p:txBody>
      </p:sp>
      <p:sp>
        <p:nvSpPr>
          <p:cNvPr id="59" name="文本框 58">
            <a:extLst>
              <a:ext uri="{FF2B5EF4-FFF2-40B4-BE49-F238E27FC236}">
                <a16:creationId xmlns:a16="http://schemas.microsoft.com/office/drawing/2014/main" id="{F77DBB8E-54FC-4B12-A291-642C67352520}"/>
              </a:ext>
            </a:extLst>
          </p:cNvPr>
          <p:cNvSpPr txBox="1"/>
          <p:nvPr/>
        </p:nvSpPr>
        <p:spPr>
          <a:xfrm>
            <a:off x="6215468" y="4649678"/>
            <a:ext cx="1548294" cy="369332"/>
          </a:xfrm>
          <a:prstGeom prst="rect">
            <a:avLst/>
          </a:prstGeom>
          <a:solidFill>
            <a:schemeClr val="accent5">
              <a:lumMod val="40000"/>
              <a:lumOff val="60000"/>
            </a:schemeClr>
          </a:solidFill>
        </p:spPr>
        <p:txBody>
          <a:bodyPr wrap="square">
            <a:spAutoFit/>
          </a:bodyPr>
          <a:lstStyle/>
          <a:p>
            <a:r>
              <a:rPr lang="zh-CN" altLang="en-US" dirty="0">
                <a:latin typeface="Times New Roman" panose="02020603050405020304" pitchFamily="18" charset="0"/>
                <a:cs typeface="Times New Roman" panose="02020603050405020304" pitchFamily="18" charset="0"/>
              </a:rPr>
              <a:t>PKI 管理实体</a:t>
            </a:r>
          </a:p>
        </p:txBody>
      </p:sp>
      <p:sp>
        <p:nvSpPr>
          <p:cNvPr id="10" name="矩形 9"/>
          <p:cNvSpPr/>
          <p:nvPr/>
        </p:nvSpPr>
        <p:spPr>
          <a:xfrm>
            <a:off x="465477" y="5368166"/>
            <a:ext cx="8241732" cy="1274195"/>
          </a:xfrm>
          <a:prstGeom prst="rect">
            <a:avLst/>
          </a:prstGeom>
        </p:spPr>
        <p:txBody>
          <a:bodyPr wrap="square">
            <a:spAutoFit/>
          </a:bodyPr>
          <a:lstStyle/>
          <a:p>
            <a:pPr marL="285750" indent="-285750">
              <a:lnSpc>
                <a:spcPct val="120000"/>
              </a:lnSpc>
              <a:buFont typeface="Wingdings" panose="05000000000000000000" pitchFamily="2" charset="2"/>
              <a:buChar char="l"/>
            </a:pPr>
            <a:r>
              <a:rPr lang="zh-CN" altLang="en-US" sz="1600" dirty="0">
                <a:solidFill>
                  <a:srgbClr val="0000FF"/>
                </a:solidFill>
              </a:rPr>
              <a:t>认证机构（</a:t>
            </a:r>
            <a:r>
              <a:rPr lang="en-US" altLang="zh-CN" sz="1600" dirty="0">
                <a:solidFill>
                  <a:srgbClr val="0000FF"/>
                </a:solidFill>
              </a:rPr>
              <a:t>CA</a:t>
            </a:r>
            <a:r>
              <a:rPr lang="zh-CN" altLang="en-US" sz="1600" dirty="0">
                <a:solidFill>
                  <a:srgbClr val="0000FF"/>
                </a:solidFill>
              </a:rPr>
              <a:t>）</a:t>
            </a:r>
            <a:r>
              <a:rPr lang="zh-CN" altLang="en-US" sz="1600" dirty="0"/>
              <a:t>： 证书和证书撤销列表（</a:t>
            </a:r>
            <a:r>
              <a:rPr lang="en-US" altLang="zh-CN" sz="1600" dirty="0"/>
              <a:t>CRL</a:t>
            </a:r>
            <a:r>
              <a:rPr lang="zh-CN" altLang="en-US" sz="1600" dirty="0"/>
              <a:t>）的签发者。它也可以支持各种管理功能，尽管这些功能通常被委托给注册机构。</a:t>
            </a:r>
          </a:p>
          <a:p>
            <a:pPr marL="285750" indent="-285750">
              <a:lnSpc>
                <a:spcPct val="120000"/>
              </a:lnSpc>
              <a:buFont typeface="Wingdings" panose="05000000000000000000" pitchFamily="2" charset="2"/>
              <a:buChar char="l"/>
            </a:pPr>
            <a:r>
              <a:rPr lang="zh-CN" altLang="en-US" sz="1600" dirty="0">
                <a:solidFill>
                  <a:srgbClr val="0000FF"/>
                </a:solidFill>
              </a:rPr>
              <a:t>注册机构（</a:t>
            </a:r>
            <a:r>
              <a:rPr lang="en-US" altLang="zh-CN" sz="1600" dirty="0">
                <a:solidFill>
                  <a:srgbClr val="0000FF"/>
                </a:solidFill>
              </a:rPr>
              <a:t>RA</a:t>
            </a:r>
            <a:r>
              <a:rPr lang="zh-CN" altLang="en-US" sz="1600" dirty="0">
                <a:solidFill>
                  <a:srgbClr val="0000FF"/>
                </a:solidFill>
              </a:rPr>
              <a:t>）</a:t>
            </a:r>
            <a:r>
              <a:rPr lang="zh-CN" altLang="en-US" sz="1600" dirty="0"/>
              <a:t>： 一个可选择的组件，它可以承担</a:t>
            </a:r>
            <a:r>
              <a:rPr lang="en-US" altLang="zh-CN" sz="1600" dirty="0"/>
              <a:t>CA</a:t>
            </a:r>
            <a:r>
              <a:rPr lang="zh-CN" altLang="en-US" sz="1600" dirty="0"/>
              <a:t>的一些管理功能。</a:t>
            </a:r>
            <a:r>
              <a:rPr lang="en-US" altLang="zh-CN" sz="1600" dirty="0"/>
              <a:t>RA</a:t>
            </a:r>
            <a:r>
              <a:rPr lang="zh-CN" altLang="en-US" sz="1600" dirty="0"/>
              <a:t>通常与终端实体的注册过程相关，但也可以在其他一些领域提供协助。</a:t>
            </a:r>
          </a:p>
        </p:txBody>
      </p:sp>
    </p:spTree>
    <p:extLst>
      <p:ext uri="{BB962C8B-B14F-4D97-AF65-F5344CB8AC3E}">
        <p14:creationId xmlns:p14="http://schemas.microsoft.com/office/powerpoint/2010/main" val="4259766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5D39D90-C0BE-8E46-8754-D8465AC14190}"/>
              </a:ext>
            </a:extLst>
          </p:cNvPr>
          <p:cNvSpPr>
            <a:spLocks noGrp="1"/>
          </p:cNvSpPr>
          <p:nvPr>
            <p:ph type="title"/>
          </p:nvPr>
        </p:nvSpPr>
        <p:spPr/>
        <p:txBody>
          <a:bodyPr/>
          <a:lstStyle/>
          <a:p>
            <a:r>
              <a:rPr lang="zh-CN" altLang="en-US" dirty="0"/>
              <a:t>小结</a:t>
            </a:r>
          </a:p>
        </p:txBody>
      </p:sp>
      <p:sp>
        <p:nvSpPr>
          <p:cNvPr id="3" name="灯片编号占位符 2">
            <a:extLst>
              <a:ext uri="{FF2B5EF4-FFF2-40B4-BE49-F238E27FC236}">
                <a16:creationId xmlns:a16="http://schemas.microsoft.com/office/drawing/2014/main" id="{31EB9C67-2608-419D-84A7-962A0823FFED}"/>
              </a:ext>
            </a:extLst>
          </p:cNvPr>
          <p:cNvSpPr>
            <a:spLocks noGrp="1"/>
          </p:cNvSpPr>
          <p:nvPr>
            <p:ph type="sldNum" sz="quarter" idx="12"/>
          </p:nvPr>
        </p:nvSpPr>
        <p:spPr/>
        <p:txBody>
          <a:bodyPr/>
          <a:lstStyle/>
          <a:p>
            <a:fld id="{4DBDE2CB-4801-494F-A0A4-D49D70804842}" type="slidenum">
              <a:rPr lang="zh-CN" altLang="en-US" smtClean="0"/>
              <a:t>40</a:t>
            </a:fld>
            <a:endParaRPr lang="zh-CN" altLang="en-US"/>
          </a:p>
        </p:txBody>
      </p:sp>
      <p:sp>
        <p:nvSpPr>
          <p:cNvPr id="37" name="文本框 36">
            <a:extLst>
              <a:ext uri="{FF2B5EF4-FFF2-40B4-BE49-F238E27FC236}">
                <a16:creationId xmlns:a16="http://schemas.microsoft.com/office/drawing/2014/main" id="{C849BF88-752F-4987-A3C7-F4C8EAD713AA}"/>
              </a:ext>
            </a:extLst>
          </p:cNvPr>
          <p:cNvSpPr txBox="1"/>
          <p:nvPr/>
        </p:nvSpPr>
        <p:spPr>
          <a:xfrm>
            <a:off x="312517" y="1323089"/>
            <a:ext cx="8479945" cy="4247317"/>
          </a:xfrm>
          <a:prstGeom prst="rect">
            <a:avLst/>
          </a:prstGeom>
          <a:noFill/>
        </p:spPr>
        <p:txBody>
          <a:bodyPr wrap="square" rtlCol="0">
            <a:spAutoFit/>
          </a:bodyPr>
          <a:lstStyle/>
          <a:p>
            <a:pPr marL="342900" indent="-342900">
              <a:lnSpc>
                <a:spcPct val="150000"/>
              </a:lnSpc>
              <a:spcBef>
                <a:spcPts val="1200"/>
              </a:spcBef>
              <a:buClr>
                <a:srgbClr val="FF0000"/>
              </a:buClr>
              <a:buFont typeface="Wingdings" panose="05000000000000000000" pitchFamily="2" charset="2"/>
              <a:buChar char="p"/>
            </a:pPr>
            <a:r>
              <a:rPr lang="zh-CN" altLang="en-US" sz="2000" dirty="0">
                <a:latin typeface="Times New Roman" panose="02020603050405020304" pitchFamily="18" charset="0"/>
                <a:cs typeface="Times New Roman" panose="02020603050405020304" pitchFamily="18" charset="0"/>
              </a:rPr>
              <a:t>认证技术根据目的和应用场景可分为</a:t>
            </a:r>
            <a:r>
              <a:rPr lang="zh-CN" altLang="en-US" sz="2000" dirty="0">
                <a:solidFill>
                  <a:srgbClr val="0000FF"/>
                </a:solidFill>
                <a:latin typeface="Times New Roman" panose="02020603050405020304" pitchFamily="18" charset="0"/>
                <a:cs typeface="Times New Roman" panose="02020603050405020304" pitchFamily="18" charset="0"/>
              </a:rPr>
              <a:t>消息认证和身份认证</a:t>
            </a:r>
            <a:r>
              <a:rPr lang="zh-CN" altLang="en-US" sz="2000" dirty="0">
                <a:latin typeface="Times New Roman" panose="02020603050405020304" pitchFamily="18" charset="0"/>
                <a:cs typeface="Times New Roman" panose="02020603050405020304" pitchFamily="18" charset="0"/>
              </a:rPr>
              <a:t>，前者允许通信各方验证消息的完整性，后者确认实体的身份。</a:t>
            </a:r>
          </a:p>
          <a:p>
            <a:pPr marL="342900" indent="-342900">
              <a:lnSpc>
                <a:spcPct val="150000"/>
              </a:lnSpc>
              <a:spcBef>
                <a:spcPts val="1200"/>
              </a:spcBef>
              <a:buClr>
                <a:srgbClr val="FF0000"/>
              </a:buClr>
              <a:buFont typeface="Wingdings" panose="05000000000000000000" pitchFamily="2" charset="2"/>
              <a:buChar char="p"/>
            </a:pPr>
            <a:r>
              <a:rPr lang="zh-CN" altLang="en-US" sz="2000" dirty="0">
                <a:solidFill>
                  <a:srgbClr val="0000FF"/>
                </a:solidFill>
                <a:latin typeface="Times New Roman" panose="02020603050405020304" pitchFamily="18" charset="0"/>
                <a:cs typeface="Times New Roman" panose="02020603050405020304" pitchFamily="18" charset="0"/>
              </a:rPr>
              <a:t>加密和认证</a:t>
            </a:r>
            <a:r>
              <a:rPr lang="zh-CN" altLang="en-US" sz="2000" dirty="0">
                <a:latin typeface="Times New Roman" panose="02020603050405020304" pitchFamily="18" charset="0"/>
                <a:cs typeface="Times New Roman" panose="02020603050405020304" pitchFamily="18" charset="0"/>
              </a:rPr>
              <a:t>是密码学中两个基本的安全技术，可以结合使用，提供更全面的保护。</a:t>
            </a:r>
            <a:endParaRPr lang="en-US" altLang="zh-CN" sz="2000" dirty="0">
              <a:latin typeface="Times New Roman" panose="02020603050405020304" pitchFamily="18" charset="0"/>
              <a:cs typeface="Times New Roman" panose="02020603050405020304" pitchFamily="18" charset="0"/>
            </a:endParaRPr>
          </a:p>
          <a:p>
            <a:pPr marL="342900" indent="-342900">
              <a:lnSpc>
                <a:spcPct val="150000"/>
              </a:lnSpc>
              <a:spcBef>
                <a:spcPts val="1200"/>
              </a:spcBef>
              <a:buClr>
                <a:srgbClr val="FF0000"/>
              </a:buClr>
              <a:buFont typeface="Wingdings" panose="05000000000000000000" pitchFamily="2" charset="2"/>
              <a:buChar char="p"/>
            </a:pPr>
            <a:r>
              <a:rPr lang="zh-CN" altLang="en-US" sz="2000" dirty="0">
                <a:latin typeface="Times New Roman" panose="02020603050405020304" pitchFamily="18" charset="0"/>
                <a:cs typeface="Times New Roman" panose="02020603050405020304" pitchFamily="18" charset="0"/>
              </a:rPr>
              <a:t>消息认证方式通常包括基于单钥体制的认证、基于消息认证码 </a:t>
            </a:r>
            <a:r>
              <a:rPr lang="en-US" altLang="zh-CN" sz="2000" dirty="0">
                <a:latin typeface="Times New Roman" panose="02020603050405020304" pitchFamily="18" charset="0"/>
                <a:cs typeface="Times New Roman" panose="02020603050405020304" pitchFamily="18" charset="0"/>
              </a:rPr>
              <a:t>(MAC)</a:t>
            </a:r>
            <a:r>
              <a:rPr lang="zh-CN" altLang="en-US" sz="2000" dirty="0">
                <a:latin typeface="Times New Roman" panose="02020603050405020304" pitchFamily="18" charset="0"/>
                <a:cs typeface="Times New Roman" panose="02020603050405020304" pitchFamily="18" charset="0"/>
              </a:rPr>
              <a:t>的认证和基于数字签名的认证。</a:t>
            </a:r>
            <a:endParaRPr lang="en-US" altLang="zh-CN" sz="2000" dirty="0">
              <a:latin typeface="Times New Roman" panose="02020603050405020304" pitchFamily="18" charset="0"/>
              <a:cs typeface="Times New Roman" panose="02020603050405020304" pitchFamily="18" charset="0"/>
            </a:endParaRPr>
          </a:p>
          <a:p>
            <a:pPr marL="342900" indent="-342900">
              <a:lnSpc>
                <a:spcPct val="150000"/>
              </a:lnSpc>
              <a:spcBef>
                <a:spcPts val="1200"/>
              </a:spcBef>
              <a:buClr>
                <a:srgbClr val="FF0000"/>
              </a:buClr>
              <a:buFont typeface="Wingdings" panose="05000000000000000000" pitchFamily="2" charset="2"/>
              <a:buChar char="p"/>
            </a:pPr>
            <a:r>
              <a:rPr lang="zh-CN" altLang="en-US" sz="2000" dirty="0">
                <a:latin typeface="Times New Roman" panose="02020603050405020304" pitchFamily="18" charset="0"/>
                <a:cs typeface="Times New Roman" panose="02020603050405020304" pitchFamily="18" charset="0"/>
              </a:rPr>
              <a:t>身份认证可以通过口令和生物特征进行认证，也可以使用基于单钥体制的</a:t>
            </a:r>
            <a:r>
              <a:rPr lang="en-US" altLang="zh-CN" sz="2000" dirty="0">
                <a:latin typeface="Times New Roman" panose="02020603050405020304" pitchFamily="18" charset="0"/>
                <a:cs typeface="Times New Roman" panose="02020603050405020304" pitchFamily="18" charset="0"/>
              </a:rPr>
              <a:t>Kerberos </a:t>
            </a:r>
            <a:r>
              <a:rPr lang="zh-CN" altLang="en-US" sz="2000" dirty="0">
                <a:latin typeface="Times New Roman" panose="02020603050405020304" pitchFamily="18" charset="0"/>
                <a:cs typeface="Times New Roman" panose="02020603050405020304" pitchFamily="18" charset="0"/>
              </a:rPr>
              <a:t>协议或基于公钥技术的 </a:t>
            </a:r>
            <a:r>
              <a:rPr lang="en-US" altLang="zh-CN" sz="2000" dirty="0">
                <a:latin typeface="Times New Roman" panose="02020603050405020304" pitchFamily="18" charset="0"/>
                <a:cs typeface="Times New Roman" panose="02020603050405020304" pitchFamily="18" charset="0"/>
              </a:rPr>
              <a:t>X.509 </a:t>
            </a:r>
            <a:r>
              <a:rPr lang="zh-CN" altLang="en-US" sz="2000" dirty="0">
                <a:latin typeface="Times New Roman" panose="02020603050405020304" pitchFamily="18" charset="0"/>
                <a:cs typeface="Times New Roman" panose="02020603050405020304" pitchFamily="18" charset="0"/>
              </a:rPr>
              <a:t>证书进行认证。</a:t>
            </a:r>
          </a:p>
        </p:txBody>
      </p:sp>
    </p:spTree>
    <p:extLst>
      <p:ext uri="{BB962C8B-B14F-4D97-AF65-F5344CB8AC3E}">
        <p14:creationId xmlns:p14="http://schemas.microsoft.com/office/powerpoint/2010/main" val="2384517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7697E85A-5D3D-8DF8-74D9-A12B17402AA8}"/>
              </a:ext>
            </a:extLst>
          </p:cNvPr>
          <p:cNvPicPr>
            <a:picLocks noChangeAspect="1"/>
          </p:cNvPicPr>
          <p:nvPr/>
        </p:nvPicPr>
        <p:blipFill>
          <a:blip r:embed="rId3"/>
          <a:stretch>
            <a:fillRect/>
          </a:stretch>
        </p:blipFill>
        <p:spPr>
          <a:xfrm>
            <a:off x="0" y="0"/>
            <a:ext cx="9144000" cy="6857999"/>
          </a:xfrm>
          <a:prstGeom prst="rect">
            <a:avLst/>
          </a:prstGeom>
        </p:spPr>
      </p:pic>
      <p:sp>
        <p:nvSpPr>
          <p:cNvPr id="15" name="矩形 14">
            <a:extLst>
              <a:ext uri="{FF2B5EF4-FFF2-40B4-BE49-F238E27FC236}">
                <a16:creationId xmlns:a16="http://schemas.microsoft.com/office/drawing/2014/main" id="{CC9B29DB-FD55-BD3E-0DA5-5F9EA5402EDA}"/>
              </a:ext>
            </a:extLst>
          </p:cNvPr>
          <p:cNvSpPr/>
          <p:nvPr/>
        </p:nvSpPr>
        <p:spPr>
          <a:xfrm>
            <a:off x="-1" y="-19760"/>
            <a:ext cx="9144000" cy="6877760"/>
          </a:xfrm>
          <a:prstGeom prst="rect">
            <a:avLst/>
          </a:prstGeom>
          <a:gradFill>
            <a:gsLst>
              <a:gs pos="42000">
                <a:schemeClr val="bg1">
                  <a:alpha val="75000"/>
                </a:schemeClr>
              </a:gs>
              <a:gs pos="23000">
                <a:schemeClr val="bg1">
                  <a:alpha val="94000"/>
                </a:schemeClr>
              </a:gs>
              <a:gs pos="0">
                <a:schemeClr val="bg1"/>
              </a:gs>
              <a:gs pos="94964">
                <a:schemeClr val="bg1">
                  <a:alpha val="55000"/>
                </a:schemeClr>
              </a:gs>
              <a:gs pos="64000">
                <a:schemeClr val="bg1">
                  <a:alpha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CD19689B-CC86-E0C4-0A19-81E67FE33CF7}"/>
              </a:ext>
            </a:extLst>
          </p:cNvPr>
          <p:cNvGrpSpPr/>
          <p:nvPr/>
        </p:nvGrpSpPr>
        <p:grpSpPr>
          <a:xfrm>
            <a:off x="-15240" y="4800781"/>
            <a:ext cx="9174480" cy="2075436"/>
            <a:chOff x="-15240" y="4117778"/>
            <a:chExt cx="9174480" cy="2758440"/>
          </a:xfrm>
        </p:grpSpPr>
        <p:grpSp>
          <p:nvGrpSpPr>
            <p:cNvPr id="23" name="组合 22">
              <a:extLst>
                <a:ext uri="{FF2B5EF4-FFF2-40B4-BE49-F238E27FC236}">
                  <a16:creationId xmlns:a16="http://schemas.microsoft.com/office/drawing/2014/main" id="{2469BA70-7573-A81C-E722-0D69E1E43852}"/>
                </a:ext>
              </a:extLst>
            </p:cNvPr>
            <p:cNvGrpSpPr/>
            <p:nvPr/>
          </p:nvGrpSpPr>
          <p:grpSpPr>
            <a:xfrm>
              <a:off x="-15240" y="4117778"/>
              <a:ext cx="9128760" cy="2758440"/>
              <a:chOff x="-15240" y="4117778"/>
              <a:chExt cx="9128760" cy="2758440"/>
            </a:xfrm>
          </p:grpSpPr>
          <p:sp>
            <p:nvSpPr>
              <p:cNvPr id="30" name="任意多边形: 形状 29">
                <a:extLst>
                  <a:ext uri="{FF2B5EF4-FFF2-40B4-BE49-F238E27FC236}">
                    <a16:creationId xmlns:a16="http://schemas.microsoft.com/office/drawing/2014/main" id="{DB49391F-2E66-8BED-943D-563159C0B361}"/>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任意多边形: 形状 31">
                <a:extLst>
                  <a:ext uri="{FF2B5EF4-FFF2-40B4-BE49-F238E27FC236}">
                    <a16:creationId xmlns:a16="http://schemas.microsoft.com/office/drawing/2014/main" id="{C2705F03-15A1-4132-5171-3D8FF646F3A2}"/>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任意多边形: 形状 32">
                <a:extLst>
                  <a:ext uri="{FF2B5EF4-FFF2-40B4-BE49-F238E27FC236}">
                    <a16:creationId xmlns:a16="http://schemas.microsoft.com/office/drawing/2014/main" id="{93739669-92AA-F2CB-643B-0A00DD2C3CEA}"/>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任意多边形: 形状 33">
                <a:extLst>
                  <a:ext uri="{FF2B5EF4-FFF2-40B4-BE49-F238E27FC236}">
                    <a16:creationId xmlns:a16="http://schemas.microsoft.com/office/drawing/2014/main" id="{C7FEE08D-43B9-D218-80EA-9AFFA22A10F9}"/>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5" name="组合 24">
              <a:extLst>
                <a:ext uri="{FF2B5EF4-FFF2-40B4-BE49-F238E27FC236}">
                  <a16:creationId xmlns:a16="http://schemas.microsoft.com/office/drawing/2014/main" id="{0F11F305-4F15-629F-20DC-684A95FAEA1E}"/>
                </a:ext>
              </a:extLst>
            </p:cNvPr>
            <p:cNvGrpSpPr/>
            <p:nvPr/>
          </p:nvGrpSpPr>
          <p:grpSpPr>
            <a:xfrm flipH="1">
              <a:off x="30480" y="4117778"/>
              <a:ext cx="9128760" cy="2758440"/>
              <a:chOff x="-15240" y="4117778"/>
              <a:chExt cx="9128760" cy="2758440"/>
            </a:xfrm>
          </p:grpSpPr>
          <p:sp>
            <p:nvSpPr>
              <p:cNvPr id="26" name="任意多边形: 形状 25">
                <a:extLst>
                  <a:ext uri="{FF2B5EF4-FFF2-40B4-BE49-F238E27FC236}">
                    <a16:creationId xmlns:a16="http://schemas.microsoft.com/office/drawing/2014/main" id="{44F1F3FF-FA95-3E28-9767-9A7F51B27A3B}"/>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任意多边形: 形状 26">
                <a:extLst>
                  <a:ext uri="{FF2B5EF4-FFF2-40B4-BE49-F238E27FC236}">
                    <a16:creationId xmlns:a16="http://schemas.microsoft.com/office/drawing/2014/main" id="{E9E53430-7B12-CFBF-ACD5-0BED98D3EFD4}"/>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任意多边形: 形状 27">
                <a:extLst>
                  <a:ext uri="{FF2B5EF4-FFF2-40B4-BE49-F238E27FC236}">
                    <a16:creationId xmlns:a16="http://schemas.microsoft.com/office/drawing/2014/main" id="{1DA16453-4045-A062-BD7C-1136CC03ECCD}"/>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任意多边形: 形状 28">
                <a:extLst>
                  <a:ext uri="{FF2B5EF4-FFF2-40B4-BE49-F238E27FC236}">
                    <a16:creationId xmlns:a16="http://schemas.microsoft.com/office/drawing/2014/main" id="{39428BDA-3D07-9AE4-9A0E-1877A405DF8A}"/>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5" name="组合 34">
            <a:extLst>
              <a:ext uri="{FF2B5EF4-FFF2-40B4-BE49-F238E27FC236}">
                <a16:creationId xmlns:a16="http://schemas.microsoft.com/office/drawing/2014/main" id="{D9D2156D-F6D2-85CE-3E02-83DFA9A3012A}"/>
              </a:ext>
            </a:extLst>
          </p:cNvPr>
          <p:cNvGrpSpPr/>
          <p:nvPr/>
        </p:nvGrpSpPr>
        <p:grpSpPr>
          <a:xfrm>
            <a:off x="2957745" y="2625211"/>
            <a:ext cx="3839514" cy="1273669"/>
            <a:chOff x="4176244" y="2503544"/>
            <a:chExt cx="3839514" cy="1273669"/>
          </a:xfrm>
        </p:grpSpPr>
        <p:sp>
          <p:nvSpPr>
            <p:cNvPr id="36" name="文本框 35">
              <a:extLst>
                <a:ext uri="{FF2B5EF4-FFF2-40B4-BE49-F238E27FC236}">
                  <a16:creationId xmlns:a16="http://schemas.microsoft.com/office/drawing/2014/main" id="{3512209E-5E4D-5B9D-9A0C-61193A3A67A3}"/>
                </a:ext>
              </a:extLst>
            </p:cNvPr>
            <p:cNvSpPr txBox="1"/>
            <p:nvPr/>
          </p:nvSpPr>
          <p:spPr>
            <a:xfrm>
              <a:off x="4176244" y="2503544"/>
              <a:ext cx="3839514" cy="923330"/>
            </a:xfrm>
            <a:prstGeom prst="rect">
              <a:avLst/>
            </a:prstGeom>
            <a:noFill/>
          </p:spPr>
          <p:txBody>
            <a:bodyPr wrap="square" rtlCol="0">
              <a:spAutoFit/>
            </a:bodyPr>
            <a:lstStyle/>
            <a:p>
              <a:pPr algn="ctr"/>
              <a:r>
                <a:rPr kumimoji="1" lang="zh-CN" altLang="en-US" sz="5400" b="1" spc="300" dirty="0">
                  <a:ln w="9525">
                    <a:noFill/>
                  </a:ln>
                  <a:solidFill>
                    <a:srgbClr val="C00000"/>
                  </a:solidFill>
                  <a:latin typeface="Arial" panose="020B0604020202020204" pitchFamily="34" charset="0"/>
                  <a:ea typeface="Microsoft YaHei" panose="020B0503020204020204" pitchFamily="34" charset="-122"/>
                  <a:cs typeface="Arial" panose="020B0604020202020204" pitchFamily="34" charset="0"/>
                </a:rPr>
                <a:t>谢 谢 ！</a:t>
              </a:r>
            </a:p>
          </p:txBody>
        </p:sp>
        <p:sp>
          <p:nvSpPr>
            <p:cNvPr id="37" name="文本框 36">
              <a:extLst>
                <a:ext uri="{FF2B5EF4-FFF2-40B4-BE49-F238E27FC236}">
                  <a16:creationId xmlns:a16="http://schemas.microsoft.com/office/drawing/2014/main" id="{91861518-37E9-2B32-6B3A-518AB31807E7}"/>
                </a:ext>
              </a:extLst>
            </p:cNvPr>
            <p:cNvSpPr txBox="1"/>
            <p:nvPr/>
          </p:nvSpPr>
          <p:spPr>
            <a:xfrm>
              <a:off x="4750718" y="3377103"/>
              <a:ext cx="2140522" cy="400110"/>
            </a:xfrm>
            <a:prstGeom prst="rect">
              <a:avLst/>
            </a:prstGeom>
            <a:noFill/>
          </p:spPr>
          <p:txBody>
            <a:bodyPr wrap="none" rtlCol="0">
              <a:spAutoFit/>
            </a:bodyPr>
            <a:lstStyle/>
            <a:p>
              <a:pPr algn="ctr"/>
              <a:r>
                <a:rPr kumimoji="1" lang="en-US" altLang="zh-CN"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rPr>
                <a:t>THANK YOU</a:t>
              </a:r>
              <a:endParaRPr kumimoji="1" lang="zh-CN" altLang="en-US"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endParaRPr>
            </a:p>
          </p:txBody>
        </p:sp>
      </p:grpSp>
      <p:pic>
        <p:nvPicPr>
          <p:cNvPr id="38" name="图片 37">
            <a:extLst>
              <a:ext uri="{FF2B5EF4-FFF2-40B4-BE49-F238E27FC236}">
                <a16:creationId xmlns:a16="http://schemas.microsoft.com/office/drawing/2014/main" id="{740A3095-7ADC-614D-5B7E-9FB6EBD19AAD}"/>
              </a:ext>
            </a:extLst>
          </p:cNvPr>
          <p:cNvPicPr>
            <a:picLocks noChangeAspect="1"/>
          </p:cNvPicPr>
          <p:nvPr/>
        </p:nvPicPr>
        <p:blipFill>
          <a:blip r:embed="rId4"/>
          <a:stretch>
            <a:fillRect/>
          </a:stretch>
        </p:blipFill>
        <p:spPr>
          <a:xfrm>
            <a:off x="335655" y="331579"/>
            <a:ext cx="2430253" cy="571825"/>
          </a:xfrm>
          <a:prstGeom prst="rect">
            <a:avLst/>
          </a:prstGeom>
        </p:spPr>
      </p:pic>
    </p:spTree>
    <p:extLst>
      <p:ext uri="{BB962C8B-B14F-4D97-AF65-F5344CB8AC3E}">
        <p14:creationId xmlns:p14="http://schemas.microsoft.com/office/powerpoint/2010/main" val="8006499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ab53e43-27c5-447a-bdd1-f9f34c0f73f4"/>
  <p:tag name="COMMONDATA" val="eyJoZGlkIjoiMjUxZGE5Mjc5MTFlODViN2E2Yjk0ZmU4MDliMTgxMTkifQ=="/>
</p:tagLst>
</file>

<file path=ppt/tags/tag2.xml><?xml version="1.0" encoding="utf-8"?>
<p:tagLst xmlns:a="http://schemas.openxmlformats.org/drawingml/2006/main" xmlns:r="http://schemas.openxmlformats.org/officeDocument/2006/relationships" xmlns:p="http://schemas.openxmlformats.org/presentationml/2006/main">
  <p:tag name="ISLIDE.VECTOR" val="#215094;#190599;"/>
  <p:tag name="ISLIDE.ICON" val="#83229;#83229;#137923;#81338;#81261;"/>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alibri"/>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alibri"/>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9480</TotalTime>
  <Words>8700</Words>
  <Application>Microsoft Macintosh PowerPoint</Application>
  <PresentationFormat>全屏显示(4:3)</PresentationFormat>
  <Paragraphs>732</Paragraphs>
  <Slides>41</Slides>
  <Notes>37</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41</vt:i4>
      </vt:variant>
    </vt:vector>
  </HeadingPairs>
  <TitlesOfParts>
    <vt:vector size="56" baseType="lpstr">
      <vt:lpstr>等线</vt:lpstr>
      <vt:lpstr>等线</vt:lpstr>
      <vt:lpstr>黑体</vt:lpstr>
      <vt:lpstr>微软雅黑</vt:lpstr>
      <vt:lpstr>ＭＳ Ｐゴシック</vt:lpstr>
      <vt:lpstr>PingFang SC</vt:lpstr>
      <vt:lpstr>PingFangSC</vt:lpstr>
      <vt:lpstr>Söhne</vt:lpstr>
      <vt:lpstr>Arial</vt:lpstr>
      <vt:lpstr>Calibri</vt:lpstr>
      <vt:lpstr>Cambria Math</vt:lpstr>
      <vt:lpstr>Times New Roman</vt:lpstr>
      <vt:lpstr>Wingdings</vt:lpstr>
      <vt:lpstr>Office 主题​​</vt:lpstr>
      <vt:lpstr>1_Office 主题​​</vt:lpstr>
      <vt:lpstr>PowerPoint 演示文稿</vt:lpstr>
      <vt:lpstr>目录</vt:lpstr>
      <vt:lpstr>1. 认证的基本概念</vt:lpstr>
      <vt:lpstr>1. 认证的基本概念</vt:lpstr>
      <vt:lpstr>1. 认证的基本概念</vt:lpstr>
      <vt:lpstr>2. 消息认证</vt:lpstr>
      <vt:lpstr>2. 消息认证</vt:lpstr>
      <vt:lpstr>2. 消息认证</vt:lpstr>
      <vt:lpstr>2. 消息认证</vt:lpstr>
      <vt:lpstr>2. 消息认证</vt:lpstr>
      <vt:lpstr>2. 消息认证</vt:lpstr>
      <vt:lpstr>2. 消息认证</vt:lpstr>
      <vt:lpstr>2. 消息认证</vt:lpstr>
      <vt:lpstr>2. 消息认证</vt:lpstr>
      <vt:lpstr>2. 消息认证</vt:lpstr>
      <vt:lpstr>2. 消息认证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3. 身份认证</vt:lpstr>
      <vt:lpstr>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 饺子</dc:creator>
  <cp:lastModifiedBy>Microsoft Office User</cp:lastModifiedBy>
  <cp:revision>868</cp:revision>
  <dcterms:created xsi:type="dcterms:W3CDTF">2020-10-06T00:51:00Z</dcterms:created>
  <dcterms:modified xsi:type="dcterms:W3CDTF">2024-10-27T15:39:59Z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3AD813741EE042CB81C87BD4680C290D</vt:lpwstr>
  </property>
  <property fmtid="{D5CDD505-2E9C-101B-9397-08002B2CF9AE}" pid="3" name="KSOProductBuildVer">
    <vt:lpwstr>2052-11.1.0.12598</vt:lpwstr>
  </property>
</Properties>
</file>